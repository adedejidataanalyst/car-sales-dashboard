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7" r:id="rId19"/>
    <p:sldId id="278" r:id="rId20"/>
    <p:sldId id="279" r:id="rId21"/>
    <p:sldId id="280" r:id="rId22"/>
    <p:sldId id="281" r:id="rId23"/>
    <p:sldId id="282" r:id="rId24"/>
  </p:sldIdLst>
  <p:sldSz cx="9144000" cy="6858000" type="screen4x3"/>
  <p:notesSz cx="9290050" cy="7004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156" y="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8F5CEF-F3BD-450C-B199-FB90FD96B6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BB66A-168D-4B02-B405-EDC183ED48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62563" y="0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51A49B6C-4BC6-4EA1-A159-A0123F332EDA}" type="datetimeFigureOut">
              <a:rPr lang="en-GB"/>
              <a:pPr>
                <a:defRPr/>
              </a:pPr>
              <a:t>25/03/2026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416DE-EC9B-4A71-941B-38ACAC8FE1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51625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6D631-0677-419B-9FE3-8617BE8DB9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62563" y="6651625"/>
            <a:ext cx="4025900" cy="3508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3F4776A-AD89-435C-946E-8493038E7457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EEAF6D-C59C-4720-BFAD-0BAFEB66B55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77BE31B-794B-4425-AD74-F4B30B53023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2563" y="0"/>
            <a:ext cx="40259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48C8868-E454-4715-9A07-790C587509D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2894013" y="525463"/>
            <a:ext cx="3502025" cy="2625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F1A97C8-5D3B-482C-9B53-51E9C918D4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3327400"/>
            <a:ext cx="7432675" cy="315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3A2B177-047A-41BB-8117-BFDAE73A90B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3213"/>
            <a:ext cx="40259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9991E4E-B2A7-4EA3-BF2D-71B0E66D18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2563" y="6653213"/>
            <a:ext cx="40259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352411C-BA02-4911-AA0D-C743ED74059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9B87C6CF-6629-48F7-8DAA-8C125D3C2E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77FBACC9-EF89-4D00-9FBE-2D1EF2638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B56A2A93-6EB9-4F7B-9BE2-5EA3BDB77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1420F3-26AB-40A9-8962-75D752E9A17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BAEDE69-52FF-46EA-ABEB-49A10BE35E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47225B-1BDB-4593-8CB9-01A111F82FFA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 dirty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DD3861A-E0E2-445A-90C0-61FF53271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18AA439-3FBE-4AF3-A30C-845B4B0C0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BAB0ACFC-5B34-404E-9DAE-9CF135581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CF2CAAC9-0FEB-4F2E-9B05-C59217F8C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7175" name="Rectangle 6">
            <a:extLst>
              <a:ext uri="{FF2B5EF4-FFF2-40B4-BE49-F238E27FC236}">
                <a16:creationId xmlns:a16="http://schemas.microsoft.com/office/drawing/2014/main" id="{72F345B5-C7F5-44A8-A0E4-EC03CC25C04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7176" name="Rectangle 7">
            <a:extLst>
              <a:ext uri="{FF2B5EF4-FFF2-40B4-BE49-F238E27FC236}">
                <a16:creationId xmlns:a16="http://schemas.microsoft.com/office/drawing/2014/main" id="{9A851EF0-94A6-4A9F-AC19-4EAD51332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256C1813-2E91-4A55-B2EF-068FB5D02E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AF1B7B-3810-4474-8B83-C039DB4D3A34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 dirty="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7073476-B718-42A0-8475-B1C4904D4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10D2979E-F4A7-4DC8-9F04-DD83A9050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847B4544-5957-4DB9-B563-913C91AA1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DCEB7C58-F3E7-43E7-97CD-D695CF683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85E01F40-77D0-4B36-873E-86CD85171CA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4482CF33-A49C-4E4B-8916-56E4A5A69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A36ED970-2DEA-4170-8866-8247D6BD26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D01A3B-1E61-4BD2-9B50-FC97CA36C658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 dirty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CB84F93-4BAC-4EB8-A9AC-9921DE4937A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415F8241-A607-4DAE-8C6B-6FDF227BD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D504A2AA-B573-4BEA-9051-120EADB4C5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0610B7-8131-40D1-9F6C-11696D07D2AD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 dirty="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E75ADB4-038F-47D4-8456-92C903D57D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21C85EC2-B663-4CEC-ABD4-AA7F6A8D9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01FC40FC-B226-416F-ACD5-233CC78BB7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C17B70F-E623-4D8F-AD9A-CEA1B8C26100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166377D-6B91-4F20-9C49-F7251969706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D016953-E839-40F3-827D-904969D5B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B8309B6-947E-4677-B043-A4B310C3F7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9E0A2DF-A975-42C5-B4BD-4429EDC1AD76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8D086F8-30DA-4F83-B311-6F30E60910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281E7E5-A95D-4AEC-A51D-5DAFCF082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3098F7D-A321-4672-ACB6-6FDC9C33C3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1D404B-19B8-4E12-A93E-06F58F56EEEB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 dirty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E007EE2-2717-4E27-A105-ACADE2444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7620B89-E310-4C6D-B7FE-1C125932C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7652A57F-7844-4BCC-B6D0-82C48052F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AFE156A2-4BF2-411E-A9E8-26D65F572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056D6A0A-563C-4739-B679-F388ADCD5C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67E9BA31-3955-442D-9663-77371A664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30E55DB4-13A0-4A95-B651-9FDCBDA057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B51774-A55C-448D-AAA5-253B936E6162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 dirty="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B9D8C17-7B0C-4962-A756-A081CA60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7E99C1B-B408-4439-A71E-13D1C8E65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0A97844D-6ED1-49A4-82E9-FF3395AFE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25C3FED6-94DE-418F-A6C4-A3CCD36DB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7FB11096-786B-4E5D-B661-C14D4E7A8E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31BCBEBD-D49D-4B9A-8BF0-53BAADE6D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1833A524-8A0A-4A5E-A32F-67F0794BBA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F18FE7-348C-4D78-9719-0FE955B1E6CE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 dirty="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98FC1906-334A-4A6D-B68B-DB8CE1098A9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8DF676E-A3BA-4079-BE1D-6EDDF5E85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DBD1D50C-A3CA-48B8-8197-946A8B990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698360-356F-47BB-B9DA-76D2C7E545C1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 dirty="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3696D43-E9B9-4989-86C8-11BCA204C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D8FC238-7666-4A48-A792-4ABB39CE1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22</a:t>
            </a: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BB3FEB04-5915-4F26-975D-75E3B253E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5606" name="Rectangle 5">
            <a:extLst>
              <a:ext uri="{FF2B5EF4-FFF2-40B4-BE49-F238E27FC236}">
                <a16:creationId xmlns:a16="http://schemas.microsoft.com/office/drawing/2014/main" id="{22A40718-4C1B-45CF-8B71-0FA194B1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325CC00E-0484-45AE-8B17-3932313984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25608" name="Rectangle 7">
            <a:extLst>
              <a:ext uri="{FF2B5EF4-FFF2-40B4-BE49-F238E27FC236}">
                <a16:creationId xmlns:a16="http://schemas.microsoft.com/office/drawing/2014/main" id="{FA509822-E2F9-451A-B093-E4A52677B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827340D6-55EC-4DD9-8D85-33A1E8C0C8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E72023-E1AB-49D3-AE67-22EA3F37068A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 dirty="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83FC88EF-CA48-41A7-90F7-7876A5E42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398666B-F27C-49BB-B338-198D9FBC1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F55B54B9-C669-49B9-AF15-2DE1BC80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7A317397-20DA-4E8F-9104-6BBE3A7E5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670E20A2-298E-4036-A723-99F692AEA0D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56723E01-D498-4107-841B-61E3A5501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02C816D7-CA4B-4114-97FB-67106372FC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8C1FD4-0A72-423D-AF48-72AACA17E4B1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 dirty="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F28F42A-EF07-4983-8965-601450AE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31152C2-ED49-492A-90FB-1B0CA1172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01F704DB-6661-4585-9D91-A2BA7423F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75D46459-FE76-47F2-91D3-FE3E17624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CECA0455-F995-49A3-BA6F-A63CB7069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A9B371F0-82F2-400C-A877-9BB6E20A7B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612E318-DA3B-47E2-B027-14B28434F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FCBE35-B8EA-475B-BEEA-36B98C72B30E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 dirty="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7110918-D55F-49D1-95D4-052C828BF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B2172E6-6696-4CD9-85F2-847CB1613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25</a:t>
            </a: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8F2B694E-4E69-4E52-B3C2-A285BA41A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31750" name="Rectangle 5">
            <a:extLst>
              <a:ext uri="{FF2B5EF4-FFF2-40B4-BE49-F238E27FC236}">
                <a16:creationId xmlns:a16="http://schemas.microsoft.com/office/drawing/2014/main" id="{D27E831F-4857-4C84-AEA0-1D838E2B0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28CDBD5B-9952-478F-A5E4-F985FDDBE5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31752" name="Rectangle 7">
            <a:extLst>
              <a:ext uri="{FF2B5EF4-FFF2-40B4-BE49-F238E27FC236}">
                <a16:creationId xmlns:a16="http://schemas.microsoft.com/office/drawing/2014/main" id="{4E5B72FD-1CF6-4B00-8774-B181187BE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D5528EE-A304-4164-8BBA-AE761D599B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A170E1-9F4C-4800-9B5B-F86870DCC89E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 dirty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E0B7BBB-E054-45CE-84D5-338102B0EF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624C42D-D866-4B16-8FFD-D36F0D7F7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B887EE6E-DF1D-447A-84A3-4ECE307FC4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1C7B1A-5162-4137-A99A-8688E09F7550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 dirty="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0562087-9F35-472F-88EF-C8638993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33BA0D5-9C7C-41BA-9D90-560C60010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27</a:t>
            </a: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E4F7425D-3D03-419C-81C8-1DB59E55E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CFE551EC-448C-4444-8F8D-4B6C24ECD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B320CA32-5C2D-4E19-AA4C-68AAFFB5A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ACDDB47A-1AD4-422A-8C71-AEFD30D310B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4865976-0FD9-49AD-86DC-1A98AC8354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D88402-F3E8-479A-A8C6-25ED1DE0CA2B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 dirty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6806C2B-51FB-4FD1-B657-122A75DEAC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7DEF21E-8E75-44F1-B6C2-DC595170FF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EB164789-5FA5-4A54-815A-4DD991BD2E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813CE6-46AE-456D-A4AA-0DCBD0CC7938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 dirty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27D8D5A-DE9D-40ED-AE77-D2EF31BF6F1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B558495-91BB-49CE-A735-8A54CAF77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8F76ECD-FE3E-4D79-8FF7-708CC25BB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F0376A-CB37-4F7E-A829-24AF86A80F10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 dirty="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E8BE45C-C1BB-4853-81E0-2ED85BF6CDA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F3DF805-D1B1-4D10-BD59-F00D62D7F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3055F11D-338A-4026-A4CF-2377A20DE1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20FBB3-A641-4797-A9D4-C09D81F04E27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 dirty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DDD428EF-620A-4A25-AF48-8D506C93ADD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4B092851-4C13-4792-88CC-1B5DA7C40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DD5EFCE-E297-4B5F-AD5D-9B59CED41B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250B1F-82DE-4191-AC7F-BB31DCF3CC14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 dirty="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D9DDBD60-4FB2-4C1F-B26E-C3D5A6440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42E46AB-96C8-415C-AA42-0187523DD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BDB9D70B-4D0B-44B2-B439-46E4E312C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46086" name="Rectangle 5">
            <a:extLst>
              <a:ext uri="{FF2B5EF4-FFF2-40B4-BE49-F238E27FC236}">
                <a16:creationId xmlns:a16="http://schemas.microsoft.com/office/drawing/2014/main" id="{7EDBEDB5-5459-4A2D-8CD8-7473DBF17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30DEBFFF-3A19-4DAB-B753-DFA4B6E9084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78296E50-022B-49F2-9445-BAEF04D90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4DACC191-1ECB-4289-8FB4-73F1681F40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25101B-6701-4B02-B945-635CD5F5FC85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 dirty="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DA1D6DB-0CE8-431A-8790-DFC66C162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6B1DC84-29BC-4688-9589-814D30B41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 dirty="0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209B7E70-7AA5-44A6-8912-CAA31331F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0A219E4B-EB41-4829-8976-9C173D650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dirty="0"/>
          </a:p>
        </p:txBody>
      </p:sp>
      <p:sp>
        <p:nvSpPr>
          <p:cNvPr id="48135" name="Rectangle 6">
            <a:extLst>
              <a:ext uri="{FF2B5EF4-FFF2-40B4-BE49-F238E27FC236}">
                <a16:creationId xmlns:a16="http://schemas.microsoft.com/office/drawing/2014/main" id="{5579B084-3775-4741-84CB-C132567FF4B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48136" name="Rectangle 7">
            <a:extLst>
              <a:ext uri="{FF2B5EF4-FFF2-40B4-BE49-F238E27FC236}">
                <a16:creationId xmlns:a16="http://schemas.microsoft.com/office/drawing/2014/main" id="{C3D3C38C-B494-4D3C-B2D0-FE147FCBC3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26B2C29F-98A2-4A96-9850-6252A649E1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826C48-657D-4363-AD9E-71168AF068BC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 dirty="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0C78A115-3CFA-4768-9721-A2D35374388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77B9BA7-3821-4303-9AC2-770BB75B8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ADCA0E-C83D-44C0-B045-42DAAC0CB9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83BD89-4309-4FFB-930D-7C314AAB33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019E79-B105-448C-AF9A-F812EBDA9F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C1793-6173-4FCE-B161-D44785A0343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7552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705D80-6887-42A7-9833-110ACC4E58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E0A2AE-FA66-4D3D-A4FA-DE43D23796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1742B8-2529-44B9-9E64-FF1278B35D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24CC1-49EF-4FC2-B0BD-B8339EDE59F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177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FB8BD1-984C-4E13-8324-E91961E141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A7786E-CBC6-41F1-B97F-AECC53865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CFB22C-4573-4EAE-913E-F6F6FADF7E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9E7AD-A937-4C23-AF92-884D772452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9708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4A46A-8D6F-4464-8E95-60E6104D3D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BB851-370B-4D73-A621-F5844DC4CE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50355B-51FF-4A65-ADD3-98B82D02F9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F4DDF-1BA4-43FF-ADC6-B0308265CB4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789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4F455E-24AB-4202-BBE7-F867DE020C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A97-CB40-4384-B2DB-4AC654074D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9432AC8-B71F-4079-8BB7-C2AE51AE88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8B4D2-6AE9-4C38-97E8-071A45B7E62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979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1C2FA0-CC65-4953-A747-8CD2E63703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A6CF491-B5B2-4846-B1EB-E9D31140D8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37FA28A-8709-4106-8309-34C8546D8F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567DE-1E0F-4F38-B743-5528404C173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380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4546BBB-E64A-4854-AC0F-A9747B64B7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01C34A0-D31C-4F38-8660-E08FAB429A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BCCC08F-7207-4489-88FF-2F0D90EF50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65746-9B32-4A65-A077-859A837CBE4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1534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72BD86-351C-4FA9-97F6-E830A549C7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5DD033-2DA6-415B-8DE7-4BBB1D52F9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DE7624-BA98-4868-9BD1-0686CE2CCE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5D39D-9086-457B-8445-AD4738F0107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185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36676-8D02-4F4E-AAB1-13B1EDBF6A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AD24E9-9363-46E9-B167-7CF781D5F2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A8FA8A-B05D-4880-92BC-0E0C20A8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800BE8-ED67-4F50-BA5C-9205999033A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8602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070DF3-16FB-4DD2-B2E2-4ADF342DB0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F5799A-C434-4150-91A0-660E1231E4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E17DAC-D7E5-4A3D-87F6-6088E2D597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EE03A-8F96-444F-B67D-9B4B1BCF881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646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6ABF89-36F6-4639-9381-5CAD09F724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8FC08B-0D19-4C86-B3C5-B9FCCAA52D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0CDC90-7C83-4F48-ADE2-A798F6356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448521-1F9A-4F0E-98F2-97CA1182395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640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A0A3E7A-71C9-49CF-BD84-70D403A9D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27E0B1-3914-48F3-BC01-15F7F53F1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478B9F-76C2-436F-814C-4490B2BAD06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DF340D-2EC2-43C6-8E83-76B07CD8D6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5DDF47-3E1E-4207-96BF-C9164755C0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273CFC8E-87E6-46D4-AF70-1BD2151F057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Microsoft_Word_97_-_2003_Document.doc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Microsoft_Word_97_-_2003_Document1.doc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oleObject" Target="../embeddings/Microsoft_Excel_97-2003_Worksheet.xls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oleObject" Target="../embeddings/Microsoft_Excel_97-2003_Worksheet2.xls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oleObject" Target="../embeddings/Microsoft_Excel_97-2003_Worksheet3.xls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9.emf"/><Relationship Id="rId4" Type="http://schemas.openxmlformats.org/officeDocument/2006/relationships/oleObject" Target="../embeddings/Microsoft_Excel_97-2003_Worksheet4.xls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9.emf"/><Relationship Id="rId4" Type="http://schemas.openxmlformats.org/officeDocument/2006/relationships/oleObject" Target="../embeddings/Microsoft_Excel_97-2003_Worksheet5.xls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09FB7C30-5049-46F3-8735-C2E8539E7A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 Payroll Accounting And Pension Plan.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074DB53-0AB2-4423-A208-A7ED8B39A1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99488" cy="4495800"/>
          </a:xfrm>
          <a:noFill/>
        </p:spPr>
        <p:txBody>
          <a:bodyPr lIns="91583" tIns="45040" rIns="91583" bIns="45040"/>
          <a:lstStyle/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Payroll</a:t>
            </a:r>
            <a:r>
              <a:rPr lang="en-US" altLang="en-US" sz="2400" b="1" dirty="0">
                <a:latin typeface="Times New Roman" panose="02020603050405020304" pitchFamily="18" charset="0"/>
              </a:rPr>
              <a:t> pertains to both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</a:t>
            </a:r>
            <a:r>
              <a:rPr lang="en-US" altLang="en-US" sz="2400" b="1" dirty="0">
                <a:latin typeface="Times New Roman" panose="02020603050405020304" pitchFamily="18" charset="0"/>
              </a:rPr>
              <a:t>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Managerial, administrative, and sales personnel are generally paid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salaries</a:t>
            </a:r>
            <a:r>
              <a:rPr lang="en-US" altLang="en-US" sz="2400" b="1" dirty="0">
                <a:latin typeface="Times New Roman" panose="02020603050405020304" pitchFamily="18" charset="0"/>
              </a:rPr>
              <a:t>. Salaries are often expressed in terms of a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specified amount per month or year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Store clerks, factory employees and manual laborers are normally paid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wages-</a:t>
            </a:r>
            <a:r>
              <a:rPr lang="en-US" altLang="en-US" sz="2400" b="1" dirty="0">
                <a:latin typeface="Times New Roman" panose="02020603050405020304" pitchFamily="18" charset="0"/>
              </a:rPr>
              <a:t>based on a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rate per hour</a:t>
            </a:r>
            <a:r>
              <a:rPr lang="en-US" altLang="en-US" sz="2400" b="1" dirty="0">
                <a:latin typeface="Times New Roman" panose="02020603050405020304" pitchFamily="18" charset="0"/>
              </a:rPr>
              <a:t>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Payments made to professional individuals who are independent contractors are called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fees</a:t>
            </a:r>
            <a:r>
              <a:rPr lang="en-US" altLang="en-US" sz="2400" b="1" dirty="0">
                <a:latin typeface="Times New Roman" panose="02020603050405020304" pitchFamily="18" charset="0"/>
              </a:rPr>
              <a:t>.  </a:t>
            </a:r>
          </a:p>
          <a:p>
            <a:pPr marL="361950" indent="-361950" algn="just" defTabSz="966788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Government regulations relating to the payment and reporting of payroll taxes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apply only to employees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D78F8CB-3617-4629-9F6C-609A1327A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20675"/>
            <a:ext cx="7918450" cy="86518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 dirty="0"/>
              <a:t>PAYROLL ACCOUNTING</a:t>
            </a:r>
            <a:endParaRPr lang="en-US" altLang="en-US" sz="2100" b="1" dirty="0">
              <a:solidFill>
                <a:srgbClr val="CF0E3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85E1A92-60FF-499B-983D-734260FF6B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365125"/>
            <a:ext cx="6470650" cy="8413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 dirty="0"/>
              <a:t>INTERNAL CONTROLS FOR PAYROLL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2F491B7-11D1-4A2C-8DD4-1536164C8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6550"/>
            <a:ext cx="8686800" cy="5022850"/>
          </a:xfrm>
          <a:noFill/>
        </p:spPr>
        <p:txBody>
          <a:bodyPr lIns="91583" tIns="45040" rIns="91583" bIns="45040"/>
          <a:lstStyle/>
          <a:p>
            <a:pPr marL="398463" indent="-360363" defTabSz="681038" eaLnBrk="1" hangingPunct="1">
              <a:buClr>
                <a:schemeClr val="tx1"/>
              </a:buClr>
            </a:pPr>
            <a:r>
              <a:rPr lang="en-US" altLang="en-US" sz="2800" b="1" dirty="0">
                <a:latin typeface="Times New Roman" panose="02020603050405020304" pitchFamily="18" charset="0"/>
              </a:rPr>
              <a:t>The objectives of internal accounting control concerning payroll are: </a:t>
            </a:r>
          </a:p>
          <a:p>
            <a:pPr marL="398463" indent="-360363" defTabSz="681038" eaLnBrk="1" hangingPunct="1">
              <a:buFontTx/>
              <a:buNone/>
            </a:pP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300" b="1" dirty="0">
                <a:solidFill>
                  <a:srgbClr val="006B61"/>
                </a:solidFill>
              </a:rPr>
              <a:t>1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To safeguard company assets from unauthorized  payments of payrolls</a:t>
            </a:r>
            <a:r>
              <a:rPr lang="en-US" altLang="en-US" sz="2800" b="1" dirty="0">
                <a:latin typeface="Times New Roman" panose="02020603050405020304" pitchFamily="18" charset="0"/>
              </a:rPr>
              <a:t> and</a:t>
            </a:r>
          </a:p>
          <a:p>
            <a:pPr marL="398463" indent="-360363" defTabSz="681038" eaLnBrk="1" hangingPunct="1"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</a:rPr>
              <a:t>	</a:t>
            </a:r>
            <a:r>
              <a:rPr lang="en-US" altLang="en-US" sz="2800" b="1" dirty="0">
                <a:solidFill>
                  <a:srgbClr val="006B61"/>
                </a:solidFill>
              </a:rPr>
              <a:t>2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To ensure the accuracy and reliability of the      	accounting records pertaining to payrolls</a:t>
            </a:r>
            <a:r>
              <a:rPr lang="en-US" altLang="en-US" sz="2800" b="1" dirty="0">
                <a:latin typeface="Times New Roman" panose="02020603050405020304" pitchFamily="18" charset="0"/>
              </a:rPr>
              <a:t>.</a:t>
            </a:r>
            <a:endParaRPr lang="en-US" altLang="en-US" sz="2800" b="1" dirty="0">
              <a:solidFill>
                <a:srgbClr val="CF0E30"/>
              </a:solidFill>
              <a:latin typeface="Times New Roman" panose="02020603050405020304" pitchFamily="18" charset="0"/>
            </a:endParaRPr>
          </a:p>
          <a:p>
            <a:pPr marL="398463" indent="-360363" defTabSz="681038" eaLnBrk="1" hangingPunct="1">
              <a:buClr>
                <a:schemeClr val="tx1"/>
              </a:buClr>
            </a:pP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Payroll activities involve four functions</a:t>
            </a:r>
            <a:r>
              <a:rPr lang="en-US" altLang="en-US" sz="2800" b="1" dirty="0">
                <a:latin typeface="Times New Roman" panose="02020603050405020304" pitchFamily="18" charset="0"/>
              </a:rPr>
              <a:t>: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 dirty="0">
                <a:solidFill>
                  <a:srgbClr val="006B61"/>
                </a:solidFill>
              </a:rPr>
              <a:t>1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Hiring employees</a:t>
            </a:r>
            <a:r>
              <a:rPr lang="en-US" altLang="en-US" sz="2800" b="1" dirty="0">
                <a:latin typeface="Times New Roman" panose="02020603050405020304" pitchFamily="18" charset="0"/>
              </a:rPr>
              <a:t>,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</a:rPr>
              <a:t>	</a:t>
            </a:r>
            <a:r>
              <a:rPr lang="en-US" altLang="en-US" sz="2800" b="1" dirty="0">
                <a:solidFill>
                  <a:srgbClr val="006B61"/>
                </a:solidFill>
              </a:rPr>
              <a:t>2</a:t>
            </a:r>
            <a:r>
              <a:rPr lang="en-US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Timekeeping</a:t>
            </a:r>
            <a:r>
              <a:rPr lang="en-US" altLang="en-US" sz="2800" b="1" dirty="0">
                <a:latin typeface="Times New Roman" panose="02020603050405020304" pitchFamily="18" charset="0"/>
              </a:rPr>
              <a:t>,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</a:rPr>
              <a:t>	</a:t>
            </a:r>
            <a:r>
              <a:rPr lang="en-US" altLang="en-US" sz="2800" b="1" dirty="0">
                <a:solidFill>
                  <a:srgbClr val="006B61"/>
                </a:solidFill>
              </a:rPr>
              <a:t>3</a:t>
            </a:r>
            <a:r>
              <a:rPr lang="en-US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Preparing the payroll</a:t>
            </a:r>
            <a:r>
              <a:rPr lang="en-US" altLang="en-US" sz="2800" b="1" dirty="0">
                <a:latin typeface="Times New Roman" panose="02020603050405020304" pitchFamily="18" charset="0"/>
              </a:rPr>
              <a:t>, and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</a:rPr>
              <a:t>	</a:t>
            </a:r>
            <a:r>
              <a:rPr lang="en-US" altLang="en-US" sz="2800" b="1" dirty="0">
                <a:solidFill>
                  <a:srgbClr val="006B61"/>
                </a:solidFill>
              </a:rPr>
              <a:t>4</a:t>
            </a:r>
            <a:r>
              <a:rPr lang="en-US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Paying the payroll</a:t>
            </a:r>
            <a:r>
              <a:rPr lang="en-US" altLang="en-US" sz="2800" b="1" dirty="0">
                <a:latin typeface="Times New Roman" panose="02020603050405020304" pitchFamily="18" charset="0"/>
              </a:rPr>
              <a:t>.</a:t>
            </a:r>
            <a:endParaRPr lang="en-US" altLang="en-US" sz="2800" b="1" dirty="0">
              <a:solidFill>
                <a:srgbClr val="CF0E3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43E7290-E3D1-47E5-A5D0-C8374D3F77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0338" y="460375"/>
            <a:ext cx="62738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 dirty="0"/>
              <a:t>HIRING EMPLOYEES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EF9B21E-D7AC-4DDC-BEA9-52AA2FC39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197850" cy="2563813"/>
          </a:xfrm>
          <a:noFill/>
        </p:spPr>
        <p:txBody>
          <a:bodyPr lIns="91583" tIns="45040" rIns="91583" bIns="45040"/>
          <a:lstStyle/>
          <a:p>
            <a:pPr marL="361950" indent="-361950" algn="just" defTabSz="62865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The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human resources department </a:t>
            </a:r>
            <a:r>
              <a:rPr lang="en-US" altLang="en-US" sz="2400" b="1" dirty="0">
                <a:latin typeface="Times New Roman" panose="02020603050405020304" pitchFamily="18" charset="0"/>
              </a:rPr>
              <a:t>is responsible for ensuring the accuracy of the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personnel authorization form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  <a:p>
            <a:pPr marL="361950" indent="-361950" algn="just" defTabSz="62865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The human resources department is also responsible for authorizing changes in employment status:</a:t>
            </a:r>
          </a:p>
          <a:p>
            <a:pPr marL="361950" indent="-361950" algn="just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1	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Changes in pay rates</a:t>
            </a:r>
            <a:endParaRPr lang="en-US" altLang="en-US" sz="2400" b="1" dirty="0">
              <a:latin typeface="Times New Roman" panose="02020603050405020304" pitchFamily="18" charset="0"/>
            </a:endParaRPr>
          </a:p>
          <a:p>
            <a:pPr marL="361950" indent="-361950" algn="just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2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Termination of employment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0244" name="Object 4">
            <a:hlinkClick r:id="" action="ppaction://ole?verb=0"/>
            <a:extLst>
              <a:ext uri="{FF2B5EF4-FFF2-40B4-BE49-F238E27FC236}">
                <a16:creationId xmlns:a16="http://schemas.microsoft.com/office/drawing/2014/main" id="{A88A9D5A-FA00-48AE-BB6E-A405A11772CB}"/>
              </a:ext>
            </a:extLst>
          </p:cNvPr>
          <p:cNvGraphicFramePr>
            <a:graphicFrameLocks/>
          </p:cNvGraphicFramePr>
          <p:nvPr/>
        </p:nvGraphicFramePr>
        <p:xfrm>
          <a:off x="5921375" y="4648200"/>
          <a:ext cx="240982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Micrografx Windows Draw 5.0 Drawing" r:id="rId4" imgW="2647950" imgH="2657475" progId="Draw.Document.5">
                  <p:embed/>
                </p:oleObj>
              </mc:Choice>
              <mc:Fallback>
                <p:oleObj name="Micrografx Windows Draw 5.0 Drawing" r:id="rId4" imgW="2647950" imgH="2657475" progId="Draw.Document.5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4648200"/>
                        <a:ext cx="2409825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AD5DEEE-D392-4C47-9FF5-9EC532E6B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2038" y="473075"/>
            <a:ext cx="44704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 dirty="0"/>
              <a:t>TIMEKEEPING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D27D801-3048-4868-8FA3-BA27A4A33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10600" cy="4749800"/>
          </a:xfrm>
          <a:noFill/>
        </p:spPr>
        <p:txBody>
          <a:bodyPr lIns="91583" tIns="45040" rIns="91583" bIns="45040"/>
          <a:lstStyle/>
          <a:p>
            <a:pPr marL="361950" indent="-361950" algn="just" defTabSz="628650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Hourly employees are usually required to record time worked by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“punching” a time clock</a:t>
            </a:r>
            <a:r>
              <a:rPr lang="en-US" altLang="en-US" sz="2400" b="1" dirty="0">
                <a:latin typeface="Times New Roman" panose="02020603050405020304" pitchFamily="18" charset="0"/>
              </a:rPr>
              <a:t>. Times of arrival and departure are automatically recorded by the employee by inserting a time card into the clock.</a:t>
            </a:r>
          </a:p>
          <a:p>
            <a:pPr marL="361950" indent="-361950" algn="just" defTabSz="628650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In large companies time clock procedures are often monitored by a supervisor or security guard to make sure an employee punches only one card.</a:t>
            </a:r>
          </a:p>
          <a:p>
            <a:pPr marL="361950" indent="-361950" algn="just" defTabSz="628650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The employee’s supervisor:</a:t>
            </a:r>
          </a:p>
          <a:p>
            <a:pPr marL="361950" indent="-361950" algn="just" defTabSz="628650" eaLnBrk="1" hangingPunct="1"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1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Approves the hours shown by signing the time card at the 	end of the pay period</a:t>
            </a:r>
            <a:r>
              <a:rPr lang="en-US" altLang="en-US" sz="2400" b="1" dirty="0">
                <a:latin typeface="Times New Roman" panose="02020603050405020304" pitchFamily="18" charset="0"/>
              </a:rPr>
              <a:t> and</a:t>
            </a:r>
          </a:p>
          <a:p>
            <a:pPr marL="361950" indent="-361950" algn="just" defTabSz="628650" eaLnBrk="1" hangingPunct="1"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Authorizes any overtime hours for an employee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382E002-6B3B-4C21-BF9C-25738443E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875" y="473075"/>
            <a:ext cx="78232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 dirty="0"/>
              <a:t>PREPARING THE PAYROLL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D097A08-E9C9-46F8-A0C5-F6F945194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21713" cy="2157413"/>
          </a:xfrm>
          <a:noFill/>
        </p:spPr>
        <p:txBody>
          <a:bodyPr lIns="91583" tIns="45040" rIns="91583" bIns="45040"/>
          <a:lstStyle/>
          <a:p>
            <a:pPr marL="0" indent="0" defTabSz="628650" eaLnBrk="1" hangingPunct="1">
              <a:buFontTx/>
              <a:buNone/>
            </a:pPr>
            <a:r>
              <a:rPr lang="en-US" altLang="en-US" sz="3000" b="1" dirty="0">
                <a:latin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payroll is </a:t>
            </a:r>
            <a:r>
              <a:rPr lang="en-US" altLang="en-US" sz="3000" b="1" dirty="0">
                <a:latin typeface="Times New Roman" panose="02020603050405020304" pitchFamily="18" charset="0"/>
              </a:rPr>
              <a:t>prepared in the payroll department on the basis of </a:t>
            </a:r>
            <a:r>
              <a:rPr lang="en-US" altLang="en-US" sz="3000" b="1" dirty="0">
                <a:solidFill>
                  <a:srgbClr val="CF0E30"/>
                </a:solidFill>
              </a:rPr>
              <a:t>two </a:t>
            </a:r>
            <a:r>
              <a:rPr lang="en-US" altLang="en-US" sz="3000" b="1" dirty="0">
                <a:latin typeface="Times New Roman" panose="02020603050405020304" pitchFamily="18" charset="0"/>
              </a:rPr>
              <a:t>inputs:</a:t>
            </a:r>
          </a:p>
          <a:p>
            <a:pPr marL="0" indent="0" defTabSz="628650" eaLnBrk="1" hangingPunct="1">
              <a:buFontTx/>
              <a:buNone/>
            </a:pPr>
            <a:r>
              <a:rPr lang="en-US" altLang="en-US" sz="3000" b="1" dirty="0">
                <a:solidFill>
                  <a:srgbClr val="006B61"/>
                </a:solidFill>
              </a:rPr>
              <a:t>1</a:t>
            </a: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Human resources department authorizations</a:t>
            </a:r>
            <a:r>
              <a:rPr lang="en-US" altLang="en-US" sz="3000" b="1" dirty="0">
                <a:latin typeface="Times New Roman" panose="02020603050405020304" pitchFamily="18" charset="0"/>
              </a:rPr>
              <a:t> </a:t>
            </a:r>
          </a:p>
          <a:p>
            <a:pPr marL="0" indent="0" defTabSz="628650" eaLnBrk="1" hangingPunct="1">
              <a:buFontTx/>
              <a:buNone/>
            </a:pPr>
            <a:r>
              <a:rPr lang="en-US" altLang="en-US" sz="3000" b="1" dirty="0">
                <a:solidFill>
                  <a:srgbClr val="006B61"/>
                </a:solidFill>
              </a:rPr>
              <a:t>2</a:t>
            </a: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Approved time cards</a:t>
            </a:r>
            <a:r>
              <a:rPr lang="en-US" altLang="en-US" sz="3000" b="1" dirty="0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4340" name="Object 4">
            <a:hlinkClick r:id="" action="ppaction://ole?verb=0"/>
            <a:extLst>
              <a:ext uri="{FF2B5EF4-FFF2-40B4-BE49-F238E27FC236}">
                <a16:creationId xmlns:a16="http://schemas.microsoft.com/office/drawing/2014/main" id="{91CFBC20-0730-4EE3-83DF-F93A797EBA12}"/>
              </a:ext>
            </a:extLst>
          </p:cNvPr>
          <p:cNvGraphicFramePr>
            <a:graphicFrameLocks/>
          </p:cNvGraphicFramePr>
          <p:nvPr/>
        </p:nvGraphicFramePr>
        <p:xfrm>
          <a:off x="6459538" y="4038600"/>
          <a:ext cx="1885950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Micrografx Windows Draw 5.0 Drawing" r:id="rId4" imgW="2400300" imgH="2971800" progId="Draw.Document.5">
                  <p:embed/>
                </p:oleObj>
              </mc:Choice>
              <mc:Fallback>
                <p:oleObj name="Micrografx Windows Draw 5.0 Drawing" r:id="rId4" imgW="2400300" imgH="2971800" progId="Draw.Document.5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38" y="4038600"/>
                        <a:ext cx="1885950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0471E1A-360A-4685-8985-56C369AE47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95288"/>
            <a:ext cx="8077200" cy="79692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3900" b="1" dirty="0"/>
              <a:t>DETERMINING AND PAYING THE PAYROLL</a:t>
            </a:r>
            <a:endParaRPr lang="en-US" altLang="en-US" sz="1900" b="1" dirty="0">
              <a:solidFill>
                <a:srgbClr val="CF0E30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C350076-72C0-4DFC-A712-07C6C41CF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8925" y="1636713"/>
            <a:ext cx="8474075" cy="3524250"/>
          </a:xfrm>
          <a:noFill/>
        </p:spPr>
        <p:txBody>
          <a:bodyPr lIns="91583" tIns="45040" rIns="91583" bIns="45040"/>
          <a:lstStyle/>
          <a:p>
            <a:pPr marL="361950" indent="-361950" defTabSz="628650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Determining the payroll involves computing three amounts: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1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Gross earnings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Payroll deductions</a:t>
            </a:r>
            <a:endParaRPr lang="en-US" altLang="en-US" sz="2400" b="1" dirty="0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3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Net pay</a:t>
            </a:r>
            <a:endParaRPr lang="en-US" altLang="en-US" sz="2400" b="1" dirty="0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The payroll is paid by the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treasurer’s department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1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Payment by check minimizes the risk of loss from theft.</a:t>
            </a:r>
            <a:endParaRPr lang="en-US" altLang="en-US" sz="2400" b="1" dirty="0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The endorsed check provides proof of payment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71AF9FB6-97FD-459E-AC26-6E94A959AF6F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5143500"/>
            <a:ext cx="7673975" cy="1503363"/>
            <a:chOff x="496" y="3532"/>
            <a:chExt cx="5076" cy="1010"/>
          </a:xfrm>
        </p:grpSpPr>
        <p:sp>
          <p:nvSpPr>
            <p:cNvPr id="16387" name="Rectangle 3">
              <a:extLst>
                <a:ext uri="{FF2B5EF4-FFF2-40B4-BE49-F238E27FC236}">
                  <a16:creationId xmlns:a16="http://schemas.microsoft.com/office/drawing/2014/main" id="{8AC2FD25-4555-484E-AD33-96DC602D7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" y="3532"/>
              <a:ext cx="5076" cy="101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dirty="0">
                <a:latin typeface="Arial" charset="0"/>
              </a:endParaRPr>
            </a:p>
          </p:txBody>
        </p:sp>
        <p:graphicFrame>
          <p:nvGraphicFramePr>
            <p:cNvPr id="18438" name="Object 4">
              <a:hlinkClick r:id="" action="ppaction://ole?verb=0"/>
              <a:extLst>
                <a:ext uri="{FF2B5EF4-FFF2-40B4-BE49-F238E27FC236}">
                  <a16:creationId xmlns:a16="http://schemas.microsoft.com/office/drawing/2014/main" id="{2AF06482-69CD-49DB-8424-0A7AFA498FA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08" y="3549"/>
            <a:ext cx="4085" cy="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9" name="Document" r:id="rId4" imgW="10308336" imgH="2075688" progId="Word.Document.8">
                    <p:embed/>
                  </p:oleObj>
                </mc:Choice>
                <mc:Fallback>
                  <p:oleObj name="Document" r:id="rId4" imgW="10308336" imgH="2075688" progId="Word.Document.8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66435" b="59541"/>
                        <a:stretch>
                          <a:fillRect/>
                        </a:stretch>
                      </p:blipFill>
                      <p:spPr bwMode="auto">
                        <a:xfrm>
                          <a:off x="1008" y="3549"/>
                          <a:ext cx="4085" cy="98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9" name="Rectangle 5">
            <a:extLst>
              <a:ext uri="{FF2B5EF4-FFF2-40B4-BE49-F238E27FC236}">
                <a16:creationId xmlns:a16="http://schemas.microsoft.com/office/drawing/2014/main" id="{BCE9DC4F-9449-429E-9D7D-6283A5B94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1630363"/>
            <a:ext cx="7788275" cy="3398837"/>
          </a:xfrm>
          <a:noFill/>
        </p:spPr>
        <p:txBody>
          <a:bodyPr lIns="91583" tIns="45040" rIns="91583" bIns="45040"/>
          <a:lstStyle/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Gross earnings </a:t>
            </a:r>
            <a:r>
              <a:rPr lang="en-US" altLang="en-US" sz="2400" b="1" dirty="0">
                <a:latin typeface="Times New Roman" panose="02020603050405020304" pitchFamily="18" charset="0"/>
              </a:rPr>
              <a:t>is the total compensation earned by an employee.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It consists of 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wages</a:t>
            </a:r>
            <a:r>
              <a:rPr lang="en-US" altLang="en-US" sz="2400" b="1" dirty="0">
                <a:latin typeface="Times New Roman" panose="02020603050405020304" pitchFamily="18" charset="0"/>
              </a:rPr>
              <a:t> or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salaries</a:t>
            </a:r>
            <a:r>
              <a:rPr lang="en-US" altLang="en-US" sz="2400" b="1" dirty="0">
                <a:latin typeface="Times New Roman" panose="02020603050405020304" pitchFamily="18" charset="0"/>
              </a:rPr>
              <a:t>, plus any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bonuses and commissions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Total wages are determined by multiplying the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hours worked</a:t>
            </a:r>
            <a:r>
              <a:rPr lang="en-US" altLang="en-US" sz="2400" b="1" dirty="0">
                <a:latin typeface="Times New Roman" panose="02020603050405020304" pitchFamily="18" charset="0"/>
              </a:rPr>
              <a:t> by the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hourly rate of pay</a:t>
            </a:r>
            <a:r>
              <a:rPr lang="en-US" altLang="en-US" sz="2400" b="1" dirty="0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Most companies are required to pay a minimum of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1 1/2 </a:t>
            </a:r>
            <a:r>
              <a:rPr lang="en-US" altLang="en-US" sz="2400" b="1" dirty="0">
                <a:latin typeface="Times New Roman" panose="02020603050405020304" pitchFamily="18" charset="0"/>
              </a:rPr>
              <a:t>the regular hourly rate for overtime work.</a:t>
            </a:r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D325597C-88D2-4898-903D-95A3F8D64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363538"/>
            <a:ext cx="7508875" cy="111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3400" b="1" dirty="0">
                <a:solidFill>
                  <a:srgbClr val="000099"/>
                </a:solidFill>
                <a:latin typeface="Arial Black" panose="020B0A04020102020204" pitchFamily="34" charset="0"/>
              </a:rPr>
              <a:t>COMPUTATION OF TOTAL WAGES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5AB17F4-C625-44D6-93B5-AD644EE24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20675"/>
            <a:ext cx="8112125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 dirty="0"/>
              <a:t>PAYROLL DEDUCTIONS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08A0C3D-5BEB-422C-BBC4-78BC819AC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382000" cy="4945063"/>
          </a:xfrm>
          <a:noFill/>
        </p:spPr>
        <p:txBody>
          <a:bodyPr lIns="91583" tIns="45040" rIns="91583" bIns="45040"/>
          <a:lstStyle/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b="1" dirty="0">
                <a:latin typeface="Times New Roman" panose="02020603050405020304" pitchFamily="18" charset="0"/>
              </a:rPr>
              <a:t>The difference between gross pay and the amount </a:t>
            </a:r>
            <a:r>
              <a:rPr lang="en-US" altLang="en-US" b="1" dirty="0">
                <a:solidFill>
                  <a:srgbClr val="CF0E30"/>
                </a:solidFill>
                <a:latin typeface="Times New Roman" panose="02020603050405020304" pitchFamily="18" charset="0"/>
              </a:rPr>
              <a:t>actually received </a:t>
            </a:r>
            <a:r>
              <a:rPr lang="en-US" altLang="en-US" b="1" dirty="0">
                <a:latin typeface="Times New Roman" panose="02020603050405020304" pitchFamily="18" charset="0"/>
              </a:rPr>
              <a:t>is attributable to </a:t>
            </a:r>
            <a:r>
              <a:rPr lang="en-US" altLang="en-US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payroll deductions.</a:t>
            </a:r>
            <a:endParaRPr lang="en-US" altLang="en-US" b="1" dirty="0">
              <a:latin typeface="Times New Roman" panose="02020603050405020304" pitchFamily="18" charset="0"/>
            </a:endParaRPr>
          </a:p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b="1" dirty="0">
                <a:latin typeface="Times New Roman" panose="02020603050405020304" pitchFamily="18" charset="0"/>
              </a:rPr>
              <a:t>Mandatory</a:t>
            </a:r>
            <a:r>
              <a:rPr lang="en-US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 deductions </a:t>
            </a:r>
            <a:r>
              <a:rPr lang="en-US" altLang="en-US" b="1" dirty="0">
                <a:latin typeface="Times New Roman" panose="02020603050405020304" pitchFamily="18" charset="0"/>
              </a:rPr>
              <a:t>consist of </a:t>
            </a:r>
            <a:r>
              <a:rPr lang="en-US" altLang="en-US" b="1" dirty="0">
                <a:solidFill>
                  <a:srgbClr val="CF0E30"/>
                </a:solidFill>
                <a:latin typeface="Times New Roman" panose="02020603050405020304" pitchFamily="18" charset="0"/>
              </a:rPr>
              <a:t>income taxes.</a:t>
            </a:r>
          </a:p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b="1" dirty="0">
                <a:latin typeface="Times New Roman" panose="02020603050405020304" pitchFamily="18" charset="0"/>
              </a:rPr>
              <a:t>The employer is merely a collection agent and subsequently transfers the amounts deducted to the government and designated recipients.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2C14F5B-B1B5-4C62-AB7F-02017886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255588"/>
            <a:ext cx="7508875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3800" b="1" dirty="0">
                <a:solidFill>
                  <a:srgbClr val="000099"/>
                </a:solidFill>
                <a:latin typeface="Arial Black" panose="020B0A04020102020204" pitchFamily="34" charset="0"/>
              </a:rPr>
              <a:t>PAYROLL DEDUCTIONS</a:t>
            </a: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E93AA502-BDEA-4C53-B79C-6492CDDA8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9144000" cy="597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7B9681F-D6E1-4410-980F-4600FA6A5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28750"/>
            <a:ext cx="8458200" cy="5076825"/>
          </a:xfrm>
          <a:noFill/>
        </p:spPr>
        <p:txBody>
          <a:bodyPr lIns="91583" tIns="45040" rIns="91583" bIns="45040"/>
          <a:lstStyle/>
          <a:p>
            <a:pPr marL="466725" indent="-466725" defTabSz="738188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6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Income Taxes </a:t>
            </a:r>
            <a:r>
              <a:rPr lang="en-US" altLang="en-US" sz="2400" b="1" dirty="0">
                <a:latin typeface="Times New Roman" panose="02020603050405020304" pitchFamily="18" charset="0"/>
              </a:rPr>
              <a:t>are required to be withheld  from employees each pay period </a:t>
            </a:r>
          </a:p>
          <a:p>
            <a:pPr marL="466725" indent="-466725" defTabSz="738188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600" b="1" dirty="0">
                <a:latin typeface="Times New Roman" panose="02020603050405020304" pitchFamily="18" charset="0"/>
              </a:rPr>
              <a:t>Amount is determined by </a:t>
            </a:r>
            <a:r>
              <a:rPr lang="en-US" altLang="en-US" sz="2600" b="1" dirty="0">
                <a:solidFill>
                  <a:srgbClr val="CF0E30"/>
                </a:solidFill>
              </a:rPr>
              <a:t>3</a:t>
            </a:r>
            <a:r>
              <a:rPr lang="en-US" altLang="en-US" sz="2600" b="1" dirty="0">
                <a:latin typeface="Times New Roman" panose="02020603050405020304" pitchFamily="18" charset="0"/>
              </a:rPr>
              <a:t> variables:</a:t>
            </a: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 dirty="0">
                <a:latin typeface="Times New Roman" panose="02020603050405020304" pitchFamily="18" charset="0"/>
              </a:rPr>
              <a:t>	</a:t>
            </a:r>
            <a:r>
              <a:rPr lang="en-US" altLang="en-US" sz="2600" b="1" dirty="0">
                <a:solidFill>
                  <a:srgbClr val="006B61"/>
                </a:solidFill>
              </a:rPr>
              <a:t>1</a:t>
            </a:r>
            <a:r>
              <a:rPr lang="en-US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en-US" sz="26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The employee’s gross earnings</a:t>
            </a:r>
            <a:endParaRPr lang="en-US" altLang="en-US" sz="2600" b="1" dirty="0">
              <a:latin typeface="Times New Roman" panose="02020603050405020304" pitchFamily="18" charset="0"/>
            </a:endParaRP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600" b="1" dirty="0">
                <a:solidFill>
                  <a:srgbClr val="006B61"/>
                </a:solidFill>
              </a:rPr>
              <a:t>2</a:t>
            </a:r>
            <a:r>
              <a:rPr lang="en-US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en-US" sz="26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The number of allowances claimed by                       	the employee</a:t>
            </a: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 dirty="0">
                <a:latin typeface="Times New Roman" panose="02020603050405020304" pitchFamily="18" charset="0"/>
              </a:rPr>
              <a:t>	</a:t>
            </a:r>
            <a:r>
              <a:rPr lang="en-US" altLang="en-US" sz="2600" b="1" dirty="0">
                <a:solidFill>
                  <a:srgbClr val="006B61"/>
                </a:solidFill>
              </a:rPr>
              <a:t>3</a:t>
            </a:r>
            <a:r>
              <a:rPr lang="en-US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en-US" sz="26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The length of the pay period</a:t>
            </a:r>
            <a:endParaRPr lang="en-US" altLang="en-US" sz="2600" b="1" dirty="0">
              <a:latin typeface="Times New Roman" panose="02020603050405020304" pitchFamily="18" charset="0"/>
            </a:endParaRPr>
          </a:p>
          <a:p>
            <a:pPr marL="466725" indent="-466725" defTabSz="738188" eaLnBrk="1" hangingPunct="1">
              <a:lnSpc>
                <a:spcPct val="120000"/>
              </a:lnSpc>
              <a:buClr>
                <a:srgbClr val="006B61"/>
              </a:buClr>
            </a:pPr>
            <a:r>
              <a:rPr lang="en-US" altLang="en-US" sz="2600" b="1" dirty="0">
                <a:latin typeface="Times New Roman" panose="02020603050405020304" pitchFamily="18" charset="0"/>
              </a:rPr>
              <a:t>To indicate to the </a:t>
            </a:r>
            <a:r>
              <a:rPr lang="en-US" altLang="en-US" sz="26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Internal Revenue Service</a:t>
            </a:r>
            <a:r>
              <a:rPr lang="en-US" altLang="en-US" sz="2600" b="1" dirty="0">
                <a:latin typeface="Times New Roman" panose="02020603050405020304" pitchFamily="18" charset="0"/>
              </a:rPr>
              <a:t> the number of allowances claimed, the employee must complete an </a:t>
            </a:r>
            <a:r>
              <a:rPr lang="en-US" altLang="en-US" sz="26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Employee’s Withholding Certificate</a:t>
            </a:r>
            <a:r>
              <a:rPr lang="en-US" altLang="en-US" sz="26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ABBCF72-3907-41EA-BA95-8A640C9BC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9913" y="522288"/>
            <a:ext cx="5449887" cy="519112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 dirty="0"/>
              <a:t>INCOME TAXES </a:t>
            </a: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9456C0E8-527B-4FC7-9DA9-D3F8B56842A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5" y="2143125"/>
            <a:ext cx="210502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1BB48A0-9155-47FB-B420-5A768AF69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20675"/>
            <a:ext cx="7994650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 dirty="0"/>
              <a:t>VOLUNTARY DEDUCTIONS 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372D6BC-DF73-4A5E-96A8-9221CB8C7E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1851025"/>
            <a:ext cx="7240588" cy="4829175"/>
          </a:xfrm>
          <a:noFill/>
        </p:spPr>
        <p:txBody>
          <a:bodyPr lIns="91583" tIns="45040" rIns="91583" bIns="45040"/>
          <a:lstStyle/>
          <a:p>
            <a:pPr marL="457200" indent="-457200" defTabSz="966788" eaLnBrk="1" hangingPunct="1">
              <a:buClr>
                <a:srgbClr val="006B61"/>
              </a:buClr>
            </a:pPr>
            <a:r>
              <a:rPr lang="en-US" altLang="en-US" sz="3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Voluntary Deductions </a:t>
            </a:r>
          </a:p>
          <a:p>
            <a:pPr marL="871538" lvl="1" indent="-300038" defTabSz="966788" eaLnBrk="1" hangingPunct="1">
              <a:buClr>
                <a:srgbClr val="006B61"/>
              </a:buClr>
              <a:buFont typeface="Times New Roman" panose="02020603050405020304" pitchFamily="18" charset="0"/>
              <a:buChar char="–"/>
            </a:pPr>
            <a:r>
              <a:rPr lang="en-US" altLang="en-US" sz="2600" b="1" dirty="0">
                <a:latin typeface="Times New Roman" panose="02020603050405020304" pitchFamily="18" charset="0"/>
              </a:rPr>
              <a:t>pertain to withholdings for charitable, retirement, and other purposes  </a:t>
            </a:r>
          </a:p>
          <a:p>
            <a:pPr marL="871538" lvl="1" indent="-300038" defTabSz="966788" eaLnBrk="1" hangingPunct="1">
              <a:buClr>
                <a:srgbClr val="006B61"/>
              </a:buClr>
              <a:buFont typeface="Times New Roman" panose="02020603050405020304" pitchFamily="18" charset="0"/>
              <a:buChar char="–"/>
            </a:pPr>
            <a:r>
              <a:rPr lang="en-US" altLang="en-US" sz="2600" b="1" dirty="0">
                <a:latin typeface="Times New Roman" panose="02020603050405020304" pitchFamily="18" charset="0"/>
              </a:rPr>
              <a:t>authorized in  writing by the employee.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E18424F9-936A-4B39-AC12-DC4A5E5179F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2714625"/>
            <a:ext cx="1685925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CDFDA8C-C057-4C76-AFAB-353EF6814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52600"/>
            <a:ext cx="7561263" cy="34559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 dirty="0">
              <a:latin typeface="Arial" charset="0"/>
            </a:endParaRPr>
          </a:p>
        </p:txBody>
      </p:sp>
      <p:graphicFrame>
        <p:nvGraphicFramePr>
          <p:cNvPr id="28675" name="Object 3">
            <a:hlinkClick r:id="" action="ppaction://ole?verb=0"/>
            <a:extLst>
              <a:ext uri="{FF2B5EF4-FFF2-40B4-BE49-F238E27FC236}">
                <a16:creationId xmlns:a16="http://schemas.microsoft.com/office/drawing/2014/main" id="{702368DF-009F-48D1-94F3-8A8D93CC2F69}"/>
              </a:ext>
            </a:extLst>
          </p:cNvPr>
          <p:cNvGraphicFramePr>
            <a:graphicFrameLocks/>
          </p:cNvGraphicFramePr>
          <p:nvPr/>
        </p:nvGraphicFramePr>
        <p:xfrm>
          <a:off x="838200" y="1828800"/>
          <a:ext cx="74422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Document" r:id="rId4" imgW="8973312" imgH="2865120" progId="Word.Document.8">
                  <p:embed/>
                </p:oleObj>
              </mc:Choice>
              <mc:Fallback>
                <p:oleObj name="Document" r:id="rId4" imgW="8973312" imgH="286512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12" r="36496" b="13326"/>
                      <a:stretch>
                        <a:fillRect/>
                      </a:stretch>
                    </p:blipFill>
                    <p:spPr bwMode="auto">
                      <a:xfrm>
                        <a:off x="838200" y="1828800"/>
                        <a:ext cx="7442200" cy="3352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4">
            <a:extLst>
              <a:ext uri="{FF2B5EF4-FFF2-40B4-BE49-F238E27FC236}">
                <a16:creationId xmlns:a16="http://schemas.microsoft.com/office/drawing/2014/main" id="{5077B720-5952-4913-887F-AECA59B0C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5392738"/>
            <a:ext cx="7485063" cy="1331912"/>
          </a:xfrm>
          <a:solidFill>
            <a:srgbClr val="DADADA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 lIns="91583" tIns="45040" rIns="91583" bIns="45040"/>
          <a:lstStyle/>
          <a:p>
            <a:pPr marL="0" indent="0" algn="just" defTabSz="966788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Net Pay</a:t>
            </a:r>
            <a:r>
              <a:rPr lang="en-US" altLang="en-US" sz="2000" b="1" dirty="0">
                <a:latin typeface="Times New Roman" panose="02020603050405020304" pitchFamily="18" charset="0"/>
              </a:rPr>
              <a:t> (or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take-home pay</a:t>
            </a:r>
            <a:r>
              <a:rPr lang="en-US" altLang="en-US" sz="2000" b="1" dirty="0">
                <a:latin typeface="Times New Roman" panose="02020603050405020304" pitchFamily="18" charset="0"/>
              </a:rPr>
              <a:t>) is determined by subtracting payroll deductions from gross earnings.  Assuming an employee’s wages are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₦552</a:t>
            </a:r>
            <a:r>
              <a:rPr lang="en-US" altLang="en-US" sz="2000" b="1" dirty="0">
                <a:latin typeface="Times New Roman" panose="02020603050405020304" pitchFamily="18" charset="0"/>
              </a:rPr>
              <a:t> each week, the employee will earn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₦28,704</a:t>
            </a:r>
            <a:r>
              <a:rPr lang="en-US" altLang="en-US" sz="2000" b="1" dirty="0">
                <a:latin typeface="Times New Roman" panose="02020603050405020304" pitchFamily="18" charset="0"/>
              </a:rPr>
              <a:t> for the year (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52 weeks X ₦552</a:t>
            </a:r>
            <a:r>
              <a:rPr lang="en-US" altLang="en-US" sz="2000" b="1" dirty="0">
                <a:latin typeface="Times New Roman" panose="02020603050405020304" pitchFamily="18" charset="0"/>
              </a:rPr>
              <a:t>).  Thus, all earnings are subject to FICA taxes.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62B79C3F-E42A-44A0-A141-0DD456C51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309563"/>
            <a:ext cx="7508875" cy="6556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3800" b="1" dirty="0">
                <a:solidFill>
                  <a:srgbClr val="000099"/>
                </a:solidFill>
              </a:rPr>
              <a:t>COMPUTATION OF NET PAY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3AC5B17-5561-4B40-ACF4-BC3E458DF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433513"/>
            <a:ext cx="8686800" cy="3443287"/>
          </a:xfrm>
          <a:noFill/>
        </p:spPr>
        <p:txBody>
          <a:bodyPr lIns="91583" tIns="45040" rIns="91583" bIns="45040"/>
          <a:lstStyle/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Employee earnings record </a:t>
            </a:r>
            <a:endParaRPr lang="en-US" altLang="en-US" sz="2800" b="1" dirty="0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FontTx/>
              <a:buNone/>
            </a:pP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1.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File state and federal payroll tax returns</a:t>
            </a:r>
            <a:endParaRPr lang="en-US" altLang="en-US" sz="2800" b="1" dirty="0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FontTx/>
              <a:buNone/>
            </a:pP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2.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Provides each employee with a statement of gross 	earnings and tax withholdings for the year</a:t>
            </a:r>
            <a:endParaRPr lang="en-US" altLang="en-US" sz="2800" b="1" dirty="0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2800" b="1" dirty="0">
                <a:latin typeface="Times New Roman" panose="02020603050405020304" pitchFamily="18" charset="0"/>
              </a:rPr>
              <a:t>Many companies use a </a:t>
            </a:r>
            <a:r>
              <a:rPr lang="en-US" altLang="en-US" sz="28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payroll register </a:t>
            </a:r>
            <a:r>
              <a:rPr lang="en-US" altLang="en-US" sz="2800" b="1" dirty="0">
                <a:latin typeface="Times New Roman" panose="02020603050405020304" pitchFamily="18" charset="0"/>
              </a:rPr>
              <a:t>to accumulate the gross earnings, deductions, and net pay by employee for each period.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B9AAE92-18EA-4E14-AEF8-6E7438CD1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142875"/>
            <a:ext cx="7546975" cy="1357313"/>
          </a:xfrm>
          <a:effectLst>
            <a:outerShdw dist="35921" dir="2700000" algn="ctr" rotWithShape="0">
              <a:srgbClr val="006B61"/>
            </a:outerShdw>
          </a:effectLst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 dirty="0"/>
              <a:t>RECORDING THE PAYROLL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6EFECA1-321B-438A-8E59-252479338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638"/>
            <a:ext cx="9144000" cy="116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 dirty="0">
                <a:solidFill>
                  <a:srgbClr val="000099"/>
                </a:solidFill>
                <a:latin typeface="Arial Black" panose="020B0A04020102020204" pitchFamily="34" charset="0"/>
              </a:rPr>
              <a:t>RECOGNIZING PAYROLL EXPENSES AND LIABILITIES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A2770EB-1414-486F-9215-28B783CE9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086350"/>
            <a:ext cx="8964613" cy="161925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95000"/>
              </a:lnSpc>
              <a:buFontTx/>
              <a:buNone/>
            </a:pPr>
            <a:r>
              <a:rPr lang="en-US" altLang="en-US" sz="2100" b="1" dirty="0">
                <a:latin typeface="Times New Roman" panose="02020603050405020304" pitchFamily="18" charset="0"/>
              </a:rPr>
              <a:t>Academy Company records its payroll for the week ending January 14, 2005 with the journal entry above.  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Office Salaries Expense</a:t>
            </a:r>
            <a:r>
              <a:rPr lang="en-US" altLang="en-US" sz="2100" b="1" dirty="0">
                <a:latin typeface="Times New Roman" panose="02020603050405020304" pitchFamily="18" charset="0"/>
              </a:rPr>
              <a:t> (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₦5,200</a:t>
            </a:r>
            <a:r>
              <a:rPr lang="en-US" altLang="en-US" sz="2100" b="1" dirty="0">
                <a:latin typeface="Times New Roman" panose="02020603050405020304" pitchFamily="18" charset="0"/>
              </a:rPr>
              <a:t>) and 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Wages Payable</a:t>
            </a:r>
            <a:r>
              <a:rPr lang="en-US" altLang="en-US" sz="2100" b="1" dirty="0">
                <a:latin typeface="Times New Roman" panose="02020603050405020304" pitchFamily="18" charset="0"/>
              </a:rPr>
              <a:t> (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₦12,010</a:t>
            </a:r>
            <a:r>
              <a:rPr lang="en-US" altLang="en-US" sz="2100" b="1" dirty="0">
                <a:latin typeface="Times New Roman" panose="02020603050405020304" pitchFamily="18" charset="0"/>
              </a:rPr>
              <a:t>) are debited in total for 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₦17,210</a:t>
            </a:r>
            <a:r>
              <a:rPr lang="en-US" altLang="en-US" sz="2100" b="1" dirty="0">
                <a:latin typeface="Times New Roman" panose="02020603050405020304" pitchFamily="18" charset="0"/>
              </a:rPr>
              <a:t> in 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gross earnings</a:t>
            </a:r>
            <a:r>
              <a:rPr lang="en-US" altLang="en-US" sz="2100" b="1" dirty="0">
                <a:latin typeface="Times New Roman" panose="02020603050405020304" pitchFamily="18" charset="0"/>
              </a:rPr>
              <a:t>.  Specific liability accounts are credited for the deductions made during the pay period.  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 Payable </a:t>
            </a:r>
            <a:r>
              <a:rPr lang="en-US" altLang="en-US" sz="2100" b="1" dirty="0">
                <a:latin typeface="Times New Roman" panose="02020603050405020304" pitchFamily="18" charset="0"/>
              </a:rPr>
              <a:t>is credited for 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₦11,462.50 </a:t>
            </a:r>
            <a:r>
              <a:rPr lang="en-US" altLang="en-US" sz="2100" b="1" dirty="0">
                <a:latin typeface="Times New Roman" panose="02020603050405020304" pitchFamily="18" charset="0"/>
              </a:rPr>
              <a:t>in </a:t>
            </a:r>
            <a:r>
              <a:rPr lang="en-US" altLang="en-US" sz="21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net earnings</a:t>
            </a:r>
            <a:r>
              <a:rPr lang="en-US" altLang="en-US" sz="2100" b="1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32772" name="Group 1">
            <a:extLst>
              <a:ext uri="{FF2B5EF4-FFF2-40B4-BE49-F238E27FC236}">
                <a16:creationId xmlns:a16="http://schemas.microsoft.com/office/drawing/2014/main" id="{88E2AF47-E1EC-46CF-954A-1FB26A17AB8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447800"/>
            <a:ext cx="8077200" cy="3443288"/>
            <a:chOff x="457200" y="1571625"/>
            <a:chExt cx="8077200" cy="3443288"/>
          </a:xfrm>
        </p:grpSpPr>
        <p:graphicFrame>
          <p:nvGraphicFramePr>
            <p:cNvPr id="32773" name="Object 4">
              <a:extLst>
                <a:ext uri="{FF2B5EF4-FFF2-40B4-BE49-F238E27FC236}">
                  <a16:creationId xmlns:a16="http://schemas.microsoft.com/office/drawing/2014/main" id="{E7CD9EA0-A762-44F7-B452-C089D8D9EB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9439567"/>
                </p:ext>
              </p:extLst>
            </p:nvPr>
          </p:nvGraphicFramePr>
          <p:xfrm>
            <a:off x="457200" y="1571625"/>
            <a:ext cx="8077200" cy="3443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6" name="Worksheet" r:id="rId4" imgW="3432626" imgH="1786500" progId="Excel.Sheet.8">
                    <p:embed/>
                  </p:oleObj>
                </mc:Choice>
                <mc:Fallback>
                  <p:oleObj name="Worksheet" r:id="rId4" imgW="3432626" imgH="1786500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" y="1571625"/>
                          <a:ext cx="8077200" cy="3443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4" name="Text Box 5">
              <a:extLst>
                <a:ext uri="{FF2B5EF4-FFF2-40B4-BE49-F238E27FC236}">
                  <a16:creationId xmlns:a16="http://schemas.microsoft.com/office/drawing/2014/main" id="{A8E5790E-B05B-484A-9890-2AEA547A7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024" y="2143125"/>
              <a:ext cx="7292976" cy="26370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478" tIns="43239" rIns="86478" bIns="43239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Jan 14        Office Salaries Expense                     5,200.00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                  Wages Expense                                 12,010.00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		FICA                                                               1,376.80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		Federal Income Taxes Pay.                             3,490.00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		State Income Taxes Pay.                                    344.20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		United Fund Pay.                                               421.50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		Union Dues Pay.                                                115.00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		Salaries and Wages Pay.                                11,462.50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B739BAA-9809-4675-AFC9-EE6404DA0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9BEBB56-5BE1-4894-AEC7-ACBAD9C03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3152816E-6AD7-417A-BAE7-E6B2CC697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4610100"/>
            <a:ext cx="7473950" cy="1931988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The entry to record payment of the Academy Company payroll is a debit to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 Payable </a:t>
            </a:r>
            <a:r>
              <a:rPr lang="en-US" altLang="en-US" sz="2400" b="1" dirty="0">
                <a:latin typeface="Times New Roman" panose="02020603050405020304" pitchFamily="18" charset="0"/>
              </a:rPr>
              <a:t>and a credit to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Cash</a:t>
            </a:r>
            <a:r>
              <a:rPr lang="en-US" altLang="en-US" sz="2400" b="1" dirty="0">
                <a:latin typeface="Times New Roman" panose="02020603050405020304" pitchFamily="18" charset="0"/>
              </a:rPr>
              <a:t>. When currency is used in payment, one check is prepared for the amount of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net earnings</a:t>
            </a:r>
            <a:r>
              <a:rPr lang="en-US" altLang="en-US" sz="2400" b="1" dirty="0">
                <a:latin typeface="Times New Roman" panose="02020603050405020304" pitchFamily="18" charset="0"/>
              </a:rPr>
              <a:t> (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₦11,462.50</a:t>
            </a:r>
            <a:r>
              <a:rPr lang="en-US" altLang="en-US" sz="2400" b="1" dirty="0">
                <a:latin typeface="Times New Roman" panose="02020603050405020304" pitchFamily="18" charset="0"/>
              </a:rPr>
              <a:t>). 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0F06D069-23AB-446E-9991-F7C99C5F2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74638"/>
            <a:ext cx="5667375" cy="116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 dirty="0">
                <a:solidFill>
                  <a:srgbClr val="000099"/>
                </a:solidFill>
                <a:latin typeface="Arial Black" panose="020B0A04020102020204" pitchFamily="34" charset="0"/>
              </a:rPr>
              <a:t>RECORDING PAYMENT OF THE PAYROLL</a:t>
            </a:r>
          </a:p>
        </p:txBody>
      </p:sp>
      <p:graphicFrame>
        <p:nvGraphicFramePr>
          <p:cNvPr id="34822" name="Object 6">
            <a:extLst>
              <a:ext uri="{FF2B5EF4-FFF2-40B4-BE49-F238E27FC236}">
                <a16:creationId xmlns:a16="http://schemas.microsoft.com/office/drawing/2014/main" id="{B1F9B068-8250-4D7E-80F3-48D0D24C4C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837362"/>
              </p:ext>
            </p:extLst>
          </p:nvPr>
        </p:nvGraphicFramePr>
        <p:xfrm>
          <a:off x="871538" y="1785938"/>
          <a:ext cx="7473950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Worksheet" r:id="rId4" imgW="3432626" imgH="1139483" progId="Excel.Sheet.8">
                  <p:embed/>
                </p:oleObj>
              </mc:Choice>
              <mc:Fallback>
                <p:oleObj name="Worksheet" r:id="rId4" imgW="3432626" imgH="1139483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1785938"/>
                        <a:ext cx="7473950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Text Box 7">
            <a:extLst>
              <a:ext uri="{FF2B5EF4-FFF2-40B4-BE49-F238E27FC236}">
                <a16:creationId xmlns:a16="http://schemas.microsoft.com/office/drawing/2014/main" id="{49266860-539E-4366-BDAB-025F4ECD5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150" y="2466975"/>
            <a:ext cx="74898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 dirty="0">
                <a:latin typeface="Times New Roman" panose="02020603050405020304" pitchFamily="18" charset="0"/>
              </a:rPr>
              <a:t>Jan. 14      Salaries and Wages Pay.       11,462.50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300" dirty="0">
                <a:latin typeface="Times New Roman" panose="02020603050405020304" pitchFamily="18" charset="0"/>
              </a:rPr>
              <a:t>		Cash				         11,462.50			</a:t>
            </a:r>
          </a:p>
        </p:txBody>
      </p:sp>
    </p:spTree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67BD676-EE01-46FA-BFE5-316363029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322263"/>
            <a:ext cx="6794500" cy="11144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 dirty="0">
                <a:solidFill>
                  <a:srgbClr val="000099"/>
                </a:solidFill>
                <a:latin typeface="Arial Black" panose="020B0A04020102020204" pitchFamily="34" charset="0"/>
              </a:rPr>
              <a:t>RECORDING EMPLOYER PAYROLL TAXES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8E01E6E-6947-474E-A217-B56D31F3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1771650"/>
            <a:ext cx="7554912" cy="2208213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300" b="1" dirty="0">
                <a:latin typeface="Times New Roman" panose="02020603050405020304" pitchFamily="18" charset="0"/>
              </a:rPr>
              <a:t>The entry to record the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payroll tax expense </a:t>
            </a:r>
            <a:r>
              <a:rPr lang="en-US" altLang="en-US" sz="2300" b="1" dirty="0">
                <a:latin typeface="Times New Roman" panose="02020603050405020304" pitchFamily="18" charset="0"/>
              </a:rPr>
              <a:t>associated with the Academy Company payroll results in a debit to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Payroll Tax Expense</a:t>
            </a:r>
            <a:r>
              <a:rPr lang="en-US" altLang="en-US" sz="2300" b="1" dirty="0">
                <a:latin typeface="Times New Roman" panose="02020603050405020304" pitchFamily="18" charset="0"/>
              </a:rPr>
              <a:t> for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₦2,443.82</a:t>
            </a:r>
            <a:r>
              <a:rPr lang="en-US" altLang="en-US" sz="2300" b="1" dirty="0">
                <a:latin typeface="Times New Roman" panose="02020603050405020304" pitchFamily="18" charset="0"/>
              </a:rPr>
              <a:t>, a credit to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FICA Taxes Payable</a:t>
            </a:r>
            <a:r>
              <a:rPr lang="en-US" altLang="en-US" sz="2300" b="1" dirty="0">
                <a:latin typeface="Times New Roman" panose="02020603050405020304" pitchFamily="18" charset="0"/>
              </a:rPr>
              <a:t> for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₦1,376.80</a:t>
            </a:r>
            <a:r>
              <a:rPr lang="en-US" altLang="en-US" sz="2300" b="1" dirty="0">
                <a:latin typeface="Times New Roman" panose="02020603050405020304" pitchFamily="18" charset="0"/>
              </a:rPr>
              <a:t> (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₦17,210 X 8%</a:t>
            </a:r>
            <a:r>
              <a:rPr lang="en-US" altLang="en-US" sz="2300" b="1" dirty="0">
                <a:latin typeface="Times New Roman" panose="02020603050405020304" pitchFamily="18" charset="0"/>
              </a:rPr>
              <a:t>), a credit to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FUTA Payable</a:t>
            </a:r>
            <a:r>
              <a:rPr lang="en-US" altLang="en-US" sz="2300" b="1" dirty="0">
                <a:latin typeface="Times New Roman" panose="02020603050405020304" pitchFamily="18" charset="0"/>
              </a:rPr>
              <a:t> for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₦137.68</a:t>
            </a:r>
            <a:r>
              <a:rPr lang="en-US" altLang="en-US" sz="2300" b="1" dirty="0">
                <a:latin typeface="Times New Roman" panose="02020603050405020304" pitchFamily="18" charset="0"/>
              </a:rPr>
              <a:t> (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₦17,210 X 0.8%</a:t>
            </a:r>
            <a:r>
              <a:rPr lang="en-US" altLang="en-US" sz="2300" b="1" dirty="0">
                <a:latin typeface="Times New Roman" panose="02020603050405020304" pitchFamily="18" charset="0"/>
              </a:rPr>
              <a:t>), and a credit to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SUTA Payable</a:t>
            </a:r>
            <a:r>
              <a:rPr lang="en-US" altLang="en-US" sz="2300" b="1" dirty="0">
                <a:latin typeface="Times New Roman" panose="02020603050405020304" pitchFamily="18" charset="0"/>
              </a:rPr>
              <a:t> for 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₦929.34</a:t>
            </a:r>
            <a:r>
              <a:rPr lang="en-US" altLang="en-US" sz="2300" b="1" dirty="0">
                <a:latin typeface="Times New Roman" panose="02020603050405020304" pitchFamily="18" charset="0"/>
              </a:rPr>
              <a:t> (</a:t>
            </a:r>
            <a:r>
              <a:rPr lang="en-US" altLang="en-US" sz="23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₦17,210 X 5.4%</a:t>
            </a:r>
            <a:r>
              <a:rPr lang="en-US" altLang="en-US" sz="2300" b="1" dirty="0">
                <a:latin typeface="Times New Roman" panose="02020603050405020304" pitchFamily="18" charset="0"/>
              </a:rPr>
              <a:t>). </a:t>
            </a:r>
          </a:p>
        </p:txBody>
      </p:sp>
      <p:grpSp>
        <p:nvGrpSpPr>
          <p:cNvPr id="36868" name="Group 1">
            <a:extLst>
              <a:ext uri="{FF2B5EF4-FFF2-40B4-BE49-F238E27FC236}">
                <a16:creationId xmlns:a16="http://schemas.microsoft.com/office/drawing/2014/main" id="{AF9CAAE7-7E18-4B7B-942C-623BE46A3536}"/>
              </a:ext>
            </a:extLst>
          </p:cNvPr>
          <p:cNvGrpSpPr>
            <a:grpSpLocks/>
          </p:cNvGrpSpPr>
          <p:nvPr/>
        </p:nvGrpSpPr>
        <p:grpSpPr bwMode="auto">
          <a:xfrm>
            <a:off x="812800" y="4214813"/>
            <a:ext cx="7313613" cy="2357437"/>
            <a:chOff x="812800" y="4214813"/>
            <a:chExt cx="7313613" cy="2357437"/>
          </a:xfrm>
        </p:grpSpPr>
        <p:graphicFrame>
          <p:nvGraphicFramePr>
            <p:cNvPr id="36869" name="Object 4">
              <a:extLst>
                <a:ext uri="{FF2B5EF4-FFF2-40B4-BE49-F238E27FC236}">
                  <a16:creationId xmlns:a16="http://schemas.microsoft.com/office/drawing/2014/main" id="{10DA54AC-6CBC-4592-A03C-D636F45F30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7290126"/>
                </p:ext>
              </p:extLst>
            </p:nvPr>
          </p:nvGraphicFramePr>
          <p:xfrm>
            <a:off x="812800" y="4214813"/>
            <a:ext cx="7313613" cy="2357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2" name="Worksheet" r:id="rId4" imgW="3432626" imgH="1139483" progId="Excel.Sheet.8">
                    <p:embed/>
                  </p:oleObj>
                </mc:Choice>
                <mc:Fallback>
                  <p:oleObj name="Worksheet" r:id="rId4" imgW="3432626" imgH="1139483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800" y="4214813"/>
                          <a:ext cx="7313613" cy="2357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0" name="Text Box 5">
              <a:extLst>
                <a:ext uri="{FF2B5EF4-FFF2-40B4-BE49-F238E27FC236}">
                  <a16:creationId xmlns:a16="http://schemas.microsoft.com/office/drawing/2014/main" id="{55E638B8-043F-4EB1-B2CE-CE4395F91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800" y="4872038"/>
              <a:ext cx="7313613" cy="1597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6478" tIns="43239" rIns="86478" bIns="43239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Times New Roman" panose="02020603050405020304" pitchFamily="18" charset="0"/>
                </a:rPr>
                <a:t>Jan 14.		Payroll Tax Expense		         2,443.82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Times New Roman" panose="02020603050405020304" pitchFamily="18" charset="0"/>
                </a:rPr>
                <a:t>		FICA Taxes Pay				1,376.80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Times New Roman" panose="02020603050405020304" pitchFamily="18" charset="0"/>
                </a:rPr>
                <a:t>		Federal Unemployment Taxes Pay		   137.68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Times New Roman" panose="02020603050405020304" pitchFamily="18" charset="0"/>
                </a:rPr>
                <a:t>		State Unemployment Taxes Pay		   929.34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Times New Roman" panose="02020603050405020304" pitchFamily="18" charset="0"/>
                </a:rPr>
                <a:t>		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>
            <a:extLst>
              <a:ext uri="{FF2B5EF4-FFF2-40B4-BE49-F238E27FC236}">
                <a16:creationId xmlns:a16="http://schemas.microsoft.com/office/drawing/2014/main" id="{2176D020-A5B4-46FE-B869-244DE8B395E9}"/>
              </a:ext>
            </a:extLst>
          </p:cNvPr>
          <p:cNvGrpSpPr>
            <a:grpSpLocks/>
          </p:cNvGrpSpPr>
          <p:nvPr/>
        </p:nvGrpSpPr>
        <p:grpSpPr bwMode="auto">
          <a:xfrm>
            <a:off x="368300" y="1785938"/>
            <a:ext cx="8445500" cy="3713162"/>
            <a:chOff x="271" y="54"/>
            <a:chExt cx="5586" cy="2495"/>
          </a:xfrm>
        </p:grpSpPr>
        <p:sp>
          <p:nvSpPr>
            <p:cNvPr id="38916" name="Rectangle 3">
              <a:extLst>
                <a:ext uri="{FF2B5EF4-FFF2-40B4-BE49-F238E27FC236}">
                  <a16:creationId xmlns:a16="http://schemas.microsoft.com/office/drawing/2014/main" id="{9DC4AA99-1E65-4C02-BC45-05E6797C3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54"/>
              <a:ext cx="5140" cy="1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83" tIns="45040" rIns="91583" bIns="45040" anchor="ctr"/>
            <a:lstStyle>
              <a:lvl1pPr defTabSz="90805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080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0805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080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0805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080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080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080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0805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300" b="1" dirty="0">
                <a:solidFill>
                  <a:srgbClr val="CF0E30"/>
                </a:solidFill>
              </a:endParaRPr>
            </a:p>
          </p:txBody>
        </p:sp>
        <p:sp>
          <p:nvSpPr>
            <p:cNvPr id="38917" name="Rectangle 4">
              <a:extLst>
                <a:ext uri="{FF2B5EF4-FFF2-40B4-BE49-F238E27FC236}">
                  <a16:creationId xmlns:a16="http://schemas.microsoft.com/office/drawing/2014/main" id="{7CB67673-E7AE-4BD4-AD78-4D05BB7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" y="1238"/>
              <a:ext cx="5586" cy="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577" tIns="42038" rIns="85577" bIns="42038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7300" b="1" dirty="0">
                  <a:solidFill>
                    <a:srgbClr val="063DE8"/>
                  </a:solidFill>
                </a:rPr>
                <a:t>................................</a:t>
              </a:r>
            </a:p>
          </p:txBody>
        </p:sp>
        <p:sp>
          <p:nvSpPr>
            <p:cNvPr id="44037" name="AutoShape 5">
              <a:extLst>
                <a:ext uri="{FF2B5EF4-FFF2-40B4-BE49-F238E27FC236}">
                  <a16:creationId xmlns:a16="http://schemas.microsoft.com/office/drawing/2014/main" id="{73E57E30-3010-49C6-8482-C03303E6FF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09" y="1370"/>
              <a:ext cx="1726" cy="1179"/>
            </a:xfrm>
            <a:prstGeom prst="triangle">
              <a:avLst>
                <a:gd name="adj" fmla="val 49995"/>
              </a:avLst>
            </a:prstGeom>
            <a:solidFill>
              <a:srgbClr val="006B6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dirty="0">
                <a:latin typeface="Arial" charset="0"/>
              </a:endParaRPr>
            </a:p>
          </p:txBody>
        </p:sp>
      </p:grpSp>
      <p:sp>
        <p:nvSpPr>
          <p:cNvPr id="38915" name="Rectangle 6">
            <a:extLst>
              <a:ext uri="{FF2B5EF4-FFF2-40B4-BE49-F238E27FC236}">
                <a16:creationId xmlns:a16="http://schemas.microsoft.com/office/drawing/2014/main" id="{C5D27401-4617-413F-9B43-7847C4F3C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88" y="500063"/>
            <a:ext cx="786765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Additional Fringe Benefits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C03368A-489B-4027-A801-48B3DD1DA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668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800" b="1" dirty="0">
                <a:solidFill>
                  <a:srgbClr val="000099"/>
                </a:solidFill>
                <a:latin typeface="Arial Black" panose="020B0A04020102020204" pitchFamily="34" charset="0"/>
              </a:rPr>
              <a:t>ADDITIONAL FRINGE BENEFITS</a:t>
            </a:r>
            <a:r>
              <a:rPr lang="en-US" altLang="en-US" sz="3400" b="1" dirty="0">
                <a:solidFill>
                  <a:schemeClr val="tx2"/>
                </a:solidFill>
              </a:rPr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b="1" dirty="0">
                <a:solidFill>
                  <a:srgbClr val="006B61"/>
                </a:solidFill>
              </a:rPr>
              <a:t>PAID ABSENCES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D4D5446-5E9C-4D9C-A8E1-568879A07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54163"/>
            <a:ext cx="8983663" cy="2716212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Employees often are given rights to receive compensation for  absences when certain conditions of employment are met.  Such compensation may relate to </a:t>
            </a:r>
            <a:r>
              <a:rPr lang="en-US" altLang="en-US" sz="2000" b="1" dirty="0"/>
              <a:t>1)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paid vacations</a:t>
            </a:r>
            <a:r>
              <a:rPr lang="en-US" altLang="en-US" sz="2000" b="1" dirty="0">
                <a:latin typeface="Times New Roman" panose="02020603050405020304" pitchFamily="18" charset="0"/>
              </a:rPr>
              <a:t>,   </a:t>
            </a:r>
            <a:r>
              <a:rPr lang="en-US" altLang="en-US" sz="2000" b="1" dirty="0"/>
              <a:t>2)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sick pay benefits</a:t>
            </a:r>
            <a:r>
              <a:rPr lang="en-US" altLang="en-US" sz="2000" b="1" dirty="0">
                <a:latin typeface="Times New Roman" panose="02020603050405020304" pitchFamily="18" charset="0"/>
              </a:rPr>
              <a:t>, and </a:t>
            </a:r>
            <a:r>
              <a:rPr lang="en-US" altLang="en-US" sz="2000" b="1" dirty="0">
                <a:solidFill>
                  <a:schemeClr val="tx2"/>
                </a:solidFill>
              </a:rPr>
              <a:t>3</a:t>
            </a:r>
            <a:r>
              <a:rPr lang="en-US" altLang="en-US" sz="2000" b="1" dirty="0">
                <a:latin typeface="Times New Roman" panose="02020603050405020304" pitchFamily="18" charset="0"/>
              </a:rPr>
              <a:t>)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paid holidays</a:t>
            </a:r>
            <a:r>
              <a:rPr lang="en-US" altLang="en-US" sz="2000" b="1" dirty="0">
                <a:latin typeface="Times New Roman" panose="02020603050405020304" pitchFamily="18" charset="0"/>
              </a:rPr>
              <a:t>.  A liability should be accrued for paid future absences if </a:t>
            </a:r>
            <a:r>
              <a:rPr lang="en-US" altLang="en-US" sz="2000" b="1" dirty="0">
                <a:solidFill>
                  <a:schemeClr val="tx2"/>
                </a:solidFill>
              </a:rPr>
              <a:t>1)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its payment is probable</a:t>
            </a:r>
            <a:r>
              <a:rPr lang="en-US" altLang="en-US" sz="2000" b="1" dirty="0">
                <a:latin typeface="Times New Roman" panose="02020603050405020304" pitchFamily="18" charset="0"/>
              </a:rPr>
              <a:t> and </a:t>
            </a:r>
            <a:r>
              <a:rPr lang="en-US" altLang="en-US" sz="2000" b="1" dirty="0"/>
              <a:t>2)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the amount can be reasonably estimated</a:t>
            </a:r>
            <a:r>
              <a:rPr lang="en-US" altLang="en-US" sz="2000" b="1" dirty="0">
                <a:latin typeface="Times New Roman" panose="02020603050405020304" pitchFamily="18" charset="0"/>
              </a:rPr>
              <a:t>.  Academy Company employees are entitled to one day’s vacation for each month worked.  If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30</a:t>
            </a:r>
            <a:r>
              <a:rPr lang="en-US" altLang="en-US" sz="2000" b="1" dirty="0">
                <a:latin typeface="Times New Roman" panose="02020603050405020304" pitchFamily="18" charset="0"/>
              </a:rPr>
              <a:t> employees earn an average of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₦110</a:t>
            </a:r>
            <a:r>
              <a:rPr lang="en-US" altLang="en-US" sz="2000" b="1" dirty="0">
                <a:latin typeface="Times New Roman" panose="02020603050405020304" pitchFamily="18" charset="0"/>
              </a:rPr>
              <a:t> per day in a given month, the accrual for vacation benefits for January is 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₦3,300</a:t>
            </a:r>
            <a:r>
              <a:rPr lang="en-US" altLang="en-US" sz="2000" b="1" dirty="0">
                <a:latin typeface="Times New Roman" panose="02020603050405020304" pitchFamily="18" charset="0"/>
              </a:rPr>
              <a:t> (</a:t>
            </a:r>
            <a:r>
              <a:rPr lang="en-US" altLang="en-US" sz="2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₦110 X 30</a:t>
            </a:r>
            <a:r>
              <a:rPr lang="en-US" altLang="en-US" sz="2000" b="1" dirty="0">
                <a:latin typeface="Times New Roman" panose="02020603050405020304" pitchFamily="18" charset="0"/>
              </a:rPr>
              <a:t>).  The liability is recognized at January 31 by the following adjusting entry: </a:t>
            </a:r>
          </a:p>
        </p:txBody>
      </p:sp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6F13D78F-C108-423F-BF8F-C57340DFCB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229288"/>
              </p:ext>
            </p:extLst>
          </p:nvPr>
        </p:nvGraphicFramePr>
        <p:xfrm>
          <a:off x="1741488" y="4495800"/>
          <a:ext cx="6154737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Worksheet" r:id="rId4" imgW="3432626" imgH="1139483" progId="Excel.Sheet.8">
                  <p:embed/>
                </p:oleObj>
              </mc:Choice>
              <mc:Fallback>
                <p:oleObj name="Worksheet" r:id="rId4" imgW="3432626" imgH="1139483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4495800"/>
                        <a:ext cx="6154737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>
            <a:extLst>
              <a:ext uri="{FF2B5EF4-FFF2-40B4-BE49-F238E27FC236}">
                <a16:creationId xmlns:a16="http://schemas.microsoft.com/office/drawing/2014/main" id="{E9CDA633-F472-419F-B954-0433AA8A9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5032375"/>
            <a:ext cx="58928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dirty="0">
                <a:latin typeface="Times New Roman" panose="02020603050405020304" pitchFamily="18" charset="0"/>
              </a:rPr>
              <a:t>Jan. 31       Vacation Benefits Exp.                      3,300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700" dirty="0">
                <a:latin typeface="Times New Roman" panose="02020603050405020304" pitchFamily="18" charset="0"/>
              </a:rPr>
              <a:t>		Vacation Benefits Pay.                          3,300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F63DC55-6E07-48A2-A40B-9560A07EF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8" y="204788"/>
            <a:ext cx="8924925" cy="116681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b="1" dirty="0">
                <a:solidFill>
                  <a:srgbClr val="000099"/>
                </a:solidFill>
                <a:latin typeface="Arial Black" panose="020B0A04020102020204" pitchFamily="34" charset="0"/>
              </a:rPr>
              <a:t>ADDITIONAL FRINGE BENEFITS</a:t>
            </a:r>
            <a:r>
              <a:rPr lang="en-US" altLang="en-US" sz="3400" b="1" dirty="0">
                <a:solidFill>
                  <a:schemeClr val="tx2"/>
                </a:solidFill>
              </a:rPr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b="1" dirty="0">
                <a:solidFill>
                  <a:srgbClr val="006B61"/>
                </a:solidFill>
              </a:rPr>
              <a:t>PAID ABSENCES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736AE1-CE54-4F67-BAB3-C461FBD16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1689100"/>
            <a:ext cx="8120062" cy="193198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 b="1" dirty="0"/>
              <a:t>When </a:t>
            </a:r>
            <a:r>
              <a:rPr lang="en-US" altLang="en-US" sz="2400" b="1" dirty="0">
                <a:solidFill>
                  <a:srgbClr val="CF0E30"/>
                </a:solidFill>
              </a:rPr>
              <a:t>vacation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rgbClr val="CF0E30"/>
                </a:solidFill>
              </a:rPr>
              <a:t>benefits</a:t>
            </a:r>
            <a:r>
              <a:rPr lang="en-US" altLang="en-US" sz="2400" b="1" dirty="0"/>
              <a:t> are paid, </a:t>
            </a:r>
            <a:r>
              <a:rPr lang="en-US" altLang="en-US" sz="2400" b="1" dirty="0">
                <a:solidFill>
                  <a:srgbClr val="CF0E30"/>
                </a:solidFill>
              </a:rPr>
              <a:t>Vacation Benefits Payable</a:t>
            </a:r>
            <a:r>
              <a:rPr lang="en-US" altLang="en-US" sz="2400" b="1" dirty="0"/>
              <a:t> is debited and </a:t>
            </a:r>
            <a:r>
              <a:rPr lang="en-US" altLang="en-US" sz="2400" b="1" dirty="0">
                <a:solidFill>
                  <a:srgbClr val="CF0E30"/>
                </a:solidFill>
              </a:rPr>
              <a:t>Cash </a:t>
            </a:r>
            <a:r>
              <a:rPr lang="en-US" altLang="en-US" sz="2400" b="1" dirty="0"/>
              <a:t>is credited.  If Academy Company pays such benefits for </a:t>
            </a:r>
            <a:r>
              <a:rPr lang="en-US" altLang="en-US" sz="2400" b="1" dirty="0">
                <a:solidFill>
                  <a:srgbClr val="CF0E30"/>
                </a:solidFill>
              </a:rPr>
              <a:t>10</a:t>
            </a:r>
            <a:r>
              <a:rPr lang="en-US" altLang="en-US" sz="2400" b="1" dirty="0"/>
              <a:t> employees in July, the journal entry to record the payment is for </a:t>
            </a:r>
            <a:r>
              <a:rPr lang="en-US" altLang="en-US" sz="2400" b="1" dirty="0">
                <a:solidFill>
                  <a:srgbClr val="CF0E30"/>
                </a:solidFill>
              </a:rPr>
              <a:t>₦1,100</a:t>
            </a:r>
            <a:r>
              <a:rPr lang="en-US" altLang="en-US" sz="2400" b="1" dirty="0"/>
              <a:t> (</a:t>
            </a:r>
            <a:r>
              <a:rPr lang="en-US" altLang="en-US" sz="2400" b="1" dirty="0">
                <a:solidFill>
                  <a:srgbClr val="CF0E30"/>
                </a:solidFill>
              </a:rPr>
              <a:t>₦110 X 10</a:t>
            </a:r>
            <a:r>
              <a:rPr lang="en-US" altLang="en-US" sz="2400" b="1" dirty="0"/>
              <a:t>). </a:t>
            </a:r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817DB658-A359-4385-9EA7-87A91A3D6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088105"/>
              </p:ext>
            </p:extLst>
          </p:nvPr>
        </p:nvGraphicFramePr>
        <p:xfrm>
          <a:off x="1066800" y="4264025"/>
          <a:ext cx="6697663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Worksheet" r:id="rId4" imgW="3432626" imgH="1139483" progId="Excel.Sheet.8">
                  <p:embed/>
                </p:oleObj>
              </mc:Choice>
              <mc:Fallback>
                <p:oleObj name="Worksheet" r:id="rId4" imgW="3432626" imgH="1139483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264025"/>
                        <a:ext cx="6697663" cy="213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 Box 5">
            <a:extLst>
              <a:ext uri="{FF2B5EF4-FFF2-40B4-BE49-F238E27FC236}">
                <a16:creationId xmlns:a16="http://schemas.microsoft.com/office/drawing/2014/main" id="{69E2E643-0428-4A5A-ABD1-E71EEF91C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11713"/>
            <a:ext cx="6697663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July 31		Vacation Benefits Pay.      1,100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Cash				        1,100</a:t>
            </a: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72A5FED-EBAE-4C59-811E-D1BB4F2C7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410FE7D-9522-4987-981A-DA4A19D91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A9507704-B36B-4DBD-A5F9-2EDFCD58F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228600"/>
            <a:ext cx="7994650" cy="1203325"/>
          </a:xfrm>
          <a:effectLst>
            <a:outerShdw dist="35921" dir="2700000" algn="ctr" rotWithShape="0">
              <a:srgbClr val="006B61"/>
            </a:outerShdw>
          </a:effectLst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 dirty="0"/>
              <a:t>POSTRETIREMENT BENEFITS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2F1D744E-502E-45DA-979E-0828CFCDD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677988"/>
            <a:ext cx="8115300" cy="3046412"/>
          </a:xfrm>
          <a:noFill/>
        </p:spPr>
        <p:txBody>
          <a:bodyPr lIns="91583" tIns="45040" rIns="91583" bIns="45040"/>
          <a:lstStyle/>
          <a:p>
            <a:pPr marL="466725" indent="-466725" defTabSz="966788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Postretirement benefits </a:t>
            </a:r>
            <a:r>
              <a:rPr lang="en-US" altLang="en-US" sz="3000" b="1" dirty="0">
                <a:latin typeface="Times New Roman" panose="02020603050405020304" pitchFamily="18" charset="0"/>
              </a:rPr>
              <a:t>are benefits provided by employers to retired employees for:</a:t>
            </a:r>
          </a:p>
          <a:p>
            <a:pPr marL="466725" indent="-466725" defTabSz="966788" eaLnBrk="1" hangingPunct="1">
              <a:lnSpc>
                <a:spcPct val="90000"/>
              </a:lnSpc>
              <a:buFontTx/>
              <a:buNone/>
            </a:pP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3000" b="1" dirty="0">
                <a:solidFill>
                  <a:srgbClr val="006B61"/>
                </a:solidFill>
              </a:rPr>
              <a:t>1</a:t>
            </a: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Health care and life insurance</a:t>
            </a:r>
            <a:endParaRPr lang="en-US" altLang="en-US" sz="3000" b="1" dirty="0">
              <a:latin typeface="Times New Roman" panose="02020603050405020304" pitchFamily="18" charset="0"/>
            </a:endParaRPr>
          </a:p>
          <a:p>
            <a:pPr marL="466725" indent="-466725" defTabSz="966788" eaLnBrk="1" hangingPunct="1">
              <a:lnSpc>
                <a:spcPct val="90000"/>
              </a:lnSpc>
              <a:buFontTx/>
              <a:buNone/>
            </a:pP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3000" b="1" dirty="0">
                <a:solidFill>
                  <a:srgbClr val="006B6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Pensions</a:t>
            </a:r>
          </a:p>
          <a:p>
            <a:pPr marL="466725" indent="-466725" defTabSz="966788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3000" b="1" dirty="0">
                <a:latin typeface="Times New Roman" panose="02020603050405020304" pitchFamily="18" charset="0"/>
              </a:rPr>
              <a:t>Both types of postretirement benefits are accounted for on the </a:t>
            </a:r>
            <a:r>
              <a:rPr lang="en-US" altLang="en-US" sz="30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accrual basis</a:t>
            </a:r>
            <a:r>
              <a:rPr lang="en-US" altLang="en-US" sz="3400" b="1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45062" name="Picture 6">
            <a:extLst>
              <a:ext uri="{FF2B5EF4-FFF2-40B4-BE49-F238E27FC236}">
                <a16:creationId xmlns:a16="http://schemas.microsoft.com/office/drawing/2014/main" id="{B792E193-63F2-452F-9442-D4F177E8FF3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025" y="4357688"/>
            <a:ext cx="2973388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416DD02-612B-4775-BDF2-9E616A875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4948F1A-27EF-4E02-9ED6-D0BA7849E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30B5B2EB-457C-4DA9-B4C9-A26B2ED9B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875" y="320675"/>
            <a:ext cx="7918450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 dirty="0"/>
              <a:t> PENSION PLANS 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41F683C1-2288-4AC1-B895-FE26794BE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49425"/>
            <a:ext cx="8562975" cy="3706813"/>
          </a:xfrm>
          <a:noFill/>
        </p:spPr>
        <p:txBody>
          <a:bodyPr lIns="91583" tIns="45040" rIns="91583" bIns="45040"/>
          <a:lstStyle/>
          <a:p>
            <a:pPr marL="466725" indent="-466725" defTabSz="6858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 dirty="0">
                <a:latin typeface="Times New Roman" panose="02020603050405020304" pitchFamily="18" charset="0"/>
              </a:rPr>
              <a:t>A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pension plan </a:t>
            </a:r>
            <a:r>
              <a:rPr lang="en-US" altLang="en-US" sz="2400" b="1" dirty="0">
                <a:latin typeface="Times New Roman" panose="02020603050405020304" pitchFamily="18" charset="0"/>
              </a:rPr>
              <a:t>is an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agreement</a:t>
            </a:r>
            <a:r>
              <a:rPr lang="en-US" altLang="en-US" sz="2400" b="1" dirty="0">
                <a:latin typeface="Times New Roman" panose="02020603050405020304" pitchFamily="18" charset="0"/>
              </a:rPr>
              <a:t> whereby an employer provides benefits to employees after they retire. </a:t>
            </a:r>
          </a:p>
          <a:p>
            <a:pPr marL="466725" indent="-466725" defTabSz="6858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Three</a:t>
            </a:r>
            <a:r>
              <a:rPr lang="en-US" altLang="en-US" sz="2400" b="1" dirty="0">
                <a:latin typeface="Times New Roman" panose="02020603050405020304" pitchFamily="18" charset="0"/>
              </a:rPr>
              <a:t> parties are generally involved in a pension plan.</a:t>
            </a: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</a:rPr>
              <a:t>The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employer</a:t>
            </a:r>
            <a:r>
              <a:rPr lang="en-US" altLang="en-US" sz="2400" b="1" dirty="0">
                <a:latin typeface="Times New Roman" panose="02020603050405020304" pitchFamily="18" charset="0"/>
              </a:rPr>
              <a:t> sponsors the pension plan.</a:t>
            </a: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solidFill>
                  <a:srgbClr val="006B6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</a:rPr>
              <a:t>The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plan administrator</a:t>
            </a:r>
            <a:r>
              <a:rPr lang="en-US" altLang="en-US" sz="2400" b="1" dirty="0">
                <a:latin typeface="Times New Roman" panose="02020603050405020304" pitchFamily="18" charset="0"/>
              </a:rPr>
              <a:t> receives the contributions 		  	from the employer, invests the pension assets, and  		  	makes the benefit payments.</a:t>
            </a:r>
            <a:endParaRPr lang="en-US" altLang="en-US" sz="2400" b="1" dirty="0">
              <a:solidFill>
                <a:srgbClr val="CF0E30"/>
              </a:solidFill>
              <a:latin typeface="Times New Roman" panose="02020603050405020304" pitchFamily="18" charset="0"/>
            </a:endParaRP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6B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</a:rPr>
              <a:t>The </a:t>
            </a:r>
            <a:r>
              <a:rPr lang="en-US" altLang="en-US" sz="2400" b="1" dirty="0">
                <a:solidFill>
                  <a:srgbClr val="CF0E30"/>
                </a:solidFill>
                <a:latin typeface="Times New Roman" panose="02020603050405020304" pitchFamily="18" charset="0"/>
              </a:rPr>
              <a:t>retired employees</a:t>
            </a:r>
            <a:r>
              <a:rPr lang="en-US" altLang="en-US" sz="2400" b="1" dirty="0">
                <a:latin typeface="Times New Roman" panose="02020603050405020304" pitchFamily="18" charset="0"/>
              </a:rPr>
              <a:t> receive                                       	  	the pension payments.</a:t>
            </a:r>
          </a:p>
        </p:txBody>
      </p:sp>
      <p:pic>
        <p:nvPicPr>
          <p:cNvPr id="47110" name="Picture 6">
            <a:extLst>
              <a:ext uri="{FF2B5EF4-FFF2-40B4-BE49-F238E27FC236}">
                <a16:creationId xmlns:a16="http://schemas.microsoft.com/office/drawing/2014/main" id="{5FAE2ADC-35BD-4917-9175-00747CE3E85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4359275"/>
            <a:ext cx="3409950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FCF818A-8266-4597-B4D9-96E200278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152400"/>
            <a:ext cx="7508875" cy="12271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3800" dirty="0">
                <a:solidFill>
                  <a:srgbClr val="000099"/>
                </a:solidFill>
                <a:latin typeface="Arial Black" panose="020B0A04020102020204" pitchFamily="34" charset="0"/>
              </a:rPr>
              <a:t>PARTIES IN A PENSION PLAN</a:t>
            </a:r>
          </a:p>
        </p:txBody>
      </p:sp>
      <p:grpSp>
        <p:nvGrpSpPr>
          <p:cNvPr id="49155" name="Group 3">
            <a:extLst>
              <a:ext uri="{FF2B5EF4-FFF2-40B4-BE49-F238E27FC236}">
                <a16:creationId xmlns:a16="http://schemas.microsoft.com/office/drawing/2014/main" id="{7BB9D983-6FC4-4C34-AC83-3856730A0DB7}"/>
              </a:ext>
            </a:extLst>
          </p:cNvPr>
          <p:cNvGrpSpPr>
            <a:grpSpLocks/>
          </p:cNvGrpSpPr>
          <p:nvPr/>
        </p:nvGrpSpPr>
        <p:grpSpPr bwMode="auto">
          <a:xfrm>
            <a:off x="871538" y="1628775"/>
            <a:ext cx="2108200" cy="1646238"/>
            <a:chOff x="552" y="1199"/>
            <a:chExt cx="1395" cy="1106"/>
          </a:xfrm>
        </p:grpSpPr>
        <p:grpSp>
          <p:nvGrpSpPr>
            <p:cNvPr id="49423" name="Group 4">
              <a:extLst>
                <a:ext uri="{FF2B5EF4-FFF2-40B4-BE49-F238E27FC236}">
                  <a16:creationId xmlns:a16="http://schemas.microsoft.com/office/drawing/2014/main" id="{8A1ECD7B-14E2-449A-A525-7EEFAF62CF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" y="1199"/>
              <a:ext cx="1395" cy="1106"/>
              <a:chOff x="552" y="1199"/>
              <a:chExt cx="1395" cy="1106"/>
            </a:xfrm>
          </p:grpSpPr>
          <p:sp>
            <p:nvSpPr>
              <p:cNvPr id="49425" name="Freeform 5">
                <a:extLst>
                  <a:ext uri="{FF2B5EF4-FFF2-40B4-BE49-F238E27FC236}">
                    <a16:creationId xmlns:a16="http://schemas.microsoft.com/office/drawing/2014/main" id="{206DC7A5-A9A2-4723-9C7E-5ED4B3093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199"/>
                <a:ext cx="1395" cy="88"/>
              </a:xfrm>
              <a:custGeom>
                <a:avLst/>
                <a:gdLst>
                  <a:gd name="T0" fmla="*/ 1394 w 1395"/>
                  <a:gd name="T1" fmla="*/ 87 h 88"/>
                  <a:gd name="T2" fmla="*/ 1394 w 1395"/>
                  <a:gd name="T3" fmla="*/ 0 h 88"/>
                  <a:gd name="T4" fmla="*/ 0 w 1395"/>
                  <a:gd name="T5" fmla="*/ 0 h 88"/>
                  <a:gd name="T6" fmla="*/ 0 w 1395"/>
                  <a:gd name="T7" fmla="*/ 87 h 88"/>
                  <a:gd name="T8" fmla="*/ 1394 w 1395"/>
                  <a:gd name="T9" fmla="*/ 87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8"/>
                  <a:gd name="T17" fmla="*/ 1395 w 1395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8">
                    <a:moveTo>
                      <a:pt x="1394" y="87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1394" y="87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26" name="Freeform 6">
                <a:extLst>
                  <a:ext uri="{FF2B5EF4-FFF2-40B4-BE49-F238E27FC236}">
                    <a16:creationId xmlns:a16="http://schemas.microsoft.com/office/drawing/2014/main" id="{D76D6C50-8A0B-4B9E-9851-0F7DC69AC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27" name="Freeform 7">
                <a:extLst>
                  <a:ext uri="{FF2B5EF4-FFF2-40B4-BE49-F238E27FC236}">
                    <a16:creationId xmlns:a16="http://schemas.microsoft.com/office/drawing/2014/main" id="{1DDF32DF-218B-4701-BC71-BAA646FDC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28" name="Freeform 8">
                <a:extLst>
                  <a:ext uri="{FF2B5EF4-FFF2-40B4-BE49-F238E27FC236}">
                    <a16:creationId xmlns:a16="http://schemas.microsoft.com/office/drawing/2014/main" id="{020CD7DD-3990-4E24-A087-A56C4B390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286"/>
                <a:ext cx="178" cy="138"/>
              </a:xfrm>
              <a:custGeom>
                <a:avLst/>
                <a:gdLst>
                  <a:gd name="T0" fmla="*/ 0 w 178"/>
                  <a:gd name="T1" fmla="*/ 0 h 138"/>
                  <a:gd name="T2" fmla="*/ 0 w 178"/>
                  <a:gd name="T3" fmla="*/ 137 h 138"/>
                  <a:gd name="T4" fmla="*/ 177 w 178"/>
                  <a:gd name="T5" fmla="*/ 137 h 138"/>
                  <a:gd name="T6" fmla="*/ 177 w 178"/>
                  <a:gd name="T7" fmla="*/ 0 h 138"/>
                  <a:gd name="T8" fmla="*/ 0 w 178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8"/>
                  <a:gd name="T17" fmla="*/ 178 w 178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7" y="137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29" name="Freeform 9">
                <a:extLst>
                  <a:ext uri="{FF2B5EF4-FFF2-40B4-BE49-F238E27FC236}">
                    <a16:creationId xmlns:a16="http://schemas.microsoft.com/office/drawing/2014/main" id="{E0D59DEF-43B8-4E33-A5FD-6B28EF82D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0" name="Freeform 10">
                <a:extLst>
                  <a:ext uri="{FF2B5EF4-FFF2-40B4-BE49-F238E27FC236}">
                    <a16:creationId xmlns:a16="http://schemas.microsoft.com/office/drawing/2014/main" id="{09D04C6F-8B50-49AD-AE0B-D0954CEF6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1" name="Freeform 11">
                <a:extLst>
                  <a:ext uri="{FF2B5EF4-FFF2-40B4-BE49-F238E27FC236}">
                    <a16:creationId xmlns:a16="http://schemas.microsoft.com/office/drawing/2014/main" id="{84518154-3FA9-4080-98F2-23E42D403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286"/>
                <a:ext cx="174" cy="138"/>
              </a:xfrm>
              <a:custGeom>
                <a:avLst/>
                <a:gdLst>
                  <a:gd name="T0" fmla="*/ 0 w 174"/>
                  <a:gd name="T1" fmla="*/ 0 h 138"/>
                  <a:gd name="T2" fmla="*/ 0 w 174"/>
                  <a:gd name="T3" fmla="*/ 137 h 138"/>
                  <a:gd name="T4" fmla="*/ 173 w 174"/>
                  <a:gd name="T5" fmla="*/ 137 h 138"/>
                  <a:gd name="T6" fmla="*/ 173 w 174"/>
                  <a:gd name="T7" fmla="*/ 0 h 138"/>
                  <a:gd name="T8" fmla="*/ 0 w 174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8"/>
                  <a:gd name="T17" fmla="*/ 174 w 174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3" y="137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2" name="Freeform 12">
                <a:extLst>
                  <a:ext uri="{FF2B5EF4-FFF2-40B4-BE49-F238E27FC236}">
                    <a16:creationId xmlns:a16="http://schemas.microsoft.com/office/drawing/2014/main" id="{AB090E68-0DA6-40C7-8B84-295ABECDD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3" name="Freeform 13">
                <a:extLst>
                  <a:ext uri="{FF2B5EF4-FFF2-40B4-BE49-F238E27FC236}">
                    <a16:creationId xmlns:a16="http://schemas.microsoft.com/office/drawing/2014/main" id="{A7FCD143-883E-42D6-830D-5053F1E02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4" name="Freeform 14">
                <a:extLst>
                  <a:ext uri="{FF2B5EF4-FFF2-40B4-BE49-F238E27FC236}">
                    <a16:creationId xmlns:a16="http://schemas.microsoft.com/office/drawing/2014/main" id="{5E63D4F9-71ED-40DE-895E-AD361CF53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423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5" name="Freeform 15">
                <a:extLst>
                  <a:ext uri="{FF2B5EF4-FFF2-40B4-BE49-F238E27FC236}">
                    <a16:creationId xmlns:a16="http://schemas.microsoft.com/office/drawing/2014/main" id="{DD412029-00DB-4EC5-AF04-B426B851E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509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6" name="Freeform 16">
                <a:extLst>
                  <a:ext uri="{FF2B5EF4-FFF2-40B4-BE49-F238E27FC236}">
                    <a16:creationId xmlns:a16="http://schemas.microsoft.com/office/drawing/2014/main" id="{7F3237B5-DE48-41D6-976A-EA25BAC19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7" name="Freeform 17">
                <a:extLst>
                  <a:ext uri="{FF2B5EF4-FFF2-40B4-BE49-F238E27FC236}">
                    <a16:creationId xmlns:a16="http://schemas.microsoft.com/office/drawing/2014/main" id="{BEB57F9C-06F9-4107-94F3-4B2DD35ED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509"/>
                <a:ext cx="178" cy="135"/>
              </a:xfrm>
              <a:custGeom>
                <a:avLst/>
                <a:gdLst>
                  <a:gd name="T0" fmla="*/ 0 w 178"/>
                  <a:gd name="T1" fmla="*/ 0 h 135"/>
                  <a:gd name="T2" fmla="*/ 0 w 178"/>
                  <a:gd name="T3" fmla="*/ 134 h 135"/>
                  <a:gd name="T4" fmla="*/ 177 w 178"/>
                  <a:gd name="T5" fmla="*/ 134 h 135"/>
                  <a:gd name="T6" fmla="*/ 177 w 178"/>
                  <a:gd name="T7" fmla="*/ 0 h 135"/>
                  <a:gd name="T8" fmla="*/ 0 w 1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5"/>
                  <a:gd name="T17" fmla="*/ 178 w 1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7" y="134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8" name="Freeform 18">
                <a:extLst>
                  <a:ext uri="{FF2B5EF4-FFF2-40B4-BE49-F238E27FC236}">
                    <a16:creationId xmlns:a16="http://schemas.microsoft.com/office/drawing/2014/main" id="{58E22C8B-17C8-4A45-9BDE-70C03D9AB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39" name="Freeform 19">
                <a:extLst>
                  <a:ext uri="{FF2B5EF4-FFF2-40B4-BE49-F238E27FC236}">
                    <a16:creationId xmlns:a16="http://schemas.microsoft.com/office/drawing/2014/main" id="{F5166CA9-3A48-4A16-B2F7-93E6E174B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0" name="Freeform 20">
                <a:extLst>
                  <a:ext uri="{FF2B5EF4-FFF2-40B4-BE49-F238E27FC236}">
                    <a16:creationId xmlns:a16="http://schemas.microsoft.com/office/drawing/2014/main" id="{EBE09F35-8880-40C8-A798-791A9040E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509"/>
                <a:ext cx="174" cy="135"/>
              </a:xfrm>
              <a:custGeom>
                <a:avLst/>
                <a:gdLst>
                  <a:gd name="T0" fmla="*/ 0 w 174"/>
                  <a:gd name="T1" fmla="*/ 0 h 135"/>
                  <a:gd name="T2" fmla="*/ 0 w 174"/>
                  <a:gd name="T3" fmla="*/ 134 h 135"/>
                  <a:gd name="T4" fmla="*/ 173 w 174"/>
                  <a:gd name="T5" fmla="*/ 134 h 135"/>
                  <a:gd name="T6" fmla="*/ 173 w 174"/>
                  <a:gd name="T7" fmla="*/ 0 h 135"/>
                  <a:gd name="T8" fmla="*/ 0 w 174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5"/>
                  <a:gd name="T17" fmla="*/ 174 w 174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3" y="134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1" name="Freeform 21">
                <a:extLst>
                  <a:ext uri="{FF2B5EF4-FFF2-40B4-BE49-F238E27FC236}">
                    <a16:creationId xmlns:a16="http://schemas.microsoft.com/office/drawing/2014/main" id="{F5CE3F38-D820-4DFC-B660-A0251D511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2" name="Freeform 22">
                <a:extLst>
                  <a:ext uri="{FF2B5EF4-FFF2-40B4-BE49-F238E27FC236}">
                    <a16:creationId xmlns:a16="http://schemas.microsoft.com/office/drawing/2014/main" id="{74780923-131F-4F32-BFD8-F4E06E484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3" name="Freeform 23">
                <a:extLst>
                  <a:ext uri="{FF2B5EF4-FFF2-40B4-BE49-F238E27FC236}">
                    <a16:creationId xmlns:a16="http://schemas.microsoft.com/office/drawing/2014/main" id="{AA8A44A8-5F34-4137-A856-F294C5119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643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4" name="Freeform 24">
                <a:extLst>
                  <a:ext uri="{FF2B5EF4-FFF2-40B4-BE49-F238E27FC236}">
                    <a16:creationId xmlns:a16="http://schemas.microsoft.com/office/drawing/2014/main" id="{282A278C-18C6-41E8-B53F-5CFC9EA2B6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5" name="Freeform 25">
                <a:extLst>
                  <a:ext uri="{FF2B5EF4-FFF2-40B4-BE49-F238E27FC236}">
                    <a16:creationId xmlns:a16="http://schemas.microsoft.com/office/drawing/2014/main" id="{50B31EFA-4EE9-4818-B2A6-8162F1E422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6" name="Freeform 26">
                <a:extLst>
                  <a:ext uri="{FF2B5EF4-FFF2-40B4-BE49-F238E27FC236}">
                    <a16:creationId xmlns:a16="http://schemas.microsoft.com/office/drawing/2014/main" id="{5841DE30-1F78-4A0D-B894-5B5B66D6C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729"/>
                <a:ext cx="178" cy="138"/>
              </a:xfrm>
              <a:custGeom>
                <a:avLst/>
                <a:gdLst>
                  <a:gd name="T0" fmla="*/ 0 w 178"/>
                  <a:gd name="T1" fmla="*/ 0 h 138"/>
                  <a:gd name="T2" fmla="*/ 0 w 178"/>
                  <a:gd name="T3" fmla="*/ 137 h 138"/>
                  <a:gd name="T4" fmla="*/ 177 w 178"/>
                  <a:gd name="T5" fmla="*/ 137 h 138"/>
                  <a:gd name="T6" fmla="*/ 177 w 178"/>
                  <a:gd name="T7" fmla="*/ 0 h 138"/>
                  <a:gd name="T8" fmla="*/ 0 w 178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8"/>
                  <a:gd name="T17" fmla="*/ 178 w 178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7" y="137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7" name="Freeform 27">
                <a:extLst>
                  <a:ext uri="{FF2B5EF4-FFF2-40B4-BE49-F238E27FC236}">
                    <a16:creationId xmlns:a16="http://schemas.microsoft.com/office/drawing/2014/main" id="{4594B1FA-5F29-4E42-BC8C-4F4219431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8" name="Freeform 28">
                <a:extLst>
                  <a:ext uri="{FF2B5EF4-FFF2-40B4-BE49-F238E27FC236}">
                    <a16:creationId xmlns:a16="http://schemas.microsoft.com/office/drawing/2014/main" id="{4F2E65A5-2B82-4C3E-BABA-8D582BA9D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49" name="Freeform 29">
                <a:extLst>
                  <a:ext uri="{FF2B5EF4-FFF2-40B4-BE49-F238E27FC236}">
                    <a16:creationId xmlns:a16="http://schemas.microsoft.com/office/drawing/2014/main" id="{D27FCA3A-AAA2-4D54-BCE0-81B983B8B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729"/>
                <a:ext cx="174" cy="138"/>
              </a:xfrm>
              <a:custGeom>
                <a:avLst/>
                <a:gdLst>
                  <a:gd name="T0" fmla="*/ 0 w 174"/>
                  <a:gd name="T1" fmla="*/ 0 h 138"/>
                  <a:gd name="T2" fmla="*/ 0 w 174"/>
                  <a:gd name="T3" fmla="*/ 137 h 138"/>
                  <a:gd name="T4" fmla="*/ 173 w 174"/>
                  <a:gd name="T5" fmla="*/ 137 h 138"/>
                  <a:gd name="T6" fmla="*/ 173 w 174"/>
                  <a:gd name="T7" fmla="*/ 0 h 138"/>
                  <a:gd name="T8" fmla="*/ 0 w 174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8"/>
                  <a:gd name="T17" fmla="*/ 174 w 174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3" y="137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0" name="Freeform 30">
                <a:extLst>
                  <a:ext uri="{FF2B5EF4-FFF2-40B4-BE49-F238E27FC236}">
                    <a16:creationId xmlns:a16="http://schemas.microsoft.com/office/drawing/2014/main" id="{A8F6EA74-5BD7-4066-8887-AE5C8521C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1" name="Freeform 31">
                <a:extLst>
                  <a:ext uri="{FF2B5EF4-FFF2-40B4-BE49-F238E27FC236}">
                    <a16:creationId xmlns:a16="http://schemas.microsoft.com/office/drawing/2014/main" id="{6AAAEF6B-236B-4CB8-8B49-6F9DD6C42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2" name="Freeform 32">
                <a:extLst>
                  <a:ext uri="{FF2B5EF4-FFF2-40B4-BE49-F238E27FC236}">
                    <a16:creationId xmlns:a16="http://schemas.microsoft.com/office/drawing/2014/main" id="{04C1D02F-10D1-4BBD-93B5-2E619D087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866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3" name="Freeform 33">
                <a:extLst>
                  <a:ext uri="{FF2B5EF4-FFF2-40B4-BE49-F238E27FC236}">
                    <a16:creationId xmlns:a16="http://schemas.microsoft.com/office/drawing/2014/main" id="{88CA9D14-9BBD-4F46-805A-397677A46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4" name="Freeform 34">
                <a:extLst>
                  <a:ext uri="{FF2B5EF4-FFF2-40B4-BE49-F238E27FC236}">
                    <a16:creationId xmlns:a16="http://schemas.microsoft.com/office/drawing/2014/main" id="{91F8E28A-D88A-4B2D-B04E-576EE9C44C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5" name="Freeform 35">
                <a:extLst>
                  <a:ext uri="{FF2B5EF4-FFF2-40B4-BE49-F238E27FC236}">
                    <a16:creationId xmlns:a16="http://schemas.microsoft.com/office/drawing/2014/main" id="{8C9527B4-88F3-4E6D-9C94-E077903AF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952"/>
                <a:ext cx="178" cy="139"/>
              </a:xfrm>
              <a:custGeom>
                <a:avLst/>
                <a:gdLst>
                  <a:gd name="T0" fmla="*/ 0 w 178"/>
                  <a:gd name="T1" fmla="*/ 0 h 139"/>
                  <a:gd name="T2" fmla="*/ 0 w 178"/>
                  <a:gd name="T3" fmla="*/ 138 h 139"/>
                  <a:gd name="T4" fmla="*/ 177 w 178"/>
                  <a:gd name="T5" fmla="*/ 138 h 139"/>
                  <a:gd name="T6" fmla="*/ 177 w 178"/>
                  <a:gd name="T7" fmla="*/ 0 h 139"/>
                  <a:gd name="T8" fmla="*/ 0 w 178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9"/>
                  <a:gd name="T17" fmla="*/ 178 w 178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7" y="138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6" name="Freeform 36">
                <a:extLst>
                  <a:ext uri="{FF2B5EF4-FFF2-40B4-BE49-F238E27FC236}">
                    <a16:creationId xmlns:a16="http://schemas.microsoft.com/office/drawing/2014/main" id="{C59E8074-C11F-4573-BB4E-632D5138F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7" name="Freeform 37">
                <a:extLst>
                  <a:ext uri="{FF2B5EF4-FFF2-40B4-BE49-F238E27FC236}">
                    <a16:creationId xmlns:a16="http://schemas.microsoft.com/office/drawing/2014/main" id="{9C533B15-C24E-4629-9644-2F8EA8702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8" name="Freeform 38">
                <a:extLst>
                  <a:ext uri="{FF2B5EF4-FFF2-40B4-BE49-F238E27FC236}">
                    <a16:creationId xmlns:a16="http://schemas.microsoft.com/office/drawing/2014/main" id="{DD71D889-5574-4D1F-9BF5-F8930F939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952"/>
                <a:ext cx="174" cy="139"/>
              </a:xfrm>
              <a:custGeom>
                <a:avLst/>
                <a:gdLst>
                  <a:gd name="T0" fmla="*/ 0 w 174"/>
                  <a:gd name="T1" fmla="*/ 0 h 139"/>
                  <a:gd name="T2" fmla="*/ 0 w 174"/>
                  <a:gd name="T3" fmla="*/ 138 h 139"/>
                  <a:gd name="T4" fmla="*/ 173 w 174"/>
                  <a:gd name="T5" fmla="*/ 138 h 139"/>
                  <a:gd name="T6" fmla="*/ 173 w 174"/>
                  <a:gd name="T7" fmla="*/ 0 h 139"/>
                  <a:gd name="T8" fmla="*/ 0 w 174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9"/>
                  <a:gd name="T17" fmla="*/ 174 w 174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3" y="138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59" name="Freeform 39">
                <a:extLst>
                  <a:ext uri="{FF2B5EF4-FFF2-40B4-BE49-F238E27FC236}">
                    <a16:creationId xmlns:a16="http://schemas.microsoft.com/office/drawing/2014/main" id="{06C20C1D-0020-45DD-9265-6EFB60A8B0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60" name="Freeform 40">
                <a:extLst>
                  <a:ext uri="{FF2B5EF4-FFF2-40B4-BE49-F238E27FC236}">
                    <a16:creationId xmlns:a16="http://schemas.microsoft.com/office/drawing/2014/main" id="{2C5966FC-3347-4CFD-840C-E23D6BDEB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61" name="Freeform 41">
                <a:extLst>
                  <a:ext uri="{FF2B5EF4-FFF2-40B4-BE49-F238E27FC236}">
                    <a16:creationId xmlns:a16="http://schemas.microsoft.com/office/drawing/2014/main" id="{313D3D2B-698D-4704-B393-90C6F2FCF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" y="2090"/>
                <a:ext cx="1207" cy="215"/>
              </a:xfrm>
              <a:custGeom>
                <a:avLst/>
                <a:gdLst>
                  <a:gd name="T0" fmla="*/ 1206 w 1207"/>
                  <a:gd name="T1" fmla="*/ 0 h 215"/>
                  <a:gd name="T2" fmla="*/ 1206 w 1207"/>
                  <a:gd name="T3" fmla="*/ 214 h 215"/>
                  <a:gd name="T4" fmla="*/ 1105 w 1207"/>
                  <a:gd name="T5" fmla="*/ 214 h 215"/>
                  <a:gd name="T6" fmla="*/ 1105 w 1207"/>
                  <a:gd name="T7" fmla="*/ 36 h 215"/>
                  <a:gd name="T8" fmla="*/ 97 w 1207"/>
                  <a:gd name="T9" fmla="*/ 36 h 215"/>
                  <a:gd name="T10" fmla="*/ 97 w 1207"/>
                  <a:gd name="T11" fmla="*/ 214 h 215"/>
                  <a:gd name="T12" fmla="*/ 0 w 1207"/>
                  <a:gd name="T13" fmla="*/ 214 h 215"/>
                  <a:gd name="T14" fmla="*/ 0 w 1207"/>
                  <a:gd name="T15" fmla="*/ 0 h 215"/>
                  <a:gd name="T16" fmla="*/ 1206 w 1207"/>
                  <a:gd name="T17" fmla="*/ 0 h 2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207"/>
                  <a:gd name="T28" fmla="*/ 0 h 215"/>
                  <a:gd name="T29" fmla="*/ 1207 w 1207"/>
                  <a:gd name="T30" fmla="*/ 215 h 2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207" h="215">
                    <a:moveTo>
                      <a:pt x="1206" y="0"/>
                    </a:moveTo>
                    <a:lnTo>
                      <a:pt x="1206" y="214"/>
                    </a:lnTo>
                    <a:lnTo>
                      <a:pt x="1105" y="214"/>
                    </a:lnTo>
                    <a:lnTo>
                      <a:pt x="1105" y="36"/>
                    </a:lnTo>
                    <a:lnTo>
                      <a:pt x="97" y="36"/>
                    </a:lnTo>
                    <a:lnTo>
                      <a:pt x="97" y="214"/>
                    </a:lnTo>
                    <a:lnTo>
                      <a:pt x="0" y="214"/>
                    </a:lnTo>
                    <a:lnTo>
                      <a:pt x="0" y="0"/>
                    </a:lnTo>
                    <a:lnTo>
                      <a:pt x="1206" y="0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62" name="Freeform 42">
                <a:extLst>
                  <a:ext uri="{FF2B5EF4-FFF2-40B4-BE49-F238E27FC236}">
                    <a16:creationId xmlns:a16="http://schemas.microsoft.com/office/drawing/2014/main" id="{8377723E-C36E-4780-903F-CB067A2DE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" y="2125"/>
                <a:ext cx="1009" cy="180"/>
              </a:xfrm>
              <a:custGeom>
                <a:avLst/>
                <a:gdLst>
                  <a:gd name="T0" fmla="*/ 0 w 1009"/>
                  <a:gd name="T1" fmla="*/ 179 h 180"/>
                  <a:gd name="T2" fmla="*/ 0 w 1009"/>
                  <a:gd name="T3" fmla="*/ 0 h 180"/>
                  <a:gd name="T4" fmla="*/ 1008 w 1009"/>
                  <a:gd name="T5" fmla="*/ 0 h 180"/>
                  <a:gd name="T6" fmla="*/ 1008 w 1009"/>
                  <a:gd name="T7" fmla="*/ 179 h 180"/>
                  <a:gd name="T8" fmla="*/ 581 w 1009"/>
                  <a:gd name="T9" fmla="*/ 179 h 180"/>
                  <a:gd name="T10" fmla="*/ 581 w 1009"/>
                  <a:gd name="T11" fmla="*/ 45 h 180"/>
                  <a:gd name="T12" fmla="*/ 427 w 1009"/>
                  <a:gd name="T13" fmla="*/ 45 h 180"/>
                  <a:gd name="T14" fmla="*/ 427 w 1009"/>
                  <a:gd name="T15" fmla="*/ 179 h 180"/>
                  <a:gd name="T16" fmla="*/ 0 w 1009"/>
                  <a:gd name="T17" fmla="*/ 179 h 1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09"/>
                  <a:gd name="T28" fmla="*/ 0 h 180"/>
                  <a:gd name="T29" fmla="*/ 1009 w 1009"/>
                  <a:gd name="T30" fmla="*/ 180 h 18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09" h="180">
                    <a:moveTo>
                      <a:pt x="0" y="179"/>
                    </a:moveTo>
                    <a:lnTo>
                      <a:pt x="0" y="0"/>
                    </a:lnTo>
                    <a:lnTo>
                      <a:pt x="1008" y="0"/>
                    </a:lnTo>
                    <a:lnTo>
                      <a:pt x="1008" y="179"/>
                    </a:lnTo>
                    <a:lnTo>
                      <a:pt x="581" y="179"/>
                    </a:lnTo>
                    <a:lnTo>
                      <a:pt x="581" y="45"/>
                    </a:lnTo>
                    <a:lnTo>
                      <a:pt x="427" y="45"/>
                    </a:lnTo>
                    <a:lnTo>
                      <a:pt x="427" y="179"/>
                    </a:lnTo>
                    <a:lnTo>
                      <a:pt x="0" y="179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63" name="Freeform 43">
                <a:extLst>
                  <a:ext uri="{FF2B5EF4-FFF2-40B4-BE49-F238E27FC236}">
                    <a16:creationId xmlns:a16="http://schemas.microsoft.com/office/drawing/2014/main" id="{77D1763B-90EF-4629-9754-73EFA6C15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4" y="2170"/>
                <a:ext cx="78" cy="135"/>
              </a:xfrm>
              <a:custGeom>
                <a:avLst/>
                <a:gdLst>
                  <a:gd name="T0" fmla="*/ 77 w 78"/>
                  <a:gd name="T1" fmla="*/ 0 h 135"/>
                  <a:gd name="T2" fmla="*/ 0 w 78"/>
                  <a:gd name="T3" fmla="*/ 0 h 135"/>
                  <a:gd name="T4" fmla="*/ 0 w 78"/>
                  <a:gd name="T5" fmla="*/ 134 h 135"/>
                  <a:gd name="T6" fmla="*/ 77 w 78"/>
                  <a:gd name="T7" fmla="*/ 134 h 135"/>
                  <a:gd name="T8" fmla="*/ 77 w 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35"/>
                  <a:gd name="T17" fmla="*/ 78 w 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35">
                    <a:moveTo>
                      <a:pt x="77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7" y="134"/>
                    </a:lnTo>
                    <a:lnTo>
                      <a:pt x="77" y="0"/>
                    </a:lnTo>
                  </a:path>
                </a:pathLst>
              </a:custGeom>
              <a:solidFill>
                <a:srgbClr val="A9A562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64" name="Freeform 44">
                <a:extLst>
                  <a:ext uri="{FF2B5EF4-FFF2-40B4-BE49-F238E27FC236}">
                    <a16:creationId xmlns:a16="http://schemas.microsoft.com/office/drawing/2014/main" id="{4357CFB0-0471-45CE-B911-67D8B93A8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2170"/>
                <a:ext cx="78" cy="135"/>
              </a:xfrm>
              <a:custGeom>
                <a:avLst/>
                <a:gdLst>
                  <a:gd name="T0" fmla="*/ 77 w 78"/>
                  <a:gd name="T1" fmla="*/ 0 h 135"/>
                  <a:gd name="T2" fmla="*/ 0 w 78"/>
                  <a:gd name="T3" fmla="*/ 0 h 135"/>
                  <a:gd name="T4" fmla="*/ 0 w 78"/>
                  <a:gd name="T5" fmla="*/ 134 h 135"/>
                  <a:gd name="T6" fmla="*/ 77 w 78"/>
                  <a:gd name="T7" fmla="*/ 134 h 135"/>
                  <a:gd name="T8" fmla="*/ 77 w 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35"/>
                  <a:gd name="T17" fmla="*/ 78 w 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35">
                    <a:moveTo>
                      <a:pt x="77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7" y="134"/>
                    </a:lnTo>
                    <a:lnTo>
                      <a:pt x="77" y="0"/>
                    </a:lnTo>
                  </a:path>
                </a:pathLst>
              </a:custGeom>
              <a:solidFill>
                <a:srgbClr val="A9A562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9424" name="Rectangle 45">
              <a:extLst>
                <a:ext uri="{FF2B5EF4-FFF2-40B4-BE49-F238E27FC236}">
                  <a16:creationId xmlns:a16="http://schemas.microsoft.com/office/drawing/2014/main" id="{AE9B25E6-0B82-4B3D-8C8C-A346C6B92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" y="1206"/>
              <a:ext cx="1194" cy="323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85577" tIns="42038" rIns="85577" bIns="42038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600" b="1" dirty="0"/>
                <a:t>Employer</a:t>
              </a:r>
            </a:p>
          </p:txBody>
        </p:sp>
      </p:grpSp>
      <p:grpSp>
        <p:nvGrpSpPr>
          <p:cNvPr id="49156" name="Group 46">
            <a:extLst>
              <a:ext uri="{FF2B5EF4-FFF2-40B4-BE49-F238E27FC236}">
                <a16:creationId xmlns:a16="http://schemas.microsoft.com/office/drawing/2014/main" id="{49F273B9-E914-4788-81CC-0FAADAEE5AA0}"/>
              </a:ext>
            </a:extLst>
          </p:cNvPr>
          <p:cNvGrpSpPr>
            <a:grpSpLocks/>
          </p:cNvGrpSpPr>
          <p:nvPr/>
        </p:nvGrpSpPr>
        <p:grpSpPr bwMode="auto">
          <a:xfrm>
            <a:off x="3373438" y="3262313"/>
            <a:ext cx="2392362" cy="1665287"/>
            <a:chOff x="2231" y="2298"/>
            <a:chExt cx="1583" cy="1119"/>
          </a:xfrm>
        </p:grpSpPr>
        <p:grpSp>
          <p:nvGrpSpPr>
            <p:cNvPr id="49336" name="Group 47">
              <a:extLst>
                <a:ext uri="{FF2B5EF4-FFF2-40B4-BE49-F238E27FC236}">
                  <a16:creationId xmlns:a16="http://schemas.microsoft.com/office/drawing/2014/main" id="{A67A811F-DAFC-4DAF-85D5-4FFD551B1C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1" y="2298"/>
              <a:ext cx="1583" cy="1119"/>
              <a:chOff x="2231" y="2298"/>
              <a:chExt cx="1583" cy="1119"/>
            </a:xfrm>
          </p:grpSpPr>
          <p:sp>
            <p:nvSpPr>
              <p:cNvPr id="49338" name="Freeform 48">
                <a:extLst>
                  <a:ext uri="{FF2B5EF4-FFF2-40B4-BE49-F238E27FC236}">
                    <a16:creationId xmlns:a16="http://schemas.microsoft.com/office/drawing/2014/main" id="{24CBBA81-F330-47CA-A928-D47C7995FB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2458"/>
                <a:ext cx="1272" cy="943"/>
              </a:xfrm>
              <a:custGeom>
                <a:avLst/>
                <a:gdLst>
                  <a:gd name="T0" fmla="*/ 1271 w 1272"/>
                  <a:gd name="T1" fmla="*/ 942 h 943"/>
                  <a:gd name="T2" fmla="*/ 1271 w 1272"/>
                  <a:gd name="T3" fmla="*/ 0 h 943"/>
                  <a:gd name="T4" fmla="*/ 0 w 1272"/>
                  <a:gd name="T5" fmla="*/ 0 h 943"/>
                  <a:gd name="T6" fmla="*/ 0 w 1272"/>
                  <a:gd name="T7" fmla="*/ 942 h 943"/>
                  <a:gd name="T8" fmla="*/ 1271 w 1272"/>
                  <a:gd name="T9" fmla="*/ 942 h 9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2"/>
                  <a:gd name="T16" fmla="*/ 0 h 943"/>
                  <a:gd name="T17" fmla="*/ 1272 w 1272"/>
                  <a:gd name="T18" fmla="*/ 943 h 9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2" h="943">
                    <a:moveTo>
                      <a:pt x="1271" y="942"/>
                    </a:moveTo>
                    <a:lnTo>
                      <a:pt x="1271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1271" y="94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39" name="Freeform 49">
                <a:extLst>
                  <a:ext uri="{FF2B5EF4-FFF2-40B4-BE49-F238E27FC236}">
                    <a16:creationId xmlns:a16="http://schemas.microsoft.com/office/drawing/2014/main" id="{C1E8F330-9711-4C6D-A8EC-D5A5555320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" y="2450"/>
                <a:ext cx="10" cy="951"/>
              </a:xfrm>
              <a:custGeom>
                <a:avLst/>
                <a:gdLst>
                  <a:gd name="T0" fmla="*/ 5 w 10"/>
                  <a:gd name="T1" fmla="*/ 17 h 951"/>
                  <a:gd name="T2" fmla="*/ 0 w 10"/>
                  <a:gd name="T3" fmla="*/ 8 h 951"/>
                  <a:gd name="T4" fmla="*/ 0 w 10"/>
                  <a:gd name="T5" fmla="*/ 950 h 951"/>
                  <a:gd name="T6" fmla="*/ 9 w 10"/>
                  <a:gd name="T7" fmla="*/ 950 h 951"/>
                  <a:gd name="T8" fmla="*/ 9 w 10"/>
                  <a:gd name="T9" fmla="*/ 8 h 951"/>
                  <a:gd name="T10" fmla="*/ 5 w 10"/>
                  <a:gd name="T11" fmla="*/ 0 h 951"/>
                  <a:gd name="T12" fmla="*/ 9 w 10"/>
                  <a:gd name="T13" fmla="*/ 8 h 951"/>
                  <a:gd name="T14" fmla="*/ 9 w 10"/>
                  <a:gd name="T15" fmla="*/ 0 h 951"/>
                  <a:gd name="T16" fmla="*/ 5 w 10"/>
                  <a:gd name="T17" fmla="*/ 0 h 951"/>
                  <a:gd name="T18" fmla="*/ 5 w 10"/>
                  <a:gd name="T19" fmla="*/ 17 h 9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951"/>
                  <a:gd name="T32" fmla="*/ 10 w 10"/>
                  <a:gd name="T33" fmla="*/ 951 h 9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951">
                    <a:moveTo>
                      <a:pt x="5" y="17"/>
                    </a:moveTo>
                    <a:lnTo>
                      <a:pt x="0" y="8"/>
                    </a:lnTo>
                    <a:lnTo>
                      <a:pt x="0" y="950"/>
                    </a:lnTo>
                    <a:lnTo>
                      <a:pt x="9" y="950"/>
                    </a:lnTo>
                    <a:lnTo>
                      <a:pt x="9" y="8"/>
                    </a:lnTo>
                    <a:lnTo>
                      <a:pt x="5" y="0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0" name="Freeform 50">
                <a:extLst>
                  <a:ext uri="{FF2B5EF4-FFF2-40B4-BE49-F238E27FC236}">
                    <a16:creationId xmlns:a16="http://schemas.microsoft.com/office/drawing/2014/main" id="{774CE591-2923-4435-9C19-E6BB7497B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2450"/>
                <a:ext cx="1279" cy="12"/>
              </a:xfrm>
              <a:custGeom>
                <a:avLst/>
                <a:gdLst>
                  <a:gd name="T0" fmla="*/ 7 w 1279"/>
                  <a:gd name="T1" fmla="*/ 5 h 12"/>
                  <a:gd name="T2" fmla="*/ 7 w 1279"/>
                  <a:gd name="T3" fmla="*/ 11 h 12"/>
                  <a:gd name="T4" fmla="*/ 1278 w 1279"/>
                  <a:gd name="T5" fmla="*/ 11 h 12"/>
                  <a:gd name="T6" fmla="*/ 1278 w 1279"/>
                  <a:gd name="T7" fmla="*/ 0 h 12"/>
                  <a:gd name="T8" fmla="*/ 7 w 1279"/>
                  <a:gd name="T9" fmla="*/ 0 h 12"/>
                  <a:gd name="T10" fmla="*/ 0 w 1279"/>
                  <a:gd name="T11" fmla="*/ 5 h 12"/>
                  <a:gd name="T12" fmla="*/ 7 w 1279"/>
                  <a:gd name="T13" fmla="*/ 0 h 12"/>
                  <a:gd name="T14" fmla="*/ 0 w 1279"/>
                  <a:gd name="T15" fmla="*/ 0 h 12"/>
                  <a:gd name="T16" fmla="*/ 0 w 1279"/>
                  <a:gd name="T17" fmla="*/ 5 h 12"/>
                  <a:gd name="T18" fmla="*/ 7 w 1279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9"/>
                  <a:gd name="T31" fmla="*/ 0 h 12"/>
                  <a:gd name="T32" fmla="*/ 1279 w 1279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9" h="12">
                    <a:moveTo>
                      <a:pt x="7" y="5"/>
                    </a:moveTo>
                    <a:lnTo>
                      <a:pt x="7" y="11"/>
                    </a:lnTo>
                    <a:lnTo>
                      <a:pt x="1278" y="11"/>
                    </a:lnTo>
                    <a:lnTo>
                      <a:pt x="1278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1" name="Freeform 51">
                <a:extLst>
                  <a:ext uri="{FF2B5EF4-FFF2-40B4-BE49-F238E27FC236}">
                    <a16:creationId xmlns:a16="http://schemas.microsoft.com/office/drawing/2014/main" id="{2AD4321C-D1D6-4780-ACD2-2AB9DB54D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2458"/>
                <a:ext cx="2" cy="951"/>
              </a:xfrm>
              <a:custGeom>
                <a:avLst/>
                <a:gdLst>
                  <a:gd name="T0" fmla="*/ 1 w 2"/>
                  <a:gd name="T1" fmla="*/ 933 h 951"/>
                  <a:gd name="T2" fmla="*/ 1 w 2"/>
                  <a:gd name="T3" fmla="*/ 942 h 951"/>
                  <a:gd name="T4" fmla="*/ 1 w 2"/>
                  <a:gd name="T5" fmla="*/ 0 h 951"/>
                  <a:gd name="T6" fmla="*/ 0 w 2"/>
                  <a:gd name="T7" fmla="*/ 0 h 951"/>
                  <a:gd name="T8" fmla="*/ 0 w 2"/>
                  <a:gd name="T9" fmla="*/ 942 h 951"/>
                  <a:gd name="T10" fmla="*/ 1 w 2"/>
                  <a:gd name="T11" fmla="*/ 950 h 951"/>
                  <a:gd name="T12" fmla="*/ 0 w 2"/>
                  <a:gd name="T13" fmla="*/ 942 h 951"/>
                  <a:gd name="T14" fmla="*/ 0 w 2"/>
                  <a:gd name="T15" fmla="*/ 950 h 951"/>
                  <a:gd name="T16" fmla="*/ 1 w 2"/>
                  <a:gd name="T17" fmla="*/ 950 h 951"/>
                  <a:gd name="T18" fmla="*/ 1 w 2"/>
                  <a:gd name="T19" fmla="*/ 933 h 9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951"/>
                  <a:gd name="T32" fmla="*/ 2 w 2"/>
                  <a:gd name="T33" fmla="*/ 951 h 9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951">
                    <a:moveTo>
                      <a:pt x="1" y="933"/>
                    </a:moveTo>
                    <a:lnTo>
                      <a:pt x="1" y="94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1" y="950"/>
                    </a:lnTo>
                    <a:lnTo>
                      <a:pt x="0" y="942"/>
                    </a:lnTo>
                    <a:lnTo>
                      <a:pt x="0" y="950"/>
                    </a:lnTo>
                    <a:lnTo>
                      <a:pt x="1" y="950"/>
                    </a:lnTo>
                    <a:lnTo>
                      <a:pt x="1" y="9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2" name="Freeform 52">
                <a:extLst>
                  <a:ext uri="{FF2B5EF4-FFF2-40B4-BE49-F238E27FC236}">
                    <a16:creationId xmlns:a16="http://schemas.microsoft.com/office/drawing/2014/main" id="{A4CE5E62-7235-4DBA-A9AF-36500E5A0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3397"/>
                <a:ext cx="1279" cy="12"/>
              </a:xfrm>
              <a:custGeom>
                <a:avLst/>
                <a:gdLst>
                  <a:gd name="T0" fmla="*/ 1263 w 1279"/>
                  <a:gd name="T1" fmla="*/ 6 h 12"/>
                  <a:gd name="T2" fmla="*/ 1271 w 1279"/>
                  <a:gd name="T3" fmla="*/ 0 h 12"/>
                  <a:gd name="T4" fmla="*/ 0 w 1279"/>
                  <a:gd name="T5" fmla="*/ 0 h 12"/>
                  <a:gd name="T6" fmla="*/ 0 w 1279"/>
                  <a:gd name="T7" fmla="*/ 11 h 12"/>
                  <a:gd name="T8" fmla="*/ 1271 w 1279"/>
                  <a:gd name="T9" fmla="*/ 11 h 12"/>
                  <a:gd name="T10" fmla="*/ 1278 w 1279"/>
                  <a:gd name="T11" fmla="*/ 6 h 12"/>
                  <a:gd name="T12" fmla="*/ 1271 w 1279"/>
                  <a:gd name="T13" fmla="*/ 11 h 12"/>
                  <a:gd name="T14" fmla="*/ 1278 w 1279"/>
                  <a:gd name="T15" fmla="*/ 11 h 12"/>
                  <a:gd name="T16" fmla="*/ 1278 w 1279"/>
                  <a:gd name="T17" fmla="*/ 6 h 12"/>
                  <a:gd name="T18" fmla="*/ 1263 w 1279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9"/>
                  <a:gd name="T31" fmla="*/ 0 h 12"/>
                  <a:gd name="T32" fmla="*/ 1279 w 1279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9" h="12">
                    <a:moveTo>
                      <a:pt x="1263" y="6"/>
                    </a:moveTo>
                    <a:lnTo>
                      <a:pt x="1271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271" y="11"/>
                    </a:lnTo>
                    <a:lnTo>
                      <a:pt x="1278" y="6"/>
                    </a:lnTo>
                    <a:lnTo>
                      <a:pt x="1271" y="11"/>
                    </a:lnTo>
                    <a:lnTo>
                      <a:pt x="1278" y="11"/>
                    </a:lnTo>
                    <a:lnTo>
                      <a:pt x="1278" y="6"/>
                    </a:lnTo>
                    <a:lnTo>
                      <a:pt x="1263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3" name="Freeform 53">
                <a:extLst>
                  <a:ext uri="{FF2B5EF4-FFF2-40B4-BE49-F238E27FC236}">
                    <a16:creationId xmlns:a16="http://schemas.microsoft.com/office/drawing/2014/main" id="{A6937E87-B773-4329-BBD9-2F19D6711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306"/>
                <a:ext cx="1421" cy="147"/>
              </a:xfrm>
              <a:custGeom>
                <a:avLst/>
                <a:gdLst>
                  <a:gd name="T0" fmla="*/ 50 w 1421"/>
                  <a:gd name="T1" fmla="*/ 0 h 147"/>
                  <a:gd name="T2" fmla="*/ 0 w 1421"/>
                  <a:gd name="T3" fmla="*/ 146 h 147"/>
                  <a:gd name="T4" fmla="*/ 1420 w 1421"/>
                  <a:gd name="T5" fmla="*/ 146 h 147"/>
                  <a:gd name="T6" fmla="*/ 1377 w 1421"/>
                  <a:gd name="T7" fmla="*/ 0 h 147"/>
                  <a:gd name="T8" fmla="*/ 50 w 1421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1"/>
                  <a:gd name="T16" fmla="*/ 0 h 147"/>
                  <a:gd name="T17" fmla="*/ 1421 w 1421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1" h="147">
                    <a:moveTo>
                      <a:pt x="50" y="0"/>
                    </a:moveTo>
                    <a:lnTo>
                      <a:pt x="0" y="146"/>
                    </a:lnTo>
                    <a:lnTo>
                      <a:pt x="1420" y="146"/>
                    </a:lnTo>
                    <a:lnTo>
                      <a:pt x="1377" y="0"/>
                    </a:lnTo>
                    <a:lnTo>
                      <a:pt x="50" y="0"/>
                    </a:lnTo>
                  </a:path>
                </a:pathLst>
              </a:custGeom>
              <a:solidFill>
                <a:srgbClr val="006B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4" name="Freeform 54">
                <a:extLst>
                  <a:ext uri="{FF2B5EF4-FFF2-40B4-BE49-F238E27FC236}">
                    <a16:creationId xmlns:a16="http://schemas.microsoft.com/office/drawing/2014/main" id="{4CAADDE8-DD39-4B7B-8038-4E52A911F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2306"/>
                <a:ext cx="52" cy="156"/>
              </a:xfrm>
              <a:custGeom>
                <a:avLst/>
                <a:gdLst>
                  <a:gd name="T0" fmla="*/ 6 w 52"/>
                  <a:gd name="T1" fmla="*/ 139 h 156"/>
                  <a:gd name="T2" fmla="*/ 13 w 52"/>
                  <a:gd name="T3" fmla="*/ 146 h 156"/>
                  <a:gd name="T4" fmla="*/ 51 w 52"/>
                  <a:gd name="T5" fmla="*/ 0 h 156"/>
                  <a:gd name="T6" fmla="*/ 45 w 52"/>
                  <a:gd name="T7" fmla="*/ 0 h 156"/>
                  <a:gd name="T8" fmla="*/ 6 w 52"/>
                  <a:gd name="T9" fmla="*/ 139 h 156"/>
                  <a:gd name="T10" fmla="*/ 6 w 52"/>
                  <a:gd name="T11" fmla="*/ 155 h 156"/>
                  <a:gd name="T12" fmla="*/ 6 w 52"/>
                  <a:gd name="T13" fmla="*/ 139 h 156"/>
                  <a:gd name="T14" fmla="*/ 0 w 52"/>
                  <a:gd name="T15" fmla="*/ 146 h 156"/>
                  <a:gd name="T16" fmla="*/ 6 w 52"/>
                  <a:gd name="T17" fmla="*/ 155 h 156"/>
                  <a:gd name="T18" fmla="*/ 6 w 52"/>
                  <a:gd name="T19" fmla="*/ 139 h 1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2"/>
                  <a:gd name="T31" fmla="*/ 0 h 156"/>
                  <a:gd name="T32" fmla="*/ 52 w 52"/>
                  <a:gd name="T33" fmla="*/ 156 h 1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2" h="156">
                    <a:moveTo>
                      <a:pt x="6" y="139"/>
                    </a:moveTo>
                    <a:lnTo>
                      <a:pt x="13" y="146"/>
                    </a:lnTo>
                    <a:lnTo>
                      <a:pt x="51" y="0"/>
                    </a:lnTo>
                    <a:lnTo>
                      <a:pt x="45" y="0"/>
                    </a:lnTo>
                    <a:lnTo>
                      <a:pt x="6" y="139"/>
                    </a:lnTo>
                    <a:lnTo>
                      <a:pt x="6" y="155"/>
                    </a:lnTo>
                    <a:lnTo>
                      <a:pt x="6" y="139"/>
                    </a:lnTo>
                    <a:lnTo>
                      <a:pt x="0" y="146"/>
                    </a:lnTo>
                    <a:lnTo>
                      <a:pt x="6" y="155"/>
                    </a:lnTo>
                    <a:lnTo>
                      <a:pt x="6" y="13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5" name="Freeform 55">
                <a:extLst>
                  <a:ext uri="{FF2B5EF4-FFF2-40B4-BE49-F238E27FC236}">
                    <a16:creationId xmlns:a16="http://schemas.microsoft.com/office/drawing/2014/main" id="{5D8BBE6B-0BE2-4030-8FB6-5A783E118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450"/>
                <a:ext cx="1428" cy="12"/>
              </a:xfrm>
              <a:custGeom>
                <a:avLst/>
                <a:gdLst>
                  <a:gd name="T0" fmla="*/ 1412 w 1428"/>
                  <a:gd name="T1" fmla="*/ 5 h 12"/>
                  <a:gd name="T2" fmla="*/ 1420 w 1428"/>
                  <a:gd name="T3" fmla="*/ 0 h 12"/>
                  <a:gd name="T4" fmla="*/ 0 w 1428"/>
                  <a:gd name="T5" fmla="*/ 0 h 12"/>
                  <a:gd name="T6" fmla="*/ 0 w 1428"/>
                  <a:gd name="T7" fmla="*/ 11 h 12"/>
                  <a:gd name="T8" fmla="*/ 1420 w 1428"/>
                  <a:gd name="T9" fmla="*/ 11 h 12"/>
                  <a:gd name="T10" fmla="*/ 1427 w 1428"/>
                  <a:gd name="T11" fmla="*/ 0 h 12"/>
                  <a:gd name="T12" fmla="*/ 1420 w 1428"/>
                  <a:gd name="T13" fmla="*/ 11 h 12"/>
                  <a:gd name="T14" fmla="*/ 1427 w 1428"/>
                  <a:gd name="T15" fmla="*/ 5 h 12"/>
                  <a:gd name="T16" fmla="*/ 1427 w 1428"/>
                  <a:gd name="T17" fmla="*/ 0 h 12"/>
                  <a:gd name="T18" fmla="*/ 1412 w 1428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28"/>
                  <a:gd name="T31" fmla="*/ 0 h 12"/>
                  <a:gd name="T32" fmla="*/ 1428 w 1428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28" h="12">
                    <a:moveTo>
                      <a:pt x="1412" y="5"/>
                    </a:moveTo>
                    <a:lnTo>
                      <a:pt x="1420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420" y="11"/>
                    </a:lnTo>
                    <a:lnTo>
                      <a:pt x="1427" y="0"/>
                    </a:lnTo>
                    <a:lnTo>
                      <a:pt x="1420" y="11"/>
                    </a:lnTo>
                    <a:lnTo>
                      <a:pt x="1427" y="5"/>
                    </a:lnTo>
                    <a:lnTo>
                      <a:pt x="1427" y="0"/>
                    </a:lnTo>
                    <a:lnTo>
                      <a:pt x="1412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6" name="Freeform 56">
                <a:extLst>
                  <a:ext uri="{FF2B5EF4-FFF2-40B4-BE49-F238E27FC236}">
                    <a16:creationId xmlns:a16="http://schemas.microsoft.com/office/drawing/2014/main" id="{F2D08B3F-FEE4-4194-8137-397E26F52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2298"/>
                <a:ext cx="52" cy="155"/>
              </a:xfrm>
              <a:custGeom>
                <a:avLst/>
                <a:gdLst>
                  <a:gd name="T0" fmla="*/ 6 w 52"/>
                  <a:gd name="T1" fmla="*/ 15 h 155"/>
                  <a:gd name="T2" fmla="*/ 0 w 52"/>
                  <a:gd name="T3" fmla="*/ 8 h 155"/>
                  <a:gd name="T4" fmla="*/ 38 w 52"/>
                  <a:gd name="T5" fmla="*/ 154 h 155"/>
                  <a:gd name="T6" fmla="*/ 51 w 52"/>
                  <a:gd name="T7" fmla="*/ 146 h 155"/>
                  <a:gd name="T8" fmla="*/ 6 w 52"/>
                  <a:gd name="T9" fmla="*/ 8 h 155"/>
                  <a:gd name="T10" fmla="*/ 6 w 52"/>
                  <a:gd name="T11" fmla="*/ 0 h 155"/>
                  <a:gd name="T12" fmla="*/ 6 w 52"/>
                  <a:gd name="T13" fmla="*/ 8 h 155"/>
                  <a:gd name="T14" fmla="*/ 6 w 52"/>
                  <a:gd name="T15" fmla="*/ 0 h 155"/>
                  <a:gd name="T16" fmla="*/ 6 w 52"/>
                  <a:gd name="T17" fmla="*/ 15 h 1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2"/>
                  <a:gd name="T28" fmla="*/ 0 h 155"/>
                  <a:gd name="T29" fmla="*/ 52 w 52"/>
                  <a:gd name="T30" fmla="*/ 155 h 15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2" h="155">
                    <a:moveTo>
                      <a:pt x="6" y="15"/>
                    </a:moveTo>
                    <a:lnTo>
                      <a:pt x="0" y="8"/>
                    </a:lnTo>
                    <a:lnTo>
                      <a:pt x="38" y="154"/>
                    </a:lnTo>
                    <a:lnTo>
                      <a:pt x="51" y="146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1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7" name="Freeform 57">
                <a:extLst>
                  <a:ext uri="{FF2B5EF4-FFF2-40B4-BE49-F238E27FC236}">
                    <a16:creationId xmlns:a16="http://schemas.microsoft.com/office/drawing/2014/main" id="{CBF8F003-8CB9-483F-AB10-534468485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2298"/>
                <a:ext cx="1335" cy="11"/>
              </a:xfrm>
              <a:custGeom>
                <a:avLst/>
                <a:gdLst>
                  <a:gd name="T0" fmla="*/ 7 w 1335"/>
                  <a:gd name="T1" fmla="*/ 5 h 11"/>
                  <a:gd name="T2" fmla="*/ 7 w 1335"/>
                  <a:gd name="T3" fmla="*/ 10 h 11"/>
                  <a:gd name="T4" fmla="*/ 1334 w 1335"/>
                  <a:gd name="T5" fmla="*/ 10 h 11"/>
                  <a:gd name="T6" fmla="*/ 1334 w 1335"/>
                  <a:gd name="T7" fmla="*/ 0 h 11"/>
                  <a:gd name="T8" fmla="*/ 7 w 1335"/>
                  <a:gd name="T9" fmla="*/ 0 h 11"/>
                  <a:gd name="T10" fmla="*/ 0 w 1335"/>
                  <a:gd name="T11" fmla="*/ 5 h 11"/>
                  <a:gd name="T12" fmla="*/ 7 w 1335"/>
                  <a:gd name="T13" fmla="*/ 0 h 11"/>
                  <a:gd name="T14" fmla="*/ 0 w 1335"/>
                  <a:gd name="T15" fmla="*/ 0 h 11"/>
                  <a:gd name="T16" fmla="*/ 0 w 1335"/>
                  <a:gd name="T17" fmla="*/ 5 h 11"/>
                  <a:gd name="T18" fmla="*/ 7 w 1335"/>
                  <a:gd name="T19" fmla="*/ 5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35"/>
                  <a:gd name="T31" fmla="*/ 0 h 11"/>
                  <a:gd name="T32" fmla="*/ 1335 w 1335"/>
                  <a:gd name="T33" fmla="*/ 11 h 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35" h="11">
                    <a:moveTo>
                      <a:pt x="7" y="5"/>
                    </a:moveTo>
                    <a:lnTo>
                      <a:pt x="7" y="10"/>
                    </a:lnTo>
                    <a:lnTo>
                      <a:pt x="1334" y="10"/>
                    </a:lnTo>
                    <a:lnTo>
                      <a:pt x="133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8" name="Freeform 58">
                <a:extLst>
                  <a:ext uri="{FF2B5EF4-FFF2-40B4-BE49-F238E27FC236}">
                    <a16:creationId xmlns:a16="http://schemas.microsoft.com/office/drawing/2014/main" id="{8336D86F-EFC2-4F4A-B2DC-D4FE5AD0C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093"/>
                <a:ext cx="123" cy="308"/>
              </a:xfrm>
              <a:custGeom>
                <a:avLst/>
                <a:gdLst>
                  <a:gd name="T0" fmla="*/ 0 w 123"/>
                  <a:gd name="T1" fmla="*/ 0 h 308"/>
                  <a:gd name="T2" fmla="*/ 0 w 123"/>
                  <a:gd name="T3" fmla="*/ 307 h 308"/>
                  <a:gd name="T4" fmla="*/ 122 w 123"/>
                  <a:gd name="T5" fmla="*/ 307 h 308"/>
                  <a:gd name="T6" fmla="*/ 122 w 123"/>
                  <a:gd name="T7" fmla="*/ 0 h 308"/>
                  <a:gd name="T8" fmla="*/ 0 w 123"/>
                  <a:gd name="T9" fmla="*/ 0 h 3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3"/>
                  <a:gd name="T16" fmla="*/ 0 h 308"/>
                  <a:gd name="T17" fmla="*/ 123 w 123"/>
                  <a:gd name="T18" fmla="*/ 308 h 3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3" h="308">
                    <a:moveTo>
                      <a:pt x="0" y="0"/>
                    </a:moveTo>
                    <a:lnTo>
                      <a:pt x="0" y="307"/>
                    </a:lnTo>
                    <a:lnTo>
                      <a:pt x="122" y="307"/>
                    </a:lnTo>
                    <a:lnTo>
                      <a:pt x="122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A9A5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49" name="Freeform 59">
                <a:extLst>
                  <a:ext uri="{FF2B5EF4-FFF2-40B4-BE49-F238E27FC236}">
                    <a16:creationId xmlns:a16="http://schemas.microsoft.com/office/drawing/2014/main" id="{9C3D2A82-3CF4-47D6-B4F8-505FBD0B7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3093"/>
                <a:ext cx="10" cy="316"/>
              </a:xfrm>
              <a:custGeom>
                <a:avLst/>
                <a:gdLst>
                  <a:gd name="T0" fmla="*/ 4 w 10"/>
                  <a:gd name="T1" fmla="*/ 298 h 316"/>
                  <a:gd name="T2" fmla="*/ 9 w 10"/>
                  <a:gd name="T3" fmla="*/ 307 h 316"/>
                  <a:gd name="T4" fmla="*/ 9 w 10"/>
                  <a:gd name="T5" fmla="*/ 0 h 316"/>
                  <a:gd name="T6" fmla="*/ 0 w 10"/>
                  <a:gd name="T7" fmla="*/ 0 h 316"/>
                  <a:gd name="T8" fmla="*/ 0 w 10"/>
                  <a:gd name="T9" fmla="*/ 307 h 316"/>
                  <a:gd name="T10" fmla="*/ 4 w 10"/>
                  <a:gd name="T11" fmla="*/ 315 h 316"/>
                  <a:gd name="T12" fmla="*/ 0 w 10"/>
                  <a:gd name="T13" fmla="*/ 307 h 316"/>
                  <a:gd name="T14" fmla="*/ 0 w 10"/>
                  <a:gd name="T15" fmla="*/ 315 h 316"/>
                  <a:gd name="T16" fmla="*/ 4 w 10"/>
                  <a:gd name="T17" fmla="*/ 315 h 316"/>
                  <a:gd name="T18" fmla="*/ 4 w 10"/>
                  <a:gd name="T19" fmla="*/ 298 h 3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316"/>
                  <a:gd name="T32" fmla="*/ 10 w 10"/>
                  <a:gd name="T33" fmla="*/ 316 h 31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316">
                    <a:moveTo>
                      <a:pt x="4" y="298"/>
                    </a:moveTo>
                    <a:lnTo>
                      <a:pt x="9" y="307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307"/>
                    </a:lnTo>
                    <a:lnTo>
                      <a:pt x="4" y="315"/>
                    </a:lnTo>
                    <a:lnTo>
                      <a:pt x="0" y="307"/>
                    </a:lnTo>
                    <a:lnTo>
                      <a:pt x="0" y="315"/>
                    </a:lnTo>
                    <a:lnTo>
                      <a:pt x="4" y="315"/>
                    </a:lnTo>
                    <a:lnTo>
                      <a:pt x="4" y="2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0" name="Freeform 60">
                <a:extLst>
                  <a:ext uri="{FF2B5EF4-FFF2-40B4-BE49-F238E27FC236}">
                    <a16:creationId xmlns:a16="http://schemas.microsoft.com/office/drawing/2014/main" id="{C2641F5B-2657-4FDF-A5FC-5E500D2B9C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397"/>
                <a:ext cx="130" cy="12"/>
              </a:xfrm>
              <a:custGeom>
                <a:avLst/>
                <a:gdLst>
                  <a:gd name="T0" fmla="*/ 116 w 130"/>
                  <a:gd name="T1" fmla="*/ 6 h 12"/>
                  <a:gd name="T2" fmla="*/ 122 w 130"/>
                  <a:gd name="T3" fmla="*/ 0 h 12"/>
                  <a:gd name="T4" fmla="*/ 0 w 130"/>
                  <a:gd name="T5" fmla="*/ 0 h 12"/>
                  <a:gd name="T6" fmla="*/ 0 w 130"/>
                  <a:gd name="T7" fmla="*/ 11 h 12"/>
                  <a:gd name="T8" fmla="*/ 122 w 130"/>
                  <a:gd name="T9" fmla="*/ 11 h 12"/>
                  <a:gd name="T10" fmla="*/ 129 w 130"/>
                  <a:gd name="T11" fmla="*/ 6 h 12"/>
                  <a:gd name="T12" fmla="*/ 122 w 130"/>
                  <a:gd name="T13" fmla="*/ 11 h 12"/>
                  <a:gd name="T14" fmla="*/ 129 w 130"/>
                  <a:gd name="T15" fmla="*/ 11 h 12"/>
                  <a:gd name="T16" fmla="*/ 129 w 130"/>
                  <a:gd name="T17" fmla="*/ 6 h 12"/>
                  <a:gd name="T18" fmla="*/ 116 w 13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0"/>
                  <a:gd name="T31" fmla="*/ 0 h 12"/>
                  <a:gd name="T32" fmla="*/ 130 w 13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0" h="12">
                    <a:moveTo>
                      <a:pt x="116" y="6"/>
                    </a:moveTo>
                    <a:lnTo>
                      <a:pt x="122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22" y="11"/>
                    </a:lnTo>
                    <a:lnTo>
                      <a:pt x="129" y="6"/>
                    </a:lnTo>
                    <a:lnTo>
                      <a:pt x="122" y="11"/>
                    </a:lnTo>
                    <a:lnTo>
                      <a:pt x="129" y="11"/>
                    </a:lnTo>
                    <a:lnTo>
                      <a:pt x="129" y="6"/>
                    </a:lnTo>
                    <a:lnTo>
                      <a:pt x="116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1" name="Freeform 61">
                <a:extLst>
                  <a:ext uri="{FF2B5EF4-FFF2-40B4-BE49-F238E27FC236}">
                    <a16:creationId xmlns:a16="http://schemas.microsoft.com/office/drawing/2014/main" id="{1A7630B3-B2A3-4929-BBD6-268F50C25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3084"/>
                <a:ext cx="9" cy="317"/>
              </a:xfrm>
              <a:custGeom>
                <a:avLst/>
                <a:gdLst>
                  <a:gd name="T0" fmla="*/ 4 w 9"/>
                  <a:gd name="T1" fmla="*/ 17 h 317"/>
                  <a:gd name="T2" fmla="*/ 0 w 9"/>
                  <a:gd name="T3" fmla="*/ 9 h 317"/>
                  <a:gd name="T4" fmla="*/ 0 w 9"/>
                  <a:gd name="T5" fmla="*/ 316 h 317"/>
                  <a:gd name="T6" fmla="*/ 8 w 9"/>
                  <a:gd name="T7" fmla="*/ 316 h 317"/>
                  <a:gd name="T8" fmla="*/ 8 w 9"/>
                  <a:gd name="T9" fmla="*/ 9 h 317"/>
                  <a:gd name="T10" fmla="*/ 4 w 9"/>
                  <a:gd name="T11" fmla="*/ 0 h 317"/>
                  <a:gd name="T12" fmla="*/ 8 w 9"/>
                  <a:gd name="T13" fmla="*/ 9 h 317"/>
                  <a:gd name="T14" fmla="*/ 8 w 9"/>
                  <a:gd name="T15" fmla="*/ 0 h 317"/>
                  <a:gd name="T16" fmla="*/ 4 w 9"/>
                  <a:gd name="T17" fmla="*/ 0 h 317"/>
                  <a:gd name="T18" fmla="*/ 4 w 9"/>
                  <a:gd name="T19" fmla="*/ 17 h 3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17"/>
                  <a:gd name="T32" fmla="*/ 9 w 9"/>
                  <a:gd name="T33" fmla="*/ 317 h 31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17">
                    <a:moveTo>
                      <a:pt x="4" y="17"/>
                    </a:moveTo>
                    <a:lnTo>
                      <a:pt x="0" y="9"/>
                    </a:lnTo>
                    <a:lnTo>
                      <a:pt x="0" y="316"/>
                    </a:lnTo>
                    <a:lnTo>
                      <a:pt x="8" y="316"/>
                    </a:lnTo>
                    <a:lnTo>
                      <a:pt x="8" y="9"/>
                    </a:lnTo>
                    <a:lnTo>
                      <a:pt x="4" y="0"/>
                    </a:lnTo>
                    <a:lnTo>
                      <a:pt x="8" y="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2" name="Freeform 62">
                <a:extLst>
                  <a:ext uri="{FF2B5EF4-FFF2-40B4-BE49-F238E27FC236}">
                    <a16:creationId xmlns:a16="http://schemas.microsoft.com/office/drawing/2014/main" id="{70458B16-55C4-48FD-97EB-EDBA31152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3084"/>
                <a:ext cx="130" cy="12"/>
              </a:xfrm>
              <a:custGeom>
                <a:avLst/>
                <a:gdLst>
                  <a:gd name="T0" fmla="*/ 14 w 130"/>
                  <a:gd name="T1" fmla="*/ 6 h 12"/>
                  <a:gd name="T2" fmla="*/ 7 w 130"/>
                  <a:gd name="T3" fmla="*/ 11 h 12"/>
                  <a:gd name="T4" fmla="*/ 129 w 130"/>
                  <a:gd name="T5" fmla="*/ 11 h 12"/>
                  <a:gd name="T6" fmla="*/ 129 w 130"/>
                  <a:gd name="T7" fmla="*/ 0 h 12"/>
                  <a:gd name="T8" fmla="*/ 7 w 130"/>
                  <a:gd name="T9" fmla="*/ 0 h 12"/>
                  <a:gd name="T10" fmla="*/ 0 w 130"/>
                  <a:gd name="T11" fmla="*/ 6 h 12"/>
                  <a:gd name="T12" fmla="*/ 7 w 130"/>
                  <a:gd name="T13" fmla="*/ 0 h 12"/>
                  <a:gd name="T14" fmla="*/ 0 w 130"/>
                  <a:gd name="T15" fmla="*/ 0 h 12"/>
                  <a:gd name="T16" fmla="*/ 0 w 130"/>
                  <a:gd name="T17" fmla="*/ 6 h 12"/>
                  <a:gd name="T18" fmla="*/ 14 w 13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0"/>
                  <a:gd name="T31" fmla="*/ 0 h 12"/>
                  <a:gd name="T32" fmla="*/ 130 w 13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0" h="12">
                    <a:moveTo>
                      <a:pt x="14" y="6"/>
                    </a:moveTo>
                    <a:lnTo>
                      <a:pt x="7" y="11"/>
                    </a:lnTo>
                    <a:lnTo>
                      <a:pt x="129" y="11"/>
                    </a:lnTo>
                    <a:lnTo>
                      <a:pt x="129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3" name="Freeform 63">
                <a:extLst>
                  <a:ext uri="{FF2B5EF4-FFF2-40B4-BE49-F238E27FC236}">
                    <a16:creationId xmlns:a16="http://schemas.microsoft.com/office/drawing/2014/main" id="{626885BE-0560-49AD-9B92-C3C485E2E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1" y="3093"/>
                <a:ext cx="115" cy="308"/>
              </a:xfrm>
              <a:custGeom>
                <a:avLst/>
                <a:gdLst>
                  <a:gd name="T0" fmla="*/ 0 w 115"/>
                  <a:gd name="T1" fmla="*/ 0 h 308"/>
                  <a:gd name="T2" fmla="*/ 0 w 115"/>
                  <a:gd name="T3" fmla="*/ 307 h 308"/>
                  <a:gd name="T4" fmla="*/ 114 w 115"/>
                  <a:gd name="T5" fmla="*/ 307 h 308"/>
                  <a:gd name="T6" fmla="*/ 114 w 115"/>
                  <a:gd name="T7" fmla="*/ 0 h 308"/>
                  <a:gd name="T8" fmla="*/ 0 w 115"/>
                  <a:gd name="T9" fmla="*/ 0 h 3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"/>
                  <a:gd name="T16" fmla="*/ 0 h 308"/>
                  <a:gd name="T17" fmla="*/ 115 w 115"/>
                  <a:gd name="T18" fmla="*/ 308 h 3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" h="308">
                    <a:moveTo>
                      <a:pt x="0" y="0"/>
                    </a:moveTo>
                    <a:lnTo>
                      <a:pt x="0" y="307"/>
                    </a:lnTo>
                    <a:lnTo>
                      <a:pt x="114" y="307"/>
                    </a:lnTo>
                    <a:lnTo>
                      <a:pt x="11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A9A5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4" name="Freeform 64">
                <a:extLst>
                  <a:ext uri="{FF2B5EF4-FFF2-40B4-BE49-F238E27FC236}">
                    <a16:creationId xmlns:a16="http://schemas.microsoft.com/office/drawing/2014/main" id="{FE55BE97-F9AF-448C-9804-9718E8594E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3093"/>
                <a:ext cx="9" cy="316"/>
              </a:xfrm>
              <a:custGeom>
                <a:avLst/>
                <a:gdLst>
                  <a:gd name="T0" fmla="*/ 4 w 9"/>
                  <a:gd name="T1" fmla="*/ 298 h 316"/>
                  <a:gd name="T2" fmla="*/ 8 w 9"/>
                  <a:gd name="T3" fmla="*/ 307 h 316"/>
                  <a:gd name="T4" fmla="*/ 8 w 9"/>
                  <a:gd name="T5" fmla="*/ 0 h 316"/>
                  <a:gd name="T6" fmla="*/ 0 w 9"/>
                  <a:gd name="T7" fmla="*/ 0 h 316"/>
                  <a:gd name="T8" fmla="*/ 0 w 9"/>
                  <a:gd name="T9" fmla="*/ 307 h 316"/>
                  <a:gd name="T10" fmla="*/ 4 w 9"/>
                  <a:gd name="T11" fmla="*/ 315 h 316"/>
                  <a:gd name="T12" fmla="*/ 0 w 9"/>
                  <a:gd name="T13" fmla="*/ 307 h 316"/>
                  <a:gd name="T14" fmla="*/ 0 w 9"/>
                  <a:gd name="T15" fmla="*/ 315 h 316"/>
                  <a:gd name="T16" fmla="*/ 4 w 9"/>
                  <a:gd name="T17" fmla="*/ 315 h 316"/>
                  <a:gd name="T18" fmla="*/ 4 w 9"/>
                  <a:gd name="T19" fmla="*/ 298 h 3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16"/>
                  <a:gd name="T32" fmla="*/ 9 w 9"/>
                  <a:gd name="T33" fmla="*/ 316 h 31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16">
                    <a:moveTo>
                      <a:pt x="4" y="298"/>
                    </a:moveTo>
                    <a:lnTo>
                      <a:pt x="8" y="307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07"/>
                    </a:lnTo>
                    <a:lnTo>
                      <a:pt x="4" y="315"/>
                    </a:lnTo>
                    <a:lnTo>
                      <a:pt x="0" y="307"/>
                    </a:lnTo>
                    <a:lnTo>
                      <a:pt x="0" y="315"/>
                    </a:lnTo>
                    <a:lnTo>
                      <a:pt x="4" y="315"/>
                    </a:lnTo>
                    <a:lnTo>
                      <a:pt x="4" y="2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5" name="Freeform 65">
                <a:extLst>
                  <a:ext uri="{FF2B5EF4-FFF2-40B4-BE49-F238E27FC236}">
                    <a16:creationId xmlns:a16="http://schemas.microsoft.com/office/drawing/2014/main" id="{67E5C067-CF5B-4C73-A965-23FEB19B6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1" y="3397"/>
                <a:ext cx="122" cy="12"/>
              </a:xfrm>
              <a:custGeom>
                <a:avLst/>
                <a:gdLst>
                  <a:gd name="T0" fmla="*/ 114 w 122"/>
                  <a:gd name="T1" fmla="*/ 6 h 12"/>
                  <a:gd name="T2" fmla="*/ 114 w 122"/>
                  <a:gd name="T3" fmla="*/ 0 h 12"/>
                  <a:gd name="T4" fmla="*/ 0 w 122"/>
                  <a:gd name="T5" fmla="*/ 0 h 12"/>
                  <a:gd name="T6" fmla="*/ 0 w 122"/>
                  <a:gd name="T7" fmla="*/ 11 h 12"/>
                  <a:gd name="T8" fmla="*/ 114 w 122"/>
                  <a:gd name="T9" fmla="*/ 11 h 12"/>
                  <a:gd name="T10" fmla="*/ 121 w 122"/>
                  <a:gd name="T11" fmla="*/ 6 h 12"/>
                  <a:gd name="T12" fmla="*/ 114 w 122"/>
                  <a:gd name="T13" fmla="*/ 11 h 12"/>
                  <a:gd name="T14" fmla="*/ 121 w 122"/>
                  <a:gd name="T15" fmla="*/ 11 h 12"/>
                  <a:gd name="T16" fmla="*/ 121 w 122"/>
                  <a:gd name="T17" fmla="*/ 6 h 12"/>
                  <a:gd name="T18" fmla="*/ 114 w 12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2"/>
                  <a:gd name="T32" fmla="*/ 122 w 12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2">
                    <a:moveTo>
                      <a:pt x="114" y="6"/>
                    </a:moveTo>
                    <a:lnTo>
                      <a:pt x="114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14" y="11"/>
                    </a:lnTo>
                    <a:lnTo>
                      <a:pt x="121" y="6"/>
                    </a:lnTo>
                    <a:lnTo>
                      <a:pt x="114" y="11"/>
                    </a:lnTo>
                    <a:lnTo>
                      <a:pt x="121" y="11"/>
                    </a:lnTo>
                    <a:lnTo>
                      <a:pt x="121" y="6"/>
                    </a:lnTo>
                    <a:lnTo>
                      <a:pt x="1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6" name="Freeform 66">
                <a:extLst>
                  <a:ext uri="{FF2B5EF4-FFF2-40B4-BE49-F238E27FC236}">
                    <a16:creationId xmlns:a16="http://schemas.microsoft.com/office/drawing/2014/main" id="{7D82B1D9-4262-41B7-AF77-A1D96440C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3084"/>
                <a:ext cx="2" cy="317"/>
              </a:xfrm>
              <a:custGeom>
                <a:avLst/>
                <a:gdLst>
                  <a:gd name="T0" fmla="*/ 0 w 2"/>
                  <a:gd name="T1" fmla="*/ 17 h 317"/>
                  <a:gd name="T2" fmla="*/ 0 w 2"/>
                  <a:gd name="T3" fmla="*/ 9 h 317"/>
                  <a:gd name="T4" fmla="*/ 0 w 2"/>
                  <a:gd name="T5" fmla="*/ 316 h 317"/>
                  <a:gd name="T6" fmla="*/ 1 w 2"/>
                  <a:gd name="T7" fmla="*/ 316 h 317"/>
                  <a:gd name="T8" fmla="*/ 1 w 2"/>
                  <a:gd name="T9" fmla="*/ 9 h 317"/>
                  <a:gd name="T10" fmla="*/ 0 w 2"/>
                  <a:gd name="T11" fmla="*/ 0 h 317"/>
                  <a:gd name="T12" fmla="*/ 1 w 2"/>
                  <a:gd name="T13" fmla="*/ 9 h 317"/>
                  <a:gd name="T14" fmla="*/ 1 w 2"/>
                  <a:gd name="T15" fmla="*/ 0 h 317"/>
                  <a:gd name="T16" fmla="*/ 0 w 2"/>
                  <a:gd name="T17" fmla="*/ 0 h 317"/>
                  <a:gd name="T18" fmla="*/ 0 w 2"/>
                  <a:gd name="T19" fmla="*/ 17 h 3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317"/>
                  <a:gd name="T32" fmla="*/ 2 w 2"/>
                  <a:gd name="T33" fmla="*/ 317 h 31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317">
                    <a:moveTo>
                      <a:pt x="0" y="17"/>
                    </a:moveTo>
                    <a:lnTo>
                      <a:pt x="0" y="9"/>
                    </a:lnTo>
                    <a:lnTo>
                      <a:pt x="0" y="316"/>
                    </a:lnTo>
                    <a:lnTo>
                      <a:pt x="1" y="316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7" name="Freeform 67">
                <a:extLst>
                  <a:ext uri="{FF2B5EF4-FFF2-40B4-BE49-F238E27FC236}">
                    <a16:creationId xmlns:a16="http://schemas.microsoft.com/office/drawing/2014/main" id="{F6200D5A-C268-426A-81B6-96F9D44A3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3084"/>
                <a:ext cx="122" cy="12"/>
              </a:xfrm>
              <a:custGeom>
                <a:avLst/>
                <a:gdLst>
                  <a:gd name="T0" fmla="*/ 13 w 122"/>
                  <a:gd name="T1" fmla="*/ 6 h 12"/>
                  <a:gd name="T2" fmla="*/ 7 w 122"/>
                  <a:gd name="T3" fmla="*/ 11 h 12"/>
                  <a:gd name="T4" fmla="*/ 121 w 122"/>
                  <a:gd name="T5" fmla="*/ 11 h 12"/>
                  <a:gd name="T6" fmla="*/ 121 w 122"/>
                  <a:gd name="T7" fmla="*/ 0 h 12"/>
                  <a:gd name="T8" fmla="*/ 7 w 122"/>
                  <a:gd name="T9" fmla="*/ 0 h 12"/>
                  <a:gd name="T10" fmla="*/ 0 w 122"/>
                  <a:gd name="T11" fmla="*/ 6 h 12"/>
                  <a:gd name="T12" fmla="*/ 7 w 122"/>
                  <a:gd name="T13" fmla="*/ 0 h 12"/>
                  <a:gd name="T14" fmla="*/ 0 w 122"/>
                  <a:gd name="T15" fmla="*/ 0 h 12"/>
                  <a:gd name="T16" fmla="*/ 0 w 122"/>
                  <a:gd name="T17" fmla="*/ 6 h 12"/>
                  <a:gd name="T18" fmla="*/ 13 w 12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2"/>
                  <a:gd name="T32" fmla="*/ 122 w 12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2">
                    <a:moveTo>
                      <a:pt x="13" y="6"/>
                    </a:moveTo>
                    <a:lnTo>
                      <a:pt x="7" y="11"/>
                    </a:lnTo>
                    <a:lnTo>
                      <a:pt x="121" y="11"/>
                    </a:lnTo>
                    <a:lnTo>
                      <a:pt x="121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3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8" name="Freeform 68">
                <a:extLst>
                  <a:ext uri="{FF2B5EF4-FFF2-40B4-BE49-F238E27FC236}">
                    <a16:creationId xmlns:a16="http://schemas.microsoft.com/office/drawing/2014/main" id="{B5A33830-F98F-48B3-8296-12BF7FE6D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551"/>
                <a:ext cx="165" cy="173"/>
              </a:xfrm>
              <a:custGeom>
                <a:avLst/>
                <a:gdLst>
                  <a:gd name="T0" fmla="*/ 164 w 165"/>
                  <a:gd name="T1" fmla="*/ 172 h 173"/>
                  <a:gd name="T2" fmla="*/ 164 w 165"/>
                  <a:gd name="T3" fmla="*/ 0 h 173"/>
                  <a:gd name="T4" fmla="*/ 0 w 165"/>
                  <a:gd name="T5" fmla="*/ 0 h 173"/>
                  <a:gd name="T6" fmla="*/ 0 w 165"/>
                  <a:gd name="T7" fmla="*/ 172 h 173"/>
                  <a:gd name="T8" fmla="*/ 164 w 165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5"/>
                  <a:gd name="T16" fmla="*/ 0 h 173"/>
                  <a:gd name="T17" fmla="*/ 165 w 165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5" h="173">
                    <a:moveTo>
                      <a:pt x="164" y="172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4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59" name="Freeform 69">
                <a:extLst>
                  <a:ext uri="{FF2B5EF4-FFF2-40B4-BE49-F238E27FC236}">
                    <a16:creationId xmlns:a16="http://schemas.microsoft.com/office/drawing/2014/main" id="{7D1FA94A-BFA6-4350-804B-ECADA0321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8" y="2543"/>
                <a:ext cx="2" cy="181"/>
              </a:xfrm>
              <a:custGeom>
                <a:avLst/>
                <a:gdLst>
                  <a:gd name="T0" fmla="*/ 1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1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1 w 2"/>
                  <a:gd name="T17" fmla="*/ 16 h 1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81"/>
                  <a:gd name="T29" fmla="*/ 2 w 2"/>
                  <a:gd name="T30" fmla="*/ 181 h 18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81">
                    <a:moveTo>
                      <a:pt x="1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1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0" name="Freeform 70">
                <a:extLst>
                  <a:ext uri="{FF2B5EF4-FFF2-40B4-BE49-F238E27FC236}">
                    <a16:creationId xmlns:a16="http://schemas.microsoft.com/office/drawing/2014/main" id="{DD45155A-D130-450A-B52A-0E97F31A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543"/>
                <a:ext cx="172" cy="12"/>
              </a:xfrm>
              <a:custGeom>
                <a:avLst/>
                <a:gdLst>
                  <a:gd name="T0" fmla="*/ 7 w 172"/>
                  <a:gd name="T1" fmla="*/ 5 h 12"/>
                  <a:gd name="T2" fmla="*/ 7 w 172"/>
                  <a:gd name="T3" fmla="*/ 11 h 12"/>
                  <a:gd name="T4" fmla="*/ 171 w 172"/>
                  <a:gd name="T5" fmla="*/ 11 h 12"/>
                  <a:gd name="T6" fmla="*/ 171 w 172"/>
                  <a:gd name="T7" fmla="*/ 0 h 12"/>
                  <a:gd name="T8" fmla="*/ 7 w 172"/>
                  <a:gd name="T9" fmla="*/ 0 h 12"/>
                  <a:gd name="T10" fmla="*/ 0 w 172"/>
                  <a:gd name="T11" fmla="*/ 5 h 12"/>
                  <a:gd name="T12" fmla="*/ 7 w 172"/>
                  <a:gd name="T13" fmla="*/ 0 h 12"/>
                  <a:gd name="T14" fmla="*/ 0 w 172"/>
                  <a:gd name="T15" fmla="*/ 0 h 12"/>
                  <a:gd name="T16" fmla="*/ 0 w 172"/>
                  <a:gd name="T17" fmla="*/ 5 h 12"/>
                  <a:gd name="T18" fmla="*/ 7 w 172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12"/>
                  <a:gd name="T32" fmla="*/ 172 w 17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12">
                    <a:moveTo>
                      <a:pt x="7" y="5"/>
                    </a:moveTo>
                    <a:lnTo>
                      <a:pt x="7" y="11"/>
                    </a:lnTo>
                    <a:lnTo>
                      <a:pt x="171" y="11"/>
                    </a:lnTo>
                    <a:lnTo>
                      <a:pt x="171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1" name="Freeform 71">
                <a:extLst>
                  <a:ext uri="{FF2B5EF4-FFF2-40B4-BE49-F238E27FC236}">
                    <a16:creationId xmlns:a16="http://schemas.microsoft.com/office/drawing/2014/main" id="{D2FCA4F6-869D-4C6D-A156-96F94BE97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2" name="Freeform 72">
                <a:extLst>
                  <a:ext uri="{FF2B5EF4-FFF2-40B4-BE49-F238E27FC236}">
                    <a16:creationId xmlns:a16="http://schemas.microsoft.com/office/drawing/2014/main" id="{9CD27088-001C-49C6-87E2-F69EACE51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720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64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64 w 165"/>
                  <a:gd name="T9" fmla="*/ 3 h 4"/>
                  <a:gd name="T10" fmla="*/ 157 w 165"/>
                  <a:gd name="T11" fmla="*/ 3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"/>
                  <a:gd name="T20" fmla="*/ 165 w 165"/>
                  <a:gd name="T21" fmla="*/ 4 h 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">
                    <a:moveTo>
                      <a:pt x="157" y="3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3" name="Freeform 73">
                <a:extLst>
                  <a:ext uri="{FF2B5EF4-FFF2-40B4-BE49-F238E27FC236}">
                    <a16:creationId xmlns:a16="http://schemas.microsoft.com/office/drawing/2014/main" id="{223ADA11-ED91-4C85-8288-9928FA74D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551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4" name="Freeform 74">
                <a:extLst>
                  <a:ext uri="{FF2B5EF4-FFF2-40B4-BE49-F238E27FC236}">
                    <a16:creationId xmlns:a16="http://schemas.microsoft.com/office/drawing/2014/main" id="{5FAB621F-B39D-49D2-BBC7-96351AD9E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2543"/>
                <a:ext cx="2" cy="181"/>
              </a:xfrm>
              <a:custGeom>
                <a:avLst/>
                <a:gdLst>
                  <a:gd name="T0" fmla="*/ 0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0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0 w 2"/>
                  <a:gd name="T17" fmla="*/ 0 h 181"/>
                  <a:gd name="T18" fmla="*/ 0 w 2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1"/>
                  <a:gd name="T32" fmla="*/ 2 w 2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5" name="Freeform 75">
                <a:extLst>
                  <a:ext uri="{FF2B5EF4-FFF2-40B4-BE49-F238E27FC236}">
                    <a16:creationId xmlns:a16="http://schemas.microsoft.com/office/drawing/2014/main" id="{B715B54D-D548-4C81-9549-6A2C41AE3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543"/>
                <a:ext cx="165" cy="12"/>
              </a:xfrm>
              <a:custGeom>
                <a:avLst/>
                <a:gdLst>
                  <a:gd name="T0" fmla="*/ 7 w 165"/>
                  <a:gd name="T1" fmla="*/ 5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5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5 h 12"/>
                  <a:gd name="T18" fmla="*/ 7 w 165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5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6" name="Freeform 76">
                <a:extLst>
                  <a:ext uri="{FF2B5EF4-FFF2-40B4-BE49-F238E27FC236}">
                    <a16:creationId xmlns:a16="http://schemas.microsoft.com/office/drawing/2014/main" id="{3A714F9D-8FAD-4E77-ADA4-C0A1847C81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7" name="Freeform 77">
                <a:extLst>
                  <a:ext uri="{FF2B5EF4-FFF2-40B4-BE49-F238E27FC236}">
                    <a16:creationId xmlns:a16="http://schemas.microsoft.com/office/drawing/2014/main" id="{3E498328-34D7-4EEF-A761-8BE6E4AD2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720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57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57 w 165"/>
                  <a:gd name="T9" fmla="*/ 3 h 4"/>
                  <a:gd name="T10" fmla="*/ 164 w 165"/>
                  <a:gd name="T11" fmla="*/ 3 h 4"/>
                  <a:gd name="T12" fmla="*/ 157 w 165"/>
                  <a:gd name="T13" fmla="*/ 3 h 4"/>
                  <a:gd name="T14" fmla="*/ 164 w 165"/>
                  <a:gd name="T15" fmla="*/ 3 h 4"/>
                  <a:gd name="T16" fmla="*/ 157 w 165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5"/>
                  <a:gd name="T28" fmla="*/ 0 h 4"/>
                  <a:gd name="T29" fmla="*/ 165 w 165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5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8" name="Freeform 78">
                <a:extLst>
                  <a:ext uri="{FF2B5EF4-FFF2-40B4-BE49-F238E27FC236}">
                    <a16:creationId xmlns:a16="http://schemas.microsoft.com/office/drawing/2014/main" id="{FEC5E9E6-A437-4792-9F7A-1CE652D74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551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69" name="Freeform 79">
                <a:extLst>
                  <a:ext uri="{FF2B5EF4-FFF2-40B4-BE49-F238E27FC236}">
                    <a16:creationId xmlns:a16="http://schemas.microsoft.com/office/drawing/2014/main" id="{7AB655F0-E7BD-414E-B756-9B23921FA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2543"/>
                <a:ext cx="3" cy="181"/>
              </a:xfrm>
              <a:custGeom>
                <a:avLst/>
                <a:gdLst>
                  <a:gd name="T0" fmla="*/ 0 w 3"/>
                  <a:gd name="T1" fmla="*/ 16 h 181"/>
                  <a:gd name="T2" fmla="*/ 0 w 3"/>
                  <a:gd name="T3" fmla="*/ 8 h 181"/>
                  <a:gd name="T4" fmla="*/ 0 w 3"/>
                  <a:gd name="T5" fmla="*/ 180 h 181"/>
                  <a:gd name="T6" fmla="*/ 2 w 3"/>
                  <a:gd name="T7" fmla="*/ 180 h 181"/>
                  <a:gd name="T8" fmla="*/ 2 w 3"/>
                  <a:gd name="T9" fmla="*/ 8 h 181"/>
                  <a:gd name="T10" fmla="*/ 0 w 3"/>
                  <a:gd name="T11" fmla="*/ 0 h 181"/>
                  <a:gd name="T12" fmla="*/ 2 w 3"/>
                  <a:gd name="T13" fmla="*/ 8 h 181"/>
                  <a:gd name="T14" fmla="*/ 2 w 3"/>
                  <a:gd name="T15" fmla="*/ 0 h 181"/>
                  <a:gd name="T16" fmla="*/ 0 w 3"/>
                  <a:gd name="T17" fmla="*/ 0 h 181"/>
                  <a:gd name="T18" fmla="*/ 0 w 3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"/>
                  <a:gd name="T31" fmla="*/ 0 h 181"/>
                  <a:gd name="T32" fmla="*/ 3 w 3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2" y="180"/>
                    </a:lnTo>
                    <a:lnTo>
                      <a:pt x="2" y="8"/>
                    </a:lnTo>
                    <a:lnTo>
                      <a:pt x="0" y="0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0" name="Freeform 80">
                <a:extLst>
                  <a:ext uri="{FF2B5EF4-FFF2-40B4-BE49-F238E27FC236}">
                    <a16:creationId xmlns:a16="http://schemas.microsoft.com/office/drawing/2014/main" id="{52C34802-63FC-4D42-AD09-32BC2E54A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543"/>
                <a:ext cx="165" cy="12"/>
              </a:xfrm>
              <a:custGeom>
                <a:avLst/>
                <a:gdLst>
                  <a:gd name="T0" fmla="*/ 7 w 165"/>
                  <a:gd name="T1" fmla="*/ 5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5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5 h 12"/>
                  <a:gd name="T18" fmla="*/ 7 w 165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5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1" name="Freeform 81">
                <a:extLst>
                  <a:ext uri="{FF2B5EF4-FFF2-40B4-BE49-F238E27FC236}">
                    <a16:creationId xmlns:a16="http://schemas.microsoft.com/office/drawing/2014/main" id="{39AB3A20-C433-433A-A0DE-FBEB9A0CA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2" name="Freeform 82">
                <a:extLst>
                  <a:ext uri="{FF2B5EF4-FFF2-40B4-BE49-F238E27FC236}">
                    <a16:creationId xmlns:a16="http://schemas.microsoft.com/office/drawing/2014/main" id="{F47CDF30-4CEF-4D75-84D1-1389A652D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720"/>
                <a:ext cx="166" cy="4"/>
              </a:xfrm>
              <a:custGeom>
                <a:avLst/>
                <a:gdLst>
                  <a:gd name="T0" fmla="*/ 157 w 166"/>
                  <a:gd name="T1" fmla="*/ 3 h 4"/>
                  <a:gd name="T2" fmla="*/ 157 w 166"/>
                  <a:gd name="T3" fmla="*/ 0 h 4"/>
                  <a:gd name="T4" fmla="*/ 0 w 166"/>
                  <a:gd name="T5" fmla="*/ 0 h 4"/>
                  <a:gd name="T6" fmla="*/ 0 w 166"/>
                  <a:gd name="T7" fmla="*/ 3 h 4"/>
                  <a:gd name="T8" fmla="*/ 157 w 166"/>
                  <a:gd name="T9" fmla="*/ 3 h 4"/>
                  <a:gd name="T10" fmla="*/ 165 w 166"/>
                  <a:gd name="T11" fmla="*/ 3 h 4"/>
                  <a:gd name="T12" fmla="*/ 157 w 166"/>
                  <a:gd name="T13" fmla="*/ 3 h 4"/>
                  <a:gd name="T14" fmla="*/ 165 w 166"/>
                  <a:gd name="T15" fmla="*/ 3 h 4"/>
                  <a:gd name="T16" fmla="*/ 157 w 166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4"/>
                  <a:gd name="T29" fmla="*/ 166 w 166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3" name="Freeform 83">
                <a:extLst>
                  <a:ext uri="{FF2B5EF4-FFF2-40B4-BE49-F238E27FC236}">
                    <a16:creationId xmlns:a16="http://schemas.microsoft.com/office/drawing/2014/main" id="{8020892D-20D7-4DD9-85B9-60A5C575F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51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4" name="Freeform 84">
                <a:extLst>
                  <a:ext uri="{FF2B5EF4-FFF2-40B4-BE49-F238E27FC236}">
                    <a16:creationId xmlns:a16="http://schemas.microsoft.com/office/drawing/2014/main" id="{EB489951-3551-4EC1-86AD-E03BC9524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543"/>
                <a:ext cx="2" cy="181"/>
              </a:xfrm>
              <a:custGeom>
                <a:avLst/>
                <a:gdLst>
                  <a:gd name="T0" fmla="*/ 0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0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0 w 2"/>
                  <a:gd name="T17" fmla="*/ 0 h 181"/>
                  <a:gd name="T18" fmla="*/ 0 w 2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1"/>
                  <a:gd name="T32" fmla="*/ 2 w 2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5" name="Freeform 85">
                <a:extLst>
                  <a:ext uri="{FF2B5EF4-FFF2-40B4-BE49-F238E27FC236}">
                    <a16:creationId xmlns:a16="http://schemas.microsoft.com/office/drawing/2014/main" id="{07ACE68D-98C5-46C6-90E0-0317F3951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43"/>
                <a:ext cx="166" cy="12"/>
              </a:xfrm>
              <a:custGeom>
                <a:avLst/>
                <a:gdLst>
                  <a:gd name="T0" fmla="*/ 7 w 166"/>
                  <a:gd name="T1" fmla="*/ 5 h 12"/>
                  <a:gd name="T2" fmla="*/ 0 w 166"/>
                  <a:gd name="T3" fmla="*/ 11 h 12"/>
                  <a:gd name="T4" fmla="*/ 165 w 166"/>
                  <a:gd name="T5" fmla="*/ 11 h 12"/>
                  <a:gd name="T6" fmla="*/ 165 w 166"/>
                  <a:gd name="T7" fmla="*/ 0 h 12"/>
                  <a:gd name="T8" fmla="*/ 0 w 166"/>
                  <a:gd name="T9" fmla="*/ 0 h 12"/>
                  <a:gd name="T10" fmla="*/ 0 w 166"/>
                  <a:gd name="T11" fmla="*/ 5 h 12"/>
                  <a:gd name="T12" fmla="*/ 0 w 166"/>
                  <a:gd name="T13" fmla="*/ 0 h 12"/>
                  <a:gd name="T14" fmla="*/ 0 w 166"/>
                  <a:gd name="T15" fmla="*/ 5 h 12"/>
                  <a:gd name="T16" fmla="*/ 7 w 166"/>
                  <a:gd name="T17" fmla="*/ 5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12"/>
                  <a:gd name="T29" fmla="*/ 166 w 166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12">
                    <a:moveTo>
                      <a:pt x="7" y="5"/>
                    </a:moveTo>
                    <a:lnTo>
                      <a:pt x="0" y="11"/>
                    </a:lnTo>
                    <a:lnTo>
                      <a:pt x="165" y="11"/>
                    </a:lnTo>
                    <a:lnTo>
                      <a:pt x="165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6" name="Freeform 86">
                <a:extLst>
                  <a:ext uri="{FF2B5EF4-FFF2-40B4-BE49-F238E27FC236}">
                    <a16:creationId xmlns:a16="http://schemas.microsoft.com/office/drawing/2014/main" id="{02626E80-6517-4D79-A14F-AC1A8D4F6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51"/>
                <a:ext cx="2" cy="173"/>
              </a:xfrm>
              <a:custGeom>
                <a:avLst/>
                <a:gdLst>
                  <a:gd name="T0" fmla="*/ 0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0 w 2"/>
                  <a:gd name="T11" fmla="*/ 163 h 1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173"/>
                  <a:gd name="T20" fmla="*/ 2 w 2"/>
                  <a:gd name="T21" fmla="*/ 173 h 17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173">
                    <a:moveTo>
                      <a:pt x="0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0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7" name="Freeform 87">
                <a:extLst>
                  <a:ext uri="{FF2B5EF4-FFF2-40B4-BE49-F238E27FC236}">
                    <a16:creationId xmlns:a16="http://schemas.microsoft.com/office/drawing/2014/main" id="{A93B28DE-114E-4786-AB4D-0DC9777E3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720"/>
                <a:ext cx="173" cy="4"/>
              </a:xfrm>
              <a:custGeom>
                <a:avLst/>
                <a:gdLst>
                  <a:gd name="T0" fmla="*/ 165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65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65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8" name="Freeform 88">
                <a:extLst>
                  <a:ext uri="{FF2B5EF4-FFF2-40B4-BE49-F238E27FC236}">
                    <a16:creationId xmlns:a16="http://schemas.microsoft.com/office/drawing/2014/main" id="{16222680-8C81-4EE9-9094-D5F5756A4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551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79" name="Freeform 89">
                <a:extLst>
                  <a:ext uri="{FF2B5EF4-FFF2-40B4-BE49-F238E27FC236}">
                    <a16:creationId xmlns:a16="http://schemas.microsoft.com/office/drawing/2014/main" id="{62A1F48E-91D1-4087-B958-B604729C3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543"/>
                <a:ext cx="10" cy="181"/>
              </a:xfrm>
              <a:custGeom>
                <a:avLst/>
                <a:gdLst>
                  <a:gd name="T0" fmla="*/ 5 w 10"/>
                  <a:gd name="T1" fmla="*/ 16 h 181"/>
                  <a:gd name="T2" fmla="*/ 0 w 10"/>
                  <a:gd name="T3" fmla="*/ 8 h 181"/>
                  <a:gd name="T4" fmla="*/ 0 w 10"/>
                  <a:gd name="T5" fmla="*/ 180 h 181"/>
                  <a:gd name="T6" fmla="*/ 9 w 10"/>
                  <a:gd name="T7" fmla="*/ 180 h 181"/>
                  <a:gd name="T8" fmla="*/ 9 w 10"/>
                  <a:gd name="T9" fmla="*/ 8 h 181"/>
                  <a:gd name="T10" fmla="*/ 5 w 10"/>
                  <a:gd name="T11" fmla="*/ 0 h 181"/>
                  <a:gd name="T12" fmla="*/ 9 w 10"/>
                  <a:gd name="T13" fmla="*/ 8 h 181"/>
                  <a:gd name="T14" fmla="*/ 9 w 10"/>
                  <a:gd name="T15" fmla="*/ 0 h 181"/>
                  <a:gd name="T16" fmla="*/ 5 w 10"/>
                  <a:gd name="T17" fmla="*/ 0 h 181"/>
                  <a:gd name="T18" fmla="*/ 5 w 10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81"/>
                  <a:gd name="T32" fmla="*/ 10 w 10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81">
                    <a:moveTo>
                      <a:pt x="5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9" y="180"/>
                    </a:lnTo>
                    <a:lnTo>
                      <a:pt x="9" y="8"/>
                    </a:lnTo>
                    <a:lnTo>
                      <a:pt x="5" y="0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0" name="Freeform 90">
                <a:extLst>
                  <a:ext uri="{FF2B5EF4-FFF2-40B4-BE49-F238E27FC236}">
                    <a16:creationId xmlns:a16="http://schemas.microsoft.com/office/drawing/2014/main" id="{6E70C621-0F7D-4752-9FC4-BE971CD53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543"/>
                <a:ext cx="173" cy="12"/>
              </a:xfrm>
              <a:custGeom>
                <a:avLst/>
                <a:gdLst>
                  <a:gd name="T0" fmla="*/ 14 w 173"/>
                  <a:gd name="T1" fmla="*/ 5 h 12"/>
                  <a:gd name="T2" fmla="*/ 7 w 173"/>
                  <a:gd name="T3" fmla="*/ 11 h 12"/>
                  <a:gd name="T4" fmla="*/ 172 w 173"/>
                  <a:gd name="T5" fmla="*/ 11 h 12"/>
                  <a:gd name="T6" fmla="*/ 172 w 173"/>
                  <a:gd name="T7" fmla="*/ 0 h 12"/>
                  <a:gd name="T8" fmla="*/ 7 w 173"/>
                  <a:gd name="T9" fmla="*/ 0 h 12"/>
                  <a:gd name="T10" fmla="*/ 0 w 173"/>
                  <a:gd name="T11" fmla="*/ 5 h 12"/>
                  <a:gd name="T12" fmla="*/ 7 w 173"/>
                  <a:gd name="T13" fmla="*/ 0 h 12"/>
                  <a:gd name="T14" fmla="*/ 0 w 173"/>
                  <a:gd name="T15" fmla="*/ 0 h 12"/>
                  <a:gd name="T16" fmla="*/ 0 w 173"/>
                  <a:gd name="T17" fmla="*/ 5 h 12"/>
                  <a:gd name="T18" fmla="*/ 14 w 173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3"/>
                  <a:gd name="T31" fmla="*/ 0 h 12"/>
                  <a:gd name="T32" fmla="*/ 173 w 173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3" h="12">
                    <a:moveTo>
                      <a:pt x="14" y="5"/>
                    </a:moveTo>
                    <a:lnTo>
                      <a:pt x="7" y="11"/>
                    </a:lnTo>
                    <a:lnTo>
                      <a:pt x="172" y="11"/>
                    </a:lnTo>
                    <a:lnTo>
                      <a:pt x="172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1" name="Freeform 91">
                <a:extLst>
                  <a:ext uri="{FF2B5EF4-FFF2-40B4-BE49-F238E27FC236}">
                    <a16:creationId xmlns:a16="http://schemas.microsoft.com/office/drawing/2014/main" id="{59F657D9-74D3-44C8-8BD5-57C33EF78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551"/>
                <a:ext cx="10" cy="173"/>
              </a:xfrm>
              <a:custGeom>
                <a:avLst/>
                <a:gdLst>
                  <a:gd name="T0" fmla="*/ 4 w 10"/>
                  <a:gd name="T1" fmla="*/ 163 h 173"/>
                  <a:gd name="T2" fmla="*/ 9 w 10"/>
                  <a:gd name="T3" fmla="*/ 172 h 173"/>
                  <a:gd name="T4" fmla="*/ 9 w 10"/>
                  <a:gd name="T5" fmla="*/ 0 h 173"/>
                  <a:gd name="T6" fmla="*/ 0 w 10"/>
                  <a:gd name="T7" fmla="*/ 0 h 173"/>
                  <a:gd name="T8" fmla="*/ 0 w 10"/>
                  <a:gd name="T9" fmla="*/ 172 h 173"/>
                  <a:gd name="T10" fmla="*/ 4 w 10"/>
                  <a:gd name="T11" fmla="*/ 172 h 173"/>
                  <a:gd name="T12" fmla="*/ 0 w 10"/>
                  <a:gd name="T13" fmla="*/ 172 h 173"/>
                  <a:gd name="T14" fmla="*/ 4 w 10"/>
                  <a:gd name="T15" fmla="*/ 172 h 173"/>
                  <a:gd name="T16" fmla="*/ 4 w 10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"/>
                  <a:gd name="T28" fmla="*/ 0 h 173"/>
                  <a:gd name="T29" fmla="*/ 10 w 10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" h="173">
                    <a:moveTo>
                      <a:pt x="4" y="163"/>
                    </a:moveTo>
                    <a:lnTo>
                      <a:pt x="9" y="172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2" name="Freeform 92">
                <a:extLst>
                  <a:ext uri="{FF2B5EF4-FFF2-40B4-BE49-F238E27FC236}">
                    <a16:creationId xmlns:a16="http://schemas.microsoft.com/office/drawing/2014/main" id="{0F471E2C-31DC-47F0-A8C4-2E2D3CCB9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720"/>
                <a:ext cx="173" cy="4"/>
              </a:xfrm>
              <a:custGeom>
                <a:avLst/>
                <a:gdLst>
                  <a:gd name="T0" fmla="*/ 158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58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58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58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3" name="Freeform 93">
                <a:extLst>
                  <a:ext uri="{FF2B5EF4-FFF2-40B4-BE49-F238E27FC236}">
                    <a16:creationId xmlns:a16="http://schemas.microsoft.com/office/drawing/2014/main" id="{70C1BD91-662C-48E8-BDC9-3D2D54C64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822"/>
                <a:ext cx="165" cy="173"/>
              </a:xfrm>
              <a:custGeom>
                <a:avLst/>
                <a:gdLst>
                  <a:gd name="T0" fmla="*/ 164 w 165"/>
                  <a:gd name="T1" fmla="*/ 172 h 173"/>
                  <a:gd name="T2" fmla="*/ 164 w 165"/>
                  <a:gd name="T3" fmla="*/ 0 h 173"/>
                  <a:gd name="T4" fmla="*/ 0 w 165"/>
                  <a:gd name="T5" fmla="*/ 0 h 173"/>
                  <a:gd name="T6" fmla="*/ 0 w 165"/>
                  <a:gd name="T7" fmla="*/ 172 h 173"/>
                  <a:gd name="T8" fmla="*/ 164 w 165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5"/>
                  <a:gd name="T16" fmla="*/ 0 h 173"/>
                  <a:gd name="T17" fmla="*/ 165 w 165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5" h="173">
                    <a:moveTo>
                      <a:pt x="164" y="172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4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4" name="Freeform 94">
                <a:extLst>
                  <a:ext uri="{FF2B5EF4-FFF2-40B4-BE49-F238E27FC236}">
                    <a16:creationId xmlns:a16="http://schemas.microsoft.com/office/drawing/2014/main" id="{A0D85269-3E7B-41C4-90AD-2A94B2644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8" y="2813"/>
                <a:ext cx="2" cy="182"/>
              </a:xfrm>
              <a:custGeom>
                <a:avLst/>
                <a:gdLst>
                  <a:gd name="T0" fmla="*/ 1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1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1 w 2"/>
                  <a:gd name="T17" fmla="*/ 16 h 1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82"/>
                  <a:gd name="T29" fmla="*/ 2 w 2"/>
                  <a:gd name="T30" fmla="*/ 182 h 1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82">
                    <a:moveTo>
                      <a:pt x="1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5" name="Freeform 95">
                <a:extLst>
                  <a:ext uri="{FF2B5EF4-FFF2-40B4-BE49-F238E27FC236}">
                    <a16:creationId xmlns:a16="http://schemas.microsoft.com/office/drawing/2014/main" id="{66D3372A-36B7-4399-BE29-FCF84A238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813"/>
                <a:ext cx="172" cy="12"/>
              </a:xfrm>
              <a:custGeom>
                <a:avLst/>
                <a:gdLst>
                  <a:gd name="T0" fmla="*/ 7 w 172"/>
                  <a:gd name="T1" fmla="*/ 6 h 12"/>
                  <a:gd name="T2" fmla="*/ 7 w 172"/>
                  <a:gd name="T3" fmla="*/ 11 h 12"/>
                  <a:gd name="T4" fmla="*/ 171 w 172"/>
                  <a:gd name="T5" fmla="*/ 11 h 12"/>
                  <a:gd name="T6" fmla="*/ 171 w 172"/>
                  <a:gd name="T7" fmla="*/ 0 h 12"/>
                  <a:gd name="T8" fmla="*/ 7 w 172"/>
                  <a:gd name="T9" fmla="*/ 0 h 12"/>
                  <a:gd name="T10" fmla="*/ 0 w 172"/>
                  <a:gd name="T11" fmla="*/ 6 h 12"/>
                  <a:gd name="T12" fmla="*/ 7 w 172"/>
                  <a:gd name="T13" fmla="*/ 0 h 12"/>
                  <a:gd name="T14" fmla="*/ 0 w 172"/>
                  <a:gd name="T15" fmla="*/ 0 h 12"/>
                  <a:gd name="T16" fmla="*/ 0 w 172"/>
                  <a:gd name="T17" fmla="*/ 6 h 12"/>
                  <a:gd name="T18" fmla="*/ 7 w 17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12"/>
                  <a:gd name="T32" fmla="*/ 172 w 17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12">
                    <a:moveTo>
                      <a:pt x="7" y="6"/>
                    </a:moveTo>
                    <a:lnTo>
                      <a:pt x="7" y="11"/>
                    </a:lnTo>
                    <a:lnTo>
                      <a:pt x="171" y="11"/>
                    </a:lnTo>
                    <a:lnTo>
                      <a:pt x="171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6" name="Freeform 96">
                <a:extLst>
                  <a:ext uri="{FF2B5EF4-FFF2-40B4-BE49-F238E27FC236}">
                    <a16:creationId xmlns:a16="http://schemas.microsoft.com/office/drawing/2014/main" id="{E3621389-6D22-4F79-A9C1-6AAE73647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7" name="Freeform 97">
                <a:extLst>
                  <a:ext uri="{FF2B5EF4-FFF2-40B4-BE49-F238E27FC236}">
                    <a16:creationId xmlns:a16="http://schemas.microsoft.com/office/drawing/2014/main" id="{0A8BBAC7-F229-4CC8-AEC5-D67D6B4BE4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991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64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64 w 165"/>
                  <a:gd name="T9" fmla="*/ 3 h 4"/>
                  <a:gd name="T10" fmla="*/ 157 w 165"/>
                  <a:gd name="T11" fmla="*/ 3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"/>
                  <a:gd name="T20" fmla="*/ 165 w 165"/>
                  <a:gd name="T21" fmla="*/ 4 h 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">
                    <a:moveTo>
                      <a:pt x="157" y="3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8" name="Freeform 98">
                <a:extLst>
                  <a:ext uri="{FF2B5EF4-FFF2-40B4-BE49-F238E27FC236}">
                    <a16:creationId xmlns:a16="http://schemas.microsoft.com/office/drawing/2014/main" id="{0FBE5691-298E-41D9-BD55-3A8AD50B0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822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89" name="Freeform 99">
                <a:extLst>
                  <a:ext uri="{FF2B5EF4-FFF2-40B4-BE49-F238E27FC236}">
                    <a16:creationId xmlns:a16="http://schemas.microsoft.com/office/drawing/2014/main" id="{34ECACEA-6E31-4F3F-BEEC-A3D23A329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2813"/>
                <a:ext cx="2" cy="182"/>
              </a:xfrm>
              <a:custGeom>
                <a:avLst/>
                <a:gdLst>
                  <a:gd name="T0" fmla="*/ 0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0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0 w 2"/>
                  <a:gd name="T17" fmla="*/ 0 h 182"/>
                  <a:gd name="T18" fmla="*/ 0 w 2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2"/>
                  <a:gd name="T32" fmla="*/ 2 w 2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0" name="Freeform 100">
                <a:extLst>
                  <a:ext uri="{FF2B5EF4-FFF2-40B4-BE49-F238E27FC236}">
                    <a16:creationId xmlns:a16="http://schemas.microsoft.com/office/drawing/2014/main" id="{76D0A56C-E754-4EEF-9FB7-BE0072041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813"/>
                <a:ext cx="165" cy="12"/>
              </a:xfrm>
              <a:custGeom>
                <a:avLst/>
                <a:gdLst>
                  <a:gd name="T0" fmla="*/ 7 w 165"/>
                  <a:gd name="T1" fmla="*/ 6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6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6 h 12"/>
                  <a:gd name="T18" fmla="*/ 7 w 165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6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1" name="Freeform 101">
                <a:extLst>
                  <a:ext uri="{FF2B5EF4-FFF2-40B4-BE49-F238E27FC236}">
                    <a16:creationId xmlns:a16="http://schemas.microsoft.com/office/drawing/2014/main" id="{65391EE8-7898-41AE-905D-8927B5894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2" name="Freeform 102">
                <a:extLst>
                  <a:ext uri="{FF2B5EF4-FFF2-40B4-BE49-F238E27FC236}">
                    <a16:creationId xmlns:a16="http://schemas.microsoft.com/office/drawing/2014/main" id="{1E1C3309-C671-4B23-9404-0D3D320F7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991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57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57 w 165"/>
                  <a:gd name="T9" fmla="*/ 3 h 4"/>
                  <a:gd name="T10" fmla="*/ 164 w 165"/>
                  <a:gd name="T11" fmla="*/ 3 h 4"/>
                  <a:gd name="T12" fmla="*/ 157 w 165"/>
                  <a:gd name="T13" fmla="*/ 3 h 4"/>
                  <a:gd name="T14" fmla="*/ 164 w 165"/>
                  <a:gd name="T15" fmla="*/ 3 h 4"/>
                  <a:gd name="T16" fmla="*/ 157 w 165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5"/>
                  <a:gd name="T28" fmla="*/ 0 h 4"/>
                  <a:gd name="T29" fmla="*/ 165 w 165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5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3" name="Freeform 103">
                <a:extLst>
                  <a:ext uri="{FF2B5EF4-FFF2-40B4-BE49-F238E27FC236}">
                    <a16:creationId xmlns:a16="http://schemas.microsoft.com/office/drawing/2014/main" id="{EA9E1FCF-777E-4F90-8CF7-D01FE1F23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822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4" name="Freeform 104">
                <a:extLst>
                  <a:ext uri="{FF2B5EF4-FFF2-40B4-BE49-F238E27FC236}">
                    <a16:creationId xmlns:a16="http://schemas.microsoft.com/office/drawing/2014/main" id="{44469B4D-21EB-4469-BBCB-E027622FD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2813"/>
                <a:ext cx="3" cy="182"/>
              </a:xfrm>
              <a:custGeom>
                <a:avLst/>
                <a:gdLst>
                  <a:gd name="T0" fmla="*/ 0 w 3"/>
                  <a:gd name="T1" fmla="*/ 16 h 182"/>
                  <a:gd name="T2" fmla="*/ 0 w 3"/>
                  <a:gd name="T3" fmla="*/ 9 h 182"/>
                  <a:gd name="T4" fmla="*/ 0 w 3"/>
                  <a:gd name="T5" fmla="*/ 181 h 182"/>
                  <a:gd name="T6" fmla="*/ 2 w 3"/>
                  <a:gd name="T7" fmla="*/ 181 h 182"/>
                  <a:gd name="T8" fmla="*/ 2 w 3"/>
                  <a:gd name="T9" fmla="*/ 9 h 182"/>
                  <a:gd name="T10" fmla="*/ 0 w 3"/>
                  <a:gd name="T11" fmla="*/ 0 h 182"/>
                  <a:gd name="T12" fmla="*/ 2 w 3"/>
                  <a:gd name="T13" fmla="*/ 9 h 182"/>
                  <a:gd name="T14" fmla="*/ 2 w 3"/>
                  <a:gd name="T15" fmla="*/ 0 h 182"/>
                  <a:gd name="T16" fmla="*/ 0 w 3"/>
                  <a:gd name="T17" fmla="*/ 0 h 182"/>
                  <a:gd name="T18" fmla="*/ 0 w 3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"/>
                  <a:gd name="T31" fmla="*/ 0 h 182"/>
                  <a:gd name="T32" fmla="*/ 3 w 3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2" y="181"/>
                    </a:lnTo>
                    <a:lnTo>
                      <a:pt x="2" y="9"/>
                    </a:lnTo>
                    <a:lnTo>
                      <a:pt x="0" y="0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5" name="Freeform 105">
                <a:extLst>
                  <a:ext uri="{FF2B5EF4-FFF2-40B4-BE49-F238E27FC236}">
                    <a16:creationId xmlns:a16="http://schemas.microsoft.com/office/drawing/2014/main" id="{0B357237-F8E9-4DCE-8D5B-C869A8218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813"/>
                <a:ext cx="165" cy="12"/>
              </a:xfrm>
              <a:custGeom>
                <a:avLst/>
                <a:gdLst>
                  <a:gd name="T0" fmla="*/ 7 w 165"/>
                  <a:gd name="T1" fmla="*/ 6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6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6 h 12"/>
                  <a:gd name="T18" fmla="*/ 7 w 165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6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6" name="Freeform 106">
                <a:extLst>
                  <a:ext uri="{FF2B5EF4-FFF2-40B4-BE49-F238E27FC236}">
                    <a16:creationId xmlns:a16="http://schemas.microsoft.com/office/drawing/2014/main" id="{85A06725-69F1-45FA-A4CA-1A063E01B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7" name="Freeform 107">
                <a:extLst>
                  <a:ext uri="{FF2B5EF4-FFF2-40B4-BE49-F238E27FC236}">
                    <a16:creationId xmlns:a16="http://schemas.microsoft.com/office/drawing/2014/main" id="{321606A4-CC35-42BE-BA41-57949F40E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991"/>
                <a:ext cx="166" cy="4"/>
              </a:xfrm>
              <a:custGeom>
                <a:avLst/>
                <a:gdLst>
                  <a:gd name="T0" fmla="*/ 157 w 166"/>
                  <a:gd name="T1" fmla="*/ 3 h 4"/>
                  <a:gd name="T2" fmla="*/ 157 w 166"/>
                  <a:gd name="T3" fmla="*/ 0 h 4"/>
                  <a:gd name="T4" fmla="*/ 0 w 166"/>
                  <a:gd name="T5" fmla="*/ 0 h 4"/>
                  <a:gd name="T6" fmla="*/ 0 w 166"/>
                  <a:gd name="T7" fmla="*/ 3 h 4"/>
                  <a:gd name="T8" fmla="*/ 157 w 166"/>
                  <a:gd name="T9" fmla="*/ 3 h 4"/>
                  <a:gd name="T10" fmla="*/ 165 w 166"/>
                  <a:gd name="T11" fmla="*/ 3 h 4"/>
                  <a:gd name="T12" fmla="*/ 157 w 166"/>
                  <a:gd name="T13" fmla="*/ 3 h 4"/>
                  <a:gd name="T14" fmla="*/ 165 w 166"/>
                  <a:gd name="T15" fmla="*/ 3 h 4"/>
                  <a:gd name="T16" fmla="*/ 157 w 166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4"/>
                  <a:gd name="T29" fmla="*/ 166 w 166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8" name="Freeform 108">
                <a:extLst>
                  <a:ext uri="{FF2B5EF4-FFF2-40B4-BE49-F238E27FC236}">
                    <a16:creationId xmlns:a16="http://schemas.microsoft.com/office/drawing/2014/main" id="{DE02EEC3-C956-4634-9D33-A035A35C6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22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399" name="Freeform 109">
                <a:extLst>
                  <a:ext uri="{FF2B5EF4-FFF2-40B4-BE49-F238E27FC236}">
                    <a16:creationId xmlns:a16="http://schemas.microsoft.com/office/drawing/2014/main" id="{AC7C14D8-480E-4B5D-B934-9CB406797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813"/>
                <a:ext cx="2" cy="182"/>
              </a:xfrm>
              <a:custGeom>
                <a:avLst/>
                <a:gdLst>
                  <a:gd name="T0" fmla="*/ 0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0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0 w 2"/>
                  <a:gd name="T17" fmla="*/ 0 h 182"/>
                  <a:gd name="T18" fmla="*/ 0 w 2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2"/>
                  <a:gd name="T32" fmla="*/ 2 w 2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0" name="Freeform 110">
                <a:extLst>
                  <a:ext uri="{FF2B5EF4-FFF2-40B4-BE49-F238E27FC236}">
                    <a16:creationId xmlns:a16="http://schemas.microsoft.com/office/drawing/2014/main" id="{2CFCFD4F-8735-44A9-9BC2-F05C19A9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13"/>
                <a:ext cx="166" cy="12"/>
              </a:xfrm>
              <a:custGeom>
                <a:avLst/>
                <a:gdLst>
                  <a:gd name="T0" fmla="*/ 7 w 166"/>
                  <a:gd name="T1" fmla="*/ 6 h 12"/>
                  <a:gd name="T2" fmla="*/ 0 w 166"/>
                  <a:gd name="T3" fmla="*/ 11 h 12"/>
                  <a:gd name="T4" fmla="*/ 165 w 166"/>
                  <a:gd name="T5" fmla="*/ 11 h 12"/>
                  <a:gd name="T6" fmla="*/ 165 w 166"/>
                  <a:gd name="T7" fmla="*/ 0 h 12"/>
                  <a:gd name="T8" fmla="*/ 0 w 166"/>
                  <a:gd name="T9" fmla="*/ 0 h 12"/>
                  <a:gd name="T10" fmla="*/ 0 w 166"/>
                  <a:gd name="T11" fmla="*/ 6 h 12"/>
                  <a:gd name="T12" fmla="*/ 0 w 166"/>
                  <a:gd name="T13" fmla="*/ 0 h 12"/>
                  <a:gd name="T14" fmla="*/ 0 w 166"/>
                  <a:gd name="T15" fmla="*/ 6 h 12"/>
                  <a:gd name="T16" fmla="*/ 7 w 166"/>
                  <a:gd name="T17" fmla="*/ 6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12"/>
                  <a:gd name="T29" fmla="*/ 166 w 166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12">
                    <a:moveTo>
                      <a:pt x="7" y="6"/>
                    </a:moveTo>
                    <a:lnTo>
                      <a:pt x="0" y="11"/>
                    </a:lnTo>
                    <a:lnTo>
                      <a:pt x="165" y="11"/>
                    </a:lnTo>
                    <a:lnTo>
                      <a:pt x="165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1" name="Freeform 111">
                <a:extLst>
                  <a:ext uri="{FF2B5EF4-FFF2-40B4-BE49-F238E27FC236}">
                    <a16:creationId xmlns:a16="http://schemas.microsoft.com/office/drawing/2014/main" id="{A4D572D0-200F-4F03-94D2-83FE6381F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22"/>
                <a:ext cx="2" cy="173"/>
              </a:xfrm>
              <a:custGeom>
                <a:avLst/>
                <a:gdLst>
                  <a:gd name="T0" fmla="*/ 0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0 w 2"/>
                  <a:gd name="T11" fmla="*/ 163 h 1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173"/>
                  <a:gd name="T20" fmla="*/ 2 w 2"/>
                  <a:gd name="T21" fmla="*/ 173 h 17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173">
                    <a:moveTo>
                      <a:pt x="0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0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2" name="Freeform 112">
                <a:extLst>
                  <a:ext uri="{FF2B5EF4-FFF2-40B4-BE49-F238E27FC236}">
                    <a16:creationId xmlns:a16="http://schemas.microsoft.com/office/drawing/2014/main" id="{3B4DE433-AEB4-4657-8BF6-D7C5196F2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991"/>
                <a:ext cx="173" cy="4"/>
              </a:xfrm>
              <a:custGeom>
                <a:avLst/>
                <a:gdLst>
                  <a:gd name="T0" fmla="*/ 165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65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65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3" name="Freeform 113">
                <a:extLst>
                  <a:ext uri="{FF2B5EF4-FFF2-40B4-BE49-F238E27FC236}">
                    <a16:creationId xmlns:a16="http://schemas.microsoft.com/office/drawing/2014/main" id="{3D200B0E-2883-49F4-B76A-99C1285EC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822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4" name="Freeform 114">
                <a:extLst>
                  <a:ext uri="{FF2B5EF4-FFF2-40B4-BE49-F238E27FC236}">
                    <a16:creationId xmlns:a16="http://schemas.microsoft.com/office/drawing/2014/main" id="{3954A174-1227-413B-96D0-51CAA98FB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813"/>
                <a:ext cx="10" cy="182"/>
              </a:xfrm>
              <a:custGeom>
                <a:avLst/>
                <a:gdLst>
                  <a:gd name="T0" fmla="*/ 5 w 10"/>
                  <a:gd name="T1" fmla="*/ 16 h 182"/>
                  <a:gd name="T2" fmla="*/ 0 w 10"/>
                  <a:gd name="T3" fmla="*/ 9 h 182"/>
                  <a:gd name="T4" fmla="*/ 0 w 10"/>
                  <a:gd name="T5" fmla="*/ 181 h 182"/>
                  <a:gd name="T6" fmla="*/ 9 w 10"/>
                  <a:gd name="T7" fmla="*/ 181 h 182"/>
                  <a:gd name="T8" fmla="*/ 9 w 10"/>
                  <a:gd name="T9" fmla="*/ 9 h 182"/>
                  <a:gd name="T10" fmla="*/ 5 w 10"/>
                  <a:gd name="T11" fmla="*/ 0 h 182"/>
                  <a:gd name="T12" fmla="*/ 9 w 10"/>
                  <a:gd name="T13" fmla="*/ 9 h 182"/>
                  <a:gd name="T14" fmla="*/ 9 w 10"/>
                  <a:gd name="T15" fmla="*/ 0 h 182"/>
                  <a:gd name="T16" fmla="*/ 5 w 10"/>
                  <a:gd name="T17" fmla="*/ 0 h 182"/>
                  <a:gd name="T18" fmla="*/ 5 w 10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82"/>
                  <a:gd name="T32" fmla="*/ 10 w 10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82">
                    <a:moveTo>
                      <a:pt x="5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9" y="181"/>
                    </a:lnTo>
                    <a:lnTo>
                      <a:pt x="9" y="9"/>
                    </a:lnTo>
                    <a:lnTo>
                      <a:pt x="5" y="0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5" name="Freeform 115">
                <a:extLst>
                  <a:ext uri="{FF2B5EF4-FFF2-40B4-BE49-F238E27FC236}">
                    <a16:creationId xmlns:a16="http://schemas.microsoft.com/office/drawing/2014/main" id="{5448007D-D2E7-47E0-9866-30D9E8DFF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813"/>
                <a:ext cx="173" cy="12"/>
              </a:xfrm>
              <a:custGeom>
                <a:avLst/>
                <a:gdLst>
                  <a:gd name="T0" fmla="*/ 14 w 173"/>
                  <a:gd name="T1" fmla="*/ 6 h 12"/>
                  <a:gd name="T2" fmla="*/ 7 w 173"/>
                  <a:gd name="T3" fmla="*/ 11 h 12"/>
                  <a:gd name="T4" fmla="*/ 172 w 173"/>
                  <a:gd name="T5" fmla="*/ 11 h 12"/>
                  <a:gd name="T6" fmla="*/ 172 w 173"/>
                  <a:gd name="T7" fmla="*/ 0 h 12"/>
                  <a:gd name="T8" fmla="*/ 7 w 173"/>
                  <a:gd name="T9" fmla="*/ 0 h 12"/>
                  <a:gd name="T10" fmla="*/ 0 w 173"/>
                  <a:gd name="T11" fmla="*/ 6 h 12"/>
                  <a:gd name="T12" fmla="*/ 7 w 173"/>
                  <a:gd name="T13" fmla="*/ 0 h 12"/>
                  <a:gd name="T14" fmla="*/ 0 w 173"/>
                  <a:gd name="T15" fmla="*/ 0 h 12"/>
                  <a:gd name="T16" fmla="*/ 0 w 173"/>
                  <a:gd name="T17" fmla="*/ 6 h 12"/>
                  <a:gd name="T18" fmla="*/ 14 w 173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3"/>
                  <a:gd name="T31" fmla="*/ 0 h 12"/>
                  <a:gd name="T32" fmla="*/ 173 w 173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3" h="12">
                    <a:moveTo>
                      <a:pt x="14" y="6"/>
                    </a:moveTo>
                    <a:lnTo>
                      <a:pt x="7" y="11"/>
                    </a:lnTo>
                    <a:lnTo>
                      <a:pt x="172" y="11"/>
                    </a:lnTo>
                    <a:lnTo>
                      <a:pt x="172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6" name="Freeform 116">
                <a:extLst>
                  <a:ext uri="{FF2B5EF4-FFF2-40B4-BE49-F238E27FC236}">
                    <a16:creationId xmlns:a16="http://schemas.microsoft.com/office/drawing/2014/main" id="{E6A99B65-31C5-4386-89C1-12CE6BAA4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822"/>
                <a:ext cx="10" cy="173"/>
              </a:xfrm>
              <a:custGeom>
                <a:avLst/>
                <a:gdLst>
                  <a:gd name="T0" fmla="*/ 4 w 10"/>
                  <a:gd name="T1" fmla="*/ 163 h 173"/>
                  <a:gd name="T2" fmla="*/ 9 w 10"/>
                  <a:gd name="T3" fmla="*/ 172 h 173"/>
                  <a:gd name="T4" fmla="*/ 9 w 10"/>
                  <a:gd name="T5" fmla="*/ 0 h 173"/>
                  <a:gd name="T6" fmla="*/ 0 w 10"/>
                  <a:gd name="T7" fmla="*/ 0 h 173"/>
                  <a:gd name="T8" fmla="*/ 0 w 10"/>
                  <a:gd name="T9" fmla="*/ 172 h 173"/>
                  <a:gd name="T10" fmla="*/ 4 w 10"/>
                  <a:gd name="T11" fmla="*/ 172 h 173"/>
                  <a:gd name="T12" fmla="*/ 0 w 10"/>
                  <a:gd name="T13" fmla="*/ 172 h 173"/>
                  <a:gd name="T14" fmla="*/ 4 w 10"/>
                  <a:gd name="T15" fmla="*/ 172 h 173"/>
                  <a:gd name="T16" fmla="*/ 4 w 10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"/>
                  <a:gd name="T28" fmla="*/ 0 h 173"/>
                  <a:gd name="T29" fmla="*/ 10 w 10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" h="173">
                    <a:moveTo>
                      <a:pt x="4" y="163"/>
                    </a:moveTo>
                    <a:lnTo>
                      <a:pt x="9" y="172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7" name="Freeform 117">
                <a:extLst>
                  <a:ext uri="{FF2B5EF4-FFF2-40B4-BE49-F238E27FC236}">
                    <a16:creationId xmlns:a16="http://schemas.microsoft.com/office/drawing/2014/main" id="{EA170391-8281-461E-A6B2-2D64360A5F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991"/>
                <a:ext cx="173" cy="4"/>
              </a:xfrm>
              <a:custGeom>
                <a:avLst/>
                <a:gdLst>
                  <a:gd name="T0" fmla="*/ 158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58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58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58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8" name="Freeform 118">
                <a:extLst>
                  <a:ext uri="{FF2B5EF4-FFF2-40B4-BE49-F238E27FC236}">
                    <a16:creationId xmlns:a16="http://schemas.microsoft.com/office/drawing/2014/main" id="{A88CF4EB-F54F-4A3A-9700-331A3BE5D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3135"/>
                <a:ext cx="293" cy="164"/>
              </a:xfrm>
              <a:custGeom>
                <a:avLst/>
                <a:gdLst>
                  <a:gd name="T0" fmla="*/ 292 w 293"/>
                  <a:gd name="T1" fmla="*/ 163 h 164"/>
                  <a:gd name="T2" fmla="*/ 292 w 293"/>
                  <a:gd name="T3" fmla="*/ 0 h 164"/>
                  <a:gd name="T4" fmla="*/ 0 w 293"/>
                  <a:gd name="T5" fmla="*/ 0 h 164"/>
                  <a:gd name="T6" fmla="*/ 0 w 293"/>
                  <a:gd name="T7" fmla="*/ 163 h 164"/>
                  <a:gd name="T8" fmla="*/ 292 w 293"/>
                  <a:gd name="T9" fmla="*/ 163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3"/>
                  <a:gd name="T16" fmla="*/ 0 h 164"/>
                  <a:gd name="T17" fmla="*/ 293 w 293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3" h="164">
                    <a:moveTo>
                      <a:pt x="292" y="163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292" y="163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09" name="Freeform 119">
                <a:extLst>
                  <a:ext uri="{FF2B5EF4-FFF2-40B4-BE49-F238E27FC236}">
                    <a16:creationId xmlns:a16="http://schemas.microsoft.com/office/drawing/2014/main" id="{D8CA1C5D-AD2A-4475-9A18-90E47FCCD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3126"/>
                <a:ext cx="10" cy="173"/>
              </a:xfrm>
              <a:custGeom>
                <a:avLst/>
                <a:gdLst>
                  <a:gd name="T0" fmla="*/ 5 w 10"/>
                  <a:gd name="T1" fmla="*/ 16 h 173"/>
                  <a:gd name="T2" fmla="*/ 0 w 10"/>
                  <a:gd name="T3" fmla="*/ 9 h 173"/>
                  <a:gd name="T4" fmla="*/ 0 w 10"/>
                  <a:gd name="T5" fmla="*/ 172 h 173"/>
                  <a:gd name="T6" fmla="*/ 9 w 10"/>
                  <a:gd name="T7" fmla="*/ 172 h 173"/>
                  <a:gd name="T8" fmla="*/ 9 w 10"/>
                  <a:gd name="T9" fmla="*/ 9 h 173"/>
                  <a:gd name="T10" fmla="*/ 5 w 10"/>
                  <a:gd name="T11" fmla="*/ 0 h 173"/>
                  <a:gd name="T12" fmla="*/ 9 w 10"/>
                  <a:gd name="T13" fmla="*/ 9 h 173"/>
                  <a:gd name="T14" fmla="*/ 9 w 10"/>
                  <a:gd name="T15" fmla="*/ 0 h 173"/>
                  <a:gd name="T16" fmla="*/ 5 w 10"/>
                  <a:gd name="T17" fmla="*/ 0 h 173"/>
                  <a:gd name="T18" fmla="*/ 5 w 10"/>
                  <a:gd name="T19" fmla="*/ 1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73"/>
                  <a:gd name="T32" fmla="*/ 10 w 10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73">
                    <a:moveTo>
                      <a:pt x="5" y="16"/>
                    </a:moveTo>
                    <a:lnTo>
                      <a:pt x="0" y="9"/>
                    </a:lnTo>
                    <a:lnTo>
                      <a:pt x="0" y="172"/>
                    </a:lnTo>
                    <a:lnTo>
                      <a:pt x="9" y="172"/>
                    </a:lnTo>
                    <a:lnTo>
                      <a:pt x="9" y="9"/>
                    </a:lnTo>
                    <a:lnTo>
                      <a:pt x="5" y="0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0" name="Freeform 120">
                <a:extLst>
                  <a:ext uri="{FF2B5EF4-FFF2-40B4-BE49-F238E27FC236}">
                    <a16:creationId xmlns:a16="http://schemas.microsoft.com/office/drawing/2014/main" id="{9124C926-E3DF-46D4-914F-60D12DA28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3126"/>
                <a:ext cx="300" cy="12"/>
              </a:xfrm>
              <a:custGeom>
                <a:avLst/>
                <a:gdLst>
                  <a:gd name="T0" fmla="*/ 14 w 300"/>
                  <a:gd name="T1" fmla="*/ 6 h 12"/>
                  <a:gd name="T2" fmla="*/ 7 w 300"/>
                  <a:gd name="T3" fmla="*/ 11 h 12"/>
                  <a:gd name="T4" fmla="*/ 299 w 300"/>
                  <a:gd name="T5" fmla="*/ 11 h 12"/>
                  <a:gd name="T6" fmla="*/ 299 w 300"/>
                  <a:gd name="T7" fmla="*/ 0 h 12"/>
                  <a:gd name="T8" fmla="*/ 7 w 300"/>
                  <a:gd name="T9" fmla="*/ 0 h 12"/>
                  <a:gd name="T10" fmla="*/ 0 w 300"/>
                  <a:gd name="T11" fmla="*/ 6 h 12"/>
                  <a:gd name="T12" fmla="*/ 7 w 300"/>
                  <a:gd name="T13" fmla="*/ 0 h 12"/>
                  <a:gd name="T14" fmla="*/ 0 w 300"/>
                  <a:gd name="T15" fmla="*/ 0 h 12"/>
                  <a:gd name="T16" fmla="*/ 0 w 300"/>
                  <a:gd name="T17" fmla="*/ 6 h 12"/>
                  <a:gd name="T18" fmla="*/ 14 w 30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0"/>
                  <a:gd name="T31" fmla="*/ 0 h 12"/>
                  <a:gd name="T32" fmla="*/ 300 w 30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0" h="12">
                    <a:moveTo>
                      <a:pt x="14" y="6"/>
                    </a:moveTo>
                    <a:lnTo>
                      <a:pt x="7" y="11"/>
                    </a:lnTo>
                    <a:lnTo>
                      <a:pt x="299" y="11"/>
                    </a:lnTo>
                    <a:lnTo>
                      <a:pt x="299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1" name="Freeform 121">
                <a:extLst>
                  <a:ext uri="{FF2B5EF4-FFF2-40B4-BE49-F238E27FC236}">
                    <a16:creationId xmlns:a16="http://schemas.microsoft.com/office/drawing/2014/main" id="{B6DD53EA-4A3C-4B44-A3EF-7869BD40F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3135"/>
                <a:ext cx="9" cy="173"/>
              </a:xfrm>
              <a:custGeom>
                <a:avLst/>
                <a:gdLst>
                  <a:gd name="T0" fmla="*/ 4 w 9"/>
                  <a:gd name="T1" fmla="*/ 156 h 173"/>
                  <a:gd name="T2" fmla="*/ 8 w 9"/>
                  <a:gd name="T3" fmla="*/ 163 h 173"/>
                  <a:gd name="T4" fmla="*/ 8 w 9"/>
                  <a:gd name="T5" fmla="*/ 0 h 173"/>
                  <a:gd name="T6" fmla="*/ 0 w 9"/>
                  <a:gd name="T7" fmla="*/ 0 h 173"/>
                  <a:gd name="T8" fmla="*/ 0 w 9"/>
                  <a:gd name="T9" fmla="*/ 163 h 173"/>
                  <a:gd name="T10" fmla="*/ 4 w 9"/>
                  <a:gd name="T11" fmla="*/ 172 h 173"/>
                  <a:gd name="T12" fmla="*/ 0 w 9"/>
                  <a:gd name="T13" fmla="*/ 163 h 173"/>
                  <a:gd name="T14" fmla="*/ 0 w 9"/>
                  <a:gd name="T15" fmla="*/ 172 h 173"/>
                  <a:gd name="T16" fmla="*/ 4 w 9"/>
                  <a:gd name="T17" fmla="*/ 172 h 173"/>
                  <a:gd name="T18" fmla="*/ 4 w 9"/>
                  <a:gd name="T19" fmla="*/ 15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173"/>
                  <a:gd name="T32" fmla="*/ 9 w 9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173">
                    <a:moveTo>
                      <a:pt x="4" y="156"/>
                    </a:moveTo>
                    <a:lnTo>
                      <a:pt x="8" y="16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4" y="172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5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2" name="Freeform 122">
                <a:extLst>
                  <a:ext uri="{FF2B5EF4-FFF2-40B4-BE49-F238E27FC236}">
                    <a16:creationId xmlns:a16="http://schemas.microsoft.com/office/drawing/2014/main" id="{934058E6-CB41-450B-ACFA-59C76F325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3296"/>
                <a:ext cx="300" cy="12"/>
              </a:xfrm>
              <a:custGeom>
                <a:avLst/>
                <a:gdLst>
                  <a:gd name="T0" fmla="*/ 284 w 300"/>
                  <a:gd name="T1" fmla="*/ 5 h 12"/>
                  <a:gd name="T2" fmla="*/ 292 w 300"/>
                  <a:gd name="T3" fmla="*/ 0 h 12"/>
                  <a:gd name="T4" fmla="*/ 0 w 300"/>
                  <a:gd name="T5" fmla="*/ 0 h 12"/>
                  <a:gd name="T6" fmla="*/ 0 w 300"/>
                  <a:gd name="T7" fmla="*/ 11 h 12"/>
                  <a:gd name="T8" fmla="*/ 292 w 300"/>
                  <a:gd name="T9" fmla="*/ 11 h 12"/>
                  <a:gd name="T10" fmla="*/ 299 w 300"/>
                  <a:gd name="T11" fmla="*/ 5 h 12"/>
                  <a:gd name="T12" fmla="*/ 292 w 300"/>
                  <a:gd name="T13" fmla="*/ 11 h 12"/>
                  <a:gd name="T14" fmla="*/ 299 w 300"/>
                  <a:gd name="T15" fmla="*/ 11 h 12"/>
                  <a:gd name="T16" fmla="*/ 299 w 300"/>
                  <a:gd name="T17" fmla="*/ 5 h 12"/>
                  <a:gd name="T18" fmla="*/ 284 w 300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0"/>
                  <a:gd name="T31" fmla="*/ 0 h 12"/>
                  <a:gd name="T32" fmla="*/ 300 w 30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0" h="12">
                    <a:moveTo>
                      <a:pt x="284" y="5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292" y="11"/>
                    </a:lnTo>
                    <a:lnTo>
                      <a:pt x="299" y="5"/>
                    </a:lnTo>
                    <a:lnTo>
                      <a:pt x="292" y="11"/>
                    </a:lnTo>
                    <a:lnTo>
                      <a:pt x="299" y="11"/>
                    </a:lnTo>
                    <a:lnTo>
                      <a:pt x="299" y="5"/>
                    </a:lnTo>
                    <a:lnTo>
                      <a:pt x="28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3" name="Freeform 123">
                <a:extLst>
                  <a:ext uri="{FF2B5EF4-FFF2-40B4-BE49-F238E27FC236}">
                    <a16:creationId xmlns:a16="http://schemas.microsoft.com/office/drawing/2014/main" id="{9B640AD1-AA1F-4FE5-88D4-75267E8A1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35"/>
                <a:ext cx="299" cy="164"/>
              </a:xfrm>
              <a:custGeom>
                <a:avLst/>
                <a:gdLst>
                  <a:gd name="T0" fmla="*/ 298 w 299"/>
                  <a:gd name="T1" fmla="*/ 163 h 164"/>
                  <a:gd name="T2" fmla="*/ 298 w 299"/>
                  <a:gd name="T3" fmla="*/ 0 h 164"/>
                  <a:gd name="T4" fmla="*/ 0 w 299"/>
                  <a:gd name="T5" fmla="*/ 0 h 164"/>
                  <a:gd name="T6" fmla="*/ 0 w 299"/>
                  <a:gd name="T7" fmla="*/ 163 h 164"/>
                  <a:gd name="T8" fmla="*/ 298 w 299"/>
                  <a:gd name="T9" fmla="*/ 163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9"/>
                  <a:gd name="T16" fmla="*/ 0 h 164"/>
                  <a:gd name="T17" fmla="*/ 299 w 29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9" h="164">
                    <a:moveTo>
                      <a:pt x="298" y="163"/>
                    </a:moveTo>
                    <a:lnTo>
                      <a:pt x="298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298" y="163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4" name="Freeform 124">
                <a:extLst>
                  <a:ext uri="{FF2B5EF4-FFF2-40B4-BE49-F238E27FC236}">
                    <a16:creationId xmlns:a16="http://schemas.microsoft.com/office/drawing/2014/main" id="{D58E39F0-ABF9-49B3-B649-A8FA998145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3126"/>
                <a:ext cx="9" cy="173"/>
              </a:xfrm>
              <a:custGeom>
                <a:avLst/>
                <a:gdLst>
                  <a:gd name="T0" fmla="*/ 4 w 9"/>
                  <a:gd name="T1" fmla="*/ 16 h 173"/>
                  <a:gd name="T2" fmla="*/ 0 w 9"/>
                  <a:gd name="T3" fmla="*/ 9 h 173"/>
                  <a:gd name="T4" fmla="*/ 0 w 9"/>
                  <a:gd name="T5" fmla="*/ 172 h 173"/>
                  <a:gd name="T6" fmla="*/ 8 w 9"/>
                  <a:gd name="T7" fmla="*/ 172 h 173"/>
                  <a:gd name="T8" fmla="*/ 8 w 9"/>
                  <a:gd name="T9" fmla="*/ 9 h 173"/>
                  <a:gd name="T10" fmla="*/ 4 w 9"/>
                  <a:gd name="T11" fmla="*/ 0 h 173"/>
                  <a:gd name="T12" fmla="*/ 8 w 9"/>
                  <a:gd name="T13" fmla="*/ 9 h 173"/>
                  <a:gd name="T14" fmla="*/ 8 w 9"/>
                  <a:gd name="T15" fmla="*/ 0 h 173"/>
                  <a:gd name="T16" fmla="*/ 4 w 9"/>
                  <a:gd name="T17" fmla="*/ 0 h 173"/>
                  <a:gd name="T18" fmla="*/ 4 w 9"/>
                  <a:gd name="T19" fmla="*/ 1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173"/>
                  <a:gd name="T32" fmla="*/ 9 w 9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173">
                    <a:moveTo>
                      <a:pt x="4" y="16"/>
                    </a:moveTo>
                    <a:lnTo>
                      <a:pt x="0" y="9"/>
                    </a:lnTo>
                    <a:lnTo>
                      <a:pt x="0" y="172"/>
                    </a:lnTo>
                    <a:lnTo>
                      <a:pt x="8" y="172"/>
                    </a:lnTo>
                    <a:lnTo>
                      <a:pt x="8" y="9"/>
                    </a:lnTo>
                    <a:lnTo>
                      <a:pt x="4" y="0"/>
                    </a:lnTo>
                    <a:lnTo>
                      <a:pt x="8" y="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5" name="Freeform 125">
                <a:extLst>
                  <a:ext uri="{FF2B5EF4-FFF2-40B4-BE49-F238E27FC236}">
                    <a16:creationId xmlns:a16="http://schemas.microsoft.com/office/drawing/2014/main" id="{C5944CFB-BEA5-4A2A-B3C5-7AD549495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26"/>
                <a:ext cx="299" cy="12"/>
              </a:xfrm>
              <a:custGeom>
                <a:avLst/>
                <a:gdLst>
                  <a:gd name="T0" fmla="*/ 7 w 299"/>
                  <a:gd name="T1" fmla="*/ 6 h 12"/>
                  <a:gd name="T2" fmla="*/ 0 w 299"/>
                  <a:gd name="T3" fmla="*/ 11 h 12"/>
                  <a:gd name="T4" fmla="*/ 298 w 299"/>
                  <a:gd name="T5" fmla="*/ 11 h 12"/>
                  <a:gd name="T6" fmla="*/ 298 w 299"/>
                  <a:gd name="T7" fmla="*/ 0 h 12"/>
                  <a:gd name="T8" fmla="*/ 0 w 299"/>
                  <a:gd name="T9" fmla="*/ 0 h 12"/>
                  <a:gd name="T10" fmla="*/ 0 w 299"/>
                  <a:gd name="T11" fmla="*/ 6 h 12"/>
                  <a:gd name="T12" fmla="*/ 0 w 299"/>
                  <a:gd name="T13" fmla="*/ 0 h 12"/>
                  <a:gd name="T14" fmla="*/ 0 w 299"/>
                  <a:gd name="T15" fmla="*/ 6 h 12"/>
                  <a:gd name="T16" fmla="*/ 7 w 299"/>
                  <a:gd name="T17" fmla="*/ 6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9"/>
                  <a:gd name="T28" fmla="*/ 0 h 12"/>
                  <a:gd name="T29" fmla="*/ 299 w 299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9" h="12">
                    <a:moveTo>
                      <a:pt x="7" y="6"/>
                    </a:moveTo>
                    <a:lnTo>
                      <a:pt x="0" y="11"/>
                    </a:lnTo>
                    <a:lnTo>
                      <a:pt x="298" y="11"/>
                    </a:lnTo>
                    <a:lnTo>
                      <a:pt x="298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6" name="Freeform 126">
                <a:extLst>
                  <a:ext uri="{FF2B5EF4-FFF2-40B4-BE49-F238E27FC236}">
                    <a16:creationId xmlns:a16="http://schemas.microsoft.com/office/drawing/2014/main" id="{BDFC58D1-0EAD-46D0-8683-5EE1796DE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35"/>
                <a:ext cx="2" cy="173"/>
              </a:xfrm>
              <a:custGeom>
                <a:avLst/>
                <a:gdLst>
                  <a:gd name="T0" fmla="*/ 0 w 2"/>
                  <a:gd name="T1" fmla="*/ 156 h 173"/>
                  <a:gd name="T2" fmla="*/ 1 w 2"/>
                  <a:gd name="T3" fmla="*/ 163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63 h 173"/>
                  <a:gd name="T10" fmla="*/ 0 w 2"/>
                  <a:gd name="T11" fmla="*/ 172 h 173"/>
                  <a:gd name="T12" fmla="*/ 0 w 2"/>
                  <a:gd name="T13" fmla="*/ 163 h 173"/>
                  <a:gd name="T14" fmla="*/ 0 w 2"/>
                  <a:gd name="T15" fmla="*/ 172 h 173"/>
                  <a:gd name="T16" fmla="*/ 0 w 2"/>
                  <a:gd name="T17" fmla="*/ 156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0" y="156"/>
                    </a:moveTo>
                    <a:lnTo>
                      <a:pt x="1" y="16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0" y="15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7" name="Freeform 127">
                <a:extLst>
                  <a:ext uri="{FF2B5EF4-FFF2-40B4-BE49-F238E27FC236}">
                    <a16:creationId xmlns:a16="http://schemas.microsoft.com/office/drawing/2014/main" id="{0DCCD56C-36E1-4F6A-9413-47B79E4BA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296"/>
                <a:ext cx="306" cy="12"/>
              </a:xfrm>
              <a:custGeom>
                <a:avLst/>
                <a:gdLst>
                  <a:gd name="T0" fmla="*/ 291 w 306"/>
                  <a:gd name="T1" fmla="*/ 5 h 12"/>
                  <a:gd name="T2" fmla="*/ 298 w 306"/>
                  <a:gd name="T3" fmla="*/ 0 h 12"/>
                  <a:gd name="T4" fmla="*/ 0 w 306"/>
                  <a:gd name="T5" fmla="*/ 0 h 12"/>
                  <a:gd name="T6" fmla="*/ 0 w 306"/>
                  <a:gd name="T7" fmla="*/ 11 h 12"/>
                  <a:gd name="T8" fmla="*/ 298 w 306"/>
                  <a:gd name="T9" fmla="*/ 11 h 12"/>
                  <a:gd name="T10" fmla="*/ 305 w 306"/>
                  <a:gd name="T11" fmla="*/ 5 h 12"/>
                  <a:gd name="T12" fmla="*/ 298 w 306"/>
                  <a:gd name="T13" fmla="*/ 11 h 12"/>
                  <a:gd name="T14" fmla="*/ 305 w 306"/>
                  <a:gd name="T15" fmla="*/ 11 h 12"/>
                  <a:gd name="T16" fmla="*/ 305 w 306"/>
                  <a:gd name="T17" fmla="*/ 5 h 12"/>
                  <a:gd name="T18" fmla="*/ 291 w 306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6"/>
                  <a:gd name="T31" fmla="*/ 0 h 12"/>
                  <a:gd name="T32" fmla="*/ 306 w 306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6" h="12">
                    <a:moveTo>
                      <a:pt x="291" y="5"/>
                    </a:moveTo>
                    <a:lnTo>
                      <a:pt x="298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298" y="11"/>
                    </a:lnTo>
                    <a:lnTo>
                      <a:pt x="305" y="5"/>
                    </a:lnTo>
                    <a:lnTo>
                      <a:pt x="298" y="11"/>
                    </a:lnTo>
                    <a:lnTo>
                      <a:pt x="305" y="11"/>
                    </a:lnTo>
                    <a:lnTo>
                      <a:pt x="305" y="5"/>
                    </a:lnTo>
                    <a:lnTo>
                      <a:pt x="291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8" name="Freeform 128">
                <a:extLst>
                  <a:ext uri="{FF2B5EF4-FFF2-40B4-BE49-F238E27FC236}">
                    <a16:creationId xmlns:a16="http://schemas.microsoft.com/office/drawing/2014/main" id="{3BFCD42C-EF11-45CD-910F-8E98810945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3380"/>
                <a:ext cx="1569" cy="29"/>
              </a:xfrm>
              <a:custGeom>
                <a:avLst/>
                <a:gdLst>
                  <a:gd name="T0" fmla="*/ 1568 w 1569"/>
                  <a:gd name="T1" fmla="*/ 28 h 29"/>
                  <a:gd name="T2" fmla="*/ 1568 w 1569"/>
                  <a:gd name="T3" fmla="*/ 0 h 29"/>
                  <a:gd name="T4" fmla="*/ 0 w 1569"/>
                  <a:gd name="T5" fmla="*/ 0 h 29"/>
                  <a:gd name="T6" fmla="*/ 0 w 1569"/>
                  <a:gd name="T7" fmla="*/ 28 h 29"/>
                  <a:gd name="T8" fmla="*/ 1568 w 1569"/>
                  <a:gd name="T9" fmla="*/ 2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69"/>
                  <a:gd name="T16" fmla="*/ 0 h 29"/>
                  <a:gd name="T17" fmla="*/ 1569 w 1569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69" h="29">
                    <a:moveTo>
                      <a:pt x="1568" y="28"/>
                    </a:moveTo>
                    <a:lnTo>
                      <a:pt x="1568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568" y="28"/>
                    </a:lnTo>
                  </a:path>
                </a:pathLst>
              </a:custGeom>
              <a:solidFill>
                <a:srgbClr val="7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19" name="Freeform 129">
                <a:extLst>
                  <a:ext uri="{FF2B5EF4-FFF2-40B4-BE49-F238E27FC236}">
                    <a16:creationId xmlns:a16="http://schemas.microsoft.com/office/drawing/2014/main" id="{32D8B8CC-DE1C-456C-B2E5-BA8F89942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5" y="3372"/>
                <a:ext cx="9" cy="37"/>
              </a:xfrm>
              <a:custGeom>
                <a:avLst/>
                <a:gdLst>
                  <a:gd name="T0" fmla="*/ 4 w 9"/>
                  <a:gd name="T1" fmla="*/ 15 h 37"/>
                  <a:gd name="T2" fmla="*/ 0 w 9"/>
                  <a:gd name="T3" fmla="*/ 7 h 37"/>
                  <a:gd name="T4" fmla="*/ 0 w 9"/>
                  <a:gd name="T5" fmla="*/ 36 h 37"/>
                  <a:gd name="T6" fmla="*/ 8 w 9"/>
                  <a:gd name="T7" fmla="*/ 36 h 37"/>
                  <a:gd name="T8" fmla="*/ 8 w 9"/>
                  <a:gd name="T9" fmla="*/ 7 h 37"/>
                  <a:gd name="T10" fmla="*/ 4 w 9"/>
                  <a:gd name="T11" fmla="*/ 0 h 37"/>
                  <a:gd name="T12" fmla="*/ 8 w 9"/>
                  <a:gd name="T13" fmla="*/ 7 h 37"/>
                  <a:gd name="T14" fmla="*/ 8 w 9"/>
                  <a:gd name="T15" fmla="*/ 0 h 37"/>
                  <a:gd name="T16" fmla="*/ 4 w 9"/>
                  <a:gd name="T17" fmla="*/ 0 h 37"/>
                  <a:gd name="T18" fmla="*/ 4 w 9"/>
                  <a:gd name="T19" fmla="*/ 15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7"/>
                  <a:gd name="T32" fmla="*/ 9 w 9"/>
                  <a:gd name="T33" fmla="*/ 37 h 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7">
                    <a:moveTo>
                      <a:pt x="4" y="15"/>
                    </a:moveTo>
                    <a:lnTo>
                      <a:pt x="0" y="7"/>
                    </a:lnTo>
                    <a:lnTo>
                      <a:pt x="0" y="36"/>
                    </a:lnTo>
                    <a:lnTo>
                      <a:pt x="8" y="36"/>
                    </a:lnTo>
                    <a:lnTo>
                      <a:pt x="8" y="7"/>
                    </a:lnTo>
                    <a:lnTo>
                      <a:pt x="4" y="0"/>
                    </a:lnTo>
                    <a:lnTo>
                      <a:pt x="8" y="7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20" name="Freeform 130">
                <a:extLst>
                  <a:ext uri="{FF2B5EF4-FFF2-40B4-BE49-F238E27FC236}">
                    <a16:creationId xmlns:a16="http://schemas.microsoft.com/office/drawing/2014/main" id="{F3C60C85-2C58-4E63-9ED8-2BB1C6D88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3372"/>
                <a:ext cx="1576" cy="12"/>
              </a:xfrm>
              <a:custGeom>
                <a:avLst/>
                <a:gdLst>
                  <a:gd name="T0" fmla="*/ 14 w 1576"/>
                  <a:gd name="T1" fmla="*/ 5 h 12"/>
                  <a:gd name="T2" fmla="*/ 7 w 1576"/>
                  <a:gd name="T3" fmla="*/ 11 h 12"/>
                  <a:gd name="T4" fmla="*/ 1575 w 1576"/>
                  <a:gd name="T5" fmla="*/ 11 h 12"/>
                  <a:gd name="T6" fmla="*/ 1575 w 1576"/>
                  <a:gd name="T7" fmla="*/ 0 h 12"/>
                  <a:gd name="T8" fmla="*/ 7 w 1576"/>
                  <a:gd name="T9" fmla="*/ 0 h 12"/>
                  <a:gd name="T10" fmla="*/ 0 w 1576"/>
                  <a:gd name="T11" fmla="*/ 5 h 12"/>
                  <a:gd name="T12" fmla="*/ 7 w 1576"/>
                  <a:gd name="T13" fmla="*/ 0 h 12"/>
                  <a:gd name="T14" fmla="*/ 0 w 1576"/>
                  <a:gd name="T15" fmla="*/ 0 h 12"/>
                  <a:gd name="T16" fmla="*/ 0 w 1576"/>
                  <a:gd name="T17" fmla="*/ 5 h 12"/>
                  <a:gd name="T18" fmla="*/ 14 w 1576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76"/>
                  <a:gd name="T31" fmla="*/ 0 h 12"/>
                  <a:gd name="T32" fmla="*/ 1576 w 1576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76" h="12">
                    <a:moveTo>
                      <a:pt x="14" y="5"/>
                    </a:moveTo>
                    <a:lnTo>
                      <a:pt x="7" y="11"/>
                    </a:lnTo>
                    <a:lnTo>
                      <a:pt x="1575" y="11"/>
                    </a:lnTo>
                    <a:lnTo>
                      <a:pt x="1575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21" name="Freeform 131">
                <a:extLst>
                  <a:ext uri="{FF2B5EF4-FFF2-40B4-BE49-F238E27FC236}">
                    <a16:creationId xmlns:a16="http://schemas.microsoft.com/office/drawing/2014/main" id="{15836F6B-C463-4CF2-AC71-5E9C153CD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3380"/>
                <a:ext cx="9" cy="37"/>
              </a:xfrm>
              <a:custGeom>
                <a:avLst/>
                <a:gdLst>
                  <a:gd name="T0" fmla="*/ 4 w 9"/>
                  <a:gd name="T1" fmla="*/ 22 h 37"/>
                  <a:gd name="T2" fmla="*/ 8 w 9"/>
                  <a:gd name="T3" fmla="*/ 29 h 37"/>
                  <a:gd name="T4" fmla="*/ 8 w 9"/>
                  <a:gd name="T5" fmla="*/ 0 h 37"/>
                  <a:gd name="T6" fmla="*/ 0 w 9"/>
                  <a:gd name="T7" fmla="*/ 0 h 37"/>
                  <a:gd name="T8" fmla="*/ 0 w 9"/>
                  <a:gd name="T9" fmla="*/ 29 h 37"/>
                  <a:gd name="T10" fmla="*/ 4 w 9"/>
                  <a:gd name="T11" fmla="*/ 36 h 37"/>
                  <a:gd name="T12" fmla="*/ 0 w 9"/>
                  <a:gd name="T13" fmla="*/ 29 h 37"/>
                  <a:gd name="T14" fmla="*/ 0 w 9"/>
                  <a:gd name="T15" fmla="*/ 36 h 37"/>
                  <a:gd name="T16" fmla="*/ 4 w 9"/>
                  <a:gd name="T17" fmla="*/ 36 h 37"/>
                  <a:gd name="T18" fmla="*/ 4 w 9"/>
                  <a:gd name="T19" fmla="*/ 22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7"/>
                  <a:gd name="T32" fmla="*/ 9 w 9"/>
                  <a:gd name="T33" fmla="*/ 37 h 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7">
                    <a:moveTo>
                      <a:pt x="4" y="22"/>
                    </a:moveTo>
                    <a:lnTo>
                      <a:pt x="8" y="29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4" y="36"/>
                    </a:lnTo>
                    <a:lnTo>
                      <a:pt x="0" y="29"/>
                    </a:lnTo>
                    <a:lnTo>
                      <a:pt x="0" y="36"/>
                    </a:lnTo>
                    <a:lnTo>
                      <a:pt x="4" y="36"/>
                    </a:lnTo>
                    <a:lnTo>
                      <a:pt x="4" y="2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422" name="Freeform 132">
                <a:extLst>
                  <a:ext uri="{FF2B5EF4-FFF2-40B4-BE49-F238E27FC236}">
                    <a16:creationId xmlns:a16="http://schemas.microsoft.com/office/drawing/2014/main" id="{09F9E06C-17E9-4A7C-A18E-5BEEF880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3406"/>
                <a:ext cx="1576" cy="11"/>
              </a:xfrm>
              <a:custGeom>
                <a:avLst/>
                <a:gdLst>
                  <a:gd name="T0" fmla="*/ 1561 w 1576"/>
                  <a:gd name="T1" fmla="*/ 5 h 11"/>
                  <a:gd name="T2" fmla="*/ 1568 w 1576"/>
                  <a:gd name="T3" fmla="*/ 0 h 11"/>
                  <a:gd name="T4" fmla="*/ 0 w 1576"/>
                  <a:gd name="T5" fmla="*/ 0 h 11"/>
                  <a:gd name="T6" fmla="*/ 0 w 1576"/>
                  <a:gd name="T7" fmla="*/ 10 h 11"/>
                  <a:gd name="T8" fmla="*/ 1568 w 1576"/>
                  <a:gd name="T9" fmla="*/ 10 h 11"/>
                  <a:gd name="T10" fmla="*/ 1575 w 1576"/>
                  <a:gd name="T11" fmla="*/ 5 h 11"/>
                  <a:gd name="T12" fmla="*/ 1568 w 1576"/>
                  <a:gd name="T13" fmla="*/ 10 h 11"/>
                  <a:gd name="T14" fmla="*/ 1575 w 1576"/>
                  <a:gd name="T15" fmla="*/ 10 h 11"/>
                  <a:gd name="T16" fmla="*/ 1575 w 1576"/>
                  <a:gd name="T17" fmla="*/ 5 h 11"/>
                  <a:gd name="T18" fmla="*/ 1561 w 1576"/>
                  <a:gd name="T19" fmla="*/ 5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76"/>
                  <a:gd name="T31" fmla="*/ 0 h 11"/>
                  <a:gd name="T32" fmla="*/ 1576 w 1576"/>
                  <a:gd name="T33" fmla="*/ 11 h 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76" h="11">
                    <a:moveTo>
                      <a:pt x="1561" y="5"/>
                    </a:moveTo>
                    <a:lnTo>
                      <a:pt x="1568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1568" y="10"/>
                    </a:lnTo>
                    <a:lnTo>
                      <a:pt x="1575" y="5"/>
                    </a:lnTo>
                    <a:lnTo>
                      <a:pt x="1568" y="10"/>
                    </a:lnTo>
                    <a:lnTo>
                      <a:pt x="1575" y="10"/>
                    </a:lnTo>
                    <a:lnTo>
                      <a:pt x="1575" y="5"/>
                    </a:lnTo>
                    <a:lnTo>
                      <a:pt x="1561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9337" name="Rectangle 133">
              <a:extLst>
                <a:ext uri="{FF2B5EF4-FFF2-40B4-BE49-F238E27FC236}">
                  <a16:creationId xmlns:a16="http://schemas.microsoft.com/office/drawing/2014/main" id="{DF2C6D97-EA2A-4F24-8267-8B79899A5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538"/>
              <a:ext cx="1254" cy="468"/>
            </a:xfrm>
            <a:prstGeom prst="rect">
              <a:avLst/>
            </a:prstGeom>
            <a:solidFill>
              <a:srgbClr val="DADAD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85577" tIns="42038" rIns="85577" bIns="42038">
              <a:spAutoFit/>
            </a:bodyPr>
            <a:lstStyle>
              <a:lvl1pPr defTabSz="86518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 dirty="0"/>
                <a:t>Plan Administrator</a:t>
              </a:r>
            </a:p>
          </p:txBody>
        </p:sp>
      </p:grpSp>
      <p:sp>
        <p:nvSpPr>
          <p:cNvPr id="49157" name="Rectangle 134">
            <a:extLst>
              <a:ext uri="{FF2B5EF4-FFF2-40B4-BE49-F238E27FC236}">
                <a16:creationId xmlns:a16="http://schemas.microsoft.com/office/drawing/2014/main" id="{BFFD4B29-E7FB-4F5A-8D88-7DFB667D2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4573588"/>
            <a:ext cx="2709863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900" b="1" dirty="0">
                <a:solidFill>
                  <a:srgbClr val="CF0E30"/>
                </a:solidFill>
              </a:rPr>
              <a:t>Pension Recipients</a:t>
            </a:r>
          </a:p>
        </p:txBody>
      </p:sp>
      <p:grpSp>
        <p:nvGrpSpPr>
          <p:cNvPr id="49158" name="Group 135">
            <a:extLst>
              <a:ext uri="{FF2B5EF4-FFF2-40B4-BE49-F238E27FC236}">
                <a16:creationId xmlns:a16="http://schemas.microsoft.com/office/drawing/2014/main" id="{77B151CF-BEDF-466A-8DA0-C2E1D1C7892C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5002213"/>
            <a:ext cx="1651000" cy="1687512"/>
            <a:chOff x="4423" y="3467"/>
            <a:chExt cx="1092" cy="1134"/>
          </a:xfrm>
        </p:grpSpPr>
        <p:sp>
          <p:nvSpPr>
            <p:cNvPr id="49202" name="Freeform 136">
              <a:extLst>
                <a:ext uri="{FF2B5EF4-FFF2-40B4-BE49-F238E27FC236}">
                  <a16:creationId xmlns:a16="http://schemas.microsoft.com/office/drawing/2014/main" id="{CA8F2A1A-D973-47B5-813A-87C81DEFE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3470"/>
              <a:ext cx="656" cy="327"/>
            </a:xfrm>
            <a:custGeom>
              <a:avLst/>
              <a:gdLst>
                <a:gd name="T0" fmla="*/ 0 w 656"/>
                <a:gd name="T1" fmla="*/ 308 h 327"/>
                <a:gd name="T2" fmla="*/ 6 w 656"/>
                <a:gd name="T3" fmla="*/ 259 h 327"/>
                <a:gd name="T4" fmla="*/ 18 w 656"/>
                <a:gd name="T5" fmla="*/ 212 h 327"/>
                <a:gd name="T6" fmla="*/ 38 w 656"/>
                <a:gd name="T7" fmla="*/ 172 h 327"/>
                <a:gd name="T8" fmla="*/ 64 w 656"/>
                <a:gd name="T9" fmla="*/ 131 h 327"/>
                <a:gd name="T10" fmla="*/ 94 w 656"/>
                <a:gd name="T11" fmla="*/ 96 h 327"/>
                <a:gd name="T12" fmla="*/ 129 w 656"/>
                <a:gd name="T13" fmla="*/ 64 h 327"/>
                <a:gd name="T14" fmla="*/ 170 w 656"/>
                <a:gd name="T15" fmla="*/ 40 h 327"/>
                <a:gd name="T16" fmla="*/ 214 w 656"/>
                <a:gd name="T17" fmla="*/ 21 h 327"/>
                <a:gd name="T18" fmla="*/ 262 w 656"/>
                <a:gd name="T19" fmla="*/ 6 h 327"/>
                <a:gd name="T20" fmla="*/ 308 w 656"/>
                <a:gd name="T21" fmla="*/ 0 h 327"/>
                <a:gd name="T22" fmla="*/ 362 w 656"/>
                <a:gd name="T23" fmla="*/ 3 h 327"/>
                <a:gd name="T24" fmla="*/ 408 w 656"/>
                <a:gd name="T25" fmla="*/ 12 h 327"/>
                <a:gd name="T26" fmla="*/ 455 w 656"/>
                <a:gd name="T27" fmla="*/ 27 h 327"/>
                <a:gd name="T28" fmla="*/ 496 w 656"/>
                <a:gd name="T29" fmla="*/ 46 h 327"/>
                <a:gd name="T30" fmla="*/ 534 w 656"/>
                <a:gd name="T31" fmla="*/ 76 h 327"/>
                <a:gd name="T32" fmla="*/ 570 w 656"/>
                <a:gd name="T33" fmla="*/ 108 h 327"/>
                <a:gd name="T34" fmla="*/ 600 w 656"/>
                <a:gd name="T35" fmla="*/ 142 h 327"/>
                <a:gd name="T36" fmla="*/ 622 w 656"/>
                <a:gd name="T37" fmla="*/ 184 h 327"/>
                <a:gd name="T38" fmla="*/ 640 w 656"/>
                <a:gd name="T39" fmla="*/ 230 h 327"/>
                <a:gd name="T40" fmla="*/ 649 w 656"/>
                <a:gd name="T41" fmla="*/ 277 h 327"/>
                <a:gd name="T42" fmla="*/ 655 w 656"/>
                <a:gd name="T43" fmla="*/ 326 h 327"/>
                <a:gd name="T44" fmla="*/ 649 w 656"/>
                <a:gd name="T45" fmla="*/ 292 h 327"/>
                <a:gd name="T46" fmla="*/ 640 w 656"/>
                <a:gd name="T47" fmla="*/ 245 h 327"/>
                <a:gd name="T48" fmla="*/ 625 w 656"/>
                <a:gd name="T49" fmla="*/ 201 h 327"/>
                <a:gd name="T50" fmla="*/ 605 w 656"/>
                <a:gd name="T51" fmla="*/ 160 h 327"/>
                <a:gd name="T52" fmla="*/ 576 w 656"/>
                <a:gd name="T53" fmla="*/ 120 h 327"/>
                <a:gd name="T54" fmla="*/ 543 w 656"/>
                <a:gd name="T55" fmla="*/ 87 h 327"/>
                <a:gd name="T56" fmla="*/ 508 w 656"/>
                <a:gd name="T57" fmla="*/ 58 h 327"/>
                <a:gd name="T58" fmla="*/ 467 w 656"/>
                <a:gd name="T59" fmla="*/ 35 h 327"/>
                <a:gd name="T60" fmla="*/ 423 w 656"/>
                <a:gd name="T61" fmla="*/ 18 h 327"/>
                <a:gd name="T62" fmla="*/ 376 w 656"/>
                <a:gd name="T63" fmla="*/ 9 h 327"/>
                <a:gd name="T64" fmla="*/ 326 w 656"/>
                <a:gd name="T65" fmla="*/ 3 h 327"/>
                <a:gd name="T66" fmla="*/ 276 w 656"/>
                <a:gd name="T67" fmla="*/ 9 h 327"/>
                <a:gd name="T68" fmla="*/ 229 w 656"/>
                <a:gd name="T69" fmla="*/ 18 h 327"/>
                <a:gd name="T70" fmla="*/ 185 w 656"/>
                <a:gd name="T71" fmla="*/ 35 h 327"/>
                <a:gd name="T72" fmla="*/ 147 w 656"/>
                <a:gd name="T73" fmla="*/ 58 h 327"/>
                <a:gd name="T74" fmla="*/ 109 w 656"/>
                <a:gd name="T75" fmla="*/ 87 h 327"/>
                <a:gd name="T76" fmla="*/ 76 w 656"/>
                <a:gd name="T77" fmla="*/ 120 h 327"/>
                <a:gd name="T78" fmla="*/ 50 w 656"/>
                <a:gd name="T79" fmla="*/ 160 h 327"/>
                <a:gd name="T80" fmla="*/ 27 w 656"/>
                <a:gd name="T81" fmla="*/ 201 h 327"/>
                <a:gd name="T82" fmla="*/ 12 w 656"/>
                <a:gd name="T83" fmla="*/ 245 h 327"/>
                <a:gd name="T84" fmla="*/ 3 w 656"/>
                <a:gd name="T85" fmla="*/ 292 h 327"/>
                <a:gd name="T86" fmla="*/ 0 w 656"/>
                <a:gd name="T87" fmla="*/ 326 h 32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327"/>
                <a:gd name="T134" fmla="*/ 656 w 656"/>
                <a:gd name="T135" fmla="*/ 327 h 32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327">
                  <a:moveTo>
                    <a:pt x="0" y="326"/>
                  </a:moveTo>
                  <a:lnTo>
                    <a:pt x="0" y="326"/>
                  </a:lnTo>
                  <a:lnTo>
                    <a:pt x="0" y="308"/>
                  </a:lnTo>
                  <a:lnTo>
                    <a:pt x="0" y="292"/>
                  </a:lnTo>
                  <a:lnTo>
                    <a:pt x="3" y="277"/>
                  </a:lnTo>
                  <a:lnTo>
                    <a:pt x="6" y="259"/>
                  </a:lnTo>
                  <a:lnTo>
                    <a:pt x="9" y="245"/>
                  </a:lnTo>
                  <a:lnTo>
                    <a:pt x="15" y="230"/>
                  </a:lnTo>
                  <a:lnTo>
                    <a:pt x="18" y="212"/>
                  </a:lnTo>
                  <a:lnTo>
                    <a:pt x="24" y="198"/>
                  </a:lnTo>
                  <a:lnTo>
                    <a:pt x="32" y="184"/>
                  </a:lnTo>
                  <a:lnTo>
                    <a:pt x="38" y="172"/>
                  </a:lnTo>
                  <a:lnTo>
                    <a:pt x="47" y="157"/>
                  </a:lnTo>
                  <a:lnTo>
                    <a:pt x="55" y="142"/>
                  </a:lnTo>
                  <a:lnTo>
                    <a:pt x="64" y="131"/>
                  </a:lnTo>
                  <a:lnTo>
                    <a:pt x="73" y="120"/>
                  </a:lnTo>
                  <a:lnTo>
                    <a:pt x="85" y="108"/>
                  </a:lnTo>
                  <a:lnTo>
                    <a:pt x="94" y="96"/>
                  </a:lnTo>
                  <a:lnTo>
                    <a:pt x="106" y="84"/>
                  </a:lnTo>
                  <a:lnTo>
                    <a:pt x="117" y="76"/>
                  </a:lnTo>
                  <a:lnTo>
                    <a:pt x="129" y="64"/>
                  </a:lnTo>
                  <a:lnTo>
                    <a:pt x="144" y="55"/>
                  </a:lnTo>
                  <a:lnTo>
                    <a:pt x="156" y="46"/>
                  </a:lnTo>
                  <a:lnTo>
                    <a:pt x="170" y="40"/>
                  </a:lnTo>
                  <a:lnTo>
                    <a:pt x="185" y="32"/>
                  </a:lnTo>
                  <a:lnTo>
                    <a:pt x="199" y="27"/>
                  </a:lnTo>
                  <a:lnTo>
                    <a:pt x="214" y="21"/>
                  </a:lnTo>
                  <a:lnTo>
                    <a:pt x="229" y="15"/>
                  </a:lnTo>
                  <a:lnTo>
                    <a:pt x="244" y="12"/>
                  </a:lnTo>
                  <a:lnTo>
                    <a:pt x="262" y="6"/>
                  </a:lnTo>
                  <a:lnTo>
                    <a:pt x="276" y="3"/>
                  </a:lnTo>
                  <a:lnTo>
                    <a:pt x="293" y="3"/>
                  </a:lnTo>
                  <a:lnTo>
                    <a:pt x="308" y="0"/>
                  </a:lnTo>
                  <a:lnTo>
                    <a:pt x="326" y="0"/>
                  </a:lnTo>
                  <a:lnTo>
                    <a:pt x="344" y="0"/>
                  </a:lnTo>
                  <a:lnTo>
                    <a:pt x="362" y="3"/>
                  </a:lnTo>
                  <a:lnTo>
                    <a:pt x="376" y="3"/>
                  </a:lnTo>
                  <a:lnTo>
                    <a:pt x="393" y="6"/>
                  </a:lnTo>
                  <a:lnTo>
                    <a:pt x="408" y="12"/>
                  </a:lnTo>
                  <a:lnTo>
                    <a:pt x="423" y="15"/>
                  </a:lnTo>
                  <a:lnTo>
                    <a:pt x="441" y="21"/>
                  </a:lnTo>
                  <a:lnTo>
                    <a:pt x="455" y="27"/>
                  </a:lnTo>
                  <a:lnTo>
                    <a:pt x="467" y="32"/>
                  </a:lnTo>
                  <a:lnTo>
                    <a:pt x="482" y="40"/>
                  </a:lnTo>
                  <a:lnTo>
                    <a:pt x="496" y="46"/>
                  </a:lnTo>
                  <a:lnTo>
                    <a:pt x="508" y="55"/>
                  </a:lnTo>
                  <a:lnTo>
                    <a:pt x="523" y="64"/>
                  </a:lnTo>
                  <a:lnTo>
                    <a:pt x="534" y="76"/>
                  </a:lnTo>
                  <a:lnTo>
                    <a:pt x="546" y="84"/>
                  </a:lnTo>
                  <a:lnTo>
                    <a:pt x="558" y="96"/>
                  </a:lnTo>
                  <a:lnTo>
                    <a:pt x="570" y="108"/>
                  </a:lnTo>
                  <a:lnTo>
                    <a:pt x="579" y="120"/>
                  </a:lnTo>
                  <a:lnTo>
                    <a:pt x="591" y="131"/>
                  </a:lnTo>
                  <a:lnTo>
                    <a:pt x="600" y="142"/>
                  </a:lnTo>
                  <a:lnTo>
                    <a:pt x="608" y="157"/>
                  </a:lnTo>
                  <a:lnTo>
                    <a:pt x="614" y="172"/>
                  </a:lnTo>
                  <a:lnTo>
                    <a:pt x="622" y="184"/>
                  </a:lnTo>
                  <a:lnTo>
                    <a:pt x="628" y="198"/>
                  </a:lnTo>
                  <a:lnTo>
                    <a:pt x="634" y="212"/>
                  </a:lnTo>
                  <a:lnTo>
                    <a:pt x="640" y="230"/>
                  </a:lnTo>
                  <a:lnTo>
                    <a:pt x="643" y="245"/>
                  </a:lnTo>
                  <a:lnTo>
                    <a:pt x="646" y="259"/>
                  </a:lnTo>
                  <a:lnTo>
                    <a:pt x="649" y="277"/>
                  </a:lnTo>
                  <a:lnTo>
                    <a:pt x="652" y="292"/>
                  </a:lnTo>
                  <a:lnTo>
                    <a:pt x="655" y="308"/>
                  </a:lnTo>
                  <a:lnTo>
                    <a:pt x="655" y="326"/>
                  </a:lnTo>
                  <a:lnTo>
                    <a:pt x="652" y="326"/>
                  </a:lnTo>
                  <a:lnTo>
                    <a:pt x="649" y="308"/>
                  </a:lnTo>
                  <a:lnTo>
                    <a:pt x="649" y="292"/>
                  </a:lnTo>
                  <a:lnTo>
                    <a:pt x="646" y="277"/>
                  </a:lnTo>
                  <a:lnTo>
                    <a:pt x="643" y="262"/>
                  </a:lnTo>
                  <a:lnTo>
                    <a:pt x="640" y="245"/>
                  </a:lnTo>
                  <a:lnTo>
                    <a:pt x="637" y="230"/>
                  </a:lnTo>
                  <a:lnTo>
                    <a:pt x="631" y="215"/>
                  </a:lnTo>
                  <a:lnTo>
                    <a:pt x="625" y="201"/>
                  </a:lnTo>
                  <a:lnTo>
                    <a:pt x="619" y="187"/>
                  </a:lnTo>
                  <a:lnTo>
                    <a:pt x="611" y="172"/>
                  </a:lnTo>
                  <a:lnTo>
                    <a:pt x="605" y="160"/>
                  </a:lnTo>
                  <a:lnTo>
                    <a:pt x="597" y="145"/>
                  </a:lnTo>
                  <a:lnTo>
                    <a:pt x="588" y="134"/>
                  </a:lnTo>
                  <a:lnTo>
                    <a:pt x="576" y="120"/>
                  </a:lnTo>
                  <a:lnTo>
                    <a:pt x="567" y="111"/>
                  </a:lnTo>
                  <a:lnTo>
                    <a:pt x="555" y="99"/>
                  </a:lnTo>
                  <a:lnTo>
                    <a:pt x="543" y="87"/>
                  </a:lnTo>
                  <a:lnTo>
                    <a:pt x="531" y="79"/>
                  </a:lnTo>
                  <a:lnTo>
                    <a:pt x="520" y="67"/>
                  </a:lnTo>
                  <a:lnTo>
                    <a:pt x="508" y="58"/>
                  </a:lnTo>
                  <a:lnTo>
                    <a:pt x="493" y="49"/>
                  </a:lnTo>
                  <a:lnTo>
                    <a:pt x="482" y="43"/>
                  </a:lnTo>
                  <a:lnTo>
                    <a:pt x="467" y="35"/>
                  </a:lnTo>
                  <a:lnTo>
                    <a:pt x="452" y="29"/>
                  </a:lnTo>
                  <a:lnTo>
                    <a:pt x="438" y="24"/>
                  </a:lnTo>
                  <a:lnTo>
                    <a:pt x="423" y="18"/>
                  </a:lnTo>
                  <a:lnTo>
                    <a:pt x="408" y="15"/>
                  </a:lnTo>
                  <a:lnTo>
                    <a:pt x="390" y="12"/>
                  </a:lnTo>
                  <a:lnTo>
                    <a:pt x="376" y="9"/>
                  </a:lnTo>
                  <a:lnTo>
                    <a:pt x="362" y="6"/>
                  </a:lnTo>
                  <a:lnTo>
                    <a:pt x="344" y="3"/>
                  </a:lnTo>
                  <a:lnTo>
                    <a:pt x="326" y="3"/>
                  </a:lnTo>
                  <a:lnTo>
                    <a:pt x="311" y="3"/>
                  </a:lnTo>
                  <a:lnTo>
                    <a:pt x="293" y="6"/>
                  </a:lnTo>
                  <a:lnTo>
                    <a:pt x="276" y="9"/>
                  </a:lnTo>
                  <a:lnTo>
                    <a:pt x="262" y="12"/>
                  </a:lnTo>
                  <a:lnTo>
                    <a:pt x="247" y="15"/>
                  </a:lnTo>
                  <a:lnTo>
                    <a:pt x="229" y="18"/>
                  </a:lnTo>
                  <a:lnTo>
                    <a:pt x="214" y="24"/>
                  </a:lnTo>
                  <a:lnTo>
                    <a:pt x="199" y="29"/>
                  </a:lnTo>
                  <a:lnTo>
                    <a:pt x="185" y="35"/>
                  </a:lnTo>
                  <a:lnTo>
                    <a:pt x="173" y="43"/>
                  </a:lnTo>
                  <a:lnTo>
                    <a:pt x="159" y="49"/>
                  </a:lnTo>
                  <a:lnTo>
                    <a:pt x="147" y="58"/>
                  </a:lnTo>
                  <a:lnTo>
                    <a:pt x="132" y="67"/>
                  </a:lnTo>
                  <a:lnTo>
                    <a:pt x="120" y="79"/>
                  </a:lnTo>
                  <a:lnTo>
                    <a:pt x="109" y="87"/>
                  </a:lnTo>
                  <a:lnTo>
                    <a:pt x="97" y="99"/>
                  </a:lnTo>
                  <a:lnTo>
                    <a:pt x="85" y="111"/>
                  </a:lnTo>
                  <a:lnTo>
                    <a:pt x="76" y="120"/>
                  </a:lnTo>
                  <a:lnTo>
                    <a:pt x="67" y="134"/>
                  </a:lnTo>
                  <a:lnTo>
                    <a:pt x="58" y="145"/>
                  </a:lnTo>
                  <a:lnTo>
                    <a:pt x="50" y="160"/>
                  </a:lnTo>
                  <a:lnTo>
                    <a:pt x="41" y="172"/>
                  </a:lnTo>
                  <a:lnTo>
                    <a:pt x="35" y="187"/>
                  </a:lnTo>
                  <a:lnTo>
                    <a:pt x="27" y="201"/>
                  </a:lnTo>
                  <a:lnTo>
                    <a:pt x="24" y="215"/>
                  </a:lnTo>
                  <a:lnTo>
                    <a:pt x="18" y="230"/>
                  </a:lnTo>
                  <a:lnTo>
                    <a:pt x="12" y="245"/>
                  </a:lnTo>
                  <a:lnTo>
                    <a:pt x="9" y="262"/>
                  </a:lnTo>
                  <a:lnTo>
                    <a:pt x="6" y="277"/>
                  </a:lnTo>
                  <a:lnTo>
                    <a:pt x="3" y="292"/>
                  </a:lnTo>
                  <a:lnTo>
                    <a:pt x="3" y="308"/>
                  </a:lnTo>
                  <a:lnTo>
                    <a:pt x="3" y="326"/>
                  </a:lnTo>
                  <a:lnTo>
                    <a:pt x="0" y="326"/>
                  </a:lnTo>
                </a:path>
              </a:pathLst>
            </a:custGeom>
            <a:solidFill>
              <a:srgbClr val="FF9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3" name="Freeform 137">
              <a:extLst>
                <a:ext uri="{FF2B5EF4-FFF2-40B4-BE49-F238E27FC236}">
                  <a16:creationId xmlns:a16="http://schemas.microsoft.com/office/drawing/2014/main" id="{B4183F44-4944-4837-AE8D-8325F16CB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3802"/>
              <a:ext cx="656" cy="324"/>
            </a:xfrm>
            <a:custGeom>
              <a:avLst/>
              <a:gdLst>
                <a:gd name="T0" fmla="*/ 0 w 656"/>
                <a:gd name="T1" fmla="*/ 32 h 324"/>
                <a:gd name="T2" fmla="*/ 9 w 656"/>
                <a:gd name="T3" fmla="*/ 81 h 324"/>
                <a:gd name="T4" fmla="*/ 24 w 656"/>
                <a:gd name="T5" fmla="*/ 126 h 324"/>
                <a:gd name="T6" fmla="*/ 47 w 656"/>
                <a:gd name="T7" fmla="*/ 169 h 324"/>
                <a:gd name="T8" fmla="*/ 73 w 656"/>
                <a:gd name="T9" fmla="*/ 207 h 324"/>
                <a:gd name="T10" fmla="*/ 106 w 656"/>
                <a:gd name="T11" fmla="*/ 239 h 324"/>
                <a:gd name="T12" fmla="*/ 144 w 656"/>
                <a:gd name="T13" fmla="*/ 268 h 324"/>
                <a:gd name="T14" fmla="*/ 185 w 656"/>
                <a:gd name="T15" fmla="*/ 292 h 324"/>
                <a:gd name="T16" fmla="*/ 229 w 656"/>
                <a:gd name="T17" fmla="*/ 309 h 324"/>
                <a:gd name="T18" fmla="*/ 276 w 656"/>
                <a:gd name="T19" fmla="*/ 320 h 324"/>
                <a:gd name="T20" fmla="*/ 326 w 656"/>
                <a:gd name="T21" fmla="*/ 323 h 324"/>
                <a:gd name="T22" fmla="*/ 376 w 656"/>
                <a:gd name="T23" fmla="*/ 320 h 324"/>
                <a:gd name="T24" fmla="*/ 423 w 656"/>
                <a:gd name="T25" fmla="*/ 309 h 324"/>
                <a:gd name="T26" fmla="*/ 467 w 656"/>
                <a:gd name="T27" fmla="*/ 292 h 324"/>
                <a:gd name="T28" fmla="*/ 508 w 656"/>
                <a:gd name="T29" fmla="*/ 268 h 324"/>
                <a:gd name="T30" fmla="*/ 546 w 656"/>
                <a:gd name="T31" fmla="*/ 239 h 324"/>
                <a:gd name="T32" fmla="*/ 579 w 656"/>
                <a:gd name="T33" fmla="*/ 207 h 324"/>
                <a:gd name="T34" fmla="*/ 608 w 656"/>
                <a:gd name="T35" fmla="*/ 169 h 324"/>
                <a:gd name="T36" fmla="*/ 628 w 656"/>
                <a:gd name="T37" fmla="*/ 126 h 324"/>
                <a:gd name="T38" fmla="*/ 643 w 656"/>
                <a:gd name="T39" fmla="*/ 81 h 324"/>
                <a:gd name="T40" fmla="*/ 652 w 656"/>
                <a:gd name="T41" fmla="*/ 32 h 324"/>
                <a:gd name="T42" fmla="*/ 652 w 656"/>
                <a:gd name="T43" fmla="*/ 0 h 324"/>
                <a:gd name="T44" fmla="*/ 646 w 656"/>
                <a:gd name="T45" fmla="*/ 50 h 324"/>
                <a:gd name="T46" fmla="*/ 637 w 656"/>
                <a:gd name="T47" fmla="*/ 96 h 324"/>
                <a:gd name="T48" fmla="*/ 619 w 656"/>
                <a:gd name="T49" fmla="*/ 140 h 324"/>
                <a:gd name="T50" fmla="*/ 597 w 656"/>
                <a:gd name="T51" fmla="*/ 181 h 324"/>
                <a:gd name="T52" fmla="*/ 567 w 656"/>
                <a:gd name="T53" fmla="*/ 216 h 324"/>
                <a:gd name="T54" fmla="*/ 531 w 656"/>
                <a:gd name="T55" fmla="*/ 247 h 324"/>
                <a:gd name="T56" fmla="*/ 493 w 656"/>
                <a:gd name="T57" fmla="*/ 274 h 324"/>
                <a:gd name="T58" fmla="*/ 452 w 656"/>
                <a:gd name="T59" fmla="*/ 297 h 324"/>
                <a:gd name="T60" fmla="*/ 408 w 656"/>
                <a:gd name="T61" fmla="*/ 312 h 324"/>
                <a:gd name="T62" fmla="*/ 362 w 656"/>
                <a:gd name="T63" fmla="*/ 320 h 324"/>
                <a:gd name="T64" fmla="*/ 311 w 656"/>
                <a:gd name="T65" fmla="*/ 320 h 324"/>
                <a:gd name="T66" fmla="*/ 262 w 656"/>
                <a:gd name="T67" fmla="*/ 315 h 324"/>
                <a:gd name="T68" fmla="*/ 214 w 656"/>
                <a:gd name="T69" fmla="*/ 303 h 324"/>
                <a:gd name="T70" fmla="*/ 173 w 656"/>
                <a:gd name="T71" fmla="*/ 283 h 324"/>
                <a:gd name="T72" fmla="*/ 132 w 656"/>
                <a:gd name="T73" fmla="*/ 256 h 324"/>
                <a:gd name="T74" fmla="*/ 97 w 656"/>
                <a:gd name="T75" fmla="*/ 228 h 324"/>
                <a:gd name="T76" fmla="*/ 67 w 656"/>
                <a:gd name="T77" fmla="*/ 192 h 324"/>
                <a:gd name="T78" fmla="*/ 41 w 656"/>
                <a:gd name="T79" fmla="*/ 151 h 324"/>
                <a:gd name="T80" fmla="*/ 24 w 656"/>
                <a:gd name="T81" fmla="*/ 111 h 324"/>
                <a:gd name="T82" fmla="*/ 9 w 656"/>
                <a:gd name="T83" fmla="*/ 64 h 324"/>
                <a:gd name="T84" fmla="*/ 3 w 656"/>
                <a:gd name="T85" fmla="*/ 15 h 3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56"/>
                <a:gd name="T130" fmla="*/ 0 h 324"/>
                <a:gd name="T131" fmla="*/ 656 w 656"/>
                <a:gd name="T132" fmla="*/ 324 h 3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56" h="324">
                  <a:moveTo>
                    <a:pt x="0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3" y="50"/>
                  </a:lnTo>
                  <a:lnTo>
                    <a:pt x="6" y="64"/>
                  </a:lnTo>
                  <a:lnTo>
                    <a:pt x="9" y="81"/>
                  </a:lnTo>
                  <a:lnTo>
                    <a:pt x="15" y="96"/>
                  </a:lnTo>
                  <a:lnTo>
                    <a:pt x="18" y="111"/>
                  </a:lnTo>
                  <a:lnTo>
                    <a:pt x="24" y="126"/>
                  </a:lnTo>
                  <a:lnTo>
                    <a:pt x="32" y="140"/>
                  </a:lnTo>
                  <a:lnTo>
                    <a:pt x="38" y="154"/>
                  </a:lnTo>
                  <a:lnTo>
                    <a:pt x="47" y="169"/>
                  </a:lnTo>
                  <a:lnTo>
                    <a:pt x="55" y="181"/>
                  </a:lnTo>
                  <a:lnTo>
                    <a:pt x="64" y="195"/>
                  </a:lnTo>
                  <a:lnTo>
                    <a:pt x="73" y="207"/>
                  </a:lnTo>
                  <a:lnTo>
                    <a:pt x="85" y="219"/>
                  </a:lnTo>
                  <a:lnTo>
                    <a:pt x="94" y="231"/>
                  </a:lnTo>
                  <a:lnTo>
                    <a:pt x="106" y="239"/>
                  </a:lnTo>
                  <a:lnTo>
                    <a:pt x="117" y="250"/>
                  </a:lnTo>
                  <a:lnTo>
                    <a:pt x="129" y="259"/>
                  </a:lnTo>
                  <a:lnTo>
                    <a:pt x="144" y="268"/>
                  </a:lnTo>
                  <a:lnTo>
                    <a:pt x="156" y="277"/>
                  </a:lnTo>
                  <a:lnTo>
                    <a:pt x="170" y="286"/>
                  </a:lnTo>
                  <a:lnTo>
                    <a:pt x="185" y="292"/>
                  </a:lnTo>
                  <a:lnTo>
                    <a:pt x="199" y="300"/>
                  </a:lnTo>
                  <a:lnTo>
                    <a:pt x="214" y="306"/>
                  </a:lnTo>
                  <a:lnTo>
                    <a:pt x="229" y="309"/>
                  </a:lnTo>
                  <a:lnTo>
                    <a:pt x="244" y="315"/>
                  </a:lnTo>
                  <a:lnTo>
                    <a:pt x="262" y="317"/>
                  </a:lnTo>
                  <a:lnTo>
                    <a:pt x="276" y="320"/>
                  </a:lnTo>
                  <a:lnTo>
                    <a:pt x="293" y="323"/>
                  </a:lnTo>
                  <a:lnTo>
                    <a:pt x="308" y="323"/>
                  </a:lnTo>
                  <a:lnTo>
                    <a:pt x="326" y="323"/>
                  </a:lnTo>
                  <a:lnTo>
                    <a:pt x="344" y="323"/>
                  </a:lnTo>
                  <a:lnTo>
                    <a:pt x="362" y="323"/>
                  </a:lnTo>
                  <a:lnTo>
                    <a:pt x="376" y="320"/>
                  </a:lnTo>
                  <a:lnTo>
                    <a:pt x="393" y="317"/>
                  </a:lnTo>
                  <a:lnTo>
                    <a:pt x="408" y="315"/>
                  </a:lnTo>
                  <a:lnTo>
                    <a:pt x="423" y="309"/>
                  </a:lnTo>
                  <a:lnTo>
                    <a:pt x="441" y="306"/>
                  </a:lnTo>
                  <a:lnTo>
                    <a:pt x="455" y="300"/>
                  </a:lnTo>
                  <a:lnTo>
                    <a:pt x="467" y="292"/>
                  </a:lnTo>
                  <a:lnTo>
                    <a:pt x="482" y="286"/>
                  </a:lnTo>
                  <a:lnTo>
                    <a:pt x="496" y="277"/>
                  </a:lnTo>
                  <a:lnTo>
                    <a:pt x="508" y="268"/>
                  </a:lnTo>
                  <a:lnTo>
                    <a:pt x="523" y="259"/>
                  </a:lnTo>
                  <a:lnTo>
                    <a:pt x="534" y="250"/>
                  </a:lnTo>
                  <a:lnTo>
                    <a:pt x="546" y="239"/>
                  </a:lnTo>
                  <a:lnTo>
                    <a:pt x="558" y="231"/>
                  </a:lnTo>
                  <a:lnTo>
                    <a:pt x="570" y="219"/>
                  </a:lnTo>
                  <a:lnTo>
                    <a:pt x="579" y="207"/>
                  </a:lnTo>
                  <a:lnTo>
                    <a:pt x="591" y="195"/>
                  </a:lnTo>
                  <a:lnTo>
                    <a:pt x="600" y="181"/>
                  </a:lnTo>
                  <a:lnTo>
                    <a:pt x="608" y="169"/>
                  </a:lnTo>
                  <a:lnTo>
                    <a:pt x="614" y="154"/>
                  </a:lnTo>
                  <a:lnTo>
                    <a:pt x="622" y="140"/>
                  </a:lnTo>
                  <a:lnTo>
                    <a:pt x="628" y="126"/>
                  </a:lnTo>
                  <a:lnTo>
                    <a:pt x="634" y="111"/>
                  </a:lnTo>
                  <a:lnTo>
                    <a:pt x="640" y="96"/>
                  </a:lnTo>
                  <a:lnTo>
                    <a:pt x="643" y="81"/>
                  </a:lnTo>
                  <a:lnTo>
                    <a:pt x="646" y="64"/>
                  </a:lnTo>
                  <a:lnTo>
                    <a:pt x="649" y="50"/>
                  </a:lnTo>
                  <a:lnTo>
                    <a:pt x="652" y="32"/>
                  </a:lnTo>
                  <a:lnTo>
                    <a:pt x="655" y="18"/>
                  </a:lnTo>
                  <a:lnTo>
                    <a:pt x="655" y="0"/>
                  </a:lnTo>
                  <a:lnTo>
                    <a:pt x="652" y="0"/>
                  </a:lnTo>
                  <a:lnTo>
                    <a:pt x="649" y="15"/>
                  </a:lnTo>
                  <a:lnTo>
                    <a:pt x="649" y="32"/>
                  </a:lnTo>
                  <a:lnTo>
                    <a:pt x="646" y="50"/>
                  </a:lnTo>
                  <a:lnTo>
                    <a:pt x="643" y="64"/>
                  </a:lnTo>
                  <a:lnTo>
                    <a:pt x="640" y="79"/>
                  </a:lnTo>
                  <a:lnTo>
                    <a:pt x="637" y="96"/>
                  </a:lnTo>
                  <a:lnTo>
                    <a:pt x="631" y="111"/>
                  </a:lnTo>
                  <a:lnTo>
                    <a:pt x="625" y="126"/>
                  </a:lnTo>
                  <a:lnTo>
                    <a:pt x="619" y="140"/>
                  </a:lnTo>
                  <a:lnTo>
                    <a:pt x="611" y="151"/>
                  </a:lnTo>
                  <a:lnTo>
                    <a:pt x="605" y="166"/>
                  </a:lnTo>
                  <a:lnTo>
                    <a:pt x="597" y="181"/>
                  </a:lnTo>
                  <a:lnTo>
                    <a:pt x="588" y="192"/>
                  </a:lnTo>
                  <a:lnTo>
                    <a:pt x="576" y="204"/>
                  </a:lnTo>
                  <a:lnTo>
                    <a:pt x="567" y="216"/>
                  </a:lnTo>
                  <a:lnTo>
                    <a:pt x="555" y="228"/>
                  </a:lnTo>
                  <a:lnTo>
                    <a:pt x="543" y="239"/>
                  </a:lnTo>
                  <a:lnTo>
                    <a:pt x="531" y="247"/>
                  </a:lnTo>
                  <a:lnTo>
                    <a:pt x="520" y="256"/>
                  </a:lnTo>
                  <a:lnTo>
                    <a:pt x="508" y="265"/>
                  </a:lnTo>
                  <a:lnTo>
                    <a:pt x="493" y="274"/>
                  </a:lnTo>
                  <a:lnTo>
                    <a:pt x="482" y="283"/>
                  </a:lnTo>
                  <a:lnTo>
                    <a:pt x="467" y="289"/>
                  </a:lnTo>
                  <a:lnTo>
                    <a:pt x="452" y="297"/>
                  </a:lnTo>
                  <a:lnTo>
                    <a:pt x="438" y="303"/>
                  </a:lnTo>
                  <a:lnTo>
                    <a:pt x="423" y="306"/>
                  </a:lnTo>
                  <a:lnTo>
                    <a:pt x="408" y="312"/>
                  </a:lnTo>
                  <a:lnTo>
                    <a:pt x="390" y="315"/>
                  </a:lnTo>
                  <a:lnTo>
                    <a:pt x="376" y="317"/>
                  </a:lnTo>
                  <a:lnTo>
                    <a:pt x="362" y="320"/>
                  </a:lnTo>
                  <a:lnTo>
                    <a:pt x="344" y="320"/>
                  </a:lnTo>
                  <a:lnTo>
                    <a:pt x="326" y="320"/>
                  </a:lnTo>
                  <a:lnTo>
                    <a:pt x="311" y="320"/>
                  </a:lnTo>
                  <a:lnTo>
                    <a:pt x="293" y="320"/>
                  </a:lnTo>
                  <a:lnTo>
                    <a:pt x="276" y="317"/>
                  </a:lnTo>
                  <a:lnTo>
                    <a:pt x="262" y="315"/>
                  </a:lnTo>
                  <a:lnTo>
                    <a:pt x="247" y="312"/>
                  </a:lnTo>
                  <a:lnTo>
                    <a:pt x="229" y="306"/>
                  </a:lnTo>
                  <a:lnTo>
                    <a:pt x="214" y="303"/>
                  </a:lnTo>
                  <a:lnTo>
                    <a:pt x="199" y="297"/>
                  </a:lnTo>
                  <a:lnTo>
                    <a:pt x="185" y="289"/>
                  </a:lnTo>
                  <a:lnTo>
                    <a:pt x="173" y="283"/>
                  </a:lnTo>
                  <a:lnTo>
                    <a:pt x="159" y="274"/>
                  </a:lnTo>
                  <a:lnTo>
                    <a:pt x="147" y="265"/>
                  </a:lnTo>
                  <a:lnTo>
                    <a:pt x="132" y="256"/>
                  </a:lnTo>
                  <a:lnTo>
                    <a:pt x="120" y="247"/>
                  </a:lnTo>
                  <a:lnTo>
                    <a:pt x="109" y="239"/>
                  </a:lnTo>
                  <a:lnTo>
                    <a:pt x="97" y="228"/>
                  </a:lnTo>
                  <a:lnTo>
                    <a:pt x="85" y="216"/>
                  </a:lnTo>
                  <a:lnTo>
                    <a:pt x="76" y="204"/>
                  </a:lnTo>
                  <a:lnTo>
                    <a:pt x="67" y="192"/>
                  </a:lnTo>
                  <a:lnTo>
                    <a:pt x="58" y="181"/>
                  </a:lnTo>
                  <a:lnTo>
                    <a:pt x="50" y="166"/>
                  </a:lnTo>
                  <a:lnTo>
                    <a:pt x="41" y="151"/>
                  </a:lnTo>
                  <a:lnTo>
                    <a:pt x="35" y="140"/>
                  </a:lnTo>
                  <a:lnTo>
                    <a:pt x="27" y="126"/>
                  </a:lnTo>
                  <a:lnTo>
                    <a:pt x="24" y="111"/>
                  </a:lnTo>
                  <a:lnTo>
                    <a:pt x="18" y="96"/>
                  </a:lnTo>
                  <a:lnTo>
                    <a:pt x="12" y="79"/>
                  </a:lnTo>
                  <a:lnTo>
                    <a:pt x="9" y="64"/>
                  </a:lnTo>
                  <a:lnTo>
                    <a:pt x="6" y="50"/>
                  </a:lnTo>
                  <a:lnTo>
                    <a:pt x="3" y="32"/>
                  </a:lnTo>
                  <a:lnTo>
                    <a:pt x="3" y="15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solidFill>
              <a:srgbClr val="FF9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4" name="Freeform 138">
              <a:extLst>
                <a:ext uri="{FF2B5EF4-FFF2-40B4-BE49-F238E27FC236}">
                  <a16:creationId xmlns:a16="http://schemas.microsoft.com/office/drawing/2014/main" id="{258777DD-AB17-47E2-B49E-8C71E2193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473"/>
              <a:ext cx="650" cy="324"/>
            </a:xfrm>
            <a:custGeom>
              <a:avLst/>
              <a:gdLst>
                <a:gd name="T0" fmla="*/ 0 w 650"/>
                <a:gd name="T1" fmla="*/ 289 h 324"/>
                <a:gd name="T2" fmla="*/ 9 w 650"/>
                <a:gd name="T3" fmla="*/ 242 h 324"/>
                <a:gd name="T4" fmla="*/ 24 w 650"/>
                <a:gd name="T5" fmla="*/ 198 h 324"/>
                <a:gd name="T6" fmla="*/ 47 w 650"/>
                <a:gd name="T7" fmla="*/ 157 h 324"/>
                <a:gd name="T8" fmla="*/ 73 w 650"/>
                <a:gd name="T9" fmla="*/ 117 h 324"/>
                <a:gd name="T10" fmla="*/ 106 w 650"/>
                <a:gd name="T11" fmla="*/ 84 h 324"/>
                <a:gd name="T12" fmla="*/ 144 w 650"/>
                <a:gd name="T13" fmla="*/ 55 h 324"/>
                <a:gd name="T14" fmla="*/ 182 w 650"/>
                <a:gd name="T15" fmla="*/ 32 h 324"/>
                <a:gd name="T16" fmla="*/ 226 w 650"/>
                <a:gd name="T17" fmla="*/ 15 h 324"/>
                <a:gd name="T18" fmla="*/ 273 w 650"/>
                <a:gd name="T19" fmla="*/ 6 h 324"/>
                <a:gd name="T20" fmla="*/ 323 w 650"/>
                <a:gd name="T21" fmla="*/ 0 h 324"/>
                <a:gd name="T22" fmla="*/ 373 w 650"/>
                <a:gd name="T23" fmla="*/ 6 h 324"/>
                <a:gd name="T24" fmla="*/ 420 w 650"/>
                <a:gd name="T25" fmla="*/ 15 h 324"/>
                <a:gd name="T26" fmla="*/ 464 w 650"/>
                <a:gd name="T27" fmla="*/ 32 h 324"/>
                <a:gd name="T28" fmla="*/ 505 w 650"/>
                <a:gd name="T29" fmla="*/ 55 h 324"/>
                <a:gd name="T30" fmla="*/ 540 w 650"/>
                <a:gd name="T31" fmla="*/ 84 h 324"/>
                <a:gd name="T32" fmla="*/ 573 w 650"/>
                <a:gd name="T33" fmla="*/ 117 h 324"/>
                <a:gd name="T34" fmla="*/ 602 w 650"/>
                <a:gd name="T35" fmla="*/ 157 h 324"/>
                <a:gd name="T36" fmla="*/ 622 w 650"/>
                <a:gd name="T37" fmla="*/ 198 h 324"/>
                <a:gd name="T38" fmla="*/ 637 w 650"/>
                <a:gd name="T39" fmla="*/ 242 h 324"/>
                <a:gd name="T40" fmla="*/ 646 w 650"/>
                <a:gd name="T41" fmla="*/ 289 h 324"/>
                <a:gd name="T42" fmla="*/ 637 w 650"/>
                <a:gd name="T43" fmla="*/ 323 h 324"/>
                <a:gd name="T44" fmla="*/ 634 w 650"/>
                <a:gd name="T45" fmla="*/ 274 h 324"/>
                <a:gd name="T46" fmla="*/ 625 w 650"/>
                <a:gd name="T47" fmla="*/ 230 h 324"/>
                <a:gd name="T48" fmla="*/ 608 w 650"/>
                <a:gd name="T49" fmla="*/ 187 h 324"/>
                <a:gd name="T50" fmla="*/ 585 w 650"/>
                <a:gd name="T51" fmla="*/ 148 h 324"/>
                <a:gd name="T52" fmla="*/ 555 w 650"/>
                <a:gd name="T53" fmla="*/ 114 h 324"/>
                <a:gd name="T54" fmla="*/ 523 w 650"/>
                <a:gd name="T55" fmla="*/ 81 h 324"/>
                <a:gd name="T56" fmla="*/ 487 w 650"/>
                <a:gd name="T57" fmla="*/ 55 h 324"/>
                <a:gd name="T58" fmla="*/ 446 w 650"/>
                <a:gd name="T59" fmla="*/ 35 h 324"/>
                <a:gd name="T60" fmla="*/ 402 w 650"/>
                <a:gd name="T61" fmla="*/ 21 h 324"/>
                <a:gd name="T62" fmla="*/ 356 w 650"/>
                <a:gd name="T63" fmla="*/ 12 h 324"/>
                <a:gd name="T64" fmla="*/ 308 w 650"/>
                <a:gd name="T65" fmla="*/ 12 h 324"/>
                <a:gd name="T66" fmla="*/ 262 w 650"/>
                <a:gd name="T67" fmla="*/ 18 h 324"/>
                <a:gd name="T68" fmla="*/ 214 w 650"/>
                <a:gd name="T69" fmla="*/ 29 h 324"/>
                <a:gd name="T70" fmla="*/ 173 w 650"/>
                <a:gd name="T71" fmla="*/ 46 h 324"/>
                <a:gd name="T72" fmla="*/ 135 w 650"/>
                <a:gd name="T73" fmla="*/ 73 h 324"/>
                <a:gd name="T74" fmla="*/ 100 w 650"/>
                <a:gd name="T75" fmla="*/ 102 h 324"/>
                <a:gd name="T76" fmla="*/ 70 w 650"/>
                <a:gd name="T77" fmla="*/ 136 h 324"/>
                <a:gd name="T78" fmla="*/ 47 w 650"/>
                <a:gd name="T79" fmla="*/ 175 h 324"/>
                <a:gd name="T80" fmla="*/ 27 w 650"/>
                <a:gd name="T81" fmla="*/ 215 h 324"/>
                <a:gd name="T82" fmla="*/ 15 w 650"/>
                <a:gd name="T83" fmla="*/ 259 h 324"/>
                <a:gd name="T84" fmla="*/ 9 w 650"/>
                <a:gd name="T85" fmla="*/ 305 h 3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50"/>
                <a:gd name="T130" fmla="*/ 0 h 324"/>
                <a:gd name="T131" fmla="*/ 650 w 650"/>
                <a:gd name="T132" fmla="*/ 324 h 3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50" h="324">
                  <a:moveTo>
                    <a:pt x="0" y="323"/>
                  </a:moveTo>
                  <a:lnTo>
                    <a:pt x="0" y="305"/>
                  </a:lnTo>
                  <a:lnTo>
                    <a:pt x="0" y="289"/>
                  </a:lnTo>
                  <a:lnTo>
                    <a:pt x="3" y="274"/>
                  </a:lnTo>
                  <a:lnTo>
                    <a:pt x="6" y="259"/>
                  </a:lnTo>
                  <a:lnTo>
                    <a:pt x="9" y="242"/>
                  </a:lnTo>
                  <a:lnTo>
                    <a:pt x="15" y="227"/>
                  </a:lnTo>
                  <a:lnTo>
                    <a:pt x="21" y="212"/>
                  </a:lnTo>
                  <a:lnTo>
                    <a:pt x="24" y="198"/>
                  </a:lnTo>
                  <a:lnTo>
                    <a:pt x="32" y="184"/>
                  </a:lnTo>
                  <a:lnTo>
                    <a:pt x="38" y="169"/>
                  </a:lnTo>
                  <a:lnTo>
                    <a:pt x="47" y="157"/>
                  </a:lnTo>
                  <a:lnTo>
                    <a:pt x="55" y="142"/>
                  </a:lnTo>
                  <a:lnTo>
                    <a:pt x="64" y="131"/>
                  </a:lnTo>
                  <a:lnTo>
                    <a:pt x="73" y="117"/>
                  </a:lnTo>
                  <a:lnTo>
                    <a:pt x="82" y="108"/>
                  </a:lnTo>
                  <a:lnTo>
                    <a:pt x="94" y="96"/>
                  </a:lnTo>
                  <a:lnTo>
                    <a:pt x="106" y="84"/>
                  </a:lnTo>
                  <a:lnTo>
                    <a:pt x="117" y="76"/>
                  </a:lnTo>
                  <a:lnTo>
                    <a:pt x="129" y="64"/>
                  </a:lnTo>
                  <a:lnTo>
                    <a:pt x="144" y="55"/>
                  </a:lnTo>
                  <a:lnTo>
                    <a:pt x="156" y="46"/>
                  </a:lnTo>
                  <a:lnTo>
                    <a:pt x="170" y="40"/>
                  </a:lnTo>
                  <a:lnTo>
                    <a:pt x="182" y="32"/>
                  </a:lnTo>
                  <a:lnTo>
                    <a:pt x="196" y="27"/>
                  </a:lnTo>
                  <a:lnTo>
                    <a:pt x="211" y="21"/>
                  </a:lnTo>
                  <a:lnTo>
                    <a:pt x="226" y="15"/>
                  </a:lnTo>
                  <a:lnTo>
                    <a:pt x="244" y="12"/>
                  </a:lnTo>
                  <a:lnTo>
                    <a:pt x="259" y="9"/>
                  </a:lnTo>
                  <a:lnTo>
                    <a:pt x="273" y="6"/>
                  </a:lnTo>
                  <a:lnTo>
                    <a:pt x="290" y="3"/>
                  </a:lnTo>
                  <a:lnTo>
                    <a:pt x="308" y="0"/>
                  </a:lnTo>
                  <a:lnTo>
                    <a:pt x="323" y="0"/>
                  </a:lnTo>
                  <a:lnTo>
                    <a:pt x="341" y="0"/>
                  </a:lnTo>
                  <a:lnTo>
                    <a:pt x="359" y="3"/>
                  </a:lnTo>
                  <a:lnTo>
                    <a:pt x="373" y="6"/>
                  </a:lnTo>
                  <a:lnTo>
                    <a:pt x="387" y="9"/>
                  </a:lnTo>
                  <a:lnTo>
                    <a:pt x="405" y="12"/>
                  </a:lnTo>
                  <a:lnTo>
                    <a:pt x="420" y="15"/>
                  </a:lnTo>
                  <a:lnTo>
                    <a:pt x="435" y="21"/>
                  </a:lnTo>
                  <a:lnTo>
                    <a:pt x="449" y="27"/>
                  </a:lnTo>
                  <a:lnTo>
                    <a:pt x="464" y="32"/>
                  </a:lnTo>
                  <a:lnTo>
                    <a:pt x="479" y="40"/>
                  </a:lnTo>
                  <a:lnTo>
                    <a:pt x="490" y="46"/>
                  </a:lnTo>
                  <a:lnTo>
                    <a:pt x="505" y="55"/>
                  </a:lnTo>
                  <a:lnTo>
                    <a:pt x="517" y="64"/>
                  </a:lnTo>
                  <a:lnTo>
                    <a:pt x="528" y="76"/>
                  </a:lnTo>
                  <a:lnTo>
                    <a:pt x="540" y="84"/>
                  </a:lnTo>
                  <a:lnTo>
                    <a:pt x="552" y="96"/>
                  </a:lnTo>
                  <a:lnTo>
                    <a:pt x="564" y="108"/>
                  </a:lnTo>
                  <a:lnTo>
                    <a:pt x="573" y="117"/>
                  </a:lnTo>
                  <a:lnTo>
                    <a:pt x="585" y="131"/>
                  </a:lnTo>
                  <a:lnTo>
                    <a:pt x="594" y="142"/>
                  </a:lnTo>
                  <a:lnTo>
                    <a:pt x="602" y="157"/>
                  </a:lnTo>
                  <a:lnTo>
                    <a:pt x="608" y="169"/>
                  </a:lnTo>
                  <a:lnTo>
                    <a:pt x="616" y="184"/>
                  </a:lnTo>
                  <a:lnTo>
                    <a:pt x="622" y="198"/>
                  </a:lnTo>
                  <a:lnTo>
                    <a:pt x="628" y="212"/>
                  </a:lnTo>
                  <a:lnTo>
                    <a:pt x="634" y="227"/>
                  </a:lnTo>
                  <a:lnTo>
                    <a:pt x="637" y="242"/>
                  </a:lnTo>
                  <a:lnTo>
                    <a:pt x="640" y="259"/>
                  </a:lnTo>
                  <a:lnTo>
                    <a:pt x="643" y="274"/>
                  </a:lnTo>
                  <a:lnTo>
                    <a:pt x="646" y="289"/>
                  </a:lnTo>
                  <a:lnTo>
                    <a:pt x="646" y="305"/>
                  </a:lnTo>
                  <a:lnTo>
                    <a:pt x="649" y="323"/>
                  </a:lnTo>
                  <a:lnTo>
                    <a:pt x="637" y="323"/>
                  </a:lnTo>
                  <a:lnTo>
                    <a:pt x="637" y="305"/>
                  </a:lnTo>
                  <a:lnTo>
                    <a:pt x="637" y="292"/>
                  </a:lnTo>
                  <a:lnTo>
                    <a:pt x="634" y="274"/>
                  </a:lnTo>
                  <a:lnTo>
                    <a:pt x="631" y="259"/>
                  </a:lnTo>
                  <a:lnTo>
                    <a:pt x="628" y="244"/>
                  </a:lnTo>
                  <a:lnTo>
                    <a:pt x="625" y="230"/>
                  </a:lnTo>
                  <a:lnTo>
                    <a:pt x="619" y="215"/>
                  </a:lnTo>
                  <a:lnTo>
                    <a:pt x="613" y="201"/>
                  </a:lnTo>
                  <a:lnTo>
                    <a:pt x="608" y="187"/>
                  </a:lnTo>
                  <a:lnTo>
                    <a:pt x="599" y="175"/>
                  </a:lnTo>
                  <a:lnTo>
                    <a:pt x="594" y="160"/>
                  </a:lnTo>
                  <a:lnTo>
                    <a:pt x="585" y="148"/>
                  </a:lnTo>
                  <a:lnTo>
                    <a:pt x="576" y="136"/>
                  </a:lnTo>
                  <a:lnTo>
                    <a:pt x="567" y="125"/>
                  </a:lnTo>
                  <a:lnTo>
                    <a:pt x="555" y="114"/>
                  </a:lnTo>
                  <a:lnTo>
                    <a:pt x="546" y="102"/>
                  </a:lnTo>
                  <a:lnTo>
                    <a:pt x="534" y="90"/>
                  </a:lnTo>
                  <a:lnTo>
                    <a:pt x="523" y="81"/>
                  </a:lnTo>
                  <a:lnTo>
                    <a:pt x="511" y="73"/>
                  </a:lnTo>
                  <a:lnTo>
                    <a:pt x="499" y="64"/>
                  </a:lnTo>
                  <a:lnTo>
                    <a:pt x="487" y="55"/>
                  </a:lnTo>
                  <a:lnTo>
                    <a:pt x="473" y="46"/>
                  </a:lnTo>
                  <a:lnTo>
                    <a:pt x="461" y="40"/>
                  </a:lnTo>
                  <a:lnTo>
                    <a:pt x="446" y="35"/>
                  </a:lnTo>
                  <a:lnTo>
                    <a:pt x="432" y="29"/>
                  </a:lnTo>
                  <a:lnTo>
                    <a:pt x="417" y="24"/>
                  </a:lnTo>
                  <a:lnTo>
                    <a:pt x="402" y="21"/>
                  </a:lnTo>
                  <a:lnTo>
                    <a:pt x="387" y="18"/>
                  </a:lnTo>
                  <a:lnTo>
                    <a:pt x="373" y="15"/>
                  </a:lnTo>
                  <a:lnTo>
                    <a:pt x="356" y="12"/>
                  </a:lnTo>
                  <a:lnTo>
                    <a:pt x="341" y="12"/>
                  </a:lnTo>
                  <a:lnTo>
                    <a:pt x="323" y="9"/>
                  </a:lnTo>
                  <a:lnTo>
                    <a:pt x="308" y="12"/>
                  </a:lnTo>
                  <a:lnTo>
                    <a:pt x="290" y="12"/>
                  </a:lnTo>
                  <a:lnTo>
                    <a:pt x="276" y="15"/>
                  </a:lnTo>
                  <a:lnTo>
                    <a:pt x="262" y="18"/>
                  </a:lnTo>
                  <a:lnTo>
                    <a:pt x="244" y="21"/>
                  </a:lnTo>
                  <a:lnTo>
                    <a:pt x="229" y="24"/>
                  </a:lnTo>
                  <a:lnTo>
                    <a:pt x="214" y="29"/>
                  </a:lnTo>
                  <a:lnTo>
                    <a:pt x="202" y="35"/>
                  </a:lnTo>
                  <a:lnTo>
                    <a:pt x="188" y="40"/>
                  </a:lnTo>
                  <a:lnTo>
                    <a:pt x="173" y="46"/>
                  </a:lnTo>
                  <a:lnTo>
                    <a:pt x="162" y="55"/>
                  </a:lnTo>
                  <a:lnTo>
                    <a:pt x="147" y="64"/>
                  </a:lnTo>
                  <a:lnTo>
                    <a:pt x="135" y="73"/>
                  </a:lnTo>
                  <a:lnTo>
                    <a:pt x="123" y="81"/>
                  </a:lnTo>
                  <a:lnTo>
                    <a:pt x="111" y="90"/>
                  </a:lnTo>
                  <a:lnTo>
                    <a:pt x="100" y="102"/>
                  </a:lnTo>
                  <a:lnTo>
                    <a:pt x="91" y="114"/>
                  </a:lnTo>
                  <a:lnTo>
                    <a:pt x="79" y="125"/>
                  </a:lnTo>
                  <a:lnTo>
                    <a:pt x="70" y="136"/>
                  </a:lnTo>
                  <a:lnTo>
                    <a:pt x="61" y="148"/>
                  </a:lnTo>
                  <a:lnTo>
                    <a:pt x="55" y="160"/>
                  </a:lnTo>
                  <a:lnTo>
                    <a:pt x="47" y="175"/>
                  </a:lnTo>
                  <a:lnTo>
                    <a:pt x="41" y="187"/>
                  </a:lnTo>
                  <a:lnTo>
                    <a:pt x="32" y="201"/>
                  </a:lnTo>
                  <a:lnTo>
                    <a:pt x="27" y="215"/>
                  </a:lnTo>
                  <a:lnTo>
                    <a:pt x="24" y="230"/>
                  </a:lnTo>
                  <a:lnTo>
                    <a:pt x="18" y="244"/>
                  </a:lnTo>
                  <a:lnTo>
                    <a:pt x="15" y="259"/>
                  </a:lnTo>
                  <a:lnTo>
                    <a:pt x="12" y="274"/>
                  </a:lnTo>
                  <a:lnTo>
                    <a:pt x="12" y="292"/>
                  </a:lnTo>
                  <a:lnTo>
                    <a:pt x="9" y="305"/>
                  </a:lnTo>
                  <a:lnTo>
                    <a:pt x="9" y="323"/>
                  </a:lnTo>
                  <a:lnTo>
                    <a:pt x="0" y="323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5" name="Freeform 139">
              <a:extLst>
                <a:ext uri="{FF2B5EF4-FFF2-40B4-BE49-F238E27FC236}">
                  <a16:creationId xmlns:a16="http://schemas.microsoft.com/office/drawing/2014/main" id="{BDFBFD56-62F2-4E0B-AA1F-EA9D96B67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802"/>
              <a:ext cx="650" cy="321"/>
            </a:xfrm>
            <a:custGeom>
              <a:avLst/>
              <a:gdLst>
                <a:gd name="T0" fmla="*/ 0 w 650"/>
                <a:gd name="T1" fmla="*/ 15 h 321"/>
                <a:gd name="T2" fmla="*/ 6 w 650"/>
                <a:gd name="T3" fmla="*/ 64 h 321"/>
                <a:gd name="T4" fmla="*/ 21 w 650"/>
                <a:gd name="T5" fmla="*/ 111 h 321"/>
                <a:gd name="T6" fmla="*/ 38 w 650"/>
                <a:gd name="T7" fmla="*/ 151 h 321"/>
                <a:gd name="T8" fmla="*/ 64 w 650"/>
                <a:gd name="T9" fmla="*/ 192 h 321"/>
                <a:gd name="T10" fmla="*/ 94 w 650"/>
                <a:gd name="T11" fmla="*/ 228 h 321"/>
                <a:gd name="T12" fmla="*/ 129 w 650"/>
                <a:gd name="T13" fmla="*/ 256 h 321"/>
                <a:gd name="T14" fmla="*/ 170 w 650"/>
                <a:gd name="T15" fmla="*/ 283 h 321"/>
                <a:gd name="T16" fmla="*/ 211 w 650"/>
                <a:gd name="T17" fmla="*/ 303 h 321"/>
                <a:gd name="T18" fmla="*/ 259 w 650"/>
                <a:gd name="T19" fmla="*/ 315 h 321"/>
                <a:gd name="T20" fmla="*/ 308 w 650"/>
                <a:gd name="T21" fmla="*/ 320 h 321"/>
                <a:gd name="T22" fmla="*/ 359 w 650"/>
                <a:gd name="T23" fmla="*/ 320 h 321"/>
                <a:gd name="T24" fmla="*/ 405 w 650"/>
                <a:gd name="T25" fmla="*/ 312 h 321"/>
                <a:gd name="T26" fmla="*/ 449 w 650"/>
                <a:gd name="T27" fmla="*/ 297 h 321"/>
                <a:gd name="T28" fmla="*/ 490 w 650"/>
                <a:gd name="T29" fmla="*/ 274 h 321"/>
                <a:gd name="T30" fmla="*/ 528 w 650"/>
                <a:gd name="T31" fmla="*/ 247 h 321"/>
                <a:gd name="T32" fmla="*/ 564 w 650"/>
                <a:gd name="T33" fmla="*/ 216 h 321"/>
                <a:gd name="T34" fmla="*/ 594 w 650"/>
                <a:gd name="T35" fmla="*/ 181 h 321"/>
                <a:gd name="T36" fmla="*/ 616 w 650"/>
                <a:gd name="T37" fmla="*/ 140 h 321"/>
                <a:gd name="T38" fmla="*/ 634 w 650"/>
                <a:gd name="T39" fmla="*/ 96 h 321"/>
                <a:gd name="T40" fmla="*/ 643 w 650"/>
                <a:gd name="T41" fmla="*/ 50 h 321"/>
                <a:gd name="T42" fmla="*/ 649 w 650"/>
                <a:gd name="T43" fmla="*/ 0 h 321"/>
                <a:gd name="T44" fmla="*/ 637 w 650"/>
                <a:gd name="T45" fmla="*/ 32 h 321"/>
                <a:gd name="T46" fmla="*/ 628 w 650"/>
                <a:gd name="T47" fmla="*/ 79 h 321"/>
                <a:gd name="T48" fmla="*/ 613 w 650"/>
                <a:gd name="T49" fmla="*/ 123 h 321"/>
                <a:gd name="T50" fmla="*/ 594 w 650"/>
                <a:gd name="T51" fmla="*/ 160 h 321"/>
                <a:gd name="T52" fmla="*/ 567 w 650"/>
                <a:gd name="T53" fmla="*/ 198 h 321"/>
                <a:gd name="T54" fmla="*/ 534 w 650"/>
                <a:gd name="T55" fmla="*/ 231 h 321"/>
                <a:gd name="T56" fmla="*/ 499 w 650"/>
                <a:gd name="T57" fmla="*/ 259 h 321"/>
                <a:gd name="T58" fmla="*/ 461 w 650"/>
                <a:gd name="T59" fmla="*/ 283 h 321"/>
                <a:gd name="T60" fmla="*/ 417 w 650"/>
                <a:gd name="T61" fmla="*/ 297 h 321"/>
                <a:gd name="T62" fmla="*/ 373 w 650"/>
                <a:gd name="T63" fmla="*/ 309 h 321"/>
                <a:gd name="T64" fmla="*/ 323 w 650"/>
                <a:gd name="T65" fmla="*/ 312 h 321"/>
                <a:gd name="T66" fmla="*/ 276 w 650"/>
                <a:gd name="T67" fmla="*/ 309 h 321"/>
                <a:gd name="T68" fmla="*/ 229 w 650"/>
                <a:gd name="T69" fmla="*/ 297 h 321"/>
                <a:gd name="T70" fmla="*/ 188 w 650"/>
                <a:gd name="T71" fmla="*/ 283 h 321"/>
                <a:gd name="T72" fmla="*/ 147 w 650"/>
                <a:gd name="T73" fmla="*/ 259 h 321"/>
                <a:gd name="T74" fmla="*/ 111 w 650"/>
                <a:gd name="T75" fmla="*/ 231 h 321"/>
                <a:gd name="T76" fmla="*/ 79 w 650"/>
                <a:gd name="T77" fmla="*/ 198 h 321"/>
                <a:gd name="T78" fmla="*/ 55 w 650"/>
                <a:gd name="T79" fmla="*/ 160 h 321"/>
                <a:gd name="T80" fmla="*/ 32 w 650"/>
                <a:gd name="T81" fmla="*/ 123 h 321"/>
                <a:gd name="T82" fmla="*/ 18 w 650"/>
                <a:gd name="T83" fmla="*/ 79 h 321"/>
                <a:gd name="T84" fmla="*/ 12 w 650"/>
                <a:gd name="T85" fmla="*/ 32 h 321"/>
                <a:gd name="T86" fmla="*/ 0 w 650"/>
                <a:gd name="T87" fmla="*/ 0 h 3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0"/>
                <a:gd name="T133" fmla="*/ 0 h 321"/>
                <a:gd name="T134" fmla="*/ 650 w 650"/>
                <a:gd name="T135" fmla="*/ 321 h 3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0" h="321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0" y="32"/>
                  </a:lnTo>
                  <a:lnTo>
                    <a:pt x="3" y="50"/>
                  </a:lnTo>
                  <a:lnTo>
                    <a:pt x="6" y="64"/>
                  </a:lnTo>
                  <a:lnTo>
                    <a:pt x="9" y="79"/>
                  </a:lnTo>
                  <a:lnTo>
                    <a:pt x="15" y="96"/>
                  </a:lnTo>
                  <a:lnTo>
                    <a:pt x="21" y="111"/>
                  </a:lnTo>
                  <a:lnTo>
                    <a:pt x="24" y="126"/>
                  </a:lnTo>
                  <a:lnTo>
                    <a:pt x="32" y="140"/>
                  </a:lnTo>
                  <a:lnTo>
                    <a:pt x="38" y="151"/>
                  </a:lnTo>
                  <a:lnTo>
                    <a:pt x="47" y="166"/>
                  </a:lnTo>
                  <a:lnTo>
                    <a:pt x="55" y="181"/>
                  </a:lnTo>
                  <a:lnTo>
                    <a:pt x="64" y="192"/>
                  </a:lnTo>
                  <a:lnTo>
                    <a:pt x="73" y="204"/>
                  </a:lnTo>
                  <a:lnTo>
                    <a:pt x="82" y="216"/>
                  </a:lnTo>
                  <a:lnTo>
                    <a:pt x="94" y="228"/>
                  </a:lnTo>
                  <a:lnTo>
                    <a:pt x="106" y="239"/>
                  </a:lnTo>
                  <a:lnTo>
                    <a:pt x="117" y="247"/>
                  </a:lnTo>
                  <a:lnTo>
                    <a:pt x="129" y="256"/>
                  </a:lnTo>
                  <a:lnTo>
                    <a:pt x="144" y="265"/>
                  </a:lnTo>
                  <a:lnTo>
                    <a:pt x="156" y="274"/>
                  </a:lnTo>
                  <a:lnTo>
                    <a:pt x="170" y="283"/>
                  </a:lnTo>
                  <a:lnTo>
                    <a:pt x="182" y="289"/>
                  </a:lnTo>
                  <a:lnTo>
                    <a:pt x="196" y="297"/>
                  </a:lnTo>
                  <a:lnTo>
                    <a:pt x="211" y="303"/>
                  </a:lnTo>
                  <a:lnTo>
                    <a:pt x="226" y="306"/>
                  </a:lnTo>
                  <a:lnTo>
                    <a:pt x="244" y="312"/>
                  </a:lnTo>
                  <a:lnTo>
                    <a:pt x="259" y="315"/>
                  </a:lnTo>
                  <a:lnTo>
                    <a:pt x="273" y="317"/>
                  </a:lnTo>
                  <a:lnTo>
                    <a:pt x="290" y="320"/>
                  </a:lnTo>
                  <a:lnTo>
                    <a:pt x="308" y="320"/>
                  </a:lnTo>
                  <a:lnTo>
                    <a:pt x="323" y="320"/>
                  </a:lnTo>
                  <a:lnTo>
                    <a:pt x="341" y="320"/>
                  </a:lnTo>
                  <a:lnTo>
                    <a:pt x="359" y="320"/>
                  </a:lnTo>
                  <a:lnTo>
                    <a:pt x="373" y="317"/>
                  </a:lnTo>
                  <a:lnTo>
                    <a:pt x="387" y="315"/>
                  </a:lnTo>
                  <a:lnTo>
                    <a:pt x="405" y="312"/>
                  </a:lnTo>
                  <a:lnTo>
                    <a:pt x="420" y="306"/>
                  </a:lnTo>
                  <a:lnTo>
                    <a:pt x="435" y="303"/>
                  </a:lnTo>
                  <a:lnTo>
                    <a:pt x="449" y="297"/>
                  </a:lnTo>
                  <a:lnTo>
                    <a:pt x="464" y="289"/>
                  </a:lnTo>
                  <a:lnTo>
                    <a:pt x="479" y="283"/>
                  </a:lnTo>
                  <a:lnTo>
                    <a:pt x="490" y="274"/>
                  </a:lnTo>
                  <a:lnTo>
                    <a:pt x="505" y="265"/>
                  </a:lnTo>
                  <a:lnTo>
                    <a:pt x="517" y="256"/>
                  </a:lnTo>
                  <a:lnTo>
                    <a:pt x="528" y="247"/>
                  </a:lnTo>
                  <a:lnTo>
                    <a:pt x="540" y="239"/>
                  </a:lnTo>
                  <a:lnTo>
                    <a:pt x="552" y="228"/>
                  </a:lnTo>
                  <a:lnTo>
                    <a:pt x="564" y="216"/>
                  </a:lnTo>
                  <a:lnTo>
                    <a:pt x="573" y="204"/>
                  </a:lnTo>
                  <a:lnTo>
                    <a:pt x="585" y="192"/>
                  </a:lnTo>
                  <a:lnTo>
                    <a:pt x="594" y="181"/>
                  </a:lnTo>
                  <a:lnTo>
                    <a:pt x="602" y="166"/>
                  </a:lnTo>
                  <a:lnTo>
                    <a:pt x="608" y="151"/>
                  </a:lnTo>
                  <a:lnTo>
                    <a:pt x="616" y="140"/>
                  </a:lnTo>
                  <a:lnTo>
                    <a:pt x="622" y="126"/>
                  </a:lnTo>
                  <a:lnTo>
                    <a:pt x="628" y="111"/>
                  </a:lnTo>
                  <a:lnTo>
                    <a:pt x="634" y="96"/>
                  </a:lnTo>
                  <a:lnTo>
                    <a:pt x="637" y="79"/>
                  </a:lnTo>
                  <a:lnTo>
                    <a:pt x="640" y="64"/>
                  </a:lnTo>
                  <a:lnTo>
                    <a:pt x="643" y="50"/>
                  </a:lnTo>
                  <a:lnTo>
                    <a:pt x="646" y="32"/>
                  </a:lnTo>
                  <a:lnTo>
                    <a:pt x="646" y="15"/>
                  </a:lnTo>
                  <a:lnTo>
                    <a:pt x="649" y="0"/>
                  </a:lnTo>
                  <a:lnTo>
                    <a:pt x="637" y="0"/>
                  </a:lnTo>
                  <a:lnTo>
                    <a:pt x="637" y="15"/>
                  </a:lnTo>
                  <a:lnTo>
                    <a:pt x="637" y="32"/>
                  </a:lnTo>
                  <a:lnTo>
                    <a:pt x="634" y="47"/>
                  </a:lnTo>
                  <a:lnTo>
                    <a:pt x="631" y="61"/>
                  </a:lnTo>
                  <a:lnTo>
                    <a:pt x="628" y="79"/>
                  </a:lnTo>
                  <a:lnTo>
                    <a:pt x="625" y="93"/>
                  </a:lnTo>
                  <a:lnTo>
                    <a:pt x="619" y="108"/>
                  </a:lnTo>
                  <a:lnTo>
                    <a:pt x="613" y="123"/>
                  </a:lnTo>
                  <a:lnTo>
                    <a:pt x="608" y="134"/>
                  </a:lnTo>
                  <a:lnTo>
                    <a:pt x="599" y="148"/>
                  </a:lnTo>
                  <a:lnTo>
                    <a:pt x="594" y="160"/>
                  </a:lnTo>
                  <a:lnTo>
                    <a:pt x="585" y="175"/>
                  </a:lnTo>
                  <a:lnTo>
                    <a:pt x="576" y="187"/>
                  </a:lnTo>
                  <a:lnTo>
                    <a:pt x="567" y="198"/>
                  </a:lnTo>
                  <a:lnTo>
                    <a:pt x="555" y="210"/>
                  </a:lnTo>
                  <a:lnTo>
                    <a:pt x="546" y="222"/>
                  </a:lnTo>
                  <a:lnTo>
                    <a:pt x="534" y="231"/>
                  </a:lnTo>
                  <a:lnTo>
                    <a:pt x="523" y="241"/>
                  </a:lnTo>
                  <a:lnTo>
                    <a:pt x="511" y="250"/>
                  </a:lnTo>
                  <a:lnTo>
                    <a:pt x="499" y="259"/>
                  </a:lnTo>
                  <a:lnTo>
                    <a:pt x="487" y="268"/>
                  </a:lnTo>
                  <a:lnTo>
                    <a:pt x="473" y="274"/>
                  </a:lnTo>
                  <a:lnTo>
                    <a:pt x="461" y="283"/>
                  </a:lnTo>
                  <a:lnTo>
                    <a:pt x="446" y="289"/>
                  </a:lnTo>
                  <a:lnTo>
                    <a:pt x="432" y="294"/>
                  </a:lnTo>
                  <a:lnTo>
                    <a:pt x="417" y="297"/>
                  </a:lnTo>
                  <a:lnTo>
                    <a:pt x="402" y="303"/>
                  </a:lnTo>
                  <a:lnTo>
                    <a:pt x="387" y="306"/>
                  </a:lnTo>
                  <a:lnTo>
                    <a:pt x="373" y="309"/>
                  </a:lnTo>
                  <a:lnTo>
                    <a:pt x="356" y="312"/>
                  </a:lnTo>
                  <a:lnTo>
                    <a:pt x="341" y="312"/>
                  </a:lnTo>
                  <a:lnTo>
                    <a:pt x="323" y="312"/>
                  </a:lnTo>
                  <a:lnTo>
                    <a:pt x="308" y="312"/>
                  </a:lnTo>
                  <a:lnTo>
                    <a:pt x="290" y="312"/>
                  </a:lnTo>
                  <a:lnTo>
                    <a:pt x="276" y="309"/>
                  </a:lnTo>
                  <a:lnTo>
                    <a:pt x="262" y="306"/>
                  </a:lnTo>
                  <a:lnTo>
                    <a:pt x="244" y="303"/>
                  </a:lnTo>
                  <a:lnTo>
                    <a:pt x="229" y="297"/>
                  </a:lnTo>
                  <a:lnTo>
                    <a:pt x="214" y="294"/>
                  </a:lnTo>
                  <a:lnTo>
                    <a:pt x="202" y="289"/>
                  </a:lnTo>
                  <a:lnTo>
                    <a:pt x="188" y="283"/>
                  </a:lnTo>
                  <a:lnTo>
                    <a:pt x="173" y="274"/>
                  </a:lnTo>
                  <a:lnTo>
                    <a:pt x="162" y="268"/>
                  </a:lnTo>
                  <a:lnTo>
                    <a:pt x="147" y="259"/>
                  </a:lnTo>
                  <a:lnTo>
                    <a:pt x="135" y="250"/>
                  </a:lnTo>
                  <a:lnTo>
                    <a:pt x="123" y="241"/>
                  </a:lnTo>
                  <a:lnTo>
                    <a:pt x="111" y="231"/>
                  </a:lnTo>
                  <a:lnTo>
                    <a:pt x="100" y="222"/>
                  </a:lnTo>
                  <a:lnTo>
                    <a:pt x="91" y="210"/>
                  </a:lnTo>
                  <a:lnTo>
                    <a:pt x="79" y="198"/>
                  </a:lnTo>
                  <a:lnTo>
                    <a:pt x="70" y="187"/>
                  </a:lnTo>
                  <a:lnTo>
                    <a:pt x="61" y="175"/>
                  </a:lnTo>
                  <a:lnTo>
                    <a:pt x="55" y="160"/>
                  </a:lnTo>
                  <a:lnTo>
                    <a:pt x="47" y="148"/>
                  </a:lnTo>
                  <a:lnTo>
                    <a:pt x="41" y="134"/>
                  </a:lnTo>
                  <a:lnTo>
                    <a:pt x="32" y="123"/>
                  </a:lnTo>
                  <a:lnTo>
                    <a:pt x="27" y="108"/>
                  </a:lnTo>
                  <a:lnTo>
                    <a:pt x="24" y="93"/>
                  </a:lnTo>
                  <a:lnTo>
                    <a:pt x="18" y="79"/>
                  </a:lnTo>
                  <a:lnTo>
                    <a:pt x="15" y="61"/>
                  </a:lnTo>
                  <a:lnTo>
                    <a:pt x="12" y="47"/>
                  </a:lnTo>
                  <a:lnTo>
                    <a:pt x="12" y="32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6" name="Freeform 140">
              <a:extLst>
                <a:ext uri="{FF2B5EF4-FFF2-40B4-BE49-F238E27FC236}">
                  <a16:creationId xmlns:a16="http://schemas.microsoft.com/office/drawing/2014/main" id="{A2BA38B5-4A44-492B-8615-8FE049EDC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482"/>
              <a:ext cx="629" cy="315"/>
            </a:xfrm>
            <a:custGeom>
              <a:avLst/>
              <a:gdLst>
                <a:gd name="T0" fmla="*/ 3 w 629"/>
                <a:gd name="T1" fmla="*/ 283 h 315"/>
                <a:gd name="T2" fmla="*/ 9 w 629"/>
                <a:gd name="T3" fmla="*/ 236 h 315"/>
                <a:gd name="T4" fmla="*/ 23 w 629"/>
                <a:gd name="T5" fmla="*/ 192 h 315"/>
                <a:gd name="T6" fmla="*/ 47 w 629"/>
                <a:gd name="T7" fmla="*/ 151 h 315"/>
                <a:gd name="T8" fmla="*/ 70 w 629"/>
                <a:gd name="T9" fmla="*/ 116 h 315"/>
                <a:gd name="T10" fmla="*/ 102 w 629"/>
                <a:gd name="T11" fmla="*/ 81 h 315"/>
                <a:gd name="T12" fmla="*/ 138 w 629"/>
                <a:gd name="T13" fmla="*/ 55 h 315"/>
                <a:gd name="T14" fmla="*/ 179 w 629"/>
                <a:gd name="T15" fmla="*/ 31 h 315"/>
                <a:gd name="T16" fmla="*/ 220 w 629"/>
                <a:gd name="T17" fmla="*/ 15 h 315"/>
                <a:gd name="T18" fmla="*/ 267 w 629"/>
                <a:gd name="T19" fmla="*/ 6 h 315"/>
                <a:gd name="T20" fmla="*/ 314 w 629"/>
                <a:gd name="T21" fmla="*/ 0 h 315"/>
                <a:gd name="T22" fmla="*/ 364 w 629"/>
                <a:gd name="T23" fmla="*/ 6 h 315"/>
                <a:gd name="T24" fmla="*/ 408 w 629"/>
                <a:gd name="T25" fmla="*/ 15 h 315"/>
                <a:gd name="T26" fmla="*/ 452 w 629"/>
                <a:gd name="T27" fmla="*/ 31 h 315"/>
                <a:gd name="T28" fmla="*/ 490 w 629"/>
                <a:gd name="T29" fmla="*/ 55 h 315"/>
                <a:gd name="T30" fmla="*/ 525 w 629"/>
                <a:gd name="T31" fmla="*/ 81 h 315"/>
                <a:gd name="T32" fmla="*/ 558 w 629"/>
                <a:gd name="T33" fmla="*/ 116 h 315"/>
                <a:gd name="T34" fmla="*/ 584 w 629"/>
                <a:gd name="T35" fmla="*/ 151 h 315"/>
                <a:gd name="T36" fmla="*/ 604 w 629"/>
                <a:gd name="T37" fmla="*/ 192 h 315"/>
                <a:gd name="T38" fmla="*/ 619 w 629"/>
                <a:gd name="T39" fmla="*/ 236 h 315"/>
                <a:gd name="T40" fmla="*/ 628 w 629"/>
                <a:gd name="T41" fmla="*/ 283 h 315"/>
                <a:gd name="T42" fmla="*/ 619 w 629"/>
                <a:gd name="T43" fmla="*/ 314 h 315"/>
                <a:gd name="T44" fmla="*/ 616 w 629"/>
                <a:gd name="T45" fmla="*/ 268 h 315"/>
                <a:gd name="T46" fmla="*/ 607 w 629"/>
                <a:gd name="T47" fmla="*/ 224 h 315"/>
                <a:gd name="T48" fmla="*/ 590 w 629"/>
                <a:gd name="T49" fmla="*/ 183 h 315"/>
                <a:gd name="T50" fmla="*/ 567 w 629"/>
                <a:gd name="T51" fmla="*/ 145 h 315"/>
                <a:gd name="T52" fmla="*/ 540 w 629"/>
                <a:gd name="T53" fmla="*/ 111 h 315"/>
                <a:gd name="T54" fmla="*/ 508 w 629"/>
                <a:gd name="T55" fmla="*/ 79 h 315"/>
                <a:gd name="T56" fmla="*/ 472 w 629"/>
                <a:gd name="T57" fmla="*/ 55 h 315"/>
                <a:gd name="T58" fmla="*/ 435 w 629"/>
                <a:gd name="T59" fmla="*/ 34 h 315"/>
                <a:gd name="T60" fmla="*/ 390 w 629"/>
                <a:gd name="T61" fmla="*/ 21 h 315"/>
                <a:gd name="T62" fmla="*/ 347 w 629"/>
                <a:gd name="T63" fmla="*/ 12 h 315"/>
                <a:gd name="T64" fmla="*/ 299 w 629"/>
                <a:gd name="T65" fmla="*/ 12 h 315"/>
                <a:gd name="T66" fmla="*/ 253 w 629"/>
                <a:gd name="T67" fmla="*/ 18 h 315"/>
                <a:gd name="T68" fmla="*/ 211 w 629"/>
                <a:gd name="T69" fmla="*/ 28 h 315"/>
                <a:gd name="T70" fmla="*/ 170 w 629"/>
                <a:gd name="T71" fmla="*/ 46 h 315"/>
                <a:gd name="T72" fmla="*/ 132 w 629"/>
                <a:gd name="T73" fmla="*/ 70 h 315"/>
                <a:gd name="T74" fmla="*/ 100 w 629"/>
                <a:gd name="T75" fmla="*/ 99 h 315"/>
                <a:gd name="T76" fmla="*/ 70 w 629"/>
                <a:gd name="T77" fmla="*/ 131 h 315"/>
                <a:gd name="T78" fmla="*/ 47 w 629"/>
                <a:gd name="T79" fmla="*/ 169 h 315"/>
                <a:gd name="T80" fmla="*/ 26 w 629"/>
                <a:gd name="T81" fmla="*/ 209 h 315"/>
                <a:gd name="T82" fmla="*/ 15 w 629"/>
                <a:gd name="T83" fmla="*/ 253 h 315"/>
                <a:gd name="T84" fmla="*/ 9 w 629"/>
                <a:gd name="T85" fmla="*/ 296 h 3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29"/>
                <a:gd name="T130" fmla="*/ 0 h 315"/>
                <a:gd name="T131" fmla="*/ 629 w 629"/>
                <a:gd name="T132" fmla="*/ 315 h 3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29" h="315">
                  <a:moveTo>
                    <a:pt x="0" y="314"/>
                  </a:moveTo>
                  <a:lnTo>
                    <a:pt x="0" y="296"/>
                  </a:lnTo>
                  <a:lnTo>
                    <a:pt x="3" y="283"/>
                  </a:lnTo>
                  <a:lnTo>
                    <a:pt x="3" y="265"/>
                  </a:lnTo>
                  <a:lnTo>
                    <a:pt x="6" y="250"/>
                  </a:lnTo>
                  <a:lnTo>
                    <a:pt x="9" y="236"/>
                  </a:lnTo>
                  <a:lnTo>
                    <a:pt x="15" y="221"/>
                  </a:lnTo>
                  <a:lnTo>
                    <a:pt x="18" y="206"/>
                  </a:lnTo>
                  <a:lnTo>
                    <a:pt x="23" y="192"/>
                  </a:lnTo>
                  <a:lnTo>
                    <a:pt x="32" y="178"/>
                  </a:lnTo>
                  <a:lnTo>
                    <a:pt x="38" y="166"/>
                  </a:lnTo>
                  <a:lnTo>
                    <a:pt x="47" y="151"/>
                  </a:lnTo>
                  <a:lnTo>
                    <a:pt x="52" y="139"/>
                  </a:lnTo>
                  <a:lnTo>
                    <a:pt x="61" y="128"/>
                  </a:lnTo>
                  <a:lnTo>
                    <a:pt x="70" y="116"/>
                  </a:lnTo>
                  <a:lnTo>
                    <a:pt x="82" y="105"/>
                  </a:lnTo>
                  <a:lnTo>
                    <a:pt x="91" y="93"/>
                  </a:lnTo>
                  <a:lnTo>
                    <a:pt x="102" y="81"/>
                  </a:lnTo>
                  <a:lnTo>
                    <a:pt x="114" y="73"/>
                  </a:lnTo>
                  <a:lnTo>
                    <a:pt x="126" y="64"/>
                  </a:lnTo>
                  <a:lnTo>
                    <a:pt x="138" y="55"/>
                  </a:lnTo>
                  <a:lnTo>
                    <a:pt x="153" y="46"/>
                  </a:lnTo>
                  <a:lnTo>
                    <a:pt x="164" y="37"/>
                  </a:lnTo>
                  <a:lnTo>
                    <a:pt x="179" y="31"/>
                  </a:lnTo>
                  <a:lnTo>
                    <a:pt x="193" y="26"/>
                  </a:lnTo>
                  <a:lnTo>
                    <a:pt x="205" y="21"/>
                  </a:lnTo>
                  <a:lnTo>
                    <a:pt x="220" y="15"/>
                  </a:lnTo>
                  <a:lnTo>
                    <a:pt x="235" y="12"/>
                  </a:lnTo>
                  <a:lnTo>
                    <a:pt x="253" y="9"/>
                  </a:lnTo>
                  <a:lnTo>
                    <a:pt x="267" y="6"/>
                  </a:lnTo>
                  <a:lnTo>
                    <a:pt x="281" y="3"/>
                  </a:lnTo>
                  <a:lnTo>
                    <a:pt x="299" y="3"/>
                  </a:lnTo>
                  <a:lnTo>
                    <a:pt x="314" y="0"/>
                  </a:lnTo>
                  <a:lnTo>
                    <a:pt x="332" y="3"/>
                  </a:lnTo>
                  <a:lnTo>
                    <a:pt x="347" y="3"/>
                  </a:lnTo>
                  <a:lnTo>
                    <a:pt x="364" y="6"/>
                  </a:lnTo>
                  <a:lnTo>
                    <a:pt x="378" y="9"/>
                  </a:lnTo>
                  <a:lnTo>
                    <a:pt x="393" y="12"/>
                  </a:lnTo>
                  <a:lnTo>
                    <a:pt x="408" y="15"/>
                  </a:lnTo>
                  <a:lnTo>
                    <a:pt x="423" y="21"/>
                  </a:lnTo>
                  <a:lnTo>
                    <a:pt x="437" y="26"/>
                  </a:lnTo>
                  <a:lnTo>
                    <a:pt x="452" y="31"/>
                  </a:lnTo>
                  <a:lnTo>
                    <a:pt x="464" y="37"/>
                  </a:lnTo>
                  <a:lnTo>
                    <a:pt x="478" y="46"/>
                  </a:lnTo>
                  <a:lnTo>
                    <a:pt x="490" y="55"/>
                  </a:lnTo>
                  <a:lnTo>
                    <a:pt x="502" y="64"/>
                  </a:lnTo>
                  <a:lnTo>
                    <a:pt x="514" y="73"/>
                  </a:lnTo>
                  <a:lnTo>
                    <a:pt x="525" y="81"/>
                  </a:lnTo>
                  <a:lnTo>
                    <a:pt x="537" y="93"/>
                  </a:lnTo>
                  <a:lnTo>
                    <a:pt x="546" y="105"/>
                  </a:lnTo>
                  <a:lnTo>
                    <a:pt x="558" y="116"/>
                  </a:lnTo>
                  <a:lnTo>
                    <a:pt x="567" y="128"/>
                  </a:lnTo>
                  <a:lnTo>
                    <a:pt x="576" y="139"/>
                  </a:lnTo>
                  <a:lnTo>
                    <a:pt x="584" y="151"/>
                  </a:lnTo>
                  <a:lnTo>
                    <a:pt x="590" y="166"/>
                  </a:lnTo>
                  <a:lnTo>
                    <a:pt x="599" y="178"/>
                  </a:lnTo>
                  <a:lnTo>
                    <a:pt x="604" y="192"/>
                  </a:lnTo>
                  <a:lnTo>
                    <a:pt x="610" y="206"/>
                  </a:lnTo>
                  <a:lnTo>
                    <a:pt x="616" y="221"/>
                  </a:lnTo>
                  <a:lnTo>
                    <a:pt x="619" y="236"/>
                  </a:lnTo>
                  <a:lnTo>
                    <a:pt x="622" y="250"/>
                  </a:lnTo>
                  <a:lnTo>
                    <a:pt x="625" y="265"/>
                  </a:lnTo>
                  <a:lnTo>
                    <a:pt x="628" y="283"/>
                  </a:lnTo>
                  <a:lnTo>
                    <a:pt x="628" y="296"/>
                  </a:lnTo>
                  <a:lnTo>
                    <a:pt x="628" y="314"/>
                  </a:lnTo>
                  <a:lnTo>
                    <a:pt x="619" y="314"/>
                  </a:lnTo>
                  <a:lnTo>
                    <a:pt x="619" y="296"/>
                  </a:lnTo>
                  <a:lnTo>
                    <a:pt x="619" y="283"/>
                  </a:lnTo>
                  <a:lnTo>
                    <a:pt x="616" y="268"/>
                  </a:lnTo>
                  <a:lnTo>
                    <a:pt x="613" y="253"/>
                  </a:lnTo>
                  <a:lnTo>
                    <a:pt x="610" y="238"/>
                  </a:lnTo>
                  <a:lnTo>
                    <a:pt x="607" y="224"/>
                  </a:lnTo>
                  <a:lnTo>
                    <a:pt x="602" y="209"/>
                  </a:lnTo>
                  <a:lnTo>
                    <a:pt x="596" y="195"/>
                  </a:lnTo>
                  <a:lnTo>
                    <a:pt x="590" y="183"/>
                  </a:lnTo>
                  <a:lnTo>
                    <a:pt x="584" y="169"/>
                  </a:lnTo>
                  <a:lnTo>
                    <a:pt x="576" y="157"/>
                  </a:lnTo>
                  <a:lnTo>
                    <a:pt x="567" y="145"/>
                  </a:lnTo>
                  <a:lnTo>
                    <a:pt x="561" y="131"/>
                  </a:lnTo>
                  <a:lnTo>
                    <a:pt x="549" y="122"/>
                  </a:lnTo>
                  <a:lnTo>
                    <a:pt x="540" y="111"/>
                  </a:lnTo>
                  <a:lnTo>
                    <a:pt x="531" y="99"/>
                  </a:lnTo>
                  <a:lnTo>
                    <a:pt x="519" y="90"/>
                  </a:lnTo>
                  <a:lnTo>
                    <a:pt x="508" y="79"/>
                  </a:lnTo>
                  <a:lnTo>
                    <a:pt x="496" y="70"/>
                  </a:lnTo>
                  <a:lnTo>
                    <a:pt x="484" y="61"/>
                  </a:lnTo>
                  <a:lnTo>
                    <a:pt x="472" y="55"/>
                  </a:lnTo>
                  <a:lnTo>
                    <a:pt x="461" y="46"/>
                  </a:lnTo>
                  <a:lnTo>
                    <a:pt x="446" y="40"/>
                  </a:lnTo>
                  <a:lnTo>
                    <a:pt x="435" y="34"/>
                  </a:lnTo>
                  <a:lnTo>
                    <a:pt x="420" y="28"/>
                  </a:lnTo>
                  <a:lnTo>
                    <a:pt x="405" y="24"/>
                  </a:lnTo>
                  <a:lnTo>
                    <a:pt x="390" y="21"/>
                  </a:lnTo>
                  <a:lnTo>
                    <a:pt x="375" y="18"/>
                  </a:lnTo>
                  <a:lnTo>
                    <a:pt x="361" y="15"/>
                  </a:lnTo>
                  <a:lnTo>
                    <a:pt x="347" y="12"/>
                  </a:lnTo>
                  <a:lnTo>
                    <a:pt x="332" y="12"/>
                  </a:lnTo>
                  <a:lnTo>
                    <a:pt x="314" y="12"/>
                  </a:lnTo>
                  <a:lnTo>
                    <a:pt x="299" y="12"/>
                  </a:lnTo>
                  <a:lnTo>
                    <a:pt x="284" y="12"/>
                  </a:lnTo>
                  <a:lnTo>
                    <a:pt x="267" y="15"/>
                  </a:lnTo>
                  <a:lnTo>
                    <a:pt x="253" y="18"/>
                  </a:lnTo>
                  <a:lnTo>
                    <a:pt x="238" y="21"/>
                  </a:lnTo>
                  <a:lnTo>
                    <a:pt x="223" y="24"/>
                  </a:lnTo>
                  <a:lnTo>
                    <a:pt x="211" y="28"/>
                  </a:lnTo>
                  <a:lnTo>
                    <a:pt x="196" y="34"/>
                  </a:lnTo>
                  <a:lnTo>
                    <a:pt x="182" y="40"/>
                  </a:lnTo>
                  <a:lnTo>
                    <a:pt x="170" y="46"/>
                  </a:lnTo>
                  <a:lnTo>
                    <a:pt x="156" y="55"/>
                  </a:lnTo>
                  <a:lnTo>
                    <a:pt x="144" y="61"/>
                  </a:lnTo>
                  <a:lnTo>
                    <a:pt x="132" y="70"/>
                  </a:lnTo>
                  <a:lnTo>
                    <a:pt x="120" y="79"/>
                  </a:lnTo>
                  <a:lnTo>
                    <a:pt x="108" y="90"/>
                  </a:lnTo>
                  <a:lnTo>
                    <a:pt x="100" y="99"/>
                  </a:lnTo>
                  <a:lnTo>
                    <a:pt x="88" y="111"/>
                  </a:lnTo>
                  <a:lnTo>
                    <a:pt x="79" y="122"/>
                  </a:lnTo>
                  <a:lnTo>
                    <a:pt x="70" y="131"/>
                  </a:lnTo>
                  <a:lnTo>
                    <a:pt x="61" y="145"/>
                  </a:lnTo>
                  <a:lnTo>
                    <a:pt x="52" y="157"/>
                  </a:lnTo>
                  <a:lnTo>
                    <a:pt x="47" y="169"/>
                  </a:lnTo>
                  <a:lnTo>
                    <a:pt x="38" y="183"/>
                  </a:lnTo>
                  <a:lnTo>
                    <a:pt x="32" y="195"/>
                  </a:lnTo>
                  <a:lnTo>
                    <a:pt x="26" y="209"/>
                  </a:lnTo>
                  <a:lnTo>
                    <a:pt x="23" y="224"/>
                  </a:lnTo>
                  <a:lnTo>
                    <a:pt x="18" y="238"/>
                  </a:lnTo>
                  <a:lnTo>
                    <a:pt x="15" y="253"/>
                  </a:lnTo>
                  <a:lnTo>
                    <a:pt x="12" y="268"/>
                  </a:lnTo>
                  <a:lnTo>
                    <a:pt x="12" y="283"/>
                  </a:lnTo>
                  <a:lnTo>
                    <a:pt x="9" y="296"/>
                  </a:lnTo>
                  <a:lnTo>
                    <a:pt x="9" y="314"/>
                  </a:lnTo>
                  <a:lnTo>
                    <a:pt x="0" y="314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7" name="Freeform 141">
              <a:extLst>
                <a:ext uri="{FF2B5EF4-FFF2-40B4-BE49-F238E27FC236}">
                  <a16:creationId xmlns:a16="http://schemas.microsoft.com/office/drawing/2014/main" id="{1E292500-52BE-4335-A3D8-639715975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802"/>
              <a:ext cx="629" cy="313"/>
            </a:xfrm>
            <a:custGeom>
              <a:avLst/>
              <a:gdLst>
                <a:gd name="T0" fmla="*/ 0 w 629"/>
                <a:gd name="T1" fmla="*/ 15 h 313"/>
                <a:gd name="T2" fmla="*/ 6 w 629"/>
                <a:gd name="T3" fmla="*/ 61 h 313"/>
                <a:gd name="T4" fmla="*/ 18 w 629"/>
                <a:gd name="T5" fmla="*/ 108 h 313"/>
                <a:gd name="T6" fmla="*/ 38 w 629"/>
                <a:gd name="T7" fmla="*/ 148 h 313"/>
                <a:gd name="T8" fmla="*/ 61 w 629"/>
                <a:gd name="T9" fmla="*/ 186 h 313"/>
                <a:gd name="T10" fmla="*/ 91 w 629"/>
                <a:gd name="T11" fmla="*/ 222 h 313"/>
                <a:gd name="T12" fmla="*/ 126 w 629"/>
                <a:gd name="T13" fmla="*/ 250 h 313"/>
                <a:gd name="T14" fmla="*/ 164 w 629"/>
                <a:gd name="T15" fmla="*/ 274 h 313"/>
                <a:gd name="T16" fmla="*/ 205 w 629"/>
                <a:gd name="T17" fmla="*/ 294 h 313"/>
                <a:gd name="T18" fmla="*/ 253 w 629"/>
                <a:gd name="T19" fmla="*/ 306 h 313"/>
                <a:gd name="T20" fmla="*/ 299 w 629"/>
                <a:gd name="T21" fmla="*/ 312 h 313"/>
                <a:gd name="T22" fmla="*/ 347 w 629"/>
                <a:gd name="T23" fmla="*/ 312 h 313"/>
                <a:gd name="T24" fmla="*/ 393 w 629"/>
                <a:gd name="T25" fmla="*/ 303 h 313"/>
                <a:gd name="T26" fmla="*/ 437 w 629"/>
                <a:gd name="T27" fmla="*/ 288 h 313"/>
                <a:gd name="T28" fmla="*/ 478 w 629"/>
                <a:gd name="T29" fmla="*/ 268 h 313"/>
                <a:gd name="T30" fmla="*/ 514 w 629"/>
                <a:gd name="T31" fmla="*/ 241 h 313"/>
                <a:gd name="T32" fmla="*/ 546 w 629"/>
                <a:gd name="T33" fmla="*/ 210 h 313"/>
                <a:gd name="T34" fmla="*/ 576 w 629"/>
                <a:gd name="T35" fmla="*/ 175 h 313"/>
                <a:gd name="T36" fmla="*/ 599 w 629"/>
                <a:gd name="T37" fmla="*/ 134 h 313"/>
                <a:gd name="T38" fmla="*/ 616 w 629"/>
                <a:gd name="T39" fmla="*/ 93 h 313"/>
                <a:gd name="T40" fmla="*/ 625 w 629"/>
                <a:gd name="T41" fmla="*/ 47 h 313"/>
                <a:gd name="T42" fmla="*/ 628 w 629"/>
                <a:gd name="T43" fmla="*/ 0 h 313"/>
                <a:gd name="T44" fmla="*/ 619 w 629"/>
                <a:gd name="T45" fmla="*/ 29 h 313"/>
                <a:gd name="T46" fmla="*/ 610 w 629"/>
                <a:gd name="T47" fmla="*/ 76 h 313"/>
                <a:gd name="T48" fmla="*/ 596 w 629"/>
                <a:gd name="T49" fmla="*/ 117 h 313"/>
                <a:gd name="T50" fmla="*/ 576 w 629"/>
                <a:gd name="T51" fmla="*/ 157 h 313"/>
                <a:gd name="T52" fmla="*/ 549 w 629"/>
                <a:gd name="T53" fmla="*/ 192 h 313"/>
                <a:gd name="T54" fmla="*/ 519 w 629"/>
                <a:gd name="T55" fmla="*/ 225 h 313"/>
                <a:gd name="T56" fmla="*/ 484 w 629"/>
                <a:gd name="T57" fmla="*/ 250 h 313"/>
                <a:gd name="T58" fmla="*/ 446 w 629"/>
                <a:gd name="T59" fmla="*/ 274 h 313"/>
                <a:gd name="T60" fmla="*/ 405 w 629"/>
                <a:gd name="T61" fmla="*/ 288 h 313"/>
                <a:gd name="T62" fmla="*/ 361 w 629"/>
                <a:gd name="T63" fmla="*/ 300 h 313"/>
                <a:gd name="T64" fmla="*/ 314 w 629"/>
                <a:gd name="T65" fmla="*/ 303 h 313"/>
                <a:gd name="T66" fmla="*/ 267 w 629"/>
                <a:gd name="T67" fmla="*/ 300 h 313"/>
                <a:gd name="T68" fmla="*/ 223 w 629"/>
                <a:gd name="T69" fmla="*/ 288 h 313"/>
                <a:gd name="T70" fmla="*/ 182 w 629"/>
                <a:gd name="T71" fmla="*/ 274 h 313"/>
                <a:gd name="T72" fmla="*/ 144 w 629"/>
                <a:gd name="T73" fmla="*/ 250 h 313"/>
                <a:gd name="T74" fmla="*/ 108 w 629"/>
                <a:gd name="T75" fmla="*/ 225 h 313"/>
                <a:gd name="T76" fmla="*/ 79 w 629"/>
                <a:gd name="T77" fmla="*/ 192 h 313"/>
                <a:gd name="T78" fmla="*/ 52 w 629"/>
                <a:gd name="T79" fmla="*/ 157 h 313"/>
                <a:gd name="T80" fmla="*/ 32 w 629"/>
                <a:gd name="T81" fmla="*/ 117 h 313"/>
                <a:gd name="T82" fmla="*/ 18 w 629"/>
                <a:gd name="T83" fmla="*/ 76 h 313"/>
                <a:gd name="T84" fmla="*/ 12 w 629"/>
                <a:gd name="T85" fmla="*/ 29 h 313"/>
                <a:gd name="T86" fmla="*/ 0 w 629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29"/>
                <a:gd name="T133" fmla="*/ 0 h 313"/>
                <a:gd name="T134" fmla="*/ 629 w 629"/>
                <a:gd name="T135" fmla="*/ 313 h 31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29" h="313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3" y="32"/>
                  </a:lnTo>
                  <a:lnTo>
                    <a:pt x="3" y="47"/>
                  </a:lnTo>
                  <a:lnTo>
                    <a:pt x="6" y="61"/>
                  </a:lnTo>
                  <a:lnTo>
                    <a:pt x="9" y="78"/>
                  </a:lnTo>
                  <a:lnTo>
                    <a:pt x="15" y="93"/>
                  </a:lnTo>
                  <a:lnTo>
                    <a:pt x="18" y="108"/>
                  </a:lnTo>
                  <a:lnTo>
                    <a:pt x="23" y="123"/>
                  </a:lnTo>
                  <a:lnTo>
                    <a:pt x="32" y="134"/>
                  </a:lnTo>
                  <a:lnTo>
                    <a:pt x="38" y="148"/>
                  </a:lnTo>
                  <a:lnTo>
                    <a:pt x="47" y="160"/>
                  </a:lnTo>
                  <a:lnTo>
                    <a:pt x="52" y="175"/>
                  </a:lnTo>
                  <a:lnTo>
                    <a:pt x="61" y="186"/>
                  </a:lnTo>
                  <a:lnTo>
                    <a:pt x="70" y="198"/>
                  </a:lnTo>
                  <a:lnTo>
                    <a:pt x="82" y="210"/>
                  </a:lnTo>
                  <a:lnTo>
                    <a:pt x="91" y="222"/>
                  </a:lnTo>
                  <a:lnTo>
                    <a:pt x="102" y="231"/>
                  </a:lnTo>
                  <a:lnTo>
                    <a:pt x="114" y="241"/>
                  </a:lnTo>
                  <a:lnTo>
                    <a:pt x="126" y="250"/>
                  </a:lnTo>
                  <a:lnTo>
                    <a:pt x="138" y="259"/>
                  </a:lnTo>
                  <a:lnTo>
                    <a:pt x="153" y="268"/>
                  </a:lnTo>
                  <a:lnTo>
                    <a:pt x="164" y="274"/>
                  </a:lnTo>
                  <a:lnTo>
                    <a:pt x="179" y="283"/>
                  </a:lnTo>
                  <a:lnTo>
                    <a:pt x="193" y="288"/>
                  </a:lnTo>
                  <a:lnTo>
                    <a:pt x="205" y="294"/>
                  </a:lnTo>
                  <a:lnTo>
                    <a:pt x="220" y="297"/>
                  </a:lnTo>
                  <a:lnTo>
                    <a:pt x="235" y="303"/>
                  </a:lnTo>
                  <a:lnTo>
                    <a:pt x="253" y="306"/>
                  </a:lnTo>
                  <a:lnTo>
                    <a:pt x="267" y="309"/>
                  </a:lnTo>
                  <a:lnTo>
                    <a:pt x="281" y="312"/>
                  </a:lnTo>
                  <a:lnTo>
                    <a:pt x="299" y="312"/>
                  </a:lnTo>
                  <a:lnTo>
                    <a:pt x="314" y="312"/>
                  </a:lnTo>
                  <a:lnTo>
                    <a:pt x="332" y="312"/>
                  </a:lnTo>
                  <a:lnTo>
                    <a:pt x="347" y="312"/>
                  </a:lnTo>
                  <a:lnTo>
                    <a:pt x="364" y="309"/>
                  </a:lnTo>
                  <a:lnTo>
                    <a:pt x="378" y="306"/>
                  </a:lnTo>
                  <a:lnTo>
                    <a:pt x="393" y="303"/>
                  </a:lnTo>
                  <a:lnTo>
                    <a:pt x="408" y="297"/>
                  </a:lnTo>
                  <a:lnTo>
                    <a:pt x="423" y="294"/>
                  </a:lnTo>
                  <a:lnTo>
                    <a:pt x="437" y="288"/>
                  </a:lnTo>
                  <a:lnTo>
                    <a:pt x="452" y="283"/>
                  </a:lnTo>
                  <a:lnTo>
                    <a:pt x="464" y="274"/>
                  </a:lnTo>
                  <a:lnTo>
                    <a:pt x="478" y="268"/>
                  </a:lnTo>
                  <a:lnTo>
                    <a:pt x="490" y="259"/>
                  </a:lnTo>
                  <a:lnTo>
                    <a:pt x="502" y="250"/>
                  </a:lnTo>
                  <a:lnTo>
                    <a:pt x="514" y="241"/>
                  </a:lnTo>
                  <a:lnTo>
                    <a:pt x="525" y="231"/>
                  </a:lnTo>
                  <a:lnTo>
                    <a:pt x="537" y="222"/>
                  </a:lnTo>
                  <a:lnTo>
                    <a:pt x="546" y="210"/>
                  </a:lnTo>
                  <a:lnTo>
                    <a:pt x="558" y="198"/>
                  </a:lnTo>
                  <a:lnTo>
                    <a:pt x="567" y="186"/>
                  </a:lnTo>
                  <a:lnTo>
                    <a:pt x="576" y="175"/>
                  </a:lnTo>
                  <a:lnTo>
                    <a:pt x="584" y="160"/>
                  </a:lnTo>
                  <a:lnTo>
                    <a:pt x="590" y="148"/>
                  </a:lnTo>
                  <a:lnTo>
                    <a:pt x="599" y="134"/>
                  </a:lnTo>
                  <a:lnTo>
                    <a:pt x="604" y="123"/>
                  </a:lnTo>
                  <a:lnTo>
                    <a:pt x="610" y="108"/>
                  </a:lnTo>
                  <a:lnTo>
                    <a:pt x="616" y="93"/>
                  </a:lnTo>
                  <a:lnTo>
                    <a:pt x="619" y="78"/>
                  </a:lnTo>
                  <a:lnTo>
                    <a:pt x="622" y="61"/>
                  </a:lnTo>
                  <a:lnTo>
                    <a:pt x="625" y="47"/>
                  </a:lnTo>
                  <a:lnTo>
                    <a:pt x="628" y="32"/>
                  </a:lnTo>
                  <a:lnTo>
                    <a:pt x="628" y="15"/>
                  </a:lnTo>
                  <a:lnTo>
                    <a:pt x="628" y="0"/>
                  </a:lnTo>
                  <a:lnTo>
                    <a:pt x="619" y="0"/>
                  </a:lnTo>
                  <a:lnTo>
                    <a:pt x="619" y="15"/>
                  </a:lnTo>
                  <a:lnTo>
                    <a:pt x="619" y="29"/>
                  </a:lnTo>
                  <a:lnTo>
                    <a:pt x="616" y="47"/>
                  </a:lnTo>
                  <a:lnTo>
                    <a:pt x="613" y="61"/>
                  </a:lnTo>
                  <a:lnTo>
                    <a:pt x="610" y="76"/>
                  </a:lnTo>
                  <a:lnTo>
                    <a:pt x="607" y="90"/>
                  </a:lnTo>
                  <a:lnTo>
                    <a:pt x="602" y="105"/>
                  </a:lnTo>
                  <a:lnTo>
                    <a:pt x="596" y="117"/>
                  </a:lnTo>
                  <a:lnTo>
                    <a:pt x="590" y="131"/>
                  </a:lnTo>
                  <a:lnTo>
                    <a:pt x="584" y="143"/>
                  </a:lnTo>
                  <a:lnTo>
                    <a:pt x="576" y="157"/>
                  </a:lnTo>
                  <a:lnTo>
                    <a:pt x="567" y="169"/>
                  </a:lnTo>
                  <a:lnTo>
                    <a:pt x="561" y="181"/>
                  </a:lnTo>
                  <a:lnTo>
                    <a:pt x="549" y="192"/>
                  </a:lnTo>
                  <a:lnTo>
                    <a:pt x="540" y="204"/>
                  </a:lnTo>
                  <a:lnTo>
                    <a:pt x="531" y="213"/>
                  </a:lnTo>
                  <a:lnTo>
                    <a:pt x="519" y="225"/>
                  </a:lnTo>
                  <a:lnTo>
                    <a:pt x="508" y="233"/>
                  </a:lnTo>
                  <a:lnTo>
                    <a:pt x="496" y="241"/>
                  </a:lnTo>
                  <a:lnTo>
                    <a:pt x="484" y="250"/>
                  </a:lnTo>
                  <a:lnTo>
                    <a:pt x="472" y="259"/>
                  </a:lnTo>
                  <a:lnTo>
                    <a:pt x="461" y="265"/>
                  </a:lnTo>
                  <a:lnTo>
                    <a:pt x="446" y="274"/>
                  </a:lnTo>
                  <a:lnTo>
                    <a:pt x="435" y="280"/>
                  </a:lnTo>
                  <a:lnTo>
                    <a:pt x="420" y="286"/>
                  </a:lnTo>
                  <a:lnTo>
                    <a:pt x="405" y="288"/>
                  </a:lnTo>
                  <a:lnTo>
                    <a:pt x="390" y="294"/>
                  </a:lnTo>
                  <a:lnTo>
                    <a:pt x="375" y="297"/>
                  </a:lnTo>
                  <a:lnTo>
                    <a:pt x="361" y="300"/>
                  </a:lnTo>
                  <a:lnTo>
                    <a:pt x="347" y="303"/>
                  </a:lnTo>
                  <a:lnTo>
                    <a:pt x="332" y="303"/>
                  </a:lnTo>
                  <a:lnTo>
                    <a:pt x="314" y="303"/>
                  </a:lnTo>
                  <a:lnTo>
                    <a:pt x="299" y="303"/>
                  </a:lnTo>
                  <a:lnTo>
                    <a:pt x="284" y="303"/>
                  </a:lnTo>
                  <a:lnTo>
                    <a:pt x="267" y="300"/>
                  </a:lnTo>
                  <a:lnTo>
                    <a:pt x="253" y="297"/>
                  </a:lnTo>
                  <a:lnTo>
                    <a:pt x="238" y="294"/>
                  </a:lnTo>
                  <a:lnTo>
                    <a:pt x="223" y="288"/>
                  </a:lnTo>
                  <a:lnTo>
                    <a:pt x="211" y="286"/>
                  </a:lnTo>
                  <a:lnTo>
                    <a:pt x="196" y="280"/>
                  </a:lnTo>
                  <a:lnTo>
                    <a:pt x="182" y="274"/>
                  </a:lnTo>
                  <a:lnTo>
                    <a:pt x="170" y="265"/>
                  </a:lnTo>
                  <a:lnTo>
                    <a:pt x="156" y="259"/>
                  </a:lnTo>
                  <a:lnTo>
                    <a:pt x="144" y="250"/>
                  </a:lnTo>
                  <a:lnTo>
                    <a:pt x="132" y="241"/>
                  </a:lnTo>
                  <a:lnTo>
                    <a:pt x="120" y="233"/>
                  </a:lnTo>
                  <a:lnTo>
                    <a:pt x="108" y="225"/>
                  </a:lnTo>
                  <a:lnTo>
                    <a:pt x="100" y="213"/>
                  </a:lnTo>
                  <a:lnTo>
                    <a:pt x="88" y="204"/>
                  </a:lnTo>
                  <a:lnTo>
                    <a:pt x="79" y="192"/>
                  </a:lnTo>
                  <a:lnTo>
                    <a:pt x="70" y="181"/>
                  </a:lnTo>
                  <a:lnTo>
                    <a:pt x="61" y="169"/>
                  </a:lnTo>
                  <a:lnTo>
                    <a:pt x="52" y="157"/>
                  </a:lnTo>
                  <a:lnTo>
                    <a:pt x="47" y="143"/>
                  </a:lnTo>
                  <a:lnTo>
                    <a:pt x="38" y="131"/>
                  </a:lnTo>
                  <a:lnTo>
                    <a:pt x="32" y="117"/>
                  </a:lnTo>
                  <a:lnTo>
                    <a:pt x="26" y="105"/>
                  </a:lnTo>
                  <a:lnTo>
                    <a:pt x="23" y="90"/>
                  </a:lnTo>
                  <a:lnTo>
                    <a:pt x="18" y="76"/>
                  </a:lnTo>
                  <a:lnTo>
                    <a:pt x="15" y="61"/>
                  </a:lnTo>
                  <a:lnTo>
                    <a:pt x="12" y="47"/>
                  </a:lnTo>
                  <a:lnTo>
                    <a:pt x="12" y="29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8" name="Freeform 142">
              <a:extLst>
                <a:ext uri="{FF2B5EF4-FFF2-40B4-BE49-F238E27FC236}">
                  <a16:creationId xmlns:a16="http://schemas.microsoft.com/office/drawing/2014/main" id="{5E2D28F2-7D7C-4305-9135-510B9416D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3494"/>
              <a:ext cx="611" cy="303"/>
            </a:xfrm>
            <a:custGeom>
              <a:avLst/>
              <a:gdLst>
                <a:gd name="T0" fmla="*/ 3 w 611"/>
                <a:gd name="T1" fmla="*/ 271 h 303"/>
                <a:gd name="T2" fmla="*/ 9 w 611"/>
                <a:gd name="T3" fmla="*/ 227 h 303"/>
                <a:gd name="T4" fmla="*/ 23 w 611"/>
                <a:gd name="T5" fmla="*/ 183 h 303"/>
                <a:gd name="T6" fmla="*/ 44 w 611"/>
                <a:gd name="T7" fmla="*/ 145 h 303"/>
                <a:gd name="T8" fmla="*/ 70 w 611"/>
                <a:gd name="T9" fmla="*/ 110 h 303"/>
                <a:gd name="T10" fmla="*/ 99 w 611"/>
                <a:gd name="T11" fmla="*/ 78 h 303"/>
                <a:gd name="T12" fmla="*/ 135 w 611"/>
                <a:gd name="T13" fmla="*/ 49 h 303"/>
                <a:gd name="T14" fmla="*/ 173 w 611"/>
                <a:gd name="T15" fmla="*/ 28 h 303"/>
                <a:gd name="T16" fmla="*/ 214 w 611"/>
                <a:gd name="T17" fmla="*/ 12 h 303"/>
                <a:gd name="T18" fmla="*/ 258 w 611"/>
                <a:gd name="T19" fmla="*/ 3 h 303"/>
                <a:gd name="T20" fmla="*/ 305 w 611"/>
                <a:gd name="T21" fmla="*/ 0 h 303"/>
                <a:gd name="T22" fmla="*/ 352 w 611"/>
                <a:gd name="T23" fmla="*/ 3 h 303"/>
                <a:gd name="T24" fmla="*/ 396 w 611"/>
                <a:gd name="T25" fmla="*/ 12 h 303"/>
                <a:gd name="T26" fmla="*/ 437 w 611"/>
                <a:gd name="T27" fmla="*/ 28 h 303"/>
                <a:gd name="T28" fmla="*/ 475 w 611"/>
                <a:gd name="T29" fmla="*/ 49 h 303"/>
                <a:gd name="T30" fmla="*/ 510 w 611"/>
                <a:gd name="T31" fmla="*/ 78 h 303"/>
                <a:gd name="T32" fmla="*/ 540 w 611"/>
                <a:gd name="T33" fmla="*/ 110 h 303"/>
                <a:gd name="T34" fmla="*/ 566 w 611"/>
                <a:gd name="T35" fmla="*/ 145 h 303"/>
                <a:gd name="T36" fmla="*/ 587 w 611"/>
                <a:gd name="T37" fmla="*/ 183 h 303"/>
                <a:gd name="T38" fmla="*/ 601 w 611"/>
                <a:gd name="T39" fmla="*/ 227 h 303"/>
                <a:gd name="T40" fmla="*/ 610 w 611"/>
                <a:gd name="T41" fmla="*/ 271 h 303"/>
                <a:gd name="T42" fmla="*/ 601 w 611"/>
                <a:gd name="T43" fmla="*/ 302 h 303"/>
                <a:gd name="T44" fmla="*/ 598 w 611"/>
                <a:gd name="T45" fmla="*/ 256 h 303"/>
                <a:gd name="T46" fmla="*/ 587 w 611"/>
                <a:gd name="T47" fmla="*/ 215 h 303"/>
                <a:gd name="T48" fmla="*/ 572 w 611"/>
                <a:gd name="T49" fmla="*/ 175 h 303"/>
                <a:gd name="T50" fmla="*/ 552 w 611"/>
                <a:gd name="T51" fmla="*/ 136 h 303"/>
                <a:gd name="T52" fmla="*/ 525 w 611"/>
                <a:gd name="T53" fmla="*/ 104 h 303"/>
                <a:gd name="T54" fmla="*/ 493 w 611"/>
                <a:gd name="T55" fmla="*/ 76 h 303"/>
                <a:gd name="T56" fmla="*/ 458 w 611"/>
                <a:gd name="T57" fmla="*/ 49 h 303"/>
                <a:gd name="T58" fmla="*/ 420 w 611"/>
                <a:gd name="T59" fmla="*/ 31 h 303"/>
                <a:gd name="T60" fmla="*/ 378 w 611"/>
                <a:gd name="T61" fmla="*/ 17 h 303"/>
                <a:gd name="T62" fmla="*/ 338 w 611"/>
                <a:gd name="T63" fmla="*/ 9 h 303"/>
                <a:gd name="T64" fmla="*/ 290 w 611"/>
                <a:gd name="T65" fmla="*/ 9 h 303"/>
                <a:gd name="T66" fmla="*/ 247 w 611"/>
                <a:gd name="T67" fmla="*/ 15 h 303"/>
                <a:gd name="T68" fmla="*/ 205 w 611"/>
                <a:gd name="T69" fmla="*/ 25 h 303"/>
                <a:gd name="T70" fmla="*/ 164 w 611"/>
                <a:gd name="T71" fmla="*/ 43 h 303"/>
                <a:gd name="T72" fmla="*/ 129 w 611"/>
                <a:gd name="T73" fmla="*/ 67 h 303"/>
                <a:gd name="T74" fmla="*/ 96 w 611"/>
                <a:gd name="T75" fmla="*/ 93 h 303"/>
                <a:gd name="T76" fmla="*/ 67 w 611"/>
                <a:gd name="T77" fmla="*/ 125 h 303"/>
                <a:gd name="T78" fmla="*/ 47 w 611"/>
                <a:gd name="T79" fmla="*/ 163 h 303"/>
                <a:gd name="T80" fmla="*/ 26 w 611"/>
                <a:gd name="T81" fmla="*/ 200 h 303"/>
                <a:gd name="T82" fmla="*/ 14 w 611"/>
                <a:gd name="T83" fmla="*/ 241 h 303"/>
                <a:gd name="T84" fmla="*/ 9 w 611"/>
                <a:gd name="T85" fmla="*/ 287 h 30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11"/>
                <a:gd name="T130" fmla="*/ 0 h 303"/>
                <a:gd name="T131" fmla="*/ 611 w 611"/>
                <a:gd name="T132" fmla="*/ 303 h 30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11" h="303">
                  <a:moveTo>
                    <a:pt x="0" y="302"/>
                  </a:moveTo>
                  <a:lnTo>
                    <a:pt x="0" y="284"/>
                  </a:lnTo>
                  <a:lnTo>
                    <a:pt x="3" y="271"/>
                  </a:lnTo>
                  <a:lnTo>
                    <a:pt x="3" y="256"/>
                  </a:lnTo>
                  <a:lnTo>
                    <a:pt x="6" y="241"/>
                  </a:lnTo>
                  <a:lnTo>
                    <a:pt x="9" y="227"/>
                  </a:lnTo>
                  <a:lnTo>
                    <a:pt x="14" y="212"/>
                  </a:lnTo>
                  <a:lnTo>
                    <a:pt x="17" y="197"/>
                  </a:lnTo>
                  <a:lnTo>
                    <a:pt x="23" y="183"/>
                  </a:lnTo>
                  <a:lnTo>
                    <a:pt x="29" y="172"/>
                  </a:lnTo>
                  <a:lnTo>
                    <a:pt x="38" y="157"/>
                  </a:lnTo>
                  <a:lnTo>
                    <a:pt x="44" y="145"/>
                  </a:lnTo>
                  <a:lnTo>
                    <a:pt x="52" y="133"/>
                  </a:lnTo>
                  <a:lnTo>
                    <a:pt x="61" y="119"/>
                  </a:lnTo>
                  <a:lnTo>
                    <a:pt x="70" y="110"/>
                  </a:lnTo>
                  <a:lnTo>
                    <a:pt x="79" y="99"/>
                  </a:lnTo>
                  <a:lnTo>
                    <a:pt x="91" y="87"/>
                  </a:lnTo>
                  <a:lnTo>
                    <a:pt x="99" y="78"/>
                  </a:lnTo>
                  <a:lnTo>
                    <a:pt x="111" y="67"/>
                  </a:lnTo>
                  <a:lnTo>
                    <a:pt x="123" y="58"/>
                  </a:lnTo>
                  <a:lnTo>
                    <a:pt x="135" y="49"/>
                  </a:lnTo>
                  <a:lnTo>
                    <a:pt x="147" y="43"/>
                  </a:lnTo>
                  <a:lnTo>
                    <a:pt x="161" y="34"/>
                  </a:lnTo>
                  <a:lnTo>
                    <a:pt x="173" y="28"/>
                  </a:lnTo>
                  <a:lnTo>
                    <a:pt x="187" y="23"/>
                  </a:lnTo>
                  <a:lnTo>
                    <a:pt x="202" y="17"/>
                  </a:lnTo>
                  <a:lnTo>
                    <a:pt x="214" y="12"/>
                  </a:lnTo>
                  <a:lnTo>
                    <a:pt x="229" y="9"/>
                  </a:lnTo>
                  <a:lnTo>
                    <a:pt x="244" y="6"/>
                  </a:lnTo>
                  <a:lnTo>
                    <a:pt x="258" y="3"/>
                  </a:lnTo>
                  <a:lnTo>
                    <a:pt x="275" y="0"/>
                  </a:lnTo>
                  <a:lnTo>
                    <a:pt x="290" y="0"/>
                  </a:lnTo>
                  <a:lnTo>
                    <a:pt x="305" y="0"/>
                  </a:lnTo>
                  <a:lnTo>
                    <a:pt x="323" y="0"/>
                  </a:lnTo>
                  <a:lnTo>
                    <a:pt x="338" y="0"/>
                  </a:lnTo>
                  <a:lnTo>
                    <a:pt x="352" y="3"/>
                  </a:lnTo>
                  <a:lnTo>
                    <a:pt x="366" y="6"/>
                  </a:lnTo>
                  <a:lnTo>
                    <a:pt x="381" y="9"/>
                  </a:lnTo>
                  <a:lnTo>
                    <a:pt x="396" y="12"/>
                  </a:lnTo>
                  <a:lnTo>
                    <a:pt x="411" y="17"/>
                  </a:lnTo>
                  <a:lnTo>
                    <a:pt x="426" y="23"/>
                  </a:lnTo>
                  <a:lnTo>
                    <a:pt x="437" y="28"/>
                  </a:lnTo>
                  <a:lnTo>
                    <a:pt x="452" y="34"/>
                  </a:lnTo>
                  <a:lnTo>
                    <a:pt x="463" y="43"/>
                  </a:lnTo>
                  <a:lnTo>
                    <a:pt x="475" y="49"/>
                  </a:lnTo>
                  <a:lnTo>
                    <a:pt x="487" y="58"/>
                  </a:lnTo>
                  <a:lnTo>
                    <a:pt x="499" y="67"/>
                  </a:lnTo>
                  <a:lnTo>
                    <a:pt x="510" y="78"/>
                  </a:lnTo>
                  <a:lnTo>
                    <a:pt x="522" y="87"/>
                  </a:lnTo>
                  <a:lnTo>
                    <a:pt x="531" y="99"/>
                  </a:lnTo>
                  <a:lnTo>
                    <a:pt x="540" y="110"/>
                  </a:lnTo>
                  <a:lnTo>
                    <a:pt x="552" y="119"/>
                  </a:lnTo>
                  <a:lnTo>
                    <a:pt x="558" y="133"/>
                  </a:lnTo>
                  <a:lnTo>
                    <a:pt x="566" y="145"/>
                  </a:lnTo>
                  <a:lnTo>
                    <a:pt x="575" y="157"/>
                  </a:lnTo>
                  <a:lnTo>
                    <a:pt x="581" y="172"/>
                  </a:lnTo>
                  <a:lnTo>
                    <a:pt x="587" y="183"/>
                  </a:lnTo>
                  <a:lnTo>
                    <a:pt x="593" y="197"/>
                  </a:lnTo>
                  <a:lnTo>
                    <a:pt x="598" y="212"/>
                  </a:lnTo>
                  <a:lnTo>
                    <a:pt x="601" y="227"/>
                  </a:lnTo>
                  <a:lnTo>
                    <a:pt x="604" y="241"/>
                  </a:lnTo>
                  <a:lnTo>
                    <a:pt x="607" y="256"/>
                  </a:lnTo>
                  <a:lnTo>
                    <a:pt x="610" y="271"/>
                  </a:lnTo>
                  <a:lnTo>
                    <a:pt x="610" y="284"/>
                  </a:lnTo>
                  <a:lnTo>
                    <a:pt x="610" y="302"/>
                  </a:lnTo>
                  <a:lnTo>
                    <a:pt x="601" y="302"/>
                  </a:lnTo>
                  <a:lnTo>
                    <a:pt x="601" y="287"/>
                  </a:lnTo>
                  <a:lnTo>
                    <a:pt x="601" y="271"/>
                  </a:lnTo>
                  <a:lnTo>
                    <a:pt x="598" y="256"/>
                  </a:lnTo>
                  <a:lnTo>
                    <a:pt x="595" y="241"/>
                  </a:lnTo>
                  <a:lnTo>
                    <a:pt x="593" y="229"/>
                  </a:lnTo>
                  <a:lnTo>
                    <a:pt x="587" y="215"/>
                  </a:lnTo>
                  <a:lnTo>
                    <a:pt x="584" y="200"/>
                  </a:lnTo>
                  <a:lnTo>
                    <a:pt x="578" y="188"/>
                  </a:lnTo>
                  <a:lnTo>
                    <a:pt x="572" y="175"/>
                  </a:lnTo>
                  <a:lnTo>
                    <a:pt x="566" y="163"/>
                  </a:lnTo>
                  <a:lnTo>
                    <a:pt x="558" y="148"/>
                  </a:lnTo>
                  <a:lnTo>
                    <a:pt x="552" y="136"/>
                  </a:lnTo>
                  <a:lnTo>
                    <a:pt x="543" y="125"/>
                  </a:lnTo>
                  <a:lnTo>
                    <a:pt x="534" y="116"/>
                  </a:lnTo>
                  <a:lnTo>
                    <a:pt x="525" y="104"/>
                  </a:lnTo>
                  <a:lnTo>
                    <a:pt x="513" y="93"/>
                  </a:lnTo>
                  <a:lnTo>
                    <a:pt x="505" y="84"/>
                  </a:lnTo>
                  <a:lnTo>
                    <a:pt x="493" y="76"/>
                  </a:lnTo>
                  <a:lnTo>
                    <a:pt x="481" y="67"/>
                  </a:lnTo>
                  <a:lnTo>
                    <a:pt x="469" y="58"/>
                  </a:lnTo>
                  <a:lnTo>
                    <a:pt x="458" y="49"/>
                  </a:lnTo>
                  <a:lnTo>
                    <a:pt x="446" y="43"/>
                  </a:lnTo>
                  <a:lnTo>
                    <a:pt x="434" y="37"/>
                  </a:lnTo>
                  <a:lnTo>
                    <a:pt x="420" y="31"/>
                  </a:lnTo>
                  <a:lnTo>
                    <a:pt x="408" y="25"/>
                  </a:lnTo>
                  <a:lnTo>
                    <a:pt x="393" y="20"/>
                  </a:lnTo>
                  <a:lnTo>
                    <a:pt x="378" y="17"/>
                  </a:lnTo>
                  <a:lnTo>
                    <a:pt x="363" y="15"/>
                  </a:lnTo>
                  <a:lnTo>
                    <a:pt x="352" y="12"/>
                  </a:lnTo>
                  <a:lnTo>
                    <a:pt x="338" y="9"/>
                  </a:lnTo>
                  <a:lnTo>
                    <a:pt x="320" y="9"/>
                  </a:lnTo>
                  <a:lnTo>
                    <a:pt x="305" y="9"/>
                  </a:lnTo>
                  <a:lnTo>
                    <a:pt x="290" y="9"/>
                  </a:lnTo>
                  <a:lnTo>
                    <a:pt x="275" y="9"/>
                  </a:lnTo>
                  <a:lnTo>
                    <a:pt x="260" y="12"/>
                  </a:lnTo>
                  <a:lnTo>
                    <a:pt x="247" y="15"/>
                  </a:lnTo>
                  <a:lnTo>
                    <a:pt x="232" y="17"/>
                  </a:lnTo>
                  <a:lnTo>
                    <a:pt x="217" y="20"/>
                  </a:lnTo>
                  <a:lnTo>
                    <a:pt x="205" y="25"/>
                  </a:lnTo>
                  <a:lnTo>
                    <a:pt x="190" y="31"/>
                  </a:lnTo>
                  <a:lnTo>
                    <a:pt x="176" y="37"/>
                  </a:lnTo>
                  <a:lnTo>
                    <a:pt x="164" y="43"/>
                  </a:lnTo>
                  <a:lnTo>
                    <a:pt x="153" y="49"/>
                  </a:lnTo>
                  <a:lnTo>
                    <a:pt x="141" y="58"/>
                  </a:lnTo>
                  <a:lnTo>
                    <a:pt x="129" y="67"/>
                  </a:lnTo>
                  <a:lnTo>
                    <a:pt x="117" y="76"/>
                  </a:lnTo>
                  <a:lnTo>
                    <a:pt x="105" y="84"/>
                  </a:lnTo>
                  <a:lnTo>
                    <a:pt x="96" y="93"/>
                  </a:lnTo>
                  <a:lnTo>
                    <a:pt x="88" y="104"/>
                  </a:lnTo>
                  <a:lnTo>
                    <a:pt x="76" y="116"/>
                  </a:lnTo>
                  <a:lnTo>
                    <a:pt x="67" y="125"/>
                  </a:lnTo>
                  <a:lnTo>
                    <a:pt x="61" y="136"/>
                  </a:lnTo>
                  <a:lnTo>
                    <a:pt x="52" y="148"/>
                  </a:lnTo>
                  <a:lnTo>
                    <a:pt x="47" y="163"/>
                  </a:lnTo>
                  <a:lnTo>
                    <a:pt x="38" y="175"/>
                  </a:lnTo>
                  <a:lnTo>
                    <a:pt x="32" y="188"/>
                  </a:lnTo>
                  <a:lnTo>
                    <a:pt x="26" y="200"/>
                  </a:lnTo>
                  <a:lnTo>
                    <a:pt x="23" y="215"/>
                  </a:lnTo>
                  <a:lnTo>
                    <a:pt x="20" y="229"/>
                  </a:lnTo>
                  <a:lnTo>
                    <a:pt x="14" y="241"/>
                  </a:lnTo>
                  <a:lnTo>
                    <a:pt x="14" y="256"/>
                  </a:lnTo>
                  <a:lnTo>
                    <a:pt x="11" y="271"/>
                  </a:lnTo>
                  <a:lnTo>
                    <a:pt x="9" y="287"/>
                  </a:lnTo>
                  <a:lnTo>
                    <a:pt x="9" y="302"/>
                  </a:lnTo>
                  <a:lnTo>
                    <a:pt x="0" y="302"/>
                  </a:lnTo>
                </a:path>
              </a:pathLst>
            </a:custGeom>
            <a:solidFill>
              <a:srgbClr val="FF9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9" name="Freeform 143">
              <a:extLst>
                <a:ext uri="{FF2B5EF4-FFF2-40B4-BE49-F238E27FC236}">
                  <a16:creationId xmlns:a16="http://schemas.microsoft.com/office/drawing/2014/main" id="{2AEC4B9D-876E-406D-821C-66FE92C4F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3802"/>
              <a:ext cx="611" cy="304"/>
            </a:xfrm>
            <a:custGeom>
              <a:avLst/>
              <a:gdLst>
                <a:gd name="T0" fmla="*/ 0 w 611"/>
                <a:gd name="T1" fmla="*/ 15 h 304"/>
                <a:gd name="T2" fmla="*/ 6 w 611"/>
                <a:gd name="T3" fmla="*/ 61 h 304"/>
                <a:gd name="T4" fmla="*/ 17 w 611"/>
                <a:gd name="T5" fmla="*/ 105 h 304"/>
                <a:gd name="T6" fmla="*/ 38 w 611"/>
                <a:gd name="T7" fmla="*/ 143 h 304"/>
                <a:gd name="T8" fmla="*/ 61 w 611"/>
                <a:gd name="T9" fmla="*/ 180 h 304"/>
                <a:gd name="T10" fmla="*/ 91 w 611"/>
                <a:gd name="T11" fmla="*/ 213 h 304"/>
                <a:gd name="T12" fmla="*/ 123 w 611"/>
                <a:gd name="T13" fmla="*/ 241 h 304"/>
                <a:gd name="T14" fmla="*/ 161 w 611"/>
                <a:gd name="T15" fmla="*/ 265 h 304"/>
                <a:gd name="T16" fmla="*/ 202 w 611"/>
                <a:gd name="T17" fmla="*/ 285 h 304"/>
                <a:gd name="T18" fmla="*/ 244 w 611"/>
                <a:gd name="T19" fmla="*/ 297 h 304"/>
                <a:gd name="T20" fmla="*/ 290 w 611"/>
                <a:gd name="T21" fmla="*/ 303 h 304"/>
                <a:gd name="T22" fmla="*/ 338 w 611"/>
                <a:gd name="T23" fmla="*/ 303 h 304"/>
                <a:gd name="T24" fmla="*/ 381 w 611"/>
                <a:gd name="T25" fmla="*/ 294 h 304"/>
                <a:gd name="T26" fmla="*/ 426 w 611"/>
                <a:gd name="T27" fmla="*/ 279 h 304"/>
                <a:gd name="T28" fmla="*/ 463 w 611"/>
                <a:gd name="T29" fmla="*/ 259 h 304"/>
                <a:gd name="T30" fmla="*/ 499 w 611"/>
                <a:gd name="T31" fmla="*/ 232 h 304"/>
                <a:gd name="T32" fmla="*/ 531 w 611"/>
                <a:gd name="T33" fmla="*/ 204 h 304"/>
                <a:gd name="T34" fmla="*/ 558 w 611"/>
                <a:gd name="T35" fmla="*/ 169 h 304"/>
                <a:gd name="T36" fmla="*/ 581 w 611"/>
                <a:gd name="T37" fmla="*/ 131 h 304"/>
                <a:gd name="T38" fmla="*/ 598 w 611"/>
                <a:gd name="T39" fmla="*/ 90 h 304"/>
                <a:gd name="T40" fmla="*/ 607 w 611"/>
                <a:gd name="T41" fmla="*/ 47 h 304"/>
                <a:gd name="T42" fmla="*/ 610 w 611"/>
                <a:gd name="T43" fmla="*/ 0 h 304"/>
                <a:gd name="T44" fmla="*/ 601 w 611"/>
                <a:gd name="T45" fmla="*/ 29 h 304"/>
                <a:gd name="T46" fmla="*/ 593 w 611"/>
                <a:gd name="T47" fmla="*/ 73 h 304"/>
                <a:gd name="T48" fmla="*/ 578 w 611"/>
                <a:gd name="T49" fmla="*/ 114 h 304"/>
                <a:gd name="T50" fmla="*/ 558 w 611"/>
                <a:gd name="T51" fmla="*/ 151 h 304"/>
                <a:gd name="T52" fmla="*/ 534 w 611"/>
                <a:gd name="T53" fmla="*/ 186 h 304"/>
                <a:gd name="T54" fmla="*/ 505 w 611"/>
                <a:gd name="T55" fmla="*/ 219 h 304"/>
                <a:gd name="T56" fmla="*/ 469 w 611"/>
                <a:gd name="T57" fmla="*/ 241 h 304"/>
                <a:gd name="T58" fmla="*/ 434 w 611"/>
                <a:gd name="T59" fmla="*/ 265 h 304"/>
                <a:gd name="T60" fmla="*/ 393 w 611"/>
                <a:gd name="T61" fmla="*/ 279 h 304"/>
                <a:gd name="T62" fmla="*/ 352 w 611"/>
                <a:gd name="T63" fmla="*/ 291 h 304"/>
                <a:gd name="T64" fmla="*/ 305 w 611"/>
                <a:gd name="T65" fmla="*/ 294 h 304"/>
                <a:gd name="T66" fmla="*/ 260 w 611"/>
                <a:gd name="T67" fmla="*/ 291 h 304"/>
                <a:gd name="T68" fmla="*/ 217 w 611"/>
                <a:gd name="T69" fmla="*/ 279 h 304"/>
                <a:gd name="T70" fmla="*/ 176 w 611"/>
                <a:gd name="T71" fmla="*/ 265 h 304"/>
                <a:gd name="T72" fmla="*/ 141 w 611"/>
                <a:gd name="T73" fmla="*/ 241 h 304"/>
                <a:gd name="T74" fmla="*/ 105 w 611"/>
                <a:gd name="T75" fmla="*/ 219 h 304"/>
                <a:gd name="T76" fmla="*/ 76 w 611"/>
                <a:gd name="T77" fmla="*/ 186 h 304"/>
                <a:gd name="T78" fmla="*/ 52 w 611"/>
                <a:gd name="T79" fmla="*/ 151 h 304"/>
                <a:gd name="T80" fmla="*/ 32 w 611"/>
                <a:gd name="T81" fmla="*/ 114 h 304"/>
                <a:gd name="T82" fmla="*/ 20 w 611"/>
                <a:gd name="T83" fmla="*/ 73 h 304"/>
                <a:gd name="T84" fmla="*/ 11 w 611"/>
                <a:gd name="T85" fmla="*/ 29 h 304"/>
                <a:gd name="T86" fmla="*/ 0 w 611"/>
                <a:gd name="T87" fmla="*/ 0 h 30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11"/>
                <a:gd name="T133" fmla="*/ 0 h 304"/>
                <a:gd name="T134" fmla="*/ 611 w 611"/>
                <a:gd name="T135" fmla="*/ 304 h 30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11" h="304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3" y="29"/>
                  </a:lnTo>
                  <a:lnTo>
                    <a:pt x="3" y="47"/>
                  </a:lnTo>
                  <a:lnTo>
                    <a:pt x="6" y="61"/>
                  </a:lnTo>
                  <a:lnTo>
                    <a:pt x="9" y="76"/>
                  </a:lnTo>
                  <a:lnTo>
                    <a:pt x="14" y="90"/>
                  </a:lnTo>
                  <a:lnTo>
                    <a:pt x="17" y="105"/>
                  </a:lnTo>
                  <a:lnTo>
                    <a:pt x="23" y="117"/>
                  </a:lnTo>
                  <a:lnTo>
                    <a:pt x="29" y="131"/>
                  </a:lnTo>
                  <a:lnTo>
                    <a:pt x="38" y="143"/>
                  </a:lnTo>
                  <a:lnTo>
                    <a:pt x="44" y="157"/>
                  </a:lnTo>
                  <a:lnTo>
                    <a:pt x="52" y="169"/>
                  </a:lnTo>
                  <a:lnTo>
                    <a:pt x="61" y="180"/>
                  </a:lnTo>
                  <a:lnTo>
                    <a:pt x="70" y="192"/>
                  </a:lnTo>
                  <a:lnTo>
                    <a:pt x="79" y="204"/>
                  </a:lnTo>
                  <a:lnTo>
                    <a:pt x="91" y="213"/>
                  </a:lnTo>
                  <a:lnTo>
                    <a:pt x="99" y="225"/>
                  </a:lnTo>
                  <a:lnTo>
                    <a:pt x="111" y="232"/>
                  </a:lnTo>
                  <a:lnTo>
                    <a:pt x="123" y="241"/>
                  </a:lnTo>
                  <a:lnTo>
                    <a:pt x="135" y="250"/>
                  </a:lnTo>
                  <a:lnTo>
                    <a:pt x="147" y="259"/>
                  </a:lnTo>
                  <a:lnTo>
                    <a:pt x="161" y="265"/>
                  </a:lnTo>
                  <a:lnTo>
                    <a:pt x="173" y="274"/>
                  </a:lnTo>
                  <a:lnTo>
                    <a:pt x="187" y="279"/>
                  </a:lnTo>
                  <a:lnTo>
                    <a:pt x="202" y="285"/>
                  </a:lnTo>
                  <a:lnTo>
                    <a:pt x="214" y="288"/>
                  </a:lnTo>
                  <a:lnTo>
                    <a:pt x="229" y="294"/>
                  </a:lnTo>
                  <a:lnTo>
                    <a:pt x="244" y="297"/>
                  </a:lnTo>
                  <a:lnTo>
                    <a:pt x="258" y="300"/>
                  </a:lnTo>
                  <a:lnTo>
                    <a:pt x="275" y="303"/>
                  </a:lnTo>
                  <a:lnTo>
                    <a:pt x="290" y="303"/>
                  </a:lnTo>
                  <a:lnTo>
                    <a:pt x="305" y="303"/>
                  </a:lnTo>
                  <a:lnTo>
                    <a:pt x="323" y="303"/>
                  </a:lnTo>
                  <a:lnTo>
                    <a:pt x="338" y="303"/>
                  </a:lnTo>
                  <a:lnTo>
                    <a:pt x="352" y="300"/>
                  </a:lnTo>
                  <a:lnTo>
                    <a:pt x="366" y="297"/>
                  </a:lnTo>
                  <a:lnTo>
                    <a:pt x="381" y="294"/>
                  </a:lnTo>
                  <a:lnTo>
                    <a:pt x="396" y="288"/>
                  </a:lnTo>
                  <a:lnTo>
                    <a:pt x="411" y="285"/>
                  </a:lnTo>
                  <a:lnTo>
                    <a:pt x="426" y="279"/>
                  </a:lnTo>
                  <a:lnTo>
                    <a:pt x="437" y="274"/>
                  </a:lnTo>
                  <a:lnTo>
                    <a:pt x="452" y="265"/>
                  </a:lnTo>
                  <a:lnTo>
                    <a:pt x="463" y="259"/>
                  </a:lnTo>
                  <a:lnTo>
                    <a:pt x="475" y="250"/>
                  </a:lnTo>
                  <a:lnTo>
                    <a:pt x="487" y="241"/>
                  </a:lnTo>
                  <a:lnTo>
                    <a:pt x="499" y="232"/>
                  </a:lnTo>
                  <a:lnTo>
                    <a:pt x="510" y="225"/>
                  </a:lnTo>
                  <a:lnTo>
                    <a:pt x="522" y="213"/>
                  </a:lnTo>
                  <a:lnTo>
                    <a:pt x="531" y="204"/>
                  </a:lnTo>
                  <a:lnTo>
                    <a:pt x="540" y="192"/>
                  </a:lnTo>
                  <a:lnTo>
                    <a:pt x="552" y="180"/>
                  </a:lnTo>
                  <a:lnTo>
                    <a:pt x="558" y="169"/>
                  </a:lnTo>
                  <a:lnTo>
                    <a:pt x="566" y="157"/>
                  </a:lnTo>
                  <a:lnTo>
                    <a:pt x="575" y="143"/>
                  </a:lnTo>
                  <a:lnTo>
                    <a:pt x="581" y="131"/>
                  </a:lnTo>
                  <a:lnTo>
                    <a:pt x="587" y="117"/>
                  </a:lnTo>
                  <a:lnTo>
                    <a:pt x="593" y="105"/>
                  </a:lnTo>
                  <a:lnTo>
                    <a:pt x="598" y="90"/>
                  </a:lnTo>
                  <a:lnTo>
                    <a:pt x="601" y="76"/>
                  </a:lnTo>
                  <a:lnTo>
                    <a:pt x="604" y="61"/>
                  </a:lnTo>
                  <a:lnTo>
                    <a:pt x="607" y="47"/>
                  </a:lnTo>
                  <a:lnTo>
                    <a:pt x="610" y="29"/>
                  </a:lnTo>
                  <a:lnTo>
                    <a:pt x="610" y="15"/>
                  </a:lnTo>
                  <a:lnTo>
                    <a:pt x="610" y="0"/>
                  </a:lnTo>
                  <a:lnTo>
                    <a:pt x="601" y="0"/>
                  </a:lnTo>
                  <a:lnTo>
                    <a:pt x="601" y="15"/>
                  </a:lnTo>
                  <a:lnTo>
                    <a:pt x="601" y="29"/>
                  </a:lnTo>
                  <a:lnTo>
                    <a:pt x="598" y="44"/>
                  </a:lnTo>
                  <a:lnTo>
                    <a:pt x="595" y="58"/>
                  </a:lnTo>
                  <a:lnTo>
                    <a:pt x="593" y="73"/>
                  </a:lnTo>
                  <a:lnTo>
                    <a:pt x="587" y="87"/>
                  </a:lnTo>
                  <a:lnTo>
                    <a:pt x="584" y="99"/>
                  </a:lnTo>
                  <a:lnTo>
                    <a:pt x="578" y="114"/>
                  </a:lnTo>
                  <a:lnTo>
                    <a:pt x="572" y="128"/>
                  </a:lnTo>
                  <a:lnTo>
                    <a:pt x="566" y="140"/>
                  </a:lnTo>
                  <a:lnTo>
                    <a:pt x="558" y="151"/>
                  </a:lnTo>
                  <a:lnTo>
                    <a:pt x="552" y="163"/>
                  </a:lnTo>
                  <a:lnTo>
                    <a:pt x="543" y="175"/>
                  </a:lnTo>
                  <a:lnTo>
                    <a:pt x="534" y="186"/>
                  </a:lnTo>
                  <a:lnTo>
                    <a:pt x="525" y="198"/>
                  </a:lnTo>
                  <a:lnTo>
                    <a:pt x="513" y="207"/>
                  </a:lnTo>
                  <a:lnTo>
                    <a:pt x="505" y="219"/>
                  </a:lnTo>
                  <a:lnTo>
                    <a:pt x="493" y="227"/>
                  </a:lnTo>
                  <a:lnTo>
                    <a:pt x="481" y="235"/>
                  </a:lnTo>
                  <a:lnTo>
                    <a:pt x="469" y="241"/>
                  </a:lnTo>
                  <a:lnTo>
                    <a:pt x="458" y="250"/>
                  </a:lnTo>
                  <a:lnTo>
                    <a:pt x="446" y="259"/>
                  </a:lnTo>
                  <a:lnTo>
                    <a:pt x="434" y="265"/>
                  </a:lnTo>
                  <a:lnTo>
                    <a:pt x="420" y="271"/>
                  </a:lnTo>
                  <a:lnTo>
                    <a:pt x="408" y="277"/>
                  </a:lnTo>
                  <a:lnTo>
                    <a:pt x="393" y="279"/>
                  </a:lnTo>
                  <a:lnTo>
                    <a:pt x="378" y="285"/>
                  </a:lnTo>
                  <a:lnTo>
                    <a:pt x="363" y="288"/>
                  </a:lnTo>
                  <a:lnTo>
                    <a:pt x="352" y="291"/>
                  </a:lnTo>
                  <a:lnTo>
                    <a:pt x="338" y="291"/>
                  </a:lnTo>
                  <a:lnTo>
                    <a:pt x="320" y="294"/>
                  </a:lnTo>
                  <a:lnTo>
                    <a:pt x="305" y="294"/>
                  </a:lnTo>
                  <a:lnTo>
                    <a:pt x="290" y="294"/>
                  </a:lnTo>
                  <a:lnTo>
                    <a:pt x="275" y="291"/>
                  </a:lnTo>
                  <a:lnTo>
                    <a:pt x="260" y="291"/>
                  </a:lnTo>
                  <a:lnTo>
                    <a:pt x="247" y="288"/>
                  </a:lnTo>
                  <a:lnTo>
                    <a:pt x="232" y="285"/>
                  </a:lnTo>
                  <a:lnTo>
                    <a:pt x="217" y="279"/>
                  </a:lnTo>
                  <a:lnTo>
                    <a:pt x="205" y="277"/>
                  </a:lnTo>
                  <a:lnTo>
                    <a:pt x="190" y="271"/>
                  </a:lnTo>
                  <a:lnTo>
                    <a:pt x="176" y="265"/>
                  </a:lnTo>
                  <a:lnTo>
                    <a:pt x="164" y="259"/>
                  </a:lnTo>
                  <a:lnTo>
                    <a:pt x="153" y="250"/>
                  </a:lnTo>
                  <a:lnTo>
                    <a:pt x="141" y="241"/>
                  </a:lnTo>
                  <a:lnTo>
                    <a:pt x="129" y="235"/>
                  </a:lnTo>
                  <a:lnTo>
                    <a:pt x="117" y="227"/>
                  </a:lnTo>
                  <a:lnTo>
                    <a:pt x="105" y="219"/>
                  </a:lnTo>
                  <a:lnTo>
                    <a:pt x="96" y="207"/>
                  </a:lnTo>
                  <a:lnTo>
                    <a:pt x="88" y="198"/>
                  </a:lnTo>
                  <a:lnTo>
                    <a:pt x="76" y="186"/>
                  </a:lnTo>
                  <a:lnTo>
                    <a:pt x="67" y="175"/>
                  </a:lnTo>
                  <a:lnTo>
                    <a:pt x="61" y="163"/>
                  </a:lnTo>
                  <a:lnTo>
                    <a:pt x="52" y="151"/>
                  </a:lnTo>
                  <a:lnTo>
                    <a:pt x="47" y="140"/>
                  </a:lnTo>
                  <a:lnTo>
                    <a:pt x="38" y="128"/>
                  </a:lnTo>
                  <a:lnTo>
                    <a:pt x="32" y="114"/>
                  </a:lnTo>
                  <a:lnTo>
                    <a:pt x="26" y="99"/>
                  </a:lnTo>
                  <a:lnTo>
                    <a:pt x="23" y="87"/>
                  </a:lnTo>
                  <a:lnTo>
                    <a:pt x="20" y="73"/>
                  </a:lnTo>
                  <a:lnTo>
                    <a:pt x="14" y="58"/>
                  </a:lnTo>
                  <a:lnTo>
                    <a:pt x="14" y="44"/>
                  </a:lnTo>
                  <a:lnTo>
                    <a:pt x="11" y="29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0" name="Freeform 144">
              <a:extLst>
                <a:ext uri="{FF2B5EF4-FFF2-40B4-BE49-F238E27FC236}">
                  <a16:creationId xmlns:a16="http://schemas.microsoft.com/office/drawing/2014/main" id="{BB954A04-09B4-466E-B81B-6A107D615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3503"/>
              <a:ext cx="593" cy="294"/>
            </a:xfrm>
            <a:custGeom>
              <a:avLst/>
              <a:gdLst>
                <a:gd name="T0" fmla="*/ 2 w 593"/>
                <a:gd name="T1" fmla="*/ 262 h 294"/>
                <a:gd name="T2" fmla="*/ 11 w 593"/>
                <a:gd name="T3" fmla="*/ 220 h 294"/>
                <a:gd name="T4" fmla="*/ 23 w 593"/>
                <a:gd name="T5" fmla="*/ 179 h 294"/>
                <a:gd name="T6" fmla="*/ 44 w 593"/>
                <a:gd name="T7" fmla="*/ 139 h 294"/>
                <a:gd name="T8" fmla="*/ 67 w 593"/>
                <a:gd name="T9" fmla="*/ 107 h 294"/>
                <a:gd name="T10" fmla="*/ 96 w 593"/>
                <a:gd name="T11" fmla="*/ 75 h 294"/>
                <a:gd name="T12" fmla="*/ 132 w 593"/>
                <a:gd name="T13" fmla="*/ 49 h 294"/>
                <a:gd name="T14" fmla="*/ 167 w 593"/>
                <a:gd name="T15" fmla="*/ 28 h 294"/>
                <a:gd name="T16" fmla="*/ 208 w 593"/>
                <a:gd name="T17" fmla="*/ 11 h 294"/>
                <a:gd name="T18" fmla="*/ 251 w 593"/>
                <a:gd name="T19" fmla="*/ 3 h 294"/>
                <a:gd name="T20" fmla="*/ 296 w 593"/>
                <a:gd name="T21" fmla="*/ 0 h 294"/>
                <a:gd name="T22" fmla="*/ 343 w 593"/>
                <a:gd name="T23" fmla="*/ 3 h 294"/>
                <a:gd name="T24" fmla="*/ 384 w 593"/>
                <a:gd name="T25" fmla="*/ 11 h 294"/>
                <a:gd name="T26" fmla="*/ 425 w 593"/>
                <a:gd name="T27" fmla="*/ 28 h 294"/>
                <a:gd name="T28" fmla="*/ 460 w 593"/>
                <a:gd name="T29" fmla="*/ 49 h 294"/>
                <a:gd name="T30" fmla="*/ 496 w 593"/>
                <a:gd name="T31" fmla="*/ 75 h 294"/>
                <a:gd name="T32" fmla="*/ 525 w 593"/>
                <a:gd name="T33" fmla="*/ 107 h 294"/>
                <a:gd name="T34" fmla="*/ 548 w 593"/>
                <a:gd name="T35" fmla="*/ 139 h 294"/>
                <a:gd name="T36" fmla="*/ 569 w 593"/>
                <a:gd name="T37" fmla="*/ 179 h 294"/>
                <a:gd name="T38" fmla="*/ 584 w 593"/>
                <a:gd name="T39" fmla="*/ 220 h 294"/>
                <a:gd name="T40" fmla="*/ 592 w 593"/>
                <a:gd name="T41" fmla="*/ 262 h 294"/>
                <a:gd name="T42" fmla="*/ 584 w 593"/>
                <a:gd name="T43" fmla="*/ 293 h 294"/>
                <a:gd name="T44" fmla="*/ 581 w 593"/>
                <a:gd name="T45" fmla="*/ 250 h 294"/>
                <a:gd name="T46" fmla="*/ 569 w 593"/>
                <a:gd name="T47" fmla="*/ 209 h 294"/>
                <a:gd name="T48" fmla="*/ 554 w 593"/>
                <a:gd name="T49" fmla="*/ 169 h 294"/>
                <a:gd name="T50" fmla="*/ 534 w 593"/>
                <a:gd name="T51" fmla="*/ 133 h 294"/>
                <a:gd name="T52" fmla="*/ 510 w 593"/>
                <a:gd name="T53" fmla="*/ 101 h 294"/>
                <a:gd name="T54" fmla="*/ 478 w 593"/>
                <a:gd name="T55" fmla="*/ 73 h 294"/>
                <a:gd name="T56" fmla="*/ 445 w 593"/>
                <a:gd name="T57" fmla="*/ 49 h 294"/>
                <a:gd name="T58" fmla="*/ 408 w 593"/>
                <a:gd name="T59" fmla="*/ 31 h 294"/>
                <a:gd name="T60" fmla="*/ 369 w 593"/>
                <a:gd name="T61" fmla="*/ 17 h 294"/>
                <a:gd name="T62" fmla="*/ 326 w 593"/>
                <a:gd name="T63" fmla="*/ 8 h 294"/>
                <a:gd name="T64" fmla="*/ 281 w 593"/>
                <a:gd name="T65" fmla="*/ 8 h 294"/>
                <a:gd name="T66" fmla="*/ 241 w 593"/>
                <a:gd name="T67" fmla="*/ 14 h 294"/>
                <a:gd name="T68" fmla="*/ 199 w 593"/>
                <a:gd name="T69" fmla="*/ 25 h 294"/>
                <a:gd name="T70" fmla="*/ 161 w 593"/>
                <a:gd name="T71" fmla="*/ 43 h 294"/>
                <a:gd name="T72" fmla="*/ 126 w 593"/>
                <a:gd name="T73" fmla="*/ 64 h 294"/>
                <a:gd name="T74" fmla="*/ 93 w 593"/>
                <a:gd name="T75" fmla="*/ 93 h 294"/>
                <a:gd name="T76" fmla="*/ 67 w 593"/>
                <a:gd name="T77" fmla="*/ 122 h 294"/>
                <a:gd name="T78" fmla="*/ 44 w 593"/>
                <a:gd name="T79" fmla="*/ 157 h 294"/>
                <a:gd name="T80" fmla="*/ 26 w 593"/>
                <a:gd name="T81" fmla="*/ 194 h 294"/>
                <a:gd name="T82" fmla="*/ 14 w 593"/>
                <a:gd name="T83" fmla="*/ 235 h 294"/>
                <a:gd name="T84" fmla="*/ 11 w 593"/>
                <a:gd name="T85" fmla="*/ 278 h 29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93"/>
                <a:gd name="T130" fmla="*/ 0 h 294"/>
                <a:gd name="T131" fmla="*/ 593 w 593"/>
                <a:gd name="T132" fmla="*/ 294 h 29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93" h="294">
                  <a:moveTo>
                    <a:pt x="0" y="293"/>
                  </a:moveTo>
                  <a:lnTo>
                    <a:pt x="0" y="278"/>
                  </a:lnTo>
                  <a:lnTo>
                    <a:pt x="2" y="262"/>
                  </a:lnTo>
                  <a:lnTo>
                    <a:pt x="5" y="247"/>
                  </a:lnTo>
                  <a:lnTo>
                    <a:pt x="5" y="232"/>
                  </a:lnTo>
                  <a:lnTo>
                    <a:pt x="11" y="220"/>
                  </a:lnTo>
                  <a:lnTo>
                    <a:pt x="14" y="206"/>
                  </a:lnTo>
                  <a:lnTo>
                    <a:pt x="17" y="191"/>
                  </a:lnTo>
                  <a:lnTo>
                    <a:pt x="23" y="179"/>
                  </a:lnTo>
                  <a:lnTo>
                    <a:pt x="29" y="166"/>
                  </a:lnTo>
                  <a:lnTo>
                    <a:pt x="38" y="154"/>
                  </a:lnTo>
                  <a:lnTo>
                    <a:pt x="44" y="139"/>
                  </a:lnTo>
                  <a:lnTo>
                    <a:pt x="52" y="127"/>
                  </a:lnTo>
                  <a:lnTo>
                    <a:pt x="58" y="116"/>
                  </a:lnTo>
                  <a:lnTo>
                    <a:pt x="67" y="107"/>
                  </a:lnTo>
                  <a:lnTo>
                    <a:pt x="79" y="95"/>
                  </a:lnTo>
                  <a:lnTo>
                    <a:pt x="87" y="84"/>
                  </a:lnTo>
                  <a:lnTo>
                    <a:pt x="96" y="75"/>
                  </a:lnTo>
                  <a:lnTo>
                    <a:pt x="108" y="67"/>
                  </a:lnTo>
                  <a:lnTo>
                    <a:pt x="120" y="58"/>
                  </a:lnTo>
                  <a:lnTo>
                    <a:pt x="132" y="49"/>
                  </a:lnTo>
                  <a:lnTo>
                    <a:pt x="144" y="40"/>
                  </a:lnTo>
                  <a:lnTo>
                    <a:pt x="155" y="34"/>
                  </a:lnTo>
                  <a:lnTo>
                    <a:pt x="167" y="28"/>
                  </a:lnTo>
                  <a:lnTo>
                    <a:pt x="181" y="23"/>
                  </a:lnTo>
                  <a:lnTo>
                    <a:pt x="196" y="17"/>
                  </a:lnTo>
                  <a:lnTo>
                    <a:pt x="208" y="11"/>
                  </a:lnTo>
                  <a:lnTo>
                    <a:pt x="223" y="8"/>
                  </a:lnTo>
                  <a:lnTo>
                    <a:pt x="238" y="6"/>
                  </a:lnTo>
                  <a:lnTo>
                    <a:pt x="251" y="3"/>
                  </a:lnTo>
                  <a:lnTo>
                    <a:pt x="266" y="0"/>
                  </a:lnTo>
                  <a:lnTo>
                    <a:pt x="281" y="0"/>
                  </a:lnTo>
                  <a:lnTo>
                    <a:pt x="296" y="0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43" y="3"/>
                  </a:lnTo>
                  <a:lnTo>
                    <a:pt x="354" y="6"/>
                  </a:lnTo>
                  <a:lnTo>
                    <a:pt x="369" y="8"/>
                  </a:lnTo>
                  <a:lnTo>
                    <a:pt x="384" y="11"/>
                  </a:lnTo>
                  <a:lnTo>
                    <a:pt x="399" y="17"/>
                  </a:lnTo>
                  <a:lnTo>
                    <a:pt x="411" y="23"/>
                  </a:lnTo>
                  <a:lnTo>
                    <a:pt x="425" y="28"/>
                  </a:lnTo>
                  <a:lnTo>
                    <a:pt x="437" y="34"/>
                  </a:lnTo>
                  <a:lnTo>
                    <a:pt x="448" y="40"/>
                  </a:lnTo>
                  <a:lnTo>
                    <a:pt x="460" y="49"/>
                  </a:lnTo>
                  <a:lnTo>
                    <a:pt x="472" y="58"/>
                  </a:lnTo>
                  <a:lnTo>
                    <a:pt x="484" y="67"/>
                  </a:lnTo>
                  <a:lnTo>
                    <a:pt x="496" y="75"/>
                  </a:lnTo>
                  <a:lnTo>
                    <a:pt x="504" y="84"/>
                  </a:lnTo>
                  <a:lnTo>
                    <a:pt x="516" y="95"/>
                  </a:lnTo>
                  <a:lnTo>
                    <a:pt x="525" y="107"/>
                  </a:lnTo>
                  <a:lnTo>
                    <a:pt x="534" y="116"/>
                  </a:lnTo>
                  <a:lnTo>
                    <a:pt x="543" y="127"/>
                  </a:lnTo>
                  <a:lnTo>
                    <a:pt x="548" y="139"/>
                  </a:lnTo>
                  <a:lnTo>
                    <a:pt x="557" y="154"/>
                  </a:lnTo>
                  <a:lnTo>
                    <a:pt x="563" y="166"/>
                  </a:lnTo>
                  <a:lnTo>
                    <a:pt x="569" y="179"/>
                  </a:lnTo>
                  <a:lnTo>
                    <a:pt x="575" y="191"/>
                  </a:lnTo>
                  <a:lnTo>
                    <a:pt x="578" y="206"/>
                  </a:lnTo>
                  <a:lnTo>
                    <a:pt x="584" y="220"/>
                  </a:lnTo>
                  <a:lnTo>
                    <a:pt x="586" y="232"/>
                  </a:lnTo>
                  <a:lnTo>
                    <a:pt x="589" y="247"/>
                  </a:lnTo>
                  <a:lnTo>
                    <a:pt x="592" y="262"/>
                  </a:lnTo>
                  <a:lnTo>
                    <a:pt x="592" y="278"/>
                  </a:lnTo>
                  <a:lnTo>
                    <a:pt x="592" y="293"/>
                  </a:lnTo>
                  <a:lnTo>
                    <a:pt x="584" y="293"/>
                  </a:lnTo>
                  <a:lnTo>
                    <a:pt x="584" y="278"/>
                  </a:lnTo>
                  <a:lnTo>
                    <a:pt x="581" y="265"/>
                  </a:lnTo>
                  <a:lnTo>
                    <a:pt x="581" y="250"/>
                  </a:lnTo>
                  <a:lnTo>
                    <a:pt x="578" y="235"/>
                  </a:lnTo>
                  <a:lnTo>
                    <a:pt x="575" y="220"/>
                  </a:lnTo>
                  <a:lnTo>
                    <a:pt x="569" y="209"/>
                  </a:lnTo>
                  <a:lnTo>
                    <a:pt x="566" y="194"/>
                  </a:lnTo>
                  <a:lnTo>
                    <a:pt x="560" y="182"/>
                  </a:lnTo>
                  <a:lnTo>
                    <a:pt x="554" y="169"/>
                  </a:lnTo>
                  <a:lnTo>
                    <a:pt x="548" y="157"/>
                  </a:lnTo>
                  <a:lnTo>
                    <a:pt x="543" y="145"/>
                  </a:lnTo>
                  <a:lnTo>
                    <a:pt x="534" y="133"/>
                  </a:lnTo>
                  <a:lnTo>
                    <a:pt x="528" y="122"/>
                  </a:lnTo>
                  <a:lnTo>
                    <a:pt x="519" y="113"/>
                  </a:lnTo>
                  <a:lnTo>
                    <a:pt x="510" y="101"/>
                  </a:lnTo>
                  <a:lnTo>
                    <a:pt x="499" y="93"/>
                  </a:lnTo>
                  <a:lnTo>
                    <a:pt x="490" y="81"/>
                  </a:lnTo>
                  <a:lnTo>
                    <a:pt x="478" y="73"/>
                  </a:lnTo>
                  <a:lnTo>
                    <a:pt x="469" y="64"/>
                  </a:lnTo>
                  <a:lnTo>
                    <a:pt x="457" y="58"/>
                  </a:lnTo>
                  <a:lnTo>
                    <a:pt x="445" y="49"/>
                  </a:lnTo>
                  <a:lnTo>
                    <a:pt x="434" y="43"/>
                  </a:lnTo>
                  <a:lnTo>
                    <a:pt x="419" y="37"/>
                  </a:lnTo>
                  <a:lnTo>
                    <a:pt x="408" y="31"/>
                  </a:lnTo>
                  <a:lnTo>
                    <a:pt x="396" y="25"/>
                  </a:lnTo>
                  <a:lnTo>
                    <a:pt x="381" y="20"/>
                  </a:lnTo>
                  <a:lnTo>
                    <a:pt x="369" y="17"/>
                  </a:lnTo>
                  <a:lnTo>
                    <a:pt x="354" y="14"/>
                  </a:lnTo>
                  <a:lnTo>
                    <a:pt x="340" y="11"/>
                  </a:lnTo>
                  <a:lnTo>
                    <a:pt x="326" y="8"/>
                  </a:lnTo>
                  <a:lnTo>
                    <a:pt x="311" y="8"/>
                  </a:lnTo>
                  <a:lnTo>
                    <a:pt x="296" y="8"/>
                  </a:lnTo>
                  <a:lnTo>
                    <a:pt x="281" y="8"/>
                  </a:lnTo>
                  <a:lnTo>
                    <a:pt x="266" y="8"/>
                  </a:lnTo>
                  <a:lnTo>
                    <a:pt x="251" y="11"/>
                  </a:lnTo>
                  <a:lnTo>
                    <a:pt x="241" y="14"/>
                  </a:lnTo>
                  <a:lnTo>
                    <a:pt x="226" y="17"/>
                  </a:lnTo>
                  <a:lnTo>
                    <a:pt x="211" y="20"/>
                  </a:lnTo>
                  <a:lnTo>
                    <a:pt x="199" y="25"/>
                  </a:lnTo>
                  <a:lnTo>
                    <a:pt x="184" y="31"/>
                  </a:lnTo>
                  <a:lnTo>
                    <a:pt x="172" y="37"/>
                  </a:lnTo>
                  <a:lnTo>
                    <a:pt x="161" y="43"/>
                  </a:lnTo>
                  <a:lnTo>
                    <a:pt x="149" y="49"/>
                  </a:lnTo>
                  <a:lnTo>
                    <a:pt x="138" y="58"/>
                  </a:lnTo>
                  <a:lnTo>
                    <a:pt x="126" y="64"/>
                  </a:lnTo>
                  <a:lnTo>
                    <a:pt x="114" y="73"/>
                  </a:lnTo>
                  <a:lnTo>
                    <a:pt x="105" y="81"/>
                  </a:lnTo>
                  <a:lnTo>
                    <a:pt x="93" y="93"/>
                  </a:lnTo>
                  <a:lnTo>
                    <a:pt x="84" y="101"/>
                  </a:lnTo>
                  <a:lnTo>
                    <a:pt x="76" y="113"/>
                  </a:lnTo>
                  <a:lnTo>
                    <a:pt x="67" y="122"/>
                  </a:lnTo>
                  <a:lnTo>
                    <a:pt x="58" y="133"/>
                  </a:lnTo>
                  <a:lnTo>
                    <a:pt x="52" y="145"/>
                  </a:lnTo>
                  <a:lnTo>
                    <a:pt x="44" y="157"/>
                  </a:lnTo>
                  <a:lnTo>
                    <a:pt x="38" y="169"/>
                  </a:lnTo>
                  <a:lnTo>
                    <a:pt x="32" y="182"/>
                  </a:lnTo>
                  <a:lnTo>
                    <a:pt x="26" y="194"/>
                  </a:lnTo>
                  <a:lnTo>
                    <a:pt x="23" y="209"/>
                  </a:lnTo>
                  <a:lnTo>
                    <a:pt x="20" y="220"/>
                  </a:lnTo>
                  <a:lnTo>
                    <a:pt x="14" y="235"/>
                  </a:lnTo>
                  <a:lnTo>
                    <a:pt x="14" y="250"/>
                  </a:lnTo>
                  <a:lnTo>
                    <a:pt x="11" y="265"/>
                  </a:lnTo>
                  <a:lnTo>
                    <a:pt x="11" y="278"/>
                  </a:lnTo>
                  <a:lnTo>
                    <a:pt x="8" y="293"/>
                  </a:lnTo>
                  <a:lnTo>
                    <a:pt x="0" y="293"/>
                  </a:lnTo>
                </a:path>
              </a:pathLst>
            </a:custGeom>
            <a:solidFill>
              <a:srgbClr val="FFA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1" name="Freeform 145">
              <a:extLst>
                <a:ext uri="{FF2B5EF4-FFF2-40B4-BE49-F238E27FC236}">
                  <a16:creationId xmlns:a16="http://schemas.microsoft.com/office/drawing/2014/main" id="{29F1C737-97F0-4187-B007-04F656C45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3802"/>
              <a:ext cx="593" cy="295"/>
            </a:xfrm>
            <a:custGeom>
              <a:avLst/>
              <a:gdLst>
                <a:gd name="T0" fmla="*/ 0 w 593"/>
                <a:gd name="T1" fmla="*/ 15 h 295"/>
                <a:gd name="T2" fmla="*/ 5 w 593"/>
                <a:gd name="T3" fmla="*/ 58 h 295"/>
                <a:gd name="T4" fmla="*/ 17 w 593"/>
                <a:gd name="T5" fmla="*/ 99 h 295"/>
                <a:gd name="T6" fmla="*/ 38 w 593"/>
                <a:gd name="T7" fmla="*/ 140 h 295"/>
                <a:gd name="T8" fmla="*/ 58 w 593"/>
                <a:gd name="T9" fmla="*/ 174 h 295"/>
                <a:gd name="T10" fmla="*/ 87 w 593"/>
                <a:gd name="T11" fmla="*/ 207 h 295"/>
                <a:gd name="T12" fmla="*/ 120 w 593"/>
                <a:gd name="T13" fmla="*/ 235 h 295"/>
                <a:gd name="T14" fmla="*/ 155 w 593"/>
                <a:gd name="T15" fmla="*/ 259 h 295"/>
                <a:gd name="T16" fmla="*/ 196 w 593"/>
                <a:gd name="T17" fmla="*/ 276 h 295"/>
                <a:gd name="T18" fmla="*/ 238 w 593"/>
                <a:gd name="T19" fmla="*/ 288 h 295"/>
                <a:gd name="T20" fmla="*/ 281 w 593"/>
                <a:gd name="T21" fmla="*/ 294 h 295"/>
                <a:gd name="T22" fmla="*/ 329 w 593"/>
                <a:gd name="T23" fmla="*/ 291 h 295"/>
                <a:gd name="T24" fmla="*/ 369 w 593"/>
                <a:gd name="T25" fmla="*/ 285 h 295"/>
                <a:gd name="T26" fmla="*/ 411 w 593"/>
                <a:gd name="T27" fmla="*/ 270 h 295"/>
                <a:gd name="T28" fmla="*/ 448 w 593"/>
                <a:gd name="T29" fmla="*/ 250 h 295"/>
                <a:gd name="T30" fmla="*/ 484 w 593"/>
                <a:gd name="T31" fmla="*/ 227 h 295"/>
                <a:gd name="T32" fmla="*/ 516 w 593"/>
                <a:gd name="T33" fmla="*/ 198 h 295"/>
                <a:gd name="T34" fmla="*/ 543 w 593"/>
                <a:gd name="T35" fmla="*/ 163 h 295"/>
                <a:gd name="T36" fmla="*/ 563 w 593"/>
                <a:gd name="T37" fmla="*/ 128 h 295"/>
                <a:gd name="T38" fmla="*/ 578 w 593"/>
                <a:gd name="T39" fmla="*/ 87 h 295"/>
                <a:gd name="T40" fmla="*/ 589 w 593"/>
                <a:gd name="T41" fmla="*/ 44 h 295"/>
                <a:gd name="T42" fmla="*/ 592 w 593"/>
                <a:gd name="T43" fmla="*/ 0 h 295"/>
                <a:gd name="T44" fmla="*/ 581 w 593"/>
                <a:gd name="T45" fmla="*/ 29 h 295"/>
                <a:gd name="T46" fmla="*/ 575 w 593"/>
                <a:gd name="T47" fmla="*/ 70 h 295"/>
                <a:gd name="T48" fmla="*/ 560 w 593"/>
                <a:gd name="T49" fmla="*/ 111 h 295"/>
                <a:gd name="T50" fmla="*/ 543 w 593"/>
                <a:gd name="T51" fmla="*/ 148 h 295"/>
                <a:gd name="T52" fmla="*/ 519 w 593"/>
                <a:gd name="T53" fmla="*/ 180 h 295"/>
                <a:gd name="T54" fmla="*/ 490 w 593"/>
                <a:gd name="T55" fmla="*/ 210 h 295"/>
                <a:gd name="T56" fmla="*/ 457 w 593"/>
                <a:gd name="T57" fmla="*/ 235 h 295"/>
                <a:gd name="T58" fmla="*/ 419 w 593"/>
                <a:gd name="T59" fmla="*/ 256 h 295"/>
                <a:gd name="T60" fmla="*/ 381 w 593"/>
                <a:gd name="T61" fmla="*/ 270 h 295"/>
                <a:gd name="T62" fmla="*/ 340 w 593"/>
                <a:gd name="T63" fmla="*/ 282 h 295"/>
                <a:gd name="T64" fmla="*/ 296 w 593"/>
                <a:gd name="T65" fmla="*/ 285 h 295"/>
                <a:gd name="T66" fmla="*/ 251 w 593"/>
                <a:gd name="T67" fmla="*/ 282 h 295"/>
                <a:gd name="T68" fmla="*/ 211 w 593"/>
                <a:gd name="T69" fmla="*/ 270 h 295"/>
                <a:gd name="T70" fmla="*/ 172 w 593"/>
                <a:gd name="T71" fmla="*/ 256 h 295"/>
                <a:gd name="T72" fmla="*/ 138 w 593"/>
                <a:gd name="T73" fmla="*/ 235 h 295"/>
                <a:gd name="T74" fmla="*/ 105 w 593"/>
                <a:gd name="T75" fmla="*/ 210 h 295"/>
                <a:gd name="T76" fmla="*/ 76 w 593"/>
                <a:gd name="T77" fmla="*/ 180 h 295"/>
                <a:gd name="T78" fmla="*/ 52 w 593"/>
                <a:gd name="T79" fmla="*/ 148 h 295"/>
                <a:gd name="T80" fmla="*/ 32 w 593"/>
                <a:gd name="T81" fmla="*/ 111 h 295"/>
                <a:gd name="T82" fmla="*/ 20 w 593"/>
                <a:gd name="T83" fmla="*/ 70 h 295"/>
                <a:gd name="T84" fmla="*/ 11 w 593"/>
                <a:gd name="T85" fmla="*/ 29 h 295"/>
                <a:gd name="T86" fmla="*/ 0 w 593"/>
                <a:gd name="T87" fmla="*/ 0 h 2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93"/>
                <a:gd name="T133" fmla="*/ 0 h 295"/>
                <a:gd name="T134" fmla="*/ 593 w 593"/>
                <a:gd name="T135" fmla="*/ 295 h 2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93" h="295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2" y="29"/>
                  </a:lnTo>
                  <a:lnTo>
                    <a:pt x="5" y="44"/>
                  </a:lnTo>
                  <a:lnTo>
                    <a:pt x="5" y="58"/>
                  </a:lnTo>
                  <a:lnTo>
                    <a:pt x="11" y="73"/>
                  </a:lnTo>
                  <a:lnTo>
                    <a:pt x="14" y="87"/>
                  </a:lnTo>
                  <a:lnTo>
                    <a:pt x="17" y="99"/>
                  </a:lnTo>
                  <a:lnTo>
                    <a:pt x="23" y="114"/>
                  </a:lnTo>
                  <a:lnTo>
                    <a:pt x="29" y="128"/>
                  </a:lnTo>
                  <a:lnTo>
                    <a:pt x="38" y="140"/>
                  </a:lnTo>
                  <a:lnTo>
                    <a:pt x="44" y="151"/>
                  </a:lnTo>
                  <a:lnTo>
                    <a:pt x="52" y="163"/>
                  </a:lnTo>
                  <a:lnTo>
                    <a:pt x="58" y="174"/>
                  </a:lnTo>
                  <a:lnTo>
                    <a:pt x="67" y="186"/>
                  </a:lnTo>
                  <a:lnTo>
                    <a:pt x="79" y="198"/>
                  </a:lnTo>
                  <a:lnTo>
                    <a:pt x="87" y="207"/>
                  </a:lnTo>
                  <a:lnTo>
                    <a:pt x="96" y="219"/>
                  </a:lnTo>
                  <a:lnTo>
                    <a:pt x="108" y="227"/>
                  </a:lnTo>
                  <a:lnTo>
                    <a:pt x="120" y="235"/>
                  </a:lnTo>
                  <a:lnTo>
                    <a:pt x="132" y="241"/>
                  </a:lnTo>
                  <a:lnTo>
                    <a:pt x="144" y="250"/>
                  </a:lnTo>
                  <a:lnTo>
                    <a:pt x="155" y="259"/>
                  </a:lnTo>
                  <a:lnTo>
                    <a:pt x="167" y="265"/>
                  </a:lnTo>
                  <a:lnTo>
                    <a:pt x="181" y="270"/>
                  </a:lnTo>
                  <a:lnTo>
                    <a:pt x="196" y="276"/>
                  </a:lnTo>
                  <a:lnTo>
                    <a:pt x="208" y="279"/>
                  </a:lnTo>
                  <a:lnTo>
                    <a:pt x="223" y="285"/>
                  </a:lnTo>
                  <a:lnTo>
                    <a:pt x="238" y="288"/>
                  </a:lnTo>
                  <a:lnTo>
                    <a:pt x="251" y="291"/>
                  </a:lnTo>
                  <a:lnTo>
                    <a:pt x="266" y="291"/>
                  </a:lnTo>
                  <a:lnTo>
                    <a:pt x="281" y="294"/>
                  </a:lnTo>
                  <a:lnTo>
                    <a:pt x="296" y="294"/>
                  </a:lnTo>
                  <a:lnTo>
                    <a:pt x="311" y="294"/>
                  </a:lnTo>
                  <a:lnTo>
                    <a:pt x="329" y="291"/>
                  </a:lnTo>
                  <a:lnTo>
                    <a:pt x="343" y="291"/>
                  </a:lnTo>
                  <a:lnTo>
                    <a:pt x="354" y="288"/>
                  </a:lnTo>
                  <a:lnTo>
                    <a:pt x="369" y="285"/>
                  </a:lnTo>
                  <a:lnTo>
                    <a:pt x="384" y="279"/>
                  </a:lnTo>
                  <a:lnTo>
                    <a:pt x="399" y="276"/>
                  </a:lnTo>
                  <a:lnTo>
                    <a:pt x="411" y="270"/>
                  </a:lnTo>
                  <a:lnTo>
                    <a:pt x="425" y="265"/>
                  </a:lnTo>
                  <a:lnTo>
                    <a:pt x="437" y="259"/>
                  </a:lnTo>
                  <a:lnTo>
                    <a:pt x="448" y="250"/>
                  </a:lnTo>
                  <a:lnTo>
                    <a:pt x="460" y="241"/>
                  </a:lnTo>
                  <a:lnTo>
                    <a:pt x="472" y="235"/>
                  </a:lnTo>
                  <a:lnTo>
                    <a:pt x="484" y="227"/>
                  </a:lnTo>
                  <a:lnTo>
                    <a:pt x="496" y="219"/>
                  </a:lnTo>
                  <a:lnTo>
                    <a:pt x="504" y="207"/>
                  </a:lnTo>
                  <a:lnTo>
                    <a:pt x="516" y="198"/>
                  </a:lnTo>
                  <a:lnTo>
                    <a:pt x="525" y="186"/>
                  </a:lnTo>
                  <a:lnTo>
                    <a:pt x="534" y="174"/>
                  </a:lnTo>
                  <a:lnTo>
                    <a:pt x="543" y="163"/>
                  </a:lnTo>
                  <a:lnTo>
                    <a:pt x="548" y="151"/>
                  </a:lnTo>
                  <a:lnTo>
                    <a:pt x="557" y="140"/>
                  </a:lnTo>
                  <a:lnTo>
                    <a:pt x="563" y="128"/>
                  </a:lnTo>
                  <a:lnTo>
                    <a:pt x="569" y="114"/>
                  </a:lnTo>
                  <a:lnTo>
                    <a:pt x="575" y="99"/>
                  </a:lnTo>
                  <a:lnTo>
                    <a:pt x="578" y="87"/>
                  </a:lnTo>
                  <a:lnTo>
                    <a:pt x="584" y="73"/>
                  </a:lnTo>
                  <a:lnTo>
                    <a:pt x="586" y="58"/>
                  </a:lnTo>
                  <a:lnTo>
                    <a:pt x="589" y="44"/>
                  </a:lnTo>
                  <a:lnTo>
                    <a:pt x="592" y="29"/>
                  </a:lnTo>
                  <a:lnTo>
                    <a:pt x="592" y="15"/>
                  </a:lnTo>
                  <a:lnTo>
                    <a:pt x="592" y="0"/>
                  </a:lnTo>
                  <a:lnTo>
                    <a:pt x="584" y="0"/>
                  </a:lnTo>
                  <a:lnTo>
                    <a:pt x="584" y="15"/>
                  </a:lnTo>
                  <a:lnTo>
                    <a:pt x="581" y="29"/>
                  </a:lnTo>
                  <a:lnTo>
                    <a:pt x="581" y="44"/>
                  </a:lnTo>
                  <a:lnTo>
                    <a:pt x="578" y="56"/>
                  </a:lnTo>
                  <a:lnTo>
                    <a:pt x="575" y="70"/>
                  </a:lnTo>
                  <a:lnTo>
                    <a:pt x="569" y="84"/>
                  </a:lnTo>
                  <a:lnTo>
                    <a:pt x="566" y="96"/>
                  </a:lnTo>
                  <a:lnTo>
                    <a:pt x="560" y="111"/>
                  </a:lnTo>
                  <a:lnTo>
                    <a:pt x="554" y="123"/>
                  </a:lnTo>
                  <a:lnTo>
                    <a:pt x="548" y="134"/>
                  </a:lnTo>
                  <a:lnTo>
                    <a:pt x="543" y="148"/>
                  </a:lnTo>
                  <a:lnTo>
                    <a:pt x="534" y="157"/>
                  </a:lnTo>
                  <a:lnTo>
                    <a:pt x="528" y="169"/>
                  </a:lnTo>
                  <a:lnTo>
                    <a:pt x="519" y="180"/>
                  </a:lnTo>
                  <a:lnTo>
                    <a:pt x="510" y="192"/>
                  </a:lnTo>
                  <a:lnTo>
                    <a:pt x="499" y="201"/>
                  </a:lnTo>
                  <a:lnTo>
                    <a:pt x="490" y="210"/>
                  </a:lnTo>
                  <a:lnTo>
                    <a:pt x="478" y="219"/>
                  </a:lnTo>
                  <a:lnTo>
                    <a:pt x="469" y="227"/>
                  </a:lnTo>
                  <a:lnTo>
                    <a:pt x="457" y="235"/>
                  </a:lnTo>
                  <a:lnTo>
                    <a:pt x="445" y="241"/>
                  </a:lnTo>
                  <a:lnTo>
                    <a:pt x="434" y="250"/>
                  </a:lnTo>
                  <a:lnTo>
                    <a:pt x="419" y="256"/>
                  </a:lnTo>
                  <a:lnTo>
                    <a:pt x="408" y="262"/>
                  </a:lnTo>
                  <a:lnTo>
                    <a:pt x="396" y="268"/>
                  </a:lnTo>
                  <a:lnTo>
                    <a:pt x="381" y="270"/>
                  </a:lnTo>
                  <a:lnTo>
                    <a:pt x="369" y="276"/>
                  </a:lnTo>
                  <a:lnTo>
                    <a:pt x="354" y="279"/>
                  </a:lnTo>
                  <a:lnTo>
                    <a:pt x="340" y="282"/>
                  </a:lnTo>
                  <a:lnTo>
                    <a:pt x="326" y="282"/>
                  </a:lnTo>
                  <a:lnTo>
                    <a:pt x="311" y="285"/>
                  </a:lnTo>
                  <a:lnTo>
                    <a:pt x="296" y="285"/>
                  </a:lnTo>
                  <a:lnTo>
                    <a:pt x="281" y="285"/>
                  </a:lnTo>
                  <a:lnTo>
                    <a:pt x="266" y="282"/>
                  </a:lnTo>
                  <a:lnTo>
                    <a:pt x="251" y="282"/>
                  </a:lnTo>
                  <a:lnTo>
                    <a:pt x="241" y="279"/>
                  </a:lnTo>
                  <a:lnTo>
                    <a:pt x="226" y="276"/>
                  </a:lnTo>
                  <a:lnTo>
                    <a:pt x="211" y="270"/>
                  </a:lnTo>
                  <a:lnTo>
                    <a:pt x="199" y="268"/>
                  </a:lnTo>
                  <a:lnTo>
                    <a:pt x="184" y="262"/>
                  </a:lnTo>
                  <a:lnTo>
                    <a:pt x="172" y="256"/>
                  </a:lnTo>
                  <a:lnTo>
                    <a:pt x="161" y="250"/>
                  </a:lnTo>
                  <a:lnTo>
                    <a:pt x="149" y="241"/>
                  </a:lnTo>
                  <a:lnTo>
                    <a:pt x="138" y="235"/>
                  </a:lnTo>
                  <a:lnTo>
                    <a:pt x="126" y="227"/>
                  </a:lnTo>
                  <a:lnTo>
                    <a:pt x="114" y="219"/>
                  </a:lnTo>
                  <a:lnTo>
                    <a:pt x="105" y="210"/>
                  </a:lnTo>
                  <a:lnTo>
                    <a:pt x="93" y="201"/>
                  </a:lnTo>
                  <a:lnTo>
                    <a:pt x="84" y="192"/>
                  </a:lnTo>
                  <a:lnTo>
                    <a:pt x="76" y="180"/>
                  </a:lnTo>
                  <a:lnTo>
                    <a:pt x="67" y="169"/>
                  </a:lnTo>
                  <a:lnTo>
                    <a:pt x="58" y="157"/>
                  </a:lnTo>
                  <a:lnTo>
                    <a:pt x="52" y="148"/>
                  </a:lnTo>
                  <a:lnTo>
                    <a:pt x="44" y="134"/>
                  </a:lnTo>
                  <a:lnTo>
                    <a:pt x="38" y="123"/>
                  </a:lnTo>
                  <a:lnTo>
                    <a:pt x="32" y="111"/>
                  </a:lnTo>
                  <a:lnTo>
                    <a:pt x="26" y="96"/>
                  </a:lnTo>
                  <a:lnTo>
                    <a:pt x="23" y="84"/>
                  </a:lnTo>
                  <a:lnTo>
                    <a:pt x="20" y="70"/>
                  </a:lnTo>
                  <a:lnTo>
                    <a:pt x="14" y="56"/>
                  </a:lnTo>
                  <a:lnTo>
                    <a:pt x="14" y="44"/>
                  </a:lnTo>
                  <a:lnTo>
                    <a:pt x="11" y="29"/>
                  </a:lnTo>
                  <a:lnTo>
                    <a:pt x="11" y="1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A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2" name="Freeform 146">
              <a:extLst>
                <a:ext uri="{FF2B5EF4-FFF2-40B4-BE49-F238E27FC236}">
                  <a16:creationId xmlns:a16="http://schemas.microsoft.com/office/drawing/2014/main" id="{AD70F87E-858E-4E71-82EA-BFA6E931D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511"/>
              <a:ext cx="577" cy="286"/>
            </a:xfrm>
            <a:custGeom>
              <a:avLst/>
              <a:gdLst>
                <a:gd name="T0" fmla="*/ 3 w 577"/>
                <a:gd name="T1" fmla="*/ 257 h 286"/>
                <a:gd name="T2" fmla="*/ 12 w 577"/>
                <a:gd name="T3" fmla="*/ 213 h 286"/>
                <a:gd name="T4" fmla="*/ 24 w 577"/>
                <a:gd name="T5" fmla="*/ 174 h 286"/>
                <a:gd name="T6" fmla="*/ 45 w 577"/>
                <a:gd name="T7" fmla="*/ 137 h 286"/>
                <a:gd name="T8" fmla="*/ 68 w 577"/>
                <a:gd name="T9" fmla="*/ 105 h 286"/>
                <a:gd name="T10" fmla="*/ 97 w 577"/>
                <a:gd name="T11" fmla="*/ 73 h 286"/>
                <a:gd name="T12" fmla="*/ 130 w 577"/>
                <a:gd name="T13" fmla="*/ 50 h 286"/>
                <a:gd name="T14" fmla="*/ 164 w 577"/>
                <a:gd name="T15" fmla="*/ 29 h 286"/>
                <a:gd name="T16" fmla="*/ 203 w 577"/>
                <a:gd name="T17" fmla="*/ 12 h 286"/>
                <a:gd name="T18" fmla="*/ 243 w 577"/>
                <a:gd name="T19" fmla="*/ 3 h 286"/>
                <a:gd name="T20" fmla="*/ 288 w 577"/>
                <a:gd name="T21" fmla="*/ 0 h 286"/>
                <a:gd name="T22" fmla="*/ 332 w 577"/>
                <a:gd name="T23" fmla="*/ 3 h 286"/>
                <a:gd name="T24" fmla="*/ 373 w 577"/>
                <a:gd name="T25" fmla="*/ 12 h 286"/>
                <a:gd name="T26" fmla="*/ 411 w 577"/>
                <a:gd name="T27" fmla="*/ 29 h 286"/>
                <a:gd name="T28" fmla="*/ 449 w 577"/>
                <a:gd name="T29" fmla="*/ 50 h 286"/>
                <a:gd name="T30" fmla="*/ 482 w 577"/>
                <a:gd name="T31" fmla="*/ 73 h 286"/>
                <a:gd name="T32" fmla="*/ 511 w 577"/>
                <a:gd name="T33" fmla="*/ 105 h 286"/>
                <a:gd name="T34" fmla="*/ 534 w 577"/>
                <a:gd name="T35" fmla="*/ 137 h 286"/>
                <a:gd name="T36" fmla="*/ 552 w 577"/>
                <a:gd name="T37" fmla="*/ 174 h 286"/>
                <a:gd name="T38" fmla="*/ 567 w 577"/>
                <a:gd name="T39" fmla="*/ 213 h 286"/>
                <a:gd name="T40" fmla="*/ 573 w 577"/>
                <a:gd name="T41" fmla="*/ 257 h 286"/>
                <a:gd name="T42" fmla="*/ 567 w 577"/>
                <a:gd name="T43" fmla="*/ 285 h 286"/>
                <a:gd name="T44" fmla="*/ 564 w 577"/>
                <a:gd name="T45" fmla="*/ 242 h 286"/>
                <a:gd name="T46" fmla="*/ 552 w 577"/>
                <a:gd name="T47" fmla="*/ 204 h 286"/>
                <a:gd name="T48" fmla="*/ 537 w 577"/>
                <a:gd name="T49" fmla="*/ 166 h 286"/>
                <a:gd name="T50" fmla="*/ 520 w 577"/>
                <a:gd name="T51" fmla="*/ 131 h 286"/>
                <a:gd name="T52" fmla="*/ 493 w 577"/>
                <a:gd name="T53" fmla="*/ 99 h 286"/>
                <a:gd name="T54" fmla="*/ 464 w 577"/>
                <a:gd name="T55" fmla="*/ 73 h 286"/>
                <a:gd name="T56" fmla="*/ 432 w 577"/>
                <a:gd name="T57" fmla="*/ 50 h 286"/>
                <a:gd name="T58" fmla="*/ 397 w 577"/>
                <a:gd name="T59" fmla="*/ 29 h 286"/>
                <a:gd name="T60" fmla="*/ 358 w 577"/>
                <a:gd name="T61" fmla="*/ 18 h 286"/>
                <a:gd name="T62" fmla="*/ 318 w 577"/>
                <a:gd name="T63" fmla="*/ 9 h 286"/>
                <a:gd name="T64" fmla="*/ 273 w 577"/>
                <a:gd name="T65" fmla="*/ 9 h 286"/>
                <a:gd name="T66" fmla="*/ 233 w 577"/>
                <a:gd name="T67" fmla="*/ 15 h 286"/>
                <a:gd name="T68" fmla="*/ 194 w 577"/>
                <a:gd name="T69" fmla="*/ 26 h 286"/>
                <a:gd name="T70" fmla="*/ 156 w 577"/>
                <a:gd name="T71" fmla="*/ 41 h 286"/>
                <a:gd name="T72" fmla="*/ 124 w 577"/>
                <a:gd name="T73" fmla="*/ 65 h 286"/>
                <a:gd name="T74" fmla="*/ 91 w 577"/>
                <a:gd name="T75" fmla="*/ 90 h 286"/>
                <a:gd name="T76" fmla="*/ 65 w 577"/>
                <a:gd name="T77" fmla="*/ 119 h 286"/>
                <a:gd name="T78" fmla="*/ 45 w 577"/>
                <a:gd name="T79" fmla="*/ 155 h 286"/>
                <a:gd name="T80" fmla="*/ 27 w 577"/>
                <a:gd name="T81" fmla="*/ 189 h 286"/>
                <a:gd name="T82" fmla="*/ 15 w 577"/>
                <a:gd name="T83" fmla="*/ 230 h 286"/>
                <a:gd name="T84" fmla="*/ 12 w 577"/>
                <a:gd name="T85" fmla="*/ 270 h 28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77"/>
                <a:gd name="T130" fmla="*/ 0 h 286"/>
                <a:gd name="T131" fmla="*/ 577 w 577"/>
                <a:gd name="T132" fmla="*/ 286 h 28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77" h="286">
                  <a:moveTo>
                    <a:pt x="0" y="285"/>
                  </a:moveTo>
                  <a:lnTo>
                    <a:pt x="3" y="270"/>
                  </a:lnTo>
                  <a:lnTo>
                    <a:pt x="3" y="257"/>
                  </a:lnTo>
                  <a:lnTo>
                    <a:pt x="6" y="242"/>
                  </a:lnTo>
                  <a:lnTo>
                    <a:pt x="6" y="227"/>
                  </a:lnTo>
                  <a:lnTo>
                    <a:pt x="12" y="213"/>
                  </a:lnTo>
                  <a:lnTo>
                    <a:pt x="15" y="201"/>
                  </a:lnTo>
                  <a:lnTo>
                    <a:pt x="18" y="186"/>
                  </a:lnTo>
                  <a:lnTo>
                    <a:pt x="24" y="174"/>
                  </a:lnTo>
                  <a:lnTo>
                    <a:pt x="30" y="161"/>
                  </a:lnTo>
                  <a:lnTo>
                    <a:pt x="36" y="149"/>
                  </a:lnTo>
                  <a:lnTo>
                    <a:pt x="45" y="137"/>
                  </a:lnTo>
                  <a:lnTo>
                    <a:pt x="50" y="125"/>
                  </a:lnTo>
                  <a:lnTo>
                    <a:pt x="59" y="114"/>
                  </a:lnTo>
                  <a:lnTo>
                    <a:pt x="68" y="105"/>
                  </a:lnTo>
                  <a:lnTo>
                    <a:pt x="76" y="93"/>
                  </a:lnTo>
                  <a:lnTo>
                    <a:pt x="85" y="85"/>
                  </a:lnTo>
                  <a:lnTo>
                    <a:pt x="97" y="73"/>
                  </a:lnTo>
                  <a:lnTo>
                    <a:pt x="106" y="65"/>
                  </a:lnTo>
                  <a:lnTo>
                    <a:pt x="118" y="56"/>
                  </a:lnTo>
                  <a:lnTo>
                    <a:pt x="130" y="50"/>
                  </a:lnTo>
                  <a:lnTo>
                    <a:pt x="142" y="41"/>
                  </a:lnTo>
                  <a:lnTo>
                    <a:pt x="153" y="35"/>
                  </a:lnTo>
                  <a:lnTo>
                    <a:pt x="164" y="29"/>
                  </a:lnTo>
                  <a:lnTo>
                    <a:pt x="176" y="24"/>
                  </a:lnTo>
                  <a:lnTo>
                    <a:pt x="191" y="18"/>
                  </a:lnTo>
                  <a:lnTo>
                    <a:pt x="203" y="12"/>
                  </a:lnTo>
                  <a:lnTo>
                    <a:pt x="218" y="9"/>
                  </a:lnTo>
                  <a:lnTo>
                    <a:pt x="233" y="6"/>
                  </a:lnTo>
                  <a:lnTo>
                    <a:pt x="243" y="3"/>
                  </a:lnTo>
                  <a:lnTo>
                    <a:pt x="258" y="0"/>
                  </a:lnTo>
                  <a:lnTo>
                    <a:pt x="273" y="0"/>
                  </a:lnTo>
                  <a:lnTo>
                    <a:pt x="288" y="0"/>
                  </a:lnTo>
                  <a:lnTo>
                    <a:pt x="303" y="0"/>
                  </a:lnTo>
                  <a:lnTo>
                    <a:pt x="318" y="0"/>
                  </a:lnTo>
                  <a:lnTo>
                    <a:pt x="332" y="3"/>
                  </a:lnTo>
                  <a:lnTo>
                    <a:pt x="346" y="6"/>
                  </a:lnTo>
                  <a:lnTo>
                    <a:pt x="361" y="9"/>
                  </a:lnTo>
                  <a:lnTo>
                    <a:pt x="373" y="12"/>
                  </a:lnTo>
                  <a:lnTo>
                    <a:pt x="388" y="18"/>
                  </a:lnTo>
                  <a:lnTo>
                    <a:pt x="400" y="24"/>
                  </a:lnTo>
                  <a:lnTo>
                    <a:pt x="411" y="29"/>
                  </a:lnTo>
                  <a:lnTo>
                    <a:pt x="426" y="35"/>
                  </a:lnTo>
                  <a:lnTo>
                    <a:pt x="437" y="41"/>
                  </a:lnTo>
                  <a:lnTo>
                    <a:pt x="449" y="50"/>
                  </a:lnTo>
                  <a:lnTo>
                    <a:pt x="461" y="56"/>
                  </a:lnTo>
                  <a:lnTo>
                    <a:pt x="470" y="65"/>
                  </a:lnTo>
                  <a:lnTo>
                    <a:pt x="482" y="73"/>
                  </a:lnTo>
                  <a:lnTo>
                    <a:pt x="491" y="85"/>
                  </a:lnTo>
                  <a:lnTo>
                    <a:pt x="502" y="93"/>
                  </a:lnTo>
                  <a:lnTo>
                    <a:pt x="511" y="105"/>
                  </a:lnTo>
                  <a:lnTo>
                    <a:pt x="520" y="114"/>
                  </a:lnTo>
                  <a:lnTo>
                    <a:pt x="526" y="125"/>
                  </a:lnTo>
                  <a:lnTo>
                    <a:pt x="534" y="137"/>
                  </a:lnTo>
                  <a:lnTo>
                    <a:pt x="540" y="149"/>
                  </a:lnTo>
                  <a:lnTo>
                    <a:pt x="546" y="161"/>
                  </a:lnTo>
                  <a:lnTo>
                    <a:pt x="552" y="174"/>
                  </a:lnTo>
                  <a:lnTo>
                    <a:pt x="558" y="186"/>
                  </a:lnTo>
                  <a:lnTo>
                    <a:pt x="561" y="201"/>
                  </a:lnTo>
                  <a:lnTo>
                    <a:pt x="567" y="213"/>
                  </a:lnTo>
                  <a:lnTo>
                    <a:pt x="570" y="227"/>
                  </a:lnTo>
                  <a:lnTo>
                    <a:pt x="573" y="242"/>
                  </a:lnTo>
                  <a:lnTo>
                    <a:pt x="573" y="257"/>
                  </a:lnTo>
                  <a:lnTo>
                    <a:pt x="576" y="270"/>
                  </a:lnTo>
                  <a:lnTo>
                    <a:pt x="576" y="285"/>
                  </a:lnTo>
                  <a:lnTo>
                    <a:pt x="567" y="285"/>
                  </a:lnTo>
                  <a:lnTo>
                    <a:pt x="567" y="270"/>
                  </a:lnTo>
                  <a:lnTo>
                    <a:pt x="564" y="257"/>
                  </a:lnTo>
                  <a:lnTo>
                    <a:pt x="564" y="242"/>
                  </a:lnTo>
                  <a:lnTo>
                    <a:pt x="561" y="230"/>
                  </a:lnTo>
                  <a:lnTo>
                    <a:pt x="558" y="215"/>
                  </a:lnTo>
                  <a:lnTo>
                    <a:pt x="552" y="204"/>
                  </a:lnTo>
                  <a:lnTo>
                    <a:pt x="549" y="189"/>
                  </a:lnTo>
                  <a:lnTo>
                    <a:pt x="543" y="177"/>
                  </a:lnTo>
                  <a:lnTo>
                    <a:pt x="537" y="166"/>
                  </a:lnTo>
                  <a:lnTo>
                    <a:pt x="531" y="155"/>
                  </a:lnTo>
                  <a:lnTo>
                    <a:pt x="526" y="143"/>
                  </a:lnTo>
                  <a:lnTo>
                    <a:pt x="520" y="131"/>
                  </a:lnTo>
                  <a:lnTo>
                    <a:pt x="511" y="119"/>
                  </a:lnTo>
                  <a:lnTo>
                    <a:pt x="502" y="111"/>
                  </a:lnTo>
                  <a:lnTo>
                    <a:pt x="493" y="99"/>
                  </a:lnTo>
                  <a:lnTo>
                    <a:pt x="485" y="90"/>
                  </a:lnTo>
                  <a:lnTo>
                    <a:pt x="476" y="82"/>
                  </a:lnTo>
                  <a:lnTo>
                    <a:pt x="464" y="73"/>
                  </a:lnTo>
                  <a:lnTo>
                    <a:pt x="455" y="65"/>
                  </a:lnTo>
                  <a:lnTo>
                    <a:pt x="443" y="56"/>
                  </a:lnTo>
                  <a:lnTo>
                    <a:pt x="432" y="50"/>
                  </a:lnTo>
                  <a:lnTo>
                    <a:pt x="420" y="41"/>
                  </a:lnTo>
                  <a:lnTo>
                    <a:pt x="409" y="35"/>
                  </a:lnTo>
                  <a:lnTo>
                    <a:pt x="397" y="29"/>
                  </a:lnTo>
                  <a:lnTo>
                    <a:pt x="385" y="26"/>
                  </a:lnTo>
                  <a:lnTo>
                    <a:pt x="370" y="21"/>
                  </a:lnTo>
                  <a:lnTo>
                    <a:pt x="358" y="18"/>
                  </a:lnTo>
                  <a:lnTo>
                    <a:pt x="343" y="15"/>
                  </a:lnTo>
                  <a:lnTo>
                    <a:pt x="332" y="12"/>
                  </a:lnTo>
                  <a:lnTo>
                    <a:pt x="318" y="9"/>
                  </a:lnTo>
                  <a:lnTo>
                    <a:pt x="303" y="9"/>
                  </a:lnTo>
                  <a:lnTo>
                    <a:pt x="288" y="9"/>
                  </a:lnTo>
                  <a:lnTo>
                    <a:pt x="273" y="9"/>
                  </a:lnTo>
                  <a:lnTo>
                    <a:pt x="261" y="9"/>
                  </a:lnTo>
                  <a:lnTo>
                    <a:pt x="246" y="12"/>
                  </a:lnTo>
                  <a:lnTo>
                    <a:pt x="233" y="15"/>
                  </a:lnTo>
                  <a:lnTo>
                    <a:pt x="221" y="18"/>
                  </a:lnTo>
                  <a:lnTo>
                    <a:pt x="206" y="21"/>
                  </a:lnTo>
                  <a:lnTo>
                    <a:pt x="194" y="26"/>
                  </a:lnTo>
                  <a:lnTo>
                    <a:pt x="179" y="29"/>
                  </a:lnTo>
                  <a:lnTo>
                    <a:pt x="167" y="35"/>
                  </a:lnTo>
                  <a:lnTo>
                    <a:pt x="156" y="41"/>
                  </a:lnTo>
                  <a:lnTo>
                    <a:pt x="144" y="50"/>
                  </a:lnTo>
                  <a:lnTo>
                    <a:pt x="133" y="56"/>
                  </a:lnTo>
                  <a:lnTo>
                    <a:pt x="124" y="65"/>
                  </a:lnTo>
                  <a:lnTo>
                    <a:pt x="112" y="73"/>
                  </a:lnTo>
                  <a:lnTo>
                    <a:pt x="103" y="82"/>
                  </a:lnTo>
                  <a:lnTo>
                    <a:pt x="91" y="90"/>
                  </a:lnTo>
                  <a:lnTo>
                    <a:pt x="82" y="99"/>
                  </a:lnTo>
                  <a:lnTo>
                    <a:pt x="74" y="111"/>
                  </a:lnTo>
                  <a:lnTo>
                    <a:pt x="65" y="119"/>
                  </a:lnTo>
                  <a:lnTo>
                    <a:pt x="59" y="131"/>
                  </a:lnTo>
                  <a:lnTo>
                    <a:pt x="50" y="143"/>
                  </a:lnTo>
                  <a:lnTo>
                    <a:pt x="45" y="155"/>
                  </a:lnTo>
                  <a:lnTo>
                    <a:pt x="39" y="166"/>
                  </a:lnTo>
                  <a:lnTo>
                    <a:pt x="33" y="177"/>
                  </a:lnTo>
                  <a:lnTo>
                    <a:pt x="27" y="189"/>
                  </a:lnTo>
                  <a:lnTo>
                    <a:pt x="24" y="204"/>
                  </a:lnTo>
                  <a:lnTo>
                    <a:pt x="21" y="215"/>
                  </a:lnTo>
                  <a:lnTo>
                    <a:pt x="15" y="230"/>
                  </a:lnTo>
                  <a:lnTo>
                    <a:pt x="15" y="242"/>
                  </a:lnTo>
                  <a:lnTo>
                    <a:pt x="12" y="257"/>
                  </a:lnTo>
                  <a:lnTo>
                    <a:pt x="12" y="270"/>
                  </a:lnTo>
                  <a:lnTo>
                    <a:pt x="12" y="285"/>
                  </a:lnTo>
                  <a:lnTo>
                    <a:pt x="0" y="285"/>
                  </a:lnTo>
                </a:path>
              </a:pathLst>
            </a:custGeom>
            <a:solidFill>
              <a:srgbClr val="FFA6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3" name="Freeform 147">
              <a:extLst>
                <a:ext uri="{FF2B5EF4-FFF2-40B4-BE49-F238E27FC236}">
                  <a16:creationId xmlns:a16="http://schemas.microsoft.com/office/drawing/2014/main" id="{2765B744-D84D-48A4-A2DC-B3CD280FF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802"/>
              <a:ext cx="577" cy="286"/>
            </a:xfrm>
            <a:custGeom>
              <a:avLst/>
              <a:gdLst>
                <a:gd name="T0" fmla="*/ 3 w 577"/>
                <a:gd name="T1" fmla="*/ 15 h 286"/>
                <a:gd name="T2" fmla="*/ 6 w 577"/>
                <a:gd name="T3" fmla="*/ 56 h 286"/>
                <a:gd name="T4" fmla="*/ 18 w 577"/>
                <a:gd name="T5" fmla="*/ 96 h 286"/>
                <a:gd name="T6" fmla="*/ 36 w 577"/>
                <a:gd name="T7" fmla="*/ 134 h 286"/>
                <a:gd name="T8" fmla="*/ 59 w 577"/>
                <a:gd name="T9" fmla="*/ 168 h 286"/>
                <a:gd name="T10" fmla="*/ 85 w 577"/>
                <a:gd name="T11" fmla="*/ 201 h 286"/>
                <a:gd name="T12" fmla="*/ 118 w 577"/>
                <a:gd name="T13" fmla="*/ 227 h 286"/>
                <a:gd name="T14" fmla="*/ 153 w 577"/>
                <a:gd name="T15" fmla="*/ 250 h 286"/>
                <a:gd name="T16" fmla="*/ 191 w 577"/>
                <a:gd name="T17" fmla="*/ 267 h 286"/>
                <a:gd name="T18" fmla="*/ 233 w 577"/>
                <a:gd name="T19" fmla="*/ 279 h 286"/>
                <a:gd name="T20" fmla="*/ 273 w 577"/>
                <a:gd name="T21" fmla="*/ 285 h 286"/>
                <a:gd name="T22" fmla="*/ 318 w 577"/>
                <a:gd name="T23" fmla="*/ 282 h 286"/>
                <a:gd name="T24" fmla="*/ 361 w 577"/>
                <a:gd name="T25" fmla="*/ 276 h 286"/>
                <a:gd name="T26" fmla="*/ 400 w 577"/>
                <a:gd name="T27" fmla="*/ 261 h 286"/>
                <a:gd name="T28" fmla="*/ 437 w 577"/>
                <a:gd name="T29" fmla="*/ 241 h 286"/>
                <a:gd name="T30" fmla="*/ 470 w 577"/>
                <a:gd name="T31" fmla="*/ 218 h 286"/>
                <a:gd name="T32" fmla="*/ 502 w 577"/>
                <a:gd name="T33" fmla="*/ 192 h 286"/>
                <a:gd name="T34" fmla="*/ 526 w 577"/>
                <a:gd name="T35" fmla="*/ 157 h 286"/>
                <a:gd name="T36" fmla="*/ 546 w 577"/>
                <a:gd name="T37" fmla="*/ 122 h 286"/>
                <a:gd name="T38" fmla="*/ 561 w 577"/>
                <a:gd name="T39" fmla="*/ 84 h 286"/>
                <a:gd name="T40" fmla="*/ 573 w 577"/>
                <a:gd name="T41" fmla="*/ 44 h 286"/>
                <a:gd name="T42" fmla="*/ 576 w 577"/>
                <a:gd name="T43" fmla="*/ 0 h 286"/>
                <a:gd name="T44" fmla="*/ 564 w 577"/>
                <a:gd name="T45" fmla="*/ 26 h 286"/>
                <a:gd name="T46" fmla="*/ 558 w 577"/>
                <a:gd name="T47" fmla="*/ 67 h 286"/>
                <a:gd name="T48" fmla="*/ 543 w 577"/>
                <a:gd name="T49" fmla="*/ 108 h 286"/>
                <a:gd name="T50" fmla="*/ 526 w 577"/>
                <a:gd name="T51" fmla="*/ 143 h 286"/>
                <a:gd name="T52" fmla="*/ 502 w 577"/>
                <a:gd name="T53" fmla="*/ 174 h 286"/>
                <a:gd name="T54" fmla="*/ 476 w 577"/>
                <a:gd name="T55" fmla="*/ 204 h 286"/>
                <a:gd name="T56" fmla="*/ 443 w 577"/>
                <a:gd name="T57" fmla="*/ 227 h 286"/>
                <a:gd name="T58" fmla="*/ 409 w 577"/>
                <a:gd name="T59" fmla="*/ 247 h 286"/>
                <a:gd name="T60" fmla="*/ 370 w 577"/>
                <a:gd name="T61" fmla="*/ 261 h 286"/>
                <a:gd name="T62" fmla="*/ 332 w 577"/>
                <a:gd name="T63" fmla="*/ 270 h 286"/>
                <a:gd name="T64" fmla="*/ 288 w 577"/>
                <a:gd name="T65" fmla="*/ 276 h 286"/>
                <a:gd name="T66" fmla="*/ 246 w 577"/>
                <a:gd name="T67" fmla="*/ 270 h 286"/>
                <a:gd name="T68" fmla="*/ 206 w 577"/>
                <a:gd name="T69" fmla="*/ 261 h 286"/>
                <a:gd name="T70" fmla="*/ 167 w 577"/>
                <a:gd name="T71" fmla="*/ 247 h 286"/>
                <a:gd name="T72" fmla="*/ 133 w 577"/>
                <a:gd name="T73" fmla="*/ 227 h 286"/>
                <a:gd name="T74" fmla="*/ 103 w 577"/>
                <a:gd name="T75" fmla="*/ 204 h 286"/>
                <a:gd name="T76" fmla="*/ 74 w 577"/>
                <a:gd name="T77" fmla="*/ 174 h 286"/>
                <a:gd name="T78" fmla="*/ 50 w 577"/>
                <a:gd name="T79" fmla="*/ 143 h 286"/>
                <a:gd name="T80" fmla="*/ 33 w 577"/>
                <a:gd name="T81" fmla="*/ 108 h 286"/>
                <a:gd name="T82" fmla="*/ 21 w 577"/>
                <a:gd name="T83" fmla="*/ 67 h 286"/>
                <a:gd name="T84" fmla="*/ 12 w 577"/>
                <a:gd name="T85" fmla="*/ 26 h 286"/>
                <a:gd name="T86" fmla="*/ 0 w 577"/>
                <a:gd name="T87" fmla="*/ 0 h 28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77"/>
                <a:gd name="T133" fmla="*/ 0 h 286"/>
                <a:gd name="T134" fmla="*/ 577 w 577"/>
                <a:gd name="T135" fmla="*/ 286 h 28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77" h="286">
                  <a:moveTo>
                    <a:pt x="0" y="0"/>
                  </a:moveTo>
                  <a:lnTo>
                    <a:pt x="0" y="0"/>
                  </a:lnTo>
                  <a:lnTo>
                    <a:pt x="3" y="15"/>
                  </a:lnTo>
                  <a:lnTo>
                    <a:pt x="3" y="29"/>
                  </a:lnTo>
                  <a:lnTo>
                    <a:pt x="6" y="44"/>
                  </a:lnTo>
                  <a:lnTo>
                    <a:pt x="6" y="56"/>
                  </a:lnTo>
                  <a:lnTo>
                    <a:pt x="12" y="70"/>
                  </a:lnTo>
                  <a:lnTo>
                    <a:pt x="15" y="84"/>
                  </a:lnTo>
                  <a:lnTo>
                    <a:pt x="18" y="96"/>
                  </a:lnTo>
                  <a:lnTo>
                    <a:pt x="24" y="111"/>
                  </a:lnTo>
                  <a:lnTo>
                    <a:pt x="30" y="122"/>
                  </a:lnTo>
                  <a:lnTo>
                    <a:pt x="36" y="134"/>
                  </a:lnTo>
                  <a:lnTo>
                    <a:pt x="45" y="148"/>
                  </a:lnTo>
                  <a:lnTo>
                    <a:pt x="50" y="157"/>
                  </a:lnTo>
                  <a:lnTo>
                    <a:pt x="59" y="168"/>
                  </a:lnTo>
                  <a:lnTo>
                    <a:pt x="68" y="180"/>
                  </a:lnTo>
                  <a:lnTo>
                    <a:pt x="76" y="192"/>
                  </a:lnTo>
                  <a:lnTo>
                    <a:pt x="85" y="201"/>
                  </a:lnTo>
                  <a:lnTo>
                    <a:pt x="97" y="210"/>
                  </a:lnTo>
                  <a:lnTo>
                    <a:pt x="106" y="218"/>
                  </a:lnTo>
                  <a:lnTo>
                    <a:pt x="118" y="227"/>
                  </a:lnTo>
                  <a:lnTo>
                    <a:pt x="130" y="235"/>
                  </a:lnTo>
                  <a:lnTo>
                    <a:pt x="142" y="241"/>
                  </a:lnTo>
                  <a:lnTo>
                    <a:pt x="153" y="250"/>
                  </a:lnTo>
                  <a:lnTo>
                    <a:pt x="164" y="256"/>
                  </a:lnTo>
                  <a:lnTo>
                    <a:pt x="176" y="261"/>
                  </a:lnTo>
                  <a:lnTo>
                    <a:pt x="191" y="267"/>
                  </a:lnTo>
                  <a:lnTo>
                    <a:pt x="203" y="270"/>
                  </a:lnTo>
                  <a:lnTo>
                    <a:pt x="218" y="276"/>
                  </a:lnTo>
                  <a:lnTo>
                    <a:pt x="233" y="279"/>
                  </a:lnTo>
                  <a:lnTo>
                    <a:pt x="243" y="282"/>
                  </a:lnTo>
                  <a:lnTo>
                    <a:pt x="258" y="282"/>
                  </a:lnTo>
                  <a:lnTo>
                    <a:pt x="273" y="285"/>
                  </a:lnTo>
                  <a:lnTo>
                    <a:pt x="288" y="285"/>
                  </a:lnTo>
                  <a:lnTo>
                    <a:pt x="303" y="285"/>
                  </a:lnTo>
                  <a:lnTo>
                    <a:pt x="318" y="282"/>
                  </a:lnTo>
                  <a:lnTo>
                    <a:pt x="332" y="282"/>
                  </a:lnTo>
                  <a:lnTo>
                    <a:pt x="346" y="279"/>
                  </a:lnTo>
                  <a:lnTo>
                    <a:pt x="361" y="276"/>
                  </a:lnTo>
                  <a:lnTo>
                    <a:pt x="373" y="270"/>
                  </a:lnTo>
                  <a:lnTo>
                    <a:pt x="388" y="267"/>
                  </a:lnTo>
                  <a:lnTo>
                    <a:pt x="400" y="261"/>
                  </a:lnTo>
                  <a:lnTo>
                    <a:pt x="411" y="256"/>
                  </a:lnTo>
                  <a:lnTo>
                    <a:pt x="426" y="250"/>
                  </a:lnTo>
                  <a:lnTo>
                    <a:pt x="437" y="241"/>
                  </a:lnTo>
                  <a:lnTo>
                    <a:pt x="449" y="235"/>
                  </a:lnTo>
                  <a:lnTo>
                    <a:pt x="461" y="227"/>
                  </a:lnTo>
                  <a:lnTo>
                    <a:pt x="470" y="218"/>
                  </a:lnTo>
                  <a:lnTo>
                    <a:pt x="482" y="210"/>
                  </a:lnTo>
                  <a:lnTo>
                    <a:pt x="491" y="201"/>
                  </a:lnTo>
                  <a:lnTo>
                    <a:pt x="502" y="192"/>
                  </a:lnTo>
                  <a:lnTo>
                    <a:pt x="511" y="180"/>
                  </a:lnTo>
                  <a:lnTo>
                    <a:pt x="520" y="168"/>
                  </a:lnTo>
                  <a:lnTo>
                    <a:pt x="526" y="157"/>
                  </a:lnTo>
                  <a:lnTo>
                    <a:pt x="534" y="148"/>
                  </a:lnTo>
                  <a:lnTo>
                    <a:pt x="540" y="134"/>
                  </a:lnTo>
                  <a:lnTo>
                    <a:pt x="546" y="122"/>
                  </a:lnTo>
                  <a:lnTo>
                    <a:pt x="552" y="111"/>
                  </a:lnTo>
                  <a:lnTo>
                    <a:pt x="558" y="96"/>
                  </a:lnTo>
                  <a:lnTo>
                    <a:pt x="561" y="84"/>
                  </a:lnTo>
                  <a:lnTo>
                    <a:pt x="567" y="70"/>
                  </a:lnTo>
                  <a:lnTo>
                    <a:pt x="570" y="56"/>
                  </a:lnTo>
                  <a:lnTo>
                    <a:pt x="573" y="44"/>
                  </a:lnTo>
                  <a:lnTo>
                    <a:pt x="573" y="29"/>
                  </a:lnTo>
                  <a:lnTo>
                    <a:pt x="576" y="15"/>
                  </a:lnTo>
                  <a:lnTo>
                    <a:pt x="576" y="0"/>
                  </a:lnTo>
                  <a:lnTo>
                    <a:pt x="567" y="0"/>
                  </a:lnTo>
                  <a:lnTo>
                    <a:pt x="567" y="15"/>
                  </a:lnTo>
                  <a:lnTo>
                    <a:pt x="564" y="26"/>
                  </a:lnTo>
                  <a:lnTo>
                    <a:pt x="564" y="41"/>
                  </a:lnTo>
                  <a:lnTo>
                    <a:pt x="561" y="56"/>
                  </a:lnTo>
                  <a:lnTo>
                    <a:pt x="558" y="67"/>
                  </a:lnTo>
                  <a:lnTo>
                    <a:pt x="552" y="81"/>
                  </a:lnTo>
                  <a:lnTo>
                    <a:pt x="549" y="93"/>
                  </a:lnTo>
                  <a:lnTo>
                    <a:pt x="543" y="108"/>
                  </a:lnTo>
                  <a:lnTo>
                    <a:pt x="537" y="119"/>
                  </a:lnTo>
                  <a:lnTo>
                    <a:pt x="531" y="131"/>
                  </a:lnTo>
                  <a:lnTo>
                    <a:pt x="526" y="143"/>
                  </a:lnTo>
                  <a:lnTo>
                    <a:pt x="520" y="154"/>
                  </a:lnTo>
                  <a:lnTo>
                    <a:pt x="511" y="166"/>
                  </a:lnTo>
                  <a:lnTo>
                    <a:pt x="502" y="174"/>
                  </a:lnTo>
                  <a:lnTo>
                    <a:pt x="493" y="183"/>
                  </a:lnTo>
                  <a:lnTo>
                    <a:pt x="485" y="195"/>
                  </a:lnTo>
                  <a:lnTo>
                    <a:pt x="476" y="204"/>
                  </a:lnTo>
                  <a:lnTo>
                    <a:pt x="464" y="213"/>
                  </a:lnTo>
                  <a:lnTo>
                    <a:pt x="455" y="221"/>
                  </a:lnTo>
                  <a:lnTo>
                    <a:pt x="443" y="227"/>
                  </a:lnTo>
                  <a:lnTo>
                    <a:pt x="432" y="235"/>
                  </a:lnTo>
                  <a:lnTo>
                    <a:pt x="420" y="241"/>
                  </a:lnTo>
                  <a:lnTo>
                    <a:pt x="409" y="247"/>
                  </a:lnTo>
                  <a:lnTo>
                    <a:pt x="397" y="253"/>
                  </a:lnTo>
                  <a:lnTo>
                    <a:pt x="385" y="259"/>
                  </a:lnTo>
                  <a:lnTo>
                    <a:pt x="370" y="261"/>
                  </a:lnTo>
                  <a:lnTo>
                    <a:pt x="358" y="267"/>
                  </a:lnTo>
                  <a:lnTo>
                    <a:pt x="343" y="270"/>
                  </a:lnTo>
                  <a:lnTo>
                    <a:pt x="332" y="270"/>
                  </a:lnTo>
                  <a:lnTo>
                    <a:pt x="318" y="273"/>
                  </a:lnTo>
                  <a:lnTo>
                    <a:pt x="303" y="273"/>
                  </a:lnTo>
                  <a:lnTo>
                    <a:pt x="288" y="276"/>
                  </a:lnTo>
                  <a:lnTo>
                    <a:pt x="273" y="273"/>
                  </a:lnTo>
                  <a:lnTo>
                    <a:pt x="261" y="273"/>
                  </a:lnTo>
                  <a:lnTo>
                    <a:pt x="246" y="270"/>
                  </a:lnTo>
                  <a:lnTo>
                    <a:pt x="233" y="270"/>
                  </a:lnTo>
                  <a:lnTo>
                    <a:pt x="221" y="267"/>
                  </a:lnTo>
                  <a:lnTo>
                    <a:pt x="206" y="261"/>
                  </a:lnTo>
                  <a:lnTo>
                    <a:pt x="194" y="259"/>
                  </a:lnTo>
                  <a:lnTo>
                    <a:pt x="179" y="253"/>
                  </a:lnTo>
                  <a:lnTo>
                    <a:pt x="167" y="247"/>
                  </a:lnTo>
                  <a:lnTo>
                    <a:pt x="156" y="241"/>
                  </a:lnTo>
                  <a:lnTo>
                    <a:pt x="144" y="235"/>
                  </a:lnTo>
                  <a:lnTo>
                    <a:pt x="133" y="227"/>
                  </a:lnTo>
                  <a:lnTo>
                    <a:pt x="124" y="221"/>
                  </a:lnTo>
                  <a:lnTo>
                    <a:pt x="112" y="213"/>
                  </a:lnTo>
                  <a:lnTo>
                    <a:pt x="103" y="204"/>
                  </a:lnTo>
                  <a:lnTo>
                    <a:pt x="91" y="195"/>
                  </a:lnTo>
                  <a:lnTo>
                    <a:pt x="82" y="183"/>
                  </a:lnTo>
                  <a:lnTo>
                    <a:pt x="74" y="174"/>
                  </a:lnTo>
                  <a:lnTo>
                    <a:pt x="65" y="166"/>
                  </a:lnTo>
                  <a:lnTo>
                    <a:pt x="59" y="154"/>
                  </a:lnTo>
                  <a:lnTo>
                    <a:pt x="50" y="143"/>
                  </a:lnTo>
                  <a:lnTo>
                    <a:pt x="45" y="131"/>
                  </a:lnTo>
                  <a:lnTo>
                    <a:pt x="39" y="119"/>
                  </a:lnTo>
                  <a:lnTo>
                    <a:pt x="33" y="108"/>
                  </a:lnTo>
                  <a:lnTo>
                    <a:pt x="27" y="93"/>
                  </a:lnTo>
                  <a:lnTo>
                    <a:pt x="24" y="81"/>
                  </a:lnTo>
                  <a:lnTo>
                    <a:pt x="21" y="67"/>
                  </a:lnTo>
                  <a:lnTo>
                    <a:pt x="15" y="56"/>
                  </a:lnTo>
                  <a:lnTo>
                    <a:pt x="15" y="41"/>
                  </a:lnTo>
                  <a:lnTo>
                    <a:pt x="12" y="26"/>
                  </a:lnTo>
                  <a:lnTo>
                    <a:pt x="12" y="1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A6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4" name="Freeform 148">
              <a:extLst>
                <a:ext uri="{FF2B5EF4-FFF2-40B4-BE49-F238E27FC236}">
                  <a16:creationId xmlns:a16="http://schemas.microsoft.com/office/drawing/2014/main" id="{32AE2195-EDEF-4BC1-B5CB-B2268D0A7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3520"/>
              <a:ext cx="556" cy="277"/>
            </a:xfrm>
            <a:custGeom>
              <a:avLst/>
              <a:gdLst>
                <a:gd name="T0" fmla="*/ 0 w 556"/>
                <a:gd name="T1" fmla="*/ 248 h 277"/>
                <a:gd name="T2" fmla="*/ 9 w 556"/>
                <a:gd name="T3" fmla="*/ 207 h 277"/>
                <a:gd name="T4" fmla="*/ 21 w 556"/>
                <a:gd name="T5" fmla="*/ 168 h 277"/>
                <a:gd name="T6" fmla="*/ 39 w 556"/>
                <a:gd name="T7" fmla="*/ 134 h 277"/>
                <a:gd name="T8" fmla="*/ 62 w 556"/>
                <a:gd name="T9" fmla="*/ 102 h 277"/>
                <a:gd name="T10" fmla="*/ 91 w 556"/>
                <a:gd name="T11" fmla="*/ 73 h 277"/>
                <a:gd name="T12" fmla="*/ 121 w 556"/>
                <a:gd name="T13" fmla="*/ 47 h 277"/>
                <a:gd name="T14" fmla="*/ 155 w 556"/>
                <a:gd name="T15" fmla="*/ 26 h 277"/>
                <a:gd name="T16" fmla="*/ 194 w 556"/>
                <a:gd name="T17" fmla="*/ 12 h 277"/>
                <a:gd name="T18" fmla="*/ 234 w 556"/>
                <a:gd name="T19" fmla="*/ 3 h 277"/>
                <a:gd name="T20" fmla="*/ 276 w 556"/>
                <a:gd name="T21" fmla="*/ 0 h 277"/>
                <a:gd name="T22" fmla="*/ 320 w 556"/>
                <a:gd name="T23" fmla="*/ 3 h 277"/>
                <a:gd name="T24" fmla="*/ 358 w 556"/>
                <a:gd name="T25" fmla="*/ 12 h 277"/>
                <a:gd name="T26" fmla="*/ 397 w 556"/>
                <a:gd name="T27" fmla="*/ 26 h 277"/>
                <a:gd name="T28" fmla="*/ 431 w 556"/>
                <a:gd name="T29" fmla="*/ 47 h 277"/>
                <a:gd name="T30" fmla="*/ 464 w 556"/>
                <a:gd name="T31" fmla="*/ 73 h 277"/>
                <a:gd name="T32" fmla="*/ 490 w 556"/>
                <a:gd name="T33" fmla="*/ 102 h 277"/>
                <a:gd name="T34" fmla="*/ 513 w 556"/>
                <a:gd name="T35" fmla="*/ 134 h 277"/>
                <a:gd name="T36" fmla="*/ 531 w 556"/>
                <a:gd name="T37" fmla="*/ 168 h 277"/>
                <a:gd name="T38" fmla="*/ 546 w 556"/>
                <a:gd name="T39" fmla="*/ 207 h 277"/>
                <a:gd name="T40" fmla="*/ 552 w 556"/>
                <a:gd name="T41" fmla="*/ 248 h 277"/>
                <a:gd name="T42" fmla="*/ 546 w 556"/>
                <a:gd name="T43" fmla="*/ 276 h 277"/>
                <a:gd name="T44" fmla="*/ 540 w 556"/>
                <a:gd name="T45" fmla="*/ 236 h 277"/>
                <a:gd name="T46" fmla="*/ 531 w 556"/>
                <a:gd name="T47" fmla="*/ 198 h 277"/>
                <a:gd name="T48" fmla="*/ 519 w 556"/>
                <a:gd name="T49" fmla="*/ 161 h 277"/>
                <a:gd name="T50" fmla="*/ 499 w 556"/>
                <a:gd name="T51" fmla="*/ 128 h 277"/>
                <a:gd name="T52" fmla="*/ 476 w 556"/>
                <a:gd name="T53" fmla="*/ 96 h 277"/>
                <a:gd name="T54" fmla="*/ 446 w 556"/>
                <a:gd name="T55" fmla="*/ 70 h 277"/>
                <a:gd name="T56" fmla="*/ 414 w 556"/>
                <a:gd name="T57" fmla="*/ 50 h 277"/>
                <a:gd name="T58" fmla="*/ 382 w 556"/>
                <a:gd name="T59" fmla="*/ 29 h 277"/>
                <a:gd name="T60" fmla="*/ 343 w 556"/>
                <a:gd name="T61" fmla="*/ 18 h 277"/>
                <a:gd name="T62" fmla="*/ 306 w 556"/>
                <a:gd name="T63" fmla="*/ 12 h 277"/>
                <a:gd name="T64" fmla="*/ 264 w 556"/>
                <a:gd name="T65" fmla="*/ 9 h 277"/>
                <a:gd name="T66" fmla="*/ 224 w 556"/>
                <a:gd name="T67" fmla="*/ 15 h 277"/>
                <a:gd name="T68" fmla="*/ 185 w 556"/>
                <a:gd name="T69" fmla="*/ 26 h 277"/>
                <a:gd name="T70" fmla="*/ 149 w 556"/>
                <a:gd name="T71" fmla="*/ 41 h 277"/>
                <a:gd name="T72" fmla="*/ 118 w 556"/>
                <a:gd name="T73" fmla="*/ 62 h 277"/>
                <a:gd name="T74" fmla="*/ 88 w 556"/>
                <a:gd name="T75" fmla="*/ 87 h 277"/>
                <a:gd name="T76" fmla="*/ 62 w 556"/>
                <a:gd name="T77" fmla="*/ 116 h 277"/>
                <a:gd name="T78" fmla="*/ 42 w 556"/>
                <a:gd name="T79" fmla="*/ 149 h 277"/>
                <a:gd name="T80" fmla="*/ 24 w 556"/>
                <a:gd name="T81" fmla="*/ 183 h 277"/>
                <a:gd name="T82" fmla="*/ 15 w 556"/>
                <a:gd name="T83" fmla="*/ 221 h 277"/>
                <a:gd name="T84" fmla="*/ 9 w 556"/>
                <a:gd name="T85" fmla="*/ 261 h 27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56"/>
                <a:gd name="T130" fmla="*/ 0 h 277"/>
                <a:gd name="T131" fmla="*/ 556 w 556"/>
                <a:gd name="T132" fmla="*/ 277 h 27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56" h="277">
                  <a:moveTo>
                    <a:pt x="0" y="276"/>
                  </a:moveTo>
                  <a:lnTo>
                    <a:pt x="0" y="261"/>
                  </a:lnTo>
                  <a:lnTo>
                    <a:pt x="0" y="248"/>
                  </a:lnTo>
                  <a:lnTo>
                    <a:pt x="3" y="233"/>
                  </a:lnTo>
                  <a:lnTo>
                    <a:pt x="3" y="221"/>
                  </a:lnTo>
                  <a:lnTo>
                    <a:pt x="9" y="207"/>
                  </a:lnTo>
                  <a:lnTo>
                    <a:pt x="12" y="195"/>
                  </a:lnTo>
                  <a:lnTo>
                    <a:pt x="15" y="180"/>
                  </a:lnTo>
                  <a:lnTo>
                    <a:pt x="21" y="168"/>
                  </a:lnTo>
                  <a:lnTo>
                    <a:pt x="27" y="158"/>
                  </a:lnTo>
                  <a:lnTo>
                    <a:pt x="33" y="146"/>
                  </a:lnTo>
                  <a:lnTo>
                    <a:pt x="39" y="134"/>
                  </a:lnTo>
                  <a:lnTo>
                    <a:pt x="47" y="122"/>
                  </a:lnTo>
                  <a:lnTo>
                    <a:pt x="53" y="111"/>
                  </a:lnTo>
                  <a:lnTo>
                    <a:pt x="62" y="102"/>
                  </a:lnTo>
                  <a:lnTo>
                    <a:pt x="70" y="90"/>
                  </a:lnTo>
                  <a:lnTo>
                    <a:pt x="79" y="81"/>
                  </a:lnTo>
                  <a:lnTo>
                    <a:pt x="91" y="73"/>
                  </a:lnTo>
                  <a:lnTo>
                    <a:pt x="100" y="65"/>
                  </a:lnTo>
                  <a:lnTo>
                    <a:pt x="112" y="56"/>
                  </a:lnTo>
                  <a:lnTo>
                    <a:pt x="121" y="47"/>
                  </a:lnTo>
                  <a:lnTo>
                    <a:pt x="133" y="41"/>
                  </a:lnTo>
                  <a:lnTo>
                    <a:pt x="144" y="32"/>
                  </a:lnTo>
                  <a:lnTo>
                    <a:pt x="155" y="26"/>
                  </a:lnTo>
                  <a:lnTo>
                    <a:pt x="167" y="21"/>
                  </a:lnTo>
                  <a:lnTo>
                    <a:pt x="182" y="18"/>
                  </a:lnTo>
                  <a:lnTo>
                    <a:pt x="194" y="12"/>
                  </a:lnTo>
                  <a:lnTo>
                    <a:pt x="209" y="9"/>
                  </a:lnTo>
                  <a:lnTo>
                    <a:pt x="221" y="6"/>
                  </a:lnTo>
                  <a:lnTo>
                    <a:pt x="234" y="3"/>
                  </a:lnTo>
                  <a:lnTo>
                    <a:pt x="249" y="0"/>
                  </a:lnTo>
                  <a:lnTo>
                    <a:pt x="261" y="0"/>
                  </a:lnTo>
                  <a:lnTo>
                    <a:pt x="276" y="0"/>
                  </a:lnTo>
                  <a:lnTo>
                    <a:pt x="291" y="0"/>
                  </a:lnTo>
                  <a:lnTo>
                    <a:pt x="306" y="0"/>
                  </a:lnTo>
                  <a:lnTo>
                    <a:pt x="320" y="3"/>
                  </a:lnTo>
                  <a:lnTo>
                    <a:pt x="331" y="6"/>
                  </a:lnTo>
                  <a:lnTo>
                    <a:pt x="346" y="9"/>
                  </a:lnTo>
                  <a:lnTo>
                    <a:pt x="358" y="12"/>
                  </a:lnTo>
                  <a:lnTo>
                    <a:pt x="373" y="18"/>
                  </a:lnTo>
                  <a:lnTo>
                    <a:pt x="385" y="21"/>
                  </a:lnTo>
                  <a:lnTo>
                    <a:pt x="397" y="26"/>
                  </a:lnTo>
                  <a:lnTo>
                    <a:pt x="408" y="32"/>
                  </a:lnTo>
                  <a:lnTo>
                    <a:pt x="419" y="41"/>
                  </a:lnTo>
                  <a:lnTo>
                    <a:pt x="431" y="47"/>
                  </a:lnTo>
                  <a:lnTo>
                    <a:pt x="443" y="56"/>
                  </a:lnTo>
                  <a:lnTo>
                    <a:pt x="452" y="65"/>
                  </a:lnTo>
                  <a:lnTo>
                    <a:pt x="464" y="73"/>
                  </a:lnTo>
                  <a:lnTo>
                    <a:pt x="473" y="81"/>
                  </a:lnTo>
                  <a:lnTo>
                    <a:pt x="481" y="90"/>
                  </a:lnTo>
                  <a:lnTo>
                    <a:pt x="490" y="102"/>
                  </a:lnTo>
                  <a:lnTo>
                    <a:pt x="499" y="111"/>
                  </a:lnTo>
                  <a:lnTo>
                    <a:pt x="508" y="122"/>
                  </a:lnTo>
                  <a:lnTo>
                    <a:pt x="513" y="134"/>
                  </a:lnTo>
                  <a:lnTo>
                    <a:pt x="519" y="146"/>
                  </a:lnTo>
                  <a:lnTo>
                    <a:pt x="525" y="158"/>
                  </a:lnTo>
                  <a:lnTo>
                    <a:pt x="531" y="168"/>
                  </a:lnTo>
                  <a:lnTo>
                    <a:pt x="537" y="180"/>
                  </a:lnTo>
                  <a:lnTo>
                    <a:pt x="540" y="195"/>
                  </a:lnTo>
                  <a:lnTo>
                    <a:pt x="546" y="207"/>
                  </a:lnTo>
                  <a:lnTo>
                    <a:pt x="549" y="221"/>
                  </a:lnTo>
                  <a:lnTo>
                    <a:pt x="552" y="233"/>
                  </a:lnTo>
                  <a:lnTo>
                    <a:pt x="552" y="248"/>
                  </a:lnTo>
                  <a:lnTo>
                    <a:pt x="555" y="261"/>
                  </a:lnTo>
                  <a:lnTo>
                    <a:pt x="555" y="276"/>
                  </a:lnTo>
                  <a:lnTo>
                    <a:pt x="546" y="276"/>
                  </a:lnTo>
                  <a:lnTo>
                    <a:pt x="543" y="261"/>
                  </a:lnTo>
                  <a:lnTo>
                    <a:pt x="543" y="248"/>
                  </a:lnTo>
                  <a:lnTo>
                    <a:pt x="540" y="236"/>
                  </a:lnTo>
                  <a:lnTo>
                    <a:pt x="540" y="221"/>
                  </a:lnTo>
                  <a:lnTo>
                    <a:pt x="537" y="209"/>
                  </a:lnTo>
                  <a:lnTo>
                    <a:pt x="531" y="198"/>
                  </a:lnTo>
                  <a:lnTo>
                    <a:pt x="528" y="183"/>
                  </a:lnTo>
                  <a:lnTo>
                    <a:pt x="522" y="171"/>
                  </a:lnTo>
                  <a:lnTo>
                    <a:pt x="519" y="161"/>
                  </a:lnTo>
                  <a:lnTo>
                    <a:pt x="513" y="149"/>
                  </a:lnTo>
                  <a:lnTo>
                    <a:pt x="505" y="137"/>
                  </a:lnTo>
                  <a:lnTo>
                    <a:pt x="499" y="128"/>
                  </a:lnTo>
                  <a:lnTo>
                    <a:pt x="490" y="116"/>
                  </a:lnTo>
                  <a:lnTo>
                    <a:pt x="484" y="108"/>
                  </a:lnTo>
                  <a:lnTo>
                    <a:pt x="476" y="96"/>
                  </a:lnTo>
                  <a:lnTo>
                    <a:pt x="467" y="87"/>
                  </a:lnTo>
                  <a:lnTo>
                    <a:pt x="458" y="78"/>
                  </a:lnTo>
                  <a:lnTo>
                    <a:pt x="446" y="70"/>
                  </a:lnTo>
                  <a:lnTo>
                    <a:pt x="437" y="62"/>
                  </a:lnTo>
                  <a:lnTo>
                    <a:pt x="425" y="56"/>
                  </a:lnTo>
                  <a:lnTo>
                    <a:pt x="414" y="50"/>
                  </a:lnTo>
                  <a:lnTo>
                    <a:pt x="405" y="41"/>
                  </a:lnTo>
                  <a:lnTo>
                    <a:pt x="394" y="35"/>
                  </a:lnTo>
                  <a:lnTo>
                    <a:pt x="382" y="29"/>
                  </a:lnTo>
                  <a:lnTo>
                    <a:pt x="370" y="26"/>
                  </a:lnTo>
                  <a:lnTo>
                    <a:pt x="355" y="21"/>
                  </a:lnTo>
                  <a:lnTo>
                    <a:pt x="343" y="18"/>
                  </a:lnTo>
                  <a:lnTo>
                    <a:pt x="331" y="15"/>
                  </a:lnTo>
                  <a:lnTo>
                    <a:pt x="317" y="12"/>
                  </a:lnTo>
                  <a:lnTo>
                    <a:pt x="306" y="12"/>
                  </a:lnTo>
                  <a:lnTo>
                    <a:pt x="291" y="9"/>
                  </a:lnTo>
                  <a:lnTo>
                    <a:pt x="276" y="9"/>
                  </a:lnTo>
                  <a:lnTo>
                    <a:pt x="264" y="9"/>
                  </a:lnTo>
                  <a:lnTo>
                    <a:pt x="249" y="12"/>
                  </a:lnTo>
                  <a:lnTo>
                    <a:pt x="234" y="12"/>
                  </a:lnTo>
                  <a:lnTo>
                    <a:pt x="224" y="15"/>
                  </a:lnTo>
                  <a:lnTo>
                    <a:pt x="209" y="18"/>
                  </a:lnTo>
                  <a:lnTo>
                    <a:pt x="197" y="21"/>
                  </a:lnTo>
                  <a:lnTo>
                    <a:pt x="185" y="26"/>
                  </a:lnTo>
                  <a:lnTo>
                    <a:pt x="173" y="29"/>
                  </a:lnTo>
                  <a:lnTo>
                    <a:pt x="161" y="35"/>
                  </a:lnTo>
                  <a:lnTo>
                    <a:pt x="149" y="41"/>
                  </a:lnTo>
                  <a:lnTo>
                    <a:pt x="139" y="50"/>
                  </a:lnTo>
                  <a:lnTo>
                    <a:pt x="127" y="56"/>
                  </a:lnTo>
                  <a:lnTo>
                    <a:pt x="118" y="62"/>
                  </a:lnTo>
                  <a:lnTo>
                    <a:pt x="106" y="70"/>
                  </a:lnTo>
                  <a:lnTo>
                    <a:pt x="97" y="78"/>
                  </a:lnTo>
                  <a:lnTo>
                    <a:pt x="88" y="87"/>
                  </a:lnTo>
                  <a:lnTo>
                    <a:pt x="79" y="96"/>
                  </a:lnTo>
                  <a:lnTo>
                    <a:pt x="70" y="108"/>
                  </a:lnTo>
                  <a:lnTo>
                    <a:pt x="62" y="116"/>
                  </a:lnTo>
                  <a:lnTo>
                    <a:pt x="53" y="128"/>
                  </a:lnTo>
                  <a:lnTo>
                    <a:pt x="47" y="137"/>
                  </a:lnTo>
                  <a:lnTo>
                    <a:pt x="42" y="149"/>
                  </a:lnTo>
                  <a:lnTo>
                    <a:pt x="36" y="161"/>
                  </a:lnTo>
                  <a:lnTo>
                    <a:pt x="30" y="171"/>
                  </a:lnTo>
                  <a:lnTo>
                    <a:pt x="24" y="183"/>
                  </a:lnTo>
                  <a:lnTo>
                    <a:pt x="21" y="198"/>
                  </a:lnTo>
                  <a:lnTo>
                    <a:pt x="18" y="209"/>
                  </a:lnTo>
                  <a:lnTo>
                    <a:pt x="15" y="221"/>
                  </a:lnTo>
                  <a:lnTo>
                    <a:pt x="12" y="236"/>
                  </a:lnTo>
                  <a:lnTo>
                    <a:pt x="9" y="248"/>
                  </a:lnTo>
                  <a:lnTo>
                    <a:pt x="9" y="261"/>
                  </a:lnTo>
                  <a:lnTo>
                    <a:pt x="9" y="276"/>
                  </a:lnTo>
                  <a:lnTo>
                    <a:pt x="0" y="276"/>
                  </a:lnTo>
                </a:path>
              </a:pathLst>
            </a:custGeom>
            <a:solidFill>
              <a:srgbClr val="FFA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5" name="Freeform 149">
              <a:extLst>
                <a:ext uri="{FF2B5EF4-FFF2-40B4-BE49-F238E27FC236}">
                  <a16:creationId xmlns:a16="http://schemas.microsoft.com/office/drawing/2014/main" id="{19DDB6C2-E478-41C7-93A9-0FE2F8399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3802"/>
              <a:ext cx="556" cy="277"/>
            </a:xfrm>
            <a:custGeom>
              <a:avLst/>
              <a:gdLst>
                <a:gd name="T0" fmla="*/ 0 w 556"/>
                <a:gd name="T1" fmla="*/ 15 h 277"/>
                <a:gd name="T2" fmla="*/ 3 w 556"/>
                <a:gd name="T3" fmla="*/ 56 h 277"/>
                <a:gd name="T4" fmla="*/ 15 w 556"/>
                <a:gd name="T5" fmla="*/ 93 h 277"/>
                <a:gd name="T6" fmla="*/ 33 w 556"/>
                <a:gd name="T7" fmla="*/ 131 h 277"/>
                <a:gd name="T8" fmla="*/ 53 w 556"/>
                <a:gd name="T9" fmla="*/ 165 h 277"/>
                <a:gd name="T10" fmla="*/ 79 w 556"/>
                <a:gd name="T11" fmla="*/ 195 h 277"/>
                <a:gd name="T12" fmla="*/ 112 w 556"/>
                <a:gd name="T13" fmla="*/ 221 h 277"/>
                <a:gd name="T14" fmla="*/ 144 w 556"/>
                <a:gd name="T15" fmla="*/ 241 h 277"/>
                <a:gd name="T16" fmla="*/ 182 w 556"/>
                <a:gd name="T17" fmla="*/ 258 h 277"/>
                <a:gd name="T18" fmla="*/ 221 w 556"/>
                <a:gd name="T19" fmla="*/ 270 h 277"/>
                <a:gd name="T20" fmla="*/ 261 w 556"/>
                <a:gd name="T21" fmla="*/ 273 h 277"/>
                <a:gd name="T22" fmla="*/ 306 w 556"/>
                <a:gd name="T23" fmla="*/ 273 h 277"/>
                <a:gd name="T24" fmla="*/ 346 w 556"/>
                <a:gd name="T25" fmla="*/ 267 h 277"/>
                <a:gd name="T26" fmla="*/ 385 w 556"/>
                <a:gd name="T27" fmla="*/ 253 h 277"/>
                <a:gd name="T28" fmla="*/ 419 w 556"/>
                <a:gd name="T29" fmla="*/ 235 h 277"/>
                <a:gd name="T30" fmla="*/ 452 w 556"/>
                <a:gd name="T31" fmla="*/ 212 h 277"/>
                <a:gd name="T32" fmla="*/ 481 w 556"/>
                <a:gd name="T33" fmla="*/ 183 h 277"/>
                <a:gd name="T34" fmla="*/ 508 w 556"/>
                <a:gd name="T35" fmla="*/ 154 h 277"/>
                <a:gd name="T36" fmla="*/ 525 w 556"/>
                <a:gd name="T37" fmla="*/ 119 h 277"/>
                <a:gd name="T38" fmla="*/ 540 w 556"/>
                <a:gd name="T39" fmla="*/ 81 h 277"/>
                <a:gd name="T40" fmla="*/ 552 w 556"/>
                <a:gd name="T41" fmla="*/ 41 h 277"/>
                <a:gd name="T42" fmla="*/ 555 w 556"/>
                <a:gd name="T43" fmla="*/ 0 h 277"/>
                <a:gd name="T44" fmla="*/ 543 w 556"/>
                <a:gd name="T45" fmla="*/ 26 h 277"/>
                <a:gd name="T46" fmla="*/ 537 w 556"/>
                <a:gd name="T47" fmla="*/ 67 h 277"/>
                <a:gd name="T48" fmla="*/ 522 w 556"/>
                <a:gd name="T49" fmla="*/ 102 h 277"/>
                <a:gd name="T50" fmla="*/ 505 w 556"/>
                <a:gd name="T51" fmla="*/ 137 h 277"/>
                <a:gd name="T52" fmla="*/ 484 w 556"/>
                <a:gd name="T53" fmla="*/ 168 h 277"/>
                <a:gd name="T54" fmla="*/ 458 w 556"/>
                <a:gd name="T55" fmla="*/ 198 h 277"/>
                <a:gd name="T56" fmla="*/ 425 w 556"/>
                <a:gd name="T57" fmla="*/ 221 h 277"/>
                <a:gd name="T58" fmla="*/ 394 w 556"/>
                <a:gd name="T59" fmla="*/ 238 h 277"/>
                <a:gd name="T60" fmla="*/ 355 w 556"/>
                <a:gd name="T61" fmla="*/ 253 h 277"/>
                <a:gd name="T62" fmla="*/ 317 w 556"/>
                <a:gd name="T63" fmla="*/ 261 h 277"/>
                <a:gd name="T64" fmla="*/ 276 w 556"/>
                <a:gd name="T65" fmla="*/ 264 h 277"/>
                <a:gd name="T66" fmla="*/ 234 w 556"/>
                <a:gd name="T67" fmla="*/ 261 h 277"/>
                <a:gd name="T68" fmla="*/ 197 w 556"/>
                <a:gd name="T69" fmla="*/ 253 h 277"/>
                <a:gd name="T70" fmla="*/ 161 w 556"/>
                <a:gd name="T71" fmla="*/ 238 h 277"/>
                <a:gd name="T72" fmla="*/ 127 w 556"/>
                <a:gd name="T73" fmla="*/ 221 h 277"/>
                <a:gd name="T74" fmla="*/ 97 w 556"/>
                <a:gd name="T75" fmla="*/ 198 h 277"/>
                <a:gd name="T76" fmla="*/ 70 w 556"/>
                <a:gd name="T77" fmla="*/ 168 h 277"/>
                <a:gd name="T78" fmla="*/ 47 w 556"/>
                <a:gd name="T79" fmla="*/ 137 h 277"/>
                <a:gd name="T80" fmla="*/ 30 w 556"/>
                <a:gd name="T81" fmla="*/ 102 h 277"/>
                <a:gd name="T82" fmla="*/ 18 w 556"/>
                <a:gd name="T83" fmla="*/ 67 h 277"/>
                <a:gd name="T84" fmla="*/ 9 w 556"/>
                <a:gd name="T85" fmla="*/ 26 h 277"/>
                <a:gd name="T86" fmla="*/ 0 w 556"/>
                <a:gd name="T87" fmla="*/ 0 h 2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6"/>
                <a:gd name="T133" fmla="*/ 0 h 277"/>
                <a:gd name="T134" fmla="*/ 556 w 556"/>
                <a:gd name="T135" fmla="*/ 277 h 27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6" h="277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0" y="26"/>
                  </a:lnTo>
                  <a:lnTo>
                    <a:pt x="3" y="41"/>
                  </a:lnTo>
                  <a:lnTo>
                    <a:pt x="3" y="56"/>
                  </a:lnTo>
                  <a:lnTo>
                    <a:pt x="9" y="67"/>
                  </a:lnTo>
                  <a:lnTo>
                    <a:pt x="12" y="81"/>
                  </a:lnTo>
                  <a:lnTo>
                    <a:pt x="15" y="93"/>
                  </a:lnTo>
                  <a:lnTo>
                    <a:pt x="21" y="108"/>
                  </a:lnTo>
                  <a:lnTo>
                    <a:pt x="27" y="119"/>
                  </a:lnTo>
                  <a:lnTo>
                    <a:pt x="33" y="131"/>
                  </a:lnTo>
                  <a:lnTo>
                    <a:pt x="39" y="143"/>
                  </a:lnTo>
                  <a:lnTo>
                    <a:pt x="47" y="154"/>
                  </a:lnTo>
                  <a:lnTo>
                    <a:pt x="53" y="165"/>
                  </a:lnTo>
                  <a:lnTo>
                    <a:pt x="62" y="174"/>
                  </a:lnTo>
                  <a:lnTo>
                    <a:pt x="70" y="183"/>
                  </a:lnTo>
                  <a:lnTo>
                    <a:pt x="79" y="195"/>
                  </a:lnTo>
                  <a:lnTo>
                    <a:pt x="91" y="204"/>
                  </a:lnTo>
                  <a:lnTo>
                    <a:pt x="100" y="212"/>
                  </a:lnTo>
                  <a:lnTo>
                    <a:pt x="112" y="221"/>
                  </a:lnTo>
                  <a:lnTo>
                    <a:pt x="121" y="227"/>
                  </a:lnTo>
                  <a:lnTo>
                    <a:pt x="133" y="235"/>
                  </a:lnTo>
                  <a:lnTo>
                    <a:pt x="144" y="241"/>
                  </a:lnTo>
                  <a:lnTo>
                    <a:pt x="155" y="247"/>
                  </a:lnTo>
                  <a:lnTo>
                    <a:pt x="167" y="253"/>
                  </a:lnTo>
                  <a:lnTo>
                    <a:pt x="182" y="258"/>
                  </a:lnTo>
                  <a:lnTo>
                    <a:pt x="194" y="261"/>
                  </a:lnTo>
                  <a:lnTo>
                    <a:pt x="209" y="267"/>
                  </a:lnTo>
                  <a:lnTo>
                    <a:pt x="221" y="270"/>
                  </a:lnTo>
                  <a:lnTo>
                    <a:pt x="234" y="270"/>
                  </a:lnTo>
                  <a:lnTo>
                    <a:pt x="249" y="273"/>
                  </a:lnTo>
                  <a:lnTo>
                    <a:pt x="261" y="273"/>
                  </a:lnTo>
                  <a:lnTo>
                    <a:pt x="276" y="276"/>
                  </a:lnTo>
                  <a:lnTo>
                    <a:pt x="291" y="273"/>
                  </a:lnTo>
                  <a:lnTo>
                    <a:pt x="306" y="273"/>
                  </a:lnTo>
                  <a:lnTo>
                    <a:pt x="320" y="270"/>
                  </a:lnTo>
                  <a:lnTo>
                    <a:pt x="331" y="270"/>
                  </a:lnTo>
                  <a:lnTo>
                    <a:pt x="346" y="267"/>
                  </a:lnTo>
                  <a:lnTo>
                    <a:pt x="358" y="261"/>
                  </a:lnTo>
                  <a:lnTo>
                    <a:pt x="373" y="258"/>
                  </a:lnTo>
                  <a:lnTo>
                    <a:pt x="385" y="253"/>
                  </a:lnTo>
                  <a:lnTo>
                    <a:pt x="397" y="247"/>
                  </a:lnTo>
                  <a:lnTo>
                    <a:pt x="408" y="241"/>
                  </a:lnTo>
                  <a:lnTo>
                    <a:pt x="419" y="235"/>
                  </a:lnTo>
                  <a:lnTo>
                    <a:pt x="431" y="227"/>
                  </a:lnTo>
                  <a:lnTo>
                    <a:pt x="443" y="221"/>
                  </a:lnTo>
                  <a:lnTo>
                    <a:pt x="452" y="212"/>
                  </a:lnTo>
                  <a:lnTo>
                    <a:pt x="464" y="204"/>
                  </a:lnTo>
                  <a:lnTo>
                    <a:pt x="473" y="195"/>
                  </a:lnTo>
                  <a:lnTo>
                    <a:pt x="481" y="183"/>
                  </a:lnTo>
                  <a:lnTo>
                    <a:pt x="490" y="174"/>
                  </a:lnTo>
                  <a:lnTo>
                    <a:pt x="499" y="165"/>
                  </a:lnTo>
                  <a:lnTo>
                    <a:pt x="508" y="154"/>
                  </a:lnTo>
                  <a:lnTo>
                    <a:pt x="513" y="143"/>
                  </a:lnTo>
                  <a:lnTo>
                    <a:pt x="519" y="131"/>
                  </a:lnTo>
                  <a:lnTo>
                    <a:pt x="525" y="119"/>
                  </a:lnTo>
                  <a:lnTo>
                    <a:pt x="531" y="108"/>
                  </a:lnTo>
                  <a:lnTo>
                    <a:pt x="537" y="93"/>
                  </a:lnTo>
                  <a:lnTo>
                    <a:pt x="540" y="81"/>
                  </a:lnTo>
                  <a:lnTo>
                    <a:pt x="546" y="67"/>
                  </a:lnTo>
                  <a:lnTo>
                    <a:pt x="549" y="56"/>
                  </a:lnTo>
                  <a:lnTo>
                    <a:pt x="552" y="41"/>
                  </a:lnTo>
                  <a:lnTo>
                    <a:pt x="552" y="26"/>
                  </a:lnTo>
                  <a:lnTo>
                    <a:pt x="555" y="15"/>
                  </a:lnTo>
                  <a:lnTo>
                    <a:pt x="555" y="0"/>
                  </a:lnTo>
                  <a:lnTo>
                    <a:pt x="546" y="0"/>
                  </a:lnTo>
                  <a:lnTo>
                    <a:pt x="543" y="12"/>
                  </a:lnTo>
                  <a:lnTo>
                    <a:pt x="543" y="26"/>
                  </a:lnTo>
                  <a:lnTo>
                    <a:pt x="540" y="41"/>
                  </a:lnTo>
                  <a:lnTo>
                    <a:pt x="540" y="53"/>
                  </a:lnTo>
                  <a:lnTo>
                    <a:pt x="537" y="67"/>
                  </a:lnTo>
                  <a:lnTo>
                    <a:pt x="531" y="78"/>
                  </a:lnTo>
                  <a:lnTo>
                    <a:pt x="528" y="90"/>
                  </a:lnTo>
                  <a:lnTo>
                    <a:pt x="522" y="102"/>
                  </a:lnTo>
                  <a:lnTo>
                    <a:pt x="519" y="114"/>
                  </a:lnTo>
                  <a:lnTo>
                    <a:pt x="513" y="125"/>
                  </a:lnTo>
                  <a:lnTo>
                    <a:pt x="505" y="137"/>
                  </a:lnTo>
                  <a:lnTo>
                    <a:pt x="499" y="148"/>
                  </a:lnTo>
                  <a:lnTo>
                    <a:pt x="490" y="157"/>
                  </a:lnTo>
                  <a:lnTo>
                    <a:pt x="484" y="168"/>
                  </a:lnTo>
                  <a:lnTo>
                    <a:pt x="476" y="177"/>
                  </a:lnTo>
                  <a:lnTo>
                    <a:pt x="467" y="186"/>
                  </a:lnTo>
                  <a:lnTo>
                    <a:pt x="458" y="198"/>
                  </a:lnTo>
                  <a:lnTo>
                    <a:pt x="446" y="204"/>
                  </a:lnTo>
                  <a:lnTo>
                    <a:pt x="437" y="212"/>
                  </a:lnTo>
                  <a:lnTo>
                    <a:pt x="425" y="221"/>
                  </a:lnTo>
                  <a:lnTo>
                    <a:pt x="414" y="227"/>
                  </a:lnTo>
                  <a:lnTo>
                    <a:pt x="405" y="232"/>
                  </a:lnTo>
                  <a:lnTo>
                    <a:pt x="394" y="238"/>
                  </a:lnTo>
                  <a:lnTo>
                    <a:pt x="382" y="244"/>
                  </a:lnTo>
                  <a:lnTo>
                    <a:pt x="370" y="250"/>
                  </a:lnTo>
                  <a:lnTo>
                    <a:pt x="355" y="253"/>
                  </a:lnTo>
                  <a:lnTo>
                    <a:pt x="343" y="255"/>
                  </a:lnTo>
                  <a:lnTo>
                    <a:pt x="331" y="258"/>
                  </a:lnTo>
                  <a:lnTo>
                    <a:pt x="317" y="261"/>
                  </a:lnTo>
                  <a:lnTo>
                    <a:pt x="306" y="264"/>
                  </a:lnTo>
                  <a:lnTo>
                    <a:pt x="291" y="264"/>
                  </a:lnTo>
                  <a:lnTo>
                    <a:pt x="276" y="264"/>
                  </a:lnTo>
                  <a:lnTo>
                    <a:pt x="264" y="264"/>
                  </a:lnTo>
                  <a:lnTo>
                    <a:pt x="249" y="264"/>
                  </a:lnTo>
                  <a:lnTo>
                    <a:pt x="234" y="261"/>
                  </a:lnTo>
                  <a:lnTo>
                    <a:pt x="224" y="258"/>
                  </a:lnTo>
                  <a:lnTo>
                    <a:pt x="209" y="255"/>
                  </a:lnTo>
                  <a:lnTo>
                    <a:pt x="197" y="253"/>
                  </a:lnTo>
                  <a:lnTo>
                    <a:pt x="185" y="250"/>
                  </a:lnTo>
                  <a:lnTo>
                    <a:pt x="173" y="244"/>
                  </a:lnTo>
                  <a:lnTo>
                    <a:pt x="161" y="238"/>
                  </a:lnTo>
                  <a:lnTo>
                    <a:pt x="149" y="232"/>
                  </a:lnTo>
                  <a:lnTo>
                    <a:pt x="139" y="227"/>
                  </a:lnTo>
                  <a:lnTo>
                    <a:pt x="127" y="221"/>
                  </a:lnTo>
                  <a:lnTo>
                    <a:pt x="118" y="212"/>
                  </a:lnTo>
                  <a:lnTo>
                    <a:pt x="106" y="204"/>
                  </a:lnTo>
                  <a:lnTo>
                    <a:pt x="97" y="198"/>
                  </a:lnTo>
                  <a:lnTo>
                    <a:pt x="88" y="186"/>
                  </a:lnTo>
                  <a:lnTo>
                    <a:pt x="79" y="177"/>
                  </a:lnTo>
                  <a:lnTo>
                    <a:pt x="70" y="168"/>
                  </a:lnTo>
                  <a:lnTo>
                    <a:pt x="62" y="157"/>
                  </a:lnTo>
                  <a:lnTo>
                    <a:pt x="53" y="148"/>
                  </a:lnTo>
                  <a:lnTo>
                    <a:pt x="47" y="137"/>
                  </a:lnTo>
                  <a:lnTo>
                    <a:pt x="42" y="125"/>
                  </a:lnTo>
                  <a:lnTo>
                    <a:pt x="36" y="114"/>
                  </a:lnTo>
                  <a:lnTo>
                    <a:pt x="30" y="102"/>
                  </a:lnTo>
                  <a:lnTo>
                    <a:pt x="24" y="90"/>
                  </a:lnTo>
                  <a:lnTo>
                    <a:pt x="21" y="78"/>
                  </a:lnTo>
                  <a:lnTo>
                    <a:pt x="18" y="67"/>
                  </a:lnTo>
                  <a:lnTo>
                    <a:pt x="15" y="53"/>
                  </a:lnTo>
                  <a:lnTo>
                    <a:pt x="12" y="41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6" name="Freeform 150">
              <a:extLst>
                <a:ext uri="{FF2B5EF4-FFF2-40B4-BE49-F238E27FC236}">
                  <a16:creationId xmlns:a16="http://schemas.microsoft.com/office/drawing/2014/main" id="{D0F5D4D7-B67B-4543-95A2-BDFB3E8F5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529"/>
              <a:ext cx="538" cy="268"/>
            </a:xfrm>
            <a:custGeom>
              <a:avLst/>
              <a:gdLst>
                <a:gd name="T0" fmla="*/ 0 w 538"/>
                <a:gd name="T1" fmla="*/ 239 h 268"/>
                <a:gd name="T2" fmla="*/ 9 w 538"/>
                <a:gd name="T3" fmla="*/ 200 h 268"/>
                <a:gd name="T4" fmla="*/ 21 w 538"/>
                <a:gd name="T5" fmla="*/ 162 h 268"/>
                <a:gd name="T6" fmla="*/ 39 w 538"/>
                <a:gd name="T7" fmla="*/ 128 h 268"/>
                <a:gd name="T8" fmla="*/ 61 w 538"/>
                <a:gd name="T9" fmla="*/ 99 h 268"/>
                <a:gd name="T10" fmla="*/ 88 w 538"/>
                <a:gd name="T11" fmla="*/ 69 h 268"/>
                <a:gd name="T12" fmla="*/ 118 w 538"/>
                <a:gd name="T13" fmla="*/ 47 h 268"/>
                <a:gd name="T14" fmla="*/ 152 w 538"/>
                <a:gd name="T15" fmla="*/ 26 h 268"/>
                <a:gd name="T16" fmla="*/ 188 w 538"/>
                <a:gd name="T17" fmla="*/ 12 h 268"/>
                <a:gd name="T18" fmla="*/ 225 w 538"/>
                <a:gd name="T19" fmla="*/ 3 h 268"/>
                <a:gd name="T20" fmla="*/ 267 w 538"/>
                <a:gd name="T21" fmla="*/ 0 h 268"/>
                <a:gd name="T22" fmla="*/ 308 w 538"/>
                <a:gd name="T23" fmla="*/ 3 h 268"/>
                <a:gd name="T24" fmla="*/ 346 w 538"/>
                <a:gd name="T25" fmla="*/ 12 h 268"/>
                <a:gd name="T26" fmla="*/ 385 w 538"/>
                <a:gd name="T27" fmla="*/ 26 h 268"/>
                <a:gd name="T28" fmla="*/ 416 w 538"/>
                <a:gd name="T29" fmla="*/ 47 h 268"/>
                <a:gd name="T30" fmla="*/ 449 w 538"/>
                <a:gd name="T31" fmla="*/ 69 h 268"/>
                <a:gd name="T32" fmla="*/ 475 w 538"/>
                <a:gd name="T33" fmla="*/ 99 h 268"/>
                <a:gd name="T34" fmla="*/ 495 w 538"/>
                <a:gd name="T35" fmla="*/ 128 h 268"/>
                <a:gd name="T36" fmla="*/ 513 w 538"/>
                <a:gd name="T37" fmla="*/ 162 h 268"/>
                <a:gd name="T38" fmla="*/ 528 w 538"/>
                <a:gd name="T39" fmla="*/ 200 h 268"/>
                <a:gd name="T40" fmla="*/ 534 w 538"/>
                <a:gd name="T41" fmla="*/ 239 h 268"/>
                <a:gd name="T42" fmla="*/ 525 w 538"/>
                <a:gd name="T43" fmla="*/ 267 h 268"/>
                <a:gd name="T44" fmla="*/ 522 w 538"/>
                <a:gd name="T45" fmla="*/ 227 h 268"/>
                <a:gd name="T46" fmla="*/ 513 w 538"/>
                <a:gd name="T47" fmla="*/ 189 h 268"/>
                <a:gd name="T48" fmla="*/ 501 w 538"/>
                <a:gd name="T49" fmla="*/ 154 h 268"/>
                <a:gd name="T50" fmla="*/ 481 w 538"/>
                <a:gd name="T51" fmla="*/ 122 h 268"/>
                <a:gd name="T52" fmla="*/ 461 w 538"/>
                <a:gd name="T53" fmla="*/ 93 h 268"/>
                <a:gd name="T54" fmla="*/ 431 w 538"/>
                <a:gd name="T55" fmla="*/ 69 h 268"/>
                <a:gd name="T56" fmla="*/ 402 w 538"/>
                <a:gd name="T57" fmla="*/ 47 h 268"/>
                <a:gd name="T58" fmla="*/ 370 w 538"/>
                <a:gd name="T59" fmla="*/ 29 h 268"/>
                <a:gd name="T60" fmla="*/ 331 w 538"/>
                <a:gd name="T61" fmla="*/ 18 h 268"/>
                <a:gd name="T62" fmla="*/ 294 w 538"/>
                <a:gd name="T63" fmla="*/ 12 h 268"/>
                <a:gd name="T64" fmla="*/ 255 w 538"/>
                <a:gd name="T65" fmla="*/ 9 h 268"/>
                <a:gd name="T66" fmla="*/ 215 w 538"/>
                <a:gd name="T67" fmla="*/ 15 h 268"/>
                <a:gd name="T68" fmla="*/ 179 w 538"/>
                <a:gd name="T69" fmla="*/ 26 h 268"/>
                <a:gd name="T70" fmla="*/ 143 w 538"/>
                <a:gd name="T71" fmla="*/ 41 h 268"/>
                <a:gd name="T72" fmla="*/ 112 w 538"/>
                <a:gd name="T73" fmla="*/ 62 h 268"/>
                <a:gd name="T74" fmla="*/ 85 w 538"/>
                <a:gd name="T75" fmla="*/ 84 h 268"/>
                <a:gd name="T76" fmla="*/ 58 w 538"/>
                <a:gd name="T77" fmla="*/ 113 h 268"/>
                <a:gd name="T78" fmla="*/ 42 w 538"/>
                <a:gd name="T79" fmla="*/ 146 h 268"/>
                <a:gd name="T80" fmla="*/ 24 w 538"/>
                <a:gd name="T81" fmla="*/ 177 h 268"/>
                <a:gd name="T82" fmla="*/ 15 w 538"/>
                <a:gd name="T83" fmla="*/ 215 h 268"/>
                <a:gd name="T84" fmla="*/ 9 w 538"/>
                <a:gd name="T85" fmla="*/ 252 h 26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38"/>
                <a:gd name="T130" fmla="*/ 0 h 268"/>
                <a:gd name="T131" fmla="*/ 538 w 538"/>
                <a:gd name="T132" fmla="*/ 268 h 26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38" h="268">
                  <a:moveTo>
                    <a:pt x="0" y="267"/>
                  </a:moveTo>
                  <a:lnTo>
                    <a:pt x="0" y="252"/>
                  </a:lnTo>
                  <a:lnTo>
                    <a:pt x="0" y="239"/>
                  </a:lnTo>
                  <a:lnTo>
                    <a:pt x="3" y="227"/>
                  </a:lnTo>
                  <a:lnTo>
                    <a:pt x="6" y="212"/>
                  </a:lnTo>
                  <a:lnTo>
                    <a:pt x="9" y="200"/>
                  </a:lnTo>
                  <a:lnTo>
                    <a:pt x="12" y="189"/>
                  </a:lnTo>
                  <a:lnTo>
                    <a:pt x="15" y="174"/>
                  </a:lnTo>
                  <a:lnTo>
                    <a:pt x="21" y="162"/>
                  </a:lnTo>
                  <a:lnTo>
                    <a:pt x="27" y="152"/>
                  </a:lnTo>
                  <a:lnTo>
                    <a:pt x="33" y="140"/>
                  </a:lnTo>
                  <a:lnTo>
                    <a:pt x="39" y="128"/>
                  </a:lnTo>
                  <a:lnTo>
                    <a:pt x="45" y="119"/>
                  </a:lnTo>
                  <a:lnTo>
                    <a:pt x="53" y="108"/>
                  </a:lnTo>
                  <a:lnTo>
                    <a:pt x="61" y="99"/>
                  </a:lnTo>
                  <a:lnTo>
                    <a:pt x="70" y="87"/>
                  </a:lnTo>
                  <a:lnTo>
                    <a:pt x="79" y="78"/>
                  </a:lnTo>
                  <a:lnTo>
                    <a:pt x="88" y="69"/>
                  </a:lnTo>
                  <a:lnTo>
                    <a:pt x="97" y="62"/>
                  </a:lnTo>
                  <a:lnTo>
                    <a:pt x="109" y="53"/>
                  </a:lnTo>
                  <a:lnTo>
                    <a:pt x="118" y="47"/>
                  </a:lnTo>
                  <a:lnTo>
                    <a:pt x="130" y="41"/>
                  </a:lnTo>
                  <a:lnTo>
                    <a:pt x="140" y="32"/>
                  </a:lnTo>
                  <a:lnTo>
                    <a:pt x="152" y="26"/>
                  </a:lnTo>
                  <a:lnTo>
                    <a:pt x="164" y="21"/>
                  </a:lnTo>
                  <a:lnTo>
                    <a:pt x="176" y="18"/>
                  </a:lnTo>
                  <a:lnTo>
                    <a:pt x="188" y="12"/>
                  </a:lnTo>
                  <a:lnTo>
                    <a:pt x="200" y="9"/>
                  </a:lnTo>
                  <a:lnTo>
                    <a:pt x="215" y="6"/>
                  </a:lnTo>
                  <a:lnTo>
                    <a:pt x="225" y="3"/>
                  </a:lnTo>
                  <a:lnTo>
                    <a:pt x="240" y="3"/>
                  </a:lnTo>
                  <a:lnTo>
                    <a:pt x="255" y="0"/>
                  </a:lnTo>
                  <a:lnTo>
                    <a:pt x="267" y="0"/>
                  </a:lnTo>
                  <a:lnTo>
                    <a:pt x="282" y="0"/>
                  </a:lnTo>
                  <a:lnTo>
                    <a:pt x="297" y="3"/>
                  </a:lnTo>
                  <a:lnTo>
                    <a:pt x="308" y="3"/>
                  </a:lnTo>
                  <a:lnTo>
                    <a:pt x="322" y="6"/>
                  </a:lnTo>
                  <a:lnTo>
                    <a:pt x="334" y="9"/>
                  </a:lnTo>
                  <a:lnTo>
                    <a:pt x="346" y="12"/>
                  </a:lnTo>
                  <a:lnTo>
                    <a:pt x="361" y="18"/>
                  </a:lnTo>
                  <a:lnTo>
                    <a:pt x="373" y="21"/>
                  </a:lnTo>
                  <a:lnTo>
                    <a:pt x="385" y="26"/>
                  </a:lnTo>
                  <a:lnTo>
                    <a:pt x="396" y="32"/>
                  </a:lnTo>
                  <a:lnTo>
                    <a:pt x="404" y="41"/>
                  </a:lnTo>
                  <a:lnTo>
                    <a:pt x="416" y="47"/>
                  </a:lnTo>
                  <a:lnTo>
                    <a:pt x="428" y="53"/>
                  </a:lnTo>
                  <a:lnTo>
                    <a:pt x="437" y="62"/>
                  </a:lnTo>
                  <a:lnTo>
                    <a:pt x="449" y="69"/>
                  </a:lnTo>
                  <a:lnTo>
                    <a:pt x="458" y="78"/>
                  </a:lnTo>
                  <a:lnTo>
                    <a:pt x="467" y="87"/>
                  </a:lnTo>
                  <a:lnTo>
                    <a:pt x="475" y="99"/>
                  </a:lnTo>
                  <a:lnTo>
                    <a:pt x="481" y="108"/>
                  </a:lnTo>
                  <a:lnTo>
                    <a:pt x="490" y="119"/>
                  </a:lnTo>
                  <a:lnTo>
                    <a:pt x="495" y="128"/>
                  </a:lnTo>
                  <a:lnTo>
                    <a:pt x="504" y="140"/>
                  </a:lnTo>
                  <a:lnTo>
                    <a:pt x="510" y="152"/>
                  </a:lnTo>
                  <a:lnTo>
                    <a:pt x="513" y="162"/>
                  </a:lnTo>
                  <a:lnTo>
                    <a:pt x="519" y="174"/>
                  </a:lnTo>
                  <a:lnTo>
                    <a:pt x="522" y="189"/>
                  </a:lnTo>
                  <a:lnTo>
                    <a:pt x="528" y="200"/>
                  </a:lnTo>
                  <a:lnTo>
                    <a:pt x="531" y="212"/>
                  </a:lnTo>
                  <a:lnTo>
                    <a:pt x="531" y="227"/>
                  </a:lnTo>
                  <a:lnTo>
                    <a:pt x="534" y="239"/>
                  </a:lnTo>
                  <a:lnTo>
                    <a:pt x="534" y="252"/>
                  </a:lnTo>
                  <a:lnTo>
                    <a:pt x="537" y="267"/>
                  </a:lnTo>
                  <a:lnTo>
                    <a:pt x="525" y="267"/>
                  </a:lnTo>
                  <a:lnTo>
                    <a:pt x="525" y="252"/>
                  </a:lnTo>
                  <a:lnTo>
                    <a:pt x="525" y="241"/>
                  </a:lnTo>
                  <a:lnTo>
                    <a:pt x="522" y="227"/>
                  </a:lnTo>
                  <a:lnTo>
                    <a:pt x="522" y="215"/>
                  </a:lnTo>
                  <a:lnTo>
                    <a:pt x="519" y="203"/>
                  </a:lnTo>
                  <a:lnTo>
                    <a:pt x="513" y="189"/>
                  </a:lnTo>
                  <a:lnTo>
                    <a:pt x="510" y="177"/>
                  </a:lnTo>
                  <a:lnTo>
                    <a:pt x="504" y="165"/>
                  </a:lnTo>
                  <a:lnTo>
                    <a:pt x="501" y="154"/>
                  </a:lnTo>
                  <a:lnTo>
                    <a:pt x="495" y="146"/>
                  </a:lnTo>
                  <a:lnTo>
                    <a:pt x="490" y="134"/>
                  </a:lnTo>
                  <a:lnTo>
                    <a:pt x="481" y="122"/>
                  </a:lnTo>
                  <a:lnTo>
                    <a:pt x="475" y="113"/>
                  </a:lnTo>
                  <a:lnTo>
                    <a:pt x="467" y="105"/>
                  </a:lnTo>
                  <a:lnTo>
                    <a:pt x="461" y="93"/>
                  </a:lnTo>
                  <a:lnTo>
                    <a:pt x="452" y="84"/>
                  </a:lnTo>
                  <a:lnTo>
                    <a:pt x="443" y="75"/>
                  </a:lnTo>
                  <a:lnTo>
                    <a:pt x="431" y="69"/>
                  </a:lnTo>
                  <a:lnTo>
                    <a:pt x="422" y="62"/>
                  </a:lnTo>
                  <a:lnTo>
                    <a:pt x="410" y="53"/>
                  </a:lnTo>
                  <a:lnTo>
                    <a:pt x="402" y="47"/>
                  </a:lnTo>
                  <a:lnTo>
                    <a:pt x="390" y="41"/>
                  </a:lnTo>
                  <a:lnTo>
                    <a:pt x="382" y="35"/>
                  </a:lnTo>
                  <a:lnTo>
                    <a:pt x="370" y="29"/>
                  </a:lnTo>
                  <a:lnTo>
                    <a:pt x="358" y="26"/>
                  </a:lnTo>
                  <a:lnTo>
                    <a:pt x="343" y="21"/>
                  </a:lnTo>
                  <a:lnTo>
                    <a:pt x="331" y="18"/>
                  </a:lnTo>
                  <a:lnTo>
                    <a:pt x="319" y="15"/>
                  </a:lnTo>
                  <a:lnTo>
                    <a:pt x="308" y="12"/>
                  </a:lnTo>
                  <a:lnTo>
                    <a:pt x="294" y="12"/>
                  </a:lnTo>
                  <a:lnTo>
                    <a:pt x="282" y="9"/>
                  </a:lnTo>
                  <a:lnTo>
                    <a:pt x="267" y="9"/>
                  </a:lnTo>
                  <a:lnTo>
                    <a:pt x="255" y="9"/>
                  </a:lnTo>
                  <a:lnTo>
                    <a:pt x="240" y="12"/>
                  </a:lnTo>
                  <a:lnTo>
                    <a:pt x="228" y="12"/>
                  </a:lnTo>
                  <a:lnTo>
                    <a:pt x="215" y="15"/>
                  </a:lnTo>
                  <a:lnTo>
                    <a:pt x="203" y="18"/>
                  </a:lnTo>
                  <a:lnTo>
                    <a:pt x="191" y="21"/>
                  </a:lnTo>
                  <a:lnTo>
                    <a:pt x="179" y="26"/>
                  </a:lnTo>
                  <a:lnTo>
                    <a:pt x="167" y="29"/>
                  </a:lnTo>
                  <a:lnTo>
                    <a:pt x="155" y="35"/>
                  </a:lnTo>
                  <a:lnTo>
                    <a:pt x="143" y="41"/>
                  </a:lnTo>
                  <a:lnTo>
                    <a:pt x="133" y="47"/>
                  </a:lnTo>
                  <a:lnTo>
                    <a:pt x="124" y="53"/>
                  </a:lnTo>
                  <a:lnTo>
                    <a:pt x="112" y="62"/>
                  </a:lnTo>
                  <a:lnTo>
                    <a:pt x="103" y="69"/>
                  </a:lnTo>
                  <a:lnTo>
                    <a:pt x="94" y="75"/>
                  </a:lnTo>
                  <a:lnTo>
                    <a:pt x="85" y="84"/>
                  </a:lnTo>
                  <a:lnTo>
                    <a:pt x="76" y="93"/>
                  </a:lnTo>
                  <a:lnTo>
                    <a:pt x="67" y="105"/>
                  </a:lnTo>
                  <a:lnTo>
                    <a:pt x="58" y="113"/>
                  </a:lnTo>
                  <a:lnTo>
                    <a:pt x="53" y="122"/>
                  </a:lnTo>
                  <a:lnTo>
                    <a:pt x="47" y="134"/>
                  </a:lnTo>
                  <a:lnTo>
                    <a:pt x="42" y="146"/>
                  </a:lnTo>
                  <a:lnTo>
                    <a:pt x="36" y="154"/>
                  </a:lnTo>
                  <a:lnTo>
                    <a:pt x="30" y="165"/>
                  </a:lnTo>
                  <a:lnTo>
                    <a:pt x="24" y="177"/>
                  </a:lnTo>
                  <a:lnTo>
                    <a:pt x="21" y="189"/>
                  </a:lnTo>
                  <a:lnTo>
                    <a:pt x="18" y="203"/>
                  </a:lnTo>
                  <a:lnTo>
                    <a:pt x="15" y="215"/>
                  </a:lnTo>
                  <a:lnTo>
                    <a:pt x="12" y="227"/>
                  </a:lnTo>
                  <a:lnTo>
                    <a:pt x="9" y="241"/>
                  </a:lnTo>
                  <a:lnTo>
                    <a:pt x="9" y="252"/>
                  </a:lnTo>
                  <a:lnTo>
                    <a:pt x="9" y="267"/>
                  </a:lnTo>
                  <a:lnTo>
                    <a:pt x="0" y="267"/>
                  </a:lnTo>
                </a:path>
              </a:pathLst>
            </a:custGeom>
            <a:solidFill>
              <a:srgbClr val="FFA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7" name="Freeform 151">
              <a:extLst>
                <a:ext uri="{FF2B5EF4-FFF2-40B4-BE49-F238E27FC236}">
                  <a16:creationId xmlns:a16="http://schemas.microsoft.com/office/drawing/2014/main" id="{A27BBABF-BF91-44DA-B955-E56CE2406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802"/>
              <a:ext cx="538" cy="265"/>
            </a:xfrm>
            <a:custGeom>
              <a:avLst/>
              <a:gdLst>
                <a:gd name="T0" fmla="*/ 0 w 538"/>
                <a:gd name="T1" fmla="*/ 12 h 265"/>
                <a:gd name="T2" fmla="*/ 6 w 538"/>
                <a:gd name="T3" fmla="*/ 53 h 265"/>
                <a:gd name="T4" fmla="*/ 15 w 538"/>
                <a:gd name="T5" fmla="*/ 90 h 265"/>
                <a:gd name="T6" fmla="*/ 33 w 538"/>
                <a:gd name="T7" fmla="*/ 125 h 265"/>
                <a:gd name="T8" fmla="*/ 53 w 538"/>
                <a:gd name="T9" fmla="*/ 156 h 265"/>
                <a:gd name="T10" fmla="*/ 79 w 538"/>
                <a:gd name="T11" fmla="*/ 186 h 265"/>
                <a:gd name="T12" fmla="*/ 109 w 538"/>
                <a:gd name="T13" fmla="*/ 212 h 265"/>
                <a:gd name="T14" fmla="*/ 140 w 538"/>
                <a:gd name="T15" fmla="*/ 232 h 265"/>
                <a:gd name="T16" fmla="*/ 176 w 538"/>
                <a:gd name="T17" fmla="*/ 249 h 265"/>
                <a:gd name="T18" fmla="*/ 215 w 538"/>
                <a:gd name="T19" fmla="*/ 258 h 265"/>
                <a:gd name="T20" fmla="*/ 255 w 538"/>
                <a:gd name="T21" fmla="*/ 264 h 265"/>
                <a:gd name="T22" fmla="*/ 297 w 538"/>
                <a:gd name="T23" fmla="*/ 264 h 265"/>
                <a:gd name="T24" fmla="*/ 334 w 538"/>
                <a:gd name="T25" fmla="*/ 255 h 265"/>
                <a:gd name="T26" fmla="*/ 373 w 538"/>
                <a:gd name="T27" fmla="*/ 243 h 265"/>
                <a:gd name="T28" fmla="*/ 404 w 538"/>
                <a:gd name="T29" fmla="*/ 227 h 265"/>
                <a:gd name="T30" fmla="*/ 437 w 538"/>
                <a:gd name="T31" fmla="*/ 203 h 265"/>
                <a:gd name="T32" fmla="*/ 467 w 538"/>
                <a:gd name="T33" fmla="*/ 177 h 265"/>
                <a:gd name="T34" fmla="*/ 490 w 538"/>
                <a:gd name="T35" fmla="*/ 148 h 265"/>
                <a:gd name="T36" fmla="*/ 510 w 538"/>
                <a:gd name="T37" fmla="*/ 113 h 265"/>
                <a:gd name="T38" fmla="*/ 522 w 538"/>
                <a:gd name="T39" fmla="*/ 78 h 265"/>
                <a:gd name="T40" fmla="*/ 531 w 538"/>
                <a:gd name="T41" fmla="*/ 41 h 265"/>
                <a:gd name="T42" fmla="*/ 537 w 538"/>
                <a:gd name="T43" fmla="*/ 0 h 265"/>
                <a:gd name="T44" fmla="*/ 525 w 538"/>
                <a:gd name="T45" fmla="*/ 26 h 265"/>
                <a:gd name="T46" fmla="*/ 519 w 538"/>
                <a:gd name="T47" fmla="*/ 64 h 265"/>
                <a:gd name="T48" fmla="*/ 504 w 538"/>
                <a:gd name="T49" fmla="*/ 99 h 265"/>
                <a:gd name="T50" fmla="*/ 490 w 538"/>
                <a:gd name="T51" fmla="*/ 134 h 265"/>
                <a:gd name="T52" fmla="*/ 467 w 538"/>
                <a:gd name="T53" fmla="*/ 162 h 265"/>
                <a:gd name="T54" fmla="*/ 443 w 538"/>
                <a:gd name="T55" fmla="*/ 189 h 265"/>
                <a:gd name="T56" fmla="*/ 410 w 538"/>
                <a:gd name="T57" fmla="*/ 212 h 265"/>
                <a:gd name="T58" fmla="*/ 382 w 538"/>
                <a:gd name="T59" fmla="*/ 230 h 265"/>
                <a:gd name="T60" fmla="*/ 343 w 538"/>
                <a:gd name="T61" fmla="*/ 243 h 265"/>
                <a:gd name="T62" fmla="*/ 308 w 538"/>
                <a:gd name="T63" fmla="*/ 252 h 265"/>
                <a:gd name="T64" fmla="*/ 267 w 538"/>
                <a:gd name="T65" fmla="*/ 255 h 265"/>
                <a:gd name="T66" fmla="*/ 228 w 538"/>
                <a:gd name="T67" fmla="*/ 252 h 265"/>
                <a:gd name="T68" fmla="*/ 191 w 538"/>
                <a:gd name="T69" fmla="*/ 243 h 265"/>
                <a:gd name="T70" fmla="*/ 155 w 538"/>
                <a:gd name="T71" fmla="*/ 230 h 265"/>
                <a:gd name="T72" fmla="*/ 124 w 538"/>
                <a:gd name="T73" fmla="*/ 212 h 265"/>
                <a:gd name="T74" fmla="*/ 94 w 538"/>
                <a:gd name="T75" fmla="*/ 189 h 265"/>
                <a:gd name="T76" fmla="*/ 67 w 538"/>
                <a:gd name="T77" fmla="*/ 162 h 265"/>
                <a:gd name="T78" fmla="*/ 47 w 538"/>
                <a:gd name="T79" fmla="*/ 134 h 265"/>
                <a:gd name="T80" fmla="*/ 30 w 538"/>
                <a:gd name="T81" fmla="*/ 99 h 265"/>
                <a:gd name="T82" fmla="*/ 18 w 538"/>
                <a:gd name="T83" fmla="*/ 64 h 265"/>
                <a:gd name="T84" fmla="*/ 9 w 538"/>
                <a:gd name="T85" fmla="*/ 26 h 265"/>
                <a:gd name="T86" fmla="*/ 0 w 538"/>
                <a:gd name="T87" fmla="*/ 0 h 26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38"/>
                <a:gd name="T133" fmla="*/ 0 h 265"/>
                <a:gd name="T134" fmla="*/ 538 w 538"/>
                <a:gd name="T135" fmla="*/ 265 h 26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38" h="265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41"/>
                  </a:lnTo>
                  <a:lnTo>
                    <a:pt x="6" y="53"/>
                  </a:lnTo>
                  <a:lnTo>
                    <a:pt x="9" y="66"/>
                  </a:lnTo>
                  <a:lnTo>
                    <a:pt x="12" y="78"/>
                  </a:lnTo>
                  <a:lnTo>
                    <a:pt x="15" y="90"/>
                  </a:lnTo>
                  <a:lnTo>
                    <a:pt x="21" y="102"/>
                  </a:lnTo>
                  <a:lnTo>
                    <a:pt x="27" y="113"/>
                  </a:lnTo>
                  <a:lnTo>
                    <a:pt x="33" y="125"/>
                  </a:lnTo>
                  <a:lnTo>
                    <a:pt x="39" y="137"/>
                  </a:lnTo>
                  <a:lnTo>
                    <a:pt x="45" y="148"/>
                  </a:lnTo>
                  <a:lnTo>
                    <a:pt x="53" y="156"/>
                  </a:lnTo>
                  <a:lnTo>
                    <a:pt x="61" y="168"/>
                  </a:lnTo>
                  <a:lnTo>
                    <a:pt x="70" y="177"/>
                  </a:lnTo>
                  <a:lnTo>
                    <a:pt x="79" y="186"/>
                  </a:lnTo>
                  <a:lnTo>
                    <a:pt x="88" y="198"/>
                  </a:lnTo>
                  <a:lnTo>
                    <a:pt x="97" y="203"/>
                  </a:lnTo>
                  <a:lnTo>
                    <a:pt x="109" y="212"/>
                  </a:lnTo>
                  <a:lnTo>
                    <a:pt x="118" y="221"/>
                  </a:lnTo>
                  <a:lnTo>
                    <a:pt x="130" y="227"/>
                  </a:lnTo>
                  <a:lnTo>
                    <a:pt x="140" y="232"/>
                  </a:lnTo>
                  <a:lnTo>
                    <a:pt x="152" y="238"/>
                  </a:lnTo>
                  <a:lnTo>
                    <a:pt x="164" y="243"/>
                  </a:lnTo>
                  <a:lnTo>
                    <a:pt x="176" y="249"/>
                  </a:lnTo>
                  <a:lnTo>
                    <a:pt x="188" y="252"/>
                  </a:lnTo>
                  <a:lnTo>
                    <a:pt x="200" y="255"/>
                  </a:lnTo>
                  <a:lnTo>
                    <a:pt x="215" y="258"/>
                  </a:lnTo>
                  <a:lnTo>
                    <a:pt x="225" y="261"/>
                  </a:lnTo>
                  <a:lnTo>
                    <a:pt x="240" y="264"/>
                  </a:lnTo>
                  <a:lnTo>
                    <a:pt x="255" y="264"/>
                  </a:lnTo>
                  <a:lnTo>
                    <a:pt x="267" y="264"/>
                  </a:lnTo>
                  <a:lnTo>
                    <a:pt x="282" y="264"/>
                  </a:lnTo>
                  <a:lnTo>
                    <a:pt x="297" y="264"/>
                  </a:lnTo>
                  <a:lnTo>
                    <a:pt x="308" y="261"/>
                  </a:lnTo>
                  <a:lnTo>
                    <a:pt x="322" y="258"/>
                  </a:lnTo>
                  <a:lnTo>
                    <a:pt x="334" y="255"/>
                  </a:lnTo>
                  <a:lnTo>
                    <a:pt x="346" y="252"/>
                  </a:lnTo>
                  <a:lnTo>
                    <a:pt x="361" y="249"/>
                  </a:lnTo>
                  <a:lnTo>
                    <a:pt x="373" y="243"/>
                  </a:lnTo>
                  <a:lnTo>
                    <a:pt x="385" y="238"/>
                  </a:lnTo>
                  <a:lnTo>
                    <a:pt x="396" y="232"/>
                  </a:lnTo>
                  <a:lnTo>
                    <a:pt x="404" y="227"/>
                  </a:lnTo>
                  <a:lnTo>
                    <a:pt x="416" y="221"/>
                  </a:lnTo>
                  <a:lnTo>
                    <a:pt x="428" y="212"/>
                  </a:lnTo>
                  <a:lnTo>
                    <a:pt x="437" y="203"/>
                  </a:lnTo>
                  <a:lnTo>
                    <a:pt x="449" y="198"/>
                  </a:lnTo>
                  <a:lnTo>
                    <a:pt x="458" y="186"/>
                  </a:lnTo>
                  <a:lnTo>
                    <a:pt x="467" y="177"/>
                  </a:lnTo>
                  <a:lnTo>
                    <a:pt x="475" y="168"/>
                  </a:lnTo>
                  <a:lnTo>
                    <a:pt x="481" y="156"/>
                  </a:lnTo>
                  <a:lnTo>
                    <a:pt x="490" y="148"/>
                  </a:lnTo>
                  <a:lnTo>
                    <a:pt x="495" y="137"/>
                  </a:lnTo>
                  <a:lnTo>
                    <a:pt x="504" y="125"/>
                  </a:lnTo>
                  <a:lnTo>
                    <a:pt x="510" y="113"/>
                  </a:lnTo>
                  <a:lnTo>
                    <a:pt x="513" y="102"/>
                  </a:lnTo>
                  <a:lnTo>
                    <a:pt x="519" y="90"/>
                  </a:lnTo>
                  <a:lnTo>
                    <a:pt x="522" y="78"/>
                  </a:lnTo>
                  <a:lnTo>
                    <a:pt x="528" y="66"/>
                  </a:lnTo>
                  <a:lnTo>
                    <a:pt x="531" y="53"/>
                  </a:lnTo>
                  <a:lnTo>
                    <a:pt x="531" y="41"/>
                  </a:lnTo>
                  <a:lnTo>
                    <a:pt x="534" y="26"/>
                  </a:lnTo>
                  <a:lnTo>
                    <a:pt x="534" y="12"/>
                  </a:lnTo>
                  <a:lnTo>
                    <a:pt x="537" y="0"/>
                  </a:lnTo>
                  <a:lnTo>
                    <a:pt x="525" y="0"/>
                  </a:lnTo>
                  <a:lnTo>
                    <a:pt x="525" y="12"/>
                  </a:lnTo>
                  <a:lnTo>
                    <a:pt x="525" y="26"/>
                  </a:lnTo>
                  <a:lnTo>
                    <a:pt x="522" y="38"/>
                  </a:lnTo>
                  <a:lnTo>
                    <a:pt x="522" y="53"/>
                  </a:lnTo>
                  <a:lnTo>
                    <a:pt x="519" y="64"/>
                  </a:lnTo>
                  <a:lnTo>
                    <a:pt x="513" y="75"/>
                  </a:lnTo>
                  <a:lnTo>
                    <a:pt x="510" y="87"/>
                  </a:lnTo>
                  <a:lnTo>
                    <a:pt x="504" y="99"/>
                  </a:lnTo>
                  <a:lnTo>
                    <a:pt x="501" y="110"/>
                  </a:lnTo>
                  <a:lnTo>
                    <a:pt x="495" y="122"/>
                  </a:lnTo>
                  <a:lnTo>
                    <a:pt x="490" y="134"/>
                  </a:lnTo>
                  <a:lnTo>
                    <a:pt x="481" y="143"/>
                  </a:lnTo>
                  <a:lnTo>
                    <a:pt x="475" y="154"/>
                  </a:lnTo>
                  <a:lnTo>
                    <a:pt x="467" y="162"/>
                  </a:lnTo>
                  <a:lnTo>
                    <a:pt x="461" y="171"/>
                  </a:lnTo>
                  <a:lnTo>
                    <a:pt x="452" y="180"/>
                  </a:lnTo>
                  <a:lnTo>
                    <a:pt x="443" y="189"/>
                  </a:lnTo>
                  <a:lnTo>
                    <a:pt x="431" y="198"/>
                  </a:lnTo>
                  <a:lnTo>
                    <a:pt x="422" y="206"/>
                  </a:lnTo>
                  <a:lnTo>
                    <a:pt x="410" y="212"/>
                  </a:lnTo>
                  <a:lnTo>
                    <a:pt x="402" y="218"/>
                  </a:lnTo>
                  <a:lnTo>
                    <a:pt x="390" y="227"/>
                  </a:lnTo>
                  <a:lnTo>
                    <a:pt x="382" y="230"/>
                  </a:lnTo>
                  <a:lnTo>
                    <a:pt x="370" y="235"/>
                  </a:lnTo>
                  <a:lnTo>
                    <a:pt x="358" y="241"/>
                  </a:lnTo>
                  <a:lnTo>
                    <a:pt x="343" y="243"/>
                  </a:lnTo>
                  <a:lnTo>
                    <a:pt x="331" y="246"/>
                  </a:lnTo>
                  <a:lnTo>
                    <a:pt x="319" y="249"/>
                  </a:lnTo>
                  <a:lnTo>
                    <a:pt x="308" y="252"/>
                  </a:lnTo>
                  <a:lnTo>
                    <a:pt x="294" y="255"/>
                  </a:lnTo>
                  <a:lnTo>
                    <a:pt x="282" y="255"/>
                  </a:lnTo>
                  <a:lnTo>
                    <a:pt x="267" y="255"/>
                  </a:lnTo>
                  <a:lnTo>
                    <a:pt x="255" y="255"/>
                  </a:lnTo>
                  <a:lnTo>
                    <a:pt x="240" y="255"/>
                  </a:lnTo>
                  <a:lnTo>
                    <a:pt x="228" y="252"/>
                  </a:lnTo>
                  <a:lnTo>
                    <a:pt x="215" y="249"/>
                  </a:lnTo>
                  <a:lnTo>
                    <a:pt x="203" y="246"/>
                  </a:lnTo>
                  <a:lnTo>
                    <a:pt x="191" y="243"/>
                  </a:lnTo>
                  <a:lnTo>
                    <a:pt x="179" y="241"/>
                  </a:lnTo>
                  <a:lnTo>
                    <a:pt x="167" y="235"/>
                  </a:lnTo>
                  <a:lnTo>
                    <a:pt x="155" y="230"/>
                  </a:lnTo>
                  <a:lnTo>
                    <a:pt x="143" y="227"/>
                  </a:lnTo>
                  <a:lnTo>
                    <a:pt x="133" y="218"/>
                  </a:lnTo>
                  <a:lnTo>
                    <a:pt x="124" y="212"/>
                  </a:lnTo>
                  <a:lnTo>
                    <a:pt x="112" y="206"/>
                  </a:lnTo>
                  <a:lnTo>
                    <a:pt x="103" y="198"/>
                  </a:lnTo>
                  <a:lnTo>
                    <a:pt x="94" y="189"/>
                  </a:lnTo>
                  <a:lnTo>
                    <a:pt x="85" y="180"/>
                  </a:lnTo>
                  <a:lnTo>
                    <a:pt x="76" y="171"/>
                  </a:lnTo>
                  <a:lnTo>
                    <a:pt x="67" y="162"/>
                  </a:lnTo>
                  <a:lnTo>
                    <a:pt x="58" y="154"/>
                  </a:lnTo>
                  <a:lnTo>
                    <a:pt x="53" y="143"/>
                  </a:lnTo>
                  <a:lnTo>
                    <a:pt x="47" y="134"/>
                  </a:lnTo>
                  <a:lnTo>
                    <a:pt x="42" y="122"/>
                  </a:lnTo>
                  <a:lnTo>
                    <a:pt x="36" y="110"/>
                  </a:lnTo>
                  <a:lnTo>
                    <a:pt x="30" y="99"/>
                  </a:lnTo>
                  <a:lnTo>
                    <a:pt x="24" y="87"/>
                  </a:lnTo>
                  <a:lnTo>
                    <a:pt x="21" y="75"/>
                  </a:lnTo>
                  <a:lnTo>
                    <a:pt x="18" y="64"/>
                  </a:lnTo>
                  <a:lnTo>
                    <a:pt x="15" y="53"/>
                  </a:lnTo>
                  <a:lnTo>
                    <a:pt x="12" y="38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8" name="Freeform 152">
              <a:extLst>
                <a:ext uri="{FF2B5EF4-FFF2-40B4-BE49-F238E27FC236}">
                  <a16:creationId xmlns:a16="http://schemas.microsoft.com/office/drawing/2014/main" id="{D33EB393-B300-41F2-AA95-D185653A7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3538"/>
              <a:ext cx="517" cy="259"/>
            </a:xfrm>
            <a:custGeom>
              <a:avLst/>
              <a:gdLst>
                <a:gd name="T0" fmla="*/ 0 w 517"/>
                <a:gd name="T1" fmla="*/ 232 h 259"/>
                <a:gd name="T2" fmla="*/ 9 w 517"/>
                <a:gd name="T3" fmla="*/ 194 h 259"/>
                <a:gd name="T4" fmla="*/ 21 w 517"/>
                <a:gd name="T5" fmla="*/ 156 h 259"/>
                <a:gd name="T6" fmla="*/ 39 w 517"/>
                <a:gd name="T7" fmla="*/ 125 h 259"/>
                <a:gd name="T8" fmla="*/ 58 w 517"/>
                <a:gd name="T9" fmla="*/ 96 h 259"/>
                <a:gd name="T10" fmla="*/ 85 w 517"/>
                <a:gd name="T11" fmla="*/ 66 h 259"/>
                <a:gd name="T12" fmla="*/ 115 w 517"/>
                <a:gd name="T13" fmla="*/ 44 h 259"/>
                <a:gd name="T14" fmla="*/ 146 w 517"/>
                <a:gd name="T15" fmla="*/ 26 h 259"/>
                <a:gd name="T16" fmla="*/ 182 w 517"/>
                <a:gd name="T17" fmla="*/ 12 h 259"/>
                <a:gd name="T18" fmla="*/ 219 w 517"/>
                <a:gd name="T19" fmla="*/ 3 h 259"/>
                <a:gd name="T20" fmla="*/ 258 w 517"/>
                <a:gd name="T21" fmla="*/ 0 h 259"/>
                <a:gd name="T22" fmla="*/ 299 w 517"/>
                <a:gd name="T23" fmla="*/ 3 h 259"/>
                <a:gd name="T24" fmla="*/ 334 w 517"/>
                <a:gd name="T25" fmla="*/ 12 h 259"/>
                <a:gd name="T26" fmla="*/ 373 w 517"/>
                <a:gd name="T27" fmla="*/ 26 h 259"/>
                <a:gd name="T28" fmla="*/ 401 w 517"/>
                <a:gd name="T29" fmla="*/ 44 h 259"/>
                <a:gd name="T30" fmla="*/ 434 w 517"/>
                <a:gd name="T31" fmla="*/ 66 h 259"/>
                <a:gd name="T32" fmla="*/ 458 w 517"/>
                <a:gd name="T33" fmla="*/ 96 h 259"/>
                <a:gd name="T34" fmla="*/ 480 w 517"/>
                <a:gd name="T35" fmla="*/ 125 h 259"/>
                <a:gd name="T36" fmla="*/ 495 w 517"/>
                <a:gd name="T37" fmla="*/ 156 h 259"/>
                <a:gd name="T38" fmla="*/ 510 w 517"/>
                <a:gd name="T39" fmla="*/ 194 h 259"/>
                <a:gd name="T40" fmla="*/ 516 w 517"/>
                <a:gd name="T41" fmla="*/ 232 h 259"/>
                <a:gd name="T42" fmla="*/ 507 w 517"/>
                <a:gd name="T43" fmla="*/ 258 h 259"/>
                <a:gd name="T44" fmla="*/ 504 w 517"/>
                <a:gd name="T45" fmla="*/ 221 h 259"/>
                <a:gd name="T46" fmla="*/ 495 w 517"/>
                <a:gd name="T47" fmla="*/ 183 h 259"/>
                <a:gd name="T48" fmla="*/ 483 w 517"/>
                <a:gd name="T49" fmla="*/ 151 h 259"/>
                <a:gd name="T50" fmla="*/ 466 w 517"/>
                <a:gd name="T51" fmla="*/ 119 h 259"/>
                <a:gd name="T52" fmla="*/ 443 w 517"/>
                <a:gd name="T53" fmla="*/ 90 h 259"/>
                <a:gd name="T54" fmla="*/ 416 w 517"/>
                <a:gd name="T55" fmla="*/ 66 h 259"/>
                <a:gd name="T56" fmla="*/ 387 w 517"/>
                <a:gd name="T57" fmla="*/ 47 h 259"/>
                <a:gd name="T58" fmla="*/ 355 w 517"/>
                <a:gd name="T59" fmla="*/ 29 h 259"/>
                <a:gd name="T60" fmla="*/ 319 w 517"/>
                <a:gd name="T61" fmla="*/ 18 h 259"/>
                <a:gd name="T62" fmla="*/ 285 w 517"/>
                <a:gd name="T63" fmla="*/ 12 h 259"/>
                <a:gd name="T64" fmla="*/ 246 w 517"/>
                <a:gd name="T65" fmla="*/ 12 h 259"/>
                <a:gd name="T66" fmla="*/ 209 w 517"/>
                <a:gd name="T67" fmla="*/ 15 h 259"/>
                <a:gd name="T68" fmla="*/ 173 w 517"/>
                <a:gd name="T69" fmla="*/ 26 h 259"/>
                <a:gd name="T70" fmla="*/ 140 w 517"/>
                <a:gd name="T71" fmla="*/ 41 h 259"/>
                <a:gd name="T72" fmla="*/ 109 w 517"/>
                <a:gd name="T73" fmla="*/ 59 h 259"/>
                <a:gd name="T74" fmla="*/ 82 w 517"/>
                <a:gd name="T75" fmla="*/ 81 h 259"/>
                <a:gd name="T76" fmla="*/ 58 w 517"/>
                <a:gd name="T77" fmla="*/ 110 h 259"/>
                <a:gd name="T78" fmla="*/ 39 w 517"/>
                <a:gd name="T79" fmla="*/ 140 h 259"/>
                <a:gd name="T80" fmla="*/ 24 w 517"/>
                <a:gd name="T81" fmla="*/ 171 h 259"/>
                <a:gd name="T82" fmla="*/ 15 w 517"/>
                <a:gd name="T83" fmla="*/ 209 h 259"/>
                <a:gd name="T84" fmla="*/ 9 w 517"/>
                <a:gd name="T85" fmla="*/ 243 h 25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17"/>
                <a:gd name="T130" fmla="*/ 0 h 259"/>
                <a:gd name="T131" fmla="*/ 517 w 517"/>
                <a:gd name="T132" fmla="*/ 259 h 25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17" h="259">
                  <a:moveTo>
                    <a:pt x="0" y="258"/>
                  </a:moveTo>
                  <a:lnTo>
                    <a:pt x="0" y="243"/>
                  </a:lnTo>
                  <a:lnTo>
                    <a:pt x="0" y="232"/>
                  </a:lnTo>
                  <a:lnTo>
                    <a:pt x="3" y="218"/>
                  </a:lnTo>
                  <a:lnTo>
                    <a:pt x="6" y="206"/>
                  </a:lnTo>
                  <a:lnTo>
                    <a:pt x="9" y="194"/>
                  </a:lnTo>
                  <a:lnTo>
                    <a:pt x="12" y="180"/>
                  </a:lnTo>
                  <a:lnTo>
                    <a:pt x="15" y="168"/>
                  </a:lnTo>
                  <a:lnTo>
                    <a:pt x="21" y="156"/>
                  </a:lnTo>
                  <a:lnTo>
                    <a:pt x="27" y="145"/>
                  </a:lnTo>
                  <a:lnTo>
                    <a:pt x="33" y="137"/>
                  </a:lnTo>
                  <a:lnTo>
                    <a:pt x="39" y="125"/>
                  </a:lnTo>
                  <a:lnTo>
                    <a:pt x="44" y="113"/>
                  </a:lnTo>
                  <a:lnTo>
                    <a:pt x="49" y="105"/>
                  </a:lnTo>
                  <a:lnTo>
                    <a:pt x="58" y="96"/>
                  </a:lnTo>
                  <a:lnTo>
                    <a:pt x="67" y="84"/>
                  </a:lnTo>
                  <a:lnTo>
                    <a:pt x="76" y="75"/>
                  </a:lnTo>
                  <a:lnTo>
                    <a:pt x="85" y="66"/>
                  </a:lnTo>
                  <a:lnTo>
                    <a:pt x="94" y="61"/>
                  </a:lnTo>
                  <a:lnTo>
                    <a:pt x="103" y="53"/>
                  </a:lnTo>
                  <a:lnTo>
                    <a:pt x="115" y="44"/>
                  </a:lnTo>
                  <a:lnTo>
                    <a:pt x="124" y="38"/>
                  </a:lnTo>
                  <a:lnTo>
                    <a:pt x="134" y="32"/>
                  </a:lnTo>
                  <a:lnTo>
                    <a:pt x="146" y="26"/>
                  </a:lnTo>
                  <a:lnTo>
                    <a:pt x="158" y="21"/>
                  </a:lnTo>
                  <a:lnTo>
                    <a:pt x="170" y="18"/>
                  </a:lnTo>
                  <a:lnTo>
                    <a:pt x="182" y="12"/>
                  </a:lnTo>
                  <a:lnTo>
                    <a:pt x="194" y="9"/>
                  </a:lnTo>
                  <a:lnTo>
                    <a:pt x="206" y="6"/>
                  </a:lnTo>
                  <a:lnTo>
                    <a:pt x="219" y="3"/>
                  </a:lnTo>
                  <a:lnTo>
                    <a:pt x="231" y="3"/>
                  </a:lnTo>
                  <a:lnTo>
                    <a:pt x="246" y="0"/>
                  </a:lnTo>
                  <a:lnTo>
                    <a:pt x="258" y="0"/>
                  </a:lnTo>
                  <a:lnTo>
                    <a:pt x="273" y="0"/>
                  </a:lnTo>
                  <a:lnTo>
                    <a:pt x="285" y="3"/>
                  </a:lnTo>
                  <a:lnTo>
                    <a:pt x="299" y="3"/>
                  </a:lnTo>
                  <a:lnTo>
                    <a:pt x="310" y="6"/>
                  </a:lnTo>
                  <a:lnTo>
                    <a:pt x="322" y="9"/>
                  </a:lnTo>
                  <a:lnTo>
                    <a:pt x="334" y="12"/>
                  </a:lnTo>
                  <a:lnTo>
                    <a:pt x="349" y="18"/>
                  </a:lnTo>
                  <a:lnTo>
                    <a:pt x="361" y="21"/>
                  </a:lnTo>
                  <a:lnTo>
                    <a:pt x="373" y="26"/>
                  </a:lnTo>
                  <a:lnTo>
                    <a:pt x="381" y="32"/>
                  </a:lnTo>
                  <a:lnTo>
                    <a:pt x="392" y="38"/>
                  </a:lnTo>
                  <a:lnTo>
                    <a:pt x="401" y="44"/>
                  </a:lnTo>
                  <a:lnTo>
                    <a:pt x="413" y="53"/>
                  </a:lnTo>
                  <a:lnTo>
                    <a:pt x="422" y="61"/>
                  </a:lnTo>
                  <a:lnTo>
                    <a:pt x="434" y="66"/>
                  </a:lnTo>
                  <a:lnTo>
                    <a:pt x="443" y="75"/>
                  </a:lnTo>
                  <a:lnTo>
                    <a:pt x="452" y="84"/>
                  </a:lnTo>
                  <a:lnTo>
                    <a:pt x="458" y="96"/>
                  </a:lnTo>
                  <a:lnTo>
                    <a:pt x="466" y="105"/>
                  </a:lnTo>
                  <a:lnTo>
                    <a:pt x="472" y="113"/>
                  </a:lnTo>
                  <a:lnTo>
                    <a:pt x="480" y="125"/>
                  </a:lnTo>
                  <a:lnTo>
                    <a:pt x="486" y="137"/>
                  </a:lnTo>
                  <a:lnTo>
                    <a:pt x="492" y="145"/>
                  </a:lnTo>
                  <a:lnTo>
                    <a:pt x="495" y="156"/>
                  </a:lnTo>
                  <a:lnTo>
                    <a:pt x="501" y="168"/>
                  </a:lnTo>
                  <a:lnTo>
                    <a:pt x="504" y="180"/>
                  </a:lnTo>
                  <a:lnTo>
                    <a:pt x="510" y="194"/>
                  </a:lnTo>
                  <a:lnTo>
                    <a:pt x="513" y="206"/>
                  </a:lnTo>
                  <a:lnTo>
                    <a:pt x="513" y="218"/>
                  </a:lnTo>
                  <a:lnTo>
                    <a:pt x="516" y="232"/>
                  </a:lnTo>
                  <a:lnTo>
                    <a:pt x="516" y="243"/>
                  </a:lnTo>
                  <a:lnTo>
                    <a:pt x="516" y="258"/>
                  </a:lnTo>
                  <a:lnTo>
                    <a:pt x="507" y="258"/>
                  </a:lnTo>
                  <a:lnTo>
                    <a:pt x="507" y="243"/>
                  </a:lnTo>
                  <a:lnTo>
                    <a:pt x="507" y="232"/>
                  </a:lnTo>
                  <a:lnTo>
                    <a:pt x="504" y="221"/>
                  </a:lnTo>
                  <a:lnTo>
                    <a:pt x="504" y="209"/>
                  </a:lnTo>
                  <a:lnTo>
                    <a:pt x="501" y="197"/>
                  </a:lnTo>
                  <a:lnTo>
                    <a:pt x="495" y="183"/>
                  </a:lnTo>
                  <a:lnTo>
                    <a:pt x="492" y="171"/>
                  </a:lnTo>
                  <a:lnTo>
                    <a:pt x="489" y="162"/>
                  </a:lnTo>
                  <a:lnTo>
                    <a:pt x="483" y="151"/>
                  </a:lnTo>
                  <a:lnTo>
                    <a:pt x="477" y="140"/>
                  </a:lnTo>
                  <a:lnTo>
                    <a:pt x="472" y="131"/>
                  </a:lnTo>
                  <a:lnTo>
                    <a:pt x="466" y="119"/>
                  </a:lnTo>
                  <a:lnTo>
                    <a:pt x="458" y="110"/>
                  </a:lnTo>
                  <a:lnTo>
                    <a:pt x="452" y="102"/>
                  </a:lnTo>
                  <a:lnTo>
                    <a:pt x="443" y="90"/>
                  </a:lnTo>
                  <a:lnTo>
                    <a:pt x="434" y="81"/>
                  </a:lnTo>
                  <a:lnTo>
                    <a:pt x="425" y="75"/>
                  </a:lnTo>
                  <a:lnTo>
                    <a:pt x="416" y="66"/>
                  </a:lnTo>
                  <a:lnTo>
                    <a:pt x="407" y="59"/>
                  </a:lnTo>
                  <a:lnTo>
                    <a:pt x="398" y="53"/>
                  </a:lnTo>
                  <a:lnTo>
                    <a:pt x="387" y="47"/>
                  </a:lnTo>
                  <a:lnTo>
                    <a:pt x="379" y="41"/>
                  </a:lnTo>
                  <a:lnTo>
                    <a:pt x="367" y="35"/>
                  </a:lnTo>
                  <a:lnTo>
                    <a:pt x="355" y="29"/>
                  </a:lnTo>
                  <a:lnTo>
                    <a:pt x="343" y="26"/>
                  </a:lnTo>
                  <a:lnTo>
                    <a:pt x="334" y="21"/>
                  </a:lnTo>
                  <a:lnTo>
                    <a:pt x="319" y="18"/>
                  </a:lnTo>
                  <a:lnTo>
                    <a:pt x="307" y="15"/>
                  </a:lnTo>
                  <a:lnTo>
                    <a:pt x="297" y="12"/>
                  </a:lnTo>
                  <a:lnTo>
                    <a:pt x="285" y="12"/>
                  </a:lnTo>
                  <a:lnTo>
                    <a:pt x="273" y="12"/>
                  </a:lnTo>
                  <a:lnTo>
                    <a:pt x="258" y="9"/>
                  </a:lnTo>
                  <a:lnTo>
                    <a:pt x="246" y="12"/>
                  </a:lnTo>
                  <a:lnTo>
                    <a:pt x="231" y="12"/>
                  </a:lnTo>
                  <a:lnTo>
                    <a:pt x="219" y="12"/>
                  </a:lnTo>
                  <a:lnTo>
                    <a:pt x="209" y="15"/>
                  </a:lnTo>
                  <a:lnTo>
                    <a:pt x="197" y="18"/>
                  </a:lnTo>
                  <a:lnTo>
                    <a:pt x="185" y="21"/>
                  </a:lnTo>
                  <a:lnTo>
                    <a:pt x="173" y="26"/>
                  </a:lnTo>
                  <a:lnTo>
                    <a:pt x="161" y="29"/>
                  </a:lnTo>
                  <a:lnTo>
                    <a:pt x="149" y="35"/>
                  </a:lnTo>
                  <a:lnTo>
                    <a:pt x="140" y="41"/>
                  </a:lnTo>
                  <a:lnTo>
                    <a:pt x="129" y="47"/>
                  </a:lnTo>
                  <a:lnTo>
                    <a:pt x="121" y="53"/>
                  </a:lnTo>
                  <a:lnTo>
                    <a:pt x="109" y="59"/>
                  </a:lnTo>
                  <a:lnTo>
                    <a:pt x="100" y="66"/>
                  </a:lnTo>
                  <a:lnTo>
                    <a:pt x="91" y="75"/>
                  </a:lnTo>
                  <a:lnTo>
                    <a:pt x="82" y="81"/>
                  </a:lnTo>
                  <a:lnTo>
                    <a:pt x="73" y="90"/>
                  </a:lnTo>
                  <a:lnTo>
                    <a:pt x="67" y="102"/>
                  </a:lnTo>
                  <a:lnTo>
                    <a:pt x="58" y="110"/>
                  </a:lnTo>
                  <a:lnTo>
                    <a:pt x="52" y="119"/>
                  </a:lnTo>
                  <a:lnTo>
                    <a:pt x="44" y="131"/>
                  </a:lnTo>
                  <a:lnTo>
                    <a:pt x="39" y="140"/>
                  </a:lnTo>
                  <a:lnTo>
                    <a:pt x="33" y="151"/>
                  </a:lnTo>
                  <a:lnTo>
                    <a:pt x="30" y="162"/>
                  </a:lnTo>
                  <a:lnTo>
                    <a:pt x="24" y="171"/>
                  </a:lnTo>
                  <a:lnTo>
                    <a:pt x="21" y="183"/>
                  </a:lnTo>
                  <a:lnTo>
                    <a:pt x="18" y="197"/>
                  </a:lnTo>
                  <a:lnTo>
                    <a:pt x="15" y="209"/>
                  </a:lnTo>
                  <a:lnTo>
                    <a:pt x="12" y="221"/>
                  </a:lnTo>
                  <a:lnTo>
                    <a:pt x="9" y="232"/>
                  </a:lnTo>
                  <a:lnTo>
                    <a:pt x="9" y="243"/>
                  </a:lnTo>
                  <a:lnTo>
                    <a:pt x="9" y="258"/>
                  </a:lnTo>
                  <a:lnTo>
                    <a:pt x="0" y="258"/>
                  </a:lnTo>
                </a:path>
              </a:pathLst>
            </a:custGeom>
            <a:solidFill>
              <a:srgbClr val="FFA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19" name="Freeform 153">
              <a:extLst>
                <a:ext uri="{FF2B5EF4-FFF2-40B4-BE49-F238E27FC236}">
                  <a16:creationId xmlns:a16="http://schemas.microsoft.com/office/drawing/2014/main" id="{CF7C4042-C303-4A13-828A-BD32343B9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3802"/>
              <a:ext cx="517" cy="256"/>
            </a:xfrm>
            <a:custGeom>
              <a:avLst/>
              <a:gdLst>
                <a:gd name="T0" fmla="*/ 0 w 517"/>
                <a:gd name="T1" fmla="*/ 12 h 256"/>
                <a:gd name="T2" fmla="*/ 6 w 517"/>
                <a:gd name="T3" fmla="*/ 53 h 256"/>
                <a:gd name="T4" fmla="*/ 15 w 517"/>
                <a:gd name="T5" fmla="*/ 87 h 256"/>
                <a:gd name="T6" fmla="*/ 33 w 517"/>
                <a:gd name="T7" fmla="*/ 122 h 256"/>
                <a:gd name="T8" fmla="*/ 49 w 517"/>
                <a:gd name="T9" fmla="*/ 153 h 256"/>
                <a:gd name="T10" fmla="*/ 76 w 517"/>
                <a:gd name="T11" fmla="*/ 180 h 256"/>
                <a:gd name="T12" fmla="*/ 103 w 517"/>
                <a:gd name="T13" fmla="*/ 206 h 256"/>
                <a:gd name="T14" fmla="*/ 134 w 517"/>
                <a:gd name="T15" fmla="*/ 227 h 256"/>
                <a:gd name="T16" fmla="*/ 170 w 517"/>
                <a:gd name="T17" fmla="*/ 240 h 256"/>
                <a:gd name="T18" fmla="*/ 206 w 517"/>
                <a:gd name="T19" fmla="*/ 249 h 256"/>
                <a:gd name="T20" fmla="*/ 246 w 517"/>
                <a:gd name="T21" fmla="*/ 255 h 256"/>
                <a:gd name="T22" fmla="*/ 285 w 517"/>
                <a:gd name="T23" fmla="*/ 255 h 256"/>
                <a:gd name="T24" fmla="*/ 322 w 517"/>
                <a:gd name="T25" fmla="*/ 246 h 256"/>
                <a:gd name="T26" fmla="*/ 361 w 517"/>
                <a:gd name="T27" fmla="*/ 234 h 256"/>
                <a:gd name="T28" fmla="*/ 392 w 517"/>
                <a:gd name="T29" fmla="*/ 218 h 256"/>
                <a:gd name="T30" fmla="*/ 422 w 517"/>
                <a:gd name="T31" fmla="*/ 197 h 256"/>
                <a:gd name="T32" fmla="*/ 452 w 517"/>
                <a:gd name="T33" fmla="*/ 171 h 256"/>
                <a:gd name="T34" fmla="*/ 472 w 517"/>
                <a:gd name="T35" fmla="*/ 143 h 256"/>
                <a:gd name="T36" fmla="*/ 492 w 517"/>
                <a:gd name="T37" fmla="*/ 110 h 256"/>
                <a:gd name="T38" fmla="*/ 504 w 517"/>
                <a:gd name="T39" fmla="*/ 75 h 256"/>
                <a:gd name="T40" fmla="*/ 513 w 517"/>
                <a:gd name="T41" fmla="*/ 38 h 256"/>
                <a:gd name="T42" fmla="*/ 516 w 517"/>
                <a:gd name="T43" fmla="*/ 0 h 256"/>
                <a:gd name="T44" fmla="*/ 507 w 517"/>
                <a:gd name="T45" fmla="*/ 26 h 256"/>
                <a:gd name="T46" fmla="*/ 501 w 517"/>
                <a:gd name="T47" fmla="*/ 61 h 256"/>
                <a:gd name="T48" fmla="*/ 489 w 517"/>
                <a:gd name="T49" fmla="*/ 96 h 256"/>
                <a:gd name="T50" fmla="*/ 472 w 517"/>
                <a:gd name="T51" fmla="*/ 128 h 256"/>
                <a:gd name="T52" fmla="*/ 452 w 517"/>
                <a:gd name="T53" fmla="*/ 156 h 256"/>
                <a:gd name="T54" fmla="*/ 425 w 517"/>
                <a:gd name="T55" fmla="*/ 183 h 256"/>
                <a:gd name="T56" fmla="*/ 398 w 517"/>
                <a:gd name="T57" fmla="*/ 203 h 256"/>
                <a:gd name="T58" fmla="*/ 367 w 517"/>
                <a:gd name="T59" fmla="*/ 224 h 256"/>
                <a:gd name="T60" fmla="*/ 334 w 517"/>
                <a:gd name="T61" fmla="*/ 234 h 256"/>
                <a:gd name="T62" fmla="*/ 297 w 517"/>
                <a:gd name="T63" fmla="*/ 243 h 256"/>
                <a:gd name="T64" fmla="*/ 258 w 517"/>
                <a:gd name="T65" fmla="*/ 246 h 256"/>
                <a:gd name="T66" fmla="*/ 219 w 517"/>
                <a:gd name="T67" fmla="*/ 243 h 256"/>
                <a:gd name="T68" fmla="*/ 185 w 517"/>
                <a:gd name="T69" fmla="*/ 234 h 256"/>
                <a:gd name="T70" fmla="*/ 149 w 517"/>
                <a:gd name="T71" fmla="*/ 224 h 256"/>
                <a:gd name="T72" fmla="*/ 121 w 517"/>
                <a:gd name="T73" fmla="*/ 203 h 256"/>
                <a:gd name="T74" fmla="*/ 91 w 517"/>
                <a:gd name="T75" fmla="*/ 183 h 256"/>
                <a:gd name="T76" fmla="*/ 67 w 517"/>
                <a:gd name="T77" fmla="*/ 156 h 256"/>
                <a:gd name="T78" fmla="*/ 44 w 517"/>
                <a:gd name="T79" fmla="*/ 128 h 256"/>
                <a:gd name="T80" fmla="*/ 30 w 517"/>
                <a:gd name="T81" fmla="*/ 96 h 256"/>
                <a:gd name="T82" fmla="*/ 18 w 517"/>
                <a:gd name="T83" fmla="*/ 61 h 256"/>
                <a:gd name="T84" fmla="*/ 9 w 517"/>
                <a:gd name="T85" fmla="*/ 26 h 256"/>
                <a:gd name="T86" fmla="*/ 0 w 517"/>
                <a:gd name="T87" fmla="*/ 0 h 2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17"/>
                <a:gd name="T133" fmla="*/ 0 h 256"/>
                <a:gd name="T134" fmla="*/ 517 w 517"/>
                <a:gd name="T135" fmla="*/ 256 h 2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17" h="2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38"/>
                  </a:lnTo>
                  <a:lnTo>
                    <a:pt x="6" y="53"/>
                  </a:lnTo>
                  <a:lnTo>
                    <a:pt x="9" y="64"/>
                  </a:lnTo>
                  <a:lnTo>
                    <a:pt x="12" y="75"/>
                  </a:lnTo>
                  <a:lnTo>
                    <a:pt x="15" y="87"/>
                  </a:lnTo>
                  <a:lnTo>
                    <a:pt x="21" y="99"/>
                  </a:lnTo>
                  <a:lnTo>
                    <a:pt x="27" y="110"/>
                  </a:lnTo>
                  <a:lnTo>
                    <a:pt x="33" y="122"/>
                  </a:lnTo>
                  <a:lnTo>
                    <a:pt x="39" y="134"/>
                  </a:lnTo>
                  <a:lnTo>
                    <a:pt x="44" y="143"/>
                  </a:lnTo>
                  <a:lnTo>
                    <a:pt x="49" y="153"/>
                  </a:lnTo>
                  <a:lnTo>
                    <a:pt x="58" y="162"/>
                  </a:lnTo>
                  <a:lnTo>
                    <a:pt x="67" y="171"/>
                  </a:lnTo>
                  <a:lnTo>
                    <a:pt x="76" y="180"/>
                  </a:lnTo>
                  <a:lnTo>
                    <a:pt x="85" y="189"/>
                  </a:lnTo>
                  <a:lnTo>
                    <a:pt x="94" y="197"/>
                  </a:lnTo>
                  <a:lnTo>
                    <a:pt x="103" y="206"/>
                  </a:lnTo>
                  <a:lnTo>
                    <a:pt x="115" y="212"/>
                  </a:lnTo>
                  <a:lnTo>
                    <a:pt x="124" y="218"/>
                  </a:lnTo>
                  <a:lnTo>
                    <a:pt x="134" y="227"/>
                  </a:lnTo>
                  <a:lnTo>
                    <a:pt x="146" y="230"/>
                  </a:lnTo>
                  <a:lnTo>
                    <a:pt x="158" y="234"/>
                  </a:lnTo>
                  <a:lnTo>
                    <a:pt x="170" y="240"/>
                  </a:lnTo>
                  <a:lnTo>
                    <a:pt x="182" y="243"/>
                  </a:lnTo>
                  <a:lnTo>
                    <a:pt x="194" y="246"/>
                  </a:lnTo>
                  <a:lnTo>
                    <a:pt x="206" y="249"/>
                  </a:lnTo>
                  <a:lnTo>
                    <a:pt x="219" y="252"/>
                  </a:lnTo>
                  <a:lnTo>
                    <a:pt x="231" y="255"/>
                  </a:lnTo>
                  <a:lnTo>
                    <a:pt x="246" y="255"/>
                  </a:lnTo>
                  <a:lnTo>
                    <a:pt x="258" y="255"/>
                  </a:lnTo>
                  <a:lnTo>
                    <a:pt x="273" y="255"/>
                  </a:lnTo>
                  <a:lnTo>
                    <a:pt x="285" y="255"/>
                  </a:lnTo>
                  <a:lnTo>
                    <a:pt x="299" y="252"/>
                  </a:lnTo>
                  <a:lnTo>
                    <a:pt x="310" y="249"/>
                  </a:lnTo>
                  <a:lnTo>
                    <a:pt x="322" y="246"/>
                  </a:lnTo>
                  <a:lnTo>
                    <a:pt x="334" y="243"/>
                  </a:lnTo>
                  <a:lnTo>
                    <a:pt x="349" y="240"/>
                  </a:lnTo>
                  <a:lnTo>
                    <a:pt x="361" y="234"/>
                  </a:lnTo>
                  <a:lnTo>
                    <a:pt x="373" y="230"/>
                  </a:lnTo>
                  <a:lnTo>
                    <a:pt x="381" y="227"/>
                  </a:lnTo>
                  <a:lnTo>
                    <a:pt x="392" y="218"/>
                  </a:lnTo>
                  <a:lnTo>
                    <a:pt x="401" y="212"/>
                  </a:lnTo>
                  <a:lnTo>
                    <a:pt x="413" y="206"/>
                  </a:lnTo>
                  <a:lnTo>
                    <a:pt x="422" y="197"/>
                  </a:lnTo>
                  <a:lnTo>
                    <a:pt x="434" y="189"/>
                  </a:lnTo>
                  <a:lnTo>
                    <a:pt x="443" y="180"/>
                  </a:lnTo>
                  <a:lnTo>
                    <a:pt x="452" y="171"/>
                  </a:lnTo>
                  <a:lnTo>
                    <a:pt x="458" y="162"/>
                  </a:lnTo>
                  <a:lnTo>
                    <a:pt x="466" y="153"/>
                  </a:lnTo>
                  <a:lnTo>
                    <a:pt x="472" y="143"/>
                  </a:lnTo>
                  <a:lnTo>
                    <a:pt x="480" y="134"/>
                  </a:lnTo>
                  <a:lnTo>
                    <a:pt x="486" y="122"/>
                  </a:lnTo>
                  <a:lnTo>
                    <a:pt x="492" y="110"/>
                  </a:lnTo>
                  <a:lnTo>
                    <a:pt x="495" y="99"/>
                  </a:lnTo>
                  <a:lnTo>
                    <a:pt x="501" y="87"/>
                  </a:lnTo>
                  <a:lnTo>
                    <a:pt x="504" y="75"/>
                  </a:lnTo>
                  <a:lnTo>
                    <a:pt x="510" y="64"/>
                  </a:lnTo>
                  <a:lnTo>
                    <a:pt x="513" y="53"/>
                  </a:lnTo>
                  <a:lnTo>
                    <a:pt x="513" y="38"/>
                  </a:lnTo>
                  <a:lnTo>
                    <a:pt x="516" y="26"/>
                  </a:lnTo>
                  <a:lnTo>
                    <a:pt x="516" y="12"/>
                  </a:lnTo>
                  <a:lnTo>
                    <a:pt x="516" y="0"/>
                  </a:lnTo>
                  <a:lnTo>
                    <a:pt x="507" y="0"/>
                  </a:lnTo>
                  <a:lnTo>
                    <a:pt x="507" y="12"/>
                  </a:lnTo>
                  <a:lnTo>
                    <a:pt x="507" y="26"/>
                  </a:lnTo>
                  <a:lnTo>
                    <a:pt x="504" y="38"/>
                  </a:lnTo>
                  <a:lnTo>
                    <a:pt x="504" y="50"/>
                  </a:lnTo>
                  <a:lnTo>
                    <a:pt x="501" y="61"/>
                  </a:lnTo>
                  <a:lnTo>
                    <a:pt x="495" y="72"/>
                  </a:lnTo>
                  <a:lnTo>
                    <a:pt x="492" y="84"/>
                  </a:lnTo>
                  <a:lnTo>
                    <a:pt x="489" y="96"/>
                  </a:lnTo>
                  <a:lnTo>
                    <a:pt x="483" y="107"/>
                  </a:lnTo>
                  <a:lnTo>
                    <a:pt x="477" y="116"/>
                  </a:lnTo>
                  <a:lnTo>
                    <a:pt x="472" y="128"/>
                  </a:lnTo>
                  <a:lnTo>
                    <a:pt x="466" y="137"/>
                  </a:lnTo>
                  <a:lnTo>
                    <a:pt x="458" y="148"/>
                  </a:lnTo>
                  <a:lnTo>
                    <a:pt x="452" y="156"/>
                  </a:lnTo>
                  <a:lnTo>
                    <a:pt x="443" y="165"/>
                  </a:lnTo>
                  <a:lnTo>
                    <a:pt x="434" y="174"/>
                  </a:lnTo>
                  <a:lnTo>
                    <a:pt x="425" y="183"/>
                  </a:lnTo>
                  <a:lnTo>
                    <a:pt x="416" y="191"/>
                  </a:lnTo>
                  <a:lnTo>
                    <a:pt x="407" y="197"/>
                  </a:lnTo>
                  <a:lnTo>
                    <a:pt x="398" y="203"/>
                  </a:lnTo>
                  <a:lnTo>
                    <a:pt x="387" y="212"/>
                  </a:lnTo>
                  <a:lnTo>
                    <a:pt x="379" y="218"/>
                  </a:lnTo>
                  <a:lnTo>
                    <a:pt x="367" y="224"/>
                  </a:lnTo>
                  <a:lnTo>
                    <a:pt x="355" y="227"/>
                  </a:lnTo>
                  <a:lnTo>
                    <a:pt x="343" y="232"/>
                  </a:lnTo>
                  <a:lnTo>
                    <a:pt x="334" y="234"/>
                  </a:lnTo>
                  <a:lnTo>
                    <a:pt x="319" y="237"/>
                  </a:lnTo>
                  <a:lnTo>
                    <a:pt x="307" y="240"/>
                  </a:lnTo>
                  <a:lnTo>
                    <a:pt x="297" y="243"/>
                  </a:lnTo>
                  <a:lnTo>
                    <a:pt x="285" y="246"/>
                  </a:lnTo>
                  <a:lnTo>
                    <a:pt x="273" y="246"/>
                  </a:lnTo>
                  <a:lnTo>
                    <a:pt x="258" y="246"/>
                  </a:lnTo>
                  <a:lnTo>
                    <a:pt x="246" y="246"/>
                  </a:lnTo>
                  <a:lnTo>
                    <a:pt x="231" y="246"/>
                  </a:lnTo>
                  <a:lnTo>
                    <a:pt x="219" y="243"/>
                  </a:lnTo>
                  <a:lnTo>
                    <a:pt x="209" y="240"/>
                  </a:lnTo>
                  <a:lnTo>
                    <a:pt x="197" y="237"/>
                  </a:lnTo>
                  <a:lnTo>
                    <a:pt x="185" y="234"/>
                  </a:lnTo>
                  <a:lnTo>
                    <a:pt x="173" y="232"/>
                  </a:lnTo>
                  <a:lnTo>
                    <a:pt x="161" y="227"/>
                  </a:lnTo>
                  <a:lnTo>
                    <a:pt x="149" y="224"/>
                  </a:lnTo>
                  <a:lnTo>
                    <a:pt x="140" y="218"/>
                  </a:lnTo>
                  <a:lnTo>
                    <a:pt x="129" y="212"/>
                  </a:lnTo>
                  <a:lnTo>
                    <a:pt x="121" y="203"/>
                  </a:lnTo>
                  <a:lnTo>
                    <a:pt x="109" y="197"/>
                  </a:lnTo>
                  <a:lnTo>
                    <a:pt x="100" y="191"/>
                  </a:lnTo>
                  <a:lnTo>
                    <a:pt x="91" y="183"/>
                  </a:lnTo>
                  <a:lnTo>
                    <a:pt x="82" y="174"/>
                  </a:lnTo>
                  <a:lnTo>
                    <a:pt x="73" y="165"/>
                  </a:lnTo>
                  <a:lnTo>
                    <a:pt x="67" y="156"/>
                  </a:lnTo>
                  <a:lnTo>
                    <a:pt x="58" y="148"/>
                  </a:lnTo>
                  <a:lnTo>
                    <a:pt x="52" y="137"/>
                  </a:lnTo>
                  <a:lnTo>
                    <a:pt x="44" y="128"/>
                  </a:lnTo>
                  <a:lnTo>
                    <a:pt x="39" y="116"/>
                  </a:lnTo>
                  <a:lnTo>
                    <a:pt x="33" y="107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21" y="72"/>
                  </a:lnTo>
                  <a:lnTo>
                    <a:pt x="18" y="61"/>
                  </a:lnTo>
                  <a:lnTo>
                    <a:pt x="15" y="50"/>
                  </a:lnTo>
                  <a:lnTo>
                    <a:pt x="12" y="38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0" name="Freeform 154">
              <a:extLst>
                <a:ext uri="{FF2B5EF4-FFF2-40B4-BE49-F238E27FC236}">
                  <a16:creationId xmlns:a16="http://schemas.microsoft.com/office/drawing/2014/main" id="{D142BF3A-8C41-4878-A9FB-FF6E2B15E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547"/>
              <a:ext cx="499" cy="250"/>
            </a:xfrm>
            <a:custGeom>
              <a:avLst/>
              <a:gdLst>
                <a:gd name="T0" fmla="*/ 0 w 499"/>
                <a:gd name="T1" fmla="*/ 223 h 250"/>
                <a:gd name="T2" fmla="*/ 9 w 499"/>
                <a:gd name="T3" fmla="*/ 188 h 250"/>
                <a:gd name="T4" fmla="*/ 21 w 499"/>
                <a:gd name="T5" fmla="*/ 153 h 250"/>
                <a:gd name="T6" fmla="*/ 36 w 499"/>
                <a:gd name="T7" fmla="*/ 122 h 250"/>
                <a:gd name="T8" fmla="*/ 58 w 499"/>
                <a:gd name="T9" fmla="*/ 93 h 250"/>
                <a:gd name="T10" fmla="*/ 82 w 499"/>
                <a:gd name="T11" fmla="*/ 66 h 250"/>
                <a:gd name="T12" fmla="*/ 112 w 499"/>
                <a:gd name="T13" fmla="*/ 44 h 250"/>
                <a:gd name="T14" fmla="*/ 140 w 499"/>
                <a:gd name="T15" fmla="*/ 26 h 250"/>
                <a:gd name="T16" fmla="*/ 176 w 499"/>
                <a:gd name="T17" fmla="*/ 12 h 250"/>
                <a:gd name="T18" fmla="*/ 210 w 499"/>
                <a:gd name="T19" fmla="*/ 3 h 250"/>
                <a:gd name="T20" fmla="*/ 249 w 499"/>
                <a:gd name="T21" fmla="*/ 0 h 250"/>
                <a:gd name="T22" fmla="*/ 288 w 499"/>
                <a:gd name="T23" fmla="*/ 3 h 250"/>
                <a:gd name="T24" fmla="*/ 325 w 499"/>
                <a:gd name="T25" fmla="*/ 12 h 250"/>
                <a:gd name="T26" fmla="*/ 358 w 499"/>
                <a:gd name="T27" fmla="*/ 26 h 250"/>
                <a:gd name="T28" fmla="*/ 389 w 499"/>
                <a:gd name="T29" fmla="*/ 44 h 250"/>
                <a:gd name="T30" fmla="*/ 416 w 499"/>
                <a:gd name="T31" fmla="*/ 66 h 250"/>
                <a:gd name="T32" fmla="*/ 443 w 499"/>
                <a:gd name="T33" fmla="*/ 93 h 250"/>
                <a:gd name="T34" fmla="*/ 462 w 499"/>
                <a:gd name="T35" fmla="*/ 122 h 250"/>
                <a:gd name="T36" fmla="*/ 480 w 499"/>
                <a:gd name="T37" fmla="*/ 153 h 250"/>
                <a:gd name="T38" fmla="*/ 492 w 499"/>
                <a:gd name="T39" fmla="*/ 188 h 250"/>
                <a:gd name="T40" fmla="*/ 498 w 499"/>
                <a:gd name="T41" fmla="*/ 223 h 250"/>
                <a:gd name="T42" fmla="*/ 489 w 499"/>
                <a:gd name="T43" fmla="*/ 249 h 250"/>
                <a:gd name="T44" fmla="*/ 486 w 499"/>
                <a:gd name="T45" fmla="*/ 212 h 250"/>
                <a:gd name="T46" fmla="*/ 477 w 499"/>
                <a:gd name="T47" fmla="*/ 177 h 250"/>
                <a:gd name="T48" fmla="*/ 465 w 499"/>
                <a:gd name="T49" fmla="*/ 145 h 250"/>
                <a:gd name="T50" fmla="*/ 449 w 499"/>
                <a:gd name="T51" fmla="*/ 116 h 250"/>
                <a:gd name="T52" fmla="*/ 428 w 499"/>
                <a:gd name="T53" fmla="*/ 90 h 250"/>
                <a:gd name="T54" fmla="*/ 401 w 499"/>
                <a:gd name="T55" fmla="*/ 63 h 250"/>
                <a:gd name="T56" fmla="*/ 374 w 499"/>
                <a:gd name="T57" fmla="*/ 47 h 250"/>
                <a:gd name="T58" fmla="*/ 343 w 499"/>
                <a:gd name="T59" fmla="*/ 29 h 250"/>
                <a:gd name="T60" fmla="*/ 310 w 499"/>
                <a:gd name="T61" fmla="*/ 18 h 250"/>
                <a:gd name="T62" fmla="*/ 276 w 499"/>
                <a:gd name="T63" fmla="*/ 12 h 250"/>
                <a:gd name="T64" fmla="*/ 237 w 499"/>
                <a:gd name="T65" fmla="*/ 12 h 250"/>
                <a:gd name="T66" fmla="*/ 203 w 499"/>
                <a:gd name="T67" fmla="*/ 15 h 250"/>
                <a:gd name="T68" fmla="*/ 167 w 499"/>
                <a:gd name="T69" fmla="*/ 26 h 250"/>
                <a:gd name="T70" fmla="*/ 134 w 499"/>
                <a:gd name="T71" fmla="*/ 41 h 250"/>
                <a:gd name="T72" fmla="*/ 106 w 499"/>
                <a:gd name="T73" fmla="*/ 58 h 250"/>
                <a:gd name="T74" fmla="*/ 79 w 499"/>
                <a:gd name="T75" fmla="*/ 81 h 250"/>
                <a:gd name="T76" fmla="*/ 58 w 499"/>
                <a:gd name="T77" fmla="*/ 107 h 250"/>
                <a:gd name="T78" fmla="*/ 38 w 499"/>
                <a:gd name="T79" fmla="*/ 136 h 250"/>
                <a:gd name="T80" fmla="*/ 24 w 499"/>
                <a:gd name="T81" fmla="*/ 168 h 250"/>
                <a:gd name="T82" fmla="*/ 15 w 499"/>
                <a:gd name="T83" fmla="*/ 200 h 250"/>
                <a:gd name="T84" fmla="*/ 9 w 499"/>
                <a:gd name="T85" fmla="*/ 237 h 2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99"/>
                <a:gd name="T130" fmla="*/ 0 h 250"/>
                <a:gd name="T131" fmla="*/ 499 w 499"/>
                <a:gd name="T132" fmla="*/ 250 h 2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99" h="250">
                  <a:moveTo>
                    <a:pt x="0" y="249"/>
                  </a:moveTo>
                  <a:lnTo>
                    <a:pt x="0" y="234"/>
                  </a:lnTo>
                  <a:lnTo>
                    <a:pt x="0" y="223"/>
                  </a:lnTo>
                  <a:lnTo>
                    <a:pt x="3" y="212"/>
                  </a:lnTo>
                  <a:lnTo>
                    <a:pt x="6" y="200"/>
                  </a:lnTo>
                  <a:lnTo>
                    <a:pt x="9" y="188"/>
                  </a:lnTo>
                  <a:lnTo>
                    <a:pt x="12" y="174"/>
                  </a:lnTo>
                  <a:lnTo>
                    <a:pt x="15" y="162"/>
                  </a:lnTo>
                  <a:lnTo>
                    <a:pt x="21" y="153"/>
                  </a:lnTo>
                  <a:lnTo>
                    <a:pt x="24" y="142"/>
                  </a:lnTo>
                  <a:lnTo>
                    <a:pt x="30" y="131"/>
                  </a:lnTo>
                  <a:lnTo>
                    <a:pt x="36" y="122"/>
                  </a:lnTo>
                  <a:lnTo>
                    <a:pt x="43" y="110"/>
                  </a:lnTo>
                  <a:lnTo>
                    <a:pt x="49" y="102"/>
                  </a:lnTo>
                  <a:lnTo>
                    <a:pt x="58" y="93"/>
                  </a:lnTo>
                  <a:lnTo>
                    <a:pt x="64" y="81"/>
                  </a:lnTo>
                  <a:lnTo>
                    <a:pt x="73" y="72"/>
                  </a:lnTo>
                  <a:lnTo>
                    <a:pt x="82" y="66"/>
                  </a:lnTo>
                  <a:lnTo>
                    <a:pt x="91" y="58"/>
                  </a:lnTo>
                  <a:lnTo>
                    <a:pt x="100" y="50"/>
                  </a:lnTo>
                  <a:lnTo>
                    <a:pt x="112" y="44"/>
                  </a:lnTo>
                  <a:lnTo>
                    <a:pt x="121" y="38"/>
                  </a:lnTo>
                  <a:lnTo>
                    <a:pt x="131" y="32"/>
                  </a:lnTo>
                  <a:lnTo>
                    <a:pt x="140" y="26"/>
                  </a:lnTo>
                  <a:lnTo>
                    <a:pt x="152" y="21"/>
                  </a:lnTo>
                  <a:lnTo>
                    <a:pt x="164" y="18"/>
                  </a:lnTo>
                  <a:lnTo>
                    <a:pt x="176" y="12"/>
                  </a:lnTo>
                  <a:lnTo>
                    <a:pt x="188" y="9"/>
                  </a:lnTo>
                  <a:lnTo>
                    <a:pt x="200" y="6"/>
                  </a:lnTo>
                  <a:lnTo>
                    <a:pt x="210" y="3"/>
                  </a:lnTo>
                  <a:lnTo>
                    <a:pt x="222" y="3"/>
                  </a:lnTo>
                  <a:lnTo>
                    <a:pt x="237" y="3"/>
                  </a:lnTo>
                  <a:lnTo>
                    <a:pt x="249" y="0"/>
                  </a:lnTo>
                  <a:lnTo>
                    <a:pt x="264" y="3"/>
                  </a:lnTo>
                  <a:lnTo>
                    <a:pt x="276" y="3"/>
                  </a:lnTo>
                  <a:lnTo>
                    <a:pt x="288" y="3"/>
                  </a:lnTo>
                  <a:lnTo>
                    <a:pt x="298" y="6"/>
                  </a:lnTo>
                  <a:lnTo>
                    <a:pt x="310" y="9"/>
                  </a:lnTo>
                  <a:lnTo>
                    <a:pt x="325" y="12"/>
                  </a:lnTo>
                  <a:lnTo>
                    <a:pt x="334" y="18"/>
                  </a:lnTo>
                  <a:lnTo>
                    <a:pt x="346" y="21"/>
                  </a:lnTo>
                  <a:lnTo>
                    <a:pt x="358" y="26"/>
                  </a:lnTo>
                  <a:lnTo>
                    <a:pt x="370" y="32"/>
                  </a:lnTo>
                  <a:lnTo>
                    <a:pt x="377" y="38"/>
                  </a:lnTo>
                  <a:lnTo>
                    <a:pt x="389" y="44"/>
                  </a:lnTo>
                  <a:lnTo>
                    <a:pt x="398" y="50"/>
                  </a:lnTo>
                  <a:lnTo>
                    <a:pt x="407" y="58"/>
                  </a:lnTo>
                  <a:lnTo>
                    <a:pt x="416" y="66"/>
                  </a:lnTo>
                  <a:lnTo>
                    <a:pt x="425" y="72"/>
                  </a:lnTo>
                  <a:lnTo>
                    <a:pt x="434" y="81"/>
                  </a:lnTo>
                  <a:lnTo>
                    <a:pt x="443" y="93"/>
                  </a:lnTo>
                  <a:lnTo>
                    <a:pt x="449" y="102"/>
                  </a:lnTo>
                  <a:lnTo>
                    <a:pt x="457" y="110"/>
                  </a:lnTo>
                  <a:lnTo>
                    <a:pt x="462" y="122"/>
                  </a:lnTo>
                  <a:lnTo>
                    <a:pt x="468" y="131"/>
                  </a:lnTo>
                  <a:lnTo>
                    <a:pt x="474" y="142"/>
                  </a:lnTo>
                  <a:lnTo>
                    <a:pt x="480" y="153"/>
                  </a:lnTo>
                  <a:lnTo>
                    <a:pt x="483" y="162"/>
                  </a:lnTo>
                  <a:lnTo>
                    <a:pt x="486" y="174"/>
                  </a:lnTo>
                  <a:lnTo>
                    <a:pt x="492" y="188"/>
                  </a:lnTo>
                  <a:lnTo>
                    <a:pt x="495" y="200"/>
                  </a:lnTo>
                  <a:lnTo>
                    <a:pt x="495" y="212"/>
                  </a:lnTo>
                  <a:lnTo>
                    <a:pt x="498" y="223"/>
                  </a:lnTo>
                  <a:lnTo>
                    <a:pt x="498" y="234"/>
                  </a:lnTo>
                  <a:lnTo>
                    <a:pt x="498" y="249"/>
                  </a:lnTo>
                  <a:lnTo>
                    <a:pt x="489" y="249"/>
                  </a:lnTo>
                  <a:lnTo>
                    <a:pt x="489" y="237"/>
                  </a:lnTo>
                  <a:lnTo>
                    <a:pt x="489" y="223"/>
                  </a:lnTo>
                  <a:lnTo>
                    <a:pt x="486" y="212"/>
                  </a:lnTo>
                  <a:lnTo>
                    <a:pt x="483" y="200"/>
                  </a:lnTo>
                  <a:lnTo>
                    <a:pt x="480" y="188"/>
                  </a:lnTo>
                  <a:lnTo>
                    <a:pt x="477" y="177"/>
                  </a:lnTo>
                  <a:lnTo>
                    <a:pt x="474" y="168"/>
                  </a:lnTo>
                  <a:lnTo>
                    <a:pt x="471" y="156"/>
                  </a:lnTo>
                  <a:lnTo>
                    <a:pt x="465" y="145"/>
                  </a:lnTo>
                  <a:lnTo>
                    <a:pt x="459" y="136"/>
                  </a:lnTo>
                  <a:lnTo>
                    <a:pt x="454" y="125"/>
                  </a:lnTo>
                  <a:lnTo>
                    <a:pt x="449" y="116"/>
                  </a:lnTo>
                  <a:lnTo>
                    <a:pt x="443" y="107"/>
                  </a:lnTo>
                  <a:lnTo>
                    <a:pt x="434" y="99"/>
                  </a:lnTo>
                  <a:lnTo>
                    <a:pt x="428" y="90"/>
                  </a:lnTo>
                  <a:lnTo>
                    <a:pt x="419" y="81"/>
                  </a:lnTo>
                  <a:lnTo>
                    <a:pt x="410" y="72"/>
                  </a:lnTo>
                  <a:lnTo>
                    <a:pt x="401" y="63"/>
                  </a:lnTo>
                  <a:lnTo>
                    <a:pt x="392" y="58"/>
                  </a:lnTo>
                  <a:lnTo>
                    <a:pt x="383" y="52"/>
                  </a:lnTo>
                  <a:lnTo>
                    <a:pt x="374" y="47"/>
                  </a:lnTo>
                  <a:lnTo>
                    <a:pt x="364" y="41"/>
                  </a:lnTo>
                  <a:lnTo>
                    <a:pt x="355" y="35"/>
                  </a:lnTo>
                  <a:lnTo>
                    <a:pt x="343" y="29"/>
                  </a:lnTo>
                  <a:lnTo>
                    <a:pt x="331" y="26"/>
                  </a:lnTo>
                  <a:lnTo>
                    <a:pt x="322" y="21"/>
                  </a:lnTo>
                  <a:lnTo>
                    <a:pt x="310" y="18"/>
                  </a:lnTo>
                  <a:lnTo>
                    <a:pt x="298" y="15"/>
                  </a:lnTo>
                  <a:lnTo>
                    <a:pt x="288" y="15"/>
                  </a:lnTo>
                  <a:lnTo>
                    <a:pt x="276" y="12"/>
                  </a:lnTo>
                  <a:lnTo>
                    <a:pt x="261" y="12"/>
                  </a:lnTo>
                  <a:lnTo>
                    <a:pt x="249" y="12"/>
                  </a:lnTo>
                  <a:lnTo>
                    <a:pt x="237" y="12"/>
                  </a:lnTo>
                  <a:lnTo>
                    <a:pt x="225" y="12"/>
                  </a:lnTo>
                  <a:lnTo>
                    <a:pt x="213" y="15"/>
                  </a:lnTo>
                  <a:lnTo>
                    <a:pt x="203" y="15"/>
                  </a:lnTo>
                  <a:lnTo>
                    <a:pt x="191" y="18"/>
                  </a:lnTo>
                  <a:lnTo>
                    <a:pt x="179" y="21"/>
                  </a:lnTo>
                  <a:lnTo>
                    <a:pt x="167" y="26"/>
                  </a:lnTo>
                  <a:lnTo>
                    <a:pt x="155" y="29"/>
                  </a:lnTo>
                  <a:lnTo>
                    <a:pt x="146" y="35"/>
                  </a:lnTo>
                  <a:lnTo>
                    <a:pt x="134" y="41"/>
                  </a:lnTo>
                  <a:lnTo>
                    <a:pt x="125" y="47"/>
                  </a:lnTo>
                  <a:lnTo>
                    <a:pt x="115" y="52"/>
                  </a:lnTo>
                  <a:lnTo>
                    <a:pt x="106" y="58"/>
                  </a:lnTo>
                  <a:lnTo>
                    <a:pt x="97" y="63"/>
                  </a:lnTo>
                  <a:lnTo>
                    <a:pt x="88" y="72"/>
                  </a:lnTo>
                  <a:lnTo>
                    <a:pt x="79" y="81"/>
                  </a:lnTo>
                  <a:lnTo>
                    <a:pt x="73" y="90"/>
                  </a:lnTo>
                  <a:lnTo>
                    <a:pt x="64" y="99"/>
                  </a:lnTo>
                  <a:lnTo>
                    <a:pt x="58" y="107"/>
                  </a:lnTo>
                  <a:lnTo>
                    <a:pt x="49" y="116"/>
                  </a:lnTo>
                  <a:lnTo>
                    <a:pt x="43" y="125"/>
                  </a:lnTo>
                  <a:lnTo>
                    <a:pt x="38" y="136"/>
                  </a:lnTo>
                  <a:lnTo>
                    <a:pt x="33" y="145"/>
                  </a:lnTo>
                  <a:lnTo>
                    <a:pt x="30" y="156"/>
                  </a:lnTo>
                  <a:lnTo>
                    <a:pt x="24" y="168"/>
                  </a:lnTo>
                  <a:lnTo>
                    <a:pt x="21" y="177"/>
                  </a:lnTo>
                  <a:lnTo>
                    <a:pt x="18" y="188"/>
                  </a:lnTo>
                  <a:lnTo>
                    <a:pt x="15" y="200"/>
                  </a:lnTo>
                  <a:lnTo>
                    <a:pt x="12" y="212"/>
                  </a:lnTo>
                  <a:lnTo>
                    <a:pt x="12" y="223"/>
                  </a:lnTo>
                  <a:lnTo>
                    <a:pt x="9" y="237"/>
                  </a:lnTo>
                  <a:lnTo>
                    <a:pt x="9" y="249"/>
                  </a:lnTo>
                  <a:lnTo>
                    <a:pt x="0" y="249"/>
                  </a:lnTo>
                </a:path>
              </a:pathLst>
            </a:custGeom>
            <a:solidFill>
              <a:srgbClr val="FFB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1" name="Freeform 155">
              <a:extLst>
                <a:ext uri="{FF2B5EF4-FFF2-40B4-BE49-F238E27FC236}">
                  <a16:creationId xmlns:a16="http://schemas.microsoft.com/office/drawing/2014/main" id="{318FAD60-F25F-4550-BC5D-0C3F9C893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802"/>
              <a:ext cx="499" cy="247"/>
            </a:xfrm>
            <a:custGeom>
              <a:avLst/>
              <a:gdLst>
                <a:gd name="T0" fmla="*/ 0 w 499"/>
                <a:gd name="T1" fmla="*/ 12 h 247"/>
                <a:gd name="T2" fmla="*/ 6 w 499"/>
                <a:gd name="T3" fmla="*/ 50 h 247"/>
                <a:gd name="T4" fmla="*/ 15 w 499"/>
                <a:gd name="T5" fmla="*/ 84 h 247"/>
                <a:gd name="T6" fmla="*/ 30 w 499"/>
                <a:gd name="T7" fmla="*/ 116 h 247"/>
                <a:gd name="T8" fmla="*/ 49 w 499"/>
                <a:gd name="T9" fmla="*/ 147 h 247"/>
                <a:gd name="T10" fmla="*/ 73 w 499"/>
                <a:gd name="T11" fmla="*/ 174 h 247"/>
                <a:gd name="T12" fmla="*/ 100 w 499"/>
                <a:gd name="T13" fmla="*/ 197 h 247"/>
                <a:gd name="T14" fmla="*/ 131 w 499"/>
                <a:gd name="T15" fmla="*/ 218 h 247"/>
                <a:gd name="T16" fmla="*/ 164 w 499"/>
                <a:gd name="T17" fmla="*/ 231 h 247"/>
                <a:gd name="T18" fmla="*/ 200 w 499"/>
                <a:gd name="T19" fmla="*/ 240 h 247"/>
                <a:gd name="T20" fmla="*/ 237 w 499"/>
                <a:gd name="T21" fmla="*/ 246 h 247"/>
                <a:gd name="T22" fmla="*/ 276 w 499"/>
                <a:gd name="T23" fmla="*/ 246 h 247"/>
                <a:gd name="T24" fmla="*/ 310 w 499"/>
                <a:gd name="T25" fmla="*/ 237 h 247"/>
                <a:gd name="T26" fmla="*/ 346 w 499"/>
                <a:gd name="T27" fmla="*/ 226 h 247"/>
                <a:gd name="T28" fmla="*/ 377 w 499"/>
                <a:gd name="T29" fmla="*/ 212 h 247"/>
                <a:gd name="T30" fmla="*/ 407 w 499"/>
                <a:gd name="T31" fmla="*/ 191 h 247"/>
                <a:gd name="T32" fmla="*/ 434 w 499"/>
                <a:gd name="T33" fmla="*/ 165 h 247"/>
                <a:gd name="T34" fmla="*/ 457 w 499"/>
                <a:gd name="T35" fmla="*/ 137 h 247"/>
                <a:gd name="T36" fmla="*/ 474 w 499"/>
                <a:gd name="T37" fmla="*/ 107 h 247"/>
                <a:gd name="T38" fmla="*/ 486 w 499"/>
                <a:gd name="T39" fmla="*/ 72 h 247"/>
                <a:gd name="T40" fmla="*/ 495 w 499"/>
                <a:gd name="T41" fmla="*/ 38 h 247"/>
                <a:gd name="T42" fmla="*/ 498 w 499"/>
                <a:gd name="T43" fmla="*/ 0 h 247"/>
                <a:gd name="T44" fmla="*/ 489 w 499"/>
                <a:gd name="T45" fmla="*/ 23 h 247"/>
                <a:gd name="T46" fmla="*/ 480 w 499"/>
                <a:gd name="T47" fmla="*/ 58 h 247"/>
                <a:gd name="T48" fmla="*/ 471 w 499"/>
                <a:gd name="T49" fmla="*/ 93 h 247"/>
                <a:gd name="T50" fmla="*/ 454 w 499"/>
                <a:gd name="T51" fmla="*/ 122 h 247"/>
                <a:gd name="T52" fmla="*/ 434 w 499"/>
                <a:gd name="T53" fmla="*/ 150 h 247"/>
                <a:gd name="T54" fmla="*/ 410 w 499"/>
                <a:gd name="T55" fmla="*/ 174 h 247"/>
                <a:gd name="T56" fmla="*/ 383 w 499"/>
                <a:gd name="T57" fmla="*/ 197 h 247"/>
                <a:gd name="T58" fmla="*/ 355 w 499"/>
                <a:gd name="T59" fmla="*/ 215 h 247"/>
                <a:gd name="T60" fmla="*/ 322 w 499"/>
                <a:gd name="T61" fmla="*/ 226 h 247"/>
                <a:gd name="T62" fmla="*/ 288 w 499"/>
                <a:gd name="T63" fmla="*/ 234 h 247"/>
                <a:gd name="T64" fmla="*/ 249 w 499"/>
                <a:gd name="T65" fmla="*/ 237 h 247"/>
                <a:gd name="T66" fmla="*/ 213 w 499"/>
                <a:gd name="T67" fmla="*/ 234 h 247"/>
                <a:gd name="T68" fmla="*/ 179 w 499"/>
                <a:gd name="T69" fmla="*/ 226 h 247"/>
                <a:gd name="T70" fmla="*/ 146 w 499"/>
                <a:gd name="T71" fmla="*/ 215 h 247"/>
                <a:gd name="T72" fmla="*/ 115 w 499"/>
                <a:gd name="T73" fmla="*/ 197 h 247"/>
                <a:gd name="T74" fmla="*/ 88 w 499"/>
                <a:gd name="T75" fmla="*/ 174 h 247"/>
                <a:gd name="T76" fmla="*/ 64 w 499"/>
                <a:gd name="T77" fmla="*/ 150 h 247"/>
                <a:gd name="T78" fmla="*/ 43 w 499"/>
                <a:gd name="T79" fmla="*/ 122 h 247"/>
                <a:gd name="T80" fmla="*/ 30 w 499"/>
                <a:gd name="T81" fmla="*/ 93 h 247"/>
                <a:gd name="T82" fmla="*/ 18 w 499"/>
                <a:gd name="T83" fmla="*/ 58 h 247"/>
                <a:gd name="T84" fmla="*/ 12 w 499"/>
                <a:gd name="T85" fmla="*/ 23 h 247"/>
                <a:gd name="T86" fmla="*/ 0 w 499"/>
                <a:gd name="T87" fmla="*/ 0 h 24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99"/>
                <a:gd name="T133" fmla="*/ 0 h 247"/>
                <a:gd name="T134" fmla="*/ 499 w 499"/>
                <a:gd name="T135" fmla="*/ 247 h 24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99" h="247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38"/>
                  </a:lnTo>
                  <a:lnTo>
                    <a:pt x="6" y="50"/>
                  </a:lnTo>
                  <a:lnTo>
                    <a:pt x="9" y="61"/>
                  </a:lnTo>
                  <a:lnTo>
                    <a:pt x="12" y="72"/>
                  </a:lnTo>
                  <a:lnTo>
                    <a:pt x="15" y="84"/>
                  </a:lnTo>
                  <a:lnTo>
                    <a:pt x="21" y="96"/>
                  </a:lnTo>
                  <a:lnTo>
                    <a:pt x="24" y="107"/>
                  </a:lnTo>
                  <a:lnTo>
                    <a:pt x="30" y="116"/>
                  </a:lnTo>
                  <a:lnTo>
                    <a:pt x="36" y="128"/>
                  </a:lnTo>
                  <a:lnTo>
                    <a:pt x="43" y="137"/>
                  </a:lnTo>
                  <a:lnTo>
                    <a:pt x="49" y="147"/>
                  </a:lnTo>
                  <a:lnTo>
                    <a:pt x="58" y="156"/>
                  </a:lnTo>
                  <a:lnTo>
                    <a:pt x="64" y="165"/>
                  </a:lnTo>
                  <a:lnTo>
                    <a:pt x="73" y="174"/>
                  </a:lnTo>
                  <a:lnTo>
                    <a:pt x="82" y="183"/>
                  </a:lnTo>
                  <a:lnTo>
                    <a:pt x="91" y="191"/>
                  </a:lnTo>
                  <a:lnTo>
                    <a:pt x="100" y="197"/>
                  </a:lnTo>
                  <a:lnTo>
                    <a:pt x="112" y="203"/>
                  </a:lnTo>
                  <a:lnTo>
                    <a:pt x="121" y="212"/>
                  </a:lnTo>
                  <a:lnTo>
                    <a:pt x="131" y="218"/>
                  </a:lnTo>
                  <a:lnTo>
                    <a:pt x="140" y="224"/>
                  </a:lnTo>
                  <a:lnTo>
                    <a:pt x="152" y="226"/>
                  </a:lnTo>
                  <a:lnTo>
                    <a:pt x="164" y="231"/>
                  </a:lnTo>
                  <a:lnTo>
                    <a:pt x="176" y="234"/>
                  </a:lnTo>
                  <a:lnTo>
                    <a:pt x="188" y="237"/>
                  </a:lnTo>
                  <a:lnTo>
                    <a:pt x="200" y="240"/>
                  </a:lnTo>
                  <a:lnTo>
                    <a:pt x="210" y="243"/>
                  </a:lnTo>
                  <a:lnTo>
                    <a:pt x="222" y="246"/>
                  </a:lnTo>
                  <a:lnTo>
                    <a:pt x="237" y="246"/>
                  </a:lnTo>
                  <a:lnTo>
                    <a:pt x="249" y="246"/>
                  </a:lnTo>
                  <a:lnTo>
                    <a:pt x="264" y="246"/>
                  </a:lnTo>
                  <a:lnTo>
                    <a:pt x="276" y="246"/>
                  </a:lnTo>
                  <a:lnTo>
                    <a:pt x="288" y="243"/>
                  </a:lnTo>
                  <a:lnTo>
                    <a:pt x="298" y="240"/>
                  </a:lnTo>
                  <a:lnTo>
                    <a:pt x="310" y="237"/>
                  </a:lnTo>
                  <a:lnTo>
                    <a:pt x="325" y="234"/>
                  </a:lnTo>
                  <a:lnTo>
                    <a:pt x="334" y="231"/>
                  </a:lnTo>
                  <a:lnTo>
                    <a:pt x="346" y="226"/>
                  </a:lnTo>
                  <a:lnTo>
                    <a:pt x="358" y="224"/>
                  </a:lnTo>
                  <a:lnTo>
                    <a:pt x="370" y="218"/>
                  </a:lnTo>
                  <a:lnTo>
                    <a:pt x="377" y="212"/>
                  </a:lnTo>
                  <a:lnTo>
                    <a:pt x="389" y="203"/>
                  </a:lnTo>
                  <a:lnTo>
                    <a:pt x="398" y="197"/>
                  </a:lnTo>
                  <a:lnTo>
                    <a:pt x="407" y="191"/>
                  </a:lnTo>
                  <a:lnTo>
                    <a:pt x="416" y="183"/>
                  </a:lnTo>
                  <a:lnTo>
                    <a:pt x="425" y="174"/>
                  </a:lnTo>
                  <a:lnTo>
                    <a:pt x="434" y="165"/>
                  </a:lnTo>
                  <a:lnTo>
                    <a:pt x="443" y="156"/>
                  </a:lnTo>
                  <a:lnTo>
                    <a:pt x="449" y="147"/>
                  </a:lnTo>
                  <a:lnTo>
                    <a:pt x="457" y="137"/>
                  </a:lnTo>
                  <a:lnTo>
                    <a:pt x="462" y="128"/>
                  </a:lnTo>
                  <a:lnTo>
                    <a:pt x="468" y="116"/>
                  </a:lnTo>
                  <a:lnTo>
                    <a:pt x="474" y="107"/>
                  </a:lnTo>
                  <a:lnTo>
                    <a:pt x="480" y="96"/>
                  </a:lnTo>
                  <a:lnTo>
                    <a:pt x="483" y="84"/>
                  </a:lnTo>
                  <a:lnTo>
                    <a:pt x="486" y="72"/>
                  </a:lnTo>
                  <a:lnTo>
                    <a:pt x="492" y="61"/>
                  </a:lnTo>
                  <a:lnTo>
                    <a:pt x="495" y="50"/>
                  </a:lnTo>
                  <a:lnTo>
                    <a:pt x="495" y="38"/>
                  </a:lnTo>
                  <a:lnTo>
                    <a:pt x="498" y="26"/>
                  </a:lnTo>
                  <a:lnTo>
                    <a:pt x="498" y="12"/>
                  </a:lnTo>
                  <a:lnTo>
                    <a:pt x="498" y="0"/>
                  </a:lnTo>
                  <a:lnTo>
                    <a:pt x="489" y="0"/>
                  </a:lnTo>
                  <a:lnTo>
                    <a:pt x="489" y="12"/>
                  </a:lnTo>
                  <a:lnTo>
                    <a:pt x="489" y="23"/>
                  </a:lnTo>
                  <a:lnTo>
                    <a:pt x="486" y="35"/>
                  </a:lnTo>
                  <a:lnTo>
                    <a:pt x="483" y="47"/>
                  </a:lnTo>
                  <a:lnTo>
                    <a:pt x="480" y="58"/>
                  </a:lnTo>
                  <a:lnTo>
                    <a:pt x="477" y="69"/>
                  </a:lnTo>
                  <a:lnTo>
                    <a:pt x="474" y="81"/>
                  </a:lnTo>
                  <a:lnTo>
                    <a:pt x="471" y="93"/>
                  </a:lnTo>
                  <a:lnTo>
                    <a:pt x="465" y="102"/>
                  </a:lnTo>
                  <a:lnTo>
                    <a:pt x="459" y="113"/>
                  </a:lnTo>
                  <a:lnTo>
                    <a:pt x="454" y="122"/>
                  </a:lnTo>
                  <a:lnTo>
                    <a:pt x="449" y="134"/>
                  </a:lnTo>
                  <a:lnTo>
                    <a:pt x="443" y="143"/>
                  </a:lnTo>
                  <a:lnTo>
                    <a:pt x="434" y="150"/>
                  </a:lnTo>
                  <a:lnTo>
                    <a:pt x="428" y="159"/>
                  </a:lnTo>
                  <a:lnTo>
                    <a:pt x="419" y="168"/>
                  </a:lnTo>
                  <a:lnTo>
                    <a:pt x="410" y="174"/>
                  </a:lnTo>
                  <a:lnTo>
                    <a:pt x="401" y="183"/>
                  </a:lnTo>
                  <a:lnTo>
                    <a:pt x="392" y="191"/>
                  </a:lnTo>
                  <a:lnTo>
                    <a:pt x="383" y="197"/>
                  </a:lnTo>
                  <a:lnTo>
                    <a:pt x="374" y="203"/>
                  </a:lnTo>
                  <a:lnTo>
                    <a:pt x="364" y="209"/>
                  </a:lnTo>
                  <a:lnTo>
                    <a:pt x="355" y="215"/>
                  </a:lnTo>
                  <a:lnTo>
                    <a:pt x="343" y="218"/>
                  </a:lnTo>
                  <a:lnTo>
                    <a:pt x="331" y="224"/>
                  </a:lnTo>
                  <a:lnTo>
                    <a:pt x="322" y="226"/>
                  </a:lnTo>
                  <a:lnTo>
                    <a:pt x="310" y="229"/>
                  </a:lnTo>
                  <a:lnTo>
                    <a:pt x="298" y="231"/>
                  </a:lnTo>
                  <a:lnTo>
                    <a:pt x="288" y="234"/>
                  </a:lnTo>
                  <a:lnTo>
                    <a:pt x="276" y="234"/>
                  </a:lnTo>
                  <a:lnTo>
                    <a:pt x="261" y="237"/>
                  </a:lnTo>
                  <a:lnTo>
                    <a:pt x="249" y="237"/>
                  </a:lnTo>
                  <a:lnTo>
                    <a:pt x="237" y="237"/>
                  </a:lnTo>
                  <a:lnTo>
                    <a:pt x="225" y="234"/>
                  </a:lnTo>
                  <a:lnTo>
                    <a:pt x="213" y="234"/>
                  </a:lnTo>
                  <a:lnTo>
                    <a:pt x="203" y="231"/>
                  </a:lnTo>
                  <a:lnTo>
                    <a:pt x="191" y="229"/>
                  </a:lnTo>
                  <a:lnTo>
                    <a:pt x="179" y="226"/>
                  </a:lnTo>
                  <a:lnTo>
                    <a:pt x="167" y="224"/>
                  </a:lnTo>
                  <a:lnTo>
                    <a:pt x="155" y="218"/>
                  </a:lnTo>
                  <a:lnTo>
                    <a:pt x="146" y="215"/>
                  </a:lnTo>
                  <a:lnTo>
                    <a:pt x="134" y="209"/>
                  </a:lnTo>
                  <a:lnTo>
                    <a:pt x="125" y="203"/>
                  </a:lnTo>
                  <a:lnTo>
                    <a:pt x="115" y="197"/>
                  </a:lnTo>
                  <a:lnTo>
                    <a:pt x="106" y="191"/>
                  </a:lnTo>
                  <a:lnTo>
                    <a:pt x="97" y="183"/>
                  </a:lnTo>
                  <a:lnTo>
                    <a:pt x="88" y="174"/>
                  </a:lnTo>
                  <a:lnTo>
                    <a:pt x="79" y="168"/>
                  </a:lnTo>
                  <a:lnTo>
                    <a:pt x="73" y="159"/>
                  </a:lnTo>
                  <a:lnTo>
                    <a:pt x="64" y="150"/>
                  </a:lnTo>
                  <a:lnTo>
                    <a:pt x="58" y="143"/>
                  </a:lnTo>
                  <a:lnTo>
                    <a:pt x="49" y="134"/>
                  </a:lnTo>
                  <a:lnTo>
                    <a:pt x="43" y="122"/>
                  </a:lnTo>
                  <a:lnTo>
                    <a:pt x="38" y="113"/>
                  </a:lnTo>
                  <a:lnTo>
                    <a:pt x="33" y="102"/>
                  </a:lnTo>
                  <a:lnTo>
                    <a:pt x="30" y="93"/>
                  </a:lnTo>
                  <a:lnTo>
                    <a:pt x="24" y="81"/>
                  </a:lnTo>
                  <a:lnTo>
                    <a:pt x="21" y="69"/>
                  </a:lnTo>
                  <a:lnTo>
                    <a:pt x="18" y="58"/>
                  </a:lnTo>
                  <a:lnTo>
                    <a:pt x="15" y="47"/>
                  </a:lnTo>
                  <a:lnTo>
                    <a:pt x="12" y="35"/>
                  </a:lnTo>
                  <a:lnTo>
                    <a:pt x="12" y="23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2" name="Freeform 156">
              <a:extLst>
                <a:ext uri="{FF2B5EF4-FFF2-40B4-BE49-F238E27FC236}">
                  <a16:creationId xmlns:a16="http://schemas.microsoft.com/office/drawing/2014/main" id="{491698C9-9237-4E6A-9FC6-377C16169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0" y="3559"/>
              <a:ext cx="481" cy="238"/>
            </a:xfrm>
            <a:custGeom>
              <a:avLst/>
              <a:gdLst>
                <a:gd name="T0" fmla="*/ 3 w 481"/>
                <a:gd name="T1" fmla="*/ 211 h 238"/>
                <a:gd name="T2" fmla="*/ 9 w 481"/>
                <a:gd name="T3" fmla="*/ 177 h 238"/>
                <a:gd name="T4" fmla="*/ 21 w 481"/>
                <a:gd name="T5" fmla="*/ 144 h 238"/>
                <a:gd name="T6" fmla="*/ 35 w 481"/>
                <a:gd name="T7" fmla="*/ 113 h 238"/>
                <a:gd name="T8" fmla="*/ 55 w 481"/>
                <a:gd name="T9" fmla="*/ 87 h 238"/>
                <a:gd name="T10" fmla="*/ 79 w 481"/>
                <a:gd name="T11" fmla="*/ 60 h 238"/>
                <a:gd name="T12" fmla="*/ 106 w 481"/>
                <a:gd name="T13" fmla="*/ 40 h 238"/>
                <a:gd name="T14" fmla="*/ 137 w 481"/>
                <a:gd name="T15" fmla="*/ 23 h 238"/>
                <a:gd name="T16" fmla="*/ 170 w 481"/>
                <a:gd name="T17" fmla="*/ 9 h 238"/>
                <a:gd name="T18" fmla="*/ 204 w 481"/>
                <a:gd name="T19" fmla="*/ 3 h 238"/>
                <a:gd name="T20" fmla="*/ 240 w 481"/>
                <a:gd name="T21" fmla="*/ 0 h 238"/>
                <a:gd name="T22" fmla="*/ 279 w 481"/>
                <a:gd name="T23" fmla="*/ 3 h 238"/>
                <a:gd name="T24" fmla="*/ 313 w 481"/>
                <a:gd name="T25" fmla="*/ 9 h 238"/>
                <a:gd name="T26" fmla="*/ 346 w 481"/>
                <a:gd name="T27" fmla="*/ 23 h 238"/>
                <a:gd name="T28" fmla="*/ 374 w 481"/>
                <a:gd name="T29" fmla="*/ 40 h 238"/>
                <a:gd name="T30" fmla="*/ 401 w 481"/>
                <a:gd name="T31" fmla="*/ 60 h 238"/>
                <a:gd name="T32" fmla="*/ 425 w 481"/>
                <a:gd name="T33" fmla="*/ 87 h 238"/>
                <a:gd name="T34" fmla="*/ 444 w 481"/>
                <a:gd name="T35" fmla="*/ 113 h 238"/>
                <a:gd name="T36" fmla="*/ 462 w 481"/>
                <a:gd name="T37" fmla="*/ 144 h 238"/>
                <a:gd name="T38" fmla="*/ 471 w 481"/>
                <a:gd name="T39" fmla="*/ 177 h 238"/>
                <a:gd name="T40" fmla="*/ 480 w 481"/>
                <a:gd name="T41" fmla="*/ 211 h 238"/>
                <a:gd name="T42" fmla="*/ 471 w 481"/>
                <a:gd name="T43" fmla="*/ 237 h 238"/>
                <a:gd name="T44" fmla="*/ 468 w 481"/>
                <a:gd name="T45" fmla="*/ 203 h 238"/>
                <a:gd name="T46" fmla="*/ 459 w 481"/>
                <a:gd name="T47" fmla="*/ 168 h 238"/>
                <a:gd name="T48" fmla="*/ 447 w 481"/>
                <a:gd name="T49" fmla="*/ 138 h 238"/>
                <a:gd name="T50" fmla="*/ 434 w 481"/>
                <a:gd name="T51" fmla="*/ 110 h 238"/>
                <a:gd name="T52" fmla="*/ 410 w 481"/>
                <a:gd name="T53" fmla="*/ 84 h 238"/>
                <a:gd name="T54" fmla="*/ 386 w 481"/>
                <a:gd name="T55" fmla="*/ 60 h 238"/>
                <a:gd name="T56" fmla="*/ 360 w 481"/>
                <a:gd name="T57" fmla="*/ 40 h 238"/>
                <a:gd name="T58" fmla="*/ 331 w 481"/>
                <a:gd name="T59" fmla="*/ 26 h 238"/>
                <a:gd name="T60" fmla="*/ 298 w 481"/>
                <a:gd name="T61" fmla="*/ 15 h 238"/>
                <a:gd name="T62" fmla="*/ 264 w 481"/>
                <a:gd name="T63" fmla="*/ 9 h 238"/>
                <a:gd name="T64" fmla="*/ 228 w 481"/>
                <a:gd name="T65" fmla="*/ 9 h 238"/>
                <a:gd name="T66" fmla="*/ 194 w 481"/>
                <a:gd name="T67" fmla="*/ 12 h 238"/>
                <a:gd name="T68" fmla="*/ 161 w 481"/>
                <a:gd name="T69" fmla="*/ 23 h 238"/>
                <a:gd name="T70" fmla="*/ 131 w 481"/>
                <a:gd name="T71" fmla="*/ 35 h 238"/>
                <a:gd name="T72" fmla="*/ 103 w 481"/>
                <a:gd name="T73" fmla="*/ 55 h 238"/>
                <a:gd name="T74" fmla="*/ 79 w 481"/>
                <a:gd name="T75" fmla="*/ 75 h 238"/>
                <a:gd name="T76" fmla="*/ 55 w 481"/>
                <a:gd name="T77" fmla="*/ 99 h 238"/>
                <a:gd name="T78" fmla="*/ 38 w 481"/>
                <a:gd name="T79" fmla="*/ 127 h 238"/>
                <a:gd name="T80" fmla="*/ 24 w 481"/>
                <a:gd name="T81" fmla="*/ 159 h 238"/>
                <a:gd name="T82" fmla="*/ 15 w 481"/>
                <a:gd name="T83" fmla="*/ 191 h 238"/>
                <a:gd name="T84" fmla="*/ 9 w 481"/>
                <a:gd name="T85" fmla="*/ 225 h 2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81"/>
                <a:gd name="T130" fmla="*/ 0 h 238"/>
                <a:gd name="T131" fmla="*/ 481 w 481"/>
                <a:gd name="T132" fmla="*/ 238 h 2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81" h="238">
                  <a:moveTo>
                    <a:pt x="0" y="237"/>
                  </a:moveTo>
                  <a:lnTo>
                    <a:pt x="0" y="225"/>
                  </a:lnTo>
                  <a:lnTo>
                    <a:pt x="3" y="211"/>
                  </a:lnTo>
                  <a:lnTo>
                    <a:pt x="3" y="200"/>
                  </a:lnTo>
                  <a:lnTo>
                    <a:pt x="6" y="188"/>
                  </a:lnTo>
                  <a:lnTo>
                    <a:pt x="9" y="177"/>
                  </a:lnTo>
                  <a:lnTo>
                    <a:pt x="12" y="165"/>
                  </a:lnTo>
                  <a:lnTo>
                    <a:pt x="15" y="156"/>
                  </a:lnTo>
                  <a:lnTo>
                    <a:pt x="21" y="144"/>
                  </a:lnTo>
                  <a:lnTo>
                    <a:pt x="24" y="133"/>
                  </a:lnTo>
                  <a:lnTo>
                    <a:pt x="29" y="124"/>
                  </a:lnTo>
                  <a:lnTo>
                    <a:pt x="35" y="113"/>
                  </a:lnTo>
                  <a:lnTo>
                    <a:pt x="40" y="104"/>
                  </a:lnTo>
                  <a:lnTo>
                    <a:pt x="49" y="96"/>
                  </a:lnTo>
                  <a:lnTo>
                    <a:pt x="55" y="87"/>
                  </a:lnTo>
                  <a:lnTo>
                    <a:pt x="64" y="78"/>
                  </a:lnTo>
                  <a:lnTo>
                    <a:pt x="70" y="69"/>
                  </a:lnTo>
                  <a:lnTo>
                    <a:pt x="79" y="60"/>
                  </a:lnTo>
                  <a:lnTo>
                    <a:pt x="88" y="52"/>
                  </a:lnTo>
                  <a:lnTo>
                    <a:pt x="97" y="46"/>
                  </a:lnTo>
                  <a:lnTo>
                    <a:pt x="106" y="40"/>
                  </a:lnTo>
                  <a:lnTo>
                    <a:pt x="117" y="35"/>
                  </a:lnTo>
                  <a:lnTo>
                    <a:pt x="125" y="29"/>
                  </a:lnTo>
                  <a:lnTo>
                    <a:pt x="137" y="23"/>
                  </a:lnTo>
                  <a:lnTo>
                    <a:pt x="146" y="18"/>
                  </a:lnTo>
                  <a:lnTo>
                    <a:pt x="158" y="15"/>
                  </a:lnTo>
                  <a:lnTo>
                    <a:pt x="170" y="9"/>
                  </a:lnTo>
                  <a:lnTo>
                    <a:pt x="182" y="6"/>
                  </a:lnTo>
                  <a:lnTo>
                    <a:pt x="194" y="3"/>
                  </a:lnTo>
                  <a:lnTo>
                    <a:pt x="204" y="3"/>
                  </a:lnTo>
                  <a:lnTo>
                    <a:pt x="216" y="0"/>
                  </a:lnTo>
                  <a:lnTo>
                    <a:pt x="228" y="0"/>
                  </a:lnTo>
                  <a:lnTo>
                    <a:pt x="240" y="0"/>
                  </a:lnTo>
                  <a:lnTo>
                    <a:pt x="252" y="0"/>
                  </a:lnTo>
                  <a:lnTo>
                    <a:pt x="267" y="0"/>
                  </a:lnTo>
                  <a:lnTo>
                    <a:pt x="279" y="3"/>
                  </a:lnTo>
                  <a:lnTo>
                    <a:pt x="289" y="3"/>
                  </a:lnTo>
                  <a:lnTo>
                    <a:pt x="301" y="6"/>
                  </a:lnTo>
                  <a:lnTo>
                    <a:pt x="313" y="9"/>
                  </a:lnTo>
                  <a:lnTo>
                    <a:pt x="322" y="15"/>
                  </a:lnTo>
                  <a:lnTo>
                    <a:pt x="334" y="18"/>
                  </a:lnTo>
                  <a:lnTo>
                    <a:pt x="346" y="23"/>
                  </a:lnTo>
                  <a:lnTo>
                    <a:pt x="355" y="29"/>
                  </a:lnTo>
                  <a:lnTo>
                    <a:pt x="365" y="35"/>
                  </a:lnTo>
                  <a:lnTo>
                    <a:pt x="374" y="40"/>
                  </a:lnTo>
                  <a:lnTo>
                    <a:pt x="383" y="46"/>
                  </a:lnTo>
                  <a:lnTo>
                    <a:pt x="392" y="52"/>
                  </a:lnTo>
                  <a:lnTo>
                    <a:pt x="401" y="60"/>
                  </a:lnTo>
                  <a:lnTo>
                    <a:pt x="410" y="69"/>
                  </a:lnTo>
                  <a:lnTo>
                    <a:pt x="419" y="78"/>
                  </a:lnTo>
                  <a:lnTo>
                    <a:pt x="425" y="87"/>
                  </a:lnTo>
                  <a:lnTo>
                    <a:pt x="434" y="96"/>
                  </a:lnTo>
                  <a:lnTo>
                    <a:pt x="440" y="104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6" y="133"/>
                  </a:lnTo>
                  <a:lnTo>
                    <a:pt x="462" y="144"/>
                  </a:lnTo>
                  <a:lnTo>
                    <a:pt x="465" y="156"/>
                  </a:lnTo>
                  <a:lnTo>
                    <a:pt x="468" y="165"/>
                  </a:lnTo>
                  <a:lnTo>
                    <a:pt x="471" y="177"/>
                  </a:lnTo>
                  <a:lnTo>
                    <a:pt x="474" y="188"/>
                  </a:lnTo>
                  <a:lnTo>
                    <a:pt x="477" y="200"/>
                  </a:lnTo>
                  <a:lnTo>
                    <a:pt x="480" y="211"/>
                  </a:lnTo>
                  <a:lnTo>
                    <a:pt x="480" y="225"/>
                  </a:lnTo>
                  <a:lnTo>
                    <a:pt x="480" y="237"/>
                  </a:lnTo>
                  <a:lnTo>
                    <a:pt x="471" y="237"/>
                  </a:lnTo>
                  <a:lnTo>
                    <a:pt x="471" y="225"/>
                  </a:lnTo>
                  <a:lnTo>
                    <a:pt x="471" y="214"/>
                  </a:lnTo>
                  <a:lnTo>
                    <a:pt x="468" y="203"/>
                  </a:lnTo>
                  <a:lnTo>
                    <a:pt x="465" y="191"/>
                  </a:lnTo>
                  <a:lnTo>
                    <a:pt x="462" y="179"/>
                  </a:lnTo>
                  <a:lnTo>
                    <a:pt x="459" y="168"/>
                  </a:lnTo>
                  <a:lnTo>
                    <a:pt x="456" y="159"/>
                  </a:lnTo>
                  <a:lnTo>
                    <a:pt x="453" y="147"/>
                  </a:lnTo>
                  <a:lnTo>
                    <a:pt x="447" y="138"/>
                  </a:lnTo>
                  <a:lnTo>
                    <a:pt x="444" y="127"/>
                  </a:lnTo>
                  <a:lnTo>
                    <a:pt x="440" y="119"/>
                  </a:lnTo>
                  <a:lnTo>
                    <a:pt x="434" y="110"/>
                  </a:lnTo>
                  <a:lnTo>
                    <a:pt x="425" y="99"/>
                  </a:lnTo>
                  <a:lnTo>
                    <a:pt x="419" y="93"/>
                  </a:lnTo>
                  <a:lnTo>
                    <a:pt x="410" y="84"/>
                  </a:lnTo>
                  <a:lnTo>
                    <a:pt x="404" y="75"/>
                  </a:lnTo>
                  <a:lnTo>
                    <a:pt x="395" y="66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8" y="46"/>
                  </a:lnTo>
                  <a:lnTo>
                    <a:pt x="360" y="40"/>
                  </a:lnTo>
                  <a:lnTo>
                    <a:pt x="352" y="35"/>
                  </a:lnTo>
                  <a:lnTo>
                    <a:pt x="340" y="32"/>
                  </a:lnTo>
                  <a:lnTo>
                    <a:pt x="331" y="26"/>
                  </a:lnTo>
                  <a:lnTo>
                    <a:pt x="319" y="23"/>
                  </a:lnTo>
                  <a:lnTo>
                    <a:pt x="310" y="18"/>
                  </a:lnTo>
                  <a:lnTo>
                    <a:pt x="298" y="15"/>
                  </a:lnTo>
                  <a:lnTo>
                    <a:pt x="286" y="12"/>
                  </a:lnTo>
                  <a:lnTo>
                    <a:pt x="276" y="12"/>
                  </a:lnTo>
                  <a:lnTo>
                    <a:pt x="264" y="9"/>
                  </a:lnTo>
                  <a:lnTo>
                    <a:pt x="252" y="9"/>
                  </a:lnTo>
                  <a:lnTo>
                    <a:pt x="240" y="9"/>
                  </a:lnTo>
                  <a:lnTo>
                    <a:pt x="228" y="9"/>
                  </a:lnTo>
                  <a:lnTo>
                    <a:pt x="216" y="9"/>
                  </a:lnTo>
                  <a:lnTo>
                    <a:pt x="204" y="12"/>
                  </a:lnTo>
                  <a:lnTo>
                    <a:pt x="194" y="12"/>
                  </a:lnTo>
                  <a:lnTo>
                    <a:pt x="185" y="15"/>
                  </a:lnTo>
                  <a:lnTo>
                    <a:pt x="173" y="18"/>
                  </a:lnTo>
                  <a:lnTo>
                    <a:pt x="161" y="23"/>
                  </a:lnTo>
                  <a:lnTo>
                    <a:pt x="152" y="26"/>
                  </a:lnTo>
                  <a:lnTo>
                    <a:pt x="140" y="32"/>
                  </a:lnTo>
                  <a:lnTo>
                    <a:pt x="131" y="35"/>
                  </a:lnTo>
                  <a:lnTo>
                    <a:pt x="120" y="40"/>
                  </a:lnTo>
                  <a:lnTo>
                    <a:pt x="112" y="46"/>
                  </a:lnTo>
                  <a:lnTo>
                    <a:pt x="103" y="55"/>
                  </a:lnTo>
                  <a:lnTo>
                    <a:pt x="94" y="60"/>
                  </a:lnTo>
                  <a:lnTo>
                    <a:pt x="85" y="66"/>
                  </a:lnTo>
                  <a:lnTo>
                    <a:pt x="79" y="75"/>
                  </a:lnTo>
                  <a:lnTo>
                    <a:pt x="70" y="84"/>
                  </a:lnTo>
                  <a:lnTo>
                    <a:pt x="61" y="93"/>
                  </a:lnTo>
                  <a:lnTo>
                    <a:pt x="55" y="99"/>
                  </a:lnTo>
                  <a:lnTo>
                    <a:pt x="49" y="110"/>
                  </a:lnTo>
                  <a:lnTo>
                    <a:pt x="43" y="119"/>
                  </a:lnTo>
                  <a:lnTo>
                    <a:pt x="38" y="127"/>
                  </a:lnTo>
                  <a:lnTo>
                    <a:pt x="32" y="138"/>
                  </a:lnTo>
                  <a:lnTo>
                    <a:pt x="29" y="147"/>
                  </a:lnTo>
                  <a:lnTo>
                    <a:pt x="24" y="159"/>
                  </a:lnTo>
                  <a:lnTo>
                    <a:pt x="21" y="168"/>
                  </a:lnTo>
                  <a:lnTo>
                    <a:pt x="18" y="179"/>
                  </a:lnTo>
                  <a:lnTo>
                    <a:pt x="15" y="191"/>
                  </a:lnTo>
                  <a:lnTo>
                    <a:pt x="12" y="203"/>
                  </a:lnTo>
                  <a:lnTo>
                    <a:pt x="12" y="214"/>
                  </a:lnTo>
                  <a:lnTo>
                    <a:pt x="9" y="225"/>
                  </a:lnTo>
                  <a:lnTo>
                    <a:pt x="9" y="237"/>
                  </a:lnTo>
                  <a:lnTo>
                    <a:pt x="0" y="237"/>
                  </a:lnTo>
                </a:path>
              </a:pathLst>
            </a:custGeom>
            <a:solidFill>
              <a:srgbClr val="FFB5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3" name="Freeform 157">
              <a:extLst>
                <a:ext uri="{FF2B5EF4-FFF2-40B4-BE49-F238E27FC236}">
                  <a16:creationId xmlns:a16="http://schemas.microsoft.com/office/drawing/2014/main" id="{48D1EA09-B0C0-459C-9E5E-D603C2AF4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0" y="3802"/>
              <a:ext cx="481" cy="238"/>
            </a:xfrm>
            <a:custGeom>
              <a:avLst/>
              <a:gdLst>
                <a:gd name="T0" fmla="*/ 0 w 481"/>
                <a:gd name="T1" fmla="*/ 12 h 238"/>
                <a:gd name="T2" fmla="*/ 6 w 481"/>
                <a:gd name="T3" fmla="*/ 47 h 238"/>
                <a:gd name="T4" fmla="*/ 15 w 481"/>
                <a:gd name="T5" fmla="*/ 81 h 238"/>
                <a:gd name="T6" fmla="*/ 29 w 481"/>
                <a:gd name="T7" fmla="*/ 113 h 238"/>
                <a:gd name="T8" fmla="*/ 49 w 481"/>
                <a:gd name="T9" fmla="*/ 142 h 238"/>
                <a:gd name="T10" fmla="*/ 70 w 481"/>
                <a:gd name="T11" fmla="*/ 168 h 238"/>
                <a:gd name="T12" fmla="*/ 97 w 481"/>
                <a:gd name="T13" fmla="*/ 191 h 238"/>
                <a:gd name="T14" fmla="*/ 125 w 481"/>
                <a:gd name="T15" fmla="*/ 209 h 238"/>
                <a:gd name="T16" fmla="*/ 158 w 481"/>
                <a:gd name="T17" fmla="*/ 223 h 238"/>
                <a:gd name="T18" fmla="*/ 194 w 481"/>
                <a:gd name="T19" fmla="*/ 231 h 238"/>
                <a:gd name="T20" fmla="*/ 228 w 481"/>
                <a:gd name="T21" fmla="*/ 237 h 238"/>
                <a:gd name="T22" fmla="*/ 267 w 481"/>
                <a:gd name="T23" fmla="*/ 234 h 238"/>
                <a:gd name="T24" fmla="*/ 301 w 481"/>
                <a:gd name="T25" fmla="*/ 229 h 238"/>
                <a:gd name="T26" fmla="*/ 334 w 481"/>
                <a:gd name="T27" fmla="*/ 217 h 238"/>
                <a:gd name="T28" fmla="*/ 365 w 481"/>
                <a:gd name="T29" fmla="*/ 203 h 238"/>
                <a:gd name="T30" fmla="*/ 392 w 481"/>
                <a:gd name="T31" fmla="*/ 182 h 238"/>
                <a:gd name="T32" fmla="*/ 419 w 481"/>
                <a:gd name="T33" fmla="*/ 159 h 238"/>
                <a:gd name="T34" fmla="*/ 440 w 481"/>
                <a:gd name="T35" fmla="*/ 134 h 238"/>
                <a:gd name="T36" fmla="*/ 456 w 481"/>
                <a:gd name="T37" fmla="*/ 101 h 238"/>
                <a:gd name="T38" fmla="*/ 468 w 481"/>
                <a:gd name="T39" fmla="*/ 69 h 238"/>
                <a:gd name="T40" fmla="*/ 477 w 481"/>
                <a:gd name="T41" fmla="*/ 35 h 238"/>
                <a:gd name="T42" fmla="*/ 480 w 481"/>
                <a:gd name="T43" fmla="*/ 0 h 238"/>
                <a:gd name="T44" fmla="*/ 471 w 481"/>
                <a:gd name="T45" fmla="*/ 23 h 238"/>
                <a:gd name="T46" fmla="*/ 462 w 481"/>
                <a:gd name="T47" fmla="*/ 56 h 238"/>
                <a:gd name="T48" fmla="*/ 453 w 481"/>
                <a:gd name="T49" fmla="*/ 87 h 238"/>
                <a:gd name="T50" fmla="*/ 440 w 481"/>
                <a:gd name="T51" fmla="*/ 119 h 238"/>
                <a:gd name="T52" fmla="*/ 419 w 481"/>
                <a:gd name="T53" fmla="*/ 144 h 238"/>
                <a:gd name="T54" fmla="*/ 395 w 481"/>
                <a:gd name="T55" fmla="*/ 168 h 238"/>
                <a:gd name="T56" fmla="*/ 368 w 481"/>
                <a:gd name="T57" fmla="*/ 188 h 238"/>
                <a:gd name="T58" fmla="*/ 340 w 481"/>
                <a:gd name="T59" fmla="*/ 206 h 238"/>
                <a:gd name="T60" fmla="*/ 310 w 481"/>
                <a:gd name="T61" fmla="*/ 217 h 238"/>
                <a:gd name="T62" fmla="*/ 276 w 481"/>
                <a:gd name="T63" fmla="*/ 226 h 238"/>
                <a:gd name="T64" fmla="*/ 240 w 481"/>
                <a:gd name="T65" fmla="*/ 229 h 238"/>
                <a:gd name="T66" fmla="*/ 204 w 481"/>
                <a:gd name="T67" fmla="*/ 226 h 238"/>
                <a:gd name="T68" fmla="*/ 173 w 481"/>
                <a:gd name="T69" fmla="*/ 217 h 238"/>
                <a:gd name="T70" fmla="*/ 140 w 481"/>
                <a:gd name="T71" fmla="*/ 206 h 238"/>
                <a:gd name="T72" fmla="*/ 112 w 481"/>
                <a:gd name="T73" fmla="*/ 188 h 238"/>
                <a:gd name="T74" fmla="*/ 85 w 481"/>
                <a:gd name="T75" fmla="*/ 168 h 238"/>
                <a:gd name="T76" fmla="*/ 61 w 481"/>
                <a:gd name="T77" fmla="*/ 144 h 238"/>
                <a:gd name="T78" fmla="*/ 43 w 481"/>
                <a:gd name="T79" fmla="*/ 119 h 238"/>
                <a:gd name="T80" fmla="*/ 29 w 481"/>
                <a:gd name="T81" fmla="*/ 87 h 238"/>
                <a:gd name="T82" fmla="*/ 18 w 481"/>
                <a:gd name="T83" fmla="*/ 56 h 238"/>
                <a:gd name="T84" fmla="*/ 12 w 481"/>
                <a:gd name="T85" fmla="*/ 23 h 238"/>
                <a:gd name="T86" fmla="*/ 0 w 481"/>
                <a:gd name="T87" fmla="*/ 0 h 2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1"/>
                <a:gd name="T133" fmla="*/ 0 h 238"/>
                <a:gd name="T134" fmla="*/ 481 w 481"/>
                <a:gd name="T135" fmla="*/ 238 h 23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1" h="238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3" y="23"/>
                  </a:lnTo>
                  <a:lnTo>
                    <a:pt x="3" y="35"/>
                  </a:lnTo>
                  <a:lnTo>
                    <a:pt x="6" y="47"/>
                  </a:lnTo>
                  <a:lnTo>
                    <a:pt x="9" y="58"/>
                  </a:lnTo>
                  <a:lnTo>
                    <a:pt x="12" y="69"/>
                  </a:lnTo>
                  <a:lnTo>
                    <a:pt x="15" y="81"/>
                  </a:lnTo>
                  <a:lnTo>
                    <a:pt x="21" y="93"/>
                  </a:lnTo>
                  <a:lnTo>
                    <a:pt x="24" y="101"/>
                  </a:lnTo>
                  <a:lnTo>
                    <a:pt x="29" y="113"/>
                  </a:lnTo>
                  <a:lnTo>
                    <a:pt x="35" y="122"/>
                  </a:lnTo>
                  <a:lnTo>
                    <a:pt x="40" y="134"/>
                  </a:lnTo>
                  <a:lnTo>
                    <a:pt x="49" y="142"/>
                  </a:lnTo>
                  <a:lnTo>
                    <a:pt x="55" y="150"/>
                  </a:lnTo>
                  <a:lnTo>
                    <a:pt x="64" y="159"/>
                  </a:lnTo>
                  <a:lnTo>
                    <a:pt x="70" y="168"/>
                  </a:lnTo>
                  <a:lnTo>
                    <a:pt x="79" y="174"/>
                  </a:lnTo>
                  <a:lnTo>
                    <a:pt x="88" y="182"/>
                  </a:lnTo>
                  <a:lnTo>
                    <a:pt x="97" y="191"/>
                  </a:lnTo>
                  <a:lnTo>
                    <a:pt x="106" y="197"/>
                  </a:lnTo>
                  <a:lnTo>
                    <a:pt x="117" y="203"/>
                  </a:lnTo>
                  <a:lnTo>
                    <a:pt x="125" y="209"/>
                  </a:lnTo>
                  <a:lnTo>
                    <a:pt x="137" y="215"/>
                  </a:lnTo>
                  <a:lnTo>
                    <a:pt x="146" y="217"/>
                  </a:lnTo>
                  <a:lnTo>
                    <a:pt x="158" y="223"/>
                  </a:lnTo>
                  <a:lnTo>
                    <a:pt x="170" y="226"/>
                  </a:lnTo>
                  <a:lnTo>
                    <a:pt x="182" y="229"/>
                  </a:lnTo>
                  <a:lnTo>
                    <a:pt x="194" y="231"/>
                  </a:lnTo>
                  <a:lnTo>
                    <a:pt x="204" y="234"/>
                  </a:lnTo>
                  <a:lnTo>
                    <a:pt x="216" y="234"/>
                  </a:lnTo>
                  <a:lnTo>
                    <a:pt x="228" y="237"/>
                  </a:lnTo>
                  <a:lnTo>
                    <a:pt x="240" y="237"/>
                  </a:lnTo>
                  <a:lnTo>
                    <a:pt x="252" y="237"/>
                  </a:lnTo>
                  <a:lnTo>
                    <a:pt x="267" y="234"/>
                  </a:lnTo>
                  <a:lnTo>
                    <a:pt x="279" y="234"/>
                  </a:lnTo>
                  <a:lnTo>
                    <a:pt x="289" y="231"/>
                  </a:lnTo>
                  <a:lnTo>
                    <a:pt x="301" y="229"/>
                  </a:lnTo>
                  <a:lnTo>
                    <a:pt x="313" y="226"/>
                  </a:lnTo>
                  <a:lnTo>
                    <a:pt x="322" y="223"/>
                  </a:lnTo>
                  <a:lnTo>
                    <a:pt x="334" y="217"/>
                  </a:lnTo>
                  <a:lnTo>
                    <a:pt x="346" y="215"/>
                  </a:lnTo>
                  <a:lnTo>
                    <a:pt x="355" y="209"/>
                  </a:lnTo>
                  <a:lnTo>
                    <a:pt x="365" y="203"/>
                  </a:lnTo>
                  <a:lnTo>
                    <a:pt x="374" y="197"/>
                  </a:lnTo>
                  <a:lnTo>
                    <a:pt x="383" y="191"/>
                  </a:lnTo>
                  <a:lnTo>
                    <a:pt x="392" y="182"/>
                  </a:lnTo>
                  <a:lnTo>
                    <a:pt x="401" y="174"/>
                  </a:lnTo>
                  <a:lnTo>
                    <a:pt x="410" y="168"/>
                  </a:lnTo>
                  <a:lnTo>
                    <a:pt x="419" y="159"/>
                  </a:lnTo>
                  <a:lnTo>
                    <a:pt x="425" y="150"/>
                  </a:lnTo>
                  <a:lnTo>
                    <a:pt x="434" y="142"/>
                  </a:lnTo>
                  <a:lnTo>
                    <a:pt x="440" y="134"/>
                  </a:lnTo>
                  <a:lnTo>
                    <a:pt x="444" y="122"/>
                  </a:lnTo>
                  <a:lnTo>
                    <a:pt x="450" y="113"/>
                  </a:lnTo>
                  <a:lnTo>
                    <a:pt x="456" y="101"/>
                  </a:lnTo>
                  <a:lnTo>
                    <a:pt x="462" y="93"/>
                  </a:lnTo>
                  <a:lnTo>
                    <a:pt x="465" y="81"/>
                  </a:lnTo>
                  <a:lnTo>
                    <a:pt x="468" y="69"/>
                  </a:lnTo>
                  <a:lnTo>
                    <a:pt x="471" y="58"/>
                  </a:lnTo>
                  <a:lnTo>
                    <a:pt x="474" y="47"/>
                  </a:lnTo>
                  <a:lnTo>
                    <a:pt x="477" y="35"/>
                  </a:lnTo>
                  <a:lnTo>
                    <a:pt x="480" y="23"/>
                  </a:lnTo>
                  <a:lnTo>
                    <a:pt x="480" y="12"/>
                  </a:lnTo>
                  <a:lnTo>
                    <a:pt x="480" y="0"/>
                  </a:lnTo>
                  <a:lnTo>
                    <a:pt x="471" y="0"/>
                  </a:lnTo>
                  <a:lnTo>
                    <a:pt x="471" y="12"/>
                  </a:lnTo>
                  <a:lnTo>
                    <a:pt x="471" y="23"/>
                  </a:lnTo>
                  <a:lnTo>
                    <a:pt x="468" y="35"/>
                  </a:lnTo>
                  <a:lnTo>
                    <a:pt x="465" y="47"/>
                  </a:lnTo>
                  <a:lnTo>
                    <a:pt x="462" y="56"/>
                  </a:lnTo>
                  <a:lnTo>
                    <a:pt x="459" y="66"/>
                  </a:lnTo>
                  <a:lnTo>
                    <a:pt x="456" y="78"/>
                  </a:lnTo>
                  <a:lnTo>
                    <a:pt x="453" y="87"/>
                  </a:lnTo>
                  <a:lnTo>
                    <a:pt x="447" y="99"/>
                  </a:lnTo>
                  <a:lnTo>
                    <a:pt x="444" y="107"/>
                  </a:lnTo>
                  <a:lnTo>
                    <a:pt x="440" y="119"/>
                  </a:lnTo>
                  <a:lnTo>
                    <a:pt x="434" y="128"/>
                  </a:lnTo>
                  <a:lnTo>
                    <a:pt x="425" y="137"/>
                  </a:lnTo>
                  <a:lnTo>
                    <a:pt x="419" y="144"/>
                  </a:lnTo>
                  <a:lnTo>
                    <a:pt x="410" y="153"/>
                  </a:lnTo>
                  <a:lnTo>
                    <a:pt x="404" y="162"/>
                  </a:lnTo>
                  <a:lnTo>
                    <a:pt x="395" y="168"/>
                  </a:lnTo>
                  <a:lnTo>
                    <a:pt x="386" y="177"/>
                  </a:lnTo>
                  <a:lnTo>
                    <a:pt x="377" y="182"/>
                  </a:lnTo>
                  <a:lnTo>
                    <a:pt x="368" y="188"/>
                  </a:lnTo>
                  <a:lnTo>
                    <a:pt x="360" y="194"/>
                  </a:lnTo>
                  <a:lnTo>
                    <a:pt x="352" y="200"/>
                  </a:lnTo>
                  <a:lnTo>
                    <a:pt x="340" y="206"/>
                  </a:lnTo>
                  <a:lnTo>
                    <a:pt x="331" y="209"/>
                  </a:lnTo>
                  <a:lnTo>
                    <a:pt x="319" y="215"/>
                  </a:lnTo>
                  <a:lnTo>
                    <a:pt x="310" y="217"/>
                  </a:lnTo>
                  <a:lnTo>
                    <a:pt x="298" y="220"/>
                  </a:lnTo>
                  <a:lnTo>
                    <a:pt x="286" y="223"/>
                  </a:lnTo>
                  <a:lnTo>
                    <a:pt x="276" y="226"/>
                  </a:lnTo>
                  <a:lnTo>
                    <a:pt x="264" y="226"/>
                  </a:lnTo>
                  <a:lnTo>
                    <a:pt x="252" y="229"/>
                  </a:lnTo>
                  <a:lnTo>
                    <a:pt x="240" y="229"/>
                  </a:lnTo>
                  <a:lnTo>
                    <a:pt x="228" y="229"/>
                  </a:lnTo>
                  <a:lnTo>
                    <a:pt x="216" y="226"/>
                  </a:lnTo>
                  <a:lnTo>
                    <a:pt x="204" y="226"/>
                  </a:lnTo>
                  <a:lnTo>
                    <a:pt x="194" y="223"/>
                  </a:lnTo>
                  <a:lnTo>
                    <a:pt x="185" y="220"/>
                  </a:lnTo>
                  <a:lnTo>
                    <a:pt x="173" y="217"/>
                  </a:lnTo>
                  <a:lnTo>
                    <a:pt x="161" y="215"/>
                  </a:lnTo>
                  <a:lnTo>
                    <a:pt x="152" y="209"/>
                  </a:lnTo>
                  <a:lnTo>
                    <a:pt x="140" y="206"/>
                  </a:lnTo>
                  <a:lnTo>
                    <a:pt x="131" y="200"/>
                  </a:lnTo>
                  <a:lnTo>
                    <a:pt x="120" y="194"/>
                  </a:lnTo>
                  <a:lnTo>
                    <a:pt x="112" y="188"/>
                  </a:lnTo>
                  <a:lnTo>
                    <a:pt x="103" y="182"/>
                  </a:lnTo>
                  <a:lnTo>
                    <a:pt x="94" y="177"/>
                  </a:lnTo>
                  <a:lnTo>
                    <a:pt x="85" y="168"/>
                  </a:lnTo>
                  <a:lnTo>
                    <a:pt x="79" y="162"/>
                  </a:lnTo>
                  <a:lnTo>
                    <a:pt x="70" y="153"/>
                  </a:lnTo>
                  <a:lnTo>
                    <a:pt x="61" y="144"/>
                  </a:lnTo>
                  <a:lnTo>
                    <a:pt x="55" y="137"/>
                  </a:lnTo>
                  <a:lnTo>
                    <a:pt x="49" y="128"/>
                  </a:lnTo>
                  <a:lnTo>
                    <a:pt x="43" y="119"/>
                  </a:lnTo>
                  <a:lnTo>
                    <a:pt x="38" y="107"/>
                  </a:lnTo>
                  <a:lnTo>
                    <a:pt x="32" y="99"/>
                  </a:lnTo>
                  <a:lnTo>
                    <a:pt x="29" y="87"/>
                  </a:lnTo>
                  <a:lnTo>
                    <a:pt x="24" y="78"/>
                  </a:lnTo>
                  <a:lnTo>
                    <a:pt x="21" y="66"/>
                  </a:lnTo>
                  <a:lnTo>
                    <a:pt x="18" y="56"/>
                  </a:lnTo>
                  <a:lnTo>
                    <a:pt x="15" y="47"/>
                  </a:lnTo>
                  <a:lnTo>
                    <a:pt x="12" y="35"/>
                  </a:lnTo>
                  <a:lnTo>
                    <a:pt x="12" y="23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5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4" name="Freeform 158">
              <a:extLst>
                <a:ext uri="{FF2B5EF4-FFF2-40B4-BE49-F238E27FC236}">
                  <a16:creationId xmlns:a16="http://schemas.microsoft.com/office/drawing/2014/main" id="{70AE9B6D-B06D-49E8-86AB-1999B5EC2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3568"/>
              <a:ext cx="463" cy="229"/>
            </a:xfrm>
            <a:custGeom>
              <a:avLst/>
              <a:gdLst>
                <a:gd name="T0" fmla="*/ 0 w 463"/>
                <a:gd name="T1" fmla="*/ 216 h 229"/>
                <a:gd name="T2" fmla="*/ 3 w 463"/>
                <a:gd name="T3" fmla="*/ 194 h 229"/>
                <a:gd name="T4" fmla="*/ 9 w 463"/>
                <a:gd name="T5" fmla="*/ 171 h 229"/>
                <a:gd name="T6" fmla="*/ 15 w 463"/>
                <a:gd name="T7" fmla="*/ 150 h 229"/>
                <a:gd name="T8" fmla="*/ 23 w 463"/>
                <a:gd name="T9" fmla="*/ 130 h 229"/>
                <a:gd name="T10" fmla="*/ 35 w 463"/>
                <a:gd name="T11" fmla="*/ 110 h 229"/>
                <a:gd name="T12" fmla="*/ 46 w 463"/>
                <a:gd name="T13" fmla="*/ 90 h 229"/>
                <a:gd name="T14" fmla="*/ 61 w 463"/>
                <a:gd name="T15" fmla="*/ 75 h 229"/>
                <a:gd name="T16" fmla="*/ 76 w 463"/>
                <a:gd name="T17" fmla="*/ 57 h 229"/>
                <a:gd name="T18" fmla="*/ 94 w 463"/>
                <a:gd name="T19" fmla="*/ 46 h 229"/>
                <a:gd name="T20" fmla="*/ 111 w 463"/>
                <a:gd name="T21" fmla="*/ 31 h 229"/>
                <a:gd name="T22" fmla="*/ 131 w 463"/>
                <a:gd name="T23" fmla="*/ 23 h 229"/>
                <a:gd name="T24" fmla="*/ 152 w 463"/>
                <a:gd name="T25" fmla="*/ 15 h 229"/>
                <a:gd name="T26" fmla="*/ 176 w 463"/>
                <a:gd name="T27" fmla="*/ 6 h 229"/>
                <a:gd name="T28" fmla="*/ 195 w 463"/>
                <a:gd name="T29" fmla="*/ 3 h 229"/>
                <a:gd name="T30" fmla="*/ 219 w 463"/>
                <a:gd name="T31" fmla="*/ 0 h 229"/>
                <a:gd name="T32" fmla="*/ 243 w 463"/>
                <a:gd name="T33" fmla="*/ 0 h 229"/>
                <a:gd name="T34" fmla="*/ 267 w 463"/>
                <a:gd name="T35" fmla="*/ 3 h 229"/>
                <a:gd name="T36" fmla="*/ 289 w 463"/>
                <a:gd name="T37" fmla="*/ 6 h 229"/>
                <a:gd name="T38" fmla="*/ 310 w 463"/>
                <a:gd name="T39" fmla="*/ 15 h 229"/>
                <a:gd name="T40" fmla="*/ 331 w 463"/>
                <a:gd name="T41" fmla="*/ 23 h 229"/>
                <a:gd name="T42" fmla="*/ 351 w 463"/>
                <a:gd name="T43" fmla="*/ 31 h 229"/>
                <a:gd name="T44" fmla="*/ 368 w 463"/>
                <a:gd name="T45" fmla="*/ 46 h 229"/>
                <a:gd name="T46" fmla="*/ 386 w 463"/>
                <a:gd name="T47" fmla="*/ 57 h 229"/>
                <a:gd name="T48" fmla="*/ 401 w 463"/>
                <a:gd name="T49" fmla="*/ 75 h 229"/>
                <a:gd name="T50" fmla="*/ 416 w 463"/>
                <a:gd name="T51" fmla="*/ 90 h 229"/>
                <a:gd name="T52" fmla="*/ 430 w 463"/>
                <a:gd name="T53" fmla="*/ 110 h 229"/>
                <a:gd name="T54" fmla="*/ 438 w 463"/>
                <a:gd name="T55" fmla="*/ 130 h 229"/>
                <a:gd name="T56" fmla="*/ 447 w 463"/>
                <a:gd name="T57" fmla="*/ 150 h 229"/>
                <a:gd name="T58" fmla="*/ 453 w 463"/>
                <a:gd name="T59" fmla="*/ 171 h 229"/>
                <a:gd name="T60" fmla="*/ 459 w 463"/>
                <a:gd name="T61" fmla="*/ 194 h 229"/>
                <a:gd name="T62" fmla="*/ 462 w 463"/>
                <a:gd name="T63" fmla="*/ 216 h 229"/>
                <a:gd name="T64" fmla="*/ 453 w 463"/>
                <a:gd name="T65" fmla="*/ 228 h 229"/>
                <a:gd name="T66" fmla="*/ 447 w 463"/>
                <a:gd name="T67" fmla="*/ 185 h 229"/>
                <a:gd name="T68" fmla="*/ 435 w 463"/>
                <a:gd name="T69" fmla="*/ 141 h 229"/>
                <a:gd name="T70" fmla="*/ 416 w 463"/>
                <a:gd name="T71" fmla="*/ 104 h 229"/>
                <a:gd name="T72" fmla="*/ 389 w 463"/>
                <a:gd name="T73" fmla="*/ 72 h 229"/>
                <a:gd name="T74" fmla="*/ 353 w 463"/>
                <a:gd name="T75" fmla="*/ 46 h 229"/>
                <a:gd name="T76" fmla="*/ 319 w 463"/>
                <a:gd name="T77" fmla="*/ 26 h 229"/>
                <a:gd name="T78" fmla="*/ 274 w 463"/>
                <a:gd name="T79" fmla="*/ 15 h 229"/>
                <a:gd name="T80" fmla="*/ 231 w 463"/>
                <a:gd name="T81" fmla="*/ 9 h 229"/>
                <a:gd name="T82" fmla="*/ 187 w 463"/>
                <a:gd name="T83" fmla="*/ 15 h 229"/>
                <a:gd name="T84" fmla="*/ 146 w 463"/>
                <a:gd name="T85" fmla="*/ 26 h 229"/>
                <a:gd name="T86" fmla="*/ 108 w 463"/>
                <a:gd name="T87" fmla="*/ 46 h 229"/>
                <a:gd name="T88" fmla="*/ 76 w 463"/>
                <a:gd name="T89" fmla="*/ 72 h 229"/>
                <a:gd name="T90" fmla="*/ 46 w 463"/>
                <a:gd name="T91" fmla="*/ 104 h 229"/>
                <a:gd name="T92" fmla="*/ 26 w 463"/>
                <a:gd name="T93" fmla="*/ 141 h 229"/>
                <a:gd name="T94" fmla="*/ 15 w 463"/>
                <a:gd name="T95" fmla="*/ 185 h 229"/>
                <a:gd name="T96" fmla="*/ 9 w 463"/>
                <a:gd name="T97" fmla="*/ 228 h 22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3"/>
                <a:gd name="T148" fmla="*/ 0 h 229"/>
                <a:gd name="T149" fmla="*/ 463 w 463"/>
                <a:gd name="T150" fmla="*/ 229 h 22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3" h="229">
                  <a:moveTo>
                    <a:pt x="0" y="228"/>
                  </a:moveTo>
                  <a:lnTo>
                    <a:pt x="0" y="216"/>
                  </a:lnTo>
                  <a:lnTo>
                    <a:pt x="3" y="205"/>
                  </a:lnTo>
                  <a:lnTo>
                    <a:pt x="3" y="194"/>
                  </a:lnTo>
                  <a:lnTo>
                    <a:pt x="6" y="182"/>
                  </a:lnTo>
                  <a:lnTo>
                    <a:pt x="9" y="171"/>
                  </a:lnTo>
                  <a:lnTo>
                    <a:pt x="12" y="159"/>
                  </a:lnTo>
                  <a:lnTo>
                    <a:pt x="15" y="150"/>
                  </a:lnTo>
                  <a:lnTo>
                    <a:pt x="20" y="138"/>
                  </a:lnTo>
                  <a:lnTo>
                    <a:pt x="23" y="130"/>
                  </a:lnTo>
                  <a:lnTo>
                    <a:pt x="29" y="118"/>
                  </a:lnTo>
                  <a:lnTo>
                    <a:pt x="35" y="110"/>
                  </a:lnTo>
                  <a:lnTo>
                    <a:pt x="40" y="101"/>
                  </a:lnTo>
                  <a:lnTo>
                    <a:pt x="46" y="90"/>
                  </a:lnTo>
                  <a:lnTo>
                    <a:pt x="52" y="84"/>
                  </a:lnTo>
                  <a:lnTo>
                    <a:pt x="61" y="75"/>
                  </a:lnTo>
                  <a:lnTo>
                    <a:pt x="70" y="66"/>
                  </a:lnTo>
                  <a:lnTo>
                    <a:pt x="76" y="57"/>
                  </a:lnTo>
                  <a:lnTo>
                    <a:pt x="85" y="52"/>
                  </a:lnTo>
                  <a:lnTo>
                    <a:pt x="94" y="46"/>
                  </a:lnTo>
                  <a:lnTo>
                    <a:pt x="103" y="37"/>
                  </a:lnTo>
                  <a:lnTo>
                    <a:pt x="111" y="31"/>
                  </a:lnTo>
                  <a:lnTo>
                    <a:pt x="122" y="26"/>
                  </a:lnTo>
                  <a:lnTo>
                    <a:pt x="131" y="23"/>
                  </a:lnTo>
                  <a:lnTo>
                    <a:pt x="143" y="18"/>
                  </a:lnTo>
                  <a:lnTo>
                    <a:pt x="152" y="15"/>
                  </a:lnTo>
                  <a:lnTo>
                    <a:pt x="164" y="9"/>
                  </a:lnTo>
                  <a:lnTo>
                    <a:pt x="176" y="6"/>
                  </a:lnTo>
                  <a:lnTo>
                    <a:pt x="185" y="3"/>
                  </a:lnTo>
                  <a:lnTo>
                    <a:pt x="195" y="3"/>
                  </a:lnTo>
                  <a:lnTo>
                    <a:pt x="207" y="0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43" y="0"/>
                  </a:lnTo>
                  <a:lnTo>
                    <a:pt x="255" y="0"/>
                  </a:lnTo>
                  <a:lnTo>
                    <a:pt x="267" y="3"/>
                  </a:lnTo>
                  <a:lnTo>
                    <a:pt x="277" y="3"/>
                  </a:lnTo>
                  <a:lnTo>
                    <a:pt x="289" y="6"/>
                  </a:lnTo>
                  <a:lnTo>
                    <a:pt x="301" y="9"/>
                  </a:lnTo>
                  <a:lnTo>
                    <a:pt x="310" y="15"/>
                  </a:lnTo>
                  <a:lnTo>
                    <a:pt x="322" y="18"/>
                  </a:lnTo>
                  <a:lnTo>
                    <a:pt x="331" y="23"/>
                  </a:lnTo>
                  <a:lnTo>
                    <a:pt x="343" y="26"/>
                  </a:lnTo>
                  <a:lnTo>
                    <a:pt x="351" y="31"/>
                  </a:lnTo>
                  <a:lnTo>
                    <a:pt x="359" y="37"/>
                  </a:lnTo>
                  <a:lnTo>
                    <a:pt x="368" y="46"/>
                  </a:lnTo>
                  <a:lnTo>
                    <a:pt x="377" y="52"/>
                  </a:lnTo>
                  <a:lnTo>
                    <a:pt x="386" y="57"/>
                  </a:lnTo>
                  <a:lnTo>
                    <a:pt x="395" y="66"/>
                  </a:lnTo>
                  <a:lnTo>
                    <a:pt x="401" y="75"/>
                  </a:lnTo>
                  <a:lnTo>
                    <a:pt x="410" y="84"/>
                  </a:lnTo>
                  <a:lnTo>
                    <a:pt x="416" y="90"/>
                  </a:lnTo>
                  <a:lnTo>
                    <a:pt x="424" y="101"/>
                  </a:lnTo>
                  <a:lnTo>
                    <a:pt x="430" y="110"/>
                  </a:lnTo>
                  <a:lnTo>
                    <a:pt x="435" y="118"/>
                  </a:lnTo>
                  <a:lnTo>
                    <a:pt x="438" y="130"/>
                  </a:lnTo>
                  <a:lnTo>
                    <a:pt x="444" y="138"/>
                  </a:lnTo>
                  <a:lnTo>
                    <a:pt x="447" y="150"/>
                  </a:lnTo>
                  <a:lnTo>
                    <a:pt x="450" y="159"/>
                  </a:lnTo>
                  <a:lnTo>
                    <a:pt x="453" y="171"/>
                  </a:lnTo>
                  <a:lnTo>
                    <a:pt x="456" y="182"/>
                  </a:lnTo>
                  <a:lnTo>
                    <a:pt x="459" y="194"/>
                  </a:lnTo>
                  <a:lnTo>
                    <a:pt x="462" y="205"/>
                  </a:lnTo>
                  <a:lnTo>
                    <a:pt x="462" y="216"/>
                  </a:lnTo>
                  <a:lnTo>
                    <a:pt x="462" y="228"/>
                  </a:lnTo>
                  <a:lnTo>
                    <a:pt x="453" y="228"/>
                  </a:lnTo>
                  <a:lnTo>
                    <a:pt x="453" y="205"/>
                  </a:lnTo>
                  <a:lnTo>
                    <a:pt x="447" y="185"/>
                  </a:lnTo>
                  <a:lnTo>
                    <a:pt x="444" y="162"/>
                  </a:lnTo>
                  <a:lnTo>
                    <a:pt x="435" y="141"/>
                  </a:lnTo>
                  <a:lnTo>
                    <a:pt x="427" y="124"/>
                  </a:lnTo>
                  <a:lnTo>
                    <a:pt x="416" y="104"/>
                  </a:lnTo>
                  <a:lnTo>
                    <a:pt x="404" y="90"/>
                  </a:lnTo>
                  <a:lnTo>
                    <a:pt x="389" y="72"/>
                  </a:lnTo>
                  <a:lnTo>
                    <a:pt x="371" y="57"/>
                  </a:lnTo>
                  <a:lnTo>
                    <a:pt x="353" y="46"/>
                  </a:lnTo>
                  <a:lnTo>
                    <a:pt x="337" y="34"/>
                  </a:lnTo>
                  <a:lnTo>
                    <a:pt x="319" y="26"/>
                  </a:lnTo>
                  <a:lnTo>
                    <a:pt x="298" y="18"/>
                  </a:lnTo>
                  <a:lnTo>
                    <a:pt x="274" y="15"/>
                  </a:lnTo>
                  <a:lnTo>
                    <a:pt x="255" y="9"/>
                  </a:lnTo>
                  <a:lnTo>
                    <a:pt x="231" y="9"/>
                  </a:lnTo>
                  <a:lnTo>
                    <a:pt x="207" y="9"/>
                  </a:lnTo>
                  <a:lnTo>
                    <a:pt x="187" y="15"/>
                  </a:lnTo>
                  <a:lnTo>
                    <a:pt x="167" y="18"/>
                  </a:lnTo>
                  <a:lnTo>
                    <a:pt x="146" y="26"/>
                  </a:lnTo>
                  <a:lnTo>
                    <a:pt x="125" y="34"/>
                  </a:lnTo>
                  <a:lnTo>
                    <a:pt x="108" y="46"/>
                  </a:lnTo>
                  <a:lnTo>
                    <a:pt x="91" y="57"/>
                  </a:lnTo>
                  <a:lnTo>
                    <a:pt x="76" y="72"/>
                  </a:lnTo>
                  <a:lnTo>
                    <a:pt x="61" y="90"/>
                  </a:lnTo>
                  <a:lnTo>
                    <a:pt x="46" y="104"/>
                  </a:lnTo>
                  <a:lnTo>
                    <a:pt x="38" y="124"/>
                  </a:lnTo>
                  <a:lnTo>
                    <a:pt x="26" y="141"/>
                  </a:lnTo>
                  <a:lnTo>
                    <a:pt x="20" y="162"/>
                  </a:lnTo>
                  <a:lnTo>
                    <a:pt x="15" y="185"/>
                  </a:lnTo>
                  <a:lnTo>
                    <a:pt x="12" y="205"/>
                  </a:lnTo>
                  <a:lnTo>
                    <a:pt x="9" y="228"/>
                  </a:lnTo>
                  <a:lnTo>
                    <a:pt x="0" y="228"/>
                  </a:lnTo>
                </a:path>
              </a:pathLst>
            </a:custGeom>
            <a:solidFill>
              <a:srgbClr val="FFB8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5" name="Freeform 159">
              <a:extLst>
                <a:ext uri="{FF2B5EF4-FFF2-40B4-BE49-F238E27FC236}">
                  <a16:creationId xmlns:a16="http://schemas.microsoft.com/office/drawing/2014/main" id="{CCF73140-E3E6-482F-AABA-0C664F908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3802"/>
              <a:ext cx="463" cy="230"/>
            </a:xfrm>
            <a:custGeom>
              <a:avLst/>
              <a:gdLst>
                <a:gd name="T0" fmla="*/ 0 w 463"/>
                <a:gd name="T1" fmla="*/ 0 h 230"/>
                <a:gd name="T2" fmla="*/ 3 w 463"/>
                <a:gd name="T3" fmla="*/ 23 h 230"/>
                <a:gd name="T4" fmla="*/ 6 w 463"/>
                <a:gd name="T5" fmla="*/ 47 h 230"/>
                <a:gd name="T6" fmla="*/ 12 w 463"/>
                <a:gd name="T7" fmla="*/ 66 h 230"/>
                <a:gd name="T8" fmla="*/ 20 w 463"/>
                <a:gd name="T9" fmla="*/ 87 h 230"/>
                <a:gd name="T10" fmla="*/ 29 w 463"/>
                <a:gd name="T11" fmla="*/ 107 h 230"/>
                <a:gd name="T12" fmla="*/ 40 w 463"/>
                <a:gd name="T13" fmla="*/ 128 h 230"/>
                <a:gd name="T14" fmla="*/ 52 w 463"/>
                <a:gd name="T15" fmla="*/ 144 h 230"/>
                <a:gd name="T16" fmla="*/ 70 w 463"/>
                <a:gd name="T17" fmla="*/ 162 h 230"/>
                <a:gd name="T18" fmla="*/ 85 w 463"/>
                <a:gd name="T19" fmla="*/ 176 h 230"/>
                <a:gd name="T20" fmla="*/ 103 w 463"/>
                <a:gd name="T21" fmla="*/ 188 h 230"/>
                <a:gd name="T22" fmla="*/ 122 w 463"/>
                <a:gd name="T23" fmla="*/ 200 h 230"/>
                <a:gd name="T24" fmla="*/ 143 w 463"/>
                <a:gd name="T25" fmla="*/ 209 h 230"/>
                <a:gd name="T26" fmla="*/ 164 w 463"/>
                <a:gd name="T27" fmla="*/ 217 h 230"/>
                <a:gd name="T28" fmla="*/ 185 w 463"/>
                <a:gd name="T29" fmla="*/ 223 h 230"/>
                <a:gd name="T30" fmla="*/ 207 w 463"/>
                <a:gd name="T31" fmla="*/ 226 h 230"/>
                <a:gd name="T32" fmla="*/ 231 w 463"/>
                <a:gd name="T33" fmla="*/ 229 h 230"/>
                <a:gd name="T34" fmla="*/ 255 w 463"/>
                <a:gd name="T35" fmla="*/ 226 h 230"/>
                <a:gd name="T36" fmla="*/ 277 w 463"/>
                <a:gd name="T37" fmla="*/ 223 h 230"/>
                <a:gd name="T38" fmla="*/ 301 w 463"/>
                <a:gd name="T39" fmla="*/ 217 h 230"/>
                <a:gd name="T40" fmla="*/ 322 w 463"/>
                <a:gd name="T41" fmla="*/ 209 h 230"/>
                <a:gd name="T42" fmla="*/ 343 w 463"/>
                <a:gd name="T43" fmla="*/ 200 h 230"/>
                <a:gd name="T44" fmla="*/ 359 w 463"/>
                <a:gd name="T45" fmla="*/ 188 h 230"/>
                <a:gd name="T46" fmla="*/ 377 w 463"/>
                <a:gd name="T47" fmla="*/ 176 h 230"/>
                <a:gd name="T48" fmla="*/ 395 w 463"/>
                <a:gd name="T49" fmla="*/ 162 h 230"/>
                <a:gd name="T50" fmla="*/ 410 w 463"/>
                <a:gd name="T51" fmla="*/ 144 h 230"/>
                <a:gd name="T52" fmla="*/ 424 w 463"/>
                <a:gd name="T53" fmla="*/ 128 h 230"/>
                <a:gd name="T54" fmla="*/ 435 w 463"/>
                <a:gd name="T55" fmla="*/ 107 h 230"/>
                <a:gd name="T56" fmla="*/ 444 w 463"/>
                <a:gd name="T57" fmla="*/ 87 h 230"/>
                <a:gd name="T58" fmla="*/ 450 w 463"/>
                <a:gd name="T59" fmla="*/ 66 h 230"/>
                <a:gd name="T60" fmla="*/ 456 w 463"/>
                <a:gd name="T61" fmla="*/ 47 h 230"/>
                <a:gd name="T62" fmla="*/ 462 w 463"/>
                <a:gd name="T63" fmla="*/ 23 h 230"/>
                <a:gd name="T64" fmla="*/ 462 w 463"/>
                <a:gd name="T65" fmla="*/ 0 h 230"/>
                <a:gd name="T66" fmla="*/ 453 w 463"/>
                <a:gd name="T67" fmla="*/ 23 h 230"/>
                <a:gd name="T68" fmla="*/ 444 w 463"/>
                <a:gd name="T69" fmla="*/ 63 h 230"/>
                <a:gd name="T70" fmla="*/ 427 w 463"/>
                <a:gd name="T71" fmla="*/ 104 h 230"/>
                <a:gd name="T72" fmla="*/ 404 w 463"/>
                <a:gd name="T73" fmla="*/ 139 h 230"/>
                <a:gd name="T74" fmla="*/ 371 w 463"/>
                <a:gd name="T75" fmla="*/ 168 h 230"/>
                <a:gd name="T76" fmla="*/ 337 w 463"/>
                <a:gd name="T77" fmla="*/ 191 h 230"/>
                <a:gd name="T78" fmla="*/ 298 w 463"/>
                <a:gd name="T79" fmla="*/ 209 h 230"/>
                <a:gd name="T80" fmla="*/ 255 w 463"/>
                <a:gd name="T81" fmla="*/ 217 h 230"/>
                <a:gd name="T82" fmla="*/ 207 w 463"/>
                <a:gd name="T83" fmla="*/ 217 h 230"/>
                <a:gd name="T84" fmla="*/ 167 w 463"/>
                <a:gd name="T85" fmla="*/ 209 h 230"/>
                <a:gd name="T86" fmla="*/ 125 w 463"/>
                <a:gd name="T87" fmla="*/ 191 h 230"/>
                <a:gd name="T88" fmla="*/ 91 w 463"/>
                <a:gd name="T89" fmla="*/ 168 h 230"/>
                <a:gd name="T90" fmla="*/ 61 w 463"/>
                <a:gd name="T91" fmla="*/ 139 h 230"/>
                <a:gd name="T92" fmla="*/ 38 w 463"/>
                <a:gd name="T93" fmla="*/ 104 h 230"/>
                <a:gd name="T94" fmla="*/ 20 w 463"/>
                <a:gd name="T95" fmla="*/ 63 h 230"/>
                <a:gd name="T96" fmla="*/ 12 w 463"/>
                <a:gd name="T97" fmla="*/ 23 h 230"/>
                <a:gd name="T98" fmla="*/ 0 w 463"/>
                <a:gd name="T99" fmla="*/ 0 h 23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63"/>
                <a:gd name="T151" fmla="*/ 0 h 230"/>
                <a:gd name="T152" fmla="*/ 463 w 463"/>
                <a:gd name="T153" fmla="*/ 230 h 23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63" h="230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3" y="23"/>
                  </a:lnTo>
                  <a:lnTo>
                    <a:pt x="3" y="35"/>
                  </a:lnTo>
                  <a:lnTo>
                    <a:pt x="6" y="47"/>
                  </a:lnTo>
                  <a:lnTo>
                    <a:pt x="9" y="56"/>
                  </a:lnTo>
                  <a:lnTo>
                    <a:pt x="12" y="66"/>
                  </a:lnTo>
                  <a:lnTo>
                    <a:pt x="15" y="78"/>
                  </a:lnTo>
                  <a:lnTo>
                    <a:pt x="20" y="87"/>
                  </a:lnTo>
                  <a:lnTo>
                    <a:pt x="23" y="98"/>
                  </a:lnTo>
                  <a:lnTo>
                    <a:pt x="29" y="107"/>
                  </a:lnTo>
                  <a:lnTo>
                    <a:pt x="35" y="119"/>
                  </a:lnTo>
                  <a:lnTo>
                    <a:pt x="40" y="128"/>
                  </a:lnTo>
                  <a:lnTo>
                    <a:pt x="46" y="136"/>
                  </a:lnTo>
                  <a:lnTo>
                    <a:pt x="52" y="144"/>
                  </a:lnTo>
                  <a:lnTo>
                    <a:pt x="61" y="153"/>
                  </a:lnTo>
                  <a:lnTo>
                    <a:pt x="70" y="162"/>
                  </a:lnTo>
                  <a:lnTo>
                    <a:pt x="76" y="168"/>
                  </a:lnTo>
                  <a:lnTo>
                    <a:pt x="85" y="176"/>
                  </a:lnTo>
                  <a:lnTo>
                    <a:pt x="94" y="182"/>
                  </a:lnTo>
                  <a:lnTo>
                    <a:pt x="103" y="188"/>
                  </a:lnTo>
                  <a:lnTo>
                    <a:pt x="111" y="194"/>
                  </a:lnTo>
                  <a:lnTo>
                    <a:pt x="122" y="200"/>
                  </a:lnTo>
                  <a:lnTo>
                    <a:pt x="131" y="206"/>
                  </a:lnTo>
                  <a:lnTo>
                    <a:pt x="143" y="209"/>
                  </a:lnTo>
                  <a:lnTo>
                    <a:pt x="152" y="214"/>
                  </a:lnTo>
                  <a:lnTo>
                    <a:pt x="164" y="217"/>
                  </a:lnTo>
                  <a:lnTo>
                    <a:pt x="176" y="220"/>
                  </a:lnTo>
                  <a:lnTo>
                    <a:pt x="185" y="223"/>
                  </a:lnTo>
                  <a:lnTo>
                    <a:pt x="195" y="226"/>
                  </a:lnTo>
                  <a:lnTo>
                    <a:pt x="207" y="226"/>
                  </a:lnTo>
                  <a:lnTo>
                    <a:pt x="219" y="229"/>
                  </a:lnTo>
                  <a:lnTo>
                    <a:pt x="231" y="229"/>
                  </a:lnTo>
                  <a:lnTo>
                    <a:pt x="243" y="229"/>
                  </a:lnTo>
                  <a:lnTo>
                    <a:pt x="255" y="226"/>
                  </a:lnTo>
                  <a:lnTo>
                    <a:pt x="267" y="226"/>
                  </a:lnTo>
                  <a:lnTo>
                    <a:pt x="277" y="223"/>
                  </a:lnTo>
                  <a:lnTo>
                    <a:pt x="289" y="220"/>
                  </a:lnTo>
                  <a:lnTo>
                    <a:pt x="301" y="217"/>
                  </a:lnTo>
                  <a:lnTo>
                    <a:pt x="310" y="214"/>
                  </a:lnTo>
                  <a:lnTo>
                    <a:pt x="322" y="209"/>
                  </a:lnTo>
                  <a:lnTo>
                    <a:pt x="331" y="206"/>
                  </a:lnTo>
                  <a:lnTo>
                    <a:pt x="343" y="200"/>
                  </a:lnTo>
                  <a:lnTo>
                    <a:pt x="351" y="194"/>
                  </a:lnTo>
                  <a:lnTo>
                    <a:pt x="359" y="188"/>
                  </a:lnTo>
                  <a:lnTo>
                    <a:pt x="368" y="182"/>
                  </a:lnTo>
                  <a:lnTo>
                    <a:pt x="377" y="176"/>
                  </a:lnTo>
                  <a:lnTo>
                    <a:pt x="386" y="168"/>
                  </a:lnTo>
                  <a:lnTo>
                    <a:pt x="395" y="162"/>
                  </a:lnTo>
                  <a:lnTo>
                    <a:pt x="401" y="153"/>
                  </a:lnTo>
                  <a:lnTo>
                    <a:pt x="410" y="144"/>
                  </a:lnTo>
                  <a:lnTo>
                    <a:pt x="416" y="136"/>
                  </a:lnTo>
                  <a:lnTo>
                    <a:pt x="424" y="128"/>
                  </a:lnTo>
                  <a:lnTo>
                    <a:pt x="430" y="119"/>
                  </a:lnTo>
                  <a:lnTo>
                    <a:pt x="435" y="107"/>
                  </a:lnTo>
                  <a:lnTo>
                    <a:pt x="438" y="98"/>
                  </a:lnTo>
                  <a:lnTo>
                    <a:pt x="444" y="87"/>
                  </a:lnTo>
                  <a:lnTo>
                    <a:pt x="447" y="78"/>
                  </a:lnTo>
                  <a:lnTo>
                    <a:pt x="450" y="66"/>
                  </a:lnTo>
                  <a:lnTo>
                    <a:pt x="453" y="56"/>
                  </a:lnTo>
                  <a:lnTo>
                    <a:pt x="456" y="47"/>
                  </a:lnTo>
                  <a:lnTo>
                    <a:pt x="459" y="35"/>
                  </a:lnTo>
                  <a:lnTo>
                    <a:pt x="462" y="23"/>
                  </a:lnTo>
                  <a:lnTo>
                    <a:pt x="462" y="12"/>
                  </a:lnTo>
                  <a:lnTo>
                    <a:pt x="462" y="0"/>
                  </a:lnTo>
                  <a:lnTo>
                    <a:pt x="453" y="0"/>
                  </a:lnTo>
                  <a:lnTo>
                    <a:pt x="453" y="23"/>
                  </a:lnTo>
                  <a:lnTo>
                    <a:pt x="447" y="44"/>
                  </a:lnTo>
                  <a:lnTo>
                    <a:pt x="444" y="63"/>
                  </a:lnTo>
                  <a:lnTo>
                    <a:pt x="435" y="84"/>
                  </a:lnTo>
                  <a:lnTo>
                    <a:pt x="427" y="104"/>
                  </a:lnTo>
                  <a:lnTo>
                    <a:pt x="416" y="122"/>
                  </a:lnTo>
                  <a:lnTo>
                    <a:pt x="404" y="139"/>
                  </a:lnTo>
                  <a:lnTo>
                    <a:pt x="389" y="153"/>
                  </a:lnTo>
                  <a:lnTo>
                    <a:pt x="371" y="168"/>
                  </a:lnTo>
                  <a:lnTo>
                    <a:pt x="353" y="182"/>
                  </a:lnTo>
                  <a:lnTo>
                    <a:pt x="337" y="191"/>
                  </a:lnTo>
                  <a:lnTo>
                    <a:pt x="319" y="203"/>
                  </a:lnTo>
                  <a:lnTo>
                    <a:pt x="298" y="209"/>
                  </a:lnTo>
                  <a:lnTo>
                    <a:pt x="274" y="214"/>
                  </a:lnTo>
                  <a:lnTo>
                    <a:pt x="255" y="217"/>
                  </a:lnTo>
                  <a:lnTo>
                    <a:pt x="231" y="220"/>
                  </a:lnTo>
                  <a:lnTo>
                    <a:pt x="207" y="217"/>
                  </a:lnTo>
                  <a:lnTo>
                    <a:pt x="187" y="214"/>
                  </a:lnTo>
                  <a:lnTo>
                    <a:pt x="167" y="209"/>
                  </a:lnTo>
                  <a:lnTo>
                    <a:pt x="146" y="203"/>
                  </a:lnTo>
                  <a:lnTo>
                    <a:pt x="125" y="191"/>
                  </a:lnTo>
                  <a:lnTo>
                    <a:pt x="108" y="182"/>
                  </a:lnTo>
                  <a:lnTo>
                    <a:pt x="91" y="168"/>
                  </a:lnTo>
                  <a:lnTo>
                    <a:pt x="76" y="153"/>
                  </a:lnTo>
                  <a:lnTo>
                    <a:pt x="61" y="139"/>
                  </a:lnTo>
                  <a:lnTo>
                    <a:pt x="46" y="122"/>
                  </a:lnTo>
                  <a:lnTo>
                    <a:pt x="38" y="104"/>
                  </a:lnTo>
                  <a:lnTo>
                    <a:pt x="26" y="84"/>
                  </a:lnTo>
                  <a:lnTo>
                    <a:pt x="20" y="63"/>
                  </a:lnTo>
                  <a:lnTo>
                    <a:pt x="15" y="44"/>
                  </a:lnTo>
                  <a:lnTo>
                    <a:pt x="12" y="23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8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6" name="Freeform 160">
              <a:extLst>
                <a:ext uri="{FF2B5EF4-FFF2-40B4-BE49-F238E27FC236}">
                  <a16:creationId xmlns:a16="http://schemas.microsoft.com/office/drawing/2014/main" id="{4AD359B6-678E-491A-A214-B18219BE6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3577"/>
              <a:ext cx="445" cy="220"/>
            </a:xfrm>
            <a:custGeom>
              <a:avLst/>
              <a:gdLst>
                <a:gd name="T0" fmla="*/ 3 w 445"/>
                <a:gd name="T1" fmla="*/ 196 h 220"/>
                <a:gd name="T2" fmla="*/ 11 w 445"/>
                <a:gd name="T3" fmla="*/ 153 h 220"/>
                <a:gd name="T4" fmla="*/ 29 w 445"/>
                <a:gd name="T5" fmla="*/ 115 h 220"/>
                <a:gd name="T6" fmla="*/ 52 w 445"/>
                <a:gd name="T7" fmla="*/ 81 h 220"/>
                <a:gd name="T8" fmla="*/ 82 w 445"/>
                <a:gd name="T9" fmla="*/ 49 h 220"/>
                <a:gd name="T10" fmla="*/ 116 w 445"/>
                <a:gd name="T11" fmla="*/ 25 h 220"/>
                <a:gd name="T12" fmla="*/ 158 w 445"/>
                <a:gd name="T13" fmla="*/ 9 h 220"/>
                <a:gd name="T14" fmla="*/ 198 w 445"/>
                <a:gd name="T15" fmla="*/ 0 h 220"/>
                <a:gd name="T16" fmla="*/ 246 w 445"/>
                <a:gd name="T17" fmla="*/ 0 h 220"/>
                <a:gd name="T18" fmla="*/ 289 w 445"/>
                <a:gd name="T19" fmla="*/ 9 h 220"/>
                <a:gd name="T20" fmla="*/ 328 w 445"/>
                <a:gd name="T21" fmla="*/ 25 h 220"/>
                <a:gd name="T22" fmla="*/ 362 w 445"/>
                <a:gd name="T23" fmla="*/ 49 h 220"/>
                <a:gd name="T24" fmla="*/ 395 w 445"/>
                <a:gd name="T25" fmla="*/ 81 h 220"/>
                <a:gd name="T26" fmla="*/ 418 w 445"/>
                <a:gd name="T27" fmla="*/ 115 h 220"/>
                <a:gd name="T28" fmla="*/ 435 w 445"/>
                <a:gd name="T29" fmla="*/ 153 h 220"/>
                <a:gd name="T30" fmla="*/ 444 w 445"/>
                <a:gd name="T31" fmla="*/ 196 h 220"/>
                <a:gd name="T32" fmla="*/ 435 w 445"/>
                <a:gd name="T33" fmla="*/ 219 h 220"/>
                <a:gd name="T34" fmla="*/ 429 w 445"/>
                <a:gd name="T35" fmla="*/ 176 h 220"/>
                <a:gd name="T36" fmla="*/ 418 w 445"/>
                <a:gd name="T37" fmla="*/ 138 h 220"/>
                <a:gd name="T38" fmla="*/ 398 w 445"/>
                <a:gd name="T39" fmla="*/ 101 h 220"/>
                <a:gd name="T40" fmla="*/ 371 w 445"/>
                <a:gd name="T41" fmla="*/ 69 h 220"/>
                <a:gd name="T42" fmla="*/ 342 w 445"/>
                <a:gd name="T43" fmla="*/ 46 h 220"/>
                <a:gd name="T44" fmla="*/ 304 w 445"/>
                <a:gd name="T45" fmla="*/ 25 h 220"/>
                <a:gd name="T46" fmla="*/ 265 w 445"/>
                <a:gd name="T47" fmla="*/ 15 h 220"/>
                <a:gd name="T48" fmla="*/ 222 w 445"/>
                <a:gd name="T49" fmla="*/ 9 h 220"/>
                <a:gd name="T50" fmla="*/ 181 w 445"/>
                <a:gd name="T51" fmla="*/ 15 h 220"/>
                <a:gd name="T52" fmla="*/ 140 w 445"/>
                <a:gd name="T53" fmla="*/ 25 h 220"/>
                <a:gd name="T54" fmla="*/ 105 w 445"/>
                <a:gd name="T55" fmla="*/ 46 h 220"/>
                <a:gd name="T56" fmla="*/ 73 w 445"/>
                <a:gd name="T57" fmla="*/ 69 h 220"/>
                <a:gd name="T58" fmla="*/ 46 w 445"/>
                <a:gd name="T59" fmla="*/ 101 h 220"/>
                <a:gd name="T60" fmla="*/ 26 w 445"/>
                <a:gd name="T61" fmla="*/ 138 h 220"/>
                <a:gd name="T62" fmla="*/ 14 w 445"/>
                <a:gd name="T63" fmla="*/ 176 h 220"/>
                <a:gd name="T64" fmla="*/ 11 w 445"/>
                <a:gd name="T65" fmla="*/ 219 h 22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45"/>
                <a:gd name="T100" fmla="*/ 0 h 220"/>
                <a:gd name="T101" fmla="*/ 445 w 445"/>
                <a:gd name="T102" fmla="*/ 220 h 22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45" h="220">
                  <a:moveTo>
                    <a:pt x="0" y="219"/>
                  </a:moveTo>
                  <a:lnTo>
                    <a:pt x="3" y="196"/>
                  </a:lnTo>
                  <a:lnTo>
                    <a:pt x="6" y="176"/>
                  </a:lnTo>
                  <a:lnTo>
                    <a:pt x="11" y="153"/>
                  </a:lnTo>
                  <a:lnTo>
                    <a:pt x="17" y="132"/>
                  </a:lnTo>
                  <a:lnTo>
                    <a:pt x="29" y="115"/>
                  </a:lnTo>
                  <a:lnTo>
                    <a:pt x="37" y="95"/>
                  </a:lnTo>
                  <a:lnTo>
                    <a:pt x="52" y="81"/>
                  </a:lnTo>
                  <a:lnTo>
                    <a:pt x="67" y="63"/>
                  </a:lnTo>
                  <a:lnTo>
                    <a:pt x="82" y="49"/>
                  </a:lnTo>
                  <a:lnTo>
                    <a:pt x="99" y="37"/>
                  </a:lnTo>
                  <a:lnTo>
                    <a:pt x="116" y="25"/>
                  </a:lnTo>
                  <a:lnTo>
                    <a:pt x="137" y="18"/>
                  </a:lnTo>
                  <a:lnTo>
                    <a:pt x="158" y="9"/>
                  </a:lnTo>
                  <a:lnTo>
                    <a:pt x="178" y="6"/>
                  </a:lnTo>
                  <a:lnTo>
                    <a:pt x="198" y="0"/>
                  </a:lnTo>
                  <a:lnTo>
                    <a:pt x="222" y="0"/>
                  </a:lnTo>
                  <a:lnTo>
                    <a:pt x="246" y="0"/>
                  </a:lnTo>
                  <a:lnTo>
                    <a:pt x="265" y="6"/>
                  </a:lnTo>
                  <a:lnTo>
                    <a:pt x="289" y="9"/>
                  </a:lnTo>
                  <a:lnTo>
                    <a:pt x="310" y="18"/>
                  </a:lnTo>
                  <a:lnTo>
                    <a:pt x="328" y="25"/>
                  </a:lnTo>
                  <a:lnTo>
                    <a:pt x="344" y="37"/>
                  </a:lnTo>
                  <a:lnTo>
                    <a:pt x="362" y="49"/>
                  </a:lnTo>
                  <a:lnTo>
                    <a:pt x="380" y="63"/>
                  </a:lnTo>
                  <a:lnTo>
                    <a:pt x="395" y="81"/>
                  </a:lnTo>
                  <a:lnTo>
                    <a:pt x="407" y="95"/>
                  </a:lnTo>
                  <a:lnTo>
                    <a:pt x="418" y="115"/>
                  </a:lnTo>
                  <a:lnTo>
                    <a:pt x="426" y="132"/>
                  </a:lnTo>
                  <a:lnTo>
                    <a:pt x="435" y="153"/>
                  </a:lnTo>
                  <a:lnTo>
                    <a:pt x="438" y="176"/>
                  </a:lnTo>
                  <a:lnTo>
                    <a:pt x="444" y="196"/>
                  </a:lnTo>
                  <a:lnTo>
                    <a:pt x="444" y="219"/>
                  </a:lnTo>
                  <a:lnTo>
                    <a:pt x="435" y="219"/>
                  </a:lnTo>
                  <a:lnTo>
                    <a:pt x="432" y="196"/>
                  </a:lnTo>
                  <a:lnTo>
                    <a:pt x="429" y="176"/>
                  </a:lnTo>
                  <a:lnTo>
                    <a:pt x="424" y="156"/>
                  </a:lnTo>
                  <a:lnTo>
                    <a:pt x="418" y="138"/>
                  </a:lnTo>
                  <a:lnTo>
                    <a:pt x="409" y="118"/>
                  </a:lnTo>
                  <a:lnTo>
                    <a:pt x="398" y="101"/>
                  </a:lnTo>
                  <a:lnTo>
                    <a:pt x="386" y="87"/>
                  </a:lnTo>
                  <a:lnTo>
                    <a:pt x="371" y="69"/>
                  </a:lnTo>
                  <a:lnTo>
                    <a:pt x="356" y="57"/>
                  </a:lnTo>
                  <a:lnTo>
                    <a:pt x="342" y="46"/>
                  </a:lnTo>
                  <a:lnTo>
                    <a:pt x="325" y="34"/>
                  </a:lnTo>
                  <a:lnTo>
                    <a:pt x="304" y="25"/>
                  </a:lnTo>
                  <a:lnTo>
                    <a:pt x="286" y="18"/>
                  </a:lnTo>
                  <a:lnTo>
                    <a:pt x="265" y="15"/>
                  </a:lnTo>
                  <a:lnTo>
                    <a:pt x="246" y="12"/>
                  </a:lnTo>
                  <a:lnTo>
                    <a:pt x="222" y="9"/>
                  </a:lnTo>
                  <a:lnTo>
                    <a:pt x="201" y="12"/>
                  </a:lnTo>
                  <a:lnTo>
                    <a:pt x="181" y="15"/>
                  </a:lnTo>
                  <a:lnTo>
                    <a:pt x="161" y="18"/>
                  </a:lnTo>
                  <a:lnTo>
                    <a:pt x="140" y="25"/>
                  </a:lnTo>
                  <a:lnTo>
                    <a:pt x="122" y="34"/>
                  </a:lnTo>
                  <a:lnTo>
                    <a:pt x="105" y="46"/>
                  </a:lnTo>
                  <a:lnTo>
                    <a:pt x="88" y="57"/>
                  </a:lnTo>
                  <a:lnTo>
                    <a:pt x="73" y="69"/>
                  </a:lnTo>
                  <a:lnTo>
                    <a:pt x="58" y="87"/>
                  </a:lnTo>
                  <a:lnTo>
                    <a:pt x="46" y="101"/>
                  </a:lnTo>
                  <a:lnTo>
                    <a:pt x="35" y="118"/>
                  </a:lnTo>
                  <a:lnTo>
                    <a:pt x="26" y="138"/>
                  </a:lnTo>
                  <a:lnTo>
                    <a:pt x="20" y="156"/>
                  </a:lnTo>
                  <a:lnTo>
                    <a:pt x="14" y="176"/>
                  </a:lnTo>
                  <a:lnTo>
                    <a:pt x="11" y="196"/>
                  </a:lnTo>
                  <a:lnTo>
                    <a:pt x="11" y="219"/>
                  </a:lnTo>
                  <a:lnTo>
                    <a:pt x="0" y="219"/>
                  </a:lnTo>
                </a:path>
              </a:pathLst>
            </a:custGeom>
            <a:solidFill>
              <a:srgbClr val="FFBA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7" name="Freeform 161">
              <a:extLst>
                <a:ext uri="{FF2B5EF4-FFF2-40B4-BE49-F238E27FC236}">
                  <a16:creationId xmlns:a16="http://schemas.microsoft.com/office/drawing/2014/main" id="{B9F376CC-881A-43D8-B03C-F04508A05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3802"/>
              <a:ext cx="445" cy="221"/>
            </a:xfrm>
            <a:custGeom>
              <a:avLst/>
              <a:gdLst>
                <a:gd name="T0" fmla="*/ 0 w 445"/>
                <a:gd name="T1" fmla="*/ 0 h 221"/>
                <a:gd name="T2" fmla="*/ 6 w 445"/>
                <a:gd name="T3" fmla="*/ 44 h 221"/>
                <a:gd name="T4" fmla="*/ 17 w 445"/>
                <a:gd name="T5" fmla="*/ 84 h 221"/>
                <a:gd name="T6" fmla="*/ 37 w 445"/>
                <a:gd name="T7" fmla="*/ 122 h 221"/>
                <a:gd name="T8" fmla="*/ 67 w 445"/>
                <a:gd name="T9" fmla="*/ 153 h 221"/>
                <a:gd name="T10" fmla="*/ 99 w 445"/>
                <a:gd name="T11" fmla="*/ 182 h 221"/>
                <a:gd name="T12" fmla="*/ 137 w 445"/>
                <a:gd name="T13" fmla="*/ 202 h 221"/>
                <a:gd name="T14" fmla="*/ 178 w 445"/>
                <a:gd name="T15" fmla="*/ 214 h 221"/>
                <a:gd name="T16" fmla="*/ 222 w 445"/>
                <a:gd name="T17" fmla="*/ 220 h 221"/>
                <a:gd name="T18" fmla="*/ 265 w 445"/>
                <a:gd name="T19" fmla="*/ 214 h 221"/>
                <a:gd name="T20" fmla="*/ 310 w 445"/>
                <a:gd name="T21" fmla="*/ 202 h 221"/>
                <a:gd name="T22" fmla="*/ 344 w 445"/>
                <a:gd name="T23" fmla="*/ 182 h 221"/>
                <a:gd name="T24" fmla="*/ 380 w 445"/>
                <a:gd name="T25" fmla="*/ 153 h 221"/>
                <a:gd name="T26" fmla="*/ 407 w 445"/>
                <a:gd name="T27" fmla="*/ 122 h 221"/>
                <a:gd name="T28" fmla="*/ 426 w 445"/>
                <a:gd name="T29" fmla="*/ 84 h 221"/>
                <a:gd name="T30" fmla="*/ 438 w 445"/>
                <a:gd name="T31" fmla="*/ 44 h 221"/>
                <a:gd name="T32" fmla="*/ 444 w 445"/>
                <a:gd name="T33" fmla="*/ 0 h 221"/>
                <a:gd name="T34" fmla="*/ 432 w 445"/>
                <a:gd name="T35" fmla="*/ 20 h 221"/>
                <a:gd name="T36" fmla="*/ 424 w 445"/>
                <a:gd name="T37" fmla="*/ 60 h 221"/>
                <a:gd name="T38" fmla="*/ 409 w 445"/>
                <a:gd name="T39" fmla="*/ 98 h 221"/>
                <a:gd name="T40" fmla="*/ 386 w 445"/>
                <a:gd name="T41" fmla="*/ 133 h 221"/>
                <a:gd name="T42" fmla="*/ 356 w 445"/>
                <a:gd name="T43" fmla="*/ 162 h 221"/>
                <a:gd name="T44" fmla="*/ 325 w 445"/>
                <a:gd name="T45" fmla="*/ 185 h 221"/>
                <a:gd name="T46" fmla="*/ 286 w 445"/>
                <a:gd name="T47" fmla="*/ 200 h 221"/>
                <a:gd name="T48" fmla="*/ 246 w 445"/>
                <a:gd name="T49" fmla="*/ 208 h 221"/>
                <a:gd name="T50" fmla="*/ 201 w 445"/>
                <a:gd name="T51" fmla="*/ 208 h 221"/>
                <a:gd name="T52" fmla="*/ 161 w 445"/>
                <a:gd name="T53" fmla="*/ 200 h 221"/>
                <a:gd name="T54" fmla="*/ 122 w 445"/>
                <a:gd name="T55" fmla="*/ 185 h 221"/>
                <a:gd name="T56" fmla="*/ 88 w 445"/>
                <a:gd name="T57" fmla="*/ 162 h 221"/>
                <a:gd name="T58" fmla="*/ 58 w 445"/>
                <a:gd name="T59" fmla="*/ 133 h 221"/>
                <a:gd name="T60" fmla="*/ 35 w 445"/>
                <a:gd name="T61" fmla="*/ 98 h 221"/>
                <a:gd name="T62" fmla="*/ 20 w 445"/>
                <a:gd name="T63" fmla="*/ 60 h 221"/>
                <a:gd name="T64" fmla="*/ 11 w 445"/>
                <a:gd name="T65" fmla="*/ 20 h 221"/>
                <a:gd name="T66" fmla="*/ 0 w 445"/>
                <a:gd name="T67" fmla="*/ 0 h 22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45"/>
                <a:gd name="T103" fmla="*/ 0 h 221"/>
                <a:gd name="T104" fmla="*/ 445 w 445"/>
                <a:gd name="T105" fmla="*/ 221 h 22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45" h="221">
                  <a:moveTo>
                    <a:pt x="0" y="0"/>
                  </a:moveTo>
                  <a:lnTo>
                    <a:pt x="0" y="0"/>
                  </a:lnTo>
                  <a:lnTo>
                    <a:pt x="3" y="23"/>
                  </a:lnTo>
                  <a:lnTo>
                    <a:pt x="6" y="44"/>
                  </a:lnTo>
                  <a:lnTo>
                    <a:pt x="11" y="63"/>
                  </a:lnTo>
                  <a:lnTo>
                    <a:pt x="17" y="84"/>
                  </a:lnTo>
                  <a:lnTo>
                    <a:pt x="29" y="104"/>
                  </a:lnTo>
                  <a:lnTo>
                    <a:pt x="37" y="122"/>
                  </a:lnTo>
                  <a:lnTo>
                    <a:pt x="52" y="139"/>
                  </a:lnTo>
                  <a:lnTo>
                    <a:pt x="67" y="153"/>
                  </a:lnTo>
                  <a:lnTo>
                    <a:pt x="82" y="167"/>
                  </a:lnTo>
                  <a:lnTo>
                    <a:pt x="99" y="182"/>
                  </a:lnTo>
                  <a:lnTo>
                    <a:pt x="116" y="191"/>
                  </a:lnTo>
                  <a:lnTo>
                    <a:pt x="137" y="202"/>
                  </a:lnTo>
                  <a:lnTo>
                    <a:pt x="158" y="208"/>
                  </a:lnTo>
                  <a:lnTo>
                    <a:pt x="178" y="214"/>
                  </a:lnTo>
                  <a:lnTo>
                    <a:pt x="198" y="217"/>
                  </a:lnTo>
                  <a:lnTo>
                    <a:pt x="222" y="220"/>
                  </a:lnTo>
                  <a:lnTo>
                    <a:pt x="246" y="217"/>
                  </a:lnTo>
                  <a:lnTo>
                    <a:pt x="265" y="214"/>
                  </a:lnTo>
                  <a:lnTo>
                    <a:pt x="289" y="208"/>
                  </a:lnTo>
                  <a:lnTo>
                    <a:pt x="310" y="202"/>
                  </a:lnTo>
                  <a:lnTo>
                    <a:pt x="328" y="191"/>
                  </a:lnTo>
                  <a:lnTo>
                    <a:pt x="344" y="182"/>
                  </a:lnTo>
                  <a:lnTo>
                    <a:pt x="362" y="167"/>
                  </a:lnTo>
                  <a:lnTo>
                    <a:pt x="380" y="153"/>
                  </a:lnTo>
                  <a:lnTo>
                    <a:pt x="395" y="139"/>
                  </a:lnTo>
                  <a:lnTo>
                    <a:pt x="407" y="122"/>
                  </a:lnTo>
                  <a:lnTo>
                    <a:pt x="418" y="104"/>
                  </a:lnTo>
                  <a:lnTo>
                    <a:pt x="426" y="84"/>
                  </a:lnTo>
                  <a:lnTo>
                    <a:pt x="435" y="63"/>
                  </a:lnTo>
                  <a:lnTo>
                    <a:pt x="438" y="44"/>
                  </a:lnTo>
                  <a:lnTo>
                    <a:pt x="444" y="23"/>
                  </a:lnTo>
                  <a:lnTo>
                    <a:pt x="444" y="0"/>
                  </a:lnTo>
                  <a:lnTo>
                    <a:pt x="435" y="0"/>
                  </a:lnTo>
                  <a:lnTo>
                    <a:pt x="432" y="20"/>
                  </a:lnTo>
                  <a:lnTo>
                    <a:pt x="429" y="41"/>
                  </a:lnTo>
                  <a:lnTo>
                    <a:pt x="424" y="60"/>
                  </a:lnTo>
                  <a:lnTo>
                    <a:pt x="418" y="81"/>
                  </a:lnTo>
                  <a:lnTo>
                    <a:pt x="409" y="98"/>
                  </a:lnTo>
                  <a:lnTo>
                    <a:pt x="398" y="116"/>
                  </a:lnTo>
                  <a:lnTo>
                    <a:pt x="386" y="133"/>
                  </a:lnTo>
                  <a:lnTo>
                    <a:pt x="371" y="147"/>
                  </a:lnTo>
                  <a:lnTo>
                    <a:pt x="356" y="162"/>
                  </a:lnTo>
                  <a:lnTo>
                    <a:pt x="342" y="173"/>
                  </a:lnTo>
                  <a:lnTo>
                    <a:pt x="325" y="185"/>
                  </a:lnTo>
                  <a:lnTo>
                    <a:pt x="304" y="194"/>
                  </a:lnTo>
                  <a:lnTo>
                    <a:pt x="286" y="200"/>
                  </a:lnTo>
                  <a:lnTo>
                    <a:pt x="265" y="205"/>
                  </a:lnTo>
                  <a:lnTo>
                    <a:pt x="246" y="208"/>
                  </a:lnTo>
                  <a:lnTo>
                    <a:pt x="222" y="208"/>
                  </a:lnTo>
                  <a:lnTo>
                    <a:pt x="201" y="208"/>
                  </a:lnTo>
                  <a:lnTo>
                    <a:pt x="181" y="205"/>
                  </a:lnTo>
                  <a:lnTo>
                    <a:pt x="161" y="200"/>
                  </a:lnTo>
                  <a:lnTo>
                    <a:pt x="140" y="194"/>
                  </a:lnTo>
                  <a:lnTo>
                    <a:pt x="122" y="185"/>
                  </a:lnTo>
                  <a:lnTo>
                    <a:pt x="105" y="173"/>
                  </a:lnTo>
                  <a:lnTo>
                    <a:pt x="88" y="162"/>
                  </a:lnTo>
                  <a:lnTo>
                    <a:pt x="73" y="147"/>
                  </a:lnTo>
                  <a:lnTo>
                    <a:pt x="58" y="133"/>
                  </a:lnTo>
                  <a:lnTo>
                    <a:pt x="46" y="116"/>
                  </a:lnTo>
                  <a:lnTo>
                    <a:pt x="35" y="98"/>
                  </a:lnTo>
                  <a:lnTo>
                    <a:pt x="26" y="81"/>
                  </a:lnTo>
                  <a:lnTo>
                    <a:pt x="20" y="60"/>
                  </a:lnTo>
                  <a:lnTo>
                    <a:pt x="14" y="41"/>
                  </a:lnTo>
                  <a:lnTo>
                    <a:pt x="11" y="20"/>
                  </a:lnTo>
                  <a:lnTo>
                    <a:pt x="11" y="0"/>
                  </a:lnTo>
                  <a:lnTo>
                    <a:pt x="0" y="0"/>
                  </a:lnTo>
                </a:path>
              </a:pathLst>
            </a:custGeom>
            <a:solidFill>
              <a:srgbClr val="FFBA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8" name="Freeform 162">
              <a:extLst>
                <a:ext uri="{FF2B5EF4-FFF2-40B4-BE49-F238E27FC236}">
                  <a16:creationId xmlns:a16="http://schemas.microsoft.com/office/drawing/2014/main" id="{EDE524BE-752B-4A77-A533-32302EC96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3586"/>
              <a:ext cx="425" cy="211"/>
            </a:xfrm>
            <a:custGeom>
              <a:avLst/>
              <a:gdLst>
                <a:gd name="T0" fmla="*/ 0 w 425"/>
                <a:gd name="T1" fmla="*/ 187 h 211"/>
                <a:gd name="T2" fmla="*/ 9 w 425"/>
                <a:gd name="T3" fmla="*/ 147 h 211"/>
                <a:gd name="T4" fmla="*/ 24 w 425"/>
                <a:gd name="T5" fmla="*/ 109 h 211"/>
                <a:gd name="T6" fmla="*/ 47 w 425"/>
                <a:gd name="T7" fmla="*/ 78 h 211"/>
                <a:gd name="T8" fmla="*/ 77 w 425"/>
                <a:gd name="T9" fmla="*/ 49 h 211"/>
                <a:gd name="T10" fmla="*/ 111 w 425"/>
                <a:gd name="T11" fmla="*/ 25 h 211"/>
                <a:gd name="T12" fmla="*/ 150 w 425"/>
                <a:gd name="T13" fmla="*/ 9 h 211"/>
                <a:gd name="T14" fmla="*/ 190 w 425"/>
                <a:gd name="T15" fmla="*/ 3 h 211"/>
                <a:gd name="T16" fmla="*/ 235 w 425"/>
                <a:gd name="T17" fmla="*/ 3 h 211"/>
                <a:gd name="T18" fmla="*/ 275 w 425"/>
                <a:gd name="T19" fmla="*/ 9 h 211"/>
                <a:gd name="T20" fmla="*/ 314 w 425"/>
                <a:gd name="T21" fmla="*/ 25 h 211"/>
                <a:gd name="T22" fmla="*/ 345 w 425"/>
                <a:gd name="T23" fmla="*/ 49 h 211"/>
                <a:gd name="T24" fmla="*/ 375 w 425"/>
                <a:gd name="T25" fmla="*/ 78 h 211"/>
                <a:gd name="T26" fmla="*/ 398 w 425"/>
                <a:gd name="T27" fmla="*/ 109 h 211"/>
                <a:gd name="T28" fmla="*/ 413 w 425"/>
                <a:gd name="T29" fmla="*/ 147 h 211"/>
                <a:gd name="T30" fmla="*/ 421 w 425"/>
                <a:gd name="T31" fmla="*/ 187 h 211"/>
                <a:gd name="T32" fmla="*/ 415 w 425"/>
                <a:gd name="T33" fmla="*/ 210 h 211"/>
                <a:gd name="T34" fmla="*/ 410 w 425"/>
                <a:gd name="T35" fmla="*/ 170 h 211"/>
                <a:gd name="T36" fmla="*/ 398 w 425"/>
                <a:gd name="T37" fmla="*/ 132 h 211"/>
                <a:gd name="T38" fmla="*/ 381 w 425"/>
                <a:gd name="T39" fmla="*/ 97 h 211"/>
                <a:gd name="T40" fmla="*/ 354 w 425"/>
                <a:gd name="T41" fmla="*/ 69 h 211"/>
                <a:gd name="T42" fmla="*/ 325 w 425"/>
                <a:gd name="T43" fmla="*/ 43 h 211"/>
                <a:gd name="T44" fmla="*/ 290 w 425"/>
                <a:gd name="T45" fmla="*/ 25 h 211"/>
                <a:gd name="T46" fmla="*/ 251 w 425"/>
                <a:gd name="T47" fmla="*/ 14 h 211"/>
                <a:gd name="T48" fmla="*/ 211 w 425"/>
                <a:gd name="T49" fmla="*/ 9 h 211"/>
                <a:gd name="T50" fmla="*/ 170 w 425"/>
                <a:gd name="T51" fmla="*/ 14 h 211"/>
                <a:gd name="T52" fmla="*/ 132 w 425"/>
                <a:gd name="T53" fmla="*/ 25 h 211"/>
                <a:gd name="T54" fmla="*/ 100 w 425"/>
                <a:gd name="T55" fmla="*/ 43 h 211"/>
                <a:gd name="T56" fmla="*/ 68 w 425"/>
                <a:gd name="T57" fmla="*/ 69 h 211"/>
                <a:gd name="T58" fmla="*/ 44 w 425"/>
                <a:gd name="T59" fmla="*/ 97 h 211"/>
                <a:gd name="T60" fmla="*/ 24 w 425"/>
                <a:gd name="T61" fmla="*/ 132 h 211"/>
                <a:gd name="T62" fmla="*/ 12 w 425"/>
                <a:gd name="T63" fmla="*/ 170 h 211"/>
                <a:gd name="T64" fmla="*/ 9 w 425"/>
                <a:gd name="T65" fmla="*/ 210 h 21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25"/>
                <a:gd name="T100" fmla="*/ 0 h 211"/>
                <a:gd name="T101" fmla="*/ 425 w 425"/>
                <a:gd name="T102" fmla="*/ 211 h 21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25" h="211">
                  <a:moveTo>
                    <a:pt x="0" y="210"/>
                  </a:moveTo>
                  <a:lnTo>
                    <a:pt x="0" y="187"/>
                  </a:lnTo>
                  <a:lnTo>
                    <a:pt x="3" y="167"/>
                  </a:lnTo>
                  <a:lnTo>
                    <a:pt x="9" y="147"/>
                  </a:lnTo>
                  <a:lnTo>
                    <a:pt x="15" y="129"/>
                  </a:lnTo>
                  <a:lnTo>
                    <a:pt x="24" y="109"/>
                  </a:lnTo>
                  <a:lnTo>
                    <a:pt x="35" y="92"/>
                  </a:lnTo>
                  <a:lnTo>
                    <a:pt x="47" y="78"/>
                  </a:lnTo>
                  <a:lnTo>
                    <a:pt x="62" y="60"/>
                  </a:lnTo>
                  <a:lnTo>
                    <a:pt x="77" y="49"/>
                  </a:lnTo>
                  <a:lnTo>
                    <a:pt x="94" y="37"/>
                  </a:lnTo>
                  <a:lnTo>
                    <a:pt x="111" y="25"/>
                  </a:lnTo>
                  <a:lnTo>
                    <a:pt x="129" y="17"/>
                  </a:lnTo>
                  <a:lnTo>
                    <a:pt x="150" y="9"/>
                  </a:lnTo>
                  <a:lnTo>
                    <a:pt x="170" y="6"/>
                  </a:lnTo>
                  <a:lnTo>
                    <a:pt x="190" y="3"/>
                  </a:lnTo>
                  <a:lnTo>
                    <a:pt x="211" y="0"/>
                  </a:lnTo>
                  <a:lnTo>
                    <a:pt x="235" y="3"/>
                  </a:lnTo>
                  <a:lnTo>
                    <a:pt x="254" y="6"/>
                  </a:lnTo>
                  <a:lnTo>
                    <a:pt x="275" y="9"/>
                  </a:lnTo>
                  <a:lnTo>
                    <a:pt x="293" y="17"/>
                  </a:lnTo>
                  <a:lnTo>
                    <a:pt x="314" y="25"/>
                  </a:lnTo>
                  <a:lnTo>
                    <a:pt x="331" y="37"/>
                  </a:lnTo>
                  <a:lnTo>
                    <a:pt x="345" y="49"/>
                  </a:lnTo>
                  <a:lnTo>
                    <a:pt x="360" y="60"/>
                  </a:lnTo>
                  <a:lnTo>
                    <a:pt x="375" y="78"/>
                  </a:lnTo>
                  <a:lnTo>
                    <a:pt x="387" y="92"/>
                  </a:lnTo>
                  <a:lnTo>
                    <a:pt x="398" y="109"/>
                  </a:lnTo>
                  <a:lnTo>
                    <a:pt x="407" y="129"/>
                  </a:lnTo>
                  <a:lnTo>
                    <a:pt x="413" y="147"/>
                  </a:lnTo>
                  <a:lnTo>
                    <a:pt x="418" y="167"/>
                  </a:lnTo>
                  <a:lnTo>
                    <a:pt x="421" y="187"/>
                  </a:lnTo>
                  <a:lnTo>
                    <a:pt x="424" y="210"/>
                  </a:lnTo>
                  <a:lnTo>
                    <a:pt x="415" y="210"/>
                  </a:lnTo>
                  <a:lnTo>
                    <a:pt x="413" y="190"/>
                  </a:lnTo>
                  <a:lnTo>
                    <a:pt x="410" y="170"/>
                  </a:lnTo>
                  <a:lnTo>
                    <a:pt x="404" y="150"/>
                  </a:lnTo>
                  <a:lnTo>
                    <a:pt x="398" y="132"/>
                  </a:lnTo>
                  <a:lnTo>
                    <a:pt x="389" y="115"/>
                  </a:lnTo>
                  <a:lnTo>
                    <a:pt x="381" y="97"/>
                  </a:lnTo>
                  <a:lnTo>
                    <a:pt x="369" y="84"/>
                  </a:lnTo>
                  <a:lnTo>
                    <a:pt x="354" y="69"/>
                  </a:lnTo>
                  <a:lnTo>
                    <a:pt x="339" y="54"/>
                  </a:lnTo>
                  <a:lnTo>
                    <a:pt x="325" y="43"/>
                  </a:lnTo>
                  <a:lnTo>
                    <a:pt x="308" y="34"/>
                  </a:lnTo>
                  <a:lnTo>
                    <a:pt x="290" y="25"/>
                  </a:lnTo>
                  <a:lnTo>
                    <a:pt x="272" y="17"/>
                  </a:lnTo>
                  <a:lnTo>
                    <a:pt x="251" y="14"/>
                  </a:lnTo>
                  <a:lnTo>
                    <a:pt x="232" y="12"/>
                  </a:lnTo>
                  <a:lnTo>
                    <a:pt x="211" y="9"/>
                  </a:lnTo>
                  <a:lnTo>
                    <a:pt x="190" y="12"/>
                  </a:lnTo>
                  <a:lnTo>
                    <a:pt x="170" y="14"/>
                  </a:lnTo>
                  <a:lnTo>
                    <a:pt x="153" y="17"/>
                  </a:lnTo>
                  <a:lnTo>
                    <a:pt x="132" y="25"/>
                  </a:lnTo>
                  <a:lnTo>
                    <a:pt x="114" y="34"/>
                  </a:lnTo>
                  <a:lnTo>
                    <a:pt x="100" y="43"/>
                  </a:lnTo>
                  <a:lnTo>
                    <a:pt x="83" y="54"/>
                  </a:lnTo>
                  <a:lnTo>
                    <a:pt x="68" y="69"/>
                  </a:lnTo>
                  <a:lnTo>
                    <a:pt x="56" y="84"/>
                  </a:lnTo>
                  <a:lnTo>
                    <a:pt x="44" y="97"/>
                  </a:lnTo>
                  <a:lnTo>
                    <a:pt x="33" y="115"/>
                  </a:lnTo>
                  <a:lnTo>
                    <a:pt x="24" y="132"/>
                  </a:lnTo>
                  <a:lnTo>
                    <a:pt x="18" y="150"/>
                  </a:lnTo>
                  <a:lnTo>
                    <a:pt x="12" y="170"/>
                  </a:lnTo>
                  <a:lnTo>
                    <a:pt x="9" y="190"/>
                  </a:lnTo>
                  <a:lnTo>
                    <a:pt x="9" y="210"/>
                  </a:lnTo>
                  <a:lnTo>
                    <a:pt x="0" y="210"/>
                  </a:lnTo>
                </a:path>
              </a:pathLst>
            </a:custGeom>
            <a:solidFill>
              <a:srgbClr val="FFBD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29" name="Freeform 163">
              <a:extLst>
                <a:ext uri="{FF2B5EF4-FFF2-40B4-BE49-F238E27FC236}">
                  <a16:creationId xmlns:a16="http://schemas.microsoft.com/office/drawing/2014/main" id="{1284663B-9E9D-42B3-866F-EFB4519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3802"/>
              <a:ext cx="425" cy="209"/>
            </a:xfrm>
            <a:custGeom>
              <a:avLst/>
              <a:gdLst>
                <a:gd name="T0" fmla="*/ 0 w 425"/>
                <a:gd name="T1" fmla="*/ 0 h 209"/>
                <a:gd name="T2" fmla="*/ 3 w 425"/>
                <a:gd name="T3" fmla="*/ 41 h 209"/>
                <a:gd name="T4" fmla="*/ 15 w 425"/>
                <a:gd name="T5" fmla="*/ 81 h 209"/>
                <a:gd name="T6" fmla="*/ 35 w 425"/>
                <a:gd name="T7" fmla="*/ 116 h 209"/>
                <a:gd name="T8" fmla="*/ 62 w 425"/>
                <a:gd name="T9" fmla="*/ 147 h 209"/>
                <a:gd name="T10" fmla="*/ 94 w 425"/>
                <a:gd name="T11" fmla="*/ 173 h 209"/>
                <a:gd name="T12" fmla="*/ 129 w 425"/>
                <a:gd name="T13" fmla="*/ 193 h 209"/>
                <a:gd name="T14" fmla="*/ 170 w 425"/>
                <a:gd name="T15" fmla="*/ 205 h 209"/>
                <a:gd name="T16" fmla="*/ 211 w 425"/>
                <a:gd name="T17" fmla="*/ 208 h 209"/>
                <a:gd name="T18" fmla="*/ 254 w 425"/>
                <a:gd name="T19" fmla="*/ 205 h 209"/>
                <a:gd name="T20" fmla="*/ 293 w 425"/>
                <a:gd name="T21" fmla="*/ 193 h 209"/>
                <a:gd name="T22" fmla="*/ 331 w 425"/>
                <a:gd name="T23" fmla="*/ 173 h 209"/>
                <a:gd name="T24" fmla="*/ 360 w 425"/>
                <a:gd name="T25" fmla="*/ 147 h 209"/>
                <a:gd name="T26" fmla="*/ 387 w 425"/>
                <a:gd name="T27" fmla="*/ 116 h 209"/>
                <a:gd name="T28" fmla="*/ 407 w 425"/>
                <a:gd name="T29" fmla="*/ 81 h 209"/>
                <a:gd name="T30" fmla="*/ 418 w 425"/>
                <a:gd name="T31" fmla="*/ 41 h 209"/>
                <a:gd name="T32" fmla="*/ 424 w 425"/>
                <a:gd name="T33" fmla="*/ 0 h 209"/>
                <a:gd name="T34" fmla="*/ 413 w 425"/>
                <a:gd name="T35" fmla="*/ 20 h 209"/>
                <a:gd name="T36" fmla="*/ 404 w 425"/>
                <a:gd name="T37" fmla="*/ 57 h 209"/>
                <a:gd name="T38" fmla="*/ 389 w 425"/>
                <a:gd name="T39" fmla="*/ 95 h 209"/>
                <a:gd name="T40" fmla="*/ 369 w 425"/>
                <a:gd name="T41" fmla="*/ 127 h 209"/>
                <a:gd name="T42" fmla="*/ 339 w 425"/>
                <a:gd name="T43" fmla="*/ 153 h 209"/>
                <a:gd name="T44" fmla="*/ 308 w 425"/>
                <a:gd name="T45" fmla="*/ 176 h 209"/>
                <a:gd name="T46" fmla="*/ 272 w 425"/>
                <a:gd name="T47" fmla="*/ 191 h 209"/>
                <a:gd name="T48" fmla="*/ 232 w 425"/>
                <a:gd name="T49" fmla="*/ 199 h 209"/>
                <a:gd name="T50" fmla="*/ 190 w 425"/>
                <a:gd name="T51" fmla="*/ 199 h 209"/>
                <a:gd name="T52" fmla="*/ 153 w 425"/>
                <a:gd name="T53" fmla="*/ 191 h 209"/>
                <a:gd name="T54" fmla="*/ 114 w 425"/>
                <a:gd name="T55" fmla="*/ 176 h 209"/>
                <a:gd name="T56" fmla="*/ 83 w 425"/>
                <a:gd name="T57" fmla="*/ 153 h 209"/>
                <a:gd name="T58" fmla="*/ 56 w 425"/>
                <a:gd name="T59" fmla="*/ 127 h 209"/>
                <a:gd name="T60" fmla="*/ 33 w 425"/>
                <a:gd name="T61" fmla="*/ 95 h 209"/>
                <a:gd name="T62" fmla="*/ 18 w 425"/>
                <a:gd name="T63" fmla="*/ 57 h 209"/>
                <a:gd name="T64" fmla="*/ 9 w 425"/>
                <a:gd name="T65" fmla="*/ 20 h 209"/>
                <a:gd name="T66" fmla="*/ 0 w 425"/>
                <a:gd name="T67" fmla="*/ 0 h 20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25"/>
                <a:gd name="T103" fmla="*/ 0 h 209"/>
                <a:gd name="T104" fmla="*/ 425 w 425"/>
                <a:gd name="T105" fmla="*/ 209 h 20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25" h="209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3" y="41"/>
                  </a:lnTo>
                  <a:lnTo>
                    <a:pt x="9" y="60"/>
                  </a:lnTo>
                  <a:lnTo>
                    <a:pt x="15" y="81"/>
                  </a:lnTo>
                  <a:lnTo>
                    <a:pt x="24" y="98"/>
                  </a:lnTo>
                  <a:lnTo>
                    <a:pt x="35" y="116"/>
                  </a:lnTo>
                  <a:lnTo>
                    <a:pt x="47" y="133"/>
                  </a:lnTo>
                  <a:lnTo>
                    <a:pt x="62" y="147"/>
                  </a:lnTo>
                  <a:lnTo>
                    <a:pt x="77" y="161"/>
                  </a:lnTo>
                  <a:lnTo>
                    <a:pt x="94" y="173"/>
                  </a:lnTo>
                  <a:lnTo>
                    <a:pt x="111" y="185"/>
                  </a:lnTo>
                  <a:lnTo>
                    <a:pt x="129" y="193"/>
                  </a:lnTo>
                  <a:lnTo>
                    <a:pt x="150" y="199"/>
                  </a:lnTo>
                  <a:lnTo>
                    <a:pt x="170" y="205"/>
                  </a:lnTo>
                  <a:lnTo>
                    <a:pt x="190" y="208"/>
                  </a:lnTo>
                  <a:lnTo>
                    <a:pt x="211" y="208"/>
                  </a:lnTo>
                  <a:lnTo>
                    <a:pt x="235" y="208"/>
                  </a:lnTo>
                  <a:lnTo>
                    <a:pt x="254" y="205"/>
                  </a:lnTo>
                  <a:lnTo>
                    <a:pt x="275" y="199"/>
                  </a:lnTo>
                  <a:lnTo>
                    <a:pt x="293" y="193"/>
                  </a:lnTo>
                  <a:lnTo>
                    <a:pt x="314" y="185"/>
                  </a:lnTo>
                  <a:lnTo>
                    <a:pt x="331" y="173"/>
                  </a:lnTo>
                  <a:lnTo>
                    <a:pt x="345" y="161"/>
                  </a:lnTo>
                  <a:lnTo>
                    <a:pt x="360" y="147"/>
                  </a:lnTo>
                  <a:lnTo>
                    <a:pt x="375" y="133"/>
                  </a:lnTo>
                  <a:lnTo>
                    <a:pt x="387" y="116"/>
                  </a:lnTo>
                  <a:lnTo>
                    <a:pt x="398" y="98"/>
                  </a:lnTo>
                  <a:lnTo>
                    <a:pt x="407" y="81"/>
                  </a:lnTo>
                  <a:lnTo>
                    <a:pt x="413" y="60"/>
                  </a:lnTo>
                  <a:lnTo>
                    <a:pt x="418" y="41"/>
                  </a:lnTo>
                  <a:lnTo>
                    <a:pt x="421" y="20"/>
                  </a:lnTo>
                  <a:lnTo>
                    <a:pt x="424" y="0"/>
                  </a:lnTo>
                  <a:lnTo>
                    <a:pt x="415" y="0"/>
                  </a:lnTo>
                  <a:lnTo>
                    <a:pt x="413" y="20"/>
                  </a:lnTo>
                  <a:lnTo>
                    <a:pt x="410" y="41"/>
                  </a:lnTo>
                  <a:lnTo>
                    <a:pt x="404" y="57"/>
                  </a:lnTo>
                  <a:lnTo>
                    <a:pt x="398" y="78"/>
                  </a:lnTo>
                  <a:lnTo>
                    <a:pt x="389" y="95"/>
                  </a:lnTo>
                  <a:lnTo>
                    <a:pt x="381" y="113"/>
                  </a:lnTo>
                  <a:lnTo>
                    <a:pt x="369" y="127"/>
                  </a:lnTo>
                  <a:lnTo>
                    <a:pt x="354" y="142"/>
                  </a:lnTo>
                  <a:lnTo>
                    <a:pt x="339" y="153"/>
                  </a:lnTo>
                  <a:lnTo>
                    <a:pt x="325" y="164"/>
                  </a:lnTo>
                  <a:lnTo>
                    <a:pt x="308" y="176"/>
                  </a:lnTo>
                  <a:lnTo>
                    <a:pt x="290" y="185"/>
                  </a:lnTo>
                  <a:lnTo>
                    <a:pt x="272" y="191"/>
                  </a:lnTo>
                  <a:lnTo>
                    <a:pt x="251" y="196"/>
                  </a:lnTo>
                  <a:lnTo>
                    <a:pt x="232" y="199"/>
                  </a:lnTo>
                  <a:lnTo>
                    <a:pt x="211" y="199"/>
                  </a:lnTo>
                  <a:lnTo>
                    <a:pt x="190" y="199"/>
                  </a:lnTo>
                  <a:lnTo>
                    <a:pt x="170" y="196"/>
                  </a:lnTo>
                  <a:lnTo>
                    <a:pt x="153" y="191"/>
                  </a:lnTo>
                  <a:lnTo>
                    <a:pt x="132" y="185"/>
                  </a:lnTo>
                  <a:lnTo>
                    <a:pt x="114" y="176"/>
                  </a:lnTo>
                  <a:lnTo>
                    <a:pt x="100" y="164"/>
                  </a:lnTo>
                  <a:lnTo>
                    <a:pt x="83" y="153"/>
                  </a:lnTo>
                  <a:lnTo>
                    <a:pt x="68" y="142"/>
                  </a:lnTo>
                  <a:lnTo>
                    <a:pt x="56" y="127"/>
                  </a:lnTo>
                  <a:lnTo>
                    <a:pt x="44" y="113"/>
                  </a:lnTo>
                  <a:lnTo>
                    <a:pt x="33" y="95"/>
                  </a:lnTo>
                  <a:lnTo>
                    <a:pt x="24" y="78"/>
                  </a:lnTo>
                  <a:lnTo>
                    <a:pt x="18" y="57"/>
                  </a:lnTo>
                  <a:lnTo>
                    <a:pt x="12" y="41"/>
                  </a:lnTo>
                  <a:lnTo>
                    <a:pt x="9" y="20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D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0" name="Freeform 164">
              <a:extLst>
                <a:ext uri="{FF2B5EF4-FFF2-40B4-BE49-F238E27FC236}">
                  <a16:creationId xmlns:a16="http://schemas.microsoft.com/office/drawing/2014/main" id="{30BDEEF9-19A7-43B0-B073-9C7F8F565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3595"/>
              <a:ext cx="407" cy="202"/>
            </a:xfrm>
            <a:custGeom>
              <a:avLst/>
              <a:gdLst>
                <a:gd name="T0" fmla="*/ 0 w 407"/>
                <a:gd name="T1" fmla="*/ 181 h 202"/>
                <a:gd name="T2" fmla="*/ 9 w 407"/>
                <a:gd name="T3" fmla="*/ 141 h 202"/>
                <a:gd name="T4" fmla="*/ 24 w 407"/>
                <a:gd name="T5" fmla="*/ 106 h 202"/>
                <a:gd name="T6" fmla="*/ 47 w 407"/>
                <a:gd name="T7" fmla="*/ 75 h 202"/>
                <a:gd name="T8" fmla="*/ 74 w 407"/>
                <a:gd name="T9" fmla="*/ 46 h 202"/>
                <a:gd name="T10" fmla="*/ 105 w 407"/>
                <a:gd name="T11" fmla="*/ 25 h 202"/>
                <a:gd name="T12" fmla="*/ 144 w 407"/>
                <a:gd name="T13" fmla="*/ 8 h 202"/>
                <a:gd name="T14" fmla="*/ 181 w 407"/>
                <a:gd name="T15" fmla="*/ 3 h 202"/>
                <a:gd name="T16" fmla="*/ 223 w 407"/>
                <a:gd name="T17" fmla="*/ 3 h 202"/>
                <a:gd name="T18" fmla="*/ 263 w 407"/>
                <a:gd name="T19" fmla="*/ 8 h 202"/>
                <a:gd name="T20" fmla="*/ 299 w 407"/>
                <a:gd name="T21" fmla="*/ 25 h 202"/>
                <a:gd name="T22" fmla="*/ 330 w 407"/>
                <a:gd name="T23" fmla="*/ 46 h 202"/>
                <a:gd name="T24" fmla="*/ 360 w 407"/>
                <a:gd name="T25" fmla="*/ 75 h 202"/>
                <a:gd name="T26" fmla="*/ 380 w 407"/>
                <a:gd name="T27" fmla="*/ 106 h 202"/>
                <a:gd name="T28" fmla="*/ 395 w 407"/>
                <a:gd name="T29" fmla="*/ 141 h 202"/>
                <a:gd name="T30" fmla="*/ 404 w 407"/>
                <a:gd name="T31" fmla="*/ 181 h 202"/>
                <a:gd name="T32" fmla="*/ 395 w 407"/>
                <a:gd name="T33" fmla="*/ 201 h 202"/>
                <a:gd name="T34" fmla="*/ 392 w 407"/>
                <a:gd name="T35" fmla="*/ 161 h 202"/>
                <a:gd name="T36" fmla="*/ 380 w 407"/>
                <a:gd name="T37" fmla="*/ 126 h 202"/>
                <a:gd name="T38" fmla="*/ 363 w 407"/>
                <a:gd name="T39" fmla="*/ 94 h 202"/>
                <a:gd name="T40" fmla="*/ 339 w 407"/>
                <a:gd name="T41" fmla="*/ 66 h 202"/>
                <a:gd name="T42" fmla="*/ 310 w 407"/>
                <a:gd name="T43" fmla="*/ 43 h 202"/>
                <a:gd name="T44" fmla="*/ 278 w 407"/>
                <a:gd name="T45" fmla="*/ 25 h 202"/>
                <a:gd name="T46" fmla="*/ 242 w 407"/>
                <a:gd name="T47" fmla="*/ 14 h 202"/>
                <a:gd name="T48" fmla="*/ 202 w 407"/>
                <a:gd name="T49" fmla="*/ 8 h 202"/>
                <a:gd name="T50" fmla="*/ 164 w 407"/>
                <a:gd name="T51" fmla="*/ 14 h 202"/>
                <a:gd name="T52" fmla="*/ 126 w 407"/>
                <a:gd name="T53" fmla="*/ 25 h 202"/>
                <a:gd name="T54" fmla="*/ 94 w 407"/>
                <a:gd name="T55" fmla="*/ 43 h 202"/>
                <a:gd name="T56" fmla="*/ 65 w 407"/>
                <a:gd name="T57" fmla="*/ 66 h 202"/>
                <a:gd name="T58" fmla="*/ 41 w 407"/>
                <a:gd name="T59" fmla="*/ 94 h 202"/>
                <a:gd name="T60" fmla="*/ 24 w 407"/>
                <a:gd name="T61" fmla="*/ 126 h 202"/>
                <a:gd name="T62" fmla="*/ 12 w 407"/>
                <a:gd name="T63" fmla="*/ 161 h 202"/>
                <a:gd name="T64" fmla="*/ 9 w 407"/>
                <a:gd name="T65" fmla="*/ 201 h 20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07"/>
                <a:gd name="T100" fmla="*/ 0 h 202"/>
                <a:gd name="T101" fmla="*/ 407 w 407"/>
                <a:gd name="T102" fmla="*/ 202 h 20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07" h="202">
                  <a:moveTo>
                    <a:pt x="0" y="201"/>
                  </a:moveTo>
                  <a:lnTo>
                    <a:pt x="0" y="181"/>
                  </a:lnTo>
                  <a:lnTo>
                    <a:pt x="3" y="161"/>
                  </a:lnTo>
                  <a:lnTo>
                    <a:pt x="9" y="141"/>
                  </a:lnTo>
                  <a:lnTo>
                    <a:pt x="15" y="123"/>
                  </a:lnTo>
                  <a:lnTo>
                    <a:pt x="24" y="106"/>
                  </a:lnTo>
                  <a:lnTo>
                    <a:pt x="35" y="88"/>
                  </a:lnTo>
                  <a:lnTo>
                    <a:pt x="47" y="75"/>
                  </a:lnTo>
                  <a:lnTo>
                    <a:pt x="59" y="60"/>
                  </a:lnTo>
                  <a:lnTo>
                    <a:pt x="74" y="46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23" y="17"/>
                  </a:lnTo>
                  <a:lnTo>
                    <a:pt x="144" y="8"/>
                  </a:lnTo>
                  <a:lnTo>
                    <a:pt x="161" y="5"/>
                  </a:lnTo>
                  <a:lnTo>
                    <a:pt x="181" y="3"/>
                  </a:lnTo>
                  <a:lnTo>
                    <a:pt x="202" y="0"/>
                  </a:lnTo>
                  <a:lnTo>
                    <a:pt x="223" y="3"/>
                  </a:lnTo>
                  <a:lnTo>
                    <a:pt x="242" y="5"/>
                  </a:lnTo>
                  <a:lnTo>
                    <a:pt x="263" y="8"/>
                  </a:lnTo>
                  <a:lnTo>
                    <a:pt x="281" y="17"/>
                  </a:lnTo>
                  <a:lnTo>
                    <a:pt x="299" y="25"/>
                  </a:lnTo>
                  <a:lnTo>
                    <a:pt x="316" y="34"/>
                  </a:lnTo>
                  <a:lnTo>
                    <a:pt x="330" y="46"/>
                  </a:lnTo>
                  <a:lnTo>
                    <a:pt x="345" y="60"/>
                  </a:lnTo>
                  <a:lnTo>
                    <a:pt x="360" y="75"/>
                  </a:lnTo>
                  <a:lnTo>
                    <a:pt x="372" y="88"/>
                  </a:lnTo>
                  <a:lnTo>
                    <a:pt x="380" y="106"/>
                  </a:lnTo>
                  <a:lnTo>
                    <a:pt x="389" y="123"/>
                  </a:lnTo>
                  <a:lnTo>
                    <a:pt x="395" y="141"/>
                  </a:lnTo>
                  <a:lnTo>
                    <a:pt x="401" y="161"/>
                  </a:lnTo>
                  <a:lnTo>
                    <a:pt x="404" y="181"/>
                  </a:lnTo>
                  <a:lnTo>
                    <a:pt x="406" y="201"/>
                  </a:lnTo>
                  <a:lnTo>
                    <a:pt x="395" y="201"/>
                  </a:lnTo>
                  <a:lnTo>
                    <a:pt x="395" y="181"/>
                  </a:lnTo>
                  <a:lnTo>
                    <a:pt x="392" y="161"/>
                  </a:lnTo>
                  <a:lnTo>
                    <a:pt x="386" y="144"/>
                  </a:lnTo>
                  <a:lnTo>
                    <a:pt x="380" y="126"/>
                  </a:lnTo>
                  <a:lnTo>
                    <a:pt x="372" y="109"/>
                  </a:lnTo>
                  <a:lnTo>
                    <a:pt x="363" y="94"/>
                  </a:lnTo>
                  <a:lnTo>
                    <a:pt x="351" y="81"/>
                  </a:lnTo>
                  <a:lnTo>
                    <a:pt x="339" y="66"/>
                  </a:lnTo>
                  <a:lnTo>
                    <a:pt x="324" y="54"/>
                  </a:lnTo>
                  <a:lnTo>
                    <a:pt x="310" y="43"/>
                  </a:lnTo>
                  <a:lnTo>
                    <a:pt x="296" y="31"/>
                  </a:lnTo>
                  <a:lnTo>
                    <a:pt x="278" y="25"/>
                  </a:lnTo>
                  <a:lnTo>
                    <a:pt x="260" y="17"/>
                  </a:lnTo>
                  <a:lnTo>
                    <a:pt x="242" y="14"/>
                  </a:lnTo>
                  <a:lnTo>
                    <a:pt x="223" y="11"/>
                  </a:lnTo>
                  <a:lnTo>
                    <a:pt x="202" y="8"/>
                  </a:lnTo>
                  <a:lnTo>
                    <a:pt x="184" y="11"/>
                  </a:lnTo>
                  <a:lnTo>
                    <a:pt x="164" y="14"/>
                  </a:lnTo>
                  <a:lnTo>
                    <a:pt x="147" y="17"/>
                  </a:lnTo>
                  <a:lnTo>
                    <a:pt x="126" y="25"/>
                  </a:lnTo>
                  <a:lnTo>
                    <a:pt x="111" y="31"/>
                  </a:lnTo>
                  <a:lnTo>
                    <a:pt x="94" y="43"/>
                  </a:lnTo>
                  <a:lnTo>
                    <a:pt x="79" y="54"/>
                  </a:lnTo>
                  <a:lnTo>
                    <a:pt x="65" y="66"/>
                  </a:lnTo>
                  <a:lnTo>
                    <a:pt x="53" y="81"/>
                  </a:lnTo>
                  <a:lnTo>
                    <a:pt x="41" y="94"/>
                  </a:lnTo>
                  <a:lnTo>
                    <a:pt x="33" y="109"/>
                  </a:lnTo>
                  <a:lnTo>
                    <a:pt x="24" y="126"/>
                  </a:lnTo>
                  <a:lnTo>
                    <a:pt x="18" y="144"/>
                  </a:lnTo>
                  <a:lnTo>
                    <a:pt x="12" y="161"/>
                  </a:lnTo>
                  <a:lnTo>
                    <a:pt x="9" y="181"/>
                  </a:lnTo>
                  <a:lnTo>
                    <a:pt x="9" y="201"/>
                  </a:lnTo>
                  <a:lnTo>
                    <a:pt x="0" y="201"/>
                  </a:lnTo>
                </a:path>
              </a:pathLst>
            </a:custGeom>
            <a:solidFill>
              <a:srgbClr val="FFC2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1" name="Freeform 165">
              <a:extLst>
                <a:ext uri="{FF2B5EF4-FFF2-40B4-BE49-F238E27FC236}">
                  <a16:creationId xmlns:a16="http://schemas.microsoft.com/office/drawing/2014/main" id="{FEF57F45-D2FD-445E-8620-5FF15AE58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3802"/>
              <a:ext cx="407" cy="200"/>
            </a:xfrm>
            <a:custGeom>
              <a:avLst/>
              <a:gdLst>
                <a:gd name="T0" fmla="*/ 0 w 407"/>
                <a:gd name="T1" fmla="*/ 0 h 200"/>
                <a:gd name="T2" fmla="*/ 3 w 407"/>
                <a:gd name="T3" fmla="*/ 41 h 200"/>
                <a:gd name="T4" fmla="*/ 15 w 407"/>
                <a:gd name="T5" fmla="*/ 78 h 200"/>
                <a:gd name="T6" fmla="*/ 35 w 407"/>
                <a:gd name="T7" fmla="*/ 113 h 200"/>
                <a:gd name="T8" fmla="*/ 59 w 407"/>
                <a:gd name="T9" fmla="*/ 142 h 200"/>
                <a:gd name="T10" fmla="*/ 91 w 407"/>
                <a:gd name="T11" fmla="*/ 164 h 200"/>
                <a:gd name="T12" fmla="*/ 123 w 407"/>
                <a:gd name="T13" fmla="*/ 184 h 200"/>
                <a:gd name="T14" fmla="*/ 161 w 407"/>
                <a:gd name="T15" fmla="*/ 196 h 200"/>
                <a:gd name="T16" fmla="*/ 202 w 407"/>
                <a:gd name="T17" fmla="*/ 199 h 200"/>
                <a:gd name="T18" fmla="*/ 242 w 407"/>
                <a:gd name="T19" fmla="*/ 196 h 200"/>
                <a:gd name="T20" fmla="*/ 281 w 407"/>
                <a:gd name="T21" fmla="*/ 184 h 200"/>
                <a:gd name="T22" fmla="*/ 316 w 407"/>
                <a:gd name="T23" fmla="*/ 164 h 200"/>
                <a:gd name="T24" fmla="*/ 345 w 407"/>
                <a:gd name="T25" fmla="*/ 142 h 200"/>
                <a:gd name="T26" fmla="*/ 372 w 407"/>
                <a:gd name="T27" fmla="*/ 113 h 200"/>
                <a:gd name="T28" fmla="*/ 389 w 407"/>
                <a:gd name="T29" fmla="*/ 78 h 200"/>
                <a:gd name="T30" fmla="*/ 401 w 407"/>
                <a:gd name="T31" fmla="*/ 41 h 200"/>
                <a:gd name="T32" fmla="*/ 406 w 407"/>
                <a:gd name="T33" fmla="*/ 0 h 200"/>
                <a:gd name="T34" fmla="*/ 395 w 407"/>
                <a:gd name="T35" fmla="*/ 17 h 200"/>
                <a:gd name="T36" fmla="*/ 386 w 407"/>
                <a:gd name="T37" fmla="*/ 55 h 200"/>
                <a:gd name="T38" fmla="*/ 372 w 407"/>
                <a:gd name="T39" fmla="*/ 89 h 200"/>
                <a:gd name="T40" fmla="*/ 351 w 407"/>
                <a:gd name="T41" fmla="*/ 121 h 200"/>
                <a:gd name="T42" fmla="*/ 324 w 407"/>
                <a:gd name="T43" fmla="*/ 147 h 200"/>
                <a:gd name="T44" fmla="*/ 296 w 407"/>
                <a:gd name="T45" fmla="*/ 167 h 200"/>
                <a:gd name="T46" fmla="*/ 260 w 407"/>
                <a:gd name="T47" fmla="*/ 182 h 200"/>
                <a:gd name="T48" fmla="*/ 223 w 407"/>
                <a:gd name="T49" fmla="*/ 190 h 200"/>
                <a:gd name="T50" fmla="*/ 184 w 407"/>
                <a:gd name="T51" fmla="*/ 190 h 200"/>
                <a:gd name="T52" fmla="*/ 147 w 407"/>
                <a:gd name="T53" fmla="*/ 182 h 200"/>
                <a:gd name="T54" fmla="*/ 111 w 407"/>
                <a:gd name="T55" fmla="*/ 167 h 200"/>
                <a:gd name="T56" fmla="*/ 79 w 407"/>
                <a:gd name="T57" fmla="*/ 147 h 200"/>
                <a:gd name="T58" fmla="*/ 53 w 407"/>
                <a:gd name="T59" fmla="*/ 121 h 200"/>
                <a:gd name="T60" fmla="*/ 33 w 407"/>
                <a:gd name="T61" fmla="*/ 89 h 200"/>
                <a:gd name="T62" fmla="*/ 18 w 407"/>
                <a:gd name="T63" fmla="*/ 55 h 200"/>
                <a:gd name="T64" fmla="*/ 9 w 407"/>
                <a:gd name="T65" fmla="*/ 17 h 200"/>
                <a:gd name="T66" fmla="*/ 0 w 407"/>
                <a:gd name="T67" fmla="*/ 0 h 20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7"/>
                <a:gd name="T103" fmla="*/ 0 h 200"/>
                <a:gd name="T104" fmla="*/ 407 w 407"/>
                <a:gd name="T105" fmla="*/ 200 h 20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7" h="200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3" y="41"/>
                  </a:lnTo>
                  <a:lnTo>
                    <a:pt x="9" y="57"/>
                  </a:lnTo>
                  <a:lnTo>
                    <a:pt x="15" y="78"/>
                  </a:lnTo>
                  <a:lnTo>
                    <a:pt x="24" y="95"/>
                  </a:lnTo>
                  <a:lnTo>
                    <a:pt x="35" y="113"/>
                  </a:lnTo>
                  <a:lnTo>
                    <a:pt x="47" y="127"/>
                  </a:lnTo>
                  <a:lnTo>
                    <a:pt x="59" y="142"/>
                  </a:lnTo>
                  <a:lnTo>
                    <a:pt x="74" y="152"/>
                  </a:lnTo>
                  <a:lnTo>
                    <a:pt x="91" y="164"/>
                  </a:lnTo>
                  <a:lnTo>
                    <a:pt x="105" y="176"/>
                  </a:lnTo>
                  <a:lnTo>
                    <a:pt x="123" y="184"/>
                  </a:lnTo>
                  <a:lnTo>
                    <a:pt x="144" y="190"/>
                  </a:lnTo>
                  <a:lnTo>
                    <a:pt x="161" y="196"/>
                  </a:lnTo>
                  <a:lnTo>
                    <a:pt x="181" y="199"/>
                  </a:lnTo>
                  <a:lnTo>
                    <a:pt x="202" y="199"/>
                  </a:lnTo>
                  <a:lnTo>
                    <a:pt x="223" y="199"/>
                  </a:lnTo>
                  <a:lnTo>
                    <a:pt x="242" y="196"/>
                  </a:lnTo>
                  <a:lnTo>
                    <a:pt x="263" y="190"/>
                  </a:lnTo>
                  <a:lnTo>
                    <a:pt x="281" y="184"/>
                  </a:lnTo>
                  <a:lnTo>
                    <a:pt x="299" y="176"/>
                  </a:lnTo>
                  <a:lnTo>
                    <a:pt x="316" y="164"/>
                  </a:lnTo>
                  <a:lnTo>
                    <a:pt x="330" y="152"/>
                  </a:lnTo>
                  <a:lnTo>
                    <a:pt x="345" y="142"/>
                  </a:lnTo>
                  <a:lnTo>
                    <a:pt x="360" y="127"/>
                  </a:lnTo>
                  <a:lnTo>
                    <a:pt x="372" y="113"/>
                  </a:lnTo>
                  <a:lnTo>
                    <a:pt x="380" y="95"/>
                  </a:lnTo>
                  <a:lnTo>
                    <a:pt x="389" y="78"/>
                  </a:lnTo>
                  <a:lnTo>
                    <a:pt x="395" y="57"/>
                  </a:lnTo>
                  <a:lnTo>
                    <a:pt x="401" y="41"/>
                  </a:lnTo>
                  <a:lnTo>
                    <a:pt x="404" y="20"/>
                  </a:lnTo>
                  <a:lnTo>
                    <a:pt x="406" y="0"/>
                  </a:lnTo>
                  <a:lnTo>
                    <a:pt x="395" y="0"/>
                  </a:lnTo>
                  <a:lnTo>
                    <a:pt x="395" y="17"/>
                  </a:lnTo>
                  <a:lnTo>
                    <a:pt x="392" y="38"/>
                  </a:lnTo>
                  <a:lnTo>
                    <a:pt x="386" y="55"/>
                  </a:lnTo>
                  <a:lnTo>
                    <a:pt x="380" y="75"/>
                  </a:lnTo>
                  <a:lnTo>
                    <a:pt x="372" y="89"/>
                  </a:lnTo>
                  <a:lnTo>
                    <a:pt x="363" y="107"/>
                  </a:lnTo>
                  <a:lnTo>
                    <a:pt x="351" y="121"/>
                  </a:lnTo>
                  <a:lnTo>
                    <a:pt x="339" y="136"/>
                  </a:lnTo>
                  <a:lnTo>
                    <a:pt x="324" y="147"/>
                  </a:lnTo>
                  <a:lnTo>
                    <a:pt x="310" y="158"/>
                  </a:lnTo>
                  <a:lnTo>
                    <a:pt x="296" y="167"/>
                  </a:lnTo>
                  <a:lnTo>
                    <a:pt x="278" y="176"/>
                  </a:lnTo>
                  <a:lnTo>
                    <a:pt x="260" y="182"/>
                  </a:lnTo>
                  <a:lnTo>
                    <a:pt x="242" y="187"/>
                  </a:lnTo>
                  <a:lnTo>
                    <a:pt x="223" y="190"/>
                  </a:lnTo>
                  <a:lnTo>
                    <a:pt x="202" y="190"/>
                  </a:lnTo>
                  <a:lnTo>
                    <a:pt x="184" y="190"/>
                  </a:lnTo>
                  <a:lnTo>
                    <a:pt x="164" y="187"/>
                  </a:lnTo>
                  <a:lnTo>
                    <a:pt x="147" y="182"/>
                  </a:lnTo>
                  <a:lnTo>
                    <a:pt x="126" y="176"/>
                  </a:lnTo>
                  <a:lnTo>
                    <a:pt x="111" y="167"/>
                  </a:lnTo>
                  <a:lnTo>
                    <a:pt x="94" y="158"/>
                  </a:lnTo>
                  <a:lnTo>
                    <a:pt x="79" y="147"/>
                  </a:lnTo>
                  <a:lnTo>
                    <a:pt x="65" y="136"/>
                  </a:lnTo>
                  <a:lnTo>
                    <a:pt x="53" y="121"/>
                  </a:lnTo>
                  <a:lnTo>
                    <a:pt x="41" y="107"/>
                  </a:lnTo>
                  <a:lnTo>
                    <a:pt x="33" y="89"/>
                  </a:lnTo>
                  <a:lnTo>
                    <a:pt x="24" y="75"/>
                  </a:lnTo>
                  <a:lnTo>
                    <a:pt x="18" y="55"/>
                  </a:lnTo>
                  <a:lnTo>
                    <a:pt x="12" y="38"/>
                  </a:lnTo>
                  <a:lnTo>
                    <a:pt x="9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2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2" name="Freeform 166">
              <a:extLst>
                <a:ext uri="{FF2B5EF4-FFF2-40B4-BE49-F238E27FC236}">
                  <a16:creationId xmlns:a16="http://schemas.microsoft.com/office/drawing/2014/main" id="{DC646F5F-7444-4ADE-94E5-9DB00221A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603"/>
              <a:ext cx="387" cy="194"/>
            </a:xfrm>
            <a:custGeom>
              <a:avLst/>
              <a:gdLst>
                <a:gd name="T0" fmla="*/ 0 w 387"/>
                <a:gd name="T1" fmla="*/ 173 h 194"/>
                <a:gd name="T2" fmla="*/ 9 w 387"/>
                <a:gd name="T3" fmla="*/ 136 h 194"/>
                <a:gd name="T4" fmla="*/ 24 w 387"/>
                <a:gd name="T5" fmla="*/ 101 h 194"/>
                <a:gd name="T6" fmla="*/ 44 w 387"/>
                <a:gd name="T7" fmla="*/ 73 h 194"/>
                <a:gd name="T8" fmla="*/ 70 w 387"/>
                <a:gd name="T9" fmla="*/ 47 h 194"/>
                <a:gd name="T10" fmla="*/ 102 w 387"/>
                <a:gd name="T11" fmla="*/ 23 h 194"/>
                <a:gd name="T12" fmla="*/ 138 w 387"/>
                <a:gd name="T13" fmla="*/ 9 h 194"/>
                <a:gd name="T14" fmla="*/ 175 w 387"/>
                <a:gd name="T15" fmla="*/ 3 h 194"/>
                <a:gd name="T16" fmla="*/ 214 w 387"/>
                <a:gd name="T17" fmla="*/ 3 h 194"/>
                <a:gd name="T18" fmla="*/ 251 w 387"/>
                <a:gd name="T19" fmla="*/ 9 h 194"/>
                <a:gd name="T20" fmla="*/ 287 w 387"/>
                <a:gd name="T21" fmla="*/ 23 h 194"/>
                <a:gd name="T22" fmla="*/ 315 w 387"/>
                <a:gd name="T23" fmla="*/ 47 h 194"/>
                <a:gd name="T24" fmla="*/ 342 w 387"/>
                <a:gd name="T25" fmla="*/ 73 h 194"/>
                <a:gd name="T26" fmla="*/ 362 w 387"/>
                <a:gd name="T27" fmla="*/ 101 h 194"/>
                <a:gd name="T28" fmla="*/ 377 w 387"/>
                <a:gd name="T29" fmla="*/ 136 h 194"/>
                <a:gd name="T30" fmla="*/ 386 w 387"/>
                <a:gd name="T31" fmla="*/ 173 h 194"/>
                <a:gd name="T32" fmla="*/ 377 w 387"/>
                <a:gd name="T33" fmla="*/ 193 h 194"/>
                <a:gd name="T34" fmla="*/ 374 w 387"/>
                <a:gd name="T35" fmla="*/ 156 h 194"/>
                <a:gd name="T36" fmla="*/ 362 w 387"/>
                <a:gd name="T37" fmla="*/ 121 h 194"/>
                <a:gd name="T38" fmla="*/ 345 w 387"/>
                <a:gd name="T39" fmla="*/ 89 h 194"/>
                <a:gd name="T40" fmla="*/ 324 w 387"/>
                <a:gd name="T41" fmla="*/ 64 h 194"/>
                <a:gd name="T42" fmla="*/ 295 w 387"/>
                <a:gd name="T43" fmla="*/ 41 h 194"/>
                <a:gd name="T44" fmla="*/ 266 w 387"/>
                <a:gd name="T45" fmla="*/ 26 h 194"/>
                <a:gd name="T46" fmla="*/ 231 w 387"/>
                <a:gd name="T47" fmla="*/ 15 h 194"/>
                <a:gd name="T48" fmla="*/ 193 w 387"/>
                <a:gd name="T49" fmla="*/ 12 h 194"/>
                <a:gd name="T50" fmla="*/ 158 w 387"/>
                <a:gd name="T51" fmla="*/ 15 h 194"/>
                <a:gd name="T52" fmla="*/ 123 w 387"/>
                <a:gd name="T53" fmla="*/ 26 h 194"/>
                <a:gd name="T54" fmla="*/ 91 w 387"/>
                <a:gd name="T55" fmla="*/ 41 h 194"/>
                <a:gd name="T56" fmla="*/ 65 w 387"/>
                <a:gd name="T57" fmla="*/ 64 h 194"/>
                <a:gd name="T58" fmla="*/ 41 w 387"/>
                <a:gd name="T59" fmla="*/ 89 h 194"/>
                <a:gd name="T60" fmla="*/ 24 w 387"/>
                <a:gd name="T61" fmla="*/ 121 h 194"/>
                <a:gd name="T62" fmla="*/ 15 w 387"/>
                <a:gd name="T63" fmla="*/ 156 h 194"/>
                <a:gd name="T64" fmla="*/ 9 w 387"/>
                <a:gd name="T65" fmla="*/ 193 h 1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87"/>
                <a:gd name="T100" fmla="*/ 0 h 194"/>
                <a:gd name="T101" fmla="*/ 387 w 387"/>
                <a:gd name="T102" fmla="*/ 194 h 1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87" h="194">
                  <a:moveTo>
                    <a:pt x="0" y="193"/>
                  </a:moveTo>
                  <a:lnTo>
                    <a:pt x="0" y="173"/>
                  </a:lnTo>
                  <a:lnTo>
                    <a:pt x="3" y="153"/>
                  </a:lnTo>
                  <a:lnTo>
                    <a:pt x="9" y="136"/>
                  </a:lnTo>
                  <a:lnTo>
                    <a:pt x="15" y="118"/>
                  </a:lnTo>
                  <a:lnTo>
                    <a:pt x="24" y="101"/>
                  </a:lnTo>
                  <a:lnTo>
                    <a:pt x="32" y="86"/>
                  </a:lnTo>
                  <a:lnTo>
                    <a:pt x="44" y="73"/>
                  </a:lnTo>
                  <a:lnTo>
                    <a:pt x="56" y="58"/>
                  </a:lnTo>
                  <a:lnTo>
                    <a:pt x="70" y="47"/>
                  </a:lnTo>
                  <a:lnTo>
                    <a:pt x="85" y="35"/>
                  </a:lnTo>
                  <a:lnTo>
                    <a:pt x="102" y="23"/>
                  </a:lnTo>
                  <a:lnTo>
                    <a:pt x="117" y="17"/>
                  </a:lnTo>
                  <a:lnTo>
                    <a:pt x="138" y="9"/>
                  </a:lnTo>
                  <a:lnTo>
                    <a:pt x="155" y="6"/>
                  </a:lnTo>
                  <a:lnTo>
                    <a:pt x="175" y="3"/>
                  </a:lnTo>
                  <a:lnTo>
                    <a:pt x="193" y="0"/>
                  </a:lnTo>
                  <a:lnTo>
                    <a:pt x="214" y="3"/>
                  </a:lnTo>
                  <a:lnTo>
                    <a:pt x="233" y="6"/>
                  </a:lnTo>
                  <a:lnTo>
                    <a:pt x="251" y="9"/>
                  </a:lnTo>
                  <a:lnTo>
                    <a:pt x="269" y="17"/>
                  </a:lnTo>
                  <a:lnTo>
                    <a:pt x="287" y="23"/>
                  </a:lnTo>
                  <a:lnTo>
                    <a:pt x="301" y="35"/>
                  </a:lnTo>
                  <a:lnTo>
                    <a:pt x="315" y="47"/>
                  </a:lnTo>
                  <a:lnTo>
                    <a:pt x="330" y="58"/>
                  </a:lnTo>
                  <a:lnTo>
                    <a:pt x="342" y="73"/>
                  </a:lnTo>
                  <a:lnTo>
                    <a:pt x="354" y="86"/>
                  </a:lnTo>
                  <a:lnTo>
                    <a:pt x="362" y="101"/>
                  </a:lnTo>
                  <a:lnTo>
                    <a:pt x="371" y="118"/>
                  </a:lnTo>
                  <a:lnTo>
                    <a:pt x="377" y="136"/>
                  </a:lnTo>
                  <a:lnTo>
                    <a:pt x="383" y="153"/>
                  </a:lnTo>
                  <a:lnTo>
                    <a:pt x="386" y="173"/>
                  </a:lnTo>
                  <a:lnTo>
                    <a:pt x="386" y="193"/>
                  </a:lnTo>
                  <a:lnTo>
                    <a:pt x="377" y="193"/>
                  </a:lnTo>
                  <a:lnTo>
                    <a:pt x="377" y="173"/>
                  </a:lnTo>
                  <a:lnTo>
                    <a:pt x="374" y="156"/>
                  </a:lnTo>
                  <a:lnTo>
                    <a:pt x="368" y="139"/>
                  </a:lnTo>
                  <a:lnTo>
                    <a:pt x="362" y="121"/>
                  </a:lnTo>
                  <a:lnTo>
                    <a:pt x="354" y="107"/>
                  </a:lnTo>
                  <a:lnTo>
                    <a:pt x="345" y="89"/>
                  </a:lnTo>
                  <a:lnTo>
                    <a:pt x="336" y="79"/>
                  </a:lnTo>
                  <a:lnTo>
                    <a:pt x="324" y="64"/>
                  </a:lnTo>
                  <a:lnTo>
                    <a:pt x="310" y="52"/>
                  </a:lnTo>
                  <a:lnTo>
                    <a:pt x="295" y="41"/>
                  </a:lnTo>
                  <a:lnTo>
                    <a:pt x="281" y="32"/>
                  </a:lnTo>
                  <a:lnTo>
                    <a:pt x="266" y="26"/>
                  </a:lnTo>
                  <a:lnTo>
                    <a:pt x="248" y="20"/>
                  </a:lnTo>
                  <a:lnTo>
                    <a:pt x="231" y="15"/>
                  </a:lnTo>
                  <a:lnTo>
                    <a:pt x="214" y="12"/>
                  </a:lnTo>
                  <a:lnTo>
                    <a:pt x="193" y="12"/>
                  </a:lnTo>
                  <a:lnTo>
                    <a:pt x="175" y="12"/>
                  </a:lnTo>
                  <a:lnTo>
                    <a:pt x="158" y="15"/>
                  </a:lnTo>
                  <a:lnTo>
                    <a:pt x="141" y="20"/>
                  </a:lnTo>
                  <a:lnTo>
                    <a:pt x="123" y="26"/>
                  </a:lnTo>
                  <a:lnTo>
                    <a:pt x="105" y="32"/>
                  </a:lnTo>
                  <a:lnTo>
                    <a:pt x="91" y="41"/>
                  </a:lnTo>
                  <a:lnTo>
                    <a:pt x="76" y="52"/>
                  </a:lnTo>
                  <a:lnTo>
                    <a:pt x="65" y="64"/>
                  </a:lnTo>
                  <a:lnTo>
                    <a:pt x="53" y="79"/>
                  </a:lnTo>
                  <a:lnTo>
                    <a:pt x="41" y="89"/>
                  </a:lnTo>
                  <a:lnTo>
                    <a:pt x="32" y="107"/>
                  </a:lnTo>
                  <a:lnTo>
                    <a:pt x="24" y="121"/>
                  </a:lnTo>
                  <a:lnTo>
                    <a:pt x="18" y="139"/>
                  </a:lnTo>
                  <a:lnTo>
                    <a:pt x="15" y="156"/>
                  </a:lnTo>
                  <a:lnTo>
                    <a:pt x="12" y="173"/>
                  </a:lnTo>
                  <a:lnTo>
                    <a:pt x="9" y="193"/>
                  </a:lnTo>
                  <a:lnTo>
                    <a:pt x="0" y="193"/>
                  </a:lnTo>
                </a:path>
              </a:pathLst>
            </a:custGeom>
            <a:solidFill>
              <a:srgbClr val="FFC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3" name="Freeform 167">
              <a:extLst>
                <a:ext uri="{FF2B5EF4-FFF2-40B4-BE49-F238E27FC236}">
                  <a16:creationId xmlns:a16="http://schemas.microsoft.com/office/drawing/2014/main" id="{C3792DE5-3805-418E-98B8-CB27E3D97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802"/>
              <a:ext cx="387" cy="191"/>
            </a:xfrm>
            <a:custGeom>
              <a:avLst/>
              <a:gdLst>
                <a:gd name="T0" fmla="*/ 0 w 387"/>
                <a:gd name="T1" fmla="*/ 0 h 191"/>
                <a:gd name="T2" fmla="*/ 3 w 387"/>
                <a:gd name="T3" fmla="*/ 38 h 191"/>
                <a:gd name="T4" fmla="*/ 15 w 387"/>
                <a:gd name="T5" fmla="*/ 75 h 191"/>
                <a:gd name="T6" fmla="*/ 32 w 387"/>
                <a:gd name="T7" fmla="*/ 107 h 191"/>
                <a:gd name="T8" fmla="*/ 56 w 387"/>
                <a:gd name="T9" fmla="*/ 136 h 191"/>
                <a:gd name="T10" fmla="*/ 85 w 387"/>
                <a:gd name="T11" fmla="*/ 158 h 191"/>
                <a:gd name="T12" fmla="*/ 117 w 387"/>
                <a:gd name="T13" fmla="*/ 175 h 191"/>
                <a:gd name="T14" fmla="*/ 155 w 387"/>
                <a:gd name="T15" fmla="*/ 187 h 191"/>
                <a:gd name="T16" fmla="*/ 193 w 387"/>
                <a:gd name="T17" fmla="*/ 190 h 191"/>
                <a:gd name="T18" fmla="*/ 233 w 387"/>
                <a:gd name="T19" fmla="*/ 187 h 191"/>
                <a:gd name="T20" fmla="*/ 269 w 387"/>
                <a:gd name="T21" fmla="*/ 175 h 191"/>
                <a:gd name="T22" fmla="*/ 301 w 387"/>
                <a:gd name="T23" fmla="*/ 158 h 191"/>
                <a:gd name="T24" fmla="*/ 330 w 387"/>
                <a:gd name="T25" fmla="*/ 136 h 191"/>
                <a:gd name="T26" fmla="*/ 354 w 387"/>
                <a:gd name="T27" fmla="*/ 107 h 191"/>
                <a:gd name="T28" fmla="*/ 371 w 387"/>
                <a:gd name="T29" fmla="*/ 75 h 191"/>
                <a:gd name="T30" fmla="*/ 383 w 387"/>
                <a:gd name="T31" fmla="*/ 38 h 191"/>
                <a:gd name="T32" fmla="*/ 386 w 387"/>
                <a:gd name="T33" fmla="*/ 0 h 191"/>
                <a:gd name="T34" fmla="*/ 377 w 387"/>
                <a:gd name="T35" fmla="*/ 17 h 191"/>
                <a:gd name="T36" fmla="*/ 368 w 387"/>
                <a:gd name="T37" fmla="*/ 52 h 191"/>
                <a:gd name="T38" fmla="*/ 354 w 387"/>
                <a:gd name="T39" fmla="*/ 86 h 191"/>
                <a:gd name="T40" fmla="*/ 336 w 387"/>
                <a:gd name="T41" fmla="*/ 115 h 191"/>
                <a:gd name="T42" fmla="*/ 310 w 387"/>
                <a:gd name="T43" fmla="*/ 139 h 191"/>
                <a:gd name="T44" fmla="*/ 281 w 387"/>
                <a:gd name="T45" fmla="*/ 158 h 191"/>
                <a:gd name="T46" fmla="*/ 248 w 387"/>
                <a:gd name="T47" fmla="*/ 173 h 191"/>
                <a:gd name="T48" fmla="*/ 214 w 387"/>
                <a:gd name="T49" fmla="*/ 181 h 191"/>
                <a:gd name="T50" fmla="*/ 175 w 387"/>
                <a:gd name="T51" fmla="*/ 181 h 191"/>
                <a:gd name="T52" fmla="*/ 141 w 387"/>
                <a:gd name="T53" fmla="*/ 173 h 191"/>
                <a:gd name="T54" fmla="*/ 105 w 387"/>
                <a:gd name="T55" fmla="*/ 158 h 191"/>
                <a:gd name="T56" fmla="*/ 76 w 387"/>
                <a:gd name="T57" fmla="*/ 139 h 191"/>
                <a:gd name="T58" fmla="*/ 53 w 387"/>
                <a:gd name="T59" fmla="*/ 115 h 191"/>
                <a:gd name="T60" fmla="*/ 32 w 387"/>
                <a:gd name="T61" fmla="*/ 86 h 191"/>
                <a:gd name="T62" fmla="*/ 18 w 387"/>
                <a:gd name="T63" fmla="*/ 52 h 191"/>
                <a:gd name="T64" fmla="*/ 12 w 387"/>
                <a:gd name="T65" fmla="*/ 17 h 191"/>
                <a:gd name="T66" fmla="*/ 0 w 387"/>
                <a:gd name="T67" fmla="*/ 0 h 19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7"/>
                <a:gd name="T103" fmla="*/ 0 h 191"/>
                <a:gd name="T104" fmla="*/ 387 w 387"/>
                <a:gd name="T105" fmla="*/ 191 h 19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7" h="191">
                  <a:moveTo>
                    <a:pt x="0" y="0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3" y="38"/>
                  </a:lnTo>
                  <a:lnTo>
                    <a:pt x="9" y="55"/>
                  </a:lnTo>
                  <a:lnTo>
                    <a:pt x="15" y="75"/>
                  </a:lnTo>
                  <a:lnTo>
                    <a:pt x="24" y="89"/>
                  </a:lnTo>
                  <a:lnTo>
                    <a:pt x="32" y="107"/>
                  </a:lnTo>
                  <a:lnTo>
                    <a:pt x="44" y="121"/>
                  </a:lnTo>
                  <a:lnTo>
                    <a:pt x="56" y="136"/>
                  </a:lnTo>
                  <a:lnTo>
                    <a:pt x="70" y="146"/>
                  </a:lnTo>
                  <a:lnTo>
                    <a:pt x="85" y="158"/>
                  </a:lnTo>
                  <a:lnTo>
                    <a:pt x="102" y="167"/>
                  </a:lnTo>
                  <a:lnTo>
                    <a:pt x="117" y="175"/>
                  </a:lnTo>
                  <a:lnTo>
                    <a:pt x="138" y="181"/>
                  </a:lnTo>
                  <a:lnTo>
                    <a:pt x="155" y="187"/>
                  </a:lnTo>
                  <a:lnTo>
                    <a:pt x="175" y="190"/>
                  </a:lnTo>
                  <a:lnTo>
                    <a:pt x="193" y="190"/>
                  </a:lnTo>
                  <a:lnTo>
                    <a:pt x="214" y="190"/>
                  </a:lnTo>
                  <a:lnTo>
                    <a:pt x="233" y="187"/>
                  </a:lnTo>
                  <a:lnTo>
                    <a:pt x="251" y="181"/>
                  </a:lnTo>
                  <a:lnTo>
                    <a:pt x="269" y="175"/>
                  </a:lnTo>
                  <a:lnTo>
                    <a:pt x="287" y="167"/>
                  </a:lnTo>
                  <a:lnTo>
                    <a:pt x="301" y="158"/>
                  </a:lnTo>
                  <a:lnTo>
                    <a:pt x="315" y="146"/>
                  </a:lnTo>
                  <a:lnTo>
                    <a:pt x="330" y="136"/>
                  </a:lnTo>
                  <a:lnTo>
                    <a:pt x="342" y="121"/>
                  </a:lnTo>
                  <a:lnTo>
                    <a:pt x="354" y="107"/>
                  </a:lnTo>
                  <a:lnTo>
                    <a:pt x="362" y="89"/>
                  </a:lnTo>
                  <a:lnTo>
                    <a:pt x="371" y="75"/>
                  </a:lnTo>
                  <a:lnTo>
                    <a:pt x="377" y="55"/>
                  </a:lnTo>
                  <a:lnTo>
                    <a:pt x="383" y="38"/>
                  </a:lnTo>
                  <a:lnTo>
                    <a:pt x="386" y="17"/>
                  </a:lnTo>
                  <a:lnTo>
                    <a:pt x="386" y="0"/>
                  </a:lnTo>
                  <a:lnTo>
                    <a:pt x="377" y="0"/>
                  </a:lnTo>
                  <a:lnTo>
                    <a:pt x="377" y="17"/>
                  </a:lnTo>
                  <a:lnTo>
                    <a:pt x="374" y="35"/>
                  </a:lnTo>
                  <a:lnTo>
                    <a:pt x="368" y="52"/>
                  </a:lnTo>
                  <a:lnTo>
                    <a:pt x="362" y="69"/>
                  </a:lnTo>
                  <a:lnTo>
                    <a:pt x="354" y="86"/>
                  </a:lnTo>
                  <a:lnTo>
                    <a:pt x="345" y="101"/>
                  </a:lnTo>
                  <a:lnTo>
                    <a:pt x="336" y="115"/>
                  </a:lnTo>
                  <a:lnTo>
                    <a:pt x="324" y="127"/>
                  </a:lnTo>
                  <a:lnTo>
                    <a:pt x="310" y="139"/>
                  </a:lnTo>
                  <a:lnTo>
                    <a:pt x="295" y="149"/>
                  </a:lnTo>
                  <a:lnTo>
                    <a:pt x="281" y="158"/>
                  </a:lnTo>
                  <a:lnTo>
                    <a:pt x="266" y="167"/>
                  </a:lnTo>
                  <a:lnTo>
                    <a:pt x="248" y="173"/>
                  </a:lnTo>
                  <a:lnTo>
                    <a:pt x="231" y="178"/>
                  </a:lnTo>
                  <a:lnTo>
                    <a:pt x="214" y="181"/>
                  </a:lnTo>
                  <a:lnTo>
                    <a:pt x="193" y="181"/>
                  </a:lnTo>
                  <a:lnTo>
                    <a:pt x="175" y="181"/>
                  </a:lnTo>
                  <a:lnTo>
                    <a:pt x="158" y="178"/>
                  </a:lnTo>
                  <a:lnTo>
                    <a:pt x="141" y="173"/>
                  </a:lnTo>
                  <a:lnTo>
                    <a:pt x="123" y="167"/>
                  </a:lnTo>
                  <a:lnTo>
                    <a:pt x="105" y="158"/>
                  </a:lnTo>
                  <a:lnTo>
                    <a:pt x="91" y="149"/>
                  </a:lnTo>
                  <a:lnTo>
                    <a:pt x="76" y="139"/>
                  </a:lnTo>
                  <a:lnTo>
                    <a:pt x="65" y="127"/>
                  </a:lnTo>
                  <a:lnTo>
                    <a:pt x="53" y="115"/>
                  </a:lnTo>
                  <a:lnTo>
                    <a:pt x="41" y="101"/>
                  </a:lnTo>
                  <a:lnTo>
                    <a:pt x="32" y="86"/>
                  </a:lnTo>
                  <a:lnTo>
                    <a:pt x="24" y="69"/>
                  </a:lnTo>
                  <a:lnTo>
                    <a:pt x="18" y="52"/>
                  </a:lnTo>
                  <a:lnTo>
                    <a:pt x="15" y="35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4" name="Freeform 168">
              <a:extLst>
                <a:ext uri="{FF2B5EF4-FFF2-40B4-BE49-F238E27FC236}">
                  <a16:creationId xmlns:a16="http://schemas.microsoft.com/office/drawing/2014/main" id="{7CD2F521-C725-4C25-B788-AEBCAB039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615"/>
              <a:ext cx="369" cy="182"/>
            </a:xfrm>
            <a:custGeom>
              <a:avLst/>
              <a:gdLst>
                <a:gd name="T0" fmla="*/ 3 w 369"/>
                <a:gd name="T1" fmla="*/ 161 h 182"/>
                <a:gd name="T2" fmla="*/ 9 w 369"/>
                <a:gd name="T3" fmla="*/ 127 h 182"/>
                <a:gd name="T4" fmla="*/ 24 w 369"/>
                <a:gd name="T5" fmla="*/ 95 h 182"/>
                <a:gd name="T6" fmla="*/ 44 w 369"/>
                <a:gd name="T7" fmla="*/ 67 h 182"/>
                <a:gd name="T8" fmla="*/ 67 w 369"/>
                <a:gd name="T9" fmla="*/ 41 h 182"/>
                <a:gd name="T10" fmla="*/ 96 w 369"/>
                <a:gd name="T11" fmla="*/ 20 h 182"/>
                <a:gd name="T12" fmla="*/ 132 w 369"/>
                <a:gd name="T13" fmla="*/ 9 h 182"/>
                <a:gd name="T14" fmla="*/ 166 w 369"/>
                <a:gd name="T15" fmla="*/ 0 h 182"/>
                <a:gd name="T16" fmla="*/ 205 w 369"/>
                <a:gd name="T17" fmla="*/ 0 h 182"/>
                <a:gd name="T18" fmla="*/ 239 w 369"/>
                <a:gd name="T19" fmla="*/ 9 h 182"/>
                <a:gd name="T20" fmla="*/ 272 w 369"/>
                <a:gd name="T21" fmla="*/ 20 h 182"/>
                <a:gd name="T22" fmla="*/ 301 w 369"/>
                <a:gd name="T23" fmla="*/ 41 h 182"/>
                <a:gd name="T24" fmla="*/ 327 w 369"/>
                <a:gd name="T25" fmla="*/ 67 h 182"/>
                <a:gd name="T26" fmla="*/ 344 w 369"/>
                <a:gd name="T27" fmla="*/ 95 h 182"/>
                <a:gd name="T28" fmla="*/ 359 w 369"/>
                <a:gd name="T29" fmla="*/ 127 h 182"/>
                <a:gd name="T30" fmla="*/ 368 w 369"/>
                <a:gd name="T31" fmla="*/ 161 h 182"/>
                <a:gd name="T32" fmla="*/ 359 w 369"/>
                <a:gd name="T33" fmla="*/ 181 h 182"/>
                <a:gd name="T34" fmla="*/ 356 w 369"/>
                <a:gd name="T35" fmla="*/ 147 h 182"/>
                <a:gd name="T36" fmla="*/ 344 w 369"/>
                <a:gd name="T37" fmla="*/ 112 h 182"/>
                <a:gd name="T38" fmla="*/ 330 w 369"/>
                <a:gd name="T39" fmla="*/ 83 h 182"/>
                <a:gd name="T40" fmla="*/ 309 w 369"/>
                <a:gd name="T41" fmla="*/ 58 h 182"/>
                <a:gd name="T42" fmla="*/ 283 w 369"/>
                <a:gd name="T43" fmla="*/ 38 h 182"/>
                <a:gd name="T44" fmla="*/ 254 w 369"/>
                <a:gd name="T45" fmla="*/ 20 h 182"/>
                <a:gd name="T46" fmla="*/ 219 w 369"/>
                <a:gd name="T47" fmla="*/ 12 h 182"/>
                <a:gd name="T48" fmla="*/ 184 w 369"/>
                <a:gd name="T49" fmla="*/ 9 h 182"/>
                <a:gd name="T50" fmla="*/ 149 w 369"/>
                <a:gd name="T51" fmla="*/ 12 h 182"/>
                <a:gd name="T52" fmla="*/ 117 w 369"/>
                <a:gd name="T53" fmla="*/ 20 h 182"/>
                <a:gd name="T54" fmla="*/ 88 w 369"/>
                <a:gd name="T55" fmla="*/ 38 h 182"/>
                <a:gd name="T56" fmla="*/ 61 w 369"/>
                <a:gd name="T57" fmla="*/ 58 h 182"/>
                <a:gd name="T58" fmla="*/ 38 w 369"/>
                <a:gd name="T59" fmla="*/ 83 h 182"/>
                <a:gd name="T60" fmla="*/ 24 w 369"/>
                <a:gd name="T61" fmla="*/ 112 h 182"/>
                <a:gd name="T62" fmla="*/ 15 w 369"/>
                <a:gd name="T63" fmla="*/ 147 h 182"/>
                <a:gd name="T64" fmla="*/ 9 w 369"/>
                <a:gd name="T65" fmla="*/ 181 h 1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69"/>
                <a:gd name="T100" fmla="*/ 0 h 182"/>
                <a:gd name="T101" fmla="*/ 369 w 369"/>
                <a:gd name="T102" fmla="*/ 182 h 18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69" h="182">
                  <a:moveTo>
                    <a:pt x="0" y="181"/>
                  </a:moveTo>
                  <a:lnTo>
                    <a:pt x="3" y="161"/>
                  </a:lnTo>
                  <a:lnTo>
                    <a:pt x="6" y="144"/>
                  </a:lnTo>
                  <a:lnTo>
                    <a:pt x="9" y="127"/>
                  </a:lnTo>
                  <a:lnTo>
                    <a:pt x="15" y="109"/>
                  </a:lnTo>
                  <a:lnTo>
                    <a:pt x="24" y="95"/>
                  </a:lnTo>
                  <a:lnTo>
                    <a:pt x="32" y="77"/>
                  </a:lnTo>
                  <a:lnTo>
                    <a:pt x="44" y="67"/>
                  </a:lnTo>
                  <a:lnTo>
                    <a:pt x="56" y="52"/>
                  </a:lnTo>
                  <a:lnTo>
                    <a:pt x="67" y="41"/>
                  </a:lnTo>
                  <a:lnTo>
                    <a:pt x="82" y="29"/>
                  </a:lnTo>
                  <a:lnTo>
                    <a:pt x="96" y="20"/>
                  </a:lnTo>
                  <a:lnTo>
                    <a:pt x="114" y="15"/>
                  </a:lnTo>
                  <a:lnTo>
                    <a:pt x="132" y="9"/>
                  </a:lnTo>
                  <a:lnTo>
                    <a:pt x="149" y="3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205" y="0"/>
                  </a:lnTo>
                  <a:lnTo>
                    <a:pt x="222" y="3"/>
                  </a:lnTo>
                  <a:lnTo>
                    <a:pt x="239" y="9"/>
                  </a:lnTo>
                  <a:lnTo>
                    <a:pt x="257" y="15"/>
                  </a:lnTo>
                  <a:lnTo>
                    <a:pt x="272" y="20"/>
                  </a:lnTo>
                  <a:lnTo>
                    <a:pt x="286" y="29"/>
                  </a:lnTo>
                  <a:lnTo>
                    <a:pt x="301" y="41"/>
                  </a:lnTo>
                  <a:lnTo>
                    <a:pt x="315" y="52"/>
                  </a:lnTo>
                  <a:lnTo>
                    <a:pt x="327" y="67"/>
                  </a:lnTo>
                  <a:lnTo>
                    <a:pt x="336" y="77"/>
                  </a:lnTo>
                  <a:lnTo>
                    <a:pt x="344" y="95"/>
                  </a:lnTo>
                  <a:lnTo>
                    <a:pt x="353" y="109"/>
                  </a:lnTo>
                  <a:lnTo>
                    <a:pt x="359" y="127"/>
                  </a:lnTo>
                  <a:lnTo>
                    <a:pt x="365" y="144"/>
                  </a:lnTo>
                  <a:lnTo>
                    <a:pt x="368" y="161"/>
                  </a:lnTo>
                  <a:lnTo>
                    <a:pt x="368" y="181"/>
                  </a:lnTo>
                  <a:lnTo>
                    <a:pt x="359" y="181"/>
                  </a:lnTo>
                  <a:lnTo>
                    <a:pt x="359" y="164"/>
                  </a:lnTo>
                  <a:lnTo>
                    <a:pt x="356" y="147"/>
                  </a:lnTo>
                  <a:lnTo>
                    <a:pt x="350" y="130"/>
                  </a:lnTo>
                  <a:lnTo>
                    <a:pt x="344" y="112"/>
                  </a:lnTo>
                  <a:lnTo>
                    <a:pt x="338" y="98"/>
                  </a:lnTo>
                  <a:lnTo>
                    <a:pt x="330" y="83"/>
                  </a:lnTo>
                  <a:lnTo>
                    <a:pt x="318" y="72"/>
                  </a:lnTo>
                  <a:lnTo>
                    <a:pt x="309" y="58"/>
                  </a:lnTo>
                  <a:lnTo>
                    <a:pt x="295" y="46"/>
                  </a:lnTo>
                  <a:lnTo>
                    <a:pt x="283" y="38"/>
                  </a:lnTo>
                  <a:lnTo>
                    <a:pt x="269" y="29"/>
                  </a:lnTo>
                  <a:lnTo>
                    <a:pt x="254" y="20"/>
                  </a:lnTo>
                  <a:lnTo>
                    <a:pt x="236" y="15"/>
                  </a:lnTo>
                  <a:lnTo>
                    <a:pt x="219" y="12"/>
                  </a:lnTo>
                  <a:lnTo>
                    <a:pt x="202" y="9"/>
                  </a:lnTo>
                  <a:lnTo>
                    <a:pt x="184" y="9"/>
                  </a:lnTo>
                  <a:lnTo>
                    <a:pt x="166" y="9"/>
                  </a:lnTo>
                  <a:lnTo>
                    <a:pt x="149" y="12"/>
                  </a:lnTo>
                  <a:lnTo>
                    <a:pt x="132" y="15"/>
                  </a:lnTo>
                  <a:lnTo>
                    <a:pt x="117" y="20"/>
                  </a:lnTo>
                  <a:lnTo>
                    <a:pt x="102" y="29"/>
                  </a:lnTo>
                  <a:lnTo>
                    <a:pt x="88" y="38"/>
                  </a:lnTo>
                  <a:lnTo>
                    <a:pt x="73" y="46"/>
                  </a:lnTo>
                  <a:lnTo>
                    <a:pt x="61" y="58"/>
                  </a:lnTo>
                  <a:lnTo>
                    <a:pt x="50" y="72"/>
                  </a:lnTo>
                  <a:lnTo>
                    <a:pt x="38" y="83"/>
                  </a:lnTo>
                  <a:lnTo>
                    <a:pt x="30" y="98"/>
                  </a:lnTo>
                  <a:lnTo>
                    <a:pt x="24" y="112"/>
                  </a:lnTo>
                  <a:lnTo>
                    <a:pt x="18" y="130"/>
                  </a:lnTo>
                  <a:lnTo>
                    <a:pt x="15" y="147"/>
                  </a:lnTo>
                  <a:lnTo>
                    <a:pt x="12" y="164"/>
                  </a:lnTo>
                  <a:lnTo>
                    <a:pt x="9" y="181"/>
                  </a:lnTo>
                  <a:lnTo>
                    <a:pt x="0" y="181"/>
                  </a:lnTo>
                </a:path>
              </a:pathLst>
            </a:custGeom>
            <a:solidFill>
              <a:srgbClr val="FFC7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5" name="Freeform 169">
              <a:extLst>
                <a:ext uri="{FF2B5EF4-FFF2-40B4-BE49-F238E27FC236}">
                  <a16:creationId xmlns:a16="http://schemas.microsoft.com/office/drawing/2014/main" id="{F44DCD13-3577-4ECA-8CCE-6E000384C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802"/>
              <a:ext cx="369" cy="182"/>
            </a:xfrm>
            <a:custGeom>
              <a:avLst/>
              <a:gdLst>
                <a:gd name="T0" fmla="*/ 0 w 369"/>
                <a:gd name="T1" fmla="*/ 0 h 182"/>
                <a:gd name="T2" fmla="*/ 6 w 369"/>
                <a:gd name="T3" fmla="*/ 35 h 182"/>
                <a:gd name="T4" fmla="*/ 15 w 369"/>
                <a:gd name="T5" fmla="*/ 69 h 182"/>
                <a:gd name="T6" fmla="*/ 32 w 369"/>
                <a:gd name="T7" fmla="*/ 101 h 182"/>
                <a:gd name="T8" fmla="*/ 56 w 369"/>
                <a:gd name="T9" fmla="*/ 127 h 182"/>
                <a:gd name="T10" fmla="*/ 82 w 369"/>
                <a:gd name="T11" fmla="*/ 149 h 182"/>
                <a:gd name="T12" fmla="*/ 114 w 369"/>
                <a:gd name="T13" fmla="*/ 166 h 182"/>
                <a:gd name="T14" fmla="*/ 149 w 369"/>
                <a:gd name="T15" fmla="*/ 178 h 182"/>
                <a:gd name="T16" fmla="*/ 184 w 369"/>
                <a:gd name="T17" fmla="*/ 181 h 182"/>
                <a:gd name="T18" fmla="*/ 222 w 369"/>
                <a:gd name="T19" fmla="*/ 178 h 182"/>
                <a:gd name="T20" fmla="*/ 257 w 369"/>
                <a:gd name="T21" fmla="*/ 166 h 182"/>
                <a:gd name="T22" fmla="*/ 286 w 369"/>
                <a:gd name="T23" fmla="*/ 149 h 182"/>
                <a:gd name="T24" fmla="*/ 315 w 369"/>
                <a:gd name="T25" fmla="*/ 127 h 182"/>
                <a:gd name="T26" fmla="*/ 336 w 369"/>
                <a:gd name="T27" fmla="*/ 101 h 182"/>
                <a:gd name="T28" fmla="*/ 353 w 369"/>
                <a:gd name="T29" fmla="*/ 69 h 182"/>
                <a:gd name="T30" fmla="*/ 365 w 369"/>
                <a:gd name="T31" fmla="*/ 35 h 182"/>
                <a:gd name="T32" fmla="*/ 368 w 369"/>
                <a:gd name="T33" fmla="*/ 0 h 182"/>
                <a:gd name="T34" fmla="*/ 359 w 369"/>
                <a:gd name="T35" fmla="*/ 17 h 182"/>
                <a:gd name="T36" fmla="*/ 350 w 369"/>
                <a:gd name="T37" fmla="*/ 52 h 182"/>
                <a:gd name="T38" fmla="*/ 338 w 369"/>
                <a:gd name="T39" fmla="*/ 80 h 182"/>
                <a:gd name="T40" fmla="*/ 318 w 369"/>
                <a:gd name="T41" fmla="*/ 109 h 182"/>
                <a:gd name="T42" fmla="*/ 295 w 369"/>
                <a:gd name="T43" fmla="*/ 133 h 182"/>
                <a:gd name="T44" fmla="*/ 269 w 369"/>
                <a:gd name="T45" fmla="*/ 152 h 182"/>
                <a:gd name="T46" fmla="*/ 236 w 369"/>
                <a:gd name="T47" fmla="*/ 164 h 182"/>
                <a:gd name="T48" fmla="*/ 202 w 369"/>
                <a:gd name="T49" fmla="*/ 169 h 182"/>
                <a:gd name="T50" fmla="*/ 166 w 369"/>
                <a:gd name="T51" fmla="*/ 169 h 182"/>
                <a:gd name="T52" fmla="*/ 132 w 369"/>
                <a:gd name="T53" fmla="*/ 164 h 182"/>
                <a:gd name="T54" fmla="*/ 102 w 369"/>
                <a:gd name="T55" fmla="*/ 152 h 182"/>
                <a:gd name="T56" fmla="*/ 73 w 369"/>
                <a:gd name="T57" fmla="*/ 133 h 182"/>
                <a:gd name="T58" fmla="*/ 50 w 369"/>
                <a:gd name="T59" fmla="*/ 109 h 182"/>
                <a:gd name="T60" fmla="*/ 30 w 369"/>
                <a:gd name="T61" fmla="*/ 80 h 182"/>
                <a:gd name="T62" fmla="*/ 18 w 369"/>
                <a:gd name="T63" fmla="*/ 52 h 182"/>
                <a:gd name="T64" fmla="*/ 12 w 369"/>
                <a:gd name="T65" fmla="*/ 17 h 182"/>
                <a:gd name="T66" fmla="*/ 0 w 369"/>
                <a:gd name="T67" fmla="*/ 0 h 18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69"/>
                <a:gd name="T103" fmla="*/ 0 h 182"/>
                <a:gd name="T104" fmla="*/ 369 w 369"/>
                <a:gd name="T105" fmla="*/ 182 h 18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69" h="182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5"/>
                  </a:lnTo>
                  <a:lnTo>
                    <a:pt x="9" y="52"/>
                  </a:lnTo>
                  <a:lnTo>
                    <a:pt x="15" y="69"/>
                  </a:lnTo>
                  <a:lnTo>
                    <a:pt x="24" y="86"/>
                  </a:lnTo>
                  <a:lnTo>
                    <a:pt x="32" y="101"/>
                  </a:lnTo>
                  <a:lnTo>
                    <a:pt x="44" y="115"/>
                  </a:lnTo>
                  <a:lnTo>
                    <a:pt x="56" y="127"/>
                  </a:lnTo>
                  <a:lnTo>
                    <a:pt x="67" y="138"/>
                  </a:lnTo>
                  <a:lnTo>
                    <a:pt x="82" y="149"/>
                  </a:lnTo>
                  <a:lnTo>
                    <a:pt x="96" y="158"/>
                  </a:lnTo>
                  <a:lnTo>
                    <a:pt x="114" y="166"/>
                  </a:lnTo>
                  <a:lnTo>
                    <a:pt x="132" y="172"/>
                  </a:lnTo>
                  <a:lnTo>
                    <a:pt x="149" y="178"/>
                  </a:lnTo>
                  <a:lnTo>
                    <a:pt x="166" y="181"/>
                  </a:lnTo>
                  <a:lnTo>
                    <a:pt x="184" y="181"/>
                  </a:lnTo>
                  <a:lnTo>
                    <a:pt x="205" y="181"/>
                  </a:lnTo>
                  <a:lnTo>
                    <a:pt x="222" y="178"/>
                  </a:lnTo>
                  <a:lnTo>
                    <a:pt x="239" y="172"/>
                  </a:lnTo>
                  <a:lnTo>
                    <a:pt x="257" y="166"/>
                  </a:lnTo>
                  <a:lnTo>
                    <a:pt x="272" y="158"/>
                  </a:lnTo>
                  <a:lnTo>
                    <a:pt x="286" y="149"/>
                  </a:lnTo>
                  <a:lnTo>
                    <a:pt x="301" y="138"/>
                  </a:lnTo>
                  <a:lnTo>
                    <a:pt x="315" y="127"/>
                  </a:lnTo>
                  <a:lnTo>
                    <a:pt x="327" y="115"/>
                  </a:lnTo>
                  <a:lnTo>
                    <a:pt x="336" y="101"/>
                  </a:lnTo>
                  <a:lnTo>
                    <a:pt x="344" y="86"/>
                  </a:lnTo>
                  <a:lnTo>
                    <a:pt x="353" y="69"/>
                  </a:lnTo>
                  <a:lnTo>
                    <a:pt x="359" y="52"/>
                  </a:lnTo>
                  <a:lnTo>
                    <a:pt x="365" y="35"/>
                  </a:lnTo>
                  <a:lnTo>
                    <a:pt x="368" y="17"/>
                  </a:lnTo>
                  <a:lnTo>
                    <a:pt x="368" y="0"/>
                  </a:lnTo>
                  <a:lnTo>
                    <a:pt x="359" y="0"/>
                  </a:lnTo>
                  <a:lnTo>
                    <a:pt x="359" y="17"/>
                  </a:lnTo>
                  <a:lnTo>
                    <a:pt x="356" y="35"/>
                  </a:lnTo>
                  <a:lnTo>
                    <a:pt x="350" y="52"/>
                  </a:lnTo>
                  <a:lnTo>
                    <a:pt x="344" y="66"/>
                  </a:lnTo>
                  <a:lnTo>
                    <a:pt x="338" y="80"/>
                  </a:lnTo>
                  <a:lnTo>
                    <a:pt x="330" y="95"/>
                  </a:lnTo>
                  <a:lnTo>
                    <a:pt x="318" y="109"/>
                  </a:lnTo>
                  <a:lnTo>
                    <a:pt x="309" y="121"/>
                  </a:lnTo>
                  <a:lnTo>
                    <a:pt x="295" y="133"/>
                  </a:lnTo>
                  <a:lnTo>
                    <a:pt x="283" y="143"/>
                  </a:lnTo>
                  <a:lnTo>
                    <a:pt x="269" y="152"/>
                  </a:lnTo>
                  <a:lnTo>
                    <a:pt x="254" y="158"/>
                  </a:lnTo>
                  <a:lnTo>
                    <a:pt x="236" y="164"/>
                  </a:lnTo>
                  <a:lnTo>
                    <a:pt x="219" y="169"/>
                  </a:lnTo>
                  <a:lnTo>
                    <a:pt x="202" y="169"/>
                  </a:lnTo>
                  <a:lnTo>
                    <a:pt x="184" y="172"/>
                  </a:lnTo>
                  <a:lnTo>
                    <a:pt x="166" y="169"/>
                  </a:lnTo>
                  <a:lnTo>
                    <a:pt x="149" y="169"/>
                  </a:lnTo>
                  <a:lnTo>
                    <a:pt x="132" y="164"/>
                  </a:lnTo>
                  <a:lnTo>
                    <a:pt x="117" y="158"/>
                  </a:lnTo>
                  <a:lnTo>
                    <a:pt x="102" y="152"/>
                  </a:lnTo>
                  <a:lnTo>
                    <a:pt x="88" y="143"/>
                  </a:lnTo>
                  <a:lnTo>
                    <a:pt x="73" y="133"/>
                  </a:lnTo>
                  <a:lnTo>
                    <a:pt x="61" y="121"/>
                  </a:lnTo>
                  <a:lnTo>
                    <a:pt x="50" y="109"/>
                  </a:lnTo>
                  <a:lnTo>
                    <a:pt x="38" y="95"/>
                  </a:lnTo>
                  <a:lnTo>
                    <a:pt x="30" y="80"/>
                  </a:lnTo>
                  <a:lnTo>
                    <a:pt x="24" y="66"/>
                  </a:lnTo>
                  <a:lnTo>
                    <a:pt x="18" y="52"/>
                  </a:lnTo>
                  <a:lnTo>
                    <a:pt x="15" y="35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7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6" name="Freeform 170">
              <a:extLst>
                <a:ext uri="{FF2B5EF4-FFF2-40B4-BE49-F238E27FC236}">
                  <a16:creationId xmlns:a16="http://schemas.microsoft.com/office/drawing/2014/main" id="{7AFB8710-46C2-4A25-9869-13F19B3F6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624"/>
              <a:ext cx="351" cy="173"/>
            </a:xfrm>
            <a:custGeom>
              <a:avLst/>
              <a:gdLst>
                <a:gd name="T0" fmla="*/ 3 w 351"/>
                <a:gd name="T1" fmla="*/ 155 h 173"/>
                <a:gd name="T2" fmla="*/ 9 w 351"/>
                <a:gd name="T3" fmla="*/ 121 h 173"/>
                <a:gd name="T4" fmla="*/ 21 w 351"/>
                <a:gd name="T5" fmla="*/ 89 h 173"/>
                <a:gd name="T6" fmla="*/ 41 w 351"/>
                <a:gd name="T7" fmla="*/ 63 h 173"/>
                <a:gd name="T8" fmla="*/ 64 w 351"/>
                <a:gd name="T9" fmla="*/ 38 h 173"/>
                <a:gd name="T10" fmla="*/ 93 w 351"/>
                <a:gd name="T11" fmla="*/ 20 h 173"/>
                <a:gd name="T12" fmla="*/ 123 w 351"/>
                <a:gd name="T13" fmla="*/ 6 h 173"/>
                <a:gd name="T14" fmla="*/ 157 w 351"/>
                <a:gd name="T15" fmla="*/ 0 h 173"/>
                <a:gd name="T16" fmla="*/ 193 w 351"/>
                <a:gd name="T17" fmla="*/ 0 h 173"/>
                <a:gd name="T18" fmla="*/ 227 w 351"/>
                <a:gd name="T19" fmla="*/ 6 h 173"/>
                <a:gd name="T20" fmla="*/ 260 w 351"/>
                <a:gd name="T21" fmla="*/ 20 h 173"/>
                <a:gd name="T22" fmla="*/ 286 w 351"/>
                <a:gd name="T23" fmla="*/ 38 h 173"/>
                <a:gd name="T24" fmla="*/ 309 w 351"/>
                <a:gd name="T25" fmla="*/ 63 h 173"/>
                <a:gd name="T26" fmla="*/ 329 w 351"/>
                <a:gd name="T27" fmla="*/ 89 h 173"/>
                <a:gd name="T28" fmla="*/ 341 w 351"/>
                <a:gd name="T29" fmla="*/ 121 h 173"/>
                <a:gd name="T30" fmla="*/ 350 w 351"/>
                <a:gd name="T31" fmla="*/ 155 h 173"/>
                <a:gd name="T32" fmla="*/ 341 w 351"/>
                <a:gd name="T33" fmla="*/ 172 h 173"/>
                <a:gd name="T34" fmla="*/ 338 w 351"/>
                <a:gd name="T35" fmla="*/ 138 h 173"/>
                <a:gd name="T36" fmla="*/ 326 w 351"/>
                <a:gd name="T37" fmla="*/ 109 h 173"/>
                <a:gd name="T38" fmla="*/ 312 w 351"/>
                <a:gd name="T39" fmla="*/ 80 h 173"/>
                <a:gd name="T40" fmla="*/ 292 w 351"/>
                <a:gd name="T41" fmla="*/ 58 h 173"/>
                <a:gd name="T42" fmla="*/ 268 w 351"/>
                <a:gd name="T43" fmla="*/ 38 h 173"/>
                <a:gd name="T44" fmla="*/ 239 w 351"/>
                <a:gd name="T45" fmla="*/ 20 h 173"/>
                <a:gd name="T46" fmla="*/ 210 w 351"/>
                <a:gd name="T47" fmla="*/ 12 h 173"/>
                <a:gd name="T48" fmla="*/ 175 w 351"/>
                <a:gd name="T49" fmla="*/ 9 h 173"/>
                <a:gd name="T50" fmla="*/ 143 w 351"/>
                <a:gd name="T51" fmla="*/ 12 h 173"/>
                <a:gd name="T52" fmla="*/ 111 w 351"/>
                <a:gd name="T53" fmla="*/ 20 h 173"/>
                <a:gd name="T54" fmla="*/ 82 w 351"/>
                <a:gd name="T55" fmla="*/ 38 h 173"/>
                <a:gd name="T56" fmla="*/ 58 w 351"/>
                <a:gd name="T57" fmla="*/ 58 h 173"/>
                <a:gd name="T58" fmla="*/ 38 w 351"/>
                <a:gd name="T59" fmla="*/ 80 h 173"/>
                <a:gd name="T60" fmla="*/ 24 w 351"/>
                <a:gd name="T61" fmla="*/ 109 h 173"/>
                <a:gd name="T62" fmla="*/ 15 w 351"/>
                <a:gd name="T63" fmla="*/ 138 h 173"/>
                <a:gd name="T64" fmla="*/ 9 w 351"/>
                <a:gd name="T65" fmla="*/ 172 h 17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1"/>
                <a:gd name="T100" fmla="*/ 0 h 173"/>
                <a:gd name="T101" fmla="*/ 351 w 351"/>
                <a:gd name="T102" fmla="*/ 173 h 17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1" h="173">
                  <a:moveTo>
                    <a:pt x="0" y="172"/>
                  </a:moveTo>
                  <a:lnTo>
                    <a:pt x="3" y="155"/>
                  </a:lnTo>
                  <a:lnTo>
                    <a:pt x="6" y="138"/>
                  </a:lnTo>
                  <a:lnTo>
                    <a:pt x="9" y="121"/>
                  </a:lnTo>
                  <a:lnTo>
                    <a:pt x="15" y="103"/>
                  </a:lnTo>
                  <a:lnTo>
                    <a:pt x="21" y="89"/>
                  </a:lnTo>
                  <a:lnTo>
                    <a:pt x="29" y="74"/>
                  </a:lnTo>
                  <a:lnTo>
                    <a:pt x="41" y="63"/>
                  </a:lnTo>
                  <a:lnTo>
                    <a:pt x="52" y="49"/>
                  </a:lnTo>
                  <a:lnTo>
                    <a:pt x="64" y="38"/>
                  </a:lnTo>
                  <a:lnTo>
                    <a:pt x="79" y="29"/>
                  </a:lnTo>
                  <a:lnTo>
                    <a:pt x="93" y="20"/>
                  </a:lnTo>
                  <a:lnTo>
                    <a:pt x="108" y="12"/>
                  </a:lnTo>
                  <a:lnTo>
                    <a:pt x="123" y="6"/>
                  </a:lnTo>
                  <a:lnTo>
                    <a:pt x="140" y="3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93" y="0"/>
                  </a:lnTo>
                  <a:lnTo>
                    <a:pt x="210" y="3"/>
                  </a:lnTo>
                  <a:lnTo>
                    <a:pt x="227" y="6"/>
                  </a:lnTo>
                  <a:lnTo>
                    <a:pt x="245" y="12"/>
                  </a:lnTo>
                  <a:lnTo>
                    <a:pt x="260" y="20"/>
                  </a:lnTo>
                  <a:lnTo>
                    <a:pt x="274" y="29"/>
                  </a:lnTo>
                  <a:lnTo>
                    <a:pt x="286" y="38"/>
                  </a:lnTo>
                  <a:lnTo>
                    <a:pt x="300" y="49"/>
                  </a:lnTo>
                  <a:lnTo>
                    <a:pt x="309" y="63"/>
                  </a:lnTo>
                  <a:lnTo>
                    <a:pt x="321" y="74"/>
                  </a:lnTo>
                  <a:lnTo>
                    <a:pt x="329" y="89"/>
                  </a:lnTo>
                  <a:lnTo>
                    <a:pt x="335" y="103"/>
                  </a:lnTo>
                  <a:lnTo>
                    <a:pt x="341" y="121"/>
                  </a:lnTo>
                  <a:lnTo>
                    <a:pt x="347" y="138"/>
                  </a:lnTo>
                  <a:lnTo>
                    <a:pt x="350" y="155"/>
                  </a:lnTo>
                  <a:lnTo>
                    <a:pt x="350" y="172"/>
                  </a:lnTo>
                  <a:lnTo>
                    <a:pt x="341" y="172"/>
                  </a:lnTo>
                  <a:lnTo>
                    <a:pt x="341" y="155"/>
                  </a:lnTo>
                  <a:lnTo>
                    <a:pt x="338" y="138"/>
                  </a:lnTo>
                  <a:lnTo>
                    <a:pt x="332" y="124"/>
                  </a:lnTo>
                  <a:lnTo>
                    <a:pt x="326" y="109"/>
                  </a:lnTo>
                  <a:lnTo>
                    <a:pt x="321" y="95"/>
                  </a:lnTo>
                  <a:lnTo>
                    <a:pt x="312" y="80"/>
                  </a:lnTo>
                  <a:lnTo>
                    <a:pt x="303" y="69"/>
                  </a:lnTo>
                  <a:lnTo>
                    <a:pt x="292" y="58"/>
                  </a:lnTo>
                  <a:lnTo>
                    <a:pt x="280" y="46"/>
                  </a:lnTo>
                  <a:lnTo>
                    <a:pt x="268" y="38"/>
                  </a:lnTo>
                  <a:lnTo>
                    <a:pt x="254" y="29"/>
                  </a:lnTo>
                  <a:lnTo>
                    <a:pt x="239" y="20"/>
                  </a:lnTo>
                  <a:lnTo>
                    <a:pt x="224" y="14"/>
                  </a:lnTo>
                  <a:lnTo>
                    <a:pt x="210" y="12"/>
                  </a:lnTo>
                  <a:lnTo>
                    <a:pt x="193" y="9"/>
                  </a:lnTo>
                  <a:lnTo>
                    <a:pt x="175" y="9"/>
                  </a:lnTo>
                  <a:lnTo>
                    <a:pt x="157" y="9"/>
                  </a:lnTo>
                  <a:lnTo>
                    <a:pt x="143" y="12"/>
                  </a:lnTo>
                  <a:lnTo>
                    <a:pt x="126" y="14"/>
                  </a:lnTo>
                  <a:lnTo>
                    <a:pt x="111" y="20"/>
                  </a:lnTo>
                  <a:lnTo>
                    <a:pt x="96" y="29"/>
                  </a:lnTo>
                  <a:lnTo>
                    <a:pt x="82" y="38"/>
                  </a:lnTo>
                  <a:lnTo>
                    <a:pt x="70" y="46"/>
                  </a:lnTo>
                  <a:lnTo>
                    <a:pt x="58" y="58"/>
                  </a:lnTo>
                  <a:lnTo>
                    <a:pt x="47" y="69"/>
                  </a:lnTo>
                  <a:lnTo>
                    <a:pt x="38" y="80"/>
                  </a:lnTo>
                  <a:lnTo>
                    <a:pt x="29" y="95"/>
                  </a:lnTo>
                  <a:lnTo>
                    <a:pt x="24" y="109"/>
                  </a:lnTo>
                  <a:lnTo>
                    <a:pt x="18" y="124"/>
                  </a:lnTo>
                  <a:lnTo>
                    <a:pt x="15" y="138"/>
                  </a:lnTo>
                  <a:lnTo>
                    <a:pt x="12" y="155"/>
                  </a:lnTo>
                  <a:lnTo>
                    <a:pt x="9" y="172"/>
                  </a:lnTo>
                  <a:lnTo>
                    <a:pt x="0" y="172"/>
                  </a:lnTo>
                </a:path>
              </a:pathLst>
            </a:custGeom>
            <a:solidFill>
              <a:srgbClr val="FFC7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7" name="Freeform 171">
              <a:extLst>
                <a:ext uri="{FF2B5EF4-FFF2-40B4-BE49-F238E27FC236}">
                  <a16:creationId xmlns:a16="http://schemas.microsoft.com/office/drawing/2014/main" id="{CE82E32E-8C9A-4F36-AE5E-CFEAA891B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802"/>
              <a:ext cx="351" cy="173"/>
            </a:xfrm>
            <a:custGeom>
              <a:avLst/>
              <a:gdLst>
                <a:gd name="T0" fmla="*/ 0 w 351"/>
                <a:gd name="T1" fmla="*/ 0 h 173"/>
                <a:gd name="T2" fmla="*/ 6 w 351"/>
                <a:gd name="T3" fmla="*/ 35 h 173"/>
                <a:gd name="T4" fmla="*/ 15 w 351"/>
                <a:gd name="T5" fmla="*/ 66 h 173"/>
                <a:gd name="T6" fmla="*/ 29 w 351"/>
                <a:gd name="T7" fmla="*/ 95 h 173"/>
                <a:gd name="T8" fmla="*/ 52 w 351"/>
                <a:gd name="T9" fmla="*/ 121 h 173"/>
                <a:gd name="T10" fmla="*/ 79 w 351"/>
                <a:gd name="T11" fmla="*/ 143 h 173"/>
                <a:gd name="T12" fmla="*/ 108 w 351"/>
                <a:gd name="T13" fmla="*/ 158 h 173"/>
                <a:gd name="T14" fmla="*/ 140 w 351"/>
                <a:gd name="T15" fmla="*/ 169 h 173"/>
                <a:gd name="T16" fmla="*/ 175 w 351"/>
                <a:gd name="T17" fmla="*/ 172 h 173"/>
                <a:gd name="T18" fmla="*/ 210 w 351"/>
                <a:gd name="T19" fmla="*/ 169 h 173"/>
                <a:gd name="T20" fmla="*/ 245 w 351"/>
                <a:gd name="T21" fmla="*/ 158 h 173"/>
                <a:gd name="T22" fmla="*/ 274 w 351"/>
                <a:gd name="T23" fmla="*/ 143 h 173"/>
                <a:gd name="T24" fmla="*/ 300 w 351"/>
                <a:gd name="T25" fmla="*/ 121 h 173"/>
                <a:gd name="T26" fmla="*/ 321 w 351"/>
                <a:gd name="T27" fmla="*/ 95 h 173"/>
                <a:gd name="T28" fmla="*/ 335 w 351"/>
                <a:gd name="T29" fmla="*/ 66 h 173"/>
                <a:gd name="T30" fmla="*/ 347 w 351"/>
                <a:gd name="T31" fmla="*/ 35 h 173"/>
                <a:gd name="T32" fmla="*/ 350 w 351"/>
                <a:gd name="T33" fmla="*/ 0 h 173"/>
                <a:gd name="T34" fmla="*/ 341 w 351"/>
                <a:gd name="T35" fmla="*/ 17 h 173"/>
                <a:gd name="T36" fmla="*/ 332 w 351"/>
                <a:gd name="T37" fmla="*/ 49 h 173"/>
                <a:gd name="T38" fmla="*/ 321 w 351"/>
                <a:gd name="T39" fmla="*/ 77 h 173"/>
                <a:gd name="T40" fmla="*/ 303 w 351"/>
                <a:gd name="T41" fmla="*/ 103 h 173"/>
                <a:gd name="T42" fmla="*/ 280 w 351"/>
                <a:gd name="T43" fmla="*/ 127 h 173"/>
                <a:gd name="T44" fmla="*/ 254 w 351"/>
                <a:gd name="T45" fmla="*/ 143 h 173"/>
                <a:gd name="T46" fmla="*/ 224 w 351"/>
                <a:gd name="T47" fmla="*/ 155 h 173"/>
                <a:gd name="T48" fmla="*/ 193 w 351"/>
                <a:gd name="T49" fmla="*/ 160 h 173"/>
                <a:gd name="T50" fmla="*/ 157 w 351"/>
                <a:gd name="T51" fmla="*/ 160 h 173"/>
                <a:gd name="T52" fmla="*/ 126 w 351"/>
                <a:gd name="T53" fmla="*/ 155 h 173"/>
                <a:gd name="T54" fmla="*/ 96 w 351"/>
                <a:gd name="T55" fmla="*/ 143 h 173"/>
                <a:gd name="T56" fmla="*/ 70 w 351"/>
                <a:gd name="T57" fmla="*/ 127 h 173"/>
                <a:gd name="T58" fmla="*/ 47 w 351"/>
                <a:gd name="T59" fmla="*/ 103 h 173"/>
                <a:gd name="T60" fmla="*/ 29 w 351"/>
                <a:gd name="T61" fmla="*/ 77 h 173"/>
                <a:gd name="T62" fmla="*/ 18 w 351"/>
                <a:gd name="T63" fmla="*/ 49 h 173"/>
                <a:gd name="T64" fmla="*/ 12 w 351"/>
                <a:gd name="T65" fmla="*/ 17 h 173"/>
                <a:gd name="T66" fmla="*/ 0 w 351"/>
                <a:gd name="T67" fmla="*/ 0 h 17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51"/>
                <a:gd name="T103" fmla="*/ 0 h 173"/>
                <a:gd name="T104" fmla="*/ 351 w 351"/>
                <a:gd name="T105" fmla="*/ 173 h 17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51" h="173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5"/>
                  </a:lnTo>
                  <a:lnTo>
                    <a:pt x="9" y="52"/>
                  </a:lnTo>
                  <a:lnTo>
                    <a:pt x="15" y="66"/>
                  </a:lnTo>
                  <a:lnTo>
                    <a:pt x="21" y="80"/>
                  </a:lnTo>
                  <a:lnTo>
                    <a:pt x="29" y="95"/>
                  </a:lnTo>
                  <a:lnTo>
                    <a:pt x="41" y="109"/>
                  </a:lnTo>
                  <a:lnTo>
                    <a:pt x="52" y="121"/>
                  </a:lnTo>
                  <a:lnTo>
                    <a:pt x="64" y="132"/>
                  </a:lnTo>
                  <a:lnTo>
                    <a:pt x="79" y="143"/>
                  </a:lnTo>
                  <a:lnTo>
                    <a:pt x="93" y="152"/>
                  </a:lnTo>
                  <a:lnTo>
                    <a:pt x="108" y="158"/>
                  </a:lnTo>
                  <a:lnTo>
                    <a:pt x="123" y="163"/>
                  </a:lnTo>
                  <a:lnTo>
                    <a:pt x="140" y="169"/>
                  </a:lnTo>
                  <a:lnTo>
                    <a:pt x="157" y="169"/>
                  </a:lnTo>
                  <a:lnTo>
                    <a:pt x="175" y="172"/>
                  </a:lnTo>
                  <a:lnTo>
                    <a:pt x="193" y="169"/>
                  </a:lnTo>
                  <a:lnTo>
                    <a:pt x="210" y="169"/>
                  </a:lnTo>
                  <a:lnTo>
                    <a:pt x="227" y="163"/>
                  </a:lnTo>
                  <a:lnTo>
                    <a:pt x="245" y="158"/>
                  </a:lnTo>
                  <a:lnTo>
                    <a:pt x="260" y="152"/>
                  </a:lnTo>
                  <a:lnTo>
                    <a:pt x="274" y="143"/>
                  </a:lnTo>
                  <a:lnTo>
                    <a:pt x="286" y="132"/>
                  </a:lnTo>
                  <a:lnTo>
                    <a:pt x="300" y="121"/>
                  </a:lnTo>
                  <a:lnTo>
                    <a:pt x="309" y="109"/>
                  </a:lnTo>
                  <a:lnTo>
                    <a:pt x="321" y="95"/>
                  </a:lnTo>
                  <a:lnTo>
                    <a:pt x="329" y="80"/>
                  </a:lnTo>
                  <a:lnTo>
                    <a:pt x="335" y="66"/>
                  </a:lnTo>
                  <a:lnTo>
                    <a:pt x="341" y="52"/>
                  </a:lnTo>
                  <a:lnTo>
                    <a:pt x="347" y="35"/>
                  </a:lnTo>
                  <a:lnTo>
                    <a:pt x="350" y="17"/>
                  </a:lnTo>
                  <a:lnTo>
                    <a:pt x="350" y="0"/>
                  </a:lnTo>
                  <a:lnTo>
                    <a:pt x="341" y="0"/>
                  </a:lnTo>
                  <a:lnTo>
                    <a:pt x="341" y="17"/>
                  </a:lnTo>
                  <a:lnTo>
                    <a:pt x="338" y="32"/>
                  </a:lnTo>
                  <a:lnTo>
                    <a:pt x="332" y="49"/>
                  </a:lnTo>
                  <a:lnTo>
                    <a:pt x="326" y="63"/>
                  </a:lnTo>
                  <a:lnTo>
                    <a:pt x="321" y="77"/>
                  </a:lnTo>
                  <a:lnTo>
                    <a:pt x="312" y="92"/>
                  </a:lnTo>
                  <a:lnTo>
                    <a:pt x="303" y="103"/>
                  </a:lnTo>
                  <a:lnTo>
                    <a:pt x="292" y="115"/>
                  </a:lnTo>
                  <a:lnTo>
                    <a:pt x="280" y="127"/>
                  </a:lnTo>
                  <a:lnTo>
                    <a:pt x="268" y="135"/>
                  </a:lnTo>
                  <a:lnTo>
                    <a:pt x="254" y="143"/>
                  </a:lnTo>
                  <a:lnTo>
                    <a:pt x="239" y="149"/>
                  </a:lnTo>
                  <a:lnTo>
                    <a:pt x="224" y="155"/>
                  </a:lnTo>
                  <a:lnTo>
                    <a:pt x="210" y="158"/>
                  </a:lnTo>
                  <a:lnTo>
                    <a:pt x="193" y="160"/>
                  </a:lnTo>
                  <a:lnTo>
                    <a:pt x="175" y="163"/>
                  </a:lnTo>
                  <a:lnTo>
                    <a:pt x="157" y="160"/>
                  </a:lnTo>
                  <a:lnTo>
                    <a:pt x="143" y="158"/>
                  </a:lnTo>
                  <a:lnTo>
                    <a:pt x="126" y="155"/>
                  </a:lnTo>
                  <a:lnTo>
                    <a:pt x="111" y="149"/>
                  </a:lnTo>
                  <a:lnTo>
                    <a:pt x="96" y="143"/>
                  </a:lnTo>
                  <a:lnTo>
                    <a:pt x="82" y="135"/>
                  </a:lnTo>
                  <a:lnTo>
                    <a:pt x="70" y="127"/>
                  </a:lnTo>
                  <a:lnTo>
                    <a:pt x="58" y="115"/>
                  </a:lnTo>
                  <a:lnTo>
                    <a:pt x="47" y="103"/>
                  </a:lnTo>
                  <a:lnTo>
                    <a:pt x="38" y="92"/>
                  </a:lnTo>
                  <a:lnTo>
                    <a:pt x="29" y="77"/>
                  </a:lnTo>
                  <a:lnTo>
                    <a:pt x="24" y="63"/>
                  </a:lnTo>
                  <a:lnTo>
                    <a:pt x="18" y="49"/>
                  </a:lnTo>
                  <a:lnTo>
                    <a:pt x="15" y="32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7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8" name="Freeform 172">
              <a:extLst>
                <a:ext uri="{FF2B5EF4-FFF2-40B4-BE49-F238E27FC236}">
                  <a16:creationId xmlns:a16="http://schemas.microsoft.com/office/drawing/2014/main" id="{4DFC776D-1726-4283-8376-F23148F30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633"/>
              <a:ext cx="333" cy="164"/>
            </a:xfrm>
            <a:custGeom>
              <a:avLst/>
              <a:gdLst>
                <a:gd name="T0" fmla="*/ 3 w 333"/>
                <a:gd name="T1" fmla="*/ 146 h 164"/>
                <a:gd name="T2" fmla="*/ 9 w 333"/>
                <a:gd name="T3" fmla="*/ 115 h 164"/>
                <a:gd name="T4" fmla="*/ 21 w 333"/>
                <a:gd name="T5" fmla="*/ 86 h 164"/>
                <a:gd name="T6" fmla="*/ 38 w 333"/>
                <a:gd name="T7" fmla="*/ 60 h 164"/>
                <a:gd name="T8" fmla="*/ 61 w 333"/>
                <a:gd name="T9" fmla="*/ 38 h 164"/>
                <a:gd name="T10" fmla="*/ 87 w 333"/>
                <a:gd name="T11" fmla="*/ 20 h 164"/>
                <a:gd name="T12" fmla="*/ 117 w 333"/>
                <a:gd name="T13" fmla="*/ 6 h 164"/>
                <a:gd name="T14" fmla="*/ 148 w 333"/>
                <a:gd name="T15" fmla="*/ 0 h 164"/>
                <a:gd name="T16" fmla="*/ 184 w 333"/>
                <a:gd name="T17" fmla="*/ 0 h 164"/>
                <a:gd name="T18" fmla="*/ 215 w 333"/>
                <a:gd name="T19" fmla="*/ 6 h 164"/>
                <a:gd name="T20" fmla="*/ 245 w 333"/>
                <a:gd name="T21" fmla="*/ 20 h 164"/>
                <a:gd name="T22" fmla="*/ 271 w 333"/>
                <a:gd name="T23" fmla="*/ 38 h 164"/>
                <a:gd name="T24" fmla="*/ 294 w 333"/>
                <a:gd name="T25" fmla="*/ 60 h 164"/>
                <a:gd name="T26" fmla="*/ 311 w 333"/>
                <a:gd name="T27" fmla="*/ 86 h 164"/>
                <a:gd name="T28" fmla="*/ 323 w 333"/>
                <a:gd name="T29" fmla="*/ 115 h 164"/>
                <a:gd name="T30" fmla="*/ 332 w 333"/>
                <a:gd name="T31" fmla="*/ 146 h 164"/>
                <a:gd name="T32" fmla="*/ 323 w 333"/>
                <a:gd name="T33" fmla="*/ 163 h 164"/>
                <a:gd name="T34" fmla="*/ 320 w 333"/>
                <a:gd name="T35" fmla="*/ 132 h 164"/>
                <a:gd name="T36" fmla="*/ 308 w 333"/>
                <a:gd name="T37" fmla="*/ 103 h 164"/>
                <a:gd name="T38" fmla="*/ 294 w 333"/>
                <a:gd name="T39" fmla="*/ 77 h 164"/>
                <a:gd name="T40" fmla="*/ 277 w 333"/>
                <a:gd name="T41" fmla="*/ 54 h 164"/>
                <a:gd name="T42" fmla="*/ 253 w 333"/>
                <a:gd name="T43" fmla="*/ 35 h 164"/>
                <a:gd name="T44" fmla="*/ 227 w 333"/>
                <a:gd name="T45" fmla="*/ 20 h 164"/>
                <a:gd name="T46" fmla="*/ 198 w 333"/>
                <a:gd name="T47" fmla="*/ 12 h 164"/>
                <a:gd name="T48" fmla="*/ 166 w 333"/>
                <a:gd name="T49" fmla="*/ 9 h 164"/>
                <a:gd name="T50" fmla="*/ 134 w 333"/>
                <a:gd name="T51" fmla="*/ 12 h 164"/>
                <a:gd name="T52" fmla="*/ 105 w 333"/>
                <a:gd name="T53" fmla="*/ 20 h 164"/>
                <a:gd name="T54" fmla="*/ 79 w 333"/>
                <a:gd name="T55" fmla="*/ 35 h 164"/>
                <a:gd name="T56" fmla="*/ 55 w 333"/>
                <a:gd name="T57" fmla="*/ 54 h 164"/>
                <a:gd name="T58" fmla="*/ 38 w 333"/>
                <a:gd name="T59" fmla="*/ 77 h 164"/>
                <a:gd name="T60" fmla="*/ 24 w 333"/>
                <a:gd name="T61" fmla="*/ 103 h 164"/>
                <a:gd name="T62" fmla="*/ 15 w 333"/>
                <a:gd name="T63" fmla="*/ 132 h 164"/>
                <a:gd name="T64" fmla="*/ 12 w 333"/>
                <a:gd name="T65" fmla="*/ 163 h 16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33"/>
                <a:gd name="T100" fmla="*/ 0 h 164"/>
                <a:gd name="T101" fmla="*/ 333 w 333"/>
                <a:gd name="T102" fmla="*/ 164 h 16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33" h="164">
                  <a:moveTo>
                    <a:pt x="0" y="163"/>
                  </a:moveTo>
                  <a:lnTo>
                    <a:pt x="3" y="146"/>
                  </a:lnTo>
                  <a:lnTo>
                    <a:pt x="6" y="129"/>
                  </a:lnTo>
                  <a:lnTo>
                    <a:pt x="9" y="115"/>
                  </a:lnTo>
                  <a:lnTo>
                    <a:pt x="15" y="100"/>
                  </a:lnTo>
                  <a:lnTo>
                    <a:pt x="21" y="86"/>
                  </a:lnTo>
                  <a:lnTo>
                    <a:pt x="29" y="71"/>
                  </a:lnTo>
                  <a:lnTo>
                    <a:pt x="38" y="60"/>
                  </a:lnTo>
                  <a:lnTo>
                    <a:pt x="49" y="49"/>
                  </a:lnTo>
                  <a:lnTo>
                    <a:pt x="61" y="38"/>
                  </a:lnTo>
                  <a:lnTo>
                    <a:pt x="73" y="29"/>
                  </a:lnTo>
                  <a:lnTo>
                    <a:pt x="87" y="20"/>
                  </a:lnTo>
                  <a:lnTo>
                    <a:pt x="102" y="12"/>
                  </a:lnTo>
                  <a:lnTo>
                    <a:pt x="117" y="6"/>
                  </a:lnTo>
                  <a:lnTo>
                    <a:pt x="134" y="3"/>
                  </a:lnTo>
                  <a:lnTo>
                    <a:pt x="148" y="0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201" y="3"/>
                  </a:lnTo>
                  <a:lnTo>
                    <a:pt x="215" y="6"/>
                  </a:lnTo>
                  <a:lnTo>
                    <a:pt x="230" y="12"/>
                  </a:lnTo>
                  <a:lnTo>
                    <a:pt x="245" y="20"/>
                  </a:lnTo>
                  <a:lnTo>
                    <a:pt x="259" y="29"/>
                  </a:lnTo>
                  <a:lnTo>
                    <a:pt x="271" y="38"/>
                  </a:lnTo>
                  <a:lnTo>
                    <a:pt x="283" y="49"/>
                  </a:lnTo>
                  <a:lnTo>
                    <a:pt x="294" y="60"/>
                  </a:lnTo>
                  <a:lnTo>
                    <a:pt x="303" y="71"/>
                  </a:lnTo>
                  <a:lnTo>
                    <a:pt x="311" y="86"/>
                  </a:lnTo>
                  <a:lnTo>
                    <a:pt x="317" y="100"/>
                  </a:lnTo>
                  <a:lnTo>
                    <a:pt x="323" y="115"/>
                  </a:lnTo>
                  <a:lnTo>
                    <a:pt x="329" y="129"/>
                  </a:lnTo>
                  <a:lnTo>
                    <a:pt x="332" y="146"/>
                  </a:lnTo>
                  <a:lnTo>
                    <a:pt x="332" y="163"/>
                  </a:lnTo>
                  <a:lnTo>
                    <a:pt x="323" y="163"/>
                  </a:lnTo>
                  <a:lnTo>
                    <a:pt x="320" y="146"/>
                  </a:lnTo>
                  <a:lnTo>
                    <a:pt x="320" y="132"/>
                  </a:lnTo>
                  <a:lnTo>
                    <a:pt x="314" y="118"/>
                  </a:lnTo>
                  <a:lnTo>
                    <a:pt x="308" y="103"/>
                  </a:lnTo>
                  <a:lnTo>
                    <a:pt x="303" y="89"/>
                  </a:lnTo>
                  <a:lnTo>
                    <a:pt x="294" y="77"/>
                  </a:lnTo>
                  <a:lnTo>
                    <a:pt x="286" y="66"/>
                  </a:lnTo>
                  <a:lnTo>
                    <a:pt x="277" y="54"/>
                  </a:lnTo>
                  <a:lnTo>
                    <a:pt x="265" y="43"/>
                  </a:lnTo>
                  <a:lnTo>
                    <a:pt x="253" y="35"/>
                  </a:lnTo>
                  <a:lnTo>
                    <a:pt x="242" y="29"/>
                  </a:lnTo>
                  <a:lnTo>
                    <a:pt x="227" y="20"/>
                  </a:lnTo>
                  <a:lnTo>
                    <a:pt x="212" y="17"/>
                  </a:lnTo>
                  <a:lnTo>
                    <a:pt x="198" y="12"/>
                  </a:lnTo>
                  <a:lnTo>
                    <a:pt x="184" y="9"/>
                  </a:lnTo>
                  <a:lnTo>
                    <a:pt x="166" y="9"/>
                  </a:lnTo>
                  <a:lnTo>
                    <a:pt x="151" y="9"/>
                  </a:lnTo>
                  <a:lnTo>
                    <a:pt x="134" y="12"/>
                  </a:lnTo>
                  <a:lnTo>
                    <a:pt x="120" y="17"/>
                  </a:lnTo>
                  <a:lnTo>
                    <a:pt x="105" y="20"/>
                  </a:lnTo>
                  <a:lnTo>
                    <a:pt x="93" y="29"/>
                  </a:lnTo>
                  <a:lnTo>
                    <a:pt x="79" y="35"/>
                  </a:lnTo>
                  <a:lnTo>
                    <a:pt x="67" y="43"/>
                  </a:lnTo>
                  <a:lnTo>
                    <a:pt x="55" y="54"/>
                  </a:lnTo>
                  <a:lnTo>
                    <a:pt x="46" y="66"/>
                  </a:lnTo>
                  <a:lnTo>
                    <a:pt x="38" y="77"/>
                  </a:lnTo>
                  <a:lnTo>
                    <a:pt x="29" y="89"/>
                  </a:lnTo>
                  <a:lnTo>
                    <a:pt x="24" y="103"/>
                  </a:lnTo>
                  <a:lnTo>
                    <a:pt x="18" y="118"/>
                  </a:lnTo>
                  <a:lnTo>
                    <a:pt x="15" y="132"/>
                  </a:lnTo>
                  <a:lnTo>
                    <a:pt x="12" y="146"/>
                  </a:lnTo>
                  <a:lnTo>
                    <a:pt x="12" y="163"/>
                  </a:lnTo>
                  <a:lnTo>
                    <a:pt x="0" y="163"/>
                  </a:lnTo>
                </a:path>
              </a:pathLst>
            </a:custGeom>
            <a:solidFill>
              <a:srgbClr val="FFCC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39" name="Freeform 173">
              <a:extLst>
                <a:ext uri="{FF2B5EF4-FFF2-40B4-BE49-F238E27FC236}">
                  <a16:creationId xmlns:a16="http://schemas.microsoft.com/office/drawing/2014/main" id="{6896615B-655D-441C-A7C3-7311D2340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802"/>
              <a:ext cx="333" cy="164"/>
            </a:xfrm>
            <a:custGeom>
              <a:avLst/>
              <a:gdLst>
                <a:gd name="T0" fmla="*/ 0 w 333"/>
                <a:gd name="T1" fmla="*/ 0 h 164"/>
                <a:gd name="T2" fmla="*/ 6 w 333"/>
                <a:gd name="T3" fmla="*/ 32 h 164"/>
                <a:gd name="T4" fmla="*/ 15 w 333"/>
                <a:gd name="T5" fmla="*/ 63 h 164"/>
                <a:gd name="T6" fmla="*/ 29 w 333"/>
                <a:gd name="T7" fmla="*/ 92 h 164"/>
                <a:gd name="T8" fmla="*/ 49 w 333"/>
                <a:gd name="T9" fmla="*/ 115 h 164"/>
                <a:gd name="T10" fmla="*/ 73 w 333"/>
                <a:gd name="T11" fmla="*/ 135 h 164"/>
                <a:gd name="T12" fmla="*/ 102 w 333"/>
                <a:gd name="T13" fmla="*/ 149 h 164"/>
                <a:gd name="T14" fmla="*/ 134 w 333"/>
                <a:gd name="T15" fmla="*/ 157 h 164"/>
                <a:gd name="T16" fmla="*/ 166 w 333"/>
                <a:gd name="T17" fmla="*/ 163 h 164"/>
                <a:gd name="T18" fmla="*/ 201 w 333"/>
                <a:gd name="T19" fmla="*/ 157 h 164"/>
                <a:gd name="T20" fmla="*/ 230 w 333"/>
                <a:gd name="T21" fmla="*/ 149 h 164"/>
                <a:gd name="T22" fmla="*/ 259 w 333"/>
                <a:gd name="T23" fmla="*/ 135 h 164"/>
                <a:gd name="T24" fmla="*/ 283 w 333"/>
                <a:gd name="T25" fmla="*/ 115 h 164"/>
                <a:gd name="T26" fmla="*/ 303 w 333"/>
                <a:gd name="T27" fmla="*/ 92 h 164"/>
                <a:gd name="T28" fmla="*/ 317 w 333"/>
                <a:gd name="T29" fmla="*/ 63 h 164"/>
                <a:gd name="T30" fmla="*/ 329 w 333"/>
                <a:gd name="T31" fmla="*/ 32 h 164"/>
                <a:gd name="T32" fmla="*/ 332 w 333"/>
                <a:gd name="T33" fmla="*/ 0 h 164"/>
                <a:gd name="T34" fmla="*/ 320 w 333"/>
                <a:gd name="T35" fmla="*/ 14 h 164"/>
                <a:gd name="T36" fmla="*/ 314 w 333"/>
                <a:gd name="T37" fmla="*/ 46 h 164"/>
                <a:gd name="T38" fmla="*/ 303 w 333"/>
                <a:gd name="T39" fmla="*/ 71 h 164"/>
                <a:gd name="T40" fmla="*/ 286 w 333"/>
                <a:gd name="T41" fmla="*/ 97 h 164"/>
                <a:gd name="T42" fmla="*/ 265 w 333"/>
                <a:gd name="T43" fmla="*/ 118 h 164"/>
                <a:gd name="T44" fmla="*/ 242 w 333"/>
                <a:gd name="T45" fmla="*/ 135 h 164"/>
                <a:gd name="T46" fmla="*/ 212 w 333"/>
                <a:gd name="T47" fmla="*/ 146 h 164"/>
                <a:gd name="T48" fmla="*/ 184 w 333"/>
                <a:gd name="T49" fmla="*/ 151 h 164"/>
                <a:gd name="T50" fmla="*/ 151 w 333"/>
                <a:gd name="T51" fmla="*/ 151 h 164"/>
                <a:gd name="T52" fmla="*/ 120 w 333"/>
                <a:gd name="T53" fmla="*/ 146 h 164"/>
                <a:gd name="T54" fmla="*/ 93 w 333"/>
                <a:gd name="T55" fmla="*/ 135 h 164"/>
                <a:gd name="T56" fmla="*/ 67 w 333"/>
                <a:gd name="T57" fmla="*/ 118 h 164"/>
                <a:gd name="T58" fmla="*/ 46 w 333"/>
                <a:gd name="T59" fmla="*/ 97 h 164"/>
                <a:gd name="T60" fmla="*/ 29 w 333"/>
                <a:gd name="T61" fmla="*/ 71 h 164"/>
                <a:gd name="T62" fmla="*/ 18 w 333"/>
                <a:gd name="T63" fmla="*/ 46 h 164"/>
                <a:gd name="T64" fmla="*/ 12 w 333"/>
                <a:gd name="T65" fmla="*/ 14 h 164"/>
                <a:gd name="T66" fmla="*/ 0 w 333"/>
                <a:gd name="T67" fmla="*/ 0 h 16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33"/>
                <a:gd name="T103" fmla="*/ 0 h 164"/>
                <a:gd name="T104" fmla="*/ 333 w 333"/>
                <a:gd name="T105" fmla="*/ 164 h 16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33" h="164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2"/>
                  </a:lnTo>
                  <a:lnTo>
                    <a:pt x="9" y="49"/>
                  </a:lnTo>
                  <a:lnTo>
                    <a:pt x="15" y="63"/>
                  </a:lnTo>
                  <a:lnTo>
                    <a:pt x="21" y="77"/>
                  </a:lnTo>
                  <a:lnTo>
                    <a:pt x="29" y="92"/>
                  </a:lnTo>
                  <a:lnTo>
                    <a:pt x="38" y="103"/>
                  </a:lnTo>
                  <a:lnTo>
                    <a:pt x="49" y="115"/>
                  </a:lnTo>
                  <a:lnTo>
                    <a:pt x="61" y="126"/>
                  </a:lnTo>
                  <a:lnTo>
                    <a:pt x="73" y="135"/>
                  </a:lnTo>
                  <a:lnTo>
                    <a:pt x="87" y="143"/>
                  </a:lnTo>
                  <a:lnTo>
                    <a:pt x="102" y="149"/>
                  </a:lnTo>
                  <a:lnTo>
                    <a:pt x="117" y="154"/>
                  </a:lnTo>
                  <a:lnTo>
                    <a:pt x="134" y="157"/>
                  </a:lnTo>
                  <a:lnTo>
                    <a:pt x="148" y="160"/>
                  </a:lnTo>
                  <a:lnTo>
                    <a:pt x="166" y="163"/>
                  </a:lnTo>
                  <a:lnTo>
                    <a:pt x="184" y="160"/>
                  </a:lnTo>
                  <a:lnTo>
                    <a:pt x="201" y="157"/>
                  </a:lnTo>
                  <a:lnTo>
                    <a:pt x="215" y="154"/>
                  </a:lnTo>
                  <a:lnTo>
                    <a:pt x="230" y="149"/>
                  </a:lnTo>
                  <a:lnTo>
                    <a:pt x="245" y="143"/>
                  </a:lnTo>
                  <a:lnTo>
                    <a:pt x="259" y="135"/>
                  </a:lnTo>
                  <a:lnTo>
                    <a:pt x="271" y="126"/>
                  </a:lnTo>
                  <a:lnTo>
                    <a:pt x="283" y="115"/>
                  </a:lnTo>
                  <a:lnTo>
                    <a:pt x="294" y="103"/>
                  </a:lnTo>
                  <a:lnTo>
                    <a:pt x="303" y="92"/>
                  </a:lnTo>
                  <a:lnTo>
                    <a:pt x="311" y="77"/>
                  </a:lnTo>
                  <a:lnTo>
                    <a:pt x="317" y="63"/>
                  </a:lnTo>
                  <a:lnTo>
                    <a:pt x="323" y="49"/>
                  </a:lnTo>
                  <a:lnTo>
                    <a:pt x="329" y="32"/>
                  </a:lnTo>
                  <a:lnTo>
                    <a:pt x="332" y="17"/>
                  </a:lnTo>
                  <a:lnTo>
                    <a:pt x="332" y="0"/>
                  </a:lnTo>
                  <a:lnTo>
                    <a:pt x="323" y="0"/>
                  </a:lnTo>
                  <a:lnTo>
                    <a:pt x="320" y="14"/>
                  </a:lnTo>
                  <a:lnTo>
                    <a:pt x="320" y="32"/>
                  </a:lnTo>
                  <a:lnTo>
                    <a:pt x="314" y="46"/>
                  </a:lnTo>
                  <a:lnTo>
                    <a:pt x="308" y="60"/>
                  </a:lnTo>
                  <a:lnTo>
                    <a:pt x="303" y="71"/>
                  </a:lnTo>
                  <a:lnTo>
                    <a:pt x="294" y="86"/>
                  </a:lnTo>
                  <a:lnTo>
                    <a:pt x="286" y="97"/>
                  </a:lnTo>
                  <a:lnTo>
                    <a:pt x="277" y="109"/>
                  </a:lnTo>
                  <a:lnTo>
                    <a:pt x="265" y="118"/>
                  </a:lnTo>
                  <a:lnTo>
                    <a:pt x="253" y="126"/>
                  </a:lnTo>
                  <a:lnTo>
                    <a:pt x="242" y="135"/>
                  </a:lnTo>
                  <a:lnTo>
                    <a:pt x="227" y="141"/>
                  </a:lnTo>
                  <a:lnTo>
                    <a:pt x="212" y="146"/>
                  </a:lnTo>
                  <a:lnTo>
                    <a:pt x="198" y="149"/>
                  </a:lnTo>
                  <a:lnTo>
                    <a:pt x="184" y="151"/>
                  </a:lnTo>
                  <a:lnTo>
                    <a:pt x="166" y="151"/>
                  </a:lnTo>
                  <a:lnTo>
                    <a:pt x="151" y="151"/>
                  </a:lnTo>
                  <a:lnTo>
                    <a:pt x="134" y="149"/>
                  </a:lnTo>
                  <a:lnTo>
                    <a:pt x="120" y="146"/>
                  </a:lnTo>
                  <a:lnTo>
                    <a:pt x="105" y="141"/>
                  </a:lnTo>
                  <a:lnTo>
                    <a:pt x="93" y="135"/>
                  </a:lnTo>
                  <a:lnTo>
                    <a:pt x="79" y="126"/>
                  </a:lnTo>
                  <a:lnTo>
                    <a:pt x="67" y="118"/>
                  </a:lnTo>
                  <a:lnTo>
                    <a:pt x="55" y="109"/>
                  </a:lnTo>
                  <a:lnTo>
                    <a:pt x="46" y="97"/>
                  </a:lnTo>
                  <a:lnTo>
                    <a:pt x="38" y="86"/>
                  </a:lnTo>
                  <a:lnTo>
                    <a:pt x="29" y="71"/>
                  </a:lnTo>
                  <a:lnTo>
                    <a:pt x="24" y="60"/>
                  </a:lnTo>
                  <a:lnTo>
                    <a:pt x="18" y="46"/>
                  </a:lnTo>
                  <a:lnTo>
                    <a:pt x="15" y="32"/>
                  </a:lnTo>
                  <a:lnTo>
                    <a:pt x="12" y="14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CC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0" name="Freeform 174">
              <a:extLst>
                <a:ext uri="{FF2B5EF4-FFF2-40B4-BE49-F238E27FC236}">
                  <a16:creationId xmlns:a16="http://schemas.microsoft.com/office/drawing/2014/main" id="{E19E77DB-A731-46DA-B38F-D99929361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642"/>
              <a:ext cx="312" cy="155"/>
            </a:xfrm>
            <a:custGeom>
              <a:avLst/>
              <a:gdLst>
                <a:gd name="T0" fmla="*/ 0 w 312"/>
                <a:gd name="T1" fmla="*/ 137 h 155"/>
                <a:gd name="T2" fmla="*/ 6 w 312"/>
                <a:gd name="T3" fmla="*/ 109 h 155"/>
                <a:gd name="T4" fmla="*/ 18 w 312"/>
                <a:gd name="T5" fmla="*/ 80 h 155"/>
                <a:gd name="T6" fmla="*/ 34 w 312"/>
                <a:gd name="T7" fmla="*/ 57 h 155"/>
                <a:gd name="T8" fmla="*/ 55 w 312"/>
                <a:gd name="T9" fmla="*/ 35 h 155"/>
                <a:gd name="T10" fmla="*/ 81 w 312"/>
                <a:gd name="T11" fmla="*/ 20 h 155"/>
                <a:gd name="T12" fmla="*/ 108 w 312"/>
                <a:gd name="T13" fmla="*/ 9 h 155"/>
                <a:gd name="T14" fmla="*/ 139 w 312"/>
                <a:gd name="T15" fmla="*/ 0 h 155"/>
                <a:gd name="T16" fmla="*/ 172 w 312"/>
                <a:gd name="T17" fmla="*/ 0 h 155"/>
                <a:gd name="T18" fmla="*/ 200 w 312"/>
                <a:gd name="T19" fmla="*/ 9 h 155"/>
                <a:gd name="T20" fmla="*/ 230 w 312"/>
                <a:gd name="T21" fmla="*/ 20 h 155"/>
                <a:gd name="T22" fmla="*/ 253 w 312"/>
                <a:gd name="T23" fmla="*/ 35 h 155"/>
                <a:gd name="T24" fmla="*/ 274 w 312"/>
                <a:gd name="T25" fmla="*/ 57 h 155"/>
                <a:gd name="T26" fmla="*/ 290 w 312"/>
                <a:gd name="T27" fmla="*/ 80 h 155"/>
                <a:gd name="T28" fmla="*/ 302 w 312"/>
                <a:gd name="T29" fmla="*/ 109 h 155"/>
                <a:gd name="T30" fmla="*/ 308 w 312"/>
                <a:gd name="T31" fmla="*/ 137 h 155"/>
                <a:gd name="T32" fmla="*/ 302 w 312"/>
                <a:gd name="T33" fmla="*/ 154 h 155"/>
                <a:gd name="T34" fmla="*/ 296 w 312"/>
                <a:gd name="T35" fmla="*/ 126 h 155"/>
                <a:gd name="T36" fmla="*/ 290 w 312"/>
                <a:gd name="T37" fmla="*/ 97 h 155"/>
                <a:gd name="T38" fmla="*/ 276 w 312"/>
                <a:gd name="T39" fmla="*/ 74 h 155"/>
                <a:gd name="T40" fmla="*/ 259 w 312"/>
                <a:gd name="T41" fmla="*/ 51 h 155"/>
                <a:gd name="T42" fmla="*/ 235 w 312"/>
                <a:gd name="T43" fmla="*/ 35 h 155"/>
                <a:gd name="T44" fmla="*/ 212 w 312"/>
                <a:gd name="T45" fmla="*/ 20 h 155"/>
                <a:gd name="T46" fmla="*/ 183 w 312"/>
                <a:gd name="T47" fmla="*/ 12 h 155"/>
                <a:gd name="T48" fmla="*/ 154 w 312"/>
                <a:gd name="T49" fmla="*/ 9 h 155"/>
                <a:gd name="T50" fmla="*/ 125 w 312"/>
                <a:gd name="T51" fmla="*/ 12 h 155"/>
                <a:gd name="T52" fmla="*/ 99 w 312"/>
                <a:gd name="T53" fmla="*/ 20 h 155"/>
                <a:gd name="T54" fmla="*/ 73 w 312"/>
                <a:gd name="T55" fmla="*/ 35 h 155"/>
                <a:gd name="T56" fmla="*/ 52 w 312"/>
                <a:gd name="T57" fmla="*/ 51 h 155"/>
                <a:gd name="T58" fmla="*/ 31 w 312"/>
                <a:gd name="T59" fmla="*/ 74 h 155"/>
                <a:gd name="T60" fmla="*/ 21 w 312"/>
                <a:gd name="T61" fmla="*/ 97 h 155"/>
                <a:gd name="T62" fmla="*/ 12 w 312"/>
                <a:gd name="T63" fmla="*/ 126 h 155"/>
                <a:gd name="T64" fmla="*/ 9 w 312"/>
                <a:gd name="T65" fmla="*/ 154 h 1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2"/>
                <a:gd name="T100" fmla="*/ 0 h 155"/>
                <a:gd name="T101" fmla="*/ 312 w 312"/>
                <a:gd name="T102" fmla="*/ 155 h 15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2" h="155">
                  <a:moveTo>
                    <a:pt x="0" y="154"/>
                  </a:moveTo>
                  <a:lnTo>
                    <a:pt x="0" y="137"/>
                  </a:lnTo>
                  <a:lnTo>
                    <a:pt x="3" y="123"/>
                  </a:lnTo>
                  <a:lnTo>
                    <a:pt x="6" y="109"/>
                  </a:lnTo>
                  <a:lnTo>
                    <a:pt x="12" y="94"/>
                  </a:lnTo>
                  <a:lnTo>
                    <a:pt x="18" y="80"/>
                  </a:lnTo>
                  <a:lnTo>
                    <a:pt x="26" y="68"/>
                  </a:lnTo>
                  <a:lnTo>
                    <a:pt x="34" y="57"/>
                  </a:lnTo>
                  <a:lnTo>
                    <a:pt x="43" y="45"/>
                  </a:lnTo>
                  <a:lnTo>
                    <a:pt x="55" y="35"/>
                  </a:lnTo>
                  <a:lnTo>
                    <a:pt x="67" y="26"/>
                  </a:lnTo>
                  <a:lnTo>
                    <a:pt x="81" y="20"/>
                  </a:lnTo>
                  <a:lnTo>
                    <a:pt x="93" y="12"/>
                  </a:lnTo>
                  <a:lnTo>
                    <a:pt x="108" y="9"/>
                  </a:lnTo>
                  <a:lnTo>
                    <a:pt x="122" y="3"/>
                  </a:lnTo>
                  <a:lnTo>
                    <a:pt x="139" y="0"/>
                  </a:lnTo>
                  <a:lnTo>
                    <a:pt x="154" y="0"/>
                  </a:lnTo>
                  <a:lnTo>
                    <a:pt x="172" y="0"/>
                  </a:lnTo>
                  <a:lnTo>
                    <a:pt x="186" y="3"/>
                  </a:lnTo>
                  <a:lnTo>
                    <a:pt x="200" y="9"/>
                  </a:lnTo>
                  <a:lnTo>
                    <a:pt x="215" y="12"/>
                  </a:lnTo>
                  <a:lnTo>
                    <a:pt x="230" y="20"/>
                  </a:lnTo>
                  <a:lnTo>
                    <a:pt x="241" y="26"/>
                  </a:lnTo>
                  <a:lnTo>
                    <a:pt x="253" y="35"/>
                  </a:lnTo>
                  <a:lnTo>
                    <a:pt x="265" y="45"/>
                  </a:lnTo>
                  <a:lnTo>
                    <a:pt x="274" y="57"/>
                  </a:lnTo>
                  <a:lnTo>
                    <a:pt x="282" y="68"/>
                  </a:lnTo>
                  <a:lnTo>
                    <a:pt x="290" y="80"/>
                  </a:lnTo>
                  <a:lnTo>
                    <a:pt x="296" y="94"/>
                  </a:lnTo>
                  <a:lnTo>
                    <a:pt x="302" y="109"/>
                  </a:lnTo>
                  <a:lnTo>
                    <a:pt x="308" y="123"/>
                  </a:lnTo>
                  <a:lnTo>
                    <a:pt x="308" y="137"/>
                  </a:lnTo>
                  <a:lnTo>
                    <a:pt x="311" y="154"/>
                  </a:lnTo>
                  <a:lnTo>
                    <a:pt x="302" y="154"/>
                  </a:lnTo>
                  <a:lnTo>
                    <a:pt x="299" y="140"/>
                  </a:lnTo>
                  <a:lnTo>
                    <a:pt x="296" y="126"/>
                  </a:lnTo>
                  <a:lnTo>
                    <a:pt x="293" y="112"/>
                  </a:lnTo>
                  <a:lnTo>
                    <a:pt x="290" y="97"/>
                  </a:lnTo>
                  <a:lnTo>
                    <a:pt x="282" y="86"/>
                  </a:lnTo>
                  <a:lnTo>
                    <a:pt x="276" y="74"/>
                  </a:lnTo>
                  <a:lnTo>
                    <a:pt x="268" y="63"/>
                  </a:lnTo>
                  <a:lnTo>
                    <a:pt x="259" y="51"/>
                  </a:lnTo>
                  <a:lnTo>
                    <a:pt x="247" y="42"/>
                  </a:lnTo>
                  <a:lnTo>
                    <a:pt x="235" y="35"/>
                  </a:lnTo>
                  <a:lnTo>
                    <a:pt x="224" y="26"/>
                  </a:lnTo>
                  <a:lnTo>
                    <a:pt x="212" y="20"/>
                  </a:lnTo>
                  <a:lnTo>
                    <a:pt x="197" y="17"/>
                  </a:lnTo>
                  <a:lnTo>
                    <a:pt x="183" y="12"/>
                  </a:lnTo>
                  <a:lnTo>
                    <a:pt x="169" y="12"/>
                  </a:lnTo>
                  <a:lnTo>
                    <a:pt x="154" y="9"/>
                  </a:lnTo>
                  <a:lnTo>
                    <a:pt x="139" y="12"/>
                  </a:lnTo>
                  <a:lnTo>
                    <a:pt x="125" y="12"/>
                  </a:lnTo>
                  <a:lnTo>
                    <a:pt x="110" y="17"/>
                  </a:lnTo>
                  <a:lnTo>
                    <a:pt x="99" y="20"/>
                  </a:lnTo>
                  <a:lnTo>
                    <a:pt x="84" y="26"/>
                  </a:lnTo>
                  <a:lnTo>
                    <a:pt x="73" y="35"/>
                  </a:lnTo>
                  <a:lnTo>
                    <a:pt x="61" y="42"/>
                  </a:lnTo>
                  <a:lnTo>
                    <a:pt x="52" y="51"/>
                  </a:lnTo>
                  <a:lnTo>
                    <a:pt x="40" y="63"/>
                  </a:lnTo>
                  <a:lnTo>
                    <a:pt x="31" y="74"/>
                  </a:lnTo>
                  <a:lnTo>
                    <a:pt x="26" y="86"/>
                  </a:lnTo>
                  <a:lnTo>
                    <a:pt x="21" y="97"/>
                  </a:lnTo>
                  <a:lnTo>
                    <a:pt x="15" y="112"/>
                  </a:lnTo>
                  <a:lnTo>
                    <a:pt x="12" y="126"/>
                  </a:lnTo>
                  <a:lnTo>
                    <a:pt x="9" y="140"/>
                  </a:lnTo>
                  <a:lnTo>
                    <a:pt x="9" y="154"/>
                  </a:lnTo>
                  <a:lnTo>
                    <a:pt x="0" y="154"/>
                  </a:lnTo>
                </a:path>
              </a:pathLst>
            </a:custGeom>
            <a:solidFill>
              <a:srgbClr val="FFD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1" name="Freeform 175">
              <a:extLst>
                <a:ext uri="{FF2B5EF4-FFF2-40B4-BE49-F238E27FC236}">
                  <a16:creationId xmlns:a16="http://schemas.microsoft.com/office/drawing/2014/main" id="{B08168ED-A719-4267-80A5-8BDCC80D6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802"/>
              <a:ext cx="312" cy="152"/>
            </a:xfrm>
            <a:custGeom>
              <a:avLst/>
              <a:gdLst>
                <a:gd name="T0" fmla="*/ 0 w 312"/>
                <a:gd name="T1" fmla="*/ 0 h 152"/>
                <a:gd name="T2" fmla="*/ 3 w 312"/>
                <a:gd name="T3" fmla="*/ 32 h 152"/>
                <a:gd name="T4" fmla="*/ 12 w 312"/>
                <a:gd name="T5" fmla="*/ 60 h 152"/>
                <a:gd name="T6" fmla="*/ 26 w 312"/>
                <a:gd name="T7" fmla="*/ 86 h 152"/>
                <a:gd name="T8" fmla="*/ 43 w 312"/>
                <a:gd name="T9" fmla="*/ 109 h 152"/>
                <a:gd name="T10" fmla="*/ 67 w 312"/>
                <a:gd name="T11" fmla="*/ 126 h 152"/>
                <a:gd name="T12" fmla="*/ 93 w 312"/>
                <a:gd name="T13" fmla="*/ 140 h 152"/>
                <a:gd name="T14" fmla="*/ 122 w 312"/>
                <a:gd name="T15" fmla="*/ 148 h 152"/>
                <a:gd name="T16" fmla="*/ 154 w 312"/>
                <a:gd name="T17" fmla="*/ 151 h 152"/>
                <a:gd name="T18" fmla="*/ 186 w 312"/>
                <a:gd name="T19" fmla="*/ 148 h 152"/>
                <a:gd name="T20" fmla="*/ 215 w 312"/>
                <a:gd name="T21" fmla="*/ 140 h 152"/>
                <a:gd name="T22" fmla="*/ 241 w 312"/>
                <a:gd name="T23" fmla="*/ 126 h 152"/>
                <a:gd name="T24" fmla="*/ 265 w 312"/>
                <a:gd name="T25" fmla="*/ 109 h 152"/>
                <a:gd name="T26" fmla="*/ 282 w 312"/>
                <a:gd name="T27" fmla="*/ 86 h 152"/>
                <a:gd name="T28" fmla="*/ 296 w 312"/>
                <a:gd name="T29" fmla="*/ 60 h 152"/>
                <a:gd name="T30" fmla="*/ 308 w 312"/>
                <a:gd name="T31" fmla="*/ 32 h 152"/>
                <a:gd name="T32" fmla="*/ 311 w 312"/>
                <a:gd name="T33" fmla="*/ 0 h 152"/>
                <a:gd name="T34" fmla="*/ 299 w 312"/>
                <a:gd name="T35" fmla="*/ 14 h 152"/>
                <a:gd name="T36" fmla="*/ 293 w 312"/>
                <a:gd name="T37" fmla="*/ 43 h 152"/>
                <a:gd name="T38" fmla="*/ 282 w 312"/>
                <a:gd name="T39" fmla="*/ 68 h 152"/>
                <a:gd name="T40" fmla="*/ 268 w 312"/>
                <a:gd name="T41" fmla="*/ 91 h 152"/>
                <a:gd name="T42" fmla="*/ 247 w 312"/>
                <a:gd name="T43" fmla="*/ 112 h 152"/>
                <a:gd name="T44" fmla="*/ 224 w 312"/>
                <a:gd name="T45" fmla="*/ 126 h 152"/>
                <a:gd name="T46" fmla="*/ 197 w 312"/>
                <a:gd name="T47" fmla="*/ 138 h 152"/>
                <a:gd name="T48" fmla="*/ 169 w 312"/>
                <a:gd name="T49" fmla="*/ 142 h 152"/>
                <a:gd name="T50" fmla="*/ 139 w 312"/>
                <a:gd name="T51" fmla="*/ 142 h 152"/>
                <a:gd name="T52" fmla="*/ 110 w 312"/>
                <a:gd name="T53" fmla="*/ 138 h 152"/>
                <a:gd name="T54" fmla="*/ 84 w 312"/>
                <a:gd name="T55" fmla="*/ 126 h 152"/>
                <a:gd name="T56" fmla="*/ 61 w 312"/>
                <a:gd name="T57" fmla="*/ 112 h 152"/>
                <a:gd name="T58" fmla="*/ 40 w 312"/>
                <a:gd name="T59" fmla="*/ 91 h 152"/>
                <a:gd name="T60" fmla="*/ 26 w 312"/>
                <a:gd name="T61" fmla="*/ 68 h 152"/>
                <a:gd name="T62" fmla="*/ 15 w 312"/>
                <a:gd name="T63" fmla="*/ 43 h 152"/>
                <a:gd name="T64" fmla="*/ 9 w 312"/>
                <a:gd name="T65" fmla="*/ 14 h 152"/>
                <a:gd name="T66" fmla="*/ 0 w 312"/>
                <a:gd name="T67" fmla="*/ 0 h 15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12"/>
                <a:gd name="T103" fmla="*/ 0 h 152"/>
                <a:gd name="T104" fmla="*/ 312 w 312"/>
                <a:gd name="T105" fmla="*/ 152 h 15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12" h="152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32"/>
                  </a:lnTo>
                  <a:lnTo>
                    <a:pt x="6" y="46"/>
                  </a:lnTo>
                  <a:lnTo>
                    <a:pt x="12" y="60"/>
                  </a:lnTo>
                  <a:lnTo>
                    <a:pt x="18" y="71"/>
                  </a:lnTo>
                  <a:lnTo>
                    <a:pt x="26" y="86"/>
                  </a:lnTo>
                  <a:lnTo>
                    <a:pt x="34" y="97"/>
                  </a:lnTo>
                  <a:lnTo>
                    <a:pt x="43" y="109"/>
                  </a:lnTo>
                  <a:lnTo>
                    <a:pt x="55" y="117"/>
                  </a:lnTo>
                  <a:lnTo>
                    <a:pt x="67" y="126"/>
                  </a:lnTo>
                  <a:lnTo>
                    <a:pt x="81" y="135"/>
                  </a:lnTo>
                  <a:lnTo>
                    <a:pt x="93" y="140"/>
                  </a:lnTo>
                  <a:lnTo>
                    <a:pt x="108" y="145"/>
                  </a:lnTo>
                  <a:lnTo>
                    <a:pt x="122" y="148"/>
                  </a:lnTo>
                  <a:lnTo>
                    <a:pt x="139" y="151"/>
                  </a:lnTo>
                  <a:lnTo>
                    <a:pt x="154" y="151"/>
                  </a:lnTo>
                  <a:lnTo>
                    <a:pt x="172" y="151"/>
                  </a:lnTo>
                  <a:lnTo>
                    <a:pt x="186" y="148"/>
                  </a:lnTo>
                  <a:lnTo>
                    <a:pt x="200" y="145"/>
                  </a:lnTo>
                  <a:lnTo>
                    <a:pt x="215" y="140"/>
                  </a:lnTo>
                  <a:lnTo>
                    <a:pt x="230" y="135"/>
                  </a:lnTo>
                  <a:lnTo>
                    <a:pt x="241" y="126"/>
                  </a:lnTo>
                  <a:lnTo>
                    <a:pt x="253" y="117"/>
                  </a:lnTo>
                  <a:lnTo>
                    <a:pt x="265" y="109"/>
                  </a:lnTo>
                  <a:lnTo>
                    <a:pt x="274" y="97"/>
                  </a:lnTo>
                  <a:lnTo>
                    <a:pt x="282" y="86"/>
                  </a:lnTo>
                  <a:lnTo>
                    <a:pt x="290" y="71"/>
                  </a:lnTo>
                  <a:lnTo>
                    <a:pt x="296" y="60"/>
                  </a:lnTo>
                  <a:lnTo>
                    <a:pt x="302" y="46"/>
                  </a:lnTo>
                  <a:lnTo>
                    <a:pt x="308" y="32"/>
                  </a:lnTo>
                  <a:lnTo>
                    <a:pt x="308" y="14"/>
                  </a:lnTo>
                  <a:lnTo>
                    <a:pt x="311" y="0"/>
                  </a:lnTo>
                  <a:lnTo>
                    <a:pt x="302" y="0"/>
                  </a:lnTo>
                  <a:lnTo>
                    <a:pt x="299" y="14"/>
                  </a:lnTo>
                  <a:lnTo>
                    <a:pt x="296" y="29"/>
                  </a:lnTo>
                  <a:lnTo>
                    <a:pt x="293" y="43"/>
                  </a:lnTo>
                  <a:lnTo>
                    <a:pt x="290" y="55"/>
                  </a:lnTo>
                  <a:lnTo>
                    <a:pt x="282" y="68"/>
                  </a:lnTo>
                  <a:lnTo>
                    <a:pt x="276" y="80"/>
                  </a:lnTo>
                  <a:lnTo>
                    <a:pt x="268" y="91"/>
                  </a:lnTo>
                  <a:lnTo>
                    <a:pt x="259" y="100"/>
                  </a:lnTo>
                  <a:lnTo>
                    <a:pt x="247" y="112"/>
                  </a:lnTo>
                  <a:lnTo>
                    <a:pt x="235" y="120"/>
                  </a:lnTo>
                  <a:lnTo>
                    <a:pt x="224" y="126"/>
                  </a:lnTo>
                  <a:lnTo>
                    <a:pt x="212" y="132"/>
                  </a:lnTo>
                  <a:lnTo>
                    <a:pt x="197" y="138"/>
                  </a:lnTo>
                  <a:lnTo>
                    <a:pt x="183" y="140"/>
                  </a:lnTo>
                  <a:lnTo>
                    <a:pt x="169" y="142"/>
                  </a:lnTo>
                  <a:lnTo>
                    <a:pt x="154" y="142"/>
                  </a:lnTo>
                  <a:lnTo>
                    <a:pt x="139" y="142"/>
                  </a:lnTo>
                  <a:lnTo>
                    <a:pt x="125" y="140"/>
                  </a:lnTo>
                  <a:lnTo>
                    <a:pt x="110" y="138"/>
                  </a:lnTo>
                  <a:lnTo>
                    <a:pt x="99" y="132"/>
                  </a:lnTo>
                  <a:lnTo>
                    <a:pt x="84" y="126"/>
                  </a:lnTo>
                  <a:lnTo>
                    <a:pt x="73" y="120"/>
                  </a:lnTo>
                  <a:lnTo>
                    <a:pt x="61" y="112"/>
                  </a:lnTo>
                  <a:lnTo>
                    <a:pt x="52" y="100"/>
                  </a:lnTo>
                  <a:lnTo>
                    <a:pt x="40" y="91"/>
                  </a:lnTo>
                  <a:lnTo>
                    <a:pt x="31" y="80"/>
                  </a:lnTo>
                  <a:lnTo>
                    <a:pt x="26" y="68"/>
                  </a:lnTo>
                  <a:lnTo>
                    <a:pt x="21" y="55"/>
                  </a:lnTo>
                  <a:lnTo>
                    <a:pt x="15" y="43"/>
                  </a:lnTo>
                  <a:lnTo>
                    <a:pt x="12" y="29"/>
                  </a:lnTo>
                  <a:lnTo>
                    <a:pt x="9" y="14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2" name="Freeform 176">
              <a:extLst>
                <a:ext uri="{FF2B5EF4-FFF2-40B4-BE49-F238E27FC236}">
                  <a16:creationId xmlns:a16="http://schemas.microsoft.com/office/drawing/2014/main" id="{5753524A-7168-4B5A-B676-B310A54FA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3651"/>
              <a:ext cx="294" cy="146"/>
            </a:xfrm>
            <a:custGeom>
              <a:avLst/>
              <a:gdLst>
                <a:gd name="T0" fmla="*/ 0 w 294"/>
                <a:gd name="T1" fmla="*/ 131 h 146"/>
                <a:gd name="T2" fmla="*/ 6 w 294"/>
                <a:gd name="T3" fmla="*/ 103 h 146"/>
                <a:gd name="T4" fmla="*/ 18 w 294"/>
                <a:gd name="T5" fmla="*/ 77 h 146"/>
                <a:gd name="T6" fmla="*/ 31 w 294"/>
                <a:gd name="T7" fmla="*/ 54 h 146"/>
                <a:gd name="T8" fmla="*/ 52 w 294"/>
                <a:gd name="T9" fmla="*/ 34 h 146"/>
                <a:gd name="T10" fmla="*/ 75 w 294"/>
                <a:gd name="T11" fmla="*/ 17 h 146"/>
                <a:gd name="T12" fmla="*/ 101 w 294"/>
                <a:gd name="T13" fmla="*/ 9 h 146"/>
                <a:gd name="T14" fmla="*/ 130 w 294"/>
                <a:gd name="T15" fmla="*/ 3 h 146"/>
                <a:gd name="T16" fmla="*/ 160 w 294"/>
                <a:gd name="T17" fmla="*/ 3 h 146"/>
                <a:gd name="T18" fmla="*/ 188 w 294"/>
                <a:gd name="T19" fmla="*/ 9 h 146"/>
                <a:gd name="T20" fmla="*/ 215 w 294"/>
                <a:gd name="T21" fmla="*/ 17 h 146"/>
                <a:gd name="T22" fmla="*/ 238 w 294"/>
                <a:gd name="T23" fmla="*/ 34 h 146"/>
                <a:gd name="T24" fmla="*/ 259 w 294"/>
                <a:gd name="T25" fmla="*/ 54 h 146"/>
                <a:gd name="T26" fmla="*/ 272 w 294"/>
                <a:gd name="T27" fmla="*/ 77 h 146"/>
                <a:gd name="T28" fmla="*/ 284 w 294"/>
                <a:gd name="T29" fmla="*/ 103 h 146"/>
                <a:gd name="T30" fmla="*/ 290 w 294"/>
                <a:gd name="T31" fmla="*/ 131 h 146"/>
                <a:gd name="T32" fmla="*/ 281 w 294"/>
                <a:gd name="T33" fmla="*/ 145 h 146"/>
                <a:gd name="T34" fmla="*/ 281 w 294"/>
                <a:gd name="T35" fmla="*/ 117 h 146"/>
                <a:gd name="T36" fmla="*/ 272 w 294"/>
                <a:gd name="T37" fmla="*/ 91 h 146"/>
                <a:gd name="T38" fmla="*/ 262 w 294"/>
                <a:gd name="T39" fmla="*/ 68 h 146"/>
                <a:gd name="T40" fmla="*/ 244 w 294"/>
                <a:gd name="T41" fmla="*/ 48 h 146"/>
                <a:gd name="T42" fmla="*/ 223 w 294"/>
                <a:gd name="T43" fmla="*/ 32 h 146"/>
                <a:gd name="T44" fmla="*/ 200 w 294"/>
                <a:gd name="T45" fmla="*/ 20 h 146"/>
                <a:gd name="T46" fmla="*/ 174 w 294"/>
                <a:gd name="T47" fmla="*/ 12 h 146"/>
                <a:gd name="T48" fmla="*/ 145 w 294"/>
                <a:gd name="T49" fmla="*/ 9 h 146"/>
                <a:gd name="T50" fmla="*/ 119 w 294"/>
                <a:gd name="T51" fmla="*/ 12 h 146"/>
                <a:gd name="T52" fmla="*/ 93 w 294"/>
                <a:gd name="T53" fmla="*/ 20 h 146"/>
                <a:gd name="T54" fmla="*/ 70 w 294"/>
                <a:gd name="T55" fmla="*/ 32 h 146"/>
                <a:gd name="T56" fmla="*/ 49 w 294"/>
                <a:gd name="T57" fmla="*/ 48 h 146"/>
                <a:gd name="T58" fmla="*/ 31 w 294"/>
                <a:gd name="T59" fmla="*/ 68 h 146"/>
                <a:gd name="T60" fmla="*/ 20 w 294"/>
                <a:gd name="T61" fmla="*/ 91 h 146"/>
                <a:gd name="T62" fmla="*/ 12 w 294"/>
                <a:gd name="T63" fmla="*/ 117 h 146"/>
                <a:gd name="T64" fmla="*/ 9 w 294"/>
                <a:gd name="T65" fmla="*/ 145 h 14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4"/>
                <a:gd name="T100" fmla="*/ 0 h 146"/>
                <a:gd name="T101" fmla="*/ 294 w 294"/>
                <a:gd name="T102" fmla="*/ 146 h 14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4" h="146">
                  <a:moveTo>
                    <a:pt x="0" y="145"/>
                  </a:moveTo>
                  <a:lnTo>
                    <a:pt x="0" y="131"/>
                  </a:lnTo>
                  <a:lnTo>
                    <a:pt x="3" y="117"/>
                  </a:lnTo>
                  <a:lnTo>
                    <a:pt x="6" y="103"/>
                  </a:lnTo>
                  <a:lnTo>
                    <a:pt x="12" y="88"/>
                  </a:lnTo>
                  <a:lnTo>
                    <a:pt x="18" y="77"/>
                  </a:lnTo>
                  <a:lnTo>
                    <a:pt x="23" y="65"/>
                  </a:lnTo>
                  <a:lnTo>
                    <a:pt x="31" y="54"/>
                  </a:lnTo>
                  <a:lnTo>
                    <a:pt x="43" y="42"/>
                  </a:lnTo>
                  <a:lnTo>
                    <a:pt x="52" y="34"/>
                  </a:lnTo>
                  <a:lnTo>
                    <a:pt x="64" y="26"/>
                  </a:lnTo>
                  <a:lnTo>
                    <a:pt x="75" y="17"/>
                  </a:lnTo>
                  <a:lnTo>
                    <a:pt x="90" y="12"/>
                  </a:lnTo>
                  <a:lnTo>
                    <a:pt x="101" y="9"/>
                  </a:lnTo>
                  <a:lnTo>
                    <a:pt x="116" y="3"/>
                  </a:lnTo>
                  <a:lnTo>
                    <a:pt x="130" y="3"/>
                  </a:lnTo>
                  <a:lnTo>
                    <a:pt x="145" y="0"/>
                  </a:lnTo>
                  <a:lnTo>
                    <a:pt x="160" y="3"/>
                  </a:lnTo>
                  <a:lnTo>
                    <a:pt x="174" y="3"/>
                  </a:lnTo>
                  <a:lnTo>
                    <a:pt x="188" y="9"/>
                  </a:lnTo>
                  <a:lnTo>
                    <a:pt x="203" y="12"/>
                  </a:lnTo>
                  <a:lnTo>
                    <a:pt x="215" y="17"/>
                  </a:lnTo>
                  <a:lnTo>
                    <a:pt x="226" y="26"/>
                  </a:lnTo>
                  <a:lnTo>
                    <a:pt x="238" y="34"/>
                  </a:lnTo>
                  <a:lnTo>
                    <a:pt x="250" y="42"/>
                  </a:lnTo>
                  <a:lnTo>
                    <a:pt x="259" y="54"/>
                  </a:lnTo>
                  <a:lnTo>
                    <a:pt x="267" y="65"/>
                  </a:lnTo>
                  <a:lnTo>
                    <a:pt x="272" y="77"/>
                  </a:lnTo>
                  <a:lnTo>
                    <a:pt x="281" y="88"/>
                  </a:lnTo>
                  <a:lnTo>
                    <a:pt x="284" y="103"/>
                  </a:lnTo>
                  <a:lnTo>
                    <a:pt x="287" y="117"/>
                  </a:lnTo>
                  <a:lnTo>
                    <a:pt x="290" y="131"/>
                  </a:lnTo>
                  <a:lnTo>
                    <a:pt x="293" y="145"/>
                  </a:lnTo>
                  <a:lnTo>
                    <a:pt x="281" y="145"/>
                  </a:lnTo>
                  <a:lnTo>
                    <a:pt x="281" y="131"/>
                  </a:lnTo>
                  <a:lnTo>
                    <a:pt x="281" y="117"/>
                  </a:lnTo>
                  <a:lnTo>
                    <a:pt x="275" y="106"/>
                  </a:lnTo>
                  <a:lnTo>
                    <a:pt x="272" y="91"/>
                  </a:lnTo>
                  <a:lnTo>
                    <a:pt x="267" y="80"/>
                  </a:lnTo>
                  <a:lnTo>
                    <a:pt x="262" y="68"/>
                  </a:lnTo>
                  <a:lnTo>
                    <a:pt x="253" y="60"/>
                  </a:lnTo>
                  <a:lnTo>
                    <a:pt x="244" y="48"/>
                  </a:lnTo>
                  <a:lnTo>
                    <a:pt x="232" y="39"/>
                  </a:lnTo>
                  <a:lnTo>
                    <a:pt x="223" y="32"/>
                  </a:lnTo>
                  <a:lnTo>
                    <a:pt x="212" y="26"/>
                  </a:lnTo>
                  <a:lnTo>
                    <a:pt x="200" y="20"/>
                  </a:lnTo>
                  <a:lnTo>
                    <a:pt x="185" y="17"/>
                  </a:lnTo>
                  <a:lnTo>
                    <a:pt x="174" y="12"/>
                  </a:lnTo>
                  <a:lnTo>
                    <a:pt x="160" y="12"/>
                  </a:lnTo>
                  <a:lnTo>
                    <a:pt x="145" y="9"/>
                  </a:lnTo>
                  <a:lnTo>
                    <a:pt x="130" y="12"/>
                  </a:lnTo>
                  <a:lnTo>
                    <a:pt x="119" y="12"/>
                  </a:lnTo>
                  <a:lnTo>
                    <a:pt x="104" y="17"/>
                  </a:lnTo>
                  <a:lnTo>
                    <a:pt x="93" y="20"/>
                  </a:lnTo>
                  <a:lnTo>
                    <a:pt x="81" y="26"/>
                  </a:lnTo>
                  <a:lnTo>
                    <a:pt x="70" y="32"/>
                  </a:lnTo>
                  <a:lnTo>
                    <a:pt x="58" y="39"/>
                  </a:lnTo>
                  <a:lnTo>
                    <a:pt x="49" y="48"/>
                  </a:lnTo>
                  <a:lnTo>
                    <a:pt x="40" y="60"/>
                  </a:lnTo>
                  <a:lnTo>
                    <a:pt x="31" y="68"/>
                  </a:lnTo>
                  <a:lnTo>
                    <a:pt x="25" y="80"/>
                  </a:lnTo>
                  <a:lnTo>
                    <a:pt x="20" y="91"/>
                  </a:lnTo>
                  <a:lnTo>
                    <a:pt x="15" y="106"/>
                  </a:lnTo>
                  <a:lnTo>
                    <a:pt x="12" y="117"/>
                  </a:lnTo>
                  <a:lnTo>
                    <a:pt x="9" y="131"/>
                  </a:lnTo>
                  <a:lnTo>
                    <a:pt x="9" y="145"/>
                  </a:lnTo>
                  <a:lnTo>
                    <a:pt x="0" y="145"/>
                  </a:lnTo>
                </a:path>
              </a:pathLst>
            </a:custGeom>
            <a:solidFill>
              <a:srgbClr val="FFD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3" name="Freeform 177">
              <a:extLst>
                <a:ext uri="{FF2B5EF4-FFF2-40B4-BE49-F238E27FC236}">
                  <a16:creationId xmlns:a16="http://schemas.microsoft.com/office/drawing/2014/main" id="{87E8B56F-B366-43BC-9167-5738D4EB1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3802"/>
              <a:ext cx="294" cy="143"/>
            </a:xfrm>
            <a:custGeom>
              <a:avLst/>
              <a:gdLst>
                <a:gd name="T0" fmla="*/ 0 w 294"/>
                <a:gd name="T1" fmla="*/ 0 h 143"/>
                <a:gd name="T2" fmla="*/ 3 w 294"/>
                <a:gd name="T3" fmla="*/ 29 h 143"/>
                <a:gd name="T4" fmla="*/ 12 w 294"/>
                <a:gd name="T5" fmla="*/ 55 h 143"/>
                <a:gd name="T6" fmla="*/ 23 w 294"/>
                <a:gd name="T7" fmla="*/ 80 h 143"/>
                <a:gd name="T8" fmla="*/ 43 w 294"/>
                <a:gd name="T9" fmla="*/ 100 h 143"/>
                <a:gd name="T10" fmla="*/ 64 w 294"/>
                <a:gd name="T11" fmla="*/ 120 h 143"/>
                <a:gd name="T12" fmla="*/ 90 w 294"/>
                <a:gd name="T13" fmla="*/ 131 h 143"/>
                <a:gd name="T14" fmla="*/ 116 w 294"/>
                <a:gd name="T15" fmla="*/ 140 h 143"/>
                <a:gd name="T16" fmla="*/ 145 w 294"/>
                <a:gd name="T17" fmla="*/ 142 h 143"/>
                <a:gd name="T18" fmla="*/ 174 w 294"/>
                <a:gd name="T19" fmla="*/ 140 h 143"/>
                <a:gd name="T20" fmla="*/ 203 w 294"/>
                <a:gd name="T21" fmla="*/ 131 h 143"/>
                <a:gd name="T22" fmla="*/ 226 w 294"/>
                <a:gd name="T23" fmla="*/ 120 h 143"/>
                <a:gd name="T24" fmla="*/ 250 w 294"/>
                <a:gd name="T25" fmla="*/ 100 h 143"/>
                <a:gd name="T26" fmla="*/ 267 w 294"/>
                <a:gd name="T27" fmla="*/ 80 h 143"/>
                <a:gd name="T28" fmla="*/ 281 w 294"/>
                <a:gd name="T29" fmla="*/ 55 h 143"/>
                <a:gd name="T30" fmla="*/ 287 w 294"/>
                <a:gd name="T31" fmla="*/ 29 h 143"/>
                <a:gd name="T32" fmla="*/ 293 w 294"/>
                <a:gd name="T33" fmla="*/ 0 h 143"/>
                <a:gd name="T34" fmla="*/ 281 w 294"/>
                <a:gd name="T35" fmla="*/ 14 h 143"/>
                <a:gd name="T36" fmla="*/ 275 w 294"/>
                <a:gd name="T37" fmla="*/ 40 h 143"/>
                <a:gd name="T38" fmla="*/ 267 w 294"/>
                <a:gd name="T39" fmla="*/ 62 h 143"/>
                <a:gd name="T40" fmla="*/ 253 w 294"/>
                <a:gd name="T41" fmla="*/ 85 h 143"/>
                <a:gd name="T42" fmla="*/ 232 w 294"/>
                <a:gd name="T43" fmla="*/ 103 h 143"/>
                <a:gd name="T44" fmla="*/ 212 w 294"/>
                <a:gd name="T45" fmla="*/ 117 h 143"/>
                <a:gd name="T46" fmla="*/ 185 w 294"/>
                <a:gd name="T47" fmla="*/ 129 h 143"/>
                <a:gd name="T48" fmla="*/ 160 w 294"/>
                <a:gd name="T49" fmla="*/ 134 h 143"/>
                <a:gd name="T50" fmla="*/ 130 w 294"/>
                <a:gd name="T51" fmla="*/ 134 h 143"/>
                <a:gd name="T52" fmla="*/ 104 w 294"/>
                <a:gd name="T53" fmla="*/ 129 h 143"/>
                <a:gd name="T54" fmla="*/ 81 w 294"/>
                <a:gd name="T55" fmla="*/ 117 h 143"/>
                <a:gd name="T56" fmla="*/ 58 w 294"/>
                <a:gd name="T57" fmla="*/ 103 h 143"/>
                <a:gd name="T58" fmla="*/ 40 w 294"/>
                <a:gd name="T59" fmla="*/ 85 h 143"/>
                <a:gd name="T60" fmla="*/ 25 w 294"/>
                <a:gd name="T61" fmla="*/ 62 h 143"/>
                <a:gd name="T62" fmla="*/ 15 w 294"/>
                <a:gd name="T63" fmla="*/ 40 h 143"/>
                <a:gd name="T64" fmla="*/ 9 w 294"/>
                <a:gd name="T65" fmla="*/ 14 h 143"/>
                <a:gd name="T66" fmla="*/ 0 w 294"/>
                <a:gd name="T67" fmla="*/ 0 h 1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94"/>
                <a:gd name="T103" fmla="*/ 0 h 143"/>
                <a:gd name="T104" fmla="*/ 294 w 294"/>
                <a:gd name="T105" fmla="*/ 143 h 1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94" h="143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29"/>
                  </a:lnTo>
                  <a:lnTo>
                    <a:pt x="6" y="43"/>
                  </a:lnTo>
                  <a:lnTo>
                    <a:pt x="12" y="55"/>
                  </a:lnTo>
                  <a:lnTo>
                    <a:pt x="18" y="68"/>
                  </a:lnTo>
                  <a:lnTo>
                    <a:pt x="23" y="80"/>
                  </a:lnTo>
                  <a:lnTo>
                    <a:pt x="31" y="91"/>
                  </a:lnTo>
                  <a:lnTo>
                    <a:pt x="43" y="100"/>
                  </a:lnTo>
                  <a:lnTo>
                    <a:pt x="52" y="111"/>
                  </a:lnTo>
                  <a:lnTo>
                    <a:pt x="64" y="120"/>
                  </a:lnTo>
                  <a:lnTo>
                    <a:pt x="75" y="126"/>
                  </a:lnTo>
                  <a:lnTo>
                    <a:pt x="90" y="131"/>
                  </a:lnTo>
                  <a:lnTo>
                    <a:pt x="101" y="137"/>
                  </a:lnTo>
                  <a:lnTo>
                    <a:pt x="116" y="140"/>
                  </a:lnTo>
                  <a:lnTo>
                    <a:pt x="130" y="142"/>
                  </a:lnTo>
                  <a:lnTo>
                    <a:pt x="145" y="142"/>
                  </a:lnTo>
                  <a:lnTo>
                    <a:pt x="160" y="142"/>
                  </a:lnTo>
                  <a:lnTo>
                    <a:pt x="174" y="140"/>
                  </a:lnTo>
                  <a:lnTo>
                    <a:pt x="188" y="137"/>
                  </a:lnTo>
                  <a:lnTo>
                    <a:pt x="203" y="131"/>
                  </a:lnTo>
                  <a:lnTo>
                    <a:pt x="215" y="126"/>
                  </a:lnTo>
                  <a:lnTo>
                    <a:pt x="226" y="120"/>
                  </a:lnTo>
                  <a:lnTo>
                    <a:pt x="238" y="111"/>
                  </a:lnTo>
                  <a:lnTo>
                    <a:pt x="250" y="100"/>
                  </a:lnTo>
                  <a:lnTo>
                    <a:pt x="259" y="91"/>
                  </a:lnTo>
                  <a:lnTo>
                    <a:pt x="267" y="80"/>
                  </a:lnTo>
                  <a:lnTo>
                    <a:pt x="272" y="68"/>
                  </a:lnTo>
                  <a:lnTo>
                    <a:pt x="281" y="55"/>
                  </a:lnTo>
                  <a:lnTo>
                    <a:pt x="284" y="43"/>
                  </a:lnTo>
                  <a:lnTo>
                    <a:pt x="287" y="29"/>
                  </a:lnTo>
                  <a:lnTo>
                    <a:pt x="290" y="14"/>
                  </a:lnTo>
                  <a:lnTo>
                    <a:pt x="293" y="0"/>
                  </a:lnTo>
                  <a:lnTo>
                    <a:pt x="281" y="0"/>
                  </a:lnTo>
                  <a:lnTo>
                    <a:pt x="281" y="14"/>
                  </a:lnTo>
                  <a:lnTo>
                    <a:pt x="281" y="26"/>
                  </a:lnTo>
                  <a:lnTo>
                    <a:pt x="275" y="40"/>
                  </a:lnTo>
                  <a:lnTo>
                    <a:pt x="272" y="52"/>
                  </a:lnTo>
                  <a:lnTo>
                    <a:pt x="267" y="62"/>
                  </a:lnTo>
                  <a:lnTo>
                    <a:pt x="262" y="74"/>
                  </a:lnTo>
                  <a:lnTo>
                    <a:pt x="253" y="85"/>
                  </a:lnTo>
                  <a:lnTo>
                    <a:pt x="244" y="94"/>
                  </a:lnTo>
                  <a:lnTo>
                    <a:pt x="232" y="103"/>
                  </a:lnTo>
                  <a:lnTo>
                    <a:pt x="223" y="111"/>
                  </a:lnTo>
                  <a:lnTo>
                    <a:pt x="212" y="117"/>
                  </a:lnTo>
                  <a:lnTo>
                    <a:pt x="200" y="123"/>
                  </a:lnTo>
                  <a:lnTo>
                    <a:pt x="185" y="129"/>
                  </a:lnTo>
                  <a:lnTo>
                    <a:pt x="174" y="131"/>
                  </a:lnTo>
                  <a:lnTo>
                    <a:pt x="160" y="134"/>
                  </a:lnTo>
                  <a:lnTo>
                    <a:pt x="145" y="134"/>
                  </a:lnTo>
                  <a:lnTo>
                    <a:pt x="130" y="134"/>
                  </a:lnTo>
                  <a:lnTo>
                    <a:pt x="119" y="131"/>
                  </a:lnTo>
                  <a:lnTo>
                    <a:pt x="104" y="129"/>
                  </a:lnTo>
                  <a:lnTo>
                    <a:pt x="93" y="123"/>
                  </a:lnTo>
                  <a:lnTo>
                    <a:pt x="81" y="117"/>
                  </a:lnTo>
                  <a:lnTo>
                    <a:pt x="70" y="111"/>
                  </a:lnTo>
                  <a:lnTo>
                    <a:pt x="58" y="103"/>
                  </a:lnTo>
                  <a:lnTo>
                    <a:pt x="49" y="94"/>
                  </a:lnTo>
                  <a:lnTo>
                    <a:pt x="40" y="85"/>
                  </a:lnTo>
                  <a:lnTo>
                    <a:pt x="31" y="74"/>
                  </a:lnTo>
                  <a:lnTo>
                    <a:pt x="25" y="62"/>
                  </a:lnTo>
                  <a:lnTo>
                    <a:pt x="20" y="52"/>
                  </a:lnTo>
                  <a:lnTo>
                    <a:pt x="15" y="40"/>
                  </a:lnTo>
                  <a:lnTo>
                    <a:pt x="12" y="26"/>
                  </a:lnTo>
                  <a:lnTo>
                    <a:pt x="9" y="14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4" name="Freeform 178">
              <a:extLst>
                <a:ext uri="{FF2B5EF4-FFF2-40B4-BE49-F238E27FC236}">
                  <a16:creationId xmlns:a16="http://schemas.microsoft.com/office/drawing/2014/main" id="{56DC8B7C-1D5D-43A7-88E0-E15CB034E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3660"/>
              <a:ext cx="273" cy="137"/>
            </a:xfrm>
            <a:custGeom>
              <a:avLst/>
              <a:gdLst>
                <a:gd name="T0" fmla="*/ 0 w 273"/>
                <a:gd name="T1" fmla="*/ 122 h 137"/>
                <a:gd name="T2" fmla="*/ 6 w 273"/>
                <a:gd name="T3" fmla="*/ 97 h 137"/>
                <a:gd name="T4" fmla="*/ 17 w 273"/>
                <a:gd name="T5" fmla="*/ 71 h 137"/>
                <a:gd name="T6" fmla="*/ 31 w 273"/>
                <a:gd name="T7" fmla="*/ 51 h 137"/>
                <a:gd name="T8" fmla="*/ 49 w 273"/>
                <a:gd name="T9" fmla="*/ 31 h 137"/>
                <a:gd name="T10" fmla="*/ 72 w 273"/>
                <a:gd name="T11" fmla="*/ 17 h 137"/>
                <a:gd name="T12" fmla="*/ 95 w 273"/>
                <a:gd name="T13" fmla="*/ 9 h 137"/>
                <a:gd name="T14" fmla="*/ 121 w 273"/>
                <a:gd name="T15" fmla="*/ 3 h 137"/>
                <a:gd name="T16" fmla="*/ 151 w 273"/>
                <a:gd name="T17" fmla="*/ 3 h 137"/>
                <a:gd name="T18" fmla="*/ 176 w 273"/>
                <a:gd name="T19" fmla="*/ 9 h 137"/>
                <a:gd name="T20" fmla="*/ 203 w 273"/>
                <a:gd name="T21" fmla="*/ 17 h 137"/>
                <a:gd name="T22" fmla="*/ 223 w 273"/>
                <a:gd name="T23" fmla="*/ 31 h 137"/>
                <a:gd name="T24" fmla="*/ 244 w 273"/>
                <a:gd name="T25" fmla="*/ 51 h 137"/>
                <a:gd name="T26" fmla="*/ 257 w 273"/>
                <a:gd name="T27" fmla="*/ 71 h 137"/>
                <a:gd name="T28" fmla="*/ 266 w 273"/>
                <a:gd name="T29" fmla="*/ 97 h 137"/>
                <a:gd name="T30" fmla="*/ 272 w 273"/>
                <a:gd name="T31" fmla="*/ 122 h 137"/>
                <a:gd name="T32" fmla="*/ 263 w 273"/>
                <a:gd name="T33" fmla="*/ 136 h 137"/>
                <a:gd name="T34" fmla="*/ 260 w 273"/>
                <a:gd name="T35" fmla="*/ 110 h 137"/>
                <a:gd name="T36" fmla="*/ 255 w 273"/>
                <a:gd name="T37" fmla="*/ 88 h 137"/>
                <a:gd name="T38" fmla="*/ 244 w 273"/>
                <a:gd name="T39" fmla="*/ 65 h 137"/>
                <a:gd name="T40" fmla="*/ 226 w 273"/>
                <a:gd name="T41" fmla="*/ 48 h 137"/>
                <a:gd name="T42" fmla="*/ 208 w 273"/>
                <a:gd name="T43" fmla="*/ 31 h 137"/>
                <a:gd name="T44" fmla="*/ 185 w 273"/>
                <a:gd name="T45" fmla="*/ 20 h 137"/>
                <a:gd name="T46" fmla="*/ 162 w 273"/>
                <a:gd name="T47" fmla="*/ 11 h 137"/>
                <a:gd name="T48" fmla="*/ 136 w 273"/>
                <a:gd name="T49" fmla="*/ 11 h 137"/>
                <a:gd name="T50" fmla="*/ 110 w 273"/>
                <a:gd name="T51" fmla="*/ 11 h 137"/>
                <a:gd name="T52" fmla="*/ 87 w 273"/>
                <a:gd name="T53" fmla="*/ 20 h 137"/>
                <a:gd name="T54" fmla="*/ 67 w 273"/>
                <a:gd name="T55" fmla="*/ 31 h 137"/>
                <a:gd name="T56" fmla="*/ 46 w 273"/>
                <a:gd name="T57" fmla="*/ 48 h 137"/>
                <a:gd name="T58" fmla="*/ 31 w 273"/>
                <a:gd name="T59" fmla="*/ 65 h 137"/>
                <a:gd name="T60" fmla="*/ 20 w 273"/>
                <a:gd name="T61" fmla="*/ 88 h 137"/>
                <a:gd name="T62" fmla="*/ 11 w 273"/>
                <a:gd name="T63" fmla="*/ 110 h 137"/>
                <a:gd name="T64" fmla="*/ 9 w 273"/>
                <a:gd name="T65" fmla="*/ 136 h 1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"/>
                <a:gd name="T100" fmla="*/ 0 h 137"/>
                <a:gd name="T101" fmla="*/ 273 w 273"/>
                <a:gd name="T102" fmla="*/ 137 h 1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" h="137">
                  <a:moveTo>
                    <a:pt x="0" y="136"/>
                  </a:moveTo>
                  <a:lnTo>
                    <a:pt x="0" y="122"/>
                  </a:lnTo>
                  <a:lnTo>
                    <a:pt x="3" y="108"/>
                  </a:lnTo>
                  <a:lnTo>
                    <a:pt x="6" y="97"/>
                  </a:lnTo>
                  <a:lnTo>
                    <a:pt x="11" y="82"/>
                  </a:lnTo>
                  <a:lnTo>
                    <a:pt x="17" y="71"/>
                  </a:lnTo>
                  <a:lnTo>
                    <a:pt x="23" y="59"/>
                  </a:lnTo>
                  <a:lnTo>
                    <a:pt x="31" y="51"/>
                  </a:lnTo>
                  <a:lnTo>
                    <a:pt x="40" y="39"/>
                  </a:lnTo>
                  <a:lnTo>
                    <a:pt x="49" y="31"/>
                  </a:lnTo>
                  <a:lnTo>
                    <a:pt x="61" y="23"/>
                  </a:lnTo>
                  <a:lnTo>
                    <a:pt x="72" y="17"/>
                  </a:lnTo>
                  <a:lnTo>
                    <a:pt x="84" y="11"/>
                  </a:lnTo>
                  <a:lnTo>
                    <a:pt x="95" y="9"/>
                  </a:lnTo>
                  <a:lnTo>
                    <a:pt x="110" y="3"/>
                  </a:lnTo>
                  <a:lnTo>
                    <a:pt x="121" y="3"/>
                  </a:lnTo>
                  <a:lnTo>
                    <a:pt x="136" y="0"/>
                  </a:lnTo>
                  <a:lnTo>
                    <a:pt x="151" y="3"/>
                  </a:lnTo>
                  <a:lnTo>
                    <a:pt x="165" y="3"/>
                  </a:lnTo>
                  <a:lnTo>
                    <a:pt x="176" y="9"/>
                  </a:lnTo>
                  <a:lnTo>
                    <a:pt x="191" y="11"/>
                  </a:lnTo>
                  <a:lnTo>
                    <a:pt x="203" y="17"/>
                  </a:lnTo>
                  <a:lnTo>
                    <a:pt x="214" y="23"/>
                  </a:lnTo>
                  <a:lnTo>
                    <a:pt x="223" y="31"/>
                  </a:lnTo>
                  <a:lnTo>
                    <a:pt x="235" y="39"/>
                  </a:lnTo>
                  <a:lnTo>
                    <a:pt x="244" y="51"/>
                  </a:lnTo>
                  <a:lnTo>
                    <a:pt x="252" y="59"/>
                  </a:lnTo>
                  <a:lnTo>
                    <a:pt x="257" y="71"/>
                  </a:lnTo>
                  <a:lnTo>
                    <a:pt x="263" y="82"/>
                  </a:lnTo>
                  <a:lnTo>
                    <a:pt x="266" y="97"/>
                  </a:lnTo>
                  <a:lnTo>
                    <a:pt x="272" y="108"/>
                  </a:lnTo>
                  <a:lnTo>
                    <a:pt x="272" y="122"/>
                  </a:lnTo>
                  <a:lnTo>
                    <a:pt x="272" y="136"/>
                  </a:lnTo>
                  <a:lnTo>
                    <a:pt x="263" y="136"/>
                  </a:lnTo>
                  <a:lnTo>
                    <a:pt x="263" y="122"/>
                  </a:lnTo>
                  <a:lnTo>
                    <a:pt x="260" y="110"/>
                  </a:lnTo>
                  <a:lnTo>
                    <a:pt x="257" y="100"/>
                  </a:lnTo>
                  <a:lnTo>
                    <a:pt x="255" y="88"/>
                  </a:lnTo>
                  <a:lnTo>
                    <a:pt x="249" y="77"/>
                  </a:lnTo>
                  <a:lnTo>
                    <a:pt x="244" y="65"/>
                  </a:lnTo>
                  <a:lnTo>
                    <a:pt x="235" y="57"/>
                  </a:lnTo>
                  <a:lnTo>
                    <a:pt x="226" y="48"/>
                  </a:lnTo>
                  <a:lnTo>
                    <a:pt x="217" y="39"/>
                  </a:lnTo>
                  <a:lnTo>
                    <a:pt x="208" y="31"/>
                  </a:lnTo>
                  <a:lnTo>
                    <a:pt x="197" y="25"/>
                  </a:lnTo>
                  <a:lnTo>
                    <a:pt x="185" y="20"/>
                  </a:lnTo>
                  <a:lnTo>
                    <a:pt x="174" y="17"/>
                  </a:lnTo>
                  <a:lnTo>
                    <a:pt x="162" y="11"/>
                  </a:lnTo>
                  <a:lnTo>
                    <a:pt x="151" y="11"/>
                  </a:lnTo>
                  <a:lnTo>
                    <a:pt x="136" y="11"/>
                  </a:lnTo>
                  <a:lnTo>
                    <a:pt x="124" y="11"/>
                  </a:lnTo>
                  <a:lnTo>
                    <a:pt x="110" y="11"/>
                  </a:lnTo>
                  <a:lnTo>
                    <a:pt x="98" y="17"/>
                  </a:lnTo>
                  <a:lnTo>
                    <a:pt x="87" y="20"/>
                  </a:lnTo>
                  <a:lnTo>
                    <a:pt x="75" y="25"/>
                  </a:lnTo>
                  <a:lnTo>
                    <a:pt x="67" y="31"/>
                  </a:lnTo>
                  <a:lnTo>
                    <a:pt x="55" y="39"/>
                  </a:lnTo>
                  <a:lnTo>
                    <a:pt x="46" y="48"/>
                  </a:lnTo>
                  <a:lnTo>
                    <a:pt x="37" y="57"/>
                  </a:lnTo>
                  <a:lnTo>
                    <a:pt x="31" y="65"/>
                  </a:lnTo>
                  <a:lnTo>
                    <a:pt x="23" y="77"/>
                  </a:lnTo>
                  <a:lnTo>
                    <a:pt x="20" y="88"/>
                  </a:lnTo>
                  <a:lnTo>
                    <a:pt x="14" y="100"/>
                  </a:lnTo>
                  <a:lnTo>
                    <a:pt x="11" y="110"/>
                  </a:lnTo>
                  <a:lnTo>
                    <a:pt x="9" y="122"/>
                  </a:lnTo>
                  <a:lnTo>
                    <a:pt x="9" y="136"/>
                  </a:lnTo>
                  <a:lnTo>
                    <a:pt x="0" y="136"/>
                  </a:lnTo>
                </a:path>
              </a:pathLst>
            </a:custGeom>
            <a:solidFill>
              <a:srgbClr val="FFD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5" name="Freeform 179">
              <a:extLst>
                <a:ext uri="{FF2B5EF4-FFF2-40B4-BE49-F238E27FC236}">
                  <a16:creationId xmlns:a16="http://schemas.microsoft.com/office/drawing/2014/main" id="{29B47AD1-766C-4EF8-B55F-C7355A54F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3802"/>
              <a:ext cx="273" cy="135"/>
            </a:xfrm>
            <a:custGeom>
              <a:avLst/>
              <a:gdLst>
                <a:gd name="T0" fmla="*/ 0 w 273"/>
                <a:gd name="T1" fmla="*/ 0 h 135"/>
                <a:gd name="T2" fmla="*/ 3 w 273"/>
                <a:gd name="T3" fmla="*/ 26 h 135"/>
                <a:gd name="T4" fmla="*/ 11 w 273"/>
                <a:gd name="T5" fmla="*/ 52 h 135"/>
                <a:gd name="T6" fmla="*/ 23 w 273"/>
                <a:gd name="T7" fmla="*/ 74 h 135"/>
                <a:gd name="T8" fmla="*/ 40 w 273"/>
                <a:gd name="T9" fmla="*/ 94 h 135"/>
                <a:gd name="T10" fmla="*/ 61 w 273"/>
                <a:gd name="T11" fmla="*/ 111 h 135"/>
                <a:gd name="T12" fmla="*/ 84 w 273"/>
                <a:gd name="T13" fmla="*/ 123 h 135"/>
                <a:gd name="T14" fmla="*/ 110 w 273"/>
                <a:gd name="T15" fmla="*/ 131 h 135"/>
                <a:gd name="T16" fmla="*/ 136 w 273"/>
                <a:gd name="T17" fmla="*/ 134 h 135"/>
                <a:gd name="T18" fmla="*/ 165 w 273"/>
                <a:gd name="T19" fmla="*/ 131 h 135"/>
                <a:gd name="T20" fmla="*/ 191 w 273"/>
                <a:gd name="T21" fmla="*/ 123 h 135"/>
                <a:gd name="T22" fmla="*/ 214 w 273"/>
                <a:gd name="T23" fmla="*/ 111 h 135"/>
                <a:gd name="T24" fmla="*/ 235 w 273"/>
                <a:gd name="T25" fmla="*/ 94 h 135"/>
                <a:gd name="T26" fmla="*/ 252 w 273"/>
                <a:gd name="T27" fmla="*/ 74 h 135"/>
                <a:gd name="T28" fmla="*/ 263 w 273"/>
                <a:gd name="T29" fmla="*/ 52 h 135"/>
                <a:gd name="T30" fmla="*/ 272 w 273"/>
                <a:gd name="T31" fmla="*/ 26 h 135"/>
                <a:gd name="T32" fmla="*/ 272 w 273"/>
                <a:gd name="T33" fmla="*/ 0 h 135"/>
                <a:gd name="T34" fmla="*/ 263 w 273"/>
                <a:gd name="T35" fmla="*/ 11 h 135"/>
                <a:gd name="T36" fmla="*/ 257 w 273"/>
                <a:gd name="T37" fmla="*/ 37 h 135"/>
                <a:gd name="T38" fmla="*/ 249 w 273"/>
                <a:gd name="T39" fmla="*/ 59 h 135"/>
                <a:gd name="T40" fmla="*/ 235 w 273"/>
                <a:gd name="T41" fmla="*/ 79 h 135"/>
                <a:gd name="T42" fmla="*/ 217 w 273"/>
                <a:gd name="T43" fmla="*/ 97 h 135"/>
                <a:gd name="T44" fmla="*/ 197 w 273"/>
                <a:gd name="T45" fmla="*/ 111 h 135"/>
                <a:gd name="T46" fmla="*/ 174 w 273"/>
                <a:gd name="T47" fmla="*/ 120 h 135"/>
                <a:gd name="T48" fmla="*/ 151 w 273"/>
                <a:gd name="T49" fmla="*/ 125 h 135"/>
                <a:gd name="T50" fmla="*/ 124 w 273"/>
                <a:gd name="T51" fmla="*/ 125 h 135"/>
                <a:gd name="T52" fmla="*/ 98 w 273"/>
                <a:gd name="T53" fmla="*/ 120 h 135"/>
                <a:gd name="T54" fmla="*/ 75 w 273"/>
                <a:gd name="T55" fmla="*/ 111 h 135"/>
                <a:gd name="T56" fmla="*/ 55 w 273"/>
                <a:gd name="T57" fmla="*/ 97 h 135"/>
                <a:gd name="T58" fmla="*/ 37 w 273"/>
                <a:gd name="T59" fmla="*/ 79 h 135"/>
                <a:gd name="T60" fmla="*/ 23 w 273"/>
                <a:gd name="T61" fmla="*/ 59 h 135"/>
                <a:gd name="T62" fmla="*/ 14 w 273"/>
                <a:gd name="T63" fmla="*/ 37 h 135"/>
                <a:gd name="T64" fmla="*/ 9 w 273"/>
                <a:gd name="T65" fmla="*/ 11 h 135"/>
                <a:gd name="T66" fmla="*/ 0 w 273"/>
                <a:gd name="T67" fmla="*/ 0 h 1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73"/>
                <a:gd name="T103" fmla="*/ 0 h 135"/>
                <a:gd name="T104" fmla="*/ 273 w 273"/>
                <a:gd name="T105" fmla="*/ 135 h 135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73" h="135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26"/>
                  </a:lnTo>
                  <a:lnTo>
                    <a:pt x="6" y="40"/>
                  </a:lnTo>
                  <a:lnTo>
                    <a:pt x="11" y="52"/>
                  </a:lnTo>
                  <a:lnTo>
                    <a:pt x="17" y="62"/>
                  </a:lnTo>
                  <a:lnTo>
                    <a:pt x="23" y="74"/>
                  </a:lnTo>
                  <a:lnTo>
                    <a:pt x="31" y="85"/>
                  </a:lnTo>
                  <a:lnTo>
                    <a:pt x="40" y="94"/>
                  </a:lnTo>
                  <a:lnTo>
                    <a:pt x="49" y="102"/>
                  </a:lnTo>
                  <a:lnTo>
                    <a:pt x="61" y="111"/>
                  </a:lnTo>
                  <a:lnTo>
                    <a:pt x="72" y="117"/>
                  </a:lnTo>
                  <a:lnTo>
                    <a:pt x="84" y="123"/>
                  </a:lnTo>
                  <a:lnTo>
                    <a:pt x="95" y="128"/>
                  </a:lnTo>
                  <a:lnTo>
                    <a:pt x="110" y="131"/>
                  </a:lnTo>
                  <a:lnTo>
                    <a:pt x="121" y="134"/>
                  </a:lnTo>
                  <a:lnTo>
                    <a:pt x="136" y="134"/>
                  </a:lnTo>
                  <a:lnTo>
                    <a:pt x="151" y="134"/>
                  </a:lnTo>
                  <a:lnTo>
                    <a:pt x="165" y="131"/>
                  </a:lnTo>
                  <a:lnTo>
                    <a:pt x="176" y="128"/>
                  </a:lnTo>
                  <a:lnTo>
                    <a:pt x="191" y="123"/>
                  </a:lnTo>
                  <a:lnTo>
                    <a:pt x="203" y="117"/>
                  </a:lnTo>
                  <a:lnTo>
                    <a:pt x="214" y="111"/>
                  </a:lnTo>
                  <a:lnTo>
                    <a:pt x="223" y="102"/>
                  </a:lnTo>
                  <a:lnTo>
                    <a:pt x="235" y="94"/>
                  </a:lnTo>
                  <a:lnTo>
                    <a:pt x="244" y="85"/>
                  </a:lnTo>
                  <a:lnTo>
                    <a:pt x="252" y="74"/>
                  </a:lnTo>
                  <a:lnTo>
                    <a:pt x="257" y="62"/>
                  </a:lnTo>
                  <a:lnTo>
                    <a:pt x="263" y="52"/>
                  </a:lnTo>
                  <a:lnTo>
                    <a:pt x="266" y="40"/>
                  </a:lnTo>
                  <a:lnTo>
                    <a:pt x="272" y="26"/>
                  </a:lnTo>
                  <a:lnTo>
                    <a:pt x="272" y="14"/>
                  </a:lnTo>
                  <a:lnTo>
                    <a:pt x="272" y="0"/>
                  </a:lnTo>
                  <a:lnTo>
                    <a:pt x="263" y="0"/>
                  </a:lnTo>
                  <a:lnTo>
                    <a:pt x="263" y="11"/>
                  </a:lnTo>
                  <a:lnTo>
                    <a:pt x="260" y="26"/>
                  </a:lnTo>
                  <a:lnTo>
                    <a:pt x="257" y="37"/>
                  </a:lnTo>
                  <a:lnTo>
                    <a:pt x="255" y="49"/>
                  </a:lnTo>
                  <a:lnTo>
                    <a:pt x="249" y="59"/>
                  </a:lnTo>
                  <a:lnTo>
                    <a:pt x="244" y="68"/>
                  </a:lnTo>
                  <a:lnTo>
                    <a:pt x="235" y="79"/>
                  </a:lnTo>
                  <a:lnTo>
                    <a:pt x="226" y="88"/>
                  </a:lnTo>
                  <a:lnTo>
                    <a:pt x="217" y="97"/>
                  </a:lnTo>
                  <a:lnTo>
                    <a:pt x="208" y="102"/>
                  </a:lnTo>
                  <a:lnTo>
                    <a:pt x="197" y="111"/>
                  </a:lnTo>
                  <a:lnTo>
                    <a:pt x="185" y="114"/>
                  </a:lnTo>
                  <a:lnTo>
                    <a:pt x="174" y="120"/>
                  </a:lnTo>
                  <a:lnTo>
                    <a:pt x="162" y="123"/>
                  </a:lnTo>
                  <a:lnTo>
                    <a:pt x="151" y="125"/>
                  </a:lnTo>
                  <a:lnTo>
                    <a:pt x="136" y="125"/>
                  </a:lnTo>
                  <a:lnTo>
                    <a:pt x="124" y="125"/>
                  </a:lnTo>
                  <a:lnTo>
                    <a:pt x="110" y="123"/>
                  </a:lnTo>
                  <a:lnTo>
                    <a:pt x="98" y="120"/>
                  </a:lnTo>
                  <a:lnTo>
                    <a:pt x="87" y="114"/>
                  </a:lnTo>
                  <a:lnTo>
                    <a:pt x="75" y="111"/>
                  </a:lnTo>
                  <a:lnTo>
                    <a:pt x="67" y="102"/>
                  </a:lnTo>
                  <a:lnTo>
                    <a:pt x="55" y="97"/>
                  </a:lnTo>
                  <a:lnTo>
                    <a:pt x="46" y="88"/>
                  </a:lnTo>
                  <a:lnTo>
                    <a:pt x="37" y="79"/>
                  </a:lnTo>
                  <a:lnTo>
                    <a:pt x="31" y="68"/>
                  </a:lnTo>
                  <a:lnTo>
                    <a:pt x="23" y="59"/>
                  </a:lnTo>
                  <a:lnTo>
                    <a:pt x="20" y="49"/>
                  </a:lnTo>
                  <a:lnTo>
                    <a:pt x="14" y="37"/>
                  </a:lnTo>
                  <a:lnTo>
                    <a:pt x="11" y="26"/>
                  </a:lnTo>
                  <a:lnTo>
                    <a:pt x="9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6" name="Freeform 180">
              <a:extLst>
                <a:ext uri="{FF2B5EF4-FFF2-40B4-BE49-F238E27FC236}">
                  <a16:creationId xmlns:a16="http://schemas.microsoft.com/office/drawing/2014/main" id="{8246DBF7-D422-4EC8-873C-3666E16D4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3672"/>
              <a:ext cx="255" cy="125"/>
            </a:xfrm>
            <a:custGeom>
              <a:avLst/>
              <a:gdLst>
                <a:gd name="T0" fmla="*/ 0 w 255"/>
                <a:gd name="T1" fmla="*/ 110 h 125"/>
                <a:gd name="T2" fmla="*/ 5 w 255"/>
                <a:gd name="T3" fmla="*/ 88 h 125"/>
                <a:gd name="T4" fmla="*/ 14 w 255"/>
                <a:gd name="T5" fmla="*/ 65 h 125"/>
                <a:gd name="T6" fmla="*/ 28 w 255"/>
                <a:gd name="T7" fmla="*/ 45 h 125"/>
                <a:gd name="T8" fmla="*/ 46 w 255"/>
                <a:gd name="T9" fmla="*/ 28 h 125"/>
                <a:gd name="T10" fmla="*/ 66 w 255"/>
                <a:gd name="T11" fmla="*/ 13 h 125"/>
                <a:gd name="T12" fmla="*/ 89 w 255"/>
                <a:gd name="T13" fmla="*/ 6 h 125"/>
                <a:gd name="T14" fmla="*/ 115 w 255"/>
                <a:gd name="T15" fmla="*/ 0 h 125"/>
                <a:gd name="T16" fmla="*/ 142 w 255"/>
                <a:gd name="T17" fmla="*/ 0 h 125"/>
                <a:gd name="T18" fmla="*/ 165 w 255"/>
                <a:gd name="T19" fmla="*/ 6 h 125"/>
                <a:gd name="T20" fmla="*/ 188 w 255"/>
                <a:gd name="T21" fmla="*/ 13 h 125"/>
                <a:gd name="T22" fmla="*/ 208 w 255"/>
                <a:gd name="T23" fmla="*/ 28 h 125"/>
                <a:gd name="T24" fmla="*/ 226 w 255"/>
                <a:gd name="T25" fmla="*/ 45 h 125"/>
                <a:gd name="T26" fmla="*/ 240 w 255"/>
                <a:gd name="T27" fmla="*/ 65 h 125"/>
                <a:gd name="T28" fmla="*/ 248 w 255"/>
                <a:gd name="T29" fmla="*/ 88 h 125"/>
                <a:gd name="T30" fmla="*/ 254 w 255"/>
                <a:gd name="T31" fmla="*/ 110 h 125"/>
                <a:gd name="T32" fmla="*/ 246 w 255"/>
                <a:gd name="T33" fmla="*/ 124 h 125"/>
                <a:gd name="T34" fmla="*/ 243 w 255"/>
                <a:gd name="T35" fmla="*/ 98 h 125"/>
                <a:gd name="T36" fmla="*/ 237 w 255"/>
                <a:gd name="T37" fmla="*/ 79 h 125"/>
                <a:gd name="T38" fmla="*/ 226 w 255"/>
                <a:gd name="T39" fmla="*/ 59 h 125"/>
                <a:gd name="T40" fmla="*/ 211 w 255"/>
                <a:gd name="T41" fmla="*/ 42 h 125"/>
                <a:gd name="T42" fmla="*/ 193 w 255"/>
                <a:gd name="T43" fmla="*/ 28 h 125"/>
                <a:gd name="T44" fmla="*/ 173 w 255"/>
                <a:gd name="T45" fmla="*/ 16 h 125"/>
                <a:gd name="T46" fmla="*/ 153 w 255"/>
                <a:gd name="T47" fmla="*/ 11 h 125"/>
                <a:gd name="T48" fmla="*/ 127 w 255"/>
                <a:gd name="T49" fmla="*/ 9 h 125"/>
                <a:gd name="T50" fmla="*/ 104 w 255"/>
                <a:gd name="T51" fmla="*/ 11 h 125"/>
                <a:gd name="T52" fmla="*/ 81 w 255"/>
                <a:gd name="T53" fmla="*/ 16 h 125"/>
                <a:gd name="T54" fmla="*/ 61 w 255"/>
                <a:gd name="T55" fmla="*/ 28 h 125"/>
                <a:gd name="T56" fmla="*/ 43 w 255"/>
                <a:gd name="T57" fmla="*/ 42 h 125"/>
                <a:gd name="T58" fmla="*/ 28 w 255"/>
                <a:gd name="T59" fmla="*/ 59 h 125"/>
                <a:gd name="T60" fmla="*/ 17 w 255"/>
                <a:gd name="T61" fmla="*/ 79 h 125"/>
                <a:gd name="T62" fmla="*/ 11 w 255"/>
                <a:gd name="T63" fmla="*/ 98 h 125"/>
                <a:gd name="T64" fmla="*/ 8 w 255"/>
                <a:gd name="T65" fmla="*/ 124 h 12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5"/>
                <a:gd name="T100" fmla="*/ 0 h 125"/>
                <a:gd name="T101" fmla="*/ 255 w 255"/>
                <a:gd name="T102" fmla="*/ 125 h 12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5" h="125">
                  <a:moveTo>
                    <a:pt x="0" y="124"/>
                  </a:moveTo>
                  <a:lnTo>
                    <a:pt x="0" y="110"/>
                  </a:lnTo>
                  <a:lnTo>
                    <a:pt x="2" y="98"/>
                  </a:lnTo>
                  <a:lnTo>
                    <a:pt x="5" y="88"/>
                  </a:lnTo>
                  <a:lnTo>
                    <a:pt x="11" y="76"/>
                  </a:lnTo>
                  <a:lnTo>
                    <a:pt x="14" y="65"/>
                  </a:lnTo>
                  <a:lnTo>
                    <a:pt x="22" y="53"/>
                  </a:lnTo>
                  <a:lnTo>
                    <a:pt x="28" y="45"/>
                  </a:lnTo>
                  <a:lnTo>
                    <a:pt x="37" y="36"/>
                  </a:lnTo>
                  <a:lnTo>
                    <a:pt x="46" y="28"/>
                  </a:lnTo>
                  <a:lnTo>
                    <a:pt x="58" y="19"/>
                  </a:lnTo>
                  <a:lnTo>
                    <a:pt x="66" y="13"/>
                  </a:lnTo>
                  <a:lnTo>
                    <a:pt x="78" y="9"/>
                  </a:lnTo>
                  <a:lnTo>
                    <a:pt x="89" y="6"/>
                  </a:lnTo>
                  <a:lnTo>
                    <a:pt x="101" y="0"/>
                  </a:lnTo>
                  <a:lnTo>
                    <a:pt x="115" y="0"/>
                  </a:lnTo>
                  <a:lnTo>
                    <a:pt x="127" y="0"/>
                  </a:lnTo>
                  <a:lnTo>
                    <a:pt x="142" y="0"/>
                  </a:lnTo>
                  <a:lnTo>
                    <a:pt x="153" y="0"/>
                  </a:lnTo>
                  <a:lnTo>
                    <a:pt x="165" y="6"/>
                  </a:lnTo>
                  <a:lnTo>
                    <a:pt x="176" y="9"/>
                  </a:lnTo>
                  <a:lnTo>
                    <a:pt x="188" y="13"/>
                  </a:lnTo>
                  <a:lnTo>
                    <a:pt x="199" y="19"/>
                  </a:lnTo>
                  <a:lnTo>
                    <a:pt x="208" y="28"/>
                  </a:lnTo>
                  <a:lnTo>
                    <a:pt x="217" y="36"/>
                  </a:lnTo>
                  <a:lnTo>
                    <a:pt x="226" y="45"/>
                  </a:lnTo>
                  <a:lnTo>
                    <a:pt x="234" y="53"/>
                  </a:lnTo>
                  <a:lnTo>
                    <a:pt x="240" y="65"/>
                  </a:lnTo>
                  <a:lnTo>
                    <a:pt x="246" y="76"/>
                  </a:lnTo>
                  <a:lnTo>
                    <a:pt x="248" y="88"/>
                  </a:lnTo>
                  <a:lnTo>
                    <a:pt x="251" y="98"/>
                  </a:lnTo>
                  <a:lnTo>
                    <a:pt x="254" y="110"/>
                  </a:lnTo>
                  <a:lnTo>
                    <a:pt x="254" y="124"/>
                  </a:lnTo>
                  <a:lnTo>
                    <a:pt x="246" y="124"/>
                  </a:lnTo>
                  <a:lnTo>
                    <a:pt x="246" y="113"/>
                  </a:lnTo>
                  <a:lnTo>
                    <a:pt x="243" y="98"/>
                  </a:lnTo>
                  <a:lnTo>
                    <a:pt x="240" y="91"/>
                  </a:lnTo>
                  <a:lnTo>
                    <a:pt x="237" y="79"/>
                  </a:lnTo>
                  <a:lnTo>
                    <a:pt x="232" y="68"/>
                  </a:lnTo>
                  <a:lnTo>
                    <a:pt x="226" y="59"/>
                  </a:lnTo>
                  <a:lnTo>
                    <a:pt x="220" y="51"/>
                  </a:lnTo>
                  <a:lnTo>
                    <a:pt x="211" y="42"/>
                  </a:lnTo>
                  <a:lnTo>
                    <a:pt x="202" y="33"/>
                  </a:lnTo>
                  <a:lnTo>
                    <a:pt x="193" y="28"/>
                  </a:lnTo>
                  <a:lnTo>
                    <a:pt x="185" y="22"/>
                  </a:lnTo>
                  <a:lnTo>
                    <a:pt x="173" y="16"/>
                  </a:lnTo>
                  <a:lnTo>
                    <a:pt x="162" y="13"/>
                  </a:lnTo>
                  <a:lnTo>
                    <a:pt x="153" y="11"/>
                  </a:lnTo>
                  <a:lnTo>
                    <a:pt x="139" y="9"/>
                  </a:lnTo>
                  <a:lnTo>
                    <a:pt x="127" y="9"/>
                  </a:lnTo>
                  <a:lnTo>
                    <a:pt x="115" y="9"/>
                  </a:lnTo>
                  <a:lnTo>
                    <a:pt x="104" y="11"/>
                  </a:lnTo>
                  <a:lnTo>
                    <a:pt x="92" y="13"/>
                  </a:lnTo>
                  <a:lnTo>
                    <a:pt x="81" y="16"/>
                  </a:lnTo>
                  <a:lnTo>
                    <a:pt x="72" y="22"/>
                  </a:lnTo>
                  <a:lnTo>
                    <a:pt x="61" y="28"/>
                  </a:lnTo>
                  <a:lnTo>
                    <a:pt x="52" y="33"/>
                  </a:lnTo>
                  <a:lnTo>
                    <a:pt x="43" y="42"/>
                  </a:lnTo>
                  <a:lnTo>
                    <a:pt x="37" y="51"/>
                  </a:lnTo>
                  <a:lnTo>
                    <a:pt x="28" y="59"/>
                  </a:lnTo>
                  <a:lnTo>
                    <a:pt x="22" y="68"/>
                  </a:lnTo>
                  <a:lnTo>
                    <a:pt x="17" y="79"/>
                  </a:lnTo>
                  <a:lnTo>
                    <a:pt x="14" y="91"/>
                  </a:lnTo>
                  <a:lnTo>
                    <a:pt x="11" y="98"/>
                  </a:lnTo>
                  <a:lnTo>
                    <a:pt x="8" y="113"/>
                  </a:lnTo>
                  <a:lnTo>
                    <a:pt x="8" y="124"/>
                  </a:lnTo>
                  <a:lnTo>
                    <a:pt x="0" y="124"/>
                  </a:lnTo>
                </a:path>
              </a:pathLst>
            </a:custGeom>
            <a:solidFill>
              <a:srgbClr val="FFD9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7" name="Freeform 181">
              <a:extLst>
                <a:ext uri="{FF2B5EF4-FFF2-40B4-BE49-F238E27FC236}">
                  <a16:creationId xmlns:a16="http://schemas.microsoft.com/office/drawing/2014/main" id="{ABE4F25F-F6FF-400A-B7C0-43C2DC691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3802"/>
              <a:ext cx="255" cy="126"/>
            </a:xfrm>
            <a:custGeom>
              <a:avLst/>
              <a:gdLst>
                <a:gd name="T0" fmla="*/ 0 w 255"/>
                <a:gd name="T1" fmla="*/ 0 h 126"/>
                <a:gd name="T2" fmla="*/ 2 w 255"/>
                <a:gd name="T3" fmla="*/ 26 h 126"/>
                <a:gd name="T4" fmla="*/ 11 w 255"/>
                <a:gd name="T5" fmla="*/ 49 h 126"/>
                <a:gd name="T6" fmla="*/ 22 w 255"/>
                <a:gd name="T7" fmla="*/ 68 h 126"/>
                <a:gd name="T8" fmla="*/ 37 w 255"/>
                <a:gd name="T9" fmla="*/ 88 h 126"/>
                <a:gd name="T10" fmla="*/ 58 w 255"/>
                <a:gd name="T11" fmla="*/ 102 h 126"/>
                <a:gd name="T12" fmla="*/ 78 w 255"/>
                <a:gd name="T13" fmla="*/ 114 h 126"/>
                <a:gd name="T14" fmla="*/ 101 w 255"/>
                <a:gd name="T15" fmla="*/ 122 h 126"/>
                <a:gd name="T16" fmla="*/ 127 w 255"/>
                <a:gd name="T17" fmla="*/ 125 h 126"/>
                <a:gd name="T18" fmla="*/ 153 w 255"/>
                <a:gd name="T19" fmla="*/ 122 h 126"/>
                <a:gd name="T20" fmla="*/ 176 w 255"/>
                <a:gd name="T21" fmla="*/ 114 h 126"/>
                <a:gd name="T22" fmla="*/ 199 w 255"/>
                <a:gd name="T23" fmla="*/ 102 h 126"/>
                <a:gd name="T24" fmla="*/ 217 w 255"/>
                <a:gd name="T25" fmla="*/ 88 h 126"/>
                <a:gd name="T26" fmla="*/ 234 w 255"/>
                <a:gd name="T27" fmla="*/ 68 h 126"/>
                <a:gd name="T28" fmla="*/ 246 w 255"/>
                <a:gd name="T29" fmla="*/ 49 h 126"/>
                <a:gd name="T30" fmla="*/ 251 w 255"/>
                <a:gd name="T31" fmla="*/ 26 h 126"/>
                <a:gd name="T32" fmla="*/ 254 w 255"/>
                <a:gd name="T33" fmla="*/ 0 h 126"/>
                <a:gd name="T34" fmla="*/ 246 w 255"/>
                <a:gd name="T35" fmla="*/ 11 h 126"/>
                <a:gd name="T36" fmla="*/ 240 w 255"/>
                <a:gd name="T37" fmla="*/ 34 h 126"/>
                <a:gd name="T38" fmla="*/ 232 w 255"/>
                <a:gd name="T39" fmla="*/ 54 h 126"/>
                <a:gd name="T40" fmla="*/ 220 w 255"/>
                <a:gd name="T41" fmla="*/ 73 h 126"/>
                <a:gd name="T42" fmla="*/ 202 w 255"/>
                <a:gd name="T43" fmla="*/ 88 h 126"/>
                <a:gd name="T44" fmla="*/ 185 w 255"/>
                <a:gd name="T45" fmla="*/ 102 h 126"/>
                <a:gd name="T46" fmla="*/ 162 w 255"/>
                <a:gd name="T47" fmla="*/ 111 h 126"/>
                <a:gd name="T48" fmla="*/ 139 w 255"/>
                <a:gd name="T49" fmla="*/ 116 h 126"/>
                <a:gd name="T50" fmla="*/ 115 w 255"/>
                <a:gd name="T51" fmla="*/ 116 h 126"/>
                <a:gd name="T52" fmla="*/ 92 w 255"/>
                <a:gd name="T53" fmla="*/ 111 h 126"/>
                <a:gd name="T54" fmla="*/ 72 w 255"/>
                <a:gd name="T55" fmla="*/ 102 h 126"/>
                <a:gd name="T56" fmla="*/ 52 w 255"/>
                <a:gd name="T57" fmla="*/ 88 h 126"/>
                <a:gd name="T58" fmla="*/ 37 w 255"/>
                <a:gd name="T59" fmla="*/ 73 h 126"/>
                <a:gd name="T60" fmla="*/ 22 w 255"/>
                <a:gd name="T61" fmla="*/ 54 h 126"/>
                <a:gd name="T62" fmla="*/ 14 w 255"/>
                <a:gd name="T63" fmla="*/ 34 h 126"/>
                <a:gd name="T64" fmla="*/ 8 w 255"/>
                <a:gd name="T65" fmla="*/ 11 h 126"/>
                <a:gd name="T66" fmla="*/ 0 w 255"/>
                <a:gd name="T67" fmla="*/ 0 h 1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55"/>
                <a:gd name="T103" fmla="*/ 0 h 126"/>
                <a:gd name="T104" fmla="*/ 255 w 255"/>
                <a:gd name="T105" fmla="*/ 126 h 12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55" h="126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2" y="26"/>
                  </a:lnTo>
                  <a:lnTo>
                    <a:pt x="5" y="37"/>
                  </a:lnTo>
                  <a:lnTo>
                    <a:pt x="11" y="49"/>
                  </a:lnTo>
                  <a:lnTo>
                    <a:pt x="14" y="59"/>
                  </a:lnTo>
                  <a:lnTo>
                    <a:pt x="22" y="68"/>
                  </a:lnTo>
                  <a:lnTo>
                    <a:pt x="28" y="79"/>
                  </a:lnTo>
                  <a:lnTo>
                    <a:pt x="37" y="88"/>
                  </a:lnTo>
                  <a:lnTo>
                    <a:pt x="46" y="96"/>
                  </a:lnTo>
                  <a:lnTo>
                    <a:pt x="58" y="102"/>
                  </a:lnTo>
                  <a:lnTo>
                    <a:pt x="66" y="111"/>
                  </a:lnTo>
                  <a:lnTo>
                    <a:pt x="78" y="114"/>
                  </a:lnTo>
                  <a:lnTo>
                    <a:pt x="89" y="119"/>
                  </a:lnTo>
                  <a:lnTo>
                    <a:pt x="101" y="122"/>
                  </a:lnTo>
                  <a:lnTo>
                    <a:pt x="115" y="125"/>
                  </a:lnTo>
                  <a:lnTo>
                    <a:pt x="127" y="125"/>
                  </a:lnTo>
                  <a:lnTo>
                    <a:pt x="142" y="125"/>
                  </a:lnTo>
                  <a:lnTo>
                    <a:pt x="153" y="122"/>
                  </a:lnTo>
                  <a:lnTo>
                    <a:pt x="165" y="119"/>
                  </a:lnTo>
                  <a:lnTo>
                    <a:pt x="176" y="114"/>
                  </a:lnTo>
                  <a:lnTo>
                    <a:pt x="188" y="111"/>
                  </a:lnTo>
                  <a:lnTo>
                    <a:pt x="199" y="102"/>
                  </a:lnTo>
                  <a:lnTo>
                    <a:pt x="208" y="96"/>
                  </a:lnTo>
                  <a:lnTo>
                    <a:pt x="217" y="88"/>
                  </a:lnTo>
                  <a:lnTo>
                    <a:pt x="226" y="79"/>
                  </a:lnTo>
                  <a:lnTo>
                    <a:pt x="234" y="68"/>
                  </a:lnTo>
                  <a:lnTo>
                    <a:pt x="240" y="59"/>
                  </a:lnTo>
                  <a:lnTo>
                    <a:pt x="246" y="49"/>
                  </a:lnTo>
                  <a:lnTo>
                    <a:pt x="248" y="37"/>
                  </a:lnTo>
                  <a:lnTo>
                    <a:pt x="251" y="26"/>
                  </a:lnTo>
                  <a:lnTo>
                    <a:pt x="254" y="11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46" y="11"/>
                  </a:lnTo>
                  <a:lnTo>
                    <a:pt x="243" y="23"/>
                  </a:lnTo>
                  <a:lnTo>
                    <a:pt x="240" y="34"/>
                  </a:lnTo>
                  <a:lnTo>
                    <a:pt x="237" y="46"/>
                  </a:lnTo>
                  <a:lnTo>
                    <a:pt x="232" y="54"/>
                  </a:lnTo>
                  <a:lnTo>
                    <a:pt x="226" y="65"/>
                  </a:lnTo>
                  <a:lnTo>
                    <a:pt x="220" y="73"/>
                  </a:lnTo>
                  <a:lnTo>
                    <a:pt x="211" y="82"/>
                  </a:lnTo>
                  <a:lnTo>
                    <a:pt x="202" y="88"/>
                  </a:lnTo>
                  <a:lnTo>
                    <a:pt x="193" y="96"/>
                  </a:lnTo>
                  <a:lnTo>
                    <a:pt x="185" y="102"/>
                  </a:lnTo>
                  <a:lnTo>
                    <a:pt x="173" y="108"/>
                  </a:lnTo>
                  <a:lnTo>
                    <a:pt x="162" y="111"/>
                  </a:lnTo>
                  <a:lnTo>
                    <a:pt x="153" y="114"/>
                  </a:lnTo>
                  <a:lnTo>
                    <a:pt x="139" y="116"/>
                  </a:lnTo>
                  <a:lnTo>
                    <a:pt x="127" y="116"/>
                  </a:lnTo>
                  <a:lnTo>
                    <a:pt x="115" y="116"/>
                  </a:lnTo>
                  <a:lnTo>
                    <a:pt x="104" y="114"/>
                  </a:lnTo>
                  <a:lnTo>
                    <a:pt x="92" y="111"/>
                  </a:lnTo>
                  <a:lnTo>
                    <a:pt x="81" y="108"/>
                  </a:lnTo>
                  <a:lnTo>
                    <a:pt x="72" y="102"/>
                  </a:lnTo>
                  <a:lnTo>
                    <a:pt x="61" y="96"/>
                  </a:lnTo>
                  <a:lnTo>
                    <a:pt x="52" y="88"/>
                  </a:lnTo>
                  <a:lnTo>
                    <a:pt x="43" y="82"/>
                  </a:lnTo>
                  <a:lnTo>
                    <a:pt x="37" y="73"/>
                  </a:lnTo>
                  <a:lnTo>
                    <a:pt x="28" y="65"/>
                  </a:lnTo>
                  <a:lnTo>
                    <a:pt x="22" y="54"/>
                  </a:lnTo>
                  <a:lnTo>
                    <a:pt x="17" y="46"/>
                  </a:lnTo>
                  <a:lnTo>
                    <a:pt x="14" y="34"/>
                  </a:lnTo>
                  <a:lnTo>
                    <a:pt x="11" y="23"/>
                  </a:lnTo>
                  <a:lnTo>
                    <a:pt x="8" y="11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D9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8" name="Freeform 182">
              <a:extLst>
                <a:ext uri="{FF2B5EF4-FFF2-40B4-BE49-F238E27FC236}">
                  <a16:creationId xmlns:a16="http://schemas.microsoft.com/office/drawing/2014/main" id="{B4B8E8B6-3C79-4396-9278-B0A45F15D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681"/>
              <a:ext cx="239" cy="116"/>
            </a:xfrm>
            <a:custGeom>
              <a:avLst/>
              <a:gdLst>
                <a:gd name="T0" fmla="*/ 0 w 239"/>
                <a:gd name="T1" fmla="*/ 104 h 116"/>
                <a:gd name="T2" fmla="*/ 6 w 239"/>
                <a:gd name="T3" fmla="*/ 82 h 116"/>
                <a:gd name="T4" fmla="*/ 15 w 239"/>
                <a:gd name="T5" fmla="*/ 59 h 116"/>
                <a:gd name="T6" fmla="*/ 29 w 239"/>
                <a:gd name="T7" fmla="*/ 42 h 116"/>
                <a:gd name="T8" fmla="*/ 44 w 239"/>
                <a:gd name="T9" fmla="*/ 25 h 116"/>
                <a:gd name="T10" fmla="*/ 64 w 239"/>
                <a:gd name="T11" fmla="*/ 13 h 116"/>
                <a:gd name="T12" fmla="*/ 84 w 239"/>
                <a:gd name="T13" fmla="*/ 5 h 116"/>
                <a:gd name="T14" fmla="*/ 107 w 239"/>
                <a:gd name="T15" fmla="*/ 0 h 116"/>
                <a:gd name="T16" fmla="*/ 131 w 239"/>
                <a:gd name="T17" fmla="*/ 0 h 116"/>
                <a:gd name="T18" fmla="*/ 154 w 239"/>
                <a:gd name="T19" fmla="*/ 5 h 116"/>
                <a:gd name="T20" fmla="*/ 177 w 239"/>
                <a:gd name="T21" fmla="*/ 13 h 116"/>
                <a:gd name="T22" fmla="*/ 194 w 239"/>
                <a:gd name="T23" fmla="*/ 25 h 116"/>
                <a:gd name="T24" fmla="*/ 212 w 239"/>
                <a:gd name="T25" fmla="*/ 42 h 116"/>
                <a:gd name="T26" fmla="*/ 223 w 239"/>
                <a:gd name="T27" fmla="*/ 59 h 116"/>
                <a:gd name="T28" fmla="*/ 232 w 239"/>
                <a:gd name="T29" fmla="*/ 82 h 116"/>
                <a:gd name="T30" fmla="*/ 238 w 239"/>
                <a:gd name="T31" fmla="*/ 104 h 116"/>
                <a:gd name="T32" fmla="*/ 229 w 239"/>
                <a:gd name="T33" fmla="*/ 115 h 116"/>
                <a:gd name="T34" fmla="*/ 226 w 239"/>
                <a:gd name="T35" fmla="*/ 92 h 116"/>
                <a:gd name="T36" fmla="*/ 220 w 239"/>
                <a:gd name="T37" fmla="*/ 73 h 116"/>
                <a:gd name="T38" fmla="*/ 212 w 239"/>
                <a:gd name="T39" fmla="*/ 56 h 116"/>
                <a:gd name="T40" fmla="*/ 197 w 239"/>
                <a:gd name="T41" fmla="*/ 39 h 116"/>
                <a:gd name="T42" fmla="*/ 179 w 239"/>
                <a:gd name="T43" fmla="*/ 25 h 116"/>
                <a:gd name="T44" fmla="*/ 162 w 239"/>
                <a:gd name="T45" fmla="*/ 16 h 116"/>
                <a:gd name="T46" fmla="*/ 142 w 239"/>
                <a:gd name="T47" fmla="*/ 10 h 116"/>
                <a:gd name="T48" fmla="*/ 119 w 239"/>
                <a:gd name="T49" fmla="*/ 8 h 116"/>
                <a:gd name="T50" fmla="*/ 99 w 239"/>
                <a:gd name="T51" fmla="*/ 10 h 116"/>
                <a:gd name="T52" fmla="*/ 75 w 239"/>
                <a:gd name="T53" fmla="*/ 16 h 116"/>
                <a:gd name="T54" fmla="*/ 59 w 239"/>
                <a:gd name="T55" fmla="*/ 25 h 116"/>
                <a:gd name="T56" fmla="*/ 44 w 239"/>
                <a:gd name="T57" fmla="*/ 39 h 116"/>
                <a:gd name="T58" fmla="*/ 29 w 239"/>
                <a:gd name="T59" fmla="*/ 56 h 116"/>
                <a:gd name="T60" fmla="*/ 18 w 239"/>
                <a:gd name="T61" fmla="*/ 73 h 116"/>
                <a:gd name="T62" fmla="*/ 12 w 239"/>
                <a:gd name="T63" fmla="*/ 92 h 116"/>
                <a:gd name="T64" fmla="*/ 9 w 239"/>
                <a:gd name="T65" fmla="*/ 115 h 1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9"/>
                <a:gd name="T100" fmla="*/ 0 h 116"/>
                <a:gd name="T101" fmla="*/ 239 w 239"/>
                <a:gd name="T102" fmla="*/ 116 h 1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9" h="116">
                  <a:moveTo>
                    <a:pt x="0" y="115"/>
                  </a:moveTo>
                  <a:lnTo>
                    <a:pt x="0" y="104"/>
                  </a:lnTo>
                  <a:lnTo>
                    <a:pt x="3" y="89"/>
                  </a:lnTo>
                  <a:lnTo>
                    <a:pt x="6" y="82"/>
                  </a:lnTo>
                  <a:lnTo>
                    <a:pt x="9" y="70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9" y="42"/>
                  </a:lnTo>
                  <a:lnTo>
                    <a:pt x="35" y="33"/>
                  </a:lnTo>
                  <a:lnTo>
                    <a:pt x="44" y="25"/>
                  </a:lnTo>
                  <a:lnTo>
                    <a:pt x="53" y="19"/>
                  </a:lnTo>
                  <a:lnTo>
                    <a:pt x="64" y="13"/>
                  </a:lnTo>
                  <a:lnTo>
                    <a:pt x="73" y="8"/>
                  </a:lnTo>
                  <a:lnTo>
                    <a:pt x="84" y="5"/>
                  </a:lnTo>
                  <a:lnTo>
                    <a:pt x="96" y="3"/>
                  </a:lnTo>
                  <a:lnTo>
                    <a:pt x="107" y="0"/>
                  </a:lnTo>
                  <a:lnTo>
                    <a:pt x="119" y="0"/>
                  </a:lnTo>
                  <a:lnTo>
                    <a:pt x="131" y="0"/>
                  </a:lnTo>
                  <a:lnTo>
                    <a:pt x="145" y="3"/>
                  </a:lnTo>
                  <a:lnTo>
                    <a:pt x="154" y="5"/>
                  </a:lnTo>
                  <a:lnTo>
                    <a:pt x="165" y="8"/>
                  </a:lnTo>
                  <a:lnTo>
                    <a:pt x="177" y="13"/>
                  </a:lnTo>
                  <a:lnTo>
                    <a:pt x="185" y="19"/>
                  </a:lnTo>
                  <a:lnTo>
                    <a:pt x="194" y="25"/>
                  </a:lnTo>
                  <a:lnTo>
                    <a:pt x="203" y="33"/>
                  </a:lnTo>
                  <a:lnTo>
                    <a:pt x="212" y="42"/>
                  </a:lnTo>
                  <a:lnTo>
                    <a:pt x="218" y="50"/>
                  </a:lnTo>
                  <a:lnTo>
                    <a:pt x="223" y="59"/>
                  </a:lnTo>
                  <a:lnTo>
                    <a:pt x="229" y="70"/>
                  </a:lnTo>
                  <a:lnTo>
                    <a:pt x="232" y="82"/>
                  </a:lnTo>
                  <a:lnTo>
                    <a:pt x="235" y="89"/>
                  </a:lnTo>
                  <a:lnTo>
                    <a:pt x="238" y="104"/>
                  </a:lnTo>
                  <a:lnTo>
                    <a:pt x="238" y="115"/>
                  </a:lnTo>
                  <a:lnTo>
                    <a:pt x="229" y="115"/>
                  </a:lnTo>
                  <a:lnTo>
                    <a:pt x="229" y="104"/>
                  </a:lnTo>
                  <a:lnTo>
                    <a:pt x="226" y="92"/>
                  </a:lnTo>
                  <a:lnTo>
                    <a:pt x="223" y="82"/>
                  </a:lnTo>
                  <a:lnTo>
                    <a:pt x="220" y="73"/>
                  </a:lnTo>
                  <a:lnTo>
                    <a:pt x="218" y="65"/>
                  </a:lnTo>
                  <a:lnTo>
                    <a:pt x="212" y="56"/>
                  </a:lnTo>
                  <a:lnTo>
                    <a:pt x="203" y="48"/>
                  </a:lnTo>
                  <a:lnTo>
                    <a:pt x="197" y="39"/>
                  </a:lnTo>
                  <a:lnTo>
                    <a:pt x="188" y="30"/>
                  </a:lnTo>
                  <a:lnTo>
                    <a:pt x="179" y="25"/>
                  </a:lnTo>
                  <a:lnTo>
                    <a:pt x="171" y="19"/>
                  </a:lnTo>
                  <a:lnTo>
                    <a:pt x="162" y="16"/>
                  </a:lnTo>
                  <a:lnTo>
                    <a:pt x="154" y="13"/>
                  </a:lnTo>
                  <a:lnTo>
                    <a:pt x="142" y="10"/>
                  </a:lnTo>
                  <a:lnTo>
                    <a:pt x="131" y="8"/>
                  </a:lnTo>
                  <a:lnTo>
                    <a:pt x="119" y="8"/>
                  </a:lnTo>
                  <a:lnTo>
                    <a:pt x="107" y="8"/>
                  </a:lnTo>
                  <a:lnTo>
                    <a:pt x="99" y="10"/>
                  </a:lnTo>
                  <a:lnTo>
                    <a:pt x="87" y="13"/>
                  </a:lnTo>
                  <a:lnTo>
                    <a:pt x="75" y="16"/>
                  </a:lnTo>
                  <a:lnTo>
                    <a:pt x="67" y="19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4" y="39"/>
                  </a:lnTo>
                  <a:lnTo>
                    <a:pt x="35" y="48"/>
                  </a:lnTo>
                  <a:lnTo>
                    <a:pt x="29" y="56"/>
                  </a:lnTo>
                  <a:lnTo>
                    <a:pt x="23" y="65"/>
                  </a:lnTo>
                  <a:lnTo>
                    <a:pt x="18" y="73"/>
                  </a:lnTo>
                  <a:lnTo>
                    <a:pt x="15" y="82"/>
                  </a:lnTo>
                  <a:lnTo>
                    <a:pt x="12" y="92"/>
                  </a:lnTo>
                  <a:lnTo>
                    <a:pt x="12" y="104"/>
                  </a:lnTo>
                  <a:lnTo>
                    <a:pt x="9" y="115"/>
                  </a:lnTo>
                  <a:lnTo>
                    <a:pt x="0" y="115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49" name="Freeform 183">
              <a:extLst>
                <a:ext uri="{FF2B5EF4-FFF2-40B4-BE49-F238E27FC236}">
                  <a16:creationId xmlns:a16="http://schemas.microsoft.com/office/drawing/2014/main" id="{9F6FAB10-5ACE-4095-8EBB-CF829A497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802"/>
              <a:ext cx="239" cy="117"/>
            </a:xfrm>
            <a:custGeom>
              <a:avLst/>
              <a:gdLst>
                <a:gd name="T0" fmla="*/ 0 w 239"/>
                <a:gd name="T1" fmla="*/ 0 h 117"/>
                <a:gd name="T2" fmla="*/ 3 w 239"/>
                <a:gd name="T3" fmla="*/ 23 h 117"/>
                <a:gd name="T4" fmla="*/ 9 w 239"/>
                <a:gd name="T5" fmla="*/ 46 h 117"/>
                <a:gd name="T6" fmla="*/ 20 w 239"/>
                <a:gd name="T7" fmla="*/ 65 h 117"/>
                <a:gd name="T8" fmla="*/ 35 w 239"/>
                <a:gd name="T9" fmla="*/ 82 h 117"/>
                <a:gd name="T10" fmla="*/ 53 w 239"/>
                <a:gd name="T11" fmla="*/ 96 h 117"/>
                <a:gd name="T12" fmla="*/ 73 w 239"/>
                <a:gd name="T13" fmla="*/ 107 h 117"/>
                <a:gd name="T14" fmla="*/ 96 w 239"/>
                <a:gd name="T15" fmla="*/ 113 h 117"/>
                <a:gd name="T16" fmla="*/ 119 w 239"/>
                <a:gd name="T17" fmla="*/ 116 h 117"/>
                <a:gd name="T18" fmla="*/ 145 w 239"/>
                <a:gd name="T19" fmla="*/ 113 h 117"/>
                <a:gd name="T20" fmla="*/ 165 w 239"/>
                <a:gd name="T21" fmla="*/ 107 h 117"/>
                <a:gd name="T22" fmla="*/ 185 w 239"/>
                <a:gd name="T23" fmla="*/ 96 h 117"/>
                <a:gd name="T24" fmla="*/ 203 w 239"/>
                <a:gd name="T25" fmla="*/ 82 h 117"/>
                <a:gd name="T26" fmla="*/ 218 w 239"/>
                <a:gd name="T27" fmla="*/ 65 h 117"/>
                <a:gd name="T28" fmla="*/ 229 w 239"/>
                <a:gd name="T29" fmla="*/ 46 h 117"/>
                <a:gd name="T30" fmla="*/ 235 w 239"/>
                <a:gd name="T31" fmla="*/ 23 h 117"/>
                <a:gd name="T32" fmla="*/ 238 w 239"/>
                <a:gd name="T33" fmla="*/ 0 h 117"/>
                <a:gd name="T34" fmla="*/ 229 w 239"/>
                <a:gd name="T35" fmla="*/ 11 h 117"/>
                <a:gd name="T36" fmla="*/ 223 w 239"/>
                <a:gd name="T37" fmla="*/ 31 h 117"/>
                <a:gd name="T38" fmla="*/ 218 w 239"/>
                <a:gd name="T39" fmla="*/ 51 h 117"/>
                <a:gd name="T40" fmla="*/ 203 w 239"/>
                <a:gd name="T41" fmla="*/ 68 h 117"/>
                <a:gd name="T42" fmla="*/ 188 w 239"/>
                <a:gd name="T43" fmla="*/ 82 h 117"/>
                <a:gd name="T44" fmla="*/ 171 w 239"/>
                <a:gd name="T45" fmla="*/ 93 h 117"/>
                <a:gd name="T46" fmla="*/ 154 w 239"/>
                <a:gd name="T47" fmla="*/ 102 h 117"/>
                <a:gd name="T48" fmla="*/ 131 w 239"/>
                <a:gd name="T49" fmla="*/ 105 h 117"/>
                <a:gd name="T50" fmla="*/ 107 w 239"/>
                <a:gd name="T51" fmla="*/ 105 h 117"/>
                <a:gd name="T52" fmla="*/ 87 w 239"/>
                <a:gd name="T53" fmla="*/ 102 h 117"/>
                <a:gd name="T54" fmla="*/ 67 w 239"/>
                <a:gd name="T55" fmla="*/ 93 h 117"/>
                <a:gd name="T56" fmla="*/ 50 w 239"/>
                <a:gd name="T57" fmla="*/ 82 h 117"/>
                <a:gd name="T58" fmla="*/ 35 w 239"/>
                <a:gd name="T59" fmla="*/ 68 h 117"/>
                <a:gd name="T60" fmla="*/ 23 w 239"/>
                <a:gd name="T61" fmla="*/ 51 h 117"/>
                <a:gd name="T62" fmla="*/ 15 w 239"/>
                <a:gd name="T63" fmla="*/ 31 h 117"/>
                <a:gd name="T64" fmla="*/ 12 w 239"/>
                <a:gd name="T65" fmla="*/ 11 h 117"/>
                <a:gd name="T66" fmla="*/ 0 w 239"/>
                <a:gd name="T67" fmla="*/ 0 h 1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39"/>
                <a:gd name="T103" fmla="*/ 0 h 117"/>
                <a:gd name="T104" fmla="*/ 239 w 239"/>
                <a:gd name="T105" fmla="*/ 117 h 1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39" h="117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6"/>
                  </a:lnTo>
                  <a:lnTo>
                    <a:pt x="15" y="54"/>
                  </a:lnTo>
                  <a:lnTo>
                    <a:pt x="20" y="65"/>
                  </a:lnTo>
                  <a:lnTo>
                    <a:pt x="29" y="73"/>
                  </a:lnTo>
                  <a:lnTo>
                    <a:pt x="35" y="82"/>
                  </a:lnTo>
                  <a:lnTo>
                    <a:pt x="44" y="87"/>
                  </a:lnTo>
                  <a:lnTo>
                    <a:pt x="53" y="96"/>
                  </a:lnTo>
                  <a:lnTo>
                    <a:pt x="64" y="102"/>
                  </a:lnTo>
                  <a:lnTo>
                    <a:pt x="73" y="107"/>
                  </a:lnTo>
                  <a:lnTo>
                    <a:pt x="84" y="110"/>
                  </a:lnTo>
                  <a:lnTo>
                    <a:pt x="96" y="113"/>
                  </a:lnTo>
                  <a:lnTo>
                    <a:pt x="107" y="116"/>
                  </a:lnTo>
                  <a:lnTo>
                    <a:pt x="119" y="116"/>
                  </a:lnTo>
                  <a:lnTo>
                    <a:pt x="131" y="116"/>
                  </a:lnTo>
                  <a:lnTo>
                    <a:pt x="145" y="113"/>
                  </a:lnTo>
                  <a:lnTo>
                    <a:pt x="154" y="110"/>
                  </a:lnTo>
                  <a:lnTo>
                    <a:pt x="165" y="107"/>
                  </a:lnTo>
                  <a:lnTo>
                    <a:pt x="177" y="102"/>
                  </a:lnTo>
                  <a:lnTo>
                    <a:pt x="185" y="96"/>
                  </a:lnTo>
                  <a:lnTo>
                    <a:pt x="194" y="87"/>
                  </a:lnTo>
                  <a:lnTo>
                    <a:pt x="203" y="82"/>
                  </a:lnTo>
                  <a:lnTo>
                    <a:pt x="212" y="73"/>
                  </a:lnTo>
                  <a:lnTo>
                    <a:pt x="218" y="65"/>
                  </a:lnTo>
                  <a:lnTo>
                    <a:pt x="223" y="54"/>
                  </a:lnTo>
                  <a:lnTo>
                    <a:pt x="229" y="46"/>
                  </a:lnTo>
                  <a:lnTo>
                    <a:pt x="232" y="34"/>
                  </a:lnTo>
                  <a:lnTo>
                    <a:pt x="235" y="23"/>
                  </a:lnTo>
                  <a:lnTo>
                    <a:pt x="238" y="11"/>
                  </a:lnTo>
                  <a:lnTo>
                    <a:pt x="238" y="0"/>
                  </a:lnTo>
                  <a:lnTo>
                    <a:pt x="229" y="0"/>
                  </a:lnTo>
                  <a:lnTo>
                    <a:pt x="229" y="11"/>
                  </a:lnTo>
                  <a:lnTo>
                    <a:pt x="226" y="20"/>
                  </a:lnTo>
                  <a:lnTo>
                    <a:pt x="223" y="31"/>
                  </a:lnTo>
                  <a:lnTo>
                    <a:pt x="220" y="43"/>
                  </a:lnTo>
                  <a:lnTo>
                    <a:pt x="218" y="51"/>
                  </a:lnTo>
                  <a:lnTo>
                    <a:pt x="212" y="59"/>
                  </a:lnTo>
                  <a:lnTo>
                    <a:pt x="203" y="68"/>
                  </a:lnTo>
                  <a:lnTo>
                    <a:pt x="197" y="76"/>
                  </a:lnTo>
                  <a:lnTo>
                    <a:pt x="188" y="82"/>
                  </a:lnTo>
                  <a:lnTo>
                    <a:pt x="179" y="87"/>
                  </a:lnTo>
                  <a:lnTo>
                    <a:pt x="171" y="93"/>
                  </a:lnTo>
                  <a:lnTo>
                    <a:pt x="162" y="99"/>
                  </a:lnTo>
                  <a:lnTo>
                    <a:pt x="154" y="102"/>
                  </a:lnTo>
                  <a:lnTo>
                    <a:pt x="142" y="105"/>
                  </a:lnTo>
                  <a:lnTo>
                    <a:pt x="131" y="105"/>
                  </a:lnTo>
                  <a:lnTo>
                    <a:pt x="119" y="107"/>
                  </a:lnTo>
                  <a:lnTo>
                    <a:pt x="107" y="105"/>
                  </a:lnTo>
                  <a:lnTo>
                    <a:pt x="99" y="105"/>
                  </a:lnTo>
                  <a:lnTo>
                    <a:pt x="87" y="102"/>
                  </a:lnTo>
                  <a:lnTo>
                    <a:pt x="75" y="99"/>
                  </a:lnTo>
                  <a:lnTo>
                    <a:pt x="67" y="93"/>
                  </a:lnTo>
                  <a:lnTo>
                    <a:pt x="59" y="87"/>
                  </a:lnTo>
                  <a:lnTo>
                    <a:pt x="50" y="82"/>
                  </a:lnTo>
                  <a:lnTo>
                    <a:pt x="44" y="76"/>
                  </a:lnTo>
                  <a:lnTo>
                    <a:pt x="35" y="68"/>
                  </a:lnTo>
                  <a:lnTo>
                    <a:pt x="29" y="59"/>
                  </a:lnTo>
                  <a:lnTo>
                    <a:pt x="23" y="51"/>
                  </a:lnTo>
                  <a:lnTo>
                    <a:pt x="18" y="43"/>
                  </a:lnTo>
                  <a:lnTo>
                    <a:pt x="15" y="31"/>
                  </a:lnTo>
                  <a:lnTo>
                    <a:pt x="12" y="20"/>
                  </a:lnTo>
                  <a:lnTo>
                    <a:pt x="12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0" name="Freeform 184">
              <a:extLst>
                <a:ext uri="{FF2B5EF4-FFF2-40B4-BE49-F238E27FC236}">
                  <a16:creationId xmlns:a16="http://schemas.microsoft.com/office/drawing/2014/main" id="{28EEB967-7724-4212-B578-88C41F839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3689"/>
              <a:ext cx="221" cy="108"/>
            </a:xfrm>
            <a:custGeom>
              <a:avLst/>
              <a:gdLst>
                <a:gd name="T0" fmla="*/ 3 w 221"/>
                <a:gd name="T1" fmla="*/ 96 h 108"/>
                <a:gd name="T2" fmla="*/ 6 w 221"/>
                <a:gd name="T3" fmla="*/ 74 h 108"/>
                <a:gd name="T4" fmla="*/ 15 w 221"/>
                <a:gd name="T5" fmla="*/ 57 h 108"/>
                <a:gd name="T6" fmla="*/ 26 w 221"/>
                <a:gd name="T7" fmla="*/ 40 h 108"/>
                <a:gd name="T8" fmla="*/ 41 w 221"/>
                <a:gd name="T9" fmla="*/ 23 h 108"/>
                <a:gd name="T10" fmla="*/ 58 w 221"/>
                <a:gd name="T11" fmla="*/ 11 h 108"/>
                <a:gd name="T12" fmla="*/ 78 w 221"/>
                <a:gd name="T13" fmla="*/ 6 h 108"/>
                <a:gd name="T14" fmla="*/ 98 w 221"/>
                <a:gd name="T15" fmla="*/ 0 h 108"/>
                <a:gd name="T16" fmla="*/ 122 w 221"/>
                <a:gd name="T17" fmla="*/ 0 h 108"/>
                <a:gd name="T18" fmla="*/ 145 w 221"/>
                <a:gd name="T19" fmla="*/ 6 h 108"/>
                <a:gd name="T20" fmla="*/ 162 w 221"/>
                <a:gd name="T21" fmla="*/ 11 h 108"/>
                <a:gd name="T22" fmla="*/ 179 w 221"/>
                <a:gd name="T23" fmla="*/ 23 h 108"/>
                <a:gd name="T24" fmla="*/ 194 w 221"/>
                <a:gd name="T25" fmla="*/ 40 h 108"/>
                <a:gd name="T26" fmla="*/ 208 w 221"/>
                <a:gd name="T27" fmla="*/ 57 h 108"/>
                <a:gd name="T28" fmla="*/ 214 w 221"/>
                <a:gd name="T29" fmla="*/ 74 h 108"/>
                <a:gd name="T30" fmla="*/ 220 w 221"/>
                <a:gd name="T31" fmla="*/ 96 h 108"/>
                <a:gd name="T32" fmla="*/ 211 w 221"/>
                <a:gd name="T33" fmla="*/ 107 h 108"/>
                <a:gd name="T34" fmla="*/ 208 w 221"/>
                <a:gd name="T35" fmla="*/ 87 h 108"/>
                <a:gd name="T36" fmla="*/ 202 w 221"/>
                <a:gd name="T37" fmla="*/ 68 h 108"/>
                <a:gd name="T38" fmla="*/ 194 w 221"/>
                <a:gd name="T39" fmla="*/ 51 h 108"/>
                <a:gd name="T40" fmla="*/ 182 w 221"/>
                <a:gd name="T41" fmla="*/ 37 h 108"/>
                <a:gd name="T42" fmla="*/ 167 w 221"/>
                <a:gd name="T43" fmla="*/ 26 h 108"/>
                <a:gd name="T44" fmla="*/ 150 w 221"/>
                <a:gd name="T45" fmla="*/ 17 h 108"/>
                <a:gd name="T46" fmla="*/ 130 w 221"/>
                <a:gd name="T47" fmla="*/ 11 h 108"/>
                <a:gd name="T48" fmla="*/ 110 w 221"/>
                <a:gd name="T49" fmla="*/ 9 h 108"/>
                <a:gd name="T50" fmla="*/ 90 w 221"/>
                <a:gd name="T51" fmla="*/ 11 h 108"/>
                <a:gd name="T52" fmla="*/ 72 w 221"/>
                <a:gd name="T53" fmla="*/ 17 h 108"/>
                <a:gd name="T54" fmla="*/ 55 w 221"/>
                <a:gd name="T55" fmla="*/ 26 h 108"/>
                <a:gd name="T56" fmla="*/ 41 w 221"/>
                <a:gd name="T57" fmla="*/ 37 h 108"/>
                <a:gd name="T58" fmla="*/ 29 w 221"/>
                <a:gd name="T59" fmla="*/ 51 h 108"/>
                <a:gd name="T60" fmla="*/ 18 w 221"/>
                <a:gd name="T61" fmla="*/ 68 h 108"/>
                <a:gd name="T62" fmla="*/ 12 w 221"/>
                <a:gd name="T63" fmla="*/ 87 h 108"/>
                <a:gd name="T64" fmla="*/ 12 w 221"/>
                <a:gd name="T65" fmla="*/ 107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1"/>
                <a:gd name="T100" fmla="*/ 0 h 108"/>
                <a:gd name="T101" fmla="*/ 221 w 221"/>
                <a:gd name="T102" fmla="*/ 108 h 10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1" h="108">
                  <a:moveTo>
                    <a:pt x="0" y="107"/>
                  </a:moveTo>
                  <a:lnTo>
                    <a:pt x="3" y="96"/>
                  </a:lnTo>
                  <a:lnTo>
                    <a:pt x="3" y="84"/>
                  </a:lnTo>
                  <a:lnTo>
                    <a:pt x="6" y="74"/>
                  </a:lnTo>
                  <a:lnTo>
                    <a:pt x="9" y="65"/>
                  </a:lnTo>
                  <a:lnTo>
                    <a:pt x="15" y="57"/>
                  </a:lnTo>
                  <a:lnTo>
                    <a:pt x="20" y="48"/>
                  </a:lnTo>
                  <a:lnTo>
                    <a:pt x="26" y="40"/>
                  </a:lnTo>
                  <a:lnTo>
                    <a:pt x="35" y="31"/>
                  </a:lnTo>
                  <a:lnTo>
                    <a:pt x="41" y="23"/>
                  </a:lnTo>
                  <a:lnTo>
                    <a:pt x="50" y="17"/>
                  </a:lnTo>
                  <a:lnTo>
                    <a:pt x="58" y="11"/>
                  </a:lnTo>
                  <a:lnTo>
                    <a:pt x="66" y="9"/>
                  </a:lnTo>
                  <a:lnTo>
                    <a:pt x="78" y="6"/>
                  </a:lnTo>
                  <a:lnTo>
                    <a:pt x="90" y="3"/>
                  </a:lnTo>
                  <a:lnTo>
                    <a:pt x="98" y="0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33" y="3"/>
                  </a:lnTo>
                  <a:lnTo>
                    <a:pt x="145" y="6"/>
                  </a:lnTo>
                  <a:lnTo>
                    <a:pt x="153" y="9"/>
                  </a:lnTo>
                  <a:lnTo>
                    <a:pt x="162" y="11"/>
                  </a:lnTo>
                  <a:lnTo>
                    <a:pt x="170" y="17"/>
                  </a:lnTo>
                  <a:lnTo>
                    <a:pt x="179" y="23"/>
                  </a:lnTo>
                  <a:lnTo>
                    <a:pt x="188" y="31"/>
                  </a:lnTo>
                  <a:lnTo>
                    <a:pt x="194" y="40"/>
                  </a:lnTo>
                  <a:lnTo>
                    <a:pt x="202" y="48"/>
                  </a:lnTo>
                  <a:lnTo>
                    <a:pt x="208" y="57"/>
                  </a:lnTo>
                  <a:lnTo>
                    <a:pt x="211" y="65"/>
                  </a:lnTo>
                  <a:lnTo>
                    <a:pt x="214" y="74"/>
                  </a:lnTo>
                  <a:lnTo>
                    <a:pt x="217" y="84"/>
                  </a:lnTo>
                  <a:lnTo>
                    <a:pt x="220" y="96"/>
                  </a:lnTo>
                  <a:lnTo>
                    <a:pt x="220" y="107"/>
                  </a:lnTo>
                  <a:lnTo>
                    <a:pt x="211" y="107"/>
                  </a:lnTo>
                  <a:lnTo>
                    <a:pt x="211" y="96"/>
                  </a:lnTo>
                  <a:lnTo>
                    <a:pt x="208" y="87"/>
                  </a:lnTo>
                  <a:lnTo>
                    <a:pt x="205" y="77"/>
                  </a:lnTo>
                  <a:lnTo>
                    <a:pt x="202" y="68"/>
                  </a:lnTo>
                  <a:lnTo>
                    <a:pt x="200" y="60"/>
                  </a:lnTo>
                  <a:lnTo>
                    <a:pt x="194" y="51"/>
                  </a:lnTo>
                  <a:lnTo>
                    <a:pt x="188" y="45"/>
                  </a:lnTo>
                  <a:lnTo>
                    <a:pt x="182" y="37"/>
                  </a:lnTo>
                  <a:lnTo>
                    <a:pt x="173" y="31"/>
                  </a:lnTo>
                  <a:lnTo>
                    <a:pt x="167" y="26"/>
                  </a:lnTo>
                  <a:lnTo>
                    <a:pt x="159" y="20"/>
                  </a:lnTo>
                  <a:lnTo>
                    <a:pt x="150" y="17"/>
                  </a:lnTo>
                  <a:lnTo>
                    <a:pt x="142" y="14"/>
                  </a:lnTo>
                  <a:lnTo>
                    <a:pt x="130" y="11"/>
                  </a:lnTo>
                  <a:lnTo>
                    <a:pt x="122" y="9"/>
                  </a:lnTo>
                  <a:lnTo>
                    <a:pt x="110" y="9"/>
                  </a:lnTo>
                  <a:lnTo>
                    <a:pt x="101" y="9"/>
                  </a:lnTo>
                  <a:lnTo>
                    <a:pt x="90" y="11"/>
                  </a:lnTo>
                  <a:lnTo>
                    <a:pt x="81" y="14"/>
                  </a:lnTo>
                  <a:lnTo>
                    <a:pt x="72" y="17"/>
                  </a:lnTo>
                  <a:lnTo>
                    <a:pt x="64" y="20"/>
                  </a:lnTo>
                  <a:lnTo>
                    <a:pt x="55" y="26"/>
                  </a:lnTo>
                  <a:lnTo>
                    <a:pt x="47" y="31"/>
                  </a:lnTo>
                  <a:lnTo>
                    <a:pt x="41" y="37"/>
                  </a:lnTo>
                  <a:lnTo>
                    <a:pt x="35" y="45"/>
                  </a:lnTo>
                  <a:lnTo>
                    <a:pt x="29" y="51"/>
                  </a:lnTo>
                  <a:lnTo>
                    <a:pt x="23" y="60"/>
                  </a:lnTo>
                  <a:lnTo>
                    <a:pt x="18" y="68"/>
                  </a:lnTo>
                  <a:lnTo>
                    <a:pt x="15" y="77"/>
                  </a:lnTo>
                  <a:lnTo>
                    <a:pt x="12" y="87"/>
                  </a:lnTo>
                  <a:lnTo>
                    <a:pt x="12" y="96"/>
                  </a:lnTo>
                  <a:lnTo>
                    <a:pt x="12" y="107"/>
                  </a:lnTo>
                  <a:lnTo>
                    <a:pt x="0" y="107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1" name="Freeform 185">
              <a:extLst>
                <a:ext uri="{FF2B5EF4-FFF2-40B4-BE49-F238E27FC236}">
                  <a16:creationId xmlns:a16="http://schemas.microsoft.com/office/drawing/2014/main" id="{8311DBC0-8A5D-4ADA-9325-810DA56C8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3802"/>
              <a:ext cx="221" cy="108"/>
            </a:xfrm>
            <a:custGeom>
              <a:avLst/>
              <a:gdLst>
                <a:gd name="T0" fmla="*/ 0 w 221"/>
                <a:gd name="T1" fmla="*/ 0 h 108"/>
                <a:gd name="T2" fmla="*/ 3 w 221"/>
                <a:gd name="T3" fmla="*/ 20 h 108"/>
                <a:gd name="T4" fmla="*/ 9 w 221"/>
                <a:gd name="T5" fmla="*/ 43 h 108"/>
                <a:gd name="T6" fmla="*/ 20 w 221"/>
                <a:gd name="T7" fmla="*/ 59 h 108"/>
                <a:gd name="T8" fmla="*/ 35 w 221"/>
                <a:gd name="T9" fmla="*/ 76 h 108"/>
                <a:gd name="T10" fmla="*/ 50 w 221"/>
                <a:gd name="T11" fmla="*/ 87 h 108"/>
                <a:gd name="T12" fmla="*/ 66 w 221"/>
                <a:gd name="T13" fmla="*/ 98 h 108"/>
                <a:gd name="T14" fmla="*/ 90 w 221"/>
                <a:gd name="T15" fmla="*/ 104 h 108"/>
                <a:gd name="T16" fmla="*/ 110 w 221"/>
                <a:gd name="T17" fmla="*/ 107 h 108"/>
                <a:gd name="T18" fmla="*/ 133 w 221"/>
                <a:gd name="T19" fmla="*/ 104 h 108"/>
                <a:gd name="T20" fmla="*/ 153 w 221"/>
                <a:gd name="T21" fmla="*/ 98 h 108"/>
                <a:gd name="T22" fmla="*/ 170 w 221"/>
                <a:gd name="T23" fmla="*/ 87 h 108"/>
                <a:gd name="T24" fmla="*/ 188 w 221"/>
                <a:gd name="T25" fmla="*/ 76 h 108"/>
                <a:gd name="T26" fmla="*/ 202 w 221"/>
                <a:gd name="T27" fmla="*/ 59 h 108"/>
                <a:gd name="T28" fmla="*/ 211 w 221"/>
                <a:gd name="T29" fmla="*/ 43 h 108"/>
                <a:gd name="T30" fmla="*/ 217 w 221"/>
                <a:gd name="T31" fmla="*/ 20 h 108"/>
                <a:gd name="T32" fmla="*/ 220 w 221"/>
                <a:gd name="T33" fmla="*/ 0 h 108"/>
                <a:gd name="T34" fmla="*/ 211 w 221"/>
                <a:gd name="T35" fmla="*/ 9 h 108"/>
                <a:gd name="T36" fmla="*/ 205 w 221"/>
                <a:gd name="T37" fmla="*/ 28 h 108"/>
                <a:gd name="T38" fmla="*/ 200 w 221"/>
                <a:gd name="T39" fmla="*/ 45 h 108"/>
                <a:gd name="T40" fmla="*/ 188 w 221"/>
                <a:gd name="T41" fmla="*/ 62 h 108"/>
                <a:gd name="T42" fmla="*/ 173 w 221"/>
                <a:gd name="T43" fmla="*/ 76 h 108"/>
                <a:gd name="T44" fmla="*/ 159 w 221"/>
                <a:gd name="T45" fmla="*/ 84 h 108"/>
                <a:gd name="T46" fmla="*/ 142 w 221"/>
                <a:gd name="T47" fmla="*/ 93 h 108"/>
                <a:gd name="T48" fmla="*/ 122 w 221"/>
                <a:gd name="T49" fmla="*/ 96 h 108"/>
                <a:gd name="T50" fmla="*/ 101 w 221"/>
                <a:gd name="T51" fmla="*/ 96 h 108"/>
                <a:gd name="T52" fmla="*/ 81 w 221"/>
                <a:gd name="T53" fmla="*/ 93 h 108"/>
                <a:gd name="T54" fmla="*/ 64 w 221"/>
                <a:gd name="T55" fmla="*/ 84 h 108"/>
                <a:gd name="T56" fmla="*/ 47 w 221"/>
                <a:gd name="T57" fmla="*/ 76 h 108"/>
                <a:gd name="T58" fmla="*/ 35 w 221"/>
                <a:gd name="T59" fmla="*/ 62 h 108"/>
                <a:gd name="T60" fmla="*/ 23 w 221"/>
                <a:gd name="T61" fmla="*/ 45 h 108"/>
                <a:gd name="T62" fmla="*/ 15 w 221"/>
                <a:gd name="T63" fmla="*/ 28 h 108"/>
                <a:gd name="T64" fmla="*/ 12 w 221"/>
                <a:gd name="T65" fmla="*/ 9 h 108"/>
                <a:gd name="T66" fmla="*/ 0 w 221"/>
                <a:gd name="T67" fmla="*/ 0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21"/>
                <a:gd name="T103" fmla="*/ 0 h 108"/>
                <a:gd name="T104" fmla="*/ 221 w 221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21" h="108">
                  <a:moveTo>
                    <a:pt x="0" y="0"/>
                  </a:moveTo>
                  <a:lnTo>
                    <a:pt x="0" y="0"/>
                  </a:lnTo>
                  <a:lnTo>
                    <a:pt x="3" y="11"/>
                  </a:lnTo>
                  <a:lnTo>
                    <a:pt x="3" y="20"/>
                  </a:lnTo>
                  <a:lnTo>
                    <a:pt x="6" y="31"/>
                  </a:lnTo>
                  <a:lnTo>
                    <a:pt x="9" y="43"/>
                  </a:lnTo>
                  <a:lnTo>
                    <a:pt x="15" y="51"/>
                  </a:lnTo>
                  <a:lnTo>
                    <a:pt x="20" y="59"/>
                  </a:lnTo>
                  <a:lnTo>
                    <a:pt x="26" y="67"/>
                  </a:lnTo>
                  <a:lnTo>
                    <a:pt x="35" y="76"/>
                  </a:lnTo>
                  <a:lnTo>
                    <a:pt x="41" y="81"/>
                  </a:lnTo>
                  <a:lnTo>
                    <a:pt x="50" y="87"/>
                  </a:lnTo>
                  <a:lnTo>
                    <a:pt x="58" y="93"/>
                  </a:lnTo>
                  <a:lnTo>
                    <a:pt x="66" y="98"/>
                  </a:lnTo>
                  <a:lnTo>
                    <a:pt x="78" y="101"/>
                  </a:lnTo>
                  <a:lnTo>
                    <a:pt x="90" y="104"/>
                  </a:lnTo>
                  <a:lnTo>
                    <a:pt x="98" y="104"/>
                  </a:lnTo>
                  <a:lnTo>
                    <a:pt x="110" y="107"/>
                  </a:lnTo>
                  <a:lnTo>
                    <a:pt x="122" y="104"/>
                  </a:lnTo>
                  <a:lnTo>
                    <a:pt x="133" y="104"/>
                  </a:lnTo>
                  <a:lnTo>
                    <a:pt x="145" y="101"/>
                  </a:lnTo>
                  <a:lnTo>
                    <a:pt x="153" y="98"/>
                  </a:lnTo>
                  <a:lnTo>
                    <a:pt x="162" y="93"/>
                  </a:lnTo>
                  <a:lnTo>
                    <a:pt x="170" y="87"/>
                  </a:lnTo>
                  <a:lnTo>
                    <a:pt x="179" y="81"/>
                  </a:lnTo>
                  <a:lnTo>
                    <a:pt x="188" y="76"/>
                  </a:lnTo>
                  <a:lnTo>
                    <a:pt x="194" y="67"/>
                  </a:lnTo>
                  <a:lnTo>
                    <a:pt x="202" y="59"/>
                  </a:lnTo>
                  <a:lnTo>
                    <a:pt x="208" y="51"/>
                  </a:lnTo>
                  <a:lnTo>
                    <a:pt x="211" y="43"/>
                  </a:lnTo>
                  <a:lnTo>
                    <a:pt x="214" y="31"/>
                  </a:lnTo>
                  <a:lnTo>
                    <a:pt x="217" y="20"/>
                  </a:lnTo>
                  <a:lnTo>
                    <a:pt x="220" y="11"/>
                  </a:lnTo>
                  <a:lnTo>
                    <a:pt x="220" y="0"/>
                  </a:lnTo>
                  <a:lnTo>
                    <a:pt x="211" y="0"/>
                  </a:lnTo>
                  <a:lnTo>
                    <a:pt x="211" y="9"/>
                  </a:lnTo>
                  <a:lnTo>
                    <a:pt x="208" y="20"/>
                  </a:lnTo>
                  <a:lnTo>
                    <a:pt x="205" y="28"/>
                  </a:lnTo>
                  <a:lnTo>
                    <a:pt x="202" y="37"/>
                  </a:lnTo>
                  <a:lnTo>
                    <a:pt x="200" y="45"/>
                  </a:lnTo>
                  <a:lnTo>
                    <a:pt x="194" y="54"/>
                  </a:lnTo>
                  <a:lnTo>
                    <a:pt x="188" y="62"/>
                  </a:lnTo>
                  <a:lnTo>
                    <a:pt x="182" y="67"/>
                  </a:lnTo>
                  <a:lnTo>
                    <a:pt x="173" y="76"/>
                  </a:lnTo>
                  <a:lnTo>
                    <a:pt x="167" y="79"/>
                  </a:lnTo>
                  <a:lnTo>
                    <a:pt x="159" y="84"/>
                  </a:lnTo>
                  <a:lnTo>
                    <a:pt x="150" y="90"/>
                  </a:lnTo>
                  <a:lnTo>
                    <a:pt x="142" y="93"/>
                  </a:lnTo>
                  <a:lnTo>
                    <a:pt x="130" y="96"/>
                  </a:lnTo>
                  <a:lnTo>
                    <a:pt x="122" y="96"/>
                  </a:lnTo>
                  <a:lnTo>
                    <a:pt x="110" y="96"/>
                  </a:lnTo>
                  <a:lnTo>
                    <a:pt x="101" y="96"/>
                  </a:lnTo>
                  <a:lnTo>
                    <a:pt x="90" y="96"/>
                  </a:lnTo>
                  <a:lnTo>
                    <a:pt x="81" y="93"/>
                  </a:lnTo>
                  <a:lnTo>
                    <a:pt x="72" y="90"/>
                  </a:lnTo>
                  <a:lnTo>
                    <a:pt x="64" y="84"/>
                  </a:lnTo>
                  <a:lnTo>
                    <a:pt x="55" y="79"/>
                  </a:lnTo>
                  <a:lnTo>
                    <a:pt x="47" y="76"/>
                  </a:lnTo>
                  <a:lnTo>
                    <a:pt x="41" y="67"/>
                  </a:lnTo>
                  <a:lnTo>
                    <a:pt x="35" y="62"/>
                  </a:lnTo>
                  <a:lnTo>
                    <a:pt x="29" y="54"/>
                  </a:lnTo>
                  <a:lnTo>
                    <a:pt x="23" y="45"/>
                  </a:lnTo>
                  <a:lnTo>
                    <a:pt x="18" y="37"/>
                  </a:lnTo>
                  <a:lnTo>
                    <a:pt x="15" y="28"/>
                  </a:lnTo>
                  <a:lnTo>
                    <a:pt x="12" y="20"/>
                  </a:lnTo>
                  <a:lnTo>
                    <a:pt x="12" y="9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2" name="Freeform 186">
              <a:extLst>
                <a:ext uri="{FF2B5EF4-FFF2-40B4-BE49-F238E27FC236}">
                  <a16:creationId xmlns:a16="http://schemas.microsoft.com/office/drawing/2014/main" id="{D44FD5AC-1EDD-432A-9F05-1437E389B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3698"/>
              <a:ext cx="200" cy="99"/>
            </a:xfrm>
            <a:custGeom>
              <a:avLst/>
              <a:gdLst>
                <a:gd name="T0" fmla="*/ 0 w 200"/>
                <a:gd name="T1" fmla="*/ 87 h 99"/>
                <a:gd name="T2" fmla="*/ 3 w 200"/>
                <a:gd name="T3" fmla="*/ 68 h 99"/>
                <a:gd name="T4" fmla="*/ 12 w 200"/>
                <a:gd name="T5" fmla="*/ 51 h 99"/>
                <a:gd name="T6" fmla="*/ 23 w 200"/>
                <a:gd name="T7" fmla="*/ 37 h 99"/>
                <a:gd name="T8" fmla="*/ 35 w 200"/>
                <a:gd name="T9" fmla="*/ 23 h 99"/>
                <a:gd name="T10" fmla="*/ 52 w 200"/>
                <a:gd name="T11" fmla="*/ 11 h 99"/>
                <a:gd name="T12" fmla="*/ 69 w 200"/>
                <a:gd name="T13" fmla="*/ 6 h 99"/>
                <a:gd name="T14" fmla="*/ 89 w 200"/>
                <a:gd name="T15" fmla="*/ 0 h 99"/>
                <a:gd name="T16" fmla="*/ 110 w 200"/>
                <a:gd name="T17" fmla="*/ 0 h 99"/>
                <a:gd name="T18" fmla="*/ 130 w 200"/>
                <a:gd name="T19" fmla="*/ 6 h 99"/>
                <a:gd name="T20" fmla="*/ 147 w 200"/>
                <a:gd name="T21" fmla="*/ 11 h 99"/>
                <a:gd name="T22" fmla="*/ 161 w 200"/>
                <a:gd name="T23" fmla="*/ 23 h 99"/>
                <a:gd name="T24" fmla="*/ 176 w 200"/>
                <a:gd name="T25" fmla="*/ 37 h 99"/>
                <a:gd name="T26" fmla="*/ 187 w 200"/>
                <a:gd name="T27" fmla="*/ 51 h 99"/>
                <a:gd name="T28" fmla="*/ 193 w 200"/>
                <a:gd name="T29" fmla="*/ 68 h 99"/>
                <a:gd name="T30" fmla="*/ 199 w 200"/>
                <a:gd name="T31" fmla="*/ 87 h 99"/>
                <a:gd name="T32" fmla="*/ 190 w 200"/>
                <a:gd name="T33" fmla="*/ 98 h 99"/>
                <a:gd name="T34" fmla="*/ 187 w 200"/>
                <a:gd name="T35" fmla="*/ 78 h 99"/>
                <a:gd name="T36" fmla="*/ 182 w 200"/>
                <a:gd name="T37" fmla="*/ 65 h 99"/>
                <a:gd name="T38" fmla="*/ 173 w 200"/>
                <a:gd name="T39" fmla="*/ 48 h 99"/>
                <a:gd name="T40" fmla="*/ 164 w 200"/>
                <a:gd name="T41" fmla="*/ 34 h 99"/>
                <a:gd name="T42" fmla="*/ 149 w 200"/>
                <a:gd name="T43" fmla="*/ 25 h 99"/>
                <a:gd name="T44" fmla="*/ 133 w 200"/>
                <a:gd name="T45" fmla="*/ 17 h 99"/>
                <a:gd name="T46" fmla="*/ 118 w 200"/>
                <a:gd name="T47" fmla="*/ 11 h 99"/>
                <a:gd name="T48" fmla="*/ 98 w 200"/>
                <a:gd name="T49" fmla="*/ 8 h 99"/>
                <a:gd name="T50" fmla="*/ 81 w 200"/>
                <a:gd name="T51" fmla="*/ 11 h 99"/>
                <a:gd name="T52" fmla="*/ 63 w 200"/>
                <a:gd name="T53" fmla="*/ 17 h 99"/>
                <a:gd name="T54" fmla="*/ 50 w 200"/>
                <a:gd name="T55" fmla="*/ 25 h 99"/>
                <a:gd name="T56" fmla="*/ 35 w 200"/>
                <a:gd name="T57" fmla="*/ 34 h 99"/>
                <a:gd name="T58" fmla="*/ 23 w 200"/>
                <a:gd name="T59" fmla="*/ 48 h 99"/>
                <a:gd name="T60" fmla="*/ 15 w 200"/>
                <a:gd name="T61" fmla="*/ 65 h 99"/>
                <a:gd name="T62" fmla="*/ 9 w 200"/>
                <a:gd name="T63" fmla="*/ 78 h 99"/>
                <a:gd name="T64" fmla="*/ 9 w 200"/>
                <a:gd name="T65" fmla="*/ 98 h 9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0"/>
                <a:gd name="T100" fmla="*/ 0 h 99"/>
                <a:gd name="T101" fmla="*/ 200 w 200"/>
                <a:gd name="T102" fmla="*/ 99 h 9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0" h="99">
                  <a:moveTo>
                    <a:pt x="0" y="98"/>
                  </a:moveTo>
                  <a:lnTo>
                    <a:pt x="0" y="87"/>
                  </a:lnTo>
                  <a:lnTo>
                    <a:pt x="0" y="78"/>
                  </a:lnTo>
                  <a:lnTo>
                    <a:pt x="3" y="68"/>
                  </a:lnTo>
                  <a:lnTo>
                    <a:pt x="6" y="59"/>
                  </a:lnTo>
                  <a:lnTo>
                    <a:pt x="12" y="51"/>
                  </a:lnTo>
                  <a:lnTo>
                    <a:pt x="17" y="42"/>
                  </a:lnTo>
                  <a:lnTo>
                    <a:pt x="23" y="37"/>
                  </a:lnTo>
                  <a:lnTo>
                    <a:pt x="29" y="28"/>
                  </a:lnTo>
                  <a:lnTo>
                    <a:pt x="35" y="23"/>
                  </a:lnTo>
                  <a:lnTo>
                    <a:pt x="44" y="17"/>
                  </a:lnTo>
                  <a:lnTo>
                    <a:pt x="52" y="11"/>
                  </a:lnTo>
                  <a:lnTo>
                    <a:pt x="60" y="8"/>
                  </a:lnTo>
                  <a:lnTo>
                    <a:pt x="69" y="6"/>
                  </a:lnTo>
                  <a:lnTo>
                    <a:pt x="78" y="3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10" y="0"/>
                  </a:lnTo>
                  <a:lnTo>
                    <a:pt x="118" y="3"/>
                  </a:lnTo>
                  <a:lnTo>
                    <a:pt x="130" y="6"/>
                  </a:lnTo>
                  <a:lnTo>
                    <a:pt x="138" y="8"/>
                  </a:lnTo>
                  <a:lnTo>
                    <a:pt x="147" y="11"/>
                  </a:lnTo>
                  <a:lnTo>
                    <a:pt x="155" y="17"/>
                  </a:lnTo>
                  <a:lnTo>
                    <a:pt x="161" y="23"/>
                  </a:lnTo>
                  <a:lnTo>
                    <a:pt x="170" y="28"/>
                  </a:lnTo>
                  <a:lnTo>
                    <a:pt x="176" y="37"/>
                  </a:lnTo>
                  <a:lnTo>
                    <a:pt x="182" y="42"/>
                  </a:lnTo>
                  <a:lnTo>
                    <a:pt x="187" y="51"/>
                  </a:lnTo>
                  <a:lnTo>
                    <a:pt x="190" y="59"/>
                  </a:lnTo>
                  <a:lnTo>
                    <a:pt x="193" y="68"/>
                  </a:lnTo>
                  <a:lnTo>
                    <a:pt x="196" y="78"/>
                  </a:lnTo>
                  <a:lnTo>
                    <a:pt x="199" y="87"/>
                  </a:lnTo>
                  <a:lnTo>
                    <a:pt x="199" y="98"/>
                  </a:lnTo>
                  <a:lnTo>
                    <a:pt x="190" y="98"/>
                  </a:lnTo>
                  <a:lnTo>
                    <a:pt x="190" y="90"/>
                  </a:lnTo>
                  <a:lnTo>
                    <a:pt x="187" y="78"/>
                  </a:lnTo>
                  <a:lnTo>
                    <a:pt x="184" y="71"/>
                  </a:lnTo>
                  <a:lnTo>
                    <a:pt x="182" y="65"/>
                  </a:lnTo>
                  <a:lnTo>
                    <a:pt x="179" y="57"/>
                  </a:lnTo>
                  <a:lnTo>
                    <a:pt x="173" y="48"/>
                  </a:lnTo>
                  <a:lnTo>
                    <a:pt x="170" y="42"/>
                  </a:lnTo>
                  <a:lnTo>
                    <a:pt x="164" y="34"/>
                  </a:lnTo>
                  <a:lnTo>
                    <a:pt x="155" y="28"/>
                  </a:lnTo>
                  <a:lnTo>
                    <a:pt x="149" y="25"/>
                  </a:lnTo>
                  <a:lnTo>
                    <a:pt x="141" y="20"/>
                  </a:lnTo>
                  <a:lnTo>
                    <a:pt x="133" y="17"/>
                  </a:lnTo>
                  <a:lnTo>
                    <a:pt x="127" y="14"/>
                  </a:lnTo>
                  <a:lnTo>
                    <a:pt x="118" y="11"/>
                  </a:lnTo>
                  <a:lnTo>
                    <a:pt x="107" y="8"/>
                  </a:lnTo>
                  <a:lnTo>
                    <a:pt x="98" y="8"/>
                  </a:lnTo>
                  <a:lnTo>
                    <a:pt x="89" y="8"/>
                  </a:lnTo>
                  <a:lnTo>
                    <a:pt x="81" y="11"/>
                  </a:lnTo>
                  <a:lnTo>
                    <a:pt x="72" y="14"/>
                  </a:lnTo>
                  <a:lnTo>
                    <a:pt x="63" y="17"/>
                  </a:lnTo>
                  <a:lnTo>
                    <a:pt x="54" y="20"/>
                  </a:lnTo>
                  <a:lnTo>
                    <a:pt x="50" y="25"/>
                  </a:lnTo>
                  <a:lnTo>
                    <a:pt x="41" y="28"/>
                  </a:lnTo>
                  <a:lnTo>
                    <a:pt x="35" y="34"/>
                  </a:lnTo>
                  <a:lnTo>
                    <a:pt x="29" y="42"/>
                  </a:lnTo>
                  <a:lnTo>
                    <a:pt x="23" y="48"/>
                  </a:lnTo>
                  <a:lnTo>
                    <a:pt x="20" y="57"/>
                  </a:lnTo>
                  <a:lnTo>
                    <a:pt x="15" y="65"/>
                  </a:lnTo>
                  <a:lnTo>
                    <a:pt x="12" y="71"/>
                  </a:lnTo>
                  <a:lnTo>
                    <a:pt x="9" y="78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0" y="98"/>
                  </a:lnTo>
                </a:path>
              </a:pathLst>
            </a:custGeom>
            <a:solidFill>
              <a:srgbClr val="FFE3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3" name="Freeform 187">
              <a:extLst>
                <a:ext uri="{FF2B5EF4-FFF2-40B4-BE49-F238E27FC236}">
                  <a16:creationId xmlns:a16="http://schemas.microsoft.com/office/drawing/2014/main" id="{D592A8F2-F5E6-4F44-A0D3-1DB454B4C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3802"/>
              <a:ext cx="200" cy="96"/>
            </a:xfrm>
            <a:custGeom>
              <a:avLst/>
              <a:gdLst>
                <a:gd name="T0" fmla="*/ 0 w 200"/>
                <a:gd name="T1" fmla="*/ 0 h 96"/>
                <a:gd name="T2" fmla="*/ 0 w 200"/>
                <a:gd name="T3" fmla="*/ 20 h 96"/>
                <a:gd name="T4" fmla="*/ 6 w 200"/>
                <a:gd name="T5" fmla="*/ 37 h 96"/>
                <a:gd name="T6" fmla="*/ 17 w 200"/>
                <a:gd name="T7" fmla="*/ 54 h 96"/>
                <a:gd name="T8" fmla="*/ 29 w 200"/>
                <a:gd name="T9" fmla="*/ 67 h 96"/>
                <a:gd name="T10" fmla="*/ 44 w 200"/>
                <a:gd name="T11" fmla="*/ 78 h 96"/>
                <a:gd name="T12" fmla="*/ 60 w 200"/>
                <a:gd name="T13" fmla="*/ 89 h 96"/>
                <a:gd name="T14" fmla="*/ 78 w 200"/>
                <a:gd name="T15" fmla="*/ 95 h 96"/>
                <a:gd name="T16" fmla="*/ 98 w 200"/>
                <a:gd name="T17" fmla="*/ 95 h 96"/>
                <a:gd name="T18" fmla="*/ 118 w 200"/>
                <a:gd name="T19" fmla="*/ 95 h 96"/>
                <a:gd name="T20" fmla="*/ 138 w 200"/>
                <a:gd name="T21" fmla="*/ 89 h 96"/>
                <a:gd name="T22" fmla="*/ 155 w 200"/>
                <a:gd name="T23" fmla="*/ 78 h 96"/>
                <a:gd name="T24" fmla="*/ 170 w 200"/>
                <a:gd name="T25" fmla="*/ 67 h 96"/>
                <a:gd name="T26" fmla="*/ 182 w 200"/>
                <a:gd name="T27" fmla="*/ 54 h 96"/>
                <a:gd name="T28" fmla="*/ 190 w 200"/>
                <a:gd name="T29" fmla="*/ 37 h 96"/>
                <a:gd name="T30" fmla="*/ 196 w 200"/>
                <a:gd name="T31" fmla="*/ 20 h 96"/>
                <a:gd name="T32" fmla="*/ 199 w 200"/>
                <a:gd name="T33" fmla="*/ 0 h 96"/>
                <a:gd name="T34" fmla="*/ 190 w 200"/>
                <a:gd name="T35" fmla="*/ 8 h 96"/>
                <a:gd name="T36" fmla="*/ 184 w 200"/>
                <a:gd name="T37" fmla="*/ 25 h 96"/>
                <a:gd name="T38" fmla="*/ 179 w 200"/>
                <a:gd name="T39" fmla="*/ 42 h 96"/>
                <a:gd name="T40" fmla="*/ 170 w 200"/>
                <a:gd name="T41" fmla="*/ 55 h 96"/>
                <a:gd name="T42" fmla="*/ 155 w 200"/>
                <a:gd name="T43" fmla="*/ 67 h 96"/>
                <a:gd name="T44" fmla="*/ 141 w 200"/>
                <a:gd name="T45" fmla="*/ 75 h 96"/>
                <a:gd name="T46" fmla="*/ 127 w 200"/>
                <a:gd name="T47" fmla="*/ 84 h 96"/>
                <a:gd name="T48" fmla="*/ 107 w 200"/>
                <a:gd name="T49" fmla="*/ 87 h 96"/>
                <a:gd name="T50" fmla="*/ 89 w 200"/>
                <a:gd name="T51" fmla="*/ 87 h 96"/>
                <a:gd name="T52" fmla="*/ 72 w 200"/>
                <a:gd name="T53" fmla="*/ 84 h 96"/>
                <a:gd name="T54" fmla="*/ 54 w 200"/>
                <a:gd name="T55" fmla="*/ 75 h 96"/>
                <a:gd name="T56" fmla="*/ 41 w 200"/>
                <a:gd name="T57" fmla="*/ 67 h 96"/>
                <a:gd name="T58" fmla="*/ 29 w 200"/>
                <a:gd name="T59" fmla="*/ 55 h 96"/>
                <a:gd name="T60" fmla="*/ 20 w 200"/>
                <a:gd name="T61" fmla="*/ 42 h 96"/>
                <a:gd name="T62" fmla="*/ 12 w 200"/>
                <a:gd name="T63" fmla="*/ 25 h 96"/>
                <a:gd name="T64" fmla="*/ 9 w 200"/>
                <a:gd name="T65" fmla="*/ 8 h 96"/>
                <a:gd name="T66" fmla="*/ 0 w 200"/>
                <a:gd name="T67" fmla="*/ 0 h 9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0"/>
                <a:gd name="T103" fmla="*/ 0 h 96"/>
                <a:gd name="T104" fmla="*/ 200 w 200"/>
                <a:gd name="T105" fmla="*/ 96 h 9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0" h="96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20"/>
                  </a:lnTo>
                  <a:lnTo>
                    <a:pt x="3" y="28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54"/>
                  </a:lnTo>
                  <a:lnTo>
                    <a:pt x="23" y="61"/>
                  </a:lnTo>
                  <a:lnTo>
                    <a:pt x="29" y="67"/>
                  </a:lnTo>
                  <a:lnTo>
                    <a:pt x="35" y="75"/>
                  </a:lnTo>
                  <a:lnTo>
                    <a:pt x="44" y="78"/>
                  </a:lnTo>
                  <a:lnTo>
                    <a:pt x="52" y="84"/>
                  </a:lnTo>
                  <a:lnTo>
                    <a:pt x="60" y="89"/>
                  </a:lnTo>
                  <a:lnTo>
                    <a:pt x="69" y="92"/>
                  </a:lnTo>
                  <a:lnTo>
                    <a:pt x="78" y="95"/>
                  </a:lnTo>
                  <a:lnTo>
                    <a:pt x="89" y="95"/>
                  </a:lnTo>
                  <a:lnTo>
                    <a:pt x="98" y="95"/>
                  </a:lnTo>
                  <a:lnTo>
                    <a:pt x="110" y="95"/>
                  </a:lnTo>
                  <a:lnTo>
                    <a:pt x="118" y="95"/>
                  </a:lnTo>
                  <a:lnTo>
                    <a:pt x="130" y="92"/>
                  </a:lnTo>
                  <a:lnTo>
                    <a:pt x="138" y="89"/>
                  </a:lnTo>
                  <a:lnTo>
                    <a:pt x="147" y="84"/>
                  </a:lnTo>
                  <a:lnTo>
                    <a:pt x="155" y="78"/>
                  </a:lnTo>
                  <a:lnTo>
                    <a:pt x="161" y="75"/>
                  </a:lnTo>
                  <a:lnTo>
                    <a:pt x="170" y="67"/>
                  </a:lnTo>
                  <a:lnTo>
                    <a:pt x="176" y="61"/>
                  </a:lnTo>
                  <a:lnTo>
                    <a:pt x="182" y="54"/>
                  </a:lnTo>
                  <a:lnTo>
                    <a:pt x="187" y="45"/>
                  </a:lnTo>
                  <a:lnTo>
                    <a:pt x="190" y="37"/>
                  </a:lnTo>
                  <a:lnTo>
                    <a:pt x="193" y="28"/>
                  </a:lnTo>
                  <a:lnTo>
                    <a:pt x="196" y="20"/>
                  </a:lnTo>
                  <a:lnTo>
                    <a:pt x="199" y="8"/>
                  </a:lnTo>
                  <a:lnTo>
                    <a:pt x="199" y="0"/>
                  </a:lnTo>
                  <a:lnTo>
                    <a:pt x="190" y="0"/>
                  </a:lnTo>
                  <a:lnTo>
                    <a:pt x="190" y="8"/>
                  </a:lnTo>
                  <a:lnTo>
                    <a:pt x="187" y="17"/>
                  </a:lnTo>
                  <a:lnTo>
                    <a:pt x="184" y="25"/>
                  </a:lnTo>
                  <a:lnTo>
                    <a:pt x="182" y="34"/>
                  </a:lnTo>
                  <a:lnTo>
                    <a:pt x="179" y="42"/>
                  </a:lnTo>
                  <a:lnTo>
                    <a:pt x="173" y="48"/>
                  </a:lnTo>
                  <a:lnTo>
                    <a:pt x="170" y="55"/>
                  </a:lnTo>
                  <a:lnTo>
                    <a:pt x="164" y="61"/>
                  </a:lnTo>
                  <a:lnTo>
                    <a:pt x="155" y="67"/>
                  </a:lnTo>
                  <a:lnTo>
                    <a:pt x="149" y="72"/>
                  </a:lnTo>
                  <a:lnTo>
                    <a:pt x="141" y="75"/>
                  </a:lnTo>
                  <a:lnTo>
                    <a:pt x="133" y="81"/>
                  </a:lnTo>
                  <a:lnTo>
                    <a:pt x="127" y="84"/>
                  </a:lnTo>
                  <a:lnTo>
                    <a:pt x="118" y="87"/>
                  </a:lnTo>
                  <a:lnTo>
                    <a:pt x="107" y="87"/>
                  </a:lnTo>
                  <a:lnTo>
                    <a:pt x="98" y="87"/>
                  </a:lnTo>
                  <a:lnTo>
                    <a:pt x="89" y="87"/>
                  </a:lnTo>
                  <a:lnTo>
                    <a:pt x="81" y="87"/>
                  </a:lnTo>
                  <a:lnTo>
                    <a:pt x="72" y="84"/>
                  </a:lnTo>
                  <a:lnTo>
                    <a:pt x="63" y="81"/>
                  </a:lnTo>
                  <a:lnTo>
                    <a:pt x="54" y="75"/>
                  </a:lnTo>
                  <a:lnTo>
                    <a:pt x="50" y="72"/>
                  </a:lnTo>
                  <a:lnTo>
                    <a:pt x="41" y="67"/>
                  </a:lnTo>
                  <a:lnTo>
                    <a:pt x="35" y="61"/>
                  </a:lnTo>
                  <a:lnTo>
                    <a:pt x="29" y="55"/>
                  </a:lnTo>
                  <a:lnTo>
                    <a:pt x="23" y="48"/>
                  </a:lnTo>
                  <a:lnTo>
                    <a:pt x="20" y="42"/>
                  </a:lnTo>
                  <a:lnTo>
                    <a:pt x="15" y="34"/>
                  </a:lnTo>
                  <a:lnTo>
                    <a:pt x="12" y="25"/>
                  </a:lnTo>
                  <a:lnTo>
                    <a:pt x="9" y="17"/>
                  </a:lnTo>
                  <a:lnTo>
                    <a:pt x="9" y="8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3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4" name="Freeform 188">
              <a:extLst>
                <a:ext uri="{FF2B5EF4-FFF2-40B4-BE49-F238E27FC236}">
                  <a16:creationId xmlns:a16="http://schemas.microsoft.com/office/drawing/2014/main" id="{839174BD-6EDB-4260-B4E7-A01067E81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3707"/>
              <a:ext cx="182" cy="90"/>
            </a:xfrm>
            <a:custGeom>
              <a:avLst/>
              <a:gdLst>
                <a:gd name="T0" fmla="*/ 0 w 182"/>
                <a:gd name="T1" fmla="*/ 81 h 90"/>
                <a:gd name="T2" fmla="*/ 3 w 182"/>
                <a:gd name="T3" fmla="*/ 62 h 90"/>
                <a:gd name="T4" fmla="*/ 12 w 182"/>
                <a:gd name="T5" fmla="*/ 48 h 90"/>
                <a:gd name="T6" fmla="*/ 20 w 182"/>
                <a:gd name="T7" fmla="*/ 34 h 90"/>
                <a:gd name="T8" fmla="*/ 32 w 182"/>
                <a:gd name="T9" fmla="*/ 20 h 90"/>
                <a:gd name="T10" fmla="*/ 45 w 182"/>
                <a:gd name="T11" fmla="*/ 11 h 90"/>
                <a:gd name="T12" fmla="*/ 63 w 182"/>
                <a:gd name="T13" fmla="*/ 6 h 90"/>
                <a:gd name="T14" fmla="*/ 80 w 182"/>
                <a:gd name="T15" fmla="*/ 0 h 90"/>
                <a:gd name="T16" fmla="*/ 98 w 182"/>
                <a:gd name="T17" fmla="*/ 0 h 90"/>
                <a:gd name="T18" fmla="*/ 118 w 182"/>
                <a:gd name="T19" fmla="*/ 6 h 90"/>
                <a:gd name="T20" fmla="*/ 132 w 182"/>
                <a:gd name="T21" fmla="*/ 11 h 90"/>
                <a:gd name="T22" fmla="*/ 146 w 182"/>
                <a:gd name="T23" fmla="*/ 20 h 90"/>
                <a:gd name="T24" fmla="*/ 161 w 182"/>
                <a:gd name="T25" fmla="*/ 34 h 90"/>
                <a:gd name="T26" fmla="*/ 169 w 182"/>
                <a:gd name="T27" fmla="*/ 48 h 90"/>
                <a:gd name="T28" fmla="*/ 175 w 182"/>
                <a:gd name="T29" fmla="*/ 62 h 90"/>
                <a:gd name="T30" fmla="*/ 181 w 182"/>
                <a:gd name="T31" fmla="*/ 81 h 90"/>
                <a:gd name="T32" fmla="*/ 172 w 182"/>
                <a:gd name="T33" fmla="*/ 89 h 90"/>
                <a:gd name="T34" fmla="*/ 169 w 182"/>
                <a:gd name="T35" fmla="*/ 72 h 90"/>
                <a:gd name="T36" fmla="*/ 164 w 182"/>
                <a:gd name="T37" fmla="*/ 59 h 90"/>
                <a:gd name="T38" fmla="*/ 158 w 182"/>
                <a:gd name="T39" fmla="*/ 45 h 90"/>
                <a:gd name="T40" fmla="*/ 146 w 182"/>
                <a:gd name="T41" fmla="*/ 34 h 90"/>
                <a:gd name="T42" fmla="*/ 135 w 182"/>
                <a:gd name="T43" fmla="*/ 22 h 90"/>
                <a:gd name="T44" fmla="*/ 121 w 182"/>
                <a:gd name="T45" fmla="*/ 17 h 90"/>
                <a:gd name="T46" fmla="*/ 106 w 182"/>
                <a:gd name="T47" fmla="*/ 11 h 90"/>
                <a:gd name="T48" fmla="*/ 89 w 182"/>
                <a:gd name="T49" fmla="*/ 8 h 90"/>
                <a:gd name="T50" fmla="*/ 72 w 182"/>
                <a:gd name="T51" fmla="*/ 11 h 90"/>
                <a:gd name="T52" fmla="*/ 57 w 182"/>
                <a:gd name="T53" fmla="*/ 17 h 90"/>
                <a:gd name="T54" fmla="*/ 44 w 182"/>
                <a:gd name="T55" fmla="*/ 22 h 90"/>
                <a:gd name="T56" fmla="*/ 32 w 182"/>
                <a:gd name="T57" fmla="*/ 34 h 90"/>
                <a:gd name="T58" fmla="*/ 23 w 182"/>
                <a:gd name="T59" fmla="*/ 45 h 90"/>
                <a:gd name="T60" fmla="*/ 15 w 182"/>
                <a:gd name="T61" fmla="*/ 59 h 90"/>
                <a:gd name="T62" fmla="*/ 9 w 182"/>
                <a:gd name="T63" fmla="*/ 72 h 90"/>
                <a:gd name="T64" fmla="*/ 9 w 182"/>
                <a:gd name="T65" fmla="*/ 89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2"/>
                <a:gd name="T100" fmla="*/ 0 h 90"/>
                <a:gd name="T101" fmla="*/ 182 w 182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2" h="90">
                  <a:moveTo>
                    <a:pt x="0" y="89"/>
                  </a:moveTo>
                  <a:lnTo>
                    <a:pt x="0" y="81"/>
                  </a:lnTo>
                  <a:lnTo>
                    <a:pt x="0" y="69"/>
                  </a:lnTo>
                  <a:lnTo>
                    <a:pt x="3" y="62"/>
                  </a:lnTo>
                  <a:lnTo>
                    <a:pt x="6" y="56"/>
                  </a:lnTo>
                  <a:lnTo>
                    <a:pt x="12" y="48"/>
                  </a:lnTo>
                  <a:lnTo>
                    <a:pt x="15" y="39"/>
                  </a:lnTo>
                  <a:lnTo>
                    <a:pt x="20" y="34"/>
                  </a:lnTo>
                  <a:lnTo>
                    <a:pt x="26" y="25"/>
                  </a:lnTo>
                  <a:lnTo>
                    <a:pt x="32" y="20"/>
                  </a:lnTo>
                  <a:lnTo>
                    <a:pt x="41" y="17"/>
                  </a:lnTo>
                  <a:lnTo>
                    <a:pt x="45" y="11"/>
                  </a:lnTo>
                  <a:lnTo>
                    <a:pt x="54" y="8"/>
                  </a:lnTo>
                  <a:lnTo>
                    <a:pt x="63" y="6"/>
                  </a:lnTo>
                  <a:lnTo>
                    <a:pt x="72" y="3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9" y="3"/>
                  </a:lnTo>
                  <a:lnTo>
                    <a:pt x="118" y="6"/>
                  </a:lnTo>
                  <a:lnTo>
                    <a:pt x="124" y="8"/>
                  </a:lnTo>
                  <a:lnTo>
                    <a:pt x="132" y="11"/>
                  </a:lnTo>
                  <a:lnTo>
                    <a:pt x="140" y="17"/>
                  </a:lnTo>
                  <a:lnTo>
                    <a:pt x="146" y="20"/>
                  </a:lnTo>
                  <a:lnTo>
                    <a:pt x="155" y="25"/>
                  </a:lnTo>
                  <a:lnTo>
                    <a:pt x="161" y="34"/>
                  </a:lnTo>
                  <a:lnTo>
                    <a:pt x="164" y="39"/>
                  </a:lnTo>
                  <a:lnTo>
                    <a:pt x="169" y="48"/>
                  </a:lnTo>
                  <a:lnTo>
                    <a:pt x="172" y="56"/>
                  </a:lnTo>
                  <a:lnTo>
                    <a:pt x="175" y="62"/>
                  </a:lnTo>
                  <a:lnTo>
                    <a:pt x="178" y="69"/>
                  </a:lnTo>
                  <a:lnTo>
                    <a:pt x="181" y="81"/>
                  </a:lnTo>
                  <a:lnTo>
                    <a:pt x="181" y="89"/>
                  </a:lnTo>
                  <a:lnTo>
                    <a:pt x="172" y="89"/>
                  </a:lnTo>
                  <a:lnTo>
                    <a:pt x="172" y="81"/>
                  </a:lnTo>
                  <a:lnTo>
                    <a:pt x="169" y="72"/>
                  </a:lnTo>
                  <a:lnTo>
                    <a:pt x="166" y="64"/>
                  </a:lnTo>
                  <a:lnTo>
                    <a:pt x="164" y="59"/>
                  </a:lnTo>
                  <a:lnTo>
                    <a:pt x="161" y="51"/>
                  </a:lnTo>
                  <a:lnTo>
                    <a:pt x="158" y="45"/>
                  </a:lnTo>
                  <a:lnTo>
                    <a:pt x="152" y="39"/>
                  </a:lnTo>
                  <a:lnTo>
                    <a:pt x="146" y="34"/>
                  </a:lnTo>
                  <a:lnTo>
                    <a:pt x="140" y="28"/>
                  </a:lnTo>
                  <a:lnTo>
                    <a:pt x="135" y="22"/>
                  </a:lnTo>
                  <a:lnTo>
                    <a:pt x="129" y="20"/>
                  </a:lnTo>
                  <a:lnTo>
                    <a:pt x="121" y="17"/>
                  </a:lnTo>
                  <a:lnTo>
                    <a:pt x="115" y="14"/>
                  </a:lnTo>
                  <a:lnTo>
                    <a:pt x="106" y="11"/>
                  </a:lnTo>
                  <a:lnTo>
                    <a:pt x="98" y="8"/>
                  </a:lnTo>
                  <a:lnTo>
                    <a:pt x="89" y="8"/>
                  </a:lnTo>
                  <a:lnTo>
                    <a:pt x="80" y="8"/>
                  </a:lnTo>
                  <a:lnTo>
                    <a:pt x="72" y="11"/>
                  </a:lnTo>
                  <a:lnTo>
                    <a:pt x="66" y="14"/>
                  </a:lnTo>
                  <a:lnTo>
                    <a:pt x="57" y="17"/>
                  </a:lnTo>
                  <a:lnTo>
                    <a:pt x="51" y="20"/>
                  </a:lnTo>
                  <a:lnTo>
                    <a:pt x="44" y="22"/>
                  </a:lnTo>
                  <a:lnTo>
                    <a:pt x="38" y="28"/>
                  </a:lnTo>
                  <a:lnTo>
                    <a:pt x="32" y="34"/>
                  </a:lnTo>
                  <a:lnTo>
                    <a:pt x="26" y="39"/>
                  </a:lnTo>
                  <a:lnTo>
                    <a:pt x="23" y="45"/>
                  </a:lnTo>
                  <a:lnTo>
                    <a:pt x="17" y="51"/>
                  </a:lnTo>
                  <a:lnTo>
                    <a:pt x="15" y="59"/>
                  </a:lnTo>
                  <a:lnTo>
                    <a:pt x="12" y="64"/>
                  </a:lnTo>
                  <a:lnTo>
                    <a:pt x="9" y="72"/>
                  </a:lnTo>
                  <a:lnTo>
                    <a:pt x="9" y="81"/>
                  </a:lnTo>
                  <a:lnTo>
                    <a:pt x="9" y="89"/>
                  </a:lnTo>
                  <a:lnTo>
                    <a:pt x="0" y="89"/>
                  </a:lnTo>
                </a:path>
              </a:pathLst>
            </a:custGeom>
            <a:solidFill>
              <a:srgbClr val="FFE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5" name="Freeform 189">
              <a:extLst>
                <a:ext uri="{FF2B5EF4-FFF2-40B4-BE49-F238E27FC236}">
                  <a16:creationId xmlns:a16="http://schemas.microsoft.com/office/drawing/2014/main" id="{EA2B1989-5846-486D-817F-4ADCE1B87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3802"/>
              <a:ext cx="182" cy="87"/>
            </a:xfrm>
            <a:custGeom>
              <a:avLst/>
              <a:gdLst>
                <a:gd name="T0" fmla="*/ 0 w 182"/>
                <a:gd name="T1" fmla="*/ 0 h 87"/>
                <a:gd name="T2" fmla="*/ 0 w 182"/>
                <a:gd name="T3" fmla="*/ 17 h 87"/>
                <a:gd name="T4" fmla="*/ 6 w 182"/>
                <a:gd name="T5" fmla="*/ 34 h 87"/>
                <a:gd name="T6" fmla="*/ 15 w 182"/>
                <a:gd name="T7" fmla="*/ 48 h 87"/>
                <a:gd name="T8" fmla="*/ 26 w 182"/>
                <a:gd name="T9" fmla="*/ 61 h 87"/>
                <a:gd name="T10" fmla="*/ 41 w 182"/>
                <a:gd name="T11" fmla="*/ 72 h 87"/>
                <a:gd name="T12" fmla="*/ 54 w 182"/>
                <a:gd name="T13" fmla="*/ 80 h 87"/>
                <a:gd name="T14" fmla="*/ 72 w 182"/>
                <a:gd name="T15" fmla="*/ 86 h 87"/>
                <a:gd name="T16" fmla="*/ 89 w 182"/>
                <a:gd name="T17" fmla="*/ 86 h 87"/>
                <a:gd name="T18" fmla="*/ 109 w 182"/>
                <a:gd name="T19" fmla="*/ 86 h 87"/>
                <a:gd name="T20" fmla="*/ 124 w 182"/>
                <a:gd name="T21" fmla="*/ 80 h 87"/>
                <a:gd name="T22" fmla="*/ 140 w 182"/>
                <a:gd name="T23" fmla="*/ 72 h 87"/>
                <a:gd name="T24" fmla="*/ 155 w 182"/>
                <a:gd name="T25" fmla="*/ 61 h 87"/>
                <a:gd name="T26" fmla="*/ 164 w 182"/>
                <a:gd name="T27" fmla="*/ 48 h 87"/>
                <a:gd name="T28" fmla="*/ 172 w 182"/>
                <a:gd name="T29" fmla="*/ 34 h 87"/>
                <a:gd name="T30" fmla="*/ 178 w 182"/>
                <a:gd name="T31" fmla="*/ 17 h 87"/>
                <a:gd name="T32" fmla="*/ 181 w 182"/>
                <a:gd name="T33" fmla="*/ 0 h 87"/>
                <a:gd name="T34" fmla="*/ 172 w 182"/>
                <a:gd name="T35" fmla="*/ 8 h 87"/>
                <a:gd name="T36" fmla="*/ 166 w 182"/>
                <a:gd name="T37" fmla="*/ 22 h 87"/>
                <a:gd name="T38" fmla="*/ 161 w 182"/>
                <a:gd name="T39" fmla="*/ 36 h 87"/>
                <a:gd name="T40" fmla="*/ 152 w 182"/>
                <a:gd name="T41" fmla="*/ 50 h 87"/>
                <a:gd name="T42" fmla="*/ 140 w 182"/>
                <a:gd name="T43" fmla="*/ 61 h 87"/>
                <a:gd name="T44" fmla="*/ 129 w 182"/>
                <a:gd name="T45" fmla="*/ 69 h 87"/>
                <a:gd name="T46" fmla="*/ 115 w 182"/>
                <a:gd name="T47" fmla="*/ 75 h 87"/>
                <a:gd name="T48" fmla="*/ 98 w 182"/>
                <a:gd name="T49" fmla="*/ 78 h 87"/>
                <a:gd name="T50" fmla="*/ 80 w 182"/>
                <a:gd name="T51" fmla="*/ 78 h 87"/>
                <a:gd name="T52" fmla="*/ 66 w 182"/>
                <a:gd name="T53" fmla="*/ 75 h 87"/>
                <a:gd name="T54" fmla="*/ 51 w 182"/>
                <a:gd name="T55" fmla="*/ 69 h 87"/>
                <a:gd name="T56" fmla="*/ 38 w 182"/>
                <a:gd name="T57" fmla="*/ 61 h 87"/>
                <a:gd name="T58" fmla="*/ 26 w 182"/>
                <a:gd name="T59" fmla="*/ 50 h 87"/>
                <a:gd name="T60" fmla="*/ 17 w 182"/>
                <a:gd name="T61" fmla="*/ 36 h 87"/>
                <a:gd name="T62" fmla="*/ 12 w 182"/>
                <a:gd name="T63" fmla="*/ 22 h 87"/>
                <a:gd name="T64" fmla="*/ 9 w 182"/>
                <a:gd name="T65" fmla="*/ 8 h 87"/>
                <a:gd name="T66" fmla="*/ 0 w 182"/>
                <a:gd name="T67" fmla="*/ 0 h 8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2"/>
                <a:gd name="T103" fmla="*/ 0 h 87"/>
                <a:gd name="T104" fmla="*/ 182 w 182"/>
                <a:gd name="T105" fmla="*/ 87 h 8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2" h="87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3" y="25"/>
                  </a:lnTo>
                  <a:lnTo>
                    <a:pt x="6" y="34"/>
                  </a:lnTo>
                  <a:lnTo>
                    <a:pt x="12" y="42"/>
                  </a:lnTo>
                  <a:lnTo>
                    <a:pt x="15" y="48"/>
                  </a:lnTo>
                  <a:lnTo>
                    <a:pt x="20" y="55"/>
                  </a:lnTo>
                  <a:lnTo>
                    <a:pt x="26" y="61"/>
                  </a:lnTo>
                  <a:lnTo>
                    <a:pt x="32" y="66"/>
                  </a:lnTo>
                  <a:lnTo>
                    <a:pt x="41" y="72"/>
                  </a:lnTo>
                  <a:lnTo>
                    <a:pt x="45" y="75"/>
                  </a:lnTo>
                  <a:lnTo>
                    <a:pt x="54" y="80"/>
                  </a:lnTo>
                  <a:lnTo>
                    <a:pt x="63" y="83"/>
                  </a:lnTo>
                  <a:lnTo>
                    <a:pt x="72" y="86"/>
                  </a:lnTo>
                  <a:lnTo>
                    <a:pt x="80" y="86"/>
                  </a:lnTo>
                  <a:lnTo>
                    <a:pt x="89" y="86"/>
                  </a:lnTo>
                  <a:lnTo>
                    <a:pt x="98" y="86"/>
                  </a:lnTo>
                  <a:lnTo>
                    <a:pt x="109" y="86"/>
                  </a:lnTo>
                  <a:lnTo>
                    <a:pt x="118" y="83"/>
                  </a:lnTo>
                  <a:lnTo>
                    <a:pt x="124" y="80"/>
                  </a:lnTo>
                  <a:lnTo>
                    <a:pt x="132" y="75"/>
                  </a:lnTo>
                  <a:lnTo>
                    <a:pt x="140" y="72"/>
                  </a:lnTo>
                  <a:lnTo>
                    <a:pt x="146" y="66"/>
                  </a:lnTo>
                  <a:lnTo>
                    <a:pt x="155" y="61"/>
                  </a:lnTo>
                  <a:lnTo>
                    <a:pt x="161" y="55"/>
                  </a:lnTo>
                  <a:lnTo>
                    <a:pt x="164" y="48"/>
                  </a:lnTo>
                  <a:lnTo>
                    <a:pt x="169" y="42"/>
                  </a:lnTo>
                  <a:lnTo>
                    <a:pt x="172" y="34"/>
                  </a:lnTo>
                  <a:lnTo>
                    <a:pt x="175" y="25"/>
                  </a:lnTo>
                  <a:lnTo>
                    <a:pt x="178" y="17"/>
                  </a:lnTo>
                  <a:lnTo>
                    <a:pt x="181" y="8"/>
                  </a:lnTo>
                  <a:lnTo>
                    <a:pt x="181" y="0"/>
                  </a:lnTo>
                  <a:lnTo>
                    <a:pt x="172" y="0"/>
                  </a:lnTo>
                  <a:lnTo>
                    <a:pt x="172" y="8"/>
                  </a:lnTo>
                  <a:lnTo>
                    <a:pt x="169" y="17"/>
                  </a:lnTo>
                  <a:lnTo>
                    <a:pt x="166" y="22"/>
                  </a:lnTo>
                  <a:lnTo>
                    <a:pt x="164" y="31"/>
                  </a:lnTo>
                  <a:lnTo>
                    <a:pt x="161" y="36"/>
                  </a:lnTo>
                  <a:lnTo>
                    <a:pt x="158" y="45"/>
                  </a:lnTo>
                  <a:lnTo>
                    <a:pt x="152" y="50"/>
                  </a:lnTo>
                  <a:lnTo>
                    <a:pt x="146" y="55"/>
                  </a:lnTo>
                  <a:lnTo>
                    <a:pt x="140" y="61"/>
                  </a:lnTo>
                  <a:lnTo>
                    <a:pt x="135" y="64"/>
                  </a:lnTo>
                  <a:lnTo>
                    <a:pt x="129" y="69"/>
                  </a:lnTo>
                  <a:lnTo>
                    <a:pt x="121" y="72"/>
                  </a:lnTo>
                  <a:lnTo>
                    <a:pt x="115" y="75"/>
                  </a:lnTo>
                  <a:lnTo>
                    <a:pt x="106" y="78"/>
                  </a:lnTo>
                  <a:lnTo>
                    <a:pt x="98" y="78"/>
                  </a:lnTo>
                  <a:lnTo>
                    <a:pt x="89" y="78"/>
                  </a:lnTo>
                  <a:lnTo>
                    <a:pt x="80" y="78"/>
                  </a:lnTo>
                  <a:lnTo>
                    <a:pt x="72" y="78"/>
                  </a:lnTo>
                  <a:lnTo>
                    <a:pt x="66" y="75"/>
                  </a:lnTo>
                  <a:lnTo>
                    <a:pt x="57" y="72"/>
                  </a:lnTo>
                  <a:lnTo>
                    <a:pt x="51" y="69"/>
                  </a:lnTo>
                  <a:lnTo>
                    <a:pt x="44" y="64"/>
                  </a:lnTo>
                  <a:lnTo>
                    <a:pt x="38" y="61"/>
                  </a:lnTo>
                  <a:lnTo>
                    <a:pt x="32" y="55"/>
                  </a:lnTo>
                  <a:lnTo>
                    <a:pt x="26" y="50"/>
                  </a:lnTo>
                  <a:lnTo>
                    <a:pt x="23" y="45"/>
                  </a:lnTo>
                  <a:lnTo>
                    <a:pt x="17" y="36"/>
                  </a:lnTo>
                  <a:lnTo>
                    <a:pt x="15" y="31"/>
                  </a:lnTo>
                  <a:lnTo>
                    <a:pt x="12" y="22"/>
                  </a:lnTo>
                  <a:lnTo>
                    <a:pt x="9" y="17"/>
                  </a:lnTo>
                  <a:lnTo>
                    <a:pt x="9" y="8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6" name="Freeform 190">
              <a:extLst>
                <a:ext uri="{FF2B5EF4-FFF2-40B4-BE49-F238E27FC236}">
                  <a16:creationId xmlns:a16="http://schemas.microsoft.com/office/drawing/2014/main" id="{7956DF8F-FCA7-4899-85F0-5E7C391DA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3716"/>
              <a:ext cx="164" cy="81"/>
            </a:xfrm>
            <a:custGeom>
              <a:avLst/>
              <a:gdLst>
                <a:gd name="T0" fmla="*/ 0 w 164"/>
                <a:gd name="T1" fmla="*/ 72 h 81"/>
                <a:gd name="T2" fmla="*/ 3 w 164"/>
                <a:gd name="T3" fmla="*/ 55 h 81"/>
                <a:gd name="T4" fmla="*/ 9 w 164"/>
                <a:gd name="T5" fmla="*/ 42 h 81"/>
                <a:gd name="T6" fmla="*/ 17 w 164"/>
                <a:gd name="T7" fmla="*/ 31 h 81"/>
                <a:gd name="T8" fmla="*/ 29 w 164"/>
                <a:gd name="T9" fmla="*/ 20 h 81"/>
                <a:gd name="T10" fmla="*/ 42 w 164"/>
                <a:gd name="T11" fmla="*/ 11 h 81"/>
                <a:gd name="T12" fmla="*/ 57 w 164"/>
                <a:gd name="T13" fmla="*/ 6 h 81"/>
                <a:gd name="T14" fmla="*/ 71 w 164"/>
                <a:gd name="T15" fmla="*/ 0 h 81"/>
                <a:gd name="T16" fmla="*/ 89 w 164"/>
                <a:gd name="T17" fmla="*/ 0 h 81"/>
                <a:gd name="T18" fmla="*/ 106 w 164"/>
                <a:gd name="T19" fmla="*/ 6 h 81"/>
                <a:gd name="T20" fmla="*/ 120 w 164"/>
                <a:gd name="T21" fmla="*/ 11 h 81"/>
                <a:gd name="T22" fmla="*/ 131 w 164"/>
                <a:gd name="T23" fmla="*/ 20 h 81"/>
                <a:gd name="T24" fmla="*/ 143 w 164"/>
                <a:gd name="T25" fmla="*/ 31 h 81"/>
                <a:gd name="T26" fmla="*/ 151 w 164"/>
                <a:gd name="T27" fmla="*/ 42 h 81"/>
                <a:gd name="T28" fmla="*/ 157 w 164"/>
                <a:gd name="T29" fmla="*/ 55 h 81"/>
                <a:gd name="T30" fmla="*/ 163 w 164"/>
                <a:gd name="T31" fmla="*/ 72 h 81"/>
                <a:gd name="T32" fmla="*/ 151 w 164"/>
                <a:gd name="T33" fmla="*/ 80 h 81"/>
                <a:gd name="T34" fmla="*/ 151 w 164"/>
                <a:gd name="T35" fmla="*/ 66 h 81"/>
                <a:gd name="T36" fmla="*/ 146 w 164"/>
                <a:gd name="T37" fmla="*/ 53 h 81"/>
                <a:gd name="T38" fmla="*/ 140 w 164"/>
                <a:gd name="T39" fmla="*/ 42 h 81"/>
                <a:gd name="T40" fmla="*/ 131 w 164"/>
                <a:gd name="T41" fmla="*/ 31 h 81"/>
                <a:gd name="T42" fmla="*/ 120 w 164"/>
                <a:gd name="T43" fmla="*/ 22 h 81"/>
                <a:gd name="T44" fmla="*/ 109 w 164"/>
                <a:gd name="T45" fmla="*/ 17 h 81"/>
                <a:gd name="T46" fmla="*/ 95 w 164"/>
                <a:gd name="T47" fmla="*/ 11 h 81"/>
                <a:gd name="T48" fmla="*/ 80 w 164"/>
                <a:gd name="T49" fmla="*/ 11 h 81"/>
                <a:gd name="T50" fmla="*/ 66 w 164"/>
                <a:gd name="T51" fmla="*/ 11 h 81"/>
                <a:gd name="T52" fmla="*/ 54 w 164"/>
                <a:gd name="T53" fmla="*/ 17 h 81"/>
                <a:gd name="T54" fmla="*/ 40 w 164"/>
                <a:gd name="T55" fmla="*/ 22 h 81"/>
                <a:gd name="T56" fmla="*/ 29 w 164"/>
                <a:gd name="T57" fmla="*/ 31 h 81"/>
                <a:gd name="T58" fmla="*/ 20 w 164"/>
                <a:gd name="T59" fmla="*/ 42 h 81"/>
                <a:gd name="T60" fmla="*/ 14 w 164"/>
                <a:gd name="T61" fmla="*/ 53 h 81"/>
                <a:gd name="T62" fmla="*/ 12 w 164"/>
                <a:gd name="T63" fmla="*/ 66 h 81"/>
                <a:gd name="T64" fmla="*/ 9 w 164"/>
                <a:gd name="T65" fmla="*/ 80 h 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4"/>
                <a:gd name="T100" fmla="*/ 0 h 81"/>
                <a:gd name="T101" fmla="*/ 164 w 164"/>
                <a:gd name="T102" fmla="*/ 81 h 8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4" h="81">
                  <a:moveTo>
                    <a:pt x="0" y="80"/>
                  </a:moveTo>
                  <a:lnTo>
                    <a:pt x="0" y="72"/>
                  </a:lnTo>
                  <a:lnTo>
                    <a:pt x="0" y="63"/>
                  </a:lnTo>
                  <a:lnTo>
                    <a:pt x="3" y="55"/>
                  </a:lnTo>
                  <a:lnTo>
                    <a:pt x="6" y="50"/>
                  </a:lnTo>
                  <a:lnTo>
                    <a:pt x="9" y="42"/>
                  </a:lnTo>
                  <a:lnTo>
                    <a:pt x="14" y="36"/>
                  </a:lnTo>
                  <a:lnTo>
                    <a:pt x="17" y="31"/>
                  </a:lnTo>
                  <a:lnTo>
                    <a:pt x="23" y="25"/>
                  </a:lnTo>
                  <a:lnTo>
                    <a:pt x="29" y="20"/>
                  </a:lnTo>
                  <a:lnTo>
                    <a:pt x="35" y="14"/>
                  </a:lnTo>
                  <a:lnTo>
                    <a:pt x="42" y="11"/>
                  </a:lnTo>
                  <a:lnTo>
                    <a:pt x="48" y="8"/>
                  </a:lnTo>
                  <a:lnTo>
                    <a:pt x="57" y="6"/>
                  </a:lnTo>
                  <a:lnTo>
                    <a:pt x="63" y="3"/>
                  </a:lnTo>
                  <a:lnTo>
                    <a:pt x="71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7" y="3"/>
                  </a:lnTo>
                  <a:lnTo>
                    <a:pt x="106" y="6"/>
                  </a:lnTo>
                  <a:lnTo>
                    <a:pt x="112" y="8"/>
                  </a:lnTo>
                  <a:lnTo>
                    <a:pt x="120" y="11"/>
                  </a:lnTo>
                  <a:lnTo>
                    <a:pt x="125" y="14"/>
                  </a:lnTo>
                  <a:lnTo>
                    <a:pt x="131" y="20"/>
                  </a:lnTo>
                  <a:lnTo>
                    <a:pt x="137" y="25"/>
                  </a:lnTo>
                  <a:lnTo>
                    <a:pt x="143" y="31"/>
                  </a:lnTo>
                  <a:lnTo>
                    <a:pt x="149" y="36"/>
                  </a:lnTo>
                  <a:lnTo>
                    <a:pt x="151" y="42"/>
                  </a:lnTo>
                  <a:lnTo>
                    <a:pt x="154" y="50"/>
                  </a:lnTo>
                  <a:lnTo>
                    <a:pt x="157" y="55"/>
                  </a:lnTo>
                  <a:lnTo>
                    <a:pt x="160" y="63"/>
                  </a:lnTo>
                  <a:lnTo>
                    <a:pt x="163" y="72"/>
                  </a:lnTo>
                  <a:lnTo>
                    <a:pt x="163" y="80"/>
                  </a:lnTo>
                  <a:lnTo>
                    <a:pt x="151" y="80"/>
                  </a:lnTo>
                  <a:lnTo>
                    <a:pt x="151" y="72"/>
                  </a:lnTo>
                  <a:lnTo>
                    <a:pt x="151" y="66"/>
                  </a:lnTo>
                  <a:lnTo>
                    <a:pt x="149" y="58"/>
                  </a:lnTo>
                  <a:lnTo>
                    <a:pt x="146" y="53"/>
                  </a:lnTo>
                  <a:lnTo>
                    <a:pt x="143" y="47"/>
                  </a:lnTo>
                  <a:lnTo>
                    <a:pt x="140" y="42"/>
                  </a:lnTo>
                  <a:lnTo>
                    <a:pt x="137" y="36"/>
                  </a:lnTo>
                  <a:lnTo>
                    <a:pt x="131" y="31"/>
                  </a:lnTo>
                  <a:lnTo>
                    <a:pt x="125" y="25"/>
                  </a:lnTo>
                  <a:lnTo>
                    <a:pt x="120" y="22"/>
                  </a:lnTo>
                  <a:lnTo>
                    <a:pt x="115" y="20"/>
                  </a:lnTo>
                  <a:lnTo>
                    <a:pt x="109" y="17"/>
                  </a:lnTo>
                  <a:lnTo>
                    <a:pt x="103" y="14"/>
                  </a:lnTo>
                  <a:lnTo>
                    <a:pt x="95" y="11"/>
                  </a:lnTo>
                  <a:lnTo>
                    <a:pt x="89" y="11"/>
                  </a:lnTo>
                  <a:lnTo>
                    <a:pt x="80" y="11"/>
                  </a:lnTo>
                  <a:lnTo>
                    <a:pt x="74" y="11"/>
                  </a:lnTo>
                  <a:lnTo>
                    <a:pt x="66" y="11"/>
                  </a:lnTo>
                  <a:lnTo>
                    <a:pt x="60" y="14"/>
                  </a:lnTo>
                  <a:lnTo>
                    <a:pt x="54" y="17"/>
                  </a:lnTo>
                  <a:lnTo>
                    <a:pt x="45" y="20"/>
                  </a:lnTo>
                  <a:lnTo>
                    <a:pt x="40" y="22"/>
                  </a:lnTo>
                  <a:lnTo>
                    <a:pt x="35" y="25"/>
                  </a:lnTo>
                  <a:lnTo>
                    <a:pt x="29" y="31"/>
                  </a:lnTo>
                  <a:lnTo>
                    <a:pt x="26" y="36"/>
                  </a:lnTo>
                  <a:lnTo>
                    <a:pt x="20" y="42"/>
                  </a:lnTo>
                  <a:lnTo>
                    <a:pt x="17" y="47"/>
                  </a:lnTo>
                  <a:lnTo>
                    <a:pt x="14" y="53"/>
                  </a:lnTo>
                  <a:lnTo>
                    <a:pt x="12" y="58"/>
                  </a:lnTo>
                  <a:lnTo>
                    <a:pt x="12" y="66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0" y="80"/>
                  </a:lnTo>
                </a:path>
              </a:pathLst>
            </a:custGeom>
            <a:solidFill>
              <a:srgbClr val="FFE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7" name="Freeform 191">
              <a:extLst>
                <a:ext uri="{FF2B5EF4-FFF2-40B4-BE49-F238E27FC236}">
                  <a16:creationId xmlns:a16="http://schemas.microsoft.com/office/drawing/2014/main" id="{1B7AE9F0-3F60-4F57-BFCE-CAED97B1E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3802"/>
              <a:ext cx="164" cy="78"/>
            </a:xfrm>
            <a:custGeom>
              <a:avLst/>
              <a:gdLst>
                <a:gd name="T0" fmla="*/ 0 w 164"/>
                <a:gd name="T1" fmla="*/ 0 h 78"/>
                <a:gd name="T2" fmla="*/ 0 w 164"/>
                <a:gd name="T3" fmla="*/ 17 h 78"/>
                <a:gd name="T4" fmla="*/ 6 w 164"/>
                <a:gd name="T5" fmla="*/ 31 h 78"/>
                <a:gd name="T6" fmla="*/ 14 w 164"/>
                <a:gd name="T7" fmla="*/ 45 h 78"/>
                <a:gd name="T8" fmla="*/ 23 w 164"/>
                <a:gd name="T9" fmla="*/ 55 h 78"/>
                <a:gd name="T10" fmla="*/ 35 w 164"/>
                <a:gd name="T11" fmla="*/ 63 h 78"/>
                <a:gd name="T12" fmla="*/ 48 w 164"/>
                <a:gd name="T13" fmla="*/ 71 h 78"/>
                <a:gd name="T14" fmla="*/ 63 w 164"/>
                <a:gd name="T15" fmla="*/ 77 h 78"/>
                <a:gd name="T16" fmla="*/ 80 w 164"/>
                <a:gd name="T17" fmla="*/ 77 h 78"/>
                <a:gd name="T18" fmla="*/ 97 w 164"/>
                <a:gd name="T19" fmla="*/ 77 h 78"/>
                <a:gd name="T20" fmla="*/ 112 w 164"/>
                <a:gd name="T21" fmla="*/ 71 h 78"/>
                <a:gd name="T22" fmla="*/ 125 w 164"/>
                <a:gd name="T23" fmla="*/ 63 h 78"/>
                <a:gd name="T24" fmla="*/ 137 w 164"/>
                <a:gd name="T25" fmla="*/ 55 h 78"/>
                <a:gd name="T26" fmla="*/ 149 w 164"/>
                <a:gd name="T27" fmla="*/ 45 h 78"/>
                <a:gd name="T28" fmla="*/ 154 w 164"/>
                <a:gd name="T29" fmla="*/ 31 h 78"/>
                <a:gd name="T30" fmla="*/ 160 w 164"/>
                <a:gd name="T31" fmla="*/ 17 h 78"/>
                <a:gd name="T32" fmla="*/ 163 w 164"/>
                <a:gd name="T33" fmla="*/ 0 h 78"/>
                <a:gd name="T34" fmla="*/ 151 w 164"/>
                <a:gd name="T35" fmla="*/ 6 h 78"/>
                <a:gd name="T36" fmla="*/ 149 w 164"/>
                <a:gd name="T37" fmla="*/ 19 h 78"/>
                <a:gd name="T38" fmla="*/ 143 w 164"/>
                <a:gd name="T39" fmla="*/ 33 h 78"/>
                <a:gd name="T40" fmla="*/ 137 w 164"/>
                <a:gd name="T41" fmla="*/ 45 h 78"/>
                <a:gd name="T42" fmla="*/ 125 w 164"/>
                <a:gd name="T43" fmla="*/ 53 h 78"/>
                <a:gd name="T44" fmla="*/ 115 w 164"/>
                <a:gd name="T45" fmla="*/ 60 h 78"/>
                <a:gd name="T46" fmla="*/ 103 w 164"/>
                <a:gd name="T47" fmla="*/ 66 h 78"/>
                <a:gd name="T48" fmla="*/ 89 w 164"/>
                <a:gd name="T49" fmla="*/ 69 h 78"/>
                <a:gd name="T50" fmla="*/ 74 w 164"/>
                <a:gd name="T51" fmla="*/ 69 h 78"/>
                <a:gd name="T52" fmla="*/ 60 w 164"/>
                <a:gd name="T53" fmla="*/ 66 h 78"/>
                <a:gd name="T54" fmla="*/ 45 w 164"/>
                <a:gd name="T55" fmla="*/ 60 h 78"/>
                <a:gd name="T56" fmla="*/ 35 w 164"/>
                <a:gd name="T57" fmla="*/ 53 h 78"/>
                <a:gd name="T58" fmla="*/ 26 w 164"/>
                <a:gd name="T59" fmla="*/ 45 h 78"/>
                <a:gd name="T60" fmla="*/ 17 w 164"/>
                <a:gd name="T61" fmla="*/ 33 h 78"/>
                <a:gd name="T62" fmla="*/ 12 w 164"/>
                <a:gd name="T63" fmla="*/ 19 h 78"/>
                <a:gd name="T64" fmla="*/ 9 w 164"/>
                <a:gd name="T65" fmla="*/ 6 h 78"/>
                <a:gd name="T66" fmla="*/ 0 w 164"/>
                <a:gd name="T67" fmla="*/ 0 h 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4"/>
                <a:gd name="T103" fmla="*/ 0 h 78"/>
                <a:gd name="T104" fmla="*/ 164 w 164"/>
                <a:gd name="T105" fmla="*/ 78 h 7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4" h="7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3" y="22"/>
                  </a:lnTo>
                  <a:lnTo>
                    <a:pt x="6" y="31"/>
                  </a:lnTo>
                  <a:lnTo>
                    <a:pt x="9" y="36"/>
                  </a:lnTo>
                  <a:lnTo>
                    <a:pt x="14" y="45"/>
                  </a:lnTo>
                  <a:lnTo>
                    <a:pt x="17" y="50"/>
                  </a:lnTo>
                  <a:lnTo>
                    <a:pt x="23" y="55"/>
                  </a:lnTo>
                  <a:lnTo>
                    <a:pt x="29" y="60"/>
                  </a:lnTo>
                  <a:lnTo>
                    <a:pt x="35" y="63"/>
                  </a:lnTo>
                  <a:lnTo>
                    <a:pt x="42" y="69"/>
                  </a:lnTo>
                  <a:lnTo>
                    <a:pt x="48" y="71"/>
                  </a:lnTo>
                  <a:lnTo>
                    <a:pt x="57" y="74"/>
                  </a:lnTo>
                  <a:lnTo>
                    <a:pt x="63" y="77"/>
                  </a:lnTo>
                  <a:lnTo>
                    <a:pt x="71" y="77"/>
                  </a:lnTo>
                  <a:lnTo>
                    <a:pt x="80" y="77"/>
                  </a:lnTo>
                  <a:lnTo>
                    <a:pt x="89" y="77"/>
                  </a:lnTo>
                  <a:lnTo>
                    <a:pt x="97" y="77"/>
                  </a:lnTo>
                  <a:lnTo>
                    <a:pt x="106" y="74"/>
                  </a:lnTo>
                  <a:lnTo>
                    <a:pt x="112" y="71"/>
                  </a:lnTo>
                  <a:lnTo>
                    <a:pt x="120" y="69"/>
                  </a:lnTo>
                  <a:lnTo>
                    <a:pt x="125" y="63"/>
                  </a:lnTo>
                  <a:lnTo>
                    <a:pt x="131" y="60"/>
                  </a:lnTo>
                  <a:lnTo>
                    <a:pt x="137" y="55"/>
                  </a:lnTo>
                  <a:lnTo>
                    <a:pt x="143" y="50"/>
                  </a:lnTo>
                  <a:lnTo>
                    <a:pt x="149" y="45"/>
                  </a:lnTo>
                  <a:lnTo>
                    <a:pt x="151" y="36"/>
                  </a:lnTo>
                  <a:lnTo>
                    <a:pt x="154" y="31"/>
                  </a:lnTo>
                  <a:lnTo>
                    <a:pt x="157" y="22"/>
                  </a:lnTo>
                  <a:lnTo>
                    <a:pt x="160" y="17"/>
                  </a:lnTo>
                  <a:lnTo>
                    <a:pt x="163" y="8"/>
                  </a:lnTo>
                  <a:lnTo>
                    <a:pt x="163" y="0"/>
                  </a:lnTo>
                  <a:lnTo>
                    <a:pt x="151" y="0"/>
                  </a:lnTo>
                  <a:lnTo>
                    <a:pt x="151" y="6"/>
                  </a:lnTo>
                  <a:lnTo>
                    <a:pt x="151" y="14"/>
                  </a:lnTo>
                  <a:lnTo>
                    <a:pt x="149" y="19"/>
                  </a:lnTo>
                  <a:lnTo>
                    <a:pt x="146" y="25"/>
                  </a:lnTo>
                  <a:lnTo>
                    <a:pt x="143" y="33"/>
                  </a:lnTo>
                  <a:lnTo>
                    <a:pt x="140" y="39"/>
                  </a:lnTo>
                  <a:lnTo>
                    <a:pt x="137" y="45"/>
                  </a:lnTo>
                  <a:lnTo>
                    <a:pt x="131" y="50"/>
                  </a:lnTo>
                  <a:lnTo>
                    <a:pt x="125" y="53"/>
                  </a:lnTo>
                  <a:lnTo>
                    <a:pt x="120" y="58"/>
                  </a:lnTo>
                  <a:lnTo>
                    <a:pt x="115" y="60"/>
                  </a:lnTo>
                  <a:lnTo>
                    <a:pt x="109" y="63"/>
                  </a:lnTo>
                  <a:lnTo>
                    <a:pt x="103" y="66"/>
                  </a:lnTo>
                  <a:lnTo>
                    <a:pt x="95" y="66"/>
                  </a:lnTo>
                  <a:lnTo>
                    <a:pt x="89" y="69"/>
                  </a:lnTo>
                  <a:lnTo>
                    <a:pt x="80" y="69"/>
                  </a:lnTo>
                  <a:lnTo>
                    <a:pt x="74" y="69"/>
                  </a:lnTo>
                  <a:lnTo>
                    <a:pt x="66" y="66"/>
                  </a:lnTo>
                  <a:lnTo>
                    <a:pt x="60" y="66"/>
                  </a:lnTo>
                  <a:lnTo>
                    <a:pt x="54" y="63"/>
                  </a:lnTo>
                  <a:lnTo>
                    <a:pt x="45" y="60"/>
                  </a:lnTo>
                  <a:lnTo>
                    <a:pt x="40" y="58"/>
                  </a:lnTo>
                  <a:lnTo>
                    <a:pt x="35" y="53"/>
                  </a:lnTo>
                  <a:lnTo>
                    <a:pt x="29" y="50"/>
                  </a:lnTo>
                  <a:lnTo>
                    <a:pt x="26" y="45"/>
                  </a:lnTo>
                  <a:lnTo>
                    <a:pt x="20" y="39"/>
                  </a:lnTo>
                  <a:lnTo>
                    <a:pt x="17" y="33"/>
                  </a:lnTo>
                  <a:lnTo>
                    <a:pt x="14" y="25"/>
                  </a:lnTo>
                  <a:lnTo>
                    <a:pt x="12" y="19"/>
                  </a:lnTo>
                  <a:lnTo>
                    <a:pt x="12" y="14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8" name="Freeform 192">
              <a:extLst>
                <a:ext uri="{FF2B5EF4-FFF2-40B4-BE49-F238E27FC236}">
                  <a16:creationId xmlns:a16="http://schemas.microsoft.com/office/drawing/2014/main" id="{F61216F4-8968-4E04-A38C-09EB315E9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3728"/>
              <a:ext cx="143" cy="69"/>
            </a:xfrm>
            <a:custGeom>
              <a:avLst/>
              <a:gdLst>
                <a:gd name="T0" fmla="*/ 0 w 143"/>
                <a:gd name="T1" fmla="*/ 60 h 69"/>
                <a:gd name="T2" fmla="*/ 3 w 143"/>
                <a:gd name="T3" fmla="*/ 46 h 69"/>
                <a:gd name="T4" fmla="*/ 9 w 143"/>
                <a:gd name="T5" fmla="*/ 36 h 69"/>
                <a:gd name="T6" fmla="*/ 17 w 143"/>
                <a:gd name="T7" fmla="*/ 25 h 69"/>
                <a:gd name="T8" fmla="*/ 26 w 143"/>
                <a:gd name="T9" fmla="*/ 14 h 69"/>
                <a:gd name="T10" fmla="*/ 36 w 143"/>
                <a:gd name="T11" fmla="*/ 8 h 69"/>
                <a:gd name="T12" fmla="*/ 51 w 143"/>
                <a:gd name="T13" fmla="*/ 3 h 69"/>
                <a:gd name="T14" fmla="*/ 65 w 143"/>
                <a:gd name="T15" fmla="*/ 0 h 69"/>
                <a:gd name="T16" fmla="*/ 80 w 143"/>
                <a:gd name="T17" fmla="*/ 0 h 69"/>
                <a:gd name="T18" fmla="*/ 94 w 143"/>
                <a:gd name="T19" fmla="*/ 3 h 69"/>
                <a:gd name="T20" fmla="*/ 106 w 143"/>
                <a:gd name="T21" fmla="*/ 8 h 69"/>
                <a:gd name="T22" fmla="*/ 116 w 143"/>
                <a:gd name="T23" fmla="*/ 14 h 69"/>
                <a:gd name="T24" fmla="*/ 128 w 143"/>
                <a:gd name="T25" fmla="*/ 25 h 69"/>
                <a:gd name="T26" fmla="*/ 133 w 143"/>
                <a:gd name="T27" fmla="*/ 36 h 69"/>
                <a:gd name="T28" fmla="*/ 139 w 143"/>
                <a:gd name="T29" fmla="*/ 46 h 69"/>
                <a:gd name="T30" fmla="*/ 142 w 143"/>
                <a:gd name="T31" fmla="*/ 60 h 69"/>
                <a:gd name="T32" fmla="*/ 133 w 143"/>
                <a:gd name="T33" fmla="*/ 68 h 69"/>
                <a:gd name="T34" fmla="*/ 133 w 143"/>
                <a:gd name="T35" fmla="*/ 54 h 69"/>
                <a:gd name="T36" fmla="*/ 128 w 143"/>
                <a:gd name="T37" fmla="*/ 43 h 69"/>
                <a:gd name="T38" fmla="*/ 122 w 143"/>
                <a:gd name="T39" fmla="*/ 33 h 69"/>
                <a:gd name="T40" fmla="*/ 116 w 143"/>
                <a:gd name="T41" fmla="*/ 25 h 69"/>
                <a:gd name="T42" fmla="*/ 108 w 143"/>
                <a:gd name="T43" fmla="*/ 19 h 69"/>
                <a:gd name="T44" fmla="*/ 97 w 143"/>
                <a:gd name="T45" fmla="*/ 11 h 69"/>
                <a:gd name="T46" fmla="*/ 85 w 143"/>
                <a:gd name="T47" fmla="*/ 8 h 69"/>
                <a:gd name="T48" fmla="*/ 71 w 143"/>
                <a:gd name="T49" fmla="*/ 8 h 69"/>
                <a:gd name="T50" fmla="*/ 59 w 143"/>
                <a:gd name="T51" fmla="*/ 8 h 69"/>
                <a:gd name="T52" fmla="*/ 48 w 143"/>
                <a:gd name="T53" fmla="*/ 11 h 69"/>
                <a:gd name="T54" fmla="*/ 36 w 143"/>
                <a:gd name="T55" fmla="*/ 19 h 69"/>
                <a:gd name="T56" fmla="*/ 28 w 143"/>
                <a:gd name="T57" fmla="*/ 25 h 69"/>
                <a:gd name="T58" fmla="*/ 20 w 143"/>
                <a:gd name="T59" fmla="*/ 33 h 69"/>
                <a:gd name="T60" fmla="*/ 14 w 143"/>
                <a:gd name="T61" fmla="*/ 43 h 69"/>
                <a:gd name="T62" fmla="*/ 12 w 143"/>
                <a:gd name="T63" fmla="*/ 54 h 69"/>
                <a:gd name="T64" fmla="*/ 9 w 143"/>
                <a:gd name="T65" fmla="*/ 68 h 6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43"/>
                <a:gd name="T100" fmla="*/ 0 h 69"/>
                <a:gd name="T101" fmla="*/ 143 w 143"/>
                <a:gd name="T102" fmla="*/ 69 h 6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43" h="69">
                  <a:moveTo>
                    <a:pt x="0" y="68"/>
                  </a:moveTo>
                  <a:lnTo>
                    <a:pt x="0" y="60"/>
                  </a:lnTo>
                  <a:lnTo>
                    <a:pt x="3" y="54"/>
                  </a:lnTo>
                  <a:lnTo>
                    <a:pt x="3" y="46"/>
                  </a:lnTo>
                  <a:lnTo>
                    <a:pt x="6" y="41"/>
                  </a:lnTo>
                  <a:lnTo>
                    <a:pt x="9" y="36"/>
                  </a:lnTo>
                  <a:lnTo>
                    <a:pt x="12" y="30"/>
                  </a:lnTo>
                  <a:lnTo>
                    <a:pt x="17" y="25"/>
                  </a:lnTo>
                  <a:lnTo>
                    <a:pt x="20" y="19"/>
                  </a:lnTo>
                  <a:lnTo>
                    <a:pt x="26" y="14"/>
                  </a:lnTo>
                  <a:lnTo>
                    <a:pt x="31" y="11"/>
                  </a:lnTo>
                  <a:lnTo>
                    <a:pt x="36" y="8"/>
                  </a:lnTo>
                  <a:lnTo>
                    <a:pt x="45" y="6"/>
                  </a:lnTo>
                  <a:lnTo>
                    <a:pt x="51" y="3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1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4" y="3"/>
                  </a:lnTo>
                  <a:lnTo>
                    <a:pt x="100" y="6"/>
                  </a:lnTo>
                  <a:lnTo>
                    <a:pt x="106" y="8"/>
                  </a:lnTo>
                  <a:lnTo>
                    <a:pt x="110" y="11"/>
                  </a:lnTo>
                  <a:lnTo>
                    <a:pt x="116" y="14"/>
                  </a:lnTo>
                  <a:lnTo>
                    <a:pt x="122" y="19"/>
                  </a:lnTo>
                  <a:lnTo>
                    <a:pt x="128" y="25"/>
                  </a:lnTo>
                  <a:lnTo>
                    <a:pt x="130" y="30"/>
                  </a:lnTo>
                  <a:lnTo>
                    <a:pt x="133" y="36"/>
                  </a:lnTo>
                  <a:lnTo>
                    <a:pt x="136" y="41"/>
                  </a:lnTo>
                  <a:lnTo>
                    <a:pt x="139" y="46"/>
                  </a:lnTo>
                  <a:lnTo>
                    <a:pt x="142" y="54"/>
                  </a:lnTo>
                  <a:lnTo>
                    <a:pt x="142" y="60"/>
                  </a:lnTo>
                  <a:lnTo>
                    <a:pt x="142" y="68"/>
                  </a:lnTo>
                  <a:lnTo>
                    <a:pt x="133" y="68"/>
                  </a:lnTo>
                  <a:lnTo>
                    <a:pt x="133" y="60"/>
                  </a:lnTo>
                  <a:lnTo>
                    <a:pt x="133" y="54"/>
                  </a:lnTo>
                  <a:lnTo>
                    <a:pt x="130" y="49"/>
                  </a:lnTo>
                  <a:lnTo>
                    <a:pt x="128" y="43"/>
                  </a:lnTo>
                  <a:lnTo>
                    <a:pt x="128" y="39"/>
                  </a:lnTo>
                  <a:lnTo>
                    <a:pt x="122" y="33"/>
                  </a:lnTo>
                  <a:lnTo>
                    <a:pt x="119" y="30"/>
                  </a:lnTo>
                  <a:lnTo>
                    <a:pt x="116" y="25"/>
                  </a:lnTo>
                  <a:lnTo>
                    <a:pt x="110" y="22"/>
                  </a:lnTo>
                  <a:lnTo>
                    <a:pt x="108" y="19"/>
                  </a:lnTo>
                  <a:lnTo>
                    <a:pt x="103" y="14"/>
                  </a:lnTo>
                  <a:lnTo>
                    <a:pt x="97" y="11"/>
                  </a:lnTo>
                  <a:lnTo>
                    <a:pt x="91" y="11"/>
                  </a:lnTo>
                  <a:lnTo>
                    <a:pt x="85" y="8"/>
                  </a:lnTo>
                  <a:lnTo>
                    <a:pt x="80" y="8"/>
                  </a:lnTo>
                  <a:lnTo>
                    <a:pt x="71" y="8"/>
                  </a:lnTo>
                  <a:lnTo>
                    <a:pt x="65" y="8"/>
                  </a:lnTo>
                  <a:lnTo>
                    <a:pt x="59" y="8"/>
                  </a:lnTo>
                  <a:lnTo>
                    <a:pt x="54" y="11"/>
                  </a:lnTo>
                  <a:lnTo>
                    <a:pt x="48" y="11"/>
                  </a:lnTo>
                  <a:lnTo>
                    <a:pt x="42" y="14"/>
                  </a:lnTo>
                  <a:lnTo>
                    <a:pt x="36" y="19"/>
                  </a:lnTo>
                  <a:lnTo>
                    <a:pt x="31" y="22"/>
                  </a:lnTo>
                  <a:lnTo>
                    <a:pt x="28" y="25"/>
                  </a:lnTo>
                  <a:lnTo>
                    <a:pt x="23" y="30"/>
                  </a:lnTo>
                  <a:lnTo>
                    <a:pt x="20" y="33"/>
                  </a:lnTo>
                  <a:lnTo>
                    <a:pt x="17" y="39"/>
                  </a:lnTo>
                  <a:lnTo>
                    <a:pt x="14" y="43"/>
                  </a:lnTo>
                  <a:lnTo>
                    <a:pt x="12" y="49"/>
                  </a:lnTo>
                  <a:lnTo>
                    <a:pt x="12" y="54"/>
                  </a:lnTo>
                  <a:lnTo>
                    <a:pt x="9" y="60"/>
                  </a:lnTo>
                  <a:lnTo>
                    <a:pt x="9" y="68"/>
                  </a:lnTo>
                  <a:lnTo>
                    <a:pt x="0" y="68"/>
                  </a:lnTo>
                </a:path>
              </a:pathLst>
            </a:custGeom>
            <a:solidFill>
              <a:srgbClr val="FFED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59" name="Freeform 193">
              <a:extLst>
                <a:ext uri="{FF2B5EF4-FFF2-40B4-BE49-F238E27FC236}">
                  <a16:creationId xmlns:a16="http://schemas.microsoft.com/office/drawing/2014/main" id="{B68025D8-C6CC-4985-B965-5F0F8A33B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3802"/>
              <a:ext cx="143" cy="69"/>
            </a:xfrm>
            <a:custGeom>
              <a:avLst/>
              <a:gdLst>
                <a:gd name="T0" fmla="*/ 0 w 143"/>
                <a:gd name="T1" fmla="*/ 0 h 69"/>
                <a:gd name="T2" fmla="*/ 3 w 143"/>
                <a:gd name="T3" fmla="*/ 14 h 69"/>
                <a:gd name="T4" fmla="*/ 6 w 143"/>
                <a:gd name="T5" fmla="*/ 25 h 69"/>
                <a:gd name="T6" fmla="*/ 12 w 143"/>
                <a:gd name="T7" fmla="*/ 39 h 69"/>
                <a:gd name="T8" fmla="*/ 20 w 143"/>
                <a:gd name="T9" fmla="*/ 50 h 69"/>
                <a:gd name="T10" fmla="*/ 31 w 143"/>
                <a:gd name="T11" fmla="*/ 57 h 69"/>
                <a:gd name="T12" fmla="*/ 45 w 143"/>
                <a:gd name="T13" fmla="*/ 62 h 69"/>
                <a:gd name="T14" fmla="*/ 57 w 143"/>
                <a:gd name="T15" fmla="*/ 65 h 69"/>
                <a:gd name="T16" fmla="*/ 71 w 143"/>
                <a:gd name="T17" fmla="*/ 68 h 69"/>
                <a:gd name="T18" fmla="*/ 85 w 143"/>
                <a:gd name="T19" fmla="*/ 65 h 69"/>
                <a:gd name="T20" fmla="*/ 100 w 143"/>
                <a:gd name="T21" fmla="*/ 62 h 69"/>
                <a:gd name="T22" fmla="*/ 110 w 143"/>
                <a:gd name="T23" fmla="*/ 57 h 69"/>
                <a:gd name="T24" fmla="*/ 122 w 143"/>
                <a:gd name="T25" fmla="*/ 50 h 69"/>
                <a:gd name="T26" fmla="*/ 130 w 143"/>
                <a:gd name="T27" fmla="*/ 39 h 69"/>
                <a:gd name="T28" fmla="*/ 136 w 143"/>
                <a:gd name="T29" fmla="*/ 25 h 69"/>
                <a:gd name="T30" fmla="*/ 142 w 143"/>
                <a:gd name="T31" fmla="*/ 14 h 69"/>
                <a:gd name="T32" fmla="*/ 142 w 143"/>
                <a:gd name="T33" fmla="*/ 0 h 69"/>
                <a:gd name="T34" fmla="*/ 133 w 143"/>
                <a:gd name="T35" fmla="*/ 6 h 69"/>
                <a:gd name="T36" fmla="*/ 130 w 143"/>
                <a:gd name="T37" fmla="*/ 17 h 69"/>
                <a:gd name="T38" fmla="*/ 128 w 143"/>
                <a:gd name="T39" fmla="*/ 28 h 69"/>
                <a:gd name="T40" fmla="*/ 119 w 143"/>
                <a:gd name="T41" fmla="*/ 39 h 69"/>
                <a:gd name="T42" fmla="*/ 110 w 143"/>
                <a:gd name="T43" fmla="*/ 47 h 69"/>
                <a:gd name="T44" fmla="*/ 103 w 143"/>
                <a:gd name="T45" fmla="*/ 52 h 69"/>
                <a:gd name="T46" fmla="*/ 91 w 143"/>
                <a:gd name="T47" fmla="*/ 57 h 69"/>
                <a:gd name="T48" fmla="*/ 80 w 143"/>
                <a:gd name="T49" fmla="*/ 60 h 69"/>
                <a:gd name="T50" fmla="*/ 65 w 143"/>
                <a:gd name="T51" fmla="*/ 60 h 69"/>
                <a:gd name="T52" fmla="*/ 54 w 143"/>
                <a:gd name="T53" fmla="*/ 57 h 69"/>
                <a:gd name="T54" fmla="*/ 42 w 143"/>
                <a:gd name="T55" fmla="*/ 52 h 69"/>
                <a:gd name="T56" fmla="*/ 31 w 143"/>
                <a:gd name="T57" fmla="*/ 47 h 69"/>
                <a:gd name="T58" fmla="*/ 23 w 143"/>
                <a:gd name="T59" fmla="*/ 39 h 69"/>
                <a:gd name="T60" fmla="*/ 17 w 143"/>
                <a:gd name="T61" fmla="*/ 28 h 69"/>
                <a:gd name="T62" fmla="*/ 12 w 143"/>
                <a:gd name="T63" fmla="*/ 17 h 69"/>
                <a:gd name="T64" fmla="*/ 9 w 143"/>
                <a:gd name="T65" fmla="*/ 6 h 69"/>
                <a:gd name="T66" fmla="*/ 0 w 143"/>
                <a:gd name="T67" fmla="*/ 0 h 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43"/>
                <a:gd name="T103" fmla="*/ 0 h 69"/>
                <a:gd name="T104" fmla="*/ 143 w 143"/>
                <a:gd name="T105" fmla="*/ 69 h 6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43" h="69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14"/>
                  </a:lnTo>
                  <a:lnTo>
                    <a:pt x="3" y="19"/>
                  </a:lnTo>
                  <a:lnTo>
                    <a:pt x="6" y="25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7" y="44"/>
                  </a:lnTo>
                  <a:lnTo>
                    <a:pt x="20" y="50"/>
                  </a:lnTo>
                  <a:lnTo>
                    <a:pt x="26" y="52"/>
                  </a:lnTo>
                  <a:lnTo>
                    <a:pt x="31" y="57"/>
                  </a:lnTo>
                  <a:lnTo>
                    <a:pt x="36" y="60"/>
                  </a:lnTo>
                  <a:lnTo>
                    <a:pt x="45" y="62"/>
                  </a:lnTo>
                  <a:lnTo>
                    <a:pt x="51" y="65"/>
                  </a:lnTo>
                  <a:lnTo>
                    <a:pt x="57" y="65"/>
                  </a:lnTo>
                  <a:lnTo>
                    <a:pt x="65" y="68"/>
                  </a:lnTo>
                  <a:lnTo>
                    <a:pt x="71" y="68"/>
                  </a:lnTo>
                  <a:lnTo>
                    <a:pt x="80" y="68"/>
                  </a:lnTo>
                  <a:lnTo>
                    <a:pt x="85" y="65"/>
                  </a:lnTo>
                  <a:lnTo>
                    <a:pt x="94" y="65"/>
                  </a:lnTo>
                  <a:lnTo>
                    <a:pt x="100" y="62"/>
                  </a:lnTo>
                  <a:lnTo>
                    <a:pt x="106" y="60"/>
                  </a:lnTo>
                  <a:lnTo>
                    <a:pt x="110" y="57"/>
                  </a:lnTo>
                  <a:lnTo>
                    <a:pt x="116" y="52"/>
                  </a:lnTo>
                  <a:lnTo>
                    <a:pt x="122" y="50"/>
                  </a:lnTo>
                  <a:lnTo>
                    <a:pt x="128" y="44"/>
                  </a:lnTo>
                  <a:lnTo>
                    <a:pt x="130" y="39"/>
                  </a:lnTo>
                  <a:lnTo>
                    <a:pt x="133" y="33"/>
                  </a:lnTo>
                  <a:lnTo>
                    <a:pt x="136" y="25"/>
                  </a:lnTo>
                  <a:lnTo>
                    <a:pt x="139" y="19"/>
                  </a:lnTo>
                  <a:lnTo>
                    <a:pt x="142" y="14"/>
                  </a:lnTo>
                  <a:lnTo>
                    <a:pt x="142" y="6"/>
                  </a:lnTo>
                  <a:lnTo>
                    <a:pt x="142" y="0"/>
                  </a:lnTo>
                  <a:lnTo>
                    <a:pt x="133" y="0"/>
                  </a:lnTo>
                  <a:lnTo>
                    <a:pt x="133" y="6"/>
                  </a:lnTo>
                  <a:lnTo>
                    <a:pt x="133" y="11"/>
                  </a:lnTo>
                  <a:lnTo>
                    <a:pt x="130" y="17"/>
                  </a:lnTo>
                  <a:lnTo>
                    <a:pt x="128" y="22"/>
                  </a:lnTo>
                  <a:lnTo>
                    <a:pt x="128" y="28"/>
                  </a:lnTo>
                  <a:lnTo>
                    <a:pt x="122" y="33"/>
                  </a:lnTo>
                  <a:lnTo>
                    <a:pt x="119" y="39"/>
                  </a:lnTo>
                  <a:lnTo>
                    <a:pt x="116" y="41"/>
                  </a:lnTo>
                  <a:lnTo>
                    <a:pt x="110" y="47"/>
                  </a:lnTo>
                  <a:lnTo>
                    <a:pt x="108" y="50"/>
                  </a:lnTo>
                  <a:lnTo>
                    <a:pt x="103" y="52"/>
                  </a:lnTo>
                  <a:lnTo>
                    <a:pt x="97" y="54"/>
                  </a:lnTo>
                  <a:lnTo>
                    <a:pt x="91" y="57"/>
                  </a:lnTo>
                  <a:lnTo>
                    <a:pt x="85" y="57"/>
                  </a:lnTo>
                  <a:lnTo>
                    <a:pt x="80" y="60"/>
                  </a:lnTo>
                  <a:lnTo>
                    <a:pt x="71" y="60"/>
                  </a:lnTo>
                  <a:lnTo>
                    <a:pt x="65" y="60"/>
                  </a:lnTo>
                  <a:lnTo>
                    <a:pt x="59" y="57"/>
                  </a:lnTo>
                  <a:lnTo>
                    <a:pt x="54" y="57"/>
                  </a:lnTo>
                  <a:lnTo>
                    <a:pt x="48" y="54"/>
                  </a:lnTo>
                  <a:lnTo>
                    <a:pt x="42" y="52"/>
                  </a:lnTo>
                  <a:lnTo>
                    <a:pt x="36" y="50"/>
                  </a:lnTo>
                  <a:lnTo>
                    <a:pt x="31" y="47"/>
                  </a:lnTo>
                  <a:lnTo>
                    <a:pt x="28" y="41"/>
                  </a:lnTo>
                  <a:lnTo>
                    <a:pt x="23" y="39"/>
                  </a:lnTo>
                  <a:lnTo>
                    <a:pt x="20" y="33"/>
                  </a:lnTo>
                  <a:lnTo>
                    <a:pt x="17" y="28"/>
                  </a:lnTo>
                  <a:lnTo>
                    <a:pt x="14" y="22"/>
                  </a:lnTo>
                  <a:lnTo>
                    <a:pt x="12" y="17"/>
                  </a:lnTo>
                  <a:lnTo>
                    <a:pt x="12" y="11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D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0" name="Freeform 194">
              <a:extLst>
                <a:ext uri="{FF2B5EF4-FFF2-40B4-BE49-F238E27FC236}">
                  <a16:creationId xmlns:a16="http://schemas.microsoft.com/office/drawing/2014/main" id="{DDD5D51C-881F-439C-8C2B-133D51015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3737"/>
              <a:ext cx="125" cy="60"/>
            </a:xfrm>
            <a:custGeom>
              <a:avLst/>
              <a:gdLst>
                <a:gd name="T0" fmla="*/ 0 w 125"/>
                <a:gd name="T1" fmla="*/ 59 h 60"/>
                <a:gd name="T2" fmla="*/ 0 w 125"/>
                <a:gd name="T3" fmla="*/ 51 h 60"/>
                <a:gd name="T4" fmla="*/ 3 w 125"/>
                <a:gd name="T5" fmla="*/ 45 h 60"/>
                <a:gd name="T6" fmla="*/ 3 w 125"/>
                <a:gd name="T7" fmla="*/ 40 h 60"/>
                <a:gd name="T8" fmla="*/ 6 w 125"/>
                <a:gd name="T9" fmla="*/ 34 h 60"/>
                <a:gd name="T10" fmla="*/ 9 w 125"/>
                <a:gd name="T11" fmla="*/ 30 h 60"/>
                <a:gd name="T12" fmla="*/ 11 w 125"/>
                <a:gd name="T13" fmla="*/ 25 h 60"/>
                <a:gd name="T14" fmla="*/ 14 w 125"/>
                <a:gd name="T15" fmla="*/ 22 h 60"/>
                <a:gd name="T16" fmla="*/ 19 w 125"/>
                <a:gd name="T17" fmla="*/ 16 h 60"/>
                <a:gd name="T18" fmla="*/ 22 w 125"/>
                <a:gd name="T19" fmla="*/ 14 h 60"/>
                <a:gd name="T20" fmla="*/ 28 w 125"/>
                <a:gd name="T21" fmla="*/ 11 h 60"/>
                <a:gd name="T22" fmla="*/ 33 w 125"/>
                <a:gd name="T23" fmla="*/ 5 h 60"/>
                <a:gd name="T24" fmla="*/ 39 w 125"/>
                <a:gd name="T25" fmla="*/ 3 h 60"/>
                <a:gd name="T26" fmla="*/ 45 w 125"/>
                <a:gd name="T27" fmla="*/ 3 h 60"/>
                <a:gd name="T28" fmla="*/ 51 w 125"/>
                <a:gd name="T29" fmla="*/ 0 h 60"/>
                <a:gd name="T30" fmla="*/ 56 w 125"/>
                <a:gd name="T31" fmla="*/ 0 h 60"/>
                <a:gd name="T32" fmla="*/ 62 w 125"/>
                <a:gd name="T33" fmla="*/ 0 h 60"/>
                <a:gd name="T34" fmla="*/ 71 w 125"/>
                <a:gd name="T35" fmla="*/ 0 h 60"/>
                <a:gd name="T36" fmla="*/ 76 w 125"/>
                <a:gd name="T37" fmla="*/ 0 h 60"/>
                <a:gd name="T38" fmla="*/ 82 w 125"/>
                <a:gd name="T39" fmla="*/ 3 h 60"/>
                <a:gd name="T40" fmla="*/ 88 w 125"/>
                <a:gd name="T41" fmla="*/ 3 h 60"/>
                <a:gd name="T42" fmla="*/ 93 w 125"/>
                <a:gd name="T43" fmla="*/ 5 h 60"/>
                <a:gd name="T44" fmla="*/ 99 w 125"/>
                <a:gd name="T45" fmla="*/ 11 h 60"/>
                <a:gd name="T46" fmla="*/ 101 w 125"/>
                <a:gd name="T47" fmla="*/ 14 h 60"/>
                <a:gd name="T48" fmla="*/ 107 w 125"/>
                <a:gd name="T49" fmla="*/ 16 h 60"/>
                <a:gd name="T50" fmla="*/ 110 w 125"/>
                <a:gd name="T51" fmla="*/ 22 h 60"/>
                <a:gd name="T52" fmla="*/ 113 w 125"/>
                <a:gd name="T53" fmla="*/ 25 h 60"/>
                <a:gd name="T54" fmla="*/ 118 w 125"/>
                <a:gd name="T55" fmla="*/ 30 h 60"/>
                <a:gd name="T56" fmla="*/ 118 w 125"/>
                <a:gd name="T57" fmla="*/ 34 h 60"/>
                <a:gd name="T58" fmla="*/ 121 w 125"/>
                <a:gd name="T59" fmla="*/ 40 h 60"/>
                <a:gd name="T60" fmla="*/ 124 w 125"/>
                <a:gd name="T61" fmla="*/ 45 h 60"/>
                <a:gd name="T62" fmla="*/ 124 w 125"/>
                <a:gd name="T63" fmla="*/ 51 h 60"/>
                <a:gd name="T64" fmla="*/ 124 w 125"/>
                <a:gd name="T65" fmla="*/ 59 h 60"/>
                <a:gd name="T66" fmla="*/ 115 w 125"/>
                <a:gd name="T67" fmla="*/ 59 h 60"/>
                <a:gd name="T68" fmla="*/ 115 w 125"/>
                <a:gd name="T69" fmla="*/ 48 h 60"/>
                <a:gd name="T70" fmla="*/ 113 w 125"/>
                <a:gd name="T71" fmla="*/ 37 h 60"/>
                <a:gd name="T72" fmla="*/ 107 w 125"/>
                <a:gd name="T73" fmla="*/ 30 h 60"/>
                <a:gd name="T74" fmla="*/ 101 w 125"/>
                <a:gd name="T75" fmla="*/ 22 h 60"/>
                <a:gd name="T76" fmla="*/ 93 w 125"/>
                <a:gd name="T77" fmla="*/ 16 h 60"/>
                <a:gd name="T78" fmla="*/ 85 w 125"/>
                <a:gd name="T79" fmla="*/ 11 h 60"/>
                <a:gd name="T80" fmla="*/ 73 w 125"/>
                <a:gd name="T81" fmla="*/ 8 h 60"/>
                <a:gd name="T82" fmla="*/ 62 w 125"/>
                <a:gd name="T83" fmla="*/ 8 h 60"/>
                <a:gd name="T84" fmla="*/ 51 w 125"/>
                <a:gd name="T85" fmla="*/ 8 h 60"/>
                <a:gd name="T86" fmla="*/ 42 w 125"/>
                <a:gd name="T87" fmla="*/ 11 h 60"/>
                <a:gd name="T88" fmla="*/ 33 w 125"/>
                <a:gd name="T89" fmla="*/ 16 h 60"/>
                <a:gd name="T90" fmla="*/ 25 w 125"/>
                <a:gd name="T91" fmla="*/ 22 h 60"/>
                <a:gd name="T92" fmla="*/ 19 w 125"/>
                <a:gd name="T93" fmla="*/ 30 h 60"/>
                <a:gd name="T94" fmla="*/ 14 w 125"/>
                <a:gd name="T95" fmla="*/ 37 h 60"/>
                <a:gd name="T96" fmla="*/ 11 w 125"/>
                <a:gd name="T97" fmla="*/ 48 h 60"/>
                <a:gd name="T98" fmla="*/ 9 w 125"/>
                <a:gd name="T99" fmla="*/ 59 h 60"/>
                <a:gd name="T100" fmla="*/ 0 w 125"/>
                <a:gd name="T101" fmla="*/ 59 h 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5"/>
                <a:gd name="T154" fmla="*/ 0 h 60"/>
                <a:gd name="T155" fmla="*/ 125 w 125"/>
                <a:gd name="T156" fmla="*/ 60 h 6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5" h="60">
                  <a:moveTo>
                    <a:pt x="0" y="59"/>
                  </a:moveTo>
                  <a:lnTo>
                    <a:pt x="0" y="51"/>
                  </a:lnTo>
                  <a:lnTo>
                    <a:pt x="3" y="45"/>
                  </a:lnTo>
                  <a:lnTo>
                    <a:pt x="3" y="40"/>
                  </a:lnTo>
                  <a:lnTo>
                    <a:pt x="6" y="34"/>
                  </a:lnTo>
                  <a:lnTo>
                    <a:pt x="9" y="30"/>
                  </a:lnTo>
                  <a:lnTo>
                    <a:pt x="11" y="25"/>
                  </a:lnTo>
                  <a:lnTo>
                    <a:pt x="14" y="22"/>
                  </a:lnTo>
                  <a:lnTo>
                    <a:pt x="19" y="16"/>
                  </a:lnTo>
                  <a:lnTo>
                    <a:pt x="22" y="14"/>
                  </a:lnTo>
                  <a:lnTo>
                    <a:pt x="28" y="11"/>
                  </a:lnTo>
                  <a:lnTo>
                    <a:pt x="33" y="5"/>
                  </a:lnTo>
                  <a:lnTo>
                    <a:pt x="39" y="3"/>
                  </a:lnTo>
                  <a:lnTo>
                    <a:pt x="45" y="3"/>
                  </a:lnTo>
                  <a:lnTo>
                    <a:pt x="51" y="0"/>
                  </a:lnTo>
                  <a:lnTo>
                    <a:pt x="56" y="0"/>
                  </a:lnTo>
                  <a:lnTo>
                    <a:pt x="62" y="0"/>
                  </a:lnTo>
                  <a:lnTo>
                    <a:pt x="71" y="0"/>
                  </a:lnTo>
                  <a:lnTo>
                    <a:pt x="76" y="0"/>
                  </a:lnTo>
                  <a:lnTo>
                    <a:pt x="82" y="3"/>
                  </a:lnTo>
                  <a:lnTo>
                    <a:pt x="88" y="3"/>
                  </a:lnTo>
                  <a:lnTo>
                    <a:pt x="93" y="5"/>
                  </a:lnTo>
                  <a:lnTo>
                    <a:pt x="99" y="11"/>
                  </a:lnTo>
                  <a:lnTo>
                    <a:pt x="101" y="14"/>
                  </a:lnTo>
                  <a:lnTo>
                    <a:pt x="107" y="16"/>
                  </a:lnTo>
                  <a:lnTo>
                    <a:pt x="110" y="22"/>
                  </a:lnTo>
                  <a:lnTo>
                    <a:pt x="113" y="25"/>
                  </a:lnTo>
                  <a:lnTo>
                    <a:pt x="118" y="30"/>
                  </a:lnTo>
                  <a:lnTo>
                    <a:pt x="118" y="34"/>
                  </a:lnTo>
                  <a:lnTo>
                    <a:pt x="121" y="40"/>
                  </a:lnTo>
                  <a:lnTo>
                    <a:pt x="124" y="45"/>
                  </a:lnTo>
                  <a:lnTo>
                    <a:pt x="124" y="51"/>
                  </a:lnTo>
                  <a:lnTo>
                    <a:pt x="124" y="59"/>
                  </a:lnTo>
                  <a:lnTo>
                    <a:pt x="115" y="59"/>
                  </a:lnTo>
                  <a:lnTo>
                    <a:pt x="115" y="48"/>
                  </a:lnTo>
                  <a:lnTo>
                    <a:pt x="113" y="37"/>
                  </a:lnTo>
                  <a:lnTo>
                    <a:pt x="107" y="30"/>
                  </a:lnTo>
                  <a:lnTo>
                    <a:pt x="101" y="22"/>
                  </a:lnTo>
                  <a:lnTo>
                    <a:pt x="93" y="16"/>
                  </a:lnTo>
                  <a:lnTo>
                    <a:pt x="85" y="11"/>
                  </a:lnTo>
                  <a:lnTo>
                    <a:pt x="73" y="8"/>
                  </a:lnTo>
                  <a:lnTo>
                    <a:pt x="62" y="8"/>
                  </a:lnTo>
                  <a:lnTo>
                    <a:pt x="51" y="8"/>
                  </a:lnTo>
                  <a:lnTo>
                    <a:pt x="42" y="11"/>
                  </a:lnTo>
                  <a:lnTo>
                    <a:pt x="33" y="16"/>
                  </a:lnTo>
                  <a:lnTo>
                    <a:pt x="25" y="22"/>
                  </a:lnTo>
                  <a:lnTo>
                    <a:pt x="19" y="30"/>
                  </a:lnTo>
                  <a:lnTo>
                    <a:pt x="14" y="37"/>
                  </a:lnTo>
                  <a:lnTo>
                    <a:pt x="11" y="48"/>
                  </a:lnTo>
                  <a:lnTo>
                    <a:pt x="9" y="59"/>
                  </a:lnTo>
                  <a:lnTo>
                    <a:pt x="0" y="59"/>
                  </a:lnTo>
                </a:path>
              </a:pathLst>
            </a:custGeom>
            <a:solidFill>
              <a:srgbClr val="FFF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1" name="Freeform 195">
              <a:extLst>
                <a:ext uri="{FF2B5EF4-FFF2-40B4-BE49-F238E27FC236}">
                  <a16:creationId xmlns:a16="http://schemas.microsoft.com/office/drawing/2014/main" id="{B11AC08D-640C-4F30-B263-8566F52E1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3802"/>
              <a:ext cx="125" cy="60"/>
            </a:xfrm>
            <a:custGeom>
              <a:avLst/>
              <a:gdLst>
                <a:gd name="T0" fmla="*/ 0 w 125"/>
                <a:gd name="T1" fmla="*/ 0 h 60"/>
                <a:gd name="T2" fmla="*/ 0 w 125"/>
                <a:gd name="T3" fmla="*/ 0 h 60"/>
                <a:gd name="T4" fmla="*/ 0 w 125"/>
                <a:gd name="T5" fmla="*/ 5 h 60"/>
                <a:gd name="T6" fmla="*/ 3 w 125"/>
                <a:gd name="T7" fmla="*/ 11 h 60"/>
                <a:gd name="T8" fmla="*/ 3 w 125"/>
                <a:gd name="T9" fmla="*/ 16 h 60"/>
                <a:gd name="T10" fmla="*/ 6 w 125"/>
                <a:gd name="T11" fmla="*/ 22 h 60"/>
                <a:gd name="T12" fmla="*/ 9 w 125"/>
                <a:gd name="T13" fmla="*/ 27 h 60"/>
                <a:gd name="T14" fmla="*/ 11 w 125"/>
                <a:gd name="T15" fmla="*/ 33 h 60"/>
                <a:gd name="T16" fmla="*/ 14 w 125"/>
                <a:gd name="T17" fmla="*/ 38 h 60"/>
                <a:gd name="T18" fmla="*/ 19 w 125"/>
                <a:gd name="T19" fmla="*/ 41 h 60"/>
                <a:gd name="T20" fmla="*/ 22 w 125"/>
                <a:gd name="T21" fmla="*/ 46 h 60"/>
                <a:gd name="T22" fmla="*/ 28 w 125"/>
                <a:gd name="T23" fmla="*/ 49 h 60"/>
                <a:gd name="T24" fmla="*/ 33 w 125"/>
                <a:gd name="T25" fmla="*/ 52 h 60"/>
                <a:gd name="T26" fmla="*/ 39 w 125"/>
                <a:gd name="T27" fmla="*/ 54 h 60"/>
                <a:gd name="T28" fmla="*/ 45 w 125"/>
                <a:gd name="T29" fmla="*/ 56 h 60"/>
                <a:gd name="T30" fmla="*/ 51 w 125"/>
                <a:gd name="T31" fmla="*/ 56 h 60"/>
                <a:gd name="T32" fmla="*/ 56 w 125"/>
                <a:gd name="T33" fmla="*/ 59 h 60"/>
                <a:gd name="T34" fmla="*/ 62 w 125"/>
                <a:gd name="T35" fmla="*/ 59 h 60"/>
                <a:gd name="T36" fmla="*/ 71 w 125"/>
                <a:gd name="T37" fmla="*/ 59 h 60"/>
                <a:gd name="T38" fmla="*/ 76 w 125"/>
                <a:gd name="T39" fmla="*/ 56 h 60"/>
                <a:gd name="T40" fmla="*/ 82 w 125"/>
                <a:gd name="T41" fmla="*/ 56 h 60"/>
                <a:gd name="T42" fmla="*/ 88 w 125"/>
                <a:gd name="T43" fmla="*/ 54 h 60"/>
                <a:gd name="T44" fmla="*/ 93 w 125"/>
                <a:gd name="T45" fmla="*/ 52 h 60"/>
                <a:gd name="T46" fmla="*/ 99 w 125"/>
                <a:gd name="T47" fmla="*/ 49 h 60"/>
                <a:gd name="T48" fmla="*/ 101 w 125"/>
                <a:gd name="T49" fmla="*/ 46 h 60"/>
                <a:gd name="T50" fmla="*/ 107 w 125"/>
                <a:gd name="T51" fmla="*/ 41 h 60"/>
                <a:gd name="T52" fmla="*/ 110 w 125"/>
                <a:gd name="T53" fmla="*/ 38 h 60"/>
                <a:gd name="T54" fmla="*/ 113 w 125"/>
                <a:gd name="T55" fmla="*/ 33 h 60"/>
                <a:gd name="T56" fmla="*/ 118 w 125"/>
                <a:gd name="T57" fmla="*/ 27 h 60"/>
                <a:gd name="T58" fmla="*/ 118 w 125"/>
                <a:gd name="T59" fmla="*/ 22 h 60"/>
                <a:gd name="T60" fmla="*/ 121 w 125"/>
                <a:gd name="T61" fmla="*/ 16 h 60"/>
                <a:gd name="T62" fmla="*/ 124 w 125"/>
                <a:gd name="T63" fmla="*/ 11 h 60"/>
                <a:gd name="T64" fmla="*/ 124 w 125"/>
                <a:gd name="T65" fmla="*/ 5 h 60"/>
                <a:gd name="T66" fmla="*/ 124 w 125"/>
                <a:gd name="T67" fmla="*/ 0 h 60"/>
                <a:gd name="T68" fmla="*/ 115 w 125"/>
                <a:gd name="T69" fmla="*/ 0 h 60"/>
                <a:gd name="T70" fmla="*/ 115 w 125"/>
                <a:gd name="T71" fmla="*/ 11 h 60"/>
                <a:gd name="T72" fmla="*/ 113 w 125"/>
                <a:gd name="T73" fmla="*/ 19 h 60"/>
                <a:gd name="T74" fmla="*/ 107 w 125"/>
                <a:gd name="T75" fmla="*/ 27 h 60"/>
                <a:gd name="T76" fmla="*/ 101 w 125"/>
                <a:gd name="T77" fmla="*/ 35 h 60"/>
                <a:gd name="T78" fmla="*/ 93 w 125"/>
                <a:gd name="T79" fmla="*/ 41 h 60"/>
                <a:gd name="T80" fmla="*/ 85 w 125"/>
                <a:gd name="T81" fmla="*/ 46 h 60"/>
                <a:gd name="T82" fmla="*/ 73 w 125"/>
                <a:gd name="T83" fmla="*/ 49 h 60"/>
                <a:gd name="T84" fmla="*/ 62 w 125"/>
                <a:gd name="T85" fmla="*/ 52 h 60"/>
                <a:gd name="T86" fmla="*/ 51 w 125"/>
                <a:gd name="T87" fmla="*/ 49 h 60"/>
                <a:gd name="T88" fmla="*/ 42 w 125"/>
                <a:gd name="T89" fmla="*/ 46 h 60"/>
                <a:gd name="T90" fmla="*/ 33 w 125"/>
                <a:gd name="T91" fmla="*/ 41 h 60"/>
                <a:gd name="T92" fmla="*/ 25 w 125"/>
                <a:gd name="T93" fmla="*/ 35 h 60"/>
                <a:gd name="T94" fmla="*/ 19 w 125"/>
                <a:gd name="T95" fmla="*/ 27 h 60"/>
                <a:gd name="T96" fmla="*/ 14 w 125"/>
                <a:gd name="T97" fmla="*/ 19 h 60"/>
                <a:gd name="T98" fmla="*/ 11 w 125"/>
                <a:gd name="T99" fmla="*/ 11 h 60"/>
                <a:gd name="T100" fmla="*/ 9 w 125"/>
                <a:gd name="T101" fmla="*/ 0 h 60"/>
                <a:gd name="T102" fmla="*/ 0 w 125"/>
                <a:gd name="T103" fmla="*/ 0 h 6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5"/>
                <a:gd name="T157" fmla="*/ 0 h 60"/>
                <a:gd name="T158" fmla="*/ 125 w 125"/>
                <a:gd name="T159" fmla="*/ 60 h 60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5" h="6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3" y="11"/>
                  </a:lnTo>
                  <a:lnTo>
                    <a:pt x="3" y="16"/>
                  </a:lnTo>
                  <a:lnTo>
                    <a:pt x="6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4" y="38"/>
                  </a:lnTo>
                  <a:lnTo>
                    <a:pt x="19" y="41"/>
                  </a:lnTo>
                  <a:lnTo>
                    <a:pt x="22" y="46"/>
                  </a:lnTo>
                  <a:lnTo>
                    <a:pt x="28" y="49"/>
                  </a:lnTo>
                  <a:lnTo>
                    <a:pt x="33" y="52"/>
                  </a:lnTo>
                  <a:lnTo>
                    <a:pt x="39" y="54"/>
                  </a:lnTo>
                  <a:lnTo>
                    <a:pt x="45" y="56"/>
                  </a:lnTo>
                  <a:lnTo>
                    <a:pt x="51" y="56"/>
                  </a:lnTo>
                  <a:lnTo>
                    <a:pt x="56" y="59"/>
                  </a:lnTo>
                  <a:lnTo>
                    <a:pt x="62" y="59"/>
                  </a:lnTo>
                  <a:lnTo>
                    <a:pt x="71" y="59"/>
                  </a:lnTo>
                  <a:lnTo>
                    <a:pt x="76" y="56"/>
                  </a:lnTo>
                  <a:lnTo>
                    <a:pt x="82" y="56"/>
                  </a:lnTo>
                  <a:lnTo>
                    <a:pt x="88" y="54"/>
                  </a:lnTo>
                  <a:lnTo>
                    <a:pt x="93" y="52"/>
                  </a:lnTo>
                  <a:lnTo>
                    <a:pt x="99" y="49"/>
                  </a:lnTo>
                  <a:lnTo>
                    <a:pt x="101" y="46"/>
                  </a:lnTo>
                  <a:lnTo>
                    <a:pt x="107" y="41"/>
                  </a:lnTo>
                  <a:lnTo>
                    <a:pt x="110" y="38"/>
                  </a:lnTo>
                  <a:lnTo>
                    <a:pt x="113" y="33"/>
                  </a:lnTo>
                  <a:lnTo>
                    <a:pt x="118" y="27"/>
                  </a:lnTo>
                  <a:lnTo>
                    <a:pt x="118" y="22"/>
                  </a:lnTo>
                  <a:lnTo>
                    <a:pt x="121" y="16"/>
                  </a:lnTo>
                  <a:lnTo>
                    <a:pt x="124" y="11"/>
                  </a:lnTo>
                  <a:lnTo>
                    <a:pt x="124" y="5"/>
                  </a:lnTo>
                  <a:lnTo>
                    <a:pt x="124" y="0"/>
                  </a:lnTo>
                  <a:lnTo>
                    <a:pt x="115" y="0"/>
                  </a:lnTo>
                  <a:lnTo>
                    <a:pt x="115" y="11"/>
                  </a:lnTo>
                  <a:lnTo>
                    <a:pt x="113" y="19"/>
                  </a:lnTo>
                  <a:lnTo>
                    <a:pt x="107" y="27"/>
                  </a:lnTo>
                  <a:lnTo>
                    <a:pt x="101" y="35"/>
                  </a:lnTo>
                  <a:lnTo>
                    <a:pt x="93" y="41"/>
                  </a:lnTo>
                  <a:lnTo>
                    <a:pt x="85" y="46"/>
                  </a:lnTo>
                  <a:lnTo>
                    <a:pt x="73" y="49"/>
                  </a:lnTo>
                  <a:lnTo>
                    <a:pt x="62" y="52"/>
                  </a:lnTo>
                  <a:lnTo>
                    <a:pt x="51" y="49"/>
                  </a:lnTo>
                  <a:lnTo>
                    <a:pt x="42" y="46"/>
                  </a:lnTo>
                  <a:lnTo>
                    <a:pt x="33" y="41"/>
                  </a:lnTo>
                  <a:lnTo>
                    <a:pt x="25" y="35"/>
                  </a:lnTo>
                  <a:lnTo>
                    <a:pt x="19" y="27"/>
                  </a:lnTo>
                  <a:lnTo>
                    <a:pt x="14" y="19"/>
                  </a:lnTo>
                  <a:lnTo>
                    <a:pt x="11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F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2" name="Freeform 196">
              <a:extLst>
                <a:ext uri="{FF2B5EF4-FFF2-40B4-BE49-F238E27FC236}">
                  <a16:creationId xmlns:a16="http://schemas.microsoft.com/office/drawing/2014/main" id="{9BACDF9E-B894-4525-8633-5ABD5C9BD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" y="3746"/>
              <a:ext cx="107" cy="51"/>
            </a:xfrm>
            <a:custGeom>
              <a:avLst/>
              <a:gdLst>
                <a:gd name="T0" fmla="*/ 0 w 107"/>
                <a:gd name="T1" fmla="*/ 50 h 51"/>
                <a:gd name="T2" fmla="*/ 3 w 107"/>
                <a:gd name="T3" fmla="*/ 39 h 51"/>
                <a:gd name="T4" fmla="*/ 6 w 107"/>
                <a:gd name="T5" fmla="*/ 29 h 51"/>
                <a:gd name="T6" fmla="*/ 10 w 107"/>
                <a:gd name="T7" fmla="*/ 21 h 51"/>
                <a:gd name="T8" fmla="*/ 16 w 107"/>
                <a:gd name="T9" fmla="*/ 13 h 51"/>
                <a:gd name="T10" fmla="*/ 25 w 107"/>
                <a:gd name="T11" fmla="*/ 8 h 51"/>
                <a:gd name="T12" fmla="*/ 33 w 107"/>
                <a:gd name="T13" fmla="*/ 3 h 51"/>
                <a:gd name="T14" fmla="*/ 42 w 107"/>
                <a:gd name="T15" fmla="*/ 0 h 51"/>
                <a:gd name="T16" fmla="*/ 53 w 107"/>
                <a:gd name="T17" fmla="*/ 0 h 51"/>
                <a:gd name="T18" fmla="*/ 64 w 107"/>
                <a:gd name="T19" fmla="*/ 0 h 51"/>
                <a:gd name="T20" fmla="*/ 76 w 107"/>
                <a:gd name="T21" fmla="*/ 3 h 51"/>
                <a:gd name="T22" fmla="*/ 84 w 107"/>
                <a:gd name="T23" fmla="*/ 8 h 51"/>
                <a:gd name="T24" fmla="*/ 92 w 107"/>
                <a:gd name="T25" fmla="*/ 13 h 51"/>
                <a:gd name="T26" fmla="*/ 97 w 107"/>
                <a:gd name="T27" fmla="*/ 21 h 51"/>
                <a:gd name="T28" fmla="*/ 103 w 107"/>
                <a:gd name="T29" fmla="*/ 29 h 51"/>
                <a:gd name="T30" fmla="*/ 106 w 107"/>
                <a:gd name="T31" fmla="*/ 39 h 51"/>
                <a:gd name="T32" fmla="*/ 106 w 107"/>
                <a:gd name="T33" fmla="*/ 50 h 51"/>
                <a:gd name="T34" fmla="*/ 97 w 107"/>
                <a:gd name="T35" fmla="*/ 50 h 51"/>
                <a:gd name="T36" fmla="*/ 97 w 107"/>
                <a:gd name="T37" fmla="*/ 42 h 51"/>
                <a:gd name="T38" fmla="*/ 95 w 107"/>
                <a:gd name="T39" fmla="*/ 34 h 51"/>
                <a:gd name="T40" fmla="*/ 90 w 107"/>
                <a:gd name="T41" fmla="*/ 26 h 51"/>
                <a:gd name="T42" fmla="*/ 84 w 107"/>
                <a:gd name="T43" fmla="*/ 21 h 51"/>
                <a:gd name="T44" fmla="*/ 79 w 107"/>
                <a:gd name="T45" fmla="*/ 16 h 51"/>
                <a:gd name="T46" fmla="*/ 70 w 107"/>
                <a:gd name="T47" fmla="*/ 11 h 51"/>
                <a:gd name="T48" fmla="*/ 62 w 107"/>
                <a:gd name="T49" fmla="*/ 8 h 51"/>
                <a:gd name="T50" fmla="*/ 53 w 107"/>
                <a:gd name="T51" fmla="*/ 8 h 51"/>
                <a:gd name="T52" fmla="*/ 44 w 107"/>
                <a:gd name="T53" fmla="*/ 8 h 51"/>
                <a:gd name="T54" fmla="*/ 36 w 107"/>
                <a:gd name="T55" fmla="*/ 11 h 51"/>
                <a:gd name="T56" fmla="*/ 27 w 107"/>
                <a:gd name="T57" fmla="*/ 16 h 51"/>
                <a:gd name="T58" fmla="*/ 22 w 107"/>
                <a:gd name="T59" fmla="*/ 21 h 51"/>
                <a:gd name="T60" fmla="*/ 16 w 107"/>
                <a:gd name="T61" fmla="*/ 26 h 51"/>
                <a:gd name="T62" fmla="*/ 13 w 107"/>
                <a:gd name="T63" fmla="*/ 34 h 51"/>
                <a:gd name="T64" fmla="*/ 10 w 107"/>
                <a:gd name="T65" fmla="*/ 42 h 51"/>
                <a:gd name="T66" fmla="*/ 10 w 107"/>
                <a:gd name="T67" fmla="*/ 50 h 51"/>
                <a:gd name="T68" fmla="*/ 0 w 107"/>
                <a:gd name="T69" fmla="*/ 50 h 5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7"/>
                <a:gd name="T106" fmla="*/ 0 h 51"/>
                <a:gd name="T107" fmla="*/ 107 w 107"/>
                <a:gd name="T108" fmla="*/ 51 h 5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7" h="51">
                  <a:moveTo>
                    <a:pt x="0" y="50"/>
                  </a:moveTo>
                  <a:lnTo>
                    <a:pt x="3" y="39"/>
                  </a:lnTo>
                  <a:lnTo>
                    <a:pt x="6" y="29"/>
                  </a:lnTo>
                  <a:lnTo>
                    <a:pt x="10" y="21"/>
                  </a:lnTo>
                  <a:lnTo>
                    <a:pt x="16" y="13"/>
                  </a:lnTo>
                  <a:lnTo>
                    <a:pt x="25" y="8"/>
                  </a:lnTo>
                  <a:lnTo>
                    <a:pt x="33" y="3"/>
                  </a:lnTo>
                  <a:lnTo>
                    <a:pt x="42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6" y="3"/>
                  </a:lnTo>
                  <a:lnTo>
                    <a:pt x="84" y="8"/>
                  </a:lnTo>
                  <a:lnTo>
                    <a:pt x="92" y="13"/>
                  </a:lnTo>
                  <a:lnTo>
                    <a:pt x="97" y="21"/>
                  </a:lnTo>
                  <a:lnTo>
                    <a:pt x="103" y="29"/>
                  </a:lnTo>
                  <a:lnTo>
                    <a:pt x="106" y="39"/>
                  </a:lnTo>
                  <a:lnTo>
                    <a:pt x="106" y="50"/>
                  </a:lnTo>
                  <a:lnTo>
                    <a:pt x="97" y="50"/>
                  </a:lnTo>
                  <a:lnTo>
                    <a:pt x="97" y="42"/>
                  </a:lnTo>
                  <a:lnTo>
                    <a:pt x="95" y="34"/>
                  </a:lnTo>
                  <a:lnTo>
                    <a:pt x="90" y="26"/>
                  </a:lnTo>
                  <a:lnTo>
                    <a:pt x="84" y="21"/>
                  </a:lnTo>
                  <a:lnTo>
                    <a:pt x="79" y="16"/>
                  </a:lnTo>
                  <a:lnTo>
                    <a:pt x="70" y="11"/>
                  </a:lnTo>
                  <a:lnTo>
                    <a:pt x="62" y="8"/>
                  </a:lnTo>
                  <a:lnTo>
                    <a:pt x="53" y="8"/>
                  </a:lnTo>
                  <a:lnTo>
                    <a:pt x="44" y="8"/>
                  </a:lnTo>
                  <a:lnTo>
                    <a:pt x="36" y="11"/>
                  </a:lnTo>
                  <a:lnTo>
                    <a:pt x="27" y="16"/>
                  </a:lnTo>
                  <a:lnTo>
                    <a:pt x="22" y="21"/>
                  </a:lnTo>
                  <a:lnTo>
                    <a:pt x="16" y="26"/>
                  </a:lnTo>
                  <a:lnTo>
                    <a:pt x="13" y="34"/>
                  </a:lnTo>
                  <a:lnTo>
                    <a:pt x="10" y="42"/>
                  </a:lnTo>
                  <a:lnTo>
                    <a:pt x="10" y="50"/>
                  </a:lnTo>
                  <a:lnTo>
                    <a:pt x="0" y="50"/>
                  </a:lnTo>
                </a:path>
              </a:pathLst>
            </a:custGeom>
            <a:solidFill>
              <a:srgbClr val="FFF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3" name="Freeform 197">
              <a:extLst>
                <a:ext uri="{FF2B5EF4-FFF2-40B4-BE49-F238E27FC236}">
                  <a16:creationId xmlns:a16="http://schemas.microsoft.com/office/drawing/2014/main" id="{F650CE66-C0EC-4665-B262-36CDC2974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" y="3802"/>
              <a:ext cx="107" cy="52"/>
            </a:xfrm>
            <a:custGeom>
              <a:avLst/>
              <a:gdLst>
                <a:gd name="T0" fmla="*/ 0 w 107"/>
                <a:gd name="T1" fmla="*/ 0 h 52"/>
                <a:gd name="T2" fmla="*/ 0 w 107"/>
                <a:gd name="T3" fmla="*/ 0 h 52"/>
                <a:gd name="T4" fmla="*/ 3 w 107"/>
                <a:gd name="T5" fmla="*/ 11 h 52"/>
                <a:gd name="T6" fmla="*/ 6 w 107"/>
                <a:gd name="T7" fmla="*/ 19 h 52"/>
                <a:gd name="T8" fmla="*/ 10 w 107"/>
                <a:gd name="T9" fmla="*/ 27 h 52"/>
                <a:gd name="T10" fmla="*/ 16 w 107"/>
                <a:gd name="T11" fmla="*/ 35 h 52"/>
                <a:gd name="T12" fmla="*/ 25 w 107"/>
                <a:gd name="T13" fmla="*/ 40 h 52"/>
                <a:gd name="T14" fmla="*/ 33 w 107"/>
                <a:gd name="T15" fmla="*/ 46 h 52"/>
                <a:gd name="T16" fmla="*/ 42 w 107"/>
                <a:gd name="T17" fmla="*/ 48 h 52"/>
                <a:gd name="T18" fmla="*/ 53 w 107"/>
                <a:gd name="T19" fmla="*/ 51 h 52"/>
                <a:gd name="T20" fmla="*/ 64 w 107"/>
                <a:gd name="T21" fmla="*/ 48 h 52"/>
                <a:gd name="T22" fmla="*/ 76 w 107"/>
                <a:gd name="T23" fmla="*/ 46 h 52"/>
                <a:gd name="T24" fmla="*/ 84 w 107"/>
                <a:gd name="T25" fmla="*/ 40 h 52"/>
                <a:gd name="T26" fmla="*/ 92 w 107"/>
                <a:gd name="T27" fmla="*/ 35 h 52"/>
                <a:gd name="T28" fmla="*/ 97 w 107"/>
                <a:gd name="T29" fmla="*/ 27 h 52"/>
                <a:gd name="T30" fmla="*/ 103 w 107"/>
                <a:gd name="T31" fmla="*/ 19 h 52"/>
                <a:gd name="T32" fmla="*/ 106 w 107"/>
                <a:gd name="T33" fmla="*/ 11 h 52"/>
                <a:gd name="T34" fmla="*/ 106 w 107"/>
                <a:gd name="T35" fmla="*/ 0 h 52"/>
                <a:gd name="T36" fmla="*/ 97 w 107"/>
                <a:gd name="T37" fmla="*/ 0 h 52"/>
                <a:gd name="T38" fmla="*/ 97 w 107"/>
                <a:gd name="T39" fmla="*/ 8 h 52"/>
                <a:gd name="T40" fmla="*/ 95 w 107"/>
                <a:gd name="T41" fmla="*/ 16 h 52"/>
                <a:gd name="T42" fmla="*/ 90 w 107"/>
                <a:gd name="T43" fmla="*/ 24 h 52"/>
                <a:gd name="T44" fmla="*/ 84 w 107"/>
                <a:gd name="T45" fmla="*/ 30 h 52"/>
                <a:gd name="T46" fmla="*/ 79 w 107"/>
                <a:gd name="T47" fmla="*/ 35 h 52"/>
                <a:gd name="T48" fmla="*/ 70 w 107"/>
                <a:gd name="T49" fmla="*/ 38 h 52"/>
                <a:gd name="T50" fmla="*/ 62 w 107"/>
                <a:gd name="T51" fmla="*/ 40 h 52"/>
                <a:gd name="T52" fmla="*/ 53 w 107"/>
                <a:gd name="T53" fmla="*/ 40 h 52"/>
                <a:gd name="T54" fmla="*/ 44 w 107"/>
                <a:gd name="T55" fmla="*/ 40 h 52"/>
                <a:gd name="T56" fmla="*/ 36 w 107"/>
                <a:gd name="T57" fmla="*/ 38 h 52"/>
                <a:gd name="T58" fmla="*/ 27 w 107"/>
                <a:gd name="T59" fmla="*/ 35 h 52"/>
                <a:gd name="T60" fmla="*/ 22 w 107"/>
                <a:gd name="T61" fmla="*/ 30 h 52"/>
                <a:gd name="T62" fmla="*/ 16 w 107"/>
                <a:gd name="T63" fmla="*/ 24 h 52"/>
                <a:gd name="T64" fmla="*/ 13 w 107"/>
                <a:gd name="T65" fmla="*/ 16 h 52"/>
                <a:gd name="T66" fmla="*/ 10 w 107"/>
                <a:gd name="T67" fmla="*/ 8 h 52"/>
                <a:gd name="T68" fmla="*/ 10 w 107"/>
                <a:gd name="T69" fmla="*/ 0 h 52"/>
                <a:gd name="T70" fmla="*/ 0 w 107"/>
                <a:gd name="T71" fmla="*/ 0 h 5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07"/>
                <a:gd name="T109" fmla="*/ 0 h 52"/>
                <a:gd name="T110" fmla="*/ 107 w 107"/>
                <a:gd name="T111" fmla="*/ 52 h 5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07" h="52">
                  <a:moveTo>
                    <a:pt x="0" y="0"/>
                  </a:moveTo>
                  <a:lnTo>
                    <a:pt x="0" y="0"/>
                  </a:lnTo>
                  <a:lnTo>
                    <a:pt x="3" y="11"/>
                  </a:lnTo>
                  <a:lnTo>
                    <a:pt x="6" y="19"/>
                  </a:lnTo>
                  <a:lnTo>
                    <a:pt x="10" y="27"/>
                  </a:lnTo>
                  <a:lnTo>
                    <a:pt x="16" y="35"/>
                  </a:lnTo>
                  <a:lnTo>
                    <a:pt x="25" y="40"/>
                  </a:lnTo>
                  <a:lnTo>
                    <a:pt x="33" y="46"/>
                  </a:lnTo>
                  <a:lnTo>
                    <a:pt x="42" y="48"/>
                  </a:lnTo>
                  <a:lnTo>
                    <a:pt x="53" y="51"/>
                  </a:lnTo>
                  <a:lnTo>
                    <a:pt x="64" y="48"/>
                  </a:lnTo>
                  <a:lnTo>
                    <a:pt x="76" y="46"/>
                  </a:lnTo>
                  <a:lnTo>
                    <a:pt x="84" y="40"/>
                  </a:lnTo>
                  <a:lnTo>
                    <a:pt x="92" y="35"/>
                  </a:lnTo>
                  <a:lnTo>
                    <a:pt x="97" y="27"/>
                  </a:lnTo>
                  <a:lnTo>
                    <a:pt x="103" y="19"/>
                  </a:lnTo>
                  <a:lnTo>
                    <a:pt x="106" y="11"/>
                  </a:lnTo>
                  <a:lnTo>
                    <a:pt x="106" y="0"/>
                  </a:lnTo>
                  <a:lnTo>
                    <a:pt x="97" y="0"/>
                  </a:lnTo>
                  <a:lnTo>
                    <a:pt x="97" y="8"/>
                  </a:lnTo>
                  <a:lnTo>
                    <a:pt x="95" y="16"/>
                  </a:lnTo>
                  <a:lnTo>
                    <a:pt x="90" y="24"/>
                  </a:lnTo>
                  <a:lnTo>
                    <a:pt x="84" y="30"/>
                  </a:lnTo>
                  <a:lnTo>
                    <a:pt x="79" y="35"/>
                  </a:lnTo>
                  <a:lnTo>
                    <a:pt x="70" y="38"/>
                  </a:lnTo>
                  <a:lnTo>
                    <a:pt x="62" y="40"/>
                  </a:lnTo>
                  <a:lnTo>
                    <a:pt x="53" y="40"/>
                  </a:lnTo>
                  <a:lnTo>
                    <a:pt x="44" y="40"/>
                  </a:lnTo>
                  <a:lnTo>
                    <a:pt x="36" y="38"/>
                  </a:lnTo>
                  <a:lnTo>
                    <a:pt x="27" y="35"/>
                  </a:lnTo>
                  <a:lnTo>
                    <a:pt x="22" y="30"/>
                  </a:lnTo>
                  <a:lnTo>
                    <a:pt x="16" y="24"/>
                  </a:lnTo>
                  <a:lnTo>
                    <a:pt x="13" y="16"/>
                  </a:lnTo>
                  <a:lnTo>
                    <a:pt x="10" y="8"/>
                  </a:lnTo>
                  <a:lnTo>
                    <a:pt x="10" y="0"/>
                  </a:lnTo>
                  <a:lnTo>
                    <a:pt x="0" y="0"/>
                  </a:lnTo>
                </a:path>
              </a:pathLst>
            </a:custGeom>
            <a:solidFill>
              <a:srgbClr val="FFF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4" name="Freeform 198">
              <a:extLst>
                <a:ext uri="{FF2B5EF4-FFF2-40B4-BE49-F238E27FC236}">
                  <a16:creationId xmlns:a16="http://schemas.microsoft.com/office/drawing/2014/main" id="{63E2D9AB-4E43-4DF0-919A-E02C46F1D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755"/>
              <a:ext cx="87" cy="42"/>
            </a:xfrm>
            <a:custGeom>
              <a:avLst/>
              <a:gdLst>
                <a:gd name="T0" fmla="*/ 0 w 87"/>
                <a:gd name="T1" fmla="*/ 41 h 42"/>
                <a:gd name="T2" fmla="*/ 0 w 87"/>
                <a:gd name="T3" fmla="*/ 33 h 42"/>
                <a:gd name="T4" fmla="*/ 3 w 87"/>
                <a:gd name="T5" fmla="*/ 25 h 42"/>
                <a:gd name="T6" fmla="*/ 6 w 87"/>
                <a:gd name="T7" fmla="*/ 17 h 42"/>
                <a:gd name="T8" fmla="*/ 11 w 87"/>
                <a:gd name="T9" fmla="*/ 13 h 42"/>
                <a:gd name="T10" fmla="*/ 17 w 87"/>
                <a:gd name="T11" fmla="*/ 8 h 42"/>
                <a:gd name="T12" fmla="*/ 25 w 87"/>
                <a:gd name="T13" fmla="*/ 3 h 42"/>
                <a:gd name="T14" fmla="*/ 34 w 87"/>
                <a:gd name="T15" fmla="*/ 0 h 42"/>
                <a:gd name="T16" fmla="*/ 42 w 87"/>
                <a:gd name="T17" fmla="*/ 0 h 42"/>
                <a:gd name="T18" fmla="*/ 50 w 87"/>
                <a:gd name="T19" fmla="*/ 0 h 42"/>
                <a:gd name="T20" fmla="*/ 59 w 87"/>
                <a:gd name="T21" fmla="*/ 3 h 42"/>
                <a:gd name="T22" fmla="*/ 67 w 87"/>
                <a:gd name="T23" fmla="*/ 8 h 42"/>
                <a:gd name="T24" fmla="*/ 73 w 87"/>
                <a:gd name="T25" fmla="*/ 13 h 42"/>
                <a:gd name="T26" fmla="*/ 79 w 87"/>
                <a:gd name="T27" fmla="*/ 17 h 42"/>
                <a:gd name="T28" fmla="*/ 83 w 87"/>
                <a:gd name="T29" fmla="*/ 25 h 42"/>
                <a:gd name="T30" fmla="*/ 86 w 87"/>
                <a:gd name="T31" fmla="*/ 33 h 42"/>
                <a:gd name="T32" fmla="*/ 86 w 87"/>
                <a:gd name="T33" fmla="*/ 41 h 42"/>
                <a:gd name="T34" fmla="*/ 79 w 87"/>
                <a:gd name="T35" fmla="*/ 41 h 42"/>
                <a:gd name="T36" fmla="*/ 79 w 87"/>
                <a:gd name="T37" fmla="*/ 33 h 42"/>
                <a:gd name="T38" fmla="*/ 76 w 87"/>
                <a:gd name="T39" fmla="*/ 28 h 42"/>
                <a:gd name="T40" fmla="*/ 73 w 87"/>
                <a:gd name="T41" fmla="*/ 23 h 42"/>
                <a:gd name="T42" fmla="*/ 67 w 87"/>
                <a:gd name="T43" fmla="*/ 17 h 42"/>
                <a:gd name="T44" fmla="*/ 62 w 87"/>
                <a:gd name="T45" fmla="*/ 13 h 42"/>
                <a:gd name="T46" fmla="*/ 56 w 87"/>
                <a:gd name="T47" fmla="*/ 10 h 42"/>
                <a:gd name="T48" fmla="*/ 50 w 87"/>
                <a:gd name="T49" fmla="*/ 8 h 42"/>
                <a:gd name="T50" fmla="*/ 42 w 87"/>
                <a:gd name="T51" fmla="*/ 8 h 42"/>
                <a:gd name="T52" fmla="*/ 36 w 87"/>
                <a:gd name="T53" fmla="*/ 8 h 42"/>
                <a:gd name="T54" fmla="*/ 28 w 87"/>
                <a:gd name="T55" fmla="*/ 10 h 42"/>
                <a:gd name="T56" fmla="*/ 22 w 87"/>
                <a:gd name="T57" fmla="*/ 13 h 42"/>
                <a:gd name="T58" fmla="*/ 17 w 87"/>
                <a:gd name="T59" fmla="*/ 17 h 42"/>
                <a:gd name="T60" fmla="*/ 14 w 87"/>
                <a:gd name="T61" fmla="*/ 23 h 42"/>
                <a:gd name="T62" fmla="*/ 11 w 87"/>
                <a:gd name="T63" fmla="*/ 28 h 42"/>
                <a:gd name="T64" fmla="*/ 8 w 87"/>
                <a:gd name="T65" fmla="*/ 33 h 42"/>
                <a:gd name="T66" fmla="*/ 8 w 87"/>
                <a:gd name="T67" fmla="*/ 41 h 42"/>
                <a:gd name="T68" fmla="*/ 0 w 87"/>
                <a:gd name="T69" fmla="*/ 41 h 4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87"/>
                <a:gd name="T106" fmla="*/ 0 h 42"/>
                <a:gd name="T107" fmla="*/ 87 w 87"/>
                <a:gd name="T108" fmla="*/ 42 h 4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87" h="42">
                  <a:moveTo>
                    <a:pt x="0" y="41"/>
                  </a:moveTo>
                  <a:lnTo>
                    <a:pt x="0" y="33"/>
                  </a:lnTo>
                  <a:lnTo>
                    <a:pt x="3" y="25"/>
                  </a:lnTo>
                  <a:lnTo>
                    <a:pt x="6" y="17"/>
                  </a:lnTo>
                  <a:lnTo>
                    <a:pt x="11" y="13"/>
                  </a:lnTo>
                  <a:lnTo>
                    <a:pt x="17" y="8"/>
                  </a:lnTo>
                  <a:lnTo>
                    <a:pt x="25" y="3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50" y="0"/>
                  </a:lnTo>
                  <a:lnTo>
                    <a:pt x="59" y="3"/>
                  </a:lnTo>
                  <a:lnTo>
                    <a:pt x="67" y="8"/>
                  </a:lnTo>
                  <a:lnTo>
                    <a:pt x="73" y="13"/>
                  </a:lnTo>
                  <a:lnTo>
                    <a:pt x="79" y="17"/>
                  </a:lnTo>
                  <a:lnTo>
                    <a:pt x="83" y="25"/>
                  </a:lnTo>
                  <a:lnTo>
                    <a:pt x="86" y="33"/>
                  </a:lnTo>
                  <a:lnTo>
                    <a:pt x="86" y="41"/>
                  </a:lnTo>
                  <a:lnTo>
                    <a:pt x="79" y="41"/>
                  </a:lnTo>
                  <a:lnTo>
                    <a:pt x="79" y="33"/>
                  </a:lnTo>
                  <a:lnTo>
                    <a:pt x="76" y="28"/>
                  </a:lnTo>
                  <a:lnTo>
                    <a:pt x="73" y="23"/>
                  </a:lnTo>
                  <a:lnTo>
                    <a:pt x="67" y="17"/>
                  </a:lnTo>
                  <a:lnTo>
                    <a:pt x="62" y="13"/>
                  </a:lnTo>
                  <a:lnTo>
                    <a:pt x="56" y="10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6" y="8"/>
                  </a:lnTo>
                  <a:lnTo>
                    <a:pt x="28" y="10"/>
                  </a:lnTo>
                  <a:lnTo>
                    <a:pt x="22" y="13"/>
                  </a:lnTo>
                  <a:lnTo>
                    <a:pt x="17" y="17"/>
                  </a:lnTo>
                  <a:lnTo>
                    <a:pt x="14" y="23"/>
                  </a:lnTo>
                  <a:lnTo>
                    <a:pt x="11" y="28"/>
                  </a:lnTo>
                  <a:lnTo>
                    <a:pt x="8" y="33"/>
                  </a:lnTo>
                  <a:lnTo>
                    <a:pt x="8" y="41"/>
                  </a:lnTo>
                  <a:lnTo>
                    <a:pt x="0" y="41"/>
                  </a:lnTo>
                </a:path>
              </a:pathLst>
            </a:custGeom>
            <a:solidFill>
              <a:srgbClr val="FFF5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5" name="Freeform 199">
              <a:extLst>
                <a:ext uri="{FF2B5EF4-FFF2-40B4-BE49-F238E27FC236}">
                  <a16:creationId xmlns:a16="http://schemas.microsoft.com/office/drawing/2014/main" id="{1F4C6067-939F-401D-9932-9D7E62A2D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802"/>
              <a:ext cx="87" cy="40"/>
            </a:xfrm>
            <a:custGeom>
              <a:avLst/>
              <a:gdLst>
                <a:gd name="T0" fmla="*/ 0 w 87"/>
                <a:gd name="T1" fmla="*/ 0 h 40"/>
                <a:gd name="T2" fmla="*/ 0 w 87"/>
                <a:gd name="T3" fmla="*/ 0 h 40"/>
                <a:gd name="T4" fmla="*/ 0 w 87"/>
                <a:gd name="T5" fmla="*/ 8 h 40"/>
                <a:gd name="T6" fmla="*/ 3 w 87"/>
                <a:gd name="T7" fmla="*/ 16 h 40"/>
                <a:gd name="T8" fmla="*/ 6 w 87"/>
                <a:gd name="T9" fmla="*/ 23 h 40"/>
                <a:gd name="T10" fmla="*/ 11 w 87"/>
                <a:gd name="T11" fmla="*/ 29 h 40"/>
                <a:gd name="T12" fmla="*/ 17 w 87"/>
                <a:gd name="T13" fmla="*/ 34 h 40"/>
                <a:gd name="T14" fmla="*/ 25 w 87"/>
                <a:gd name="T15" fmla="*/ 36 h 40"/>
                <a:gd name="T16" fmla="*/ 34 w 87"/>
                <a:gd name="T17" fmla="*/ 39 h 40"/>
                <a:gd name="T18" fmla="*/ 42 w 87"/>
                <a:gd name="T19" fmla="*/ 39 h 40"/>
                <a:gd name="T20" fmla="*/ 50 w 87"/>
                <a:gd name="T21" fmla="*/ 39 h 40"/>
                <a:gd name="T22" fmla="*/ 59 w 87"/>
                <a:gd name="T23" fmla="*/ 36 h 40"/>
                <a:gd name="T24" fmla="*/ 67 w 87"/>
                <a:gd name="T25" fmla="*/ 34 h 40"/>
                <a:gd name="T26" fmla="*/ 73 w 87"/>
                <a:gd name="T27" fmla="*/ 29 h 40"/>
                <a:gd name="T28" fmla="*/ 79 w 87"/>
                <a:gd name="T29" fmla="*/ 23 h 40"/>
                <a:gd name="T30" fmla="*/ 83 w 87"/>
                <a:gd name="T31" fmla="*/ 16 h 40"/>
                <a:gd name="T32" fmla="*/ 86 w 87"/>
                <a:gd name="T33" fmla="*/ 8 h 40"/>
                <a:gd name="T34" fmla="*/ 86 w 87"/>
                <a:gd name="T35" fmla="*/ 0 h 40"/>
                <a:gd name="T36" fmla="*/ 79 w 87"/>
                <a:gd name="T37" fmla="*/ 0 h 40"/>
                <a:gd name="T38" fmla="*/ 79 w 87"/>
                <a:gd name="T39" fmla="*/ 5 h 40"/>
                <a:gd name="T40" fmla="*/ 76 w 87"/>
                <a:gd name="T41" fmla="*/ 13 h 40"/>
                <a:gd name="T42" fmla="*/ 73 w 87"/>
                <a:gd name="T43" fmla="*/ 18 h 40"/>
                <a:gd name="T44" fmla="*/ 67 w 87"/>
                <a:gd name="T45" fmla="*/ 23 h 40"/>
                <a:gd name="T46" fmla="*/ 62 w 87"/>
                <a:gd name="T47" fmla="*/ 26 h 40"/>
                <a:gd name="T48" fmla="*/ 56 w 87"/>
                <a:gd name="T49" fmla="*/ 29 h 40"/>
                <a:gd name="T50" fmla="*/ 50 w 87"/>
                <a:gd name="T51" fmla="*/ 31 h 40"/>
                <a:gd name="T52" fmla="*/ 42 w 87"/>
                <a:gd name="T53" fmla="*/ 31 h 40"/>
                <a:gd name="T54" fmla="*/ 36 w 87"/>
                <a:gd name="T55" fmla="*/ 31 h 40"/>
                <a:gd name="T56" fmla="*/ 28 w 87"/>
                <a:gd name="T57" fmla="*/ 29 h 40"/>
                <a:gd name="T58" fmla="*/ 22 w 87"/>
                <a:gd name="T59" fmla="*/ 26 h 40"/>
                <a:gd name="T60" fmla="*/ 17 w 87"/>
                <a:gd name="T61" fmla="*/ 23 h 40"/>
                <a:gd name="T62" fmla="*/ 14 w 87"/>
                <a:gd name="T63" fmla="*/ 18 h 40"/>
                <a:gd name="T64" fmla="*/ 11 w 87"/>
                <a:gd name="T65" fmla="*/ 13 h 40"/>
                <a:gd name="T66" fmla="*/ 8 w 87"/>
                <a:gd name="T67" fmla="*/ 5 h 40"/>
                <a:gd name="T68" fmla="*/ 8 w 87"/>
                <a:gd name="T69" fmla="*/ 0 h 40"/>
                <a:gd name="T70" fmla="*/ 0 w 87"/>
                <a:gd name="T71" fmla="*/ 0 h 4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7"/>
                <a:gd name="T109" fmla="*/ 0 h 40"/>
                <a:gd name="T110" fmla="*/ 87 w 87"/>
                <a:gd name="T111" fmla="*/ 40 h 4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7" h="40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3" y="16"/>
                  </a:lnTo>
                  <a:lnTo>
                    <a:pt x="6" y="23"/>
                  </a:lnTo>
                  <a:lnTo>
                    <a:pt x="11" y="29"/>
                  </a:lnTo>
                  <a:lnTo>
                    <a:pt x="17" y="34"/>
                  </a:lnTo>
                  <a:lnTo>
                    <a:pt x="25" y="36"/>
                  </a:lnTo>
                  <a:lnTo>
                    <a:pt x="34" y="39"/>
                  </a:lnTo>
                  <a:lnTo>
                    <a:pt x="42" y="39"/>
                  </a:lnTo>
                  <a:lnTo>
                    <a:pt x="50" y="39"/>
                  </a:lnTo>
                  <a:lnTo>
                    <a:pt x="59" y="36"/>
                  </a:lnTo>
                  <a:lnTo>
                    <a:pt x="67" y="34"/>
                  </a:lnTo>
                  <a:lnTo>
                    <a:pt x="73" y="29"/>
                  </a:lnTo>
                  <a:lnTo>
                    <a:pt x="79" y="23"/>
                  </a:lnTo>
                  <a:lnTo>
                    <a:pt x="83" y="16"/>
                  </a:lnTo>
                  <a:lnTo>
                    <a:pt x="86" y="8"/>
                  </a:lnTo>
                  <a:lnTo>
                    <a:pt x="86" y="0"/>
                  </a:lnTo>
                  <a:lnTo>
                    <a:pt x="79" y="0"/>
                  </a:lnTo>
                  <a:lnTo>
                    <a:pt x="79" y="5"/>
                  </a:lnTo>
                  <a:lnTo>
                    <a:pt x="76" y="13"/>
                  </a:lnTo>
                  <a:lnTo>
                    <a:pt x="73" y="18"/>
                  </a:lnTo>
                  <a:lnTo>
                    <a:pt x="67" y="23"/>
                  </a:lnTo>
                  <a:lnTo>
                    <a:pt x="62" y="26"/>
                  </a:lnTo>
                  <a:lnTo>
                    <a:pt x="56" y="29"/>
                  </a:lnTo>
                  <a:lnTo>
                    <a:pt x="50" y="31"/>
                  </a:lnTo>
                  <a:lnTo>
                    <a:pt x="42" y="31"/>
                  </a:lnTo>
                  <a:lnTo>
                    <a:pt x="36" y="31"/>
                  </a:lnTo>
                  <a:lnTo>
                    <a:pt x="28" y="29"/>
                  </a:lnTo>
                  <a:lnTo>
                    <a:pt x="22" y="26"/>
                  </a:lnTo>
                  <a:lnTo>
                    <a:pt x="17" y="23"/>
                  </a:lnTo>
                  <a:lnTo>
                    <a:pt x="14" y="18"/>
                  </a:lnTo>
                  <a:lnTo>
                    <a:pt x="11" y="13"/>
                  </a:lnTo>
                  <a:lnTo>
                    <a:pt x="8" y="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5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6" name="Freeform 200">
              <a:extLst>
                <a:ext uri="{FF2B5EF4-FFF2-40B4-BE49-F238E27FC236}">
                  <a16:creationId xmlns:a16="http://schemas.microsoft.com/office/drawing/2014/main" id="{389CE4C6-5017-4887-A4DE-CEDCF4509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" y="3764"/>
              <a:ext cx="70" cy="33"/>
            </a:xfrm>
            <a:custGeom>
              <a:avLst/>
              <a:gdLst>
                <a:gd name="T0" fmla="*/ 0 w 70"/>
                <a:gd name="T1" fmla="*/ 32 h 33"/>
                <a:gd name="T2" fmla="*/ 0 w 70"/>
                <a:gd name="T3" fmla="*/ 24 h 33"/>
                <a:gd name="T4" fmla="*/ 3 w 70"/>
                <a:gd name="T5" fmla="*/ 19 h 33"/>
                <a:gd name="T6" fmla="*/ 6 w 70"/>
                <a:gd name="T7" fmla="*/ 14 h 33"/>
                <a:gd name="T8" fmla="*/ 8 w 70"/>
                <a:gd name="T9" fmla="*/ 9 h 33"/>
                <a:gd name="T10" fmla="*/ 14 w 70"/>
                <a:gd name="T11" fmla="*/ 5 h 33"/>
                <a:gd name="T12" fmla="*/ 19 w 70"/>
                <a:gd name="T13" fmla="*/ 3 h 33"/>
                <a:gd name="T14" fmla="*/ 28 w 70"/>
                <a:gd name="T15" fmla="*/ 0 h 33"/>
                <a:gd name="T16" fmla="*/ 33 w 70"/>
                <a:gd name="T17" fmla="*/ 0 h 33"/>
                <a:gd name="T18" fmla="*/ 41 w 70"/>
                <a:gd name="T19" fmla="*/ 0 h 33"/>
                <a:gd name="T20" fmla="*/ 47 w 70"/>
                <a:gd name="T21" fmla="*/ 3 h 33"/>
                <a:gd name="T22" fmla="*/ 52 w 70"/>
                <a:gd name="T23" fmla="*/ 5 h 33"/>
                <a:gd name="T24" fmla="*/ 58 w 70"/>
                <a:gd name="T25" fmla="*/ 9 h 33"/>
                <a:gd name="T26" fmla="*/ 63 w 70"/>
                <a:gd name="T27" fmla="*/ 14 h 33"/>
                <a:gd name="T28" fmla="*/ 66 w 70"/>
                <a:gd name="T29" fmla="*/ 19 h 33"/>
                <a:gd name="T30" fmla="*/ 69 w 70"/>
                <a:gd name="T31" fmla="*/ 24 h 33"/>
                <a:gd name="T32" fmla="*/ 69 w 70"/>
                <a:gd name="T33" fmla="*/ 32 h 33"/>
                <a:gd name="T34" fmla="*/ 61 w 70"/>
                <a:gd name="T35" fmla="*/ 32 h 33"/>
                <a:gd name="T36" fmla="*/ 58 w 70"/>
                <a:gd name="T37" fmla="*/ 27 h 33"/>
                <a:gd name="T38" fmla="*/ 58 w 70"/>
                <a:gd name="T39" fmla="*/ 22 h 33"/>
                <a:gd name="T40" fmla="*/ 55 w 70"/>
                <a:gd name="T41" fmla="*/ 17 h 33"/>
                <a:gd name="T42" fmla="*/ 52 w 70"/>
                <a:gd name="T43" fmla="*/ 14 h 33"/>
                <a:gd name="T44" fmla="*/ 50 w 70"/>
                <a:gd name="T45" fmla="*/ 12 h 33"/>
                <a:gd name="T46" fmla="*/ 44 w 70"/>
                <a:gd name="T47" fmla="*/ 9 h 33"/>
                <a:gd name="T48" fmla="*/ 39 w 70"/>
                <a:gd name="T49" fmla="*/ 9 h 33"/>
                <a:gd name="T50" fmla="*/ 33 w 70"/>
                <a:gd name="T51" fmla="*/ 8 h 33"/>
                <a:gd name="T52" fmla="*/ 28 w 70"/>
                <a:gd name="T53" fmla="*/ 9 h 33"/>
                <a:gd name="T54" fmla="*/ 25 w 70"/>
                <a:gd name="T55" fmla="*/ 9 h 33"/>
                <a:gd name="T56" fmla="*/ 19 w 70"/>
                <a:gd name="T57" fmla="*/ 12 h 33"/>
                <a:gd name="T58" fmla="*/ 17 w 70"/>
                <a:gd name="T59" fmla="*/ 14 h 33"/>
                <a:gd name="T60" fmla="*/ 11 w 70"/>
                <a:gd name="T61" fmla="*/ 17 h 33"/>
                <a:gd name="T62" fmla="*/ 8 w 70"/>
                <a:gd name="T63" fmla="*/ 22 h 33"/>
                <a:gd name="T64" fmla="*/ 8 w 70"/>
                <a:gd name="T65" fmla="*/ 27 h 33"/>
                <a:gd name="T66" fmla="*/ 8 w 70"/>
                <a:gd name="T67" fmla="*/ 32 h 33"/>
                <a:gd name="T68" fmla="*/ 0 w 70"/>
                <a:gd name="T69" fmla="*/ 32 h 3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70"/>
                <a:gd name="T106" fmla="*/ 0 h 33"/>
                <a:gd name="T107" fmla="*/ 70 w 70"/>
                <a:gd name="T108" fmla="*/ 33 h 3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70" h="33">
                  <a:moveTo>
                    <a:pt x="0" y="32"/>
                  </a:moveTo>
                  <a:lnTo>
                    <a:pt x="0" y="24"/>
                  </a:lnTo>
                  <a:lnTo>
                    <a:pt x="3" y="19"/>
                  </a:lnTo>
                  <a:lnTo>
                    <a:pt x="6" y="14"/>
                  </a:lnTo>
                  <a:lnTo>
                    <a:pt x="8" y="9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41" y="0"/>
                  </a:lnTo>
                  <a:lnTo>
                    <a:pt x="47" y="3"/>
                  </a:lnTo>
                  <a:lnTo>
                    <a:pt x="52" y="5"/>
                  </a:lnTo>
                  <a:lnTo>
                    <a:pt x="58" y="9"/>
                  </a:lnTo>
                  <a:lnTo>
                    <a:pt x="63" y="14"/>
                  </a:lnTo>
                  <a:lnTo>
                    <a:pt x="66" y="19"/>
                  </a:lnTo>
                  <a:lnTo>
                    <a:pt x="69" y="24"/>
                  </a:lnTo>
                  <a:lnTo>
                    <a:pt x="69" y="32"/>
                  </a:lnTo>
                  <a:lnTo>
                    <a:pt x="61" y="32"/>
                  </a:lnTo>
                  <a:lnTo>
                    <a:pt x="58" y="27"/>
                  </a:lnTo>
                  <a:lnTo>
                    <a:pt x="58" y="22"/>
                  </a:lnTo>
                  <a:lnTo>
                    <a:pt x="55" y="17"/>
                  </a:lnTo>
                  <a:lnTo>
                    <a:pt x="52" y="14"/>
                  </a:lnTo>
                  <a:lnTo>
                    <a:pt x="50" y="12"/>
                  </a:lnTo>
                  <a:lnTo>
                    <a:pt x="44" y="9"/>
                  </a:lnTo>
                  <a:lnTo>
                    <a:pt x="39" y="9"/>
                  </a:lnTo>
                  <a:lnTo>
                    <a:pt x="33" y="8"/>
                  </a:lnTo>
                  <a:lnTo>
                    <a:pt x="28" y="9"/>
                  </a:lnTo>
                  <a:lnTo>
                    <a:pt x="25" y="9"/>
                  </a:lnTo>
                  <a:lnTo>
                    <a:pt x="19" y="12"/>
                  </a:lnTo>
                  <a:lnTo>
                    <a:pt x="17" y="14"/>
                  </a:lnTo>
                  <a:lnTo>
                    <a:pt x="11" y="17"/>
                  </a:lnTo>
                  <a:lnTo>
                    <a:pt x="8" y="22"/>
                  </a:lnTo>
                  <a:lnTo>
                    <a:pt x="8" y="27"/>
                  </a:lnTo>
                  <a:lnTo>
                    <a:pt x="8" y="32"/>
                  </a:lnTo>
                  <a:lnTo>
                    <a:pt x="0" y="32"/>
                  </a:lnTo>
                </a:path>
              </a:pathLst>
            </a:custGeom>
            <a:solidFill>
              <a:srgbClr val="FFFA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7" name="Freeform 201">
              <a:extLst>
                <a:ext uri="{FF2B5EF4-FFF2-40B4-BE49-F238E27FC236}">
                  <a16:creationId xmlns:a16="http://schemas.microsoft.com/office/drawing/2014/main" id="{BCC41532-ACB1-4F98-92CB-11DEBA075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" y="3802"/>
              <a:ext cx="70" cy="31"/>
            </a:xfrm>
            <a:custGeom>
              <a:avLst/>
              <a:gdLst>
                <a:gd name="T0" fmla="*/ 0 w 70"/>
                <a:gd name="T1" fmla="*/ 0 h 31"/>
                <a:gd name="T2" fmla="*/ 0 w 70"/>
                <a:gd name="T3" fmla="*/ 0 h 31"/>
                <a:gd name="T4" fmla="*/ 0 w 70"/>
                <a:gd name="T5" fmla="*/ 5 h 31"/>
                <a:gd name="T6" fmla="*/ 3 w 70"/>
                <a:gd name="T7" fmla="*/ 13 h 31"/>
                <a:gd name="T8" fmla="*/ 6 w 70"/>
                <a:gd name="T9" fmla="*/ 18 h 31"/>
                <a:gd name="T10" fmla="*/ 8 w 70"/>
                <a:gd name="T11" fmla="*/ 23 h 31"/>
                <a:gd name="T12" fmla="*/ 14 w 70"/>
                <a:gd name="T13" fmla="*/ 25 h 31"/>
                <a:gd name="T14" fmla="*/ 19 w 70"/>
                <a:gd name="T15" fmla="*/ 28 h 31"/>
                <a:gd name="T16" fmla="*/ 28 w 70"/>
                <a:gd name="T17" fmla="*/ 30 h 31"/>
                <a:gd name="T18" fmla="*/ 33 w 70"/>
                <a:gd name="T19" fmla="*/ 30 h 31"/>
                <a:gd name="T20" fmla="*/ 41 w 70"/>
                <a:gd name="T21" fmla="*/ 30 h 31"/>
                <a:gd name="T22" fmla="*/ 47 w 70"/>
                <a:gd name="T23" fmla="*/ 28 h 31"/>
                <a:gd name="T24" fmla="*/ 52 w 70"/>
                <a:gd name="T25" fmla="*/ 25 h 31"/>
                <a:gd name="T26" fmla="*/ 58 w 70"/>
                <a:gd name="T27" fmla="*/ 23 h 31"/>
                <a:gd name="T28" fmla="*/ 63 w 70"/>
                <a:gd name="T29" fmla="*/ 18 h 31"/>
                <a:gd name="T30" fmla="*/ 66 w 70"/>
                <a:gd name="T31" fmla="*/ 13 h 31"/>
                <a:gd name="T32" fmla="*/ 69 w 70"/>
                <a:gd name="T33" fmla="*/ 5 h 31"/>
                <a:gd name="T34" fmla="*/ 69 w 70"/>
                <a:gd name="T35" fmla="*/ 0 h 31"/>
                <a:gd name="T36" fmla="*/ 61 w 70"/>
                <a:gd name="T37" fmla="*/ 0 h 31"/>
                <a:gd name="T38" fmla="*/ 58 w 70"/>
                <a:gd name="T39" fmla="*/ 5 h 31"/>
                <a:gd name="T40" fmla="*/ 58 w 70"/>
                <a:gd name="T41" fmla="*/ 8 h 31"/>
                <a:gd name="T42" fmla="*/ 55 w 70"/>
                <a:gd name="T43" fmla="*/ 13 h 31"/>
                <a:gd name="T44" fmla="*/ 52 w 70"/>
                <a:gd name="T45" fmla="*/ 15 h 31"/>
                <a:gd name="T46" fmla="*/ 50 w 70"/>
                <a:gd name="T47" fmla="*/ 20 h 31"/>
                <a:gd name="T48" fmla="*/ 44 w 70"/>
                <a:gd name="T49" fmla="*/ 23 h 31"/>
                <a:gd name="T50" fmla="*/ 39 w 70"/>
                <a:gd name="T51" fmla="*/ 23 h 31"/>
                <a:gd name="T52" fmla="*/ 33 w 70"/>
                <a:gd name="T53" fmla="*/ 23 h 31"/>
                <a:gd name="T54" fmla="*/ 28 w 70"/>
                <a:gd name="T55" fmla="*/ 23 h 31"/>
                <a:gd name="T56" fmla="*/ 25 w 70"/>
                <a:gd name="T57" fmla="*/ 23 h 31"/>
                <a:gd name="T58" fmla="*/ 19 w 70"/>
                <a:gd name="T59" fmla="*/ 20 h 31"/>
                <a:gd name="T60" fmla="*/ 17 w 70"/>
                <a:gd name="T61" fmla="*/ 15 h 31"/>
                <a:gd name="T62" fmla="*/ 11 w 70"/>
                <a:gd name="T63" fmla="*/ 13 h 31"/>
                <a:gd name="T64" fmla="*/ 8 w 70"/>
                <a:gd name="T65" fmla="*/ 8 h 31"/>
                <a:gd name="T66" fmla="*/ 8 w 70"/>
                <a:gd name="T67" fmla="*/ 5 h 31"/>
                <a:gd name="T68" fmla="*/ 8 w 70"/>
                <a:gd name="T69" fmla="*/ 0 h 31"/>
                <a:gd name="T70" fmla="*/ 0 w 70"/>
                <a:gd name="T71" fmla="*/ 0 h 3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0"/>
                <a:gd name="T109" fmla="*/ 0 h 31"/>
                <a:gd name="T110" fmla="*/ 70 w 70"/>
                <a:gd name="T111" fmla="*/ 31 h 3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0" h="3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3" y="13"/>
                  </a:lnTo>
                  <a:lnTo>
                    <a:pt x="6" y="18"/>
                  </a:lnTo>
                  <a:lnTo>
                    <a:pt x="8" y="23"/>
                  </a:lnTo>
                  <a:lnTo>
                    <a:pt x="14" y="25"/>
                  </a:lnTo>
                  <a:lnTo>
                    <a:pt x="19" y="28"/>
                  </a:lnTo>
                  <a:lnTo>
                    <a:pt x="28" y="30"/>
                  </a:lnTo>
                  <a:lnTo>
                    <a:pt x="33" y="30"/>
                  </a:lnTo>
                  <a:lnTo>
                    <a:pt x="41" y="30"/>
                  </a:lnTo>
                  <a:lnTo>
                    <a:pt x="47" y="28"/>
                  </a:lnTo>
                  <a:lnTo>
                    <a:pt x="52" y="25"/>
                  </a:lnTo>
                  <a:lnTo>
                    <a:pt x="58" y="23"/>
                  </a:lnTo>
                  <a:lnTo>
                    <a:pt x="63" y="18"/>
                  </a:lnTo>
                  <a:lnTo>
                    <a:pt x="66" y="13"/>
                  </a:lnTo>
                  <a:lnTo>
                    <a:pt x="69" y="5"/>
                  </a:lnTo>
                  <a:lnTo>
                    <a:pt x="69" y="0"/>
                  </a:lnTo>
                  <a:lnTo>
                    <a:pt x="61" y="0"/>
                  </a:lnTo>
                  <a:lnTo>
                    <a:pt x="58" y="5"/>
                  </a:lnTo>
                  <a:lnTo>
                    <a:pt x="58" y="8"/>
                  </a:lnTo>
                  <a:lnTo>
                    <a:pt x="55" y="13"/>
                  </a:lnTo>
                  <a:lnTo>
                    <a:pt x="52" y="15"/>
                  </a:lnTo>
                  <a:lnTo>
                    <a:pt x="50" y="20"/>
                  </a:lnTo>
                  <a:lnTo>
                    <a:pt x="44" y="23"/>
                  </a:lnTo>
                  <a:lnTo>
                    <a:pt x="39" y="23"/>
                  </a:lnTo>
                  <a:lnTo>
                    <a:pt x="33" y="23"/>
                  </a:lnTo>
                  <a:lnTo>
                    <a:pt x="28" y="23"/>
                  </a:lnTo>
                  <a:lnTo>
                    <a:pt x="25" y="23"/>
                  </a:lnTo>
                  <a:lnTo>
                    <a:pt x="19" y="20"/>
                  </a:lnTo>
                  <a:lnTo>
                    <a:pt x="17" y="15"/>
                  </a:lnTo>
                  <a:lnTo>
                    <a:pt x="11" y="13"/>
                  </a:lnTo>
                  <a:lnTo>
                    <a:pt x="8" y="8"/>
                  </a:lnTo>
                  <a:lnTo>
                    <a:pt x="8" y="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A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8" name="Freeform 202">
              <a:extLst>
                <a:ext uri="{FF2B5EF4-FFF2-40B4-BE49-F238E27FC236}">
                  <a16:creationId xmlns:a16="http://schemas.microsoft.com/office/drawing/2014/main" id="{D190A8CE-10EC-4921-A157-BE9A7DD99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3773"/>
              <a:ext cx="52" cy="24"/>
            </a:xfrm>
            <a:custGeom>
              <a:avLst/>
              <a:gdLst>
                <a:gd name="T0" fmla="*/ 0 w 52"/>
                <a:gd name="T1" fmla="*/ 23 h 24"/>
                <a:gd name="T2" fmla="*/ 0 w 52"/>
                <a:gd name="T3" fmla="*/ 18 h 24"/>
                <a:gd name="T4" fmla="*/ 0 w 52"/>
                <a:gd name="T5" fmla="*/ 13 h 24"/>
                <a:gd name="T6" fmla="*/ 3 w 52"/>
                <a:gd name="T7" fmla="*/ 9 h 24"/>
                <a:gd name="T8" fmla="*/ 8 w 52"/>
                <a:gd name="T9" fmla="*/ 6 h 24"/>
                <a:gd name="T10" fmla="*/ 11 w 52"/>
                <a:gd name="T11" fmla="*/ 4 h 24"/>
                <a:gd name="T12" fmla="*/ 16 w 52"/>
                <a:gd name="T13" fmla="*/ 2 h 24"/>
                <a:gd name="T14" fmla="*/ 19 w 52"/>
                <a:gd name="T15" fmla="*/ 2 h 24"/>
                <a:gd name="T16" fmla="*/ 24 w 52"/>
                <a:gd name="T17" fmla="*/ 0 h 24"/>
                <a:gd name="T18" fmla="*/ 30 w 52"/>
                <a:gd name="T19" fmla="*/ 2 h 24"/>
                <a:gd name="T20" fmla="*/ 35 w 52"/>
                <a:gd name="T21" fmla="*/ 2 h 24"/>
                <a:gd name="T22" fmla="*/ 40 w 52"/>
                <a:gd name="T23" fmla="*/ 4 h 24"/>
                <a:gd name="T24" fmla="*/ 43 w 52"/>
                <a:gd name="T25" fmla="*/ 6 h 24"/>
                <a:gd name="T26" fmla="*/ 46 w 52"/>
                <a:gd name="T27" fmla="*/ 9 h 24"/>
                <a:gd name="T28" fmla="*/ 48 w 52"/>
                <a:gd name="T29" fmla="*/ 13 h 24"/>
                <a:gd name="T30" fmla="*/ 48 w 52"/>
                <a:gd name="T31" fmla="*/ 18 h 24"/>
                <a:gd name="T32" fmla="*/ 51 w 52"/>
                <a:gd name="T33" fmla="*/ 23 h 24"/>
                <a:gd name="T34" fmla="*/ 40 w 52"/>
                <a:gd name="T35" fmla="*/ 23 h 24"/>
                <a:gd name="T36" fmla="*/ 40 w 52"/>
                <a:gd name="T37" fmla="*/ 21 h 24"/>
                <a:gd name="T38" fmla="*/ 40 w 52"/>
                <a:gd name="T39" fmla="*/ 16 h 24"/>
                <a:gd name="T40" fmla="*/ 38 w 52"/>
                <a:gd name="T41" fmla="*/ 13 h 24"/>
                <a:gd name="T42" fmla="*/ 38 w 52"/>
                <a:gd name="T43" fmla="*/ 11 h 24"/>
                <a:gd name="T44" fmla="*/ 35 w 52"/>
                <a:gd name="T45" fmla="*/ 11 h 24"/>
                <a:gd name="T46" fmla="*/ 32 w 52"/>
                <a:gd name="T47" fmla="*/ 9 h 24"/>
                <a:gd name="T48" fmla="*/ 27 w 52"/>
                <a:gd name="T49" fmla="*/ 9 h 24"/>
                <a:gd name="T50" fmla="*/ 24 w 52"/>
                <a:gd name="T51" fmla="*/ 9 h 24"/>
                <a:gd name="T52" fmla="*/ 21 w 52"/>
                <a:gd name="T53" fmla="*/ 9 h 24"/>
                <a:gd name="T54" fmla="*/ 19 w 52"/>
                <a:gd name="T55" fmla="*/ 9 h 24"/>
                <a:gd name="T56" fmla="*/ 16 w 52"/>
                <a:gd name="T57" fmla="*/ 11 h 24"/>
                <a:gd name="T58" fmla="*/ 13 w 52"/>
                <a:gd name="T59" fmla="*/ 11 h 24"/>
                <a:gd name="T60" fmla="*/ 11 w 52"/>
                <a:gd name="T61" fmla="*/ 13 h 24"/>
                <a:gd name="T62" fmla="*/ 8 w 52"/>
                <a:gd name="T63" fmla="*/ 16 h 24"/>
                <a:gd name="T64" fmla="*/ 8 w 52"/>
                <a:gd name="T65" fmla="*/ 21 h 24"/>
                <a:gd name="T66" fmla="*/ 8 w 52"/>
                <a:gd name="T67" fmla="*/ 23 h 24"/>
                <a:gd name="T68" fmla="*/ 0 w 52"/>
                <a:gd name="T69" fmla="*/ 23 h 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2"/>
                <a:gd name="T106" fmla="*/ 0 h 24"/>
                <a:gd name="T107" fmla="*/ 52 w 52"/>
                <a:gd name="T108" fmla="*/ 24 h 2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2" h="24">
                  <a:moveTo>
                    <a:pt x="0" y="23"/>
                  </a:moveTo>
                  <a:lnTo>
                    <a:pt x="0" y="18"/>
                  </a:lnTo>
                  <a:lnTo>
                    <a:pt x="0" y="13"/>
                  </a:lnTo>
                  <a:lnTo>
                    <a:pt x="3" y="9"/>
                  </a:lnTo>
                  <a:lnTo>
                    <a:pt x="8" y="6"/>
                  </a:lnTo>
                  <a:lnTo>
                    <a:pt x="11" y="4"/>
                  </a:lnTo>
                  <a:lnTo>
                    <a:pt x="16" y="2"/>
                  </a:lnTo>
                  <a:lnTo>
                    <a:pt x="19" y="2"/>
                  </a:lnTo>
                  <a:lnTo>
                    <a:pt x="24" y="0"/>
                  </a:lnTo>
                  <a:lnTo>
                    <a:pt x="30" y="2"/>
                  </a:lnTo>
                  <a:lnTo>
                    <a:pt x="35" y="2"/>
                  </a:lnTo>
                  <a:lnTo>
                    <a:pt x="40" y="4"/>
                  </a:lnTo>
                  <a:lnTo>
                    <a:pt x="43" y="6"/>
                  </a:lnTo>
                  <a:lnTo>
                    <a:pt x="46" y="9"/>
                  </a:lnTo>
                  <a:lnTo>
                    <a:pt x="48" y="13"/>
                  </a:lnTo>
                  <a:lnTo>
                    <a:pt x="48" y="18"/>
                  </a:lnTo>
                  <a:lnTo>
                    <a:pt x="51" y="23"/>
                  </a:lnTo>
                  <a:lnTo>
                    <a:pt x="40" y="23"/>
                  </a:lnTo>
                  <a:lnTo>
                    <a:pt x="40" y="21"/>
                  </a:lnTo>
                  <a:lnTo>
                    <a:pt x="40" y="16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5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4" y="9"/>
                  </a:lnTo>
                  <a:lnTo>
                    <a:pt x="21" y="9"/>
                  </a:lnTo>
                  <a:lnTo>
                    <a:pt x="19" y="9"/>
                  </a:lnTo>
                  <a:lnTo>
                    <a:pt x="16" y="11"/>
                  </a:lnTo>
                  <a:lnTo>
                    <a:pt x="13" y="11"/>
                  </a:lnTo>
                  <a:lnTo>
                    <a:pt x="11" y="13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0" y="23"/>
                  </a:lnTo>
                </a:path>
              </a:pathLst>
            </a:custGeom>
            <a:solidFill>
              <a:srgbClr val="FFFA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69" name="Freeform 203">
              <a:extLst>
                <a:ext uri="{FF2B5EF4-FFF2-40B4-BE49-F238E27FC236}">
                  <a16:creationId xmlns:a16="http://schemas.microsoft.com/office/drawing/2014/main" id="{CA66F1C3-228E-4BCD-B316-B105E3ADA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3802"/>
              <a:ext cx="52" cy="22"/>
            </a:xfrm>
            <a:custGeom>
              <a:avLst/>
              <a:gdLst>
                <a:gd name="T0" fmla="*/ 0 w 52"/>
                <a:gd name="T1" fmla="*/ 0 h 22"/>
                <a:gd name="T2" fmla="*/ 0 w 52"/>
                <a:gd name="T3" fmla="*/ 0 h 22"/>
                <a:gd name="T4" fmla="*/ 0 w 52"/>
                <a:gd name="T5" fmla="*/ 5 h 22"/>
                <a:gd name="T6" fmla="*/ 0 w 52"/>
                <a:gd name="T7" fmla="*/ 7 h 22"/>
                <a:gd name="T8" fmla="*/ 3 w 52"/>
                <a:gd name="T9" fmla="*/ 12 h 22"/>
                <a:gd name="T10" fmla="*/ 8 w 52"/>
                <a:gd name="T11" fmla="*/ 14 h 22"/>
                <a:gd name="T12" fmla="*/ 11 w 52"/>
                <a:gd name="T13" fmla="*/ 19 h 22"/>
                <a:gd name="T14" fmla="*/ 16 w 52"/>
                <a:gd name="T15" fmla="*/ 21 h 22"/>
                <a:gd name="T16" fmla="*/ 19 w 52"/>
                <a:gd name="T17" fmla="*/ 21 h 22"/>
                <a:gd name="T18" fmla="*/ 24 w 52"/>
                <a:gd name="T19" fmla="*/ 21 h 22"/>
                <a:gd name="T20" fmla="*/ 30 w 52"/>
                <a:gd name="T21" fmla="*/ 21 h 22"/>
                <a:gd name="T22" fmla="*/ 35 w 52"/>
                <a:gd name="T23" fmla="*/ 21 h 22"/>
                <a:gd name="T24" fmla="*/ 40 w 52"/>
                <a:gd name="T25" fmla="*/ 19 h 22"/>
                <a:gd name="T26" fmla="*/ 43 w 52"/>
                <a:gd name="T27" fmla="*/ 14 h 22"/>
                <a:gd name="T28" fmla="*/ 46 w 52"/>
                <a:gd name="T29" fmla="*/ 12 h 22"/>
                <a:gd name="T30" fmla="*/ 48 w 52"/>
                <a:gd name="T31" fmla="*/ 7 h 22"/>
                <a:gd name="T32" fmla="*/ 48 w 52"/>
                <a:gd name="T33" fmla="*/ 5 h 22"/>
                <a:gd name="T34" fmla="*/ 51 w 52"/>
                <a:gd name="T35" fmla="*/ 0 h 22"/>
                <a:gd name="T36" fmla="*/ 40 w 52"/>
                <a:gd name="T37" fmla="*/ 0 h 22"/>
                <a:gd name="T38" fmla="*/ 40 w 52"/>
                <a:gd name="T39" fmla="*/ 2 h 22"/>
                <a:gd name="T40" fmla="*/ 40 w 52"/>
                <a:gd name="T41" fmla="*/ 5 h 22"/>
                <a:gd name="T42" fmla="*/ 38 w 52"/>
                <a:gd name="T43" fmla="*/ 7 h 22"/>
                <a:gd name="T44" fmla="*/ 38 w 52"/>
                <a:gd name="T45" fmla="*/ 9 h 22"/>
                <a:gd name="T46" fmla="*/ 35 w 52"/>
                <a:gd name="T47" fmla="*/ 12 h 22"/>
                <a:gd name="T48" fmla="*/ 32 w 52"/>
                <a:gd name="T49" fmla="*/ 14 h 22"/>
                <a:gd name="T50" fmla="*/ 27 w 52"/>
                <a:gd name="T51" fmla="*/ 14 h 22"/>
                <a:gd name="T52" fmla="*/ 24 w 52"/>
                <a:gd name="T53" fmla="*/ 14 h 22"/>
                <a:gd name="T54" fmla="*/ 21 w 52"/>
                <a:gd name="T55" fmla="*/ 14 h 22"/>
                <a:gd name="T56" fmla="*/ 19 w 52"/>
                <a:gd name="T57" fmla="*/ 14 h 22"/>
                <a:gd name="T58" fmla="*/ 16 w 52"/>
                <a:gd name="T59" fmla="*/ 12 h 22"/>
                <a:gd name="T60" fmla="*/ 13 w 52"/>
                <a:gd name="T61" fmla="*/ 9 h 22"/>
                <a:gd name="T62" fmla="*/ 11 w 52"/>
                <a:gd name="T63" fmla="*/ 7 h 22"/>
                <a:gd name="T64" fmla="*/ 8 w 52"/>
                <a:gd name="T65" fmla="*/ 5 h 22"/>
                <a:gd name="T66" fmla="*/ 8 w 52"/>
                <a:gd name="T67" fmla="*/ 2 h 22"/>
                <a:gd name="T68" fmla="*/ 8 w 52"/>
                <a:gd name="T69" fmla="*/ 0 h 22"/>
                <a:gd name="T70" fmla="*/ 0 w 52"/>
                <a:gd name="T71" fmla="*/ 0 h 2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2"/>
                <a:gd name="T109" fmla="*/ 0 h 22"/>
                <a:gd name="T110" fmla="*/ 52 w 52"/>
                <a:gd name="T111" fmla="*/ 22 h 2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2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3" y="12"/>
                  </a:lnTo>
                  <a:lnTo>
                    <a:pt x="8" y="14"/>
                  </a:lnTo>
                  <a:lnTo>
                    <a:pt x="11" y="19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30" y="21"/>
                  </a:lnTo>
                  <a:lnTo>
                    <a:pt x="35" y="21"/>
                  </a:lnTo>
                  <a:lnTo>
                    <a:pt x="40" y="19"/>
                  </a:lnTo>
                  <a:lnTo>
                    <a:pt x="43" y="14"/>
                  </a:lnTo>
                  <a:lnTo>
                    <a:pt x="46" y="12"/>
                  </a:lnTo>
                  <a:lnTo>
                    <a:pt x="48" y="7"/>
                  </a:lnTo>
                  <a:lnTo>
                    <a:pt x="48" y="5"/>
                  </a:lnTo>
                  <a:lnTo>
                    <a:pt x="51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5"/>
                  </a:lnTo>
                  <a:lnTo>
                    <a:pt x="38" y="7"/>
                  </a:lnTo>
                  <a:lnTo>
                    <a:pt x="38" y="9"/>
                  </a:lnTo>
                  <a:lnTo>
                    <a:pt x="35" y="12"/>
                  </a:lnTo>
                  <a:lnTo>
                    <a:pt x="32" y="14"/>
                  </a:lnTo>
                  <a:lnTo>
                    <a:pt x="27" y="14"/>
                  </a:lnTo>
                  <a:lnTo>
                    <a:pt x="24" y="14"/>
                  </a:lnTo>
                  <a:lnTo>
                    <a:pt x="21" y="14"/>
                  </a:lnTo>
                  <a:lnTo>
                    <a:pt x="19" y="14"/>
                  </a:lnTo>
                  <a:lnTo>
                    <a:pt x="16" y="12"/>
                  </a:lnTo>
                  <a:lnTo>
                    <a:pt x="13" y="9"/>
                  </a:lnTo>
                  <a:lnTo>
                    <a:pt x="11" y="7"/>
                  </a:lnTo>
                  <a:lnTo>
                    <a:pt x="8" y="5"/>
                  </a:lnTo>
                  <a:lnTo>
                    <a:pt x="8" y="2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A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0" name="Freeform 204">
              <a:extLst>
                <a:ext uri="{FF2B5EF4-FFF2-40B4-BE49-F238E27FC236}">
                  <a16:creationId xmlns:a16="http://schemas.microsoft.com/office/drawing/2014/main" id="{10D19E4F-1531-431A-AD6E-983A9F310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3784"/>
              <a:ext cx="31" cy="13"/>
            </a:xfrm>
            <a:custGeom>
              <a:avLst/>
              <a:gdLst>
                <a:gd name="T0" fmla="*/ 0 w 31"/>
                <a:gd name="T1" fmla="*/ 12 h 13"/>
                <a:gd name="T2" fmla="*/ 0 w 31"/>
                <a:gd name="T3" fmla="*/ 10 h 13"/>
                <a:gd name="T4" fmla="*/ 0 w 31"/>
                <a:gd name="T5" fmla="*/ 6 h 13"/>
                <a:gd name="T6" fmla="*/ 3 w 31"/>
                <a:gd name="T7" fmla="*/ 4 h 13"/>
                <a:gd name="T8" fmla="*/ 5 w 31"/>
                <a:gd name="T9" fmla="*/ 2 h 13"/>
                <a:gd name="T10" fmla="*/ 8 w 31"/>
                <a:gd name="T11" fmla="*/ 2 h 13"/>
                <a:gd name="T12" fmla="*/ 10 w 31"/>
                <a:gd name="T13" fmla="*/ 0 h 13"/>
                <a:gd name="T14" fmla="*/ 13 w 31"/>
                <a:gd name="T15" fmla="*/ 0 h 13"/>
                <a:gd name="T16" fmla="*/ 15 w 31"/>
                <a:gd name="T17" fmla="*/ 0 h 13"/>
                <a:gd name="T18" fmla="*/ 18 w 31"/>
                <a:gd name="T19" fmla="*/ 0 h 13"/>
                <a:gd name="T20" fmla="*/ 23 w 31"/>
                <a:gd name="T21" fmla="*/ 0 h 13"/>
                <a:gd name="T22" fmla="*/ 25 w 31"/>
                <a:gd name="T23" fmla="*/ 2 h 13"/>
                <a:gd name="T24" fmla="*/ 28 w 31"/>
                <a:gd name="T25" fmla="*/ 2 h 13"/>
                <a:gd name="T26" fmla="*/ 28 w 31"/>
                <a:gd name="T27" fmla="*/ 4 h 13"/>
                <a:gd name="T28" fmla="*/ 30 w 31"/>
                <a:gd name="T29" fmla="*/ 6 h 13"/>
                <a:gd name="T30" fmla="*/ 30 w 31"/>
                <a:gd name="T31" fmla="*/ 10 h 13"/>
                <a:gd name="T32" fmla="*/ 30 w 31"/>
                <a:gd name="T33" fmla="*/ 12 h 13"/>
                <a:gd name="T34" fmla="*/ 23 w 31"/>
                <a:gd name="T35" fmla="*/ 12 h 13"/>
                <a:gd name="T36" fmla="*/ 23 w 31"/>
                <a:gd name="T37" fmla="*/ 10 h 13"/>
                <a:gd name="T38" fmla="*/ 20 w 31"/>
                <a:gd name="T39" fmla="*/ 8 h 13"/>
                <a:gd name="T40" fmla="*/ 18 w 31"/>
                <a:gd name="T41" fmla="*/ 6 h 13"/>
                <a:gd name="T42" fmla="*/ 15 w 31"/>
                <a:gd name="T43" fmla="*/ 6 h 13"/>
                <a:gd name="T44" fmla="*/ 13 w 31"/>
                <a:gd name="T45" fmla="*/ 6 h 13"/>
                <a:gd name="T46" fmla="*/ 10 w 31"/>
                <a:gd name="T47" fmla="*/ 8 h 13"/>
                <a:gd name="T48" fmla="*/ 8 w 31"/>
                <a:gd name="T49" fmla="*/ 10 h 13"/>
                <a:gd name="T50" fmla="*/ 8 w 31"/>
                <a:gd name="T51" fmla="*/ 12 h 13"/>
                <a:gd name="T52" fmla="*/ 0 w 31"/>
                <a:gd name="T53" fmla="*/ 12 h 1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1"/>
                <a:gd name="T82" fmla="*/ 0 h 13"/>
                <a:gd name="T83" fmla="*/ 31 w 31"/>
                <a:gd name="T84" fmla="*/ 13 h 13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1" h="13">
                  <a:moveTo>
                    <a:pt x="0" y="12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3" y="4"/>
                  </a:lnTo>
                  <a:lnTo>
                    <a:pt x="5" y="2"/>
                  </a:lnTo>
                  <a:lnTo>
                    <a:pt x="8" y="2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0"/>
                  </a:lnTo>
                  <a:lnTo>
                    <a:pt x="25" y="2"/>
                  </a:lnTo>
                  <a:lnTo>
                    <a:pt x="28" y="2"/>
                  </a:lnTo>
                  <a:lnTo>
                    <a:pt x="28" y="4"/>
                  </a:lnTo>
                  <a:lnTo>
                    <a:pt x="30" y="6"/>
                  </a:lnTo>
                  <a:lnTo>
                    <a:pt x="30" y="10"/>
                  </a:lnTo>
                  <a:lnTo>
                    <a:pt x="30" y="12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0" y="12"/>
                  </a:lnTo>
                </a:path>
              </a:pathLst>
            </a:custGeom>
            <a:solidFill>
              <a:srgbClr val="FFFF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1" name="Freeform 205">
              <a:extLst>
                <a:ext uri="{FF2B5EF4-FFF2-40B4-BE49-F238E27FC236}">
                  <a16:creationId xmlns:a16="http://schemas.microsoft.com/office/drawing/2014/main" id="{088FCAD9-7C33-403E-A128-805CD8FA9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3802"/>
              <a:ext cx="31" cy="13"/>
            </a:xfrm>
            <a:custGeom>
              <a:avLst/>
              <a:gdLst>
                <a:gd name="T0" fmla="*/ 0 w 31"/>
                <a:gd name="T1" fmla="*/ 0 h 13"/>
                <a:gd name="T2" fmla="*/ 0 w 31"/>
                <a:gd name="T3" fmla="*/ 0 h 13"/>
                <a:gd name="T4" fmla="*/ 0 w 31"/>
                <a:gd name="T5" fmla="*/ 2 h 13"/>
                <a:gd name="T6" fmla="*/ 0 w 31"/>
                <a:gd name="T7" fmla="*/ 4 h 13"/>
                <a:gd name="T8" fmla="*/ 3 w 31"/>
                <a:gd name="T9" fmla="*/ 6 h 13"/>
                <a:gd name="T10" fmla="*/ 5 w 31"/>
                <a:gd name="T11" fmla="*/ 8 h 13"/>
                <a:gd name="T12" fmla="*/ 8 w 31"/>
                <a:gd name="T13" fmla="*/ 10 h 13"/>
                <a:gd name="T14" fmla="*/ 10 w 31"/>
                <a:gd name="T15" fmla="*/ 12 h 13"/>
                <a:gd name="T16" fmla="*/ 13 w 31"/>
                <a:gd name="T17" fmla="*/ 12 h 13"/>
                <a:gd name="T18" fmla="*/ 15 w 31"/>
                <a:gd name="T19" fmla="*/ 12 h 13"/>
                <a:gd name="T20" fmla="*/ 18 w 31"/>
                <a:gd name="T21" fmla="*/ 12 h 13"/>
                <a:gd name="T22" fmla="*/ 23 w 31"/>
                <a:gd name="T23" fmla="*/ 12 h 13"/>
                <a:gd name="T24" fmla="*/ 25 w 31"/>
                <a:gd name="T25" fmla="*/ 10 h 13"/>
                <a:gd name="T26" fmla="*/ 28 w 31"/>
                <a:gd name="T27" fmla="*/ 8 h 13"/>
                <a:gd name="T28" fmla="*/ 28 w 31"/>
                <a:gd name="T29" fmla="*/ 6 h 13"/>
                <a:gd name="T30" fmla="*/ 30 w 31"/>
                <a:gd name="T31" fmla="*/ 4 h 13"/>
                <a:gd name="T32" fmla="*/ 30 w 31"/>
                <a:gd name="T33" fmla="*/ 2 h 13"/>
                <a:gd name="T34" fmla="*/ 30 w 31"/>
                <a:gd name="T35" fmla="*/ 0 h 13"/>
                <a:gd name="T36" fmla="*/ 23 w 31"/>
                <a:gd name="T37" fmla="*/ 0 h 13"/>
                <a:gd name="T38" fmla="*/ 23 w 31"/>
                <a:gd name="T39" fmla="*/ 2 h 13"/>
                <a:gd name="T40" fmla="*/ 20 w 31"/>
                <a:gd name="T41" fmla="*/ 4 h 13"/>
                <a:gd name="T42" fmla="*/ 18 w 31"/>
                <a:gd name="T43" fmla="*/ 6 h 13"/>
                <a:gd name="T44" fmla="*/ 15 w 31"/>
                <a:gd name="T45" fmla="*/ 6 h 13"/>
                <a:gd name="T46" fmla="*/ 13 w 31"/>
                <a:gd name="T47" fmla="*/ 6 h 13"/>
                <a:gd name="T48" fmla="*/ 10 w 31"/>
                <a:gd name="T49" fmla="*/ 4 h 13"/>
                <a:gd name="T50" fmla="*/ 8 w 31"/>
                <a:gd name="T51" fmla="*/ 2 h 13"/>
                <a:gd name="T52" fmla="*/ 8 w 31"/>
                <a:gd name="T53" fmla="*/ 0 h 13"/>
                <a:gd name="T54" fmla="*/ 0 w 31"/>
                <a:gd name="T55" fmla="*/ 0 h 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31"/>
                <a:gd name="T85" fmla="*/ 0 h 13"/>
                <a:gd name="T86" fmla="*/ 31 w 31"/>
                <a:gd name="T87" fmla="*/ 13 h 1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31" h="1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6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0" y="12"/>
                  </a:lnTo>
                  <a:lnTo>
                    <a:pt x="13" y="12"/>
                  </a:lnTo>
                  <a:lnTo>
                    <a:pt x="15" y="12"/>
                  </a:lnTo>
                  <a:lnTo>
                    <a:pt x="18" y="12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30" y="4"/>
                  </a:lnTo>
                  <a:lnTo>
                    <a:pt x="30" y="2"/>
                  </a:lnTo>
                  <a:lnTo>
                    <a:pt x="30" y="0"/>
                  </a:lnTo>
                  <a:lnTo>
                    <a:pt x="23" y="0"/>
                  </a:lnTo>
                  <a:lnTo>
                    <a:pt x="23" y="2"/>
                  </a:lnTo>
                  <a:lnTo>
                    <a:pt x="20" y="4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0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F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2" name="Freeform 206">
              <a:extLst>
                <a:ext uri="{FF2B5EF4-FFF2-40B4-BE49-F238E27FC236}">
                  <a16:creationId xmlns:a16="http://schemas.microsoft.com/office/drawing/2014/main" id="{AEBCB7B9-3649-47AD-8EE4-34B395C82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" y="3793"/>
              <a:ext cx="13" cy="13"/>
            </a:xfrm>
            <a:custGeom>
              <a:avLst/>
              <a:gdLst>
                <a:gd name="T0" fmla="*/ 12 w 13"/>
                <a:gd name="T1" fmla="*/ 6 h 13"/>
                <a:gd name="T2" fmla="*/ 12 w 13"/>
                <a:gd name="T3" fmla="*/ 4 h 13"/>
                <a:gd name="T4" fmla="*/ 10 w 13"/>
                <a:gd name="T5" fmla="*/ 2 h 13"/>
                <a:gd name="T6" fmla="*/ 8 w 13"/>
                <a:gd name="T7" fmla="*/ 0 h 13"/>
                <a:gd name="T8" fmla="*/ 6 w 13"/>
                <a:gd name="T9" fmla="*/ 0 h 13"/>
                <a:gd name="T10" fmla="*/ 4 w 13"/>
                <a:gd name="T11" fmla="*/ 0 h 13"/>
                <a:gd name="T12" fmla="*/ 2 w 13"/>
                <a:gd name="T13" fmla="*/ 2 h 13"/>
                <a:gd name="T14" fmla="*/ 0 w 13"/>
                <a:gd name="T15" fmla="*/ 4 h 13"/>
                <a:gd name="T16" fmla="*/ 0 w 13"/>
                <a:gd name="T17" fmla="*/ 6 h 13"/>
                <a:gd name="T18" fmla="*/ 0 w 13"/>
                <a:gd name="T19" fmla="*/ 8 h 13"/>
                <a:gd name="T20" fmla="*/ 2 w 13"/>
                <a:gd name="T21" fmla="*/ 10 h 13"/>
                <a:gd name="T22" fmla="*/ 4 w 13"/>
                <a:gd name="T23" fmla="*/ 12 h 13"/>
                <a:gd name="T24" fmla="*/ 6 w 13"/>
                <a:gd name="T25" fmla="*/ 12 h 13"/>
                <a:gd name="T26" fmla="*/ 8 w 13"/>
                <a:gd name="T27" fmla="*/ 12 h 13"/>
                <a:gd name="T28" fmla="*/ 10 w 13"/>
                <a:gd name="T29" fmla="*/ 10 h 13"/>
                <a:gd name="T30" fmla="*/ 12 w 13"/>
                <a:gd name="T31" fmla="*/ 8 h 13"/>
                <a:gd name="T32" fmla="*/ 12 w 13"/>
                <a:gd name="T33" fmla="*/ 6 h 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"/>
                <a:gd name="T52" fmla="*/ 0 h 13"/>
                <a:gd name="T53" fmla="*/ 13 w 13"/>
                <a:gd name="T54" fmla="*/ 13 h 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" h="13">
                  <a:moveTo>
                    <a:pt x="12" y="6"/>
                  </a:moveTo>
                  <a:lnTo>
                    <a:pt x="12" y="4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10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8" y="12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2" y="6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3" name="Freeform 207">
              <a:extLst>
                <a:ext uri="{FF2B5EF4-FFF2-40B4-BE49-F238E27FC236}">
                  <a16:creationId xmlns:a16="http://schemas.microsoft.com/office/drawing/2014/main" id="{A3D7B412-5B2E-406A-BCE0-4E4DEF804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60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4" name="Freeform 208">
              <a:extLst>
                <a:ext uri="{FF2B5EF4-FFF2-40B4-BE49-F238E27FC236}">
                  <a16:creationId xmlns:a16="http://schemas.microsoft.com/office/drawing/2014/main" id="{15EAFD02-F88C-4581-95B0-3A9DE9F57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9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5" name="Freeform 209">
              <a:extLst>
                <a:ext uri="{FF2B5EF4-FFF2-40B4-BE49-F238E27FC236}">
                  <a16:creationId xmlns:a16="http://schemas.microsoft.com/office/drawing/2014/main" id="{69FA9D47-D4B5-4F48-B437-3E8925B1C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8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C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6" name="Freeform 210">
              <a:extLst>
                <a:ext uri="{FF2B5EF4-FFF2-40B4-BE49-F238E27FC236}">
                  <a16:creationId xmlns:a16="http://schemas.microsoft.com/office/drawing/2014/main" id="{A803D5D6-E4A8-4154-B2C1-C4566FA6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7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C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7" name="Freeform 211">
              <a:extLst>
                <a:ext uri="{FF2B5EF4-FFF2-40B4-BE49-F238E27FC236}">
                  <a16:creationId xmlns:a16="http://schemas.microsoft.com/office/drawing/2014/main" id="{7BC6627C-EF99-4972-BD94-BFD58106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7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B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8" name="Freeform 212">
              <a:extLst>
                <a:ext uri="{FF2B5EF4-FFF2-40B4-BE49-F238E27FC236}">
                  <a16:creationId xmlns:a16="http://schemas.microsoft.com/office/drawing/2014/main" id="{882ED82E-8593-4B31-B25C-C81EC1948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6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B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79" name="Freeform 213">
              <a:extLst>
                <a:ext uri="{FF2B5EF4-FFF2-40B4-BE49-F238E27FC236}">
                  <a16:creationId xmlns:a16="http://schemas.microsoft.com/office/drawing/2014/main" id="{CAB7120A-2D63-48DB-92FB-06EB38358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59"/>
              <a:ext cx="1092" cy="3"/>
            </a:xfrm>
            <a:custGeom>
              <a:avLst/>
              <a:gdLst>
                <a:gd name="T0" fmla="*/ 0 w 1092"/>
                <a:gd name="T1" fmla="*/ 2 h 3"/>
                <a:gd name="T2" fmla="*/ 0 w 1092"/>
                <a:gd name="T3" fmla="*/ 0 h 3"/>
                <a:gd name="T4" fmla="*/ 1091 w 1092"/>
                <a:gd name="T5" fmla="*/ 0 h 3"/>
                <a:gd name="T6" fmla="*/ 1091 w 1092"/>
                <a:gd name="T7" fmla="*/ 2 h 3"/>
                <a:gd name="T8" fmla="*/ 0 w 1092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3"/>
                <a:gd name="T17" fmla="*/ 1092 w 1092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3">
                  <a:moveTo>
                    <a:pt x="0" y="2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2"/>
                  </a:lnTo>
                  <a:lnTo>
                    <a:pt x="0" y="2"/>
                  </a:lnTo>
                </a:path>
              </a:pathLst>
            </a:custGeom>
            <a:solidFill>
              <a:srgbClr val="03B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0" name="Freeform 214">
              <a:extLst>
                <a:ext uri="{FF2B5EF4-FFF2-40B4-BE49-F238E27FC236}">
                  <a16:creationId xmlns:a16="http://schemas.microsoft.com/office/drawing/2014/main" id="{3AF7705E-A153-4B6C-94E4-8CF396726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5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B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1" name="Freeform 215">
              <a:extLst>
                <a:ext uri="{FF2B5EF4-FFF2-40B4-BE49-F238E27FC236}">
                  <a16:creationId xmlns:a16="http://schemas.microsoft.com/office/drawing/2014/main" id="{74C8A912-F8E2-4583-A0D4-8D485A3DB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4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B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2" name="Freeform 216">
              <a:extLst>
                <a:ext uri="{FF2B5EF4-FFF2-40B4-BE49-F238E27FC236}">
                  <a16:creationId xmlns:a16="http://schemas.microsoft.com/office/drawing/2014/main" id="{AD7821E7-997F-4465-A8C2-616380EE1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41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AB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3" name="Freeform 217">
              <a:extLst>
                <a:ext uri="{FF2B5EF4-FFF2-40B4-BE49-F238E27FC236}">
                  <a16:creationId xmlns:a16="http://schemas.microsoft.com/office/drawing/2014/main" id="{77438E82-DB08-4010-AC47-01B9EC6FC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32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A6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4" name="Freeform 218">
              <a:extLst>
                <a:ext uri="{FF2B5EF4-FFF2-40B4-BE49-F238E27FC236}">
                  <a16:creationId xmlns:a16="http://schemas.microsoft.com/office/drawing/2014/main" id="{AF75595B-CB7D-48BE-AA96-EB9F6AC93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2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A1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5" name="Freeform 219">
              <a:extLst>
                <a:ext uri="{FF2B5EF4-FFF2-40B4-BE49-F238E27FC236}">
                  <a16:creationId xmlns:a16="http://schemas.microsoft.com/office/drawing/2014/main" id="{E427E173-6C95-4FD3-BFC1-C4D2AEB3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2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9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6" name="Freeform 220">
              <a:extLst>
                <a:ext uri="{FF2B5EF4-FFF2-40B4-BE49-F238E27FC236}">
                  <a16:creationId xmlns:a16="http://schemas.microsoft.com/office/drawing/2014/main" id="{85873AE0-5AAD-4D36-9204-8F4BCBF89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1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97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7" name="Freeform 221">
              <a:extLst>
                <a:ext uri="{FF2B5EF4-FFF2-40B4-BE49-F238E27FC236}">
                  <a16:creationId xmlns:a16="http://schemas.microsoft.com/office/drawing/2014/main" id="{E7F18EC3-4A5A-453C-B19E-74D24AC7E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0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97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8" name="Freeform 222">
              <a:extLst>
                <a:ext uri="{FF2B5EF4-FFF2-40B4-BE49-F238E27FC236}">
                  <a16:creationId xmlns:a16="http://schemas.microsoft.com/office/drawing/2014/main" id="{A6E748BD-A3AC-415B-B525-F1B3EB442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9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9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89" name="Freeform 223">
              <a:extLst>
                <a:ext uri="{FF2B5EF4-FFF2-40B4-BE49-F238E27FC236}">
                  <a16:creationId xmlns:a16="http://schemas.microsoft.com/office/drawing/2014/main" id="{2243565E-44DA-4205-A795-865E32CD6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9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8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0" name="Freeform 224">
              <a:extLst>
                <a:ext uri="{FF2B5EF4-FFF2-40B4-BE49-F238E27FC236}">
                  <a16:creationId xmlns:a16="http://schemas.microsoft.com/office/drawing/2014/main" id="{80F4D73A-F419-4128-965F-1128E1C8F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8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8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1" name="Freeform 225">
              <a:extLst>
                <a:ext uri="{FF2B5EF4-FFF2-40B4-BE49-F238E27FC236}">
                  <a16:creationId xmlns:a16="http://schemas.microsoft.com/office/drawing/2014/main" id="{B7835737-34AD-41BE-A8A7-8A29DB231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7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85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2" name="Freeform 226">
              <a:extLst>
                <a:ext uri="{FF2B5EF4-FFF2-40B4-BE49-F238E27FC236}">
                  <a16:creationId xmlns:a16="http://schemas.microsoft.com/office/drawing/2014/main" id="{0D81458E-7A64-4815-936C-762E05686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72"/>
              <a:ext cx="1092" cy="2"/>
            </a:xfrm>
            <a:custGeom>
              <a:avLst/>
              <a:gdLst>
                <a:gd name="T0" fmla="*/ 0 w 1092"/>
                <a:gd name="T1" fmla="*/ 0 h 2"/>
                <a:gd name="T2" fmla="*/ 0 w 1092"/>
                <a:gd name="T3" fmla="*/ 1 h 2"/>
                <a:gd name="T4" fmla="*/ 1091 w 1092"/>
                <a:gd name="T5" fmla="*/ 1 h 2"/>
                <a:gd name="T6" fmla="*/ 1091 w 1092"/>
                <a:gd name="T7" fmla="*/ 0 h 2"/>
                <a:gd name="T8" fmla="*/ 0 w 109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2"/>
                <a:gd name="T17" fmla="*/ 1092 w 1092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2">
                  <a:moveTo>
                    <a:pt x="0" y="0"/>
                  </a:moveTo>
                  <a:lnTo>
                    <a:pt x="0" y="1"/>
                  </a:lnTo>
                  <a:lnTo>
                    <a:pt x="1091" y="1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82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3" name="Freeform 227">
              <a:extLst>
                <a:ext uri="{FF2B5EF4-FFF2-40B4-BE49-F238E27FC236}">
                  <a16:creationId xmlns:a16="http://schemas.microsoft.com/office/drawing/2014/main" id="{FB226228-9FE3-4D33-A688-36F640C77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6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7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4" name="Freeform 228">
              <a:extLst>
                <a:ext uri="{FF2B5EF4-FFF2-40B4-BE49-F238E27FC236}">
                  <a16:creationId xmlns:a16="http://schemas.microsoft.com/office/drawing/2014/main" id="{D089AC15-2E62-4677-813C-8F08BAAD0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61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7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5" name="Freeform 229">
              <a:extLst>
                <a:ext uri="{FF2B5EF4-FFF2-40B4-BE49-F238E27FC236}">
                  <a16:creationId xmlns:a16="http://schemas.microsoft.com/office/drawing/2014/main" id="{E95995F1-CE94-42F4-878D-8F13053EE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52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275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6" name="Freeform 230">
              <a:extLst>
                <a:ext uri="{FF2B5EF4-FFF2-40B4-BE49-F238E27FC236}">
                  <a16:creationId xmlns:a16="http://schemas.microsoft.com/office/drawing/2014/main" id="{6A672E01-F850-444A-89E7-A49837554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4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7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7" name="Freeform 231">
              <a:extLst>
                <a:ext uri="{FF2B5EF4-FFF2-40B4-BE49-F238E27FC236}">
                  <a16:creationId xmlns:a16="http://schemas.microsoft.com/office/drawing/2014/main" id="{171A43F9-315E-4508-A45D-C4A46A012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4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6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8" name="Freeform 232">
              <a:extLst>
                <a:ext uri="{FF2B5EF4-FFF2-40B4-BE49-F238E27FC236}">
                  <a16:creationId xmlns:a16="http://schemas.microsoft.com/office/drawing/2014/main" id="{5528D18C-3779-4EA5-A78E-9F06B1DD1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3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68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99" name="Freeform 233">
              <a:extLst>
                <a:ext uri="{FF2B5EF4-FFF2-40B4-BE49-F238E27FC236}">
                  <a16:creationId xmlns:a16="http://schemas.microsoft.com/office/drawing/2014/main" id="{A3D47058-D259-4D64-87CC-B9A4C0CA8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2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6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0" name="Freeform 234">
              <a:extLst>
                <a:ext uri="{FF2B5EF4-FFF2-40B4-BE49-F238E27FC236}">
                  <a16:creationId xmlns:a16="http://schemas.microsoft.com/office/drawing/2014/main" id="{D4E86B80-CFBE-4169-BB19-E7994283B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1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6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1" name="Freeform 235">
              <a:extLst>
                <a:ext uri="{FF2B5EF4-FFF2-40B4-BE49-F238E27FC236}">
                  <a16:creationId xmlns:a16="http://schemas.microsoft.com/office/drawing/2014/main" id="{AA7DC463-C154-473D-A7CC-4E27A71F9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1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5C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2" name="Freeform 236">
              <a:extLst>
                <a:ext uri="{FF2B5EF4-FFF2-40B4-BE49-F238E27FC236}">
                  <a16:creationId xmlns:a16="http://schemas.microsoft.com/office/drawing/2014/main" id="{4E631551-4FD2-402C-81B4-E077B0C44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0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5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3" name="Freeform 237">
              <a:extLst>
                <a:ext uri="{FF2B5EF4-FFF2-40B4-BE49-F238E27FC236}">
                  <a16:creationId xmlns:a16="http://schemas.microsoft.com/office/drawing/2014/main" id="{050DD586-8D9D-4224-A5EC-EE2FE1E4C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9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5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4" name="Freeform 238">
              <a:extLst>
                <a:ext uri="{FF2B5EF4-FFF2-40B4-BE49-F238E27FC236}">
                  <a16:creationId xmlns:a16="http://schemas.microsoft.com/office/drawing/2014/main" id="{2A98FF75-61BF-4D46-AAED-03C905872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9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4F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5" name="Freeform 239">
              <a:extLst>
                <a:ext uri="{FF2B5EF4-FFF2-40B4-BE49-F238E27FC236}">
                  <a16:creationId xmlns:a16="http://schemas.microsoft.com/office/drawing/2014/main" id="{255B3976-96D3-429A-B0AC-EDCFE8E81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86"/>
              <a:ext cx="1092" cy="2"/>
            </a:xfrm>
            <a:custGeom>
              <a:avLst/>
              <a:gdLst>
                <a:gd name="T0" fmla="*/ 0 w 1092"/>
                <a:gd name="T1" fmla="*/ 0 h 2"/>
                <a:gd name="T2" fmla="*/ 0 w 1092"/>
                <a:gd name="T3" fmla="*/ 1 h 2"/>
                <a:gd name="T4" fmla="*/ 1091 w 1092"/>
                <a:gd name="T5" fmla="*/ 1 h 2"/>
                <a:gd name="T6" fmla="*/ 1091 w 1092"/>
                <a:gd name="T7" fmla="*/ 0 h 2"/>
                <a:gd name="T8" fmla="*/ 0 w 109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2"/>
                <a:gd name="T17" fmla="*/ 1092 w 1092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2">
                  <a:moveTo>
                    <a:pt x="0" y="0"/>
                  </a:moveTo>
                  <a:lnTo>
                    <a:pt x="0" y="1"/>
                  </a:lnTo>
                  <a:lnTo>
                    <a:pt x="1091" y="1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4A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6" name="Freeform 240">
              <a:extLst>
                <a:ext uri="{FF2B5EF4-FFF2-40B4-BE49-F238E27FC236}">
                  <a16:creationId xmlns:a16="http://schemas.microsoft.com/office/drawing/2014/main" id="{619ABA3F-383D-4F93-AA27-1347F736B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7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45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7" name="Freeform 241">
              <a:extLst>
                <a:ext uri="{FF2B5EF4-FFF2-40B4-BE49-F238E27FC236}">
                  <a16:creationId xmlns:a16="http://schemas.microsoft.com/office/drawing/2014/main" id="{8A0EFEAB-0D79-4DF2-92A4-2A2F1EE6F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7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4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8" name="Freeform 242">
              <a:extLst>
                <a:ext uri="{FF2B5EF4-FFF2-40B4-BE49-F238E27FC236}">
                  <a16:creationId xmlns:a16="http://schemas.microsoft.com/office/drawing/2014/main" id="{1BA84EEA-5A77-417E-BBF0-0BCE51E95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6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3D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09" name="Freeform 243">
              <a:extLst>
                <a:ext uri="{FF2B5EF4-FFF2-40B4-BE49-F238E27FC236}">
                  <a16:creationId xmlns:a16="http://schemas.microsoft.com/office/drawing/2014/main" id="{728B2F0E-88BC-4FE2-A29A-9D6181961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6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3B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0" name="Freeform 244">
              <a:extLst>
                <a:ext uri="{FF2B5EF4-FFF2-40B4-BE49-F238E27FC236}">
                  <a16:creationId xmlns:a16="http://schemas.microsoft.com/office/drawing/2014/main" id="{B5BB40C7-71A5-48F4-9116-C1F9035D1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51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3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1" name="Freeform 245">
              <a:extLst>
                <a:ext uri="{FF2B5EF4-FFF2-40B4-BE49-F238E27FC236}">
                  <a16:creationId xmlns:a16="http://schemas.microsoft.com/office/drawing/2014/main" id="{EB34BB1B-719E-4406-A800-6904F6436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45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33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2" name="Freeform 246">
              <a:extLst>
                <a:ext uri="{FF2B5EF4-FFF2-40B4-BE49-F238E27FC236}">
                  <a16:creationId xmlns:a16="http://schemas.microsoft.com/office/drawing/2014/main" id="{D8B1363F-1875-4398-9196-2E8381C1D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3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2E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3" name="Freeform 247">
              <a:extLst>
                <a:ext uri="{FF2B5EF4-FFF2-40B4-BE49-F238E27FC236}">
                  <a16:creationId xmlns:a16="http://schemas.microsoft.com/office/drawing/2014/main" id="{03F22612-14D9-4C14-B452-0C429B9D8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3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29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4" name="Freeform 248">
              <a:extLst>
                <a:ext uri="{FF2B5EF4-FFF2-40B4-BE49-F238E27FC236}">
                  <a16:creationId xmlns:a16="http://schemas.microsoft.com/office/drawing/2014/main" id="{0DD0EE78-B802-407B-A69A-D4DC18360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24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226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5" name="Freeform 249">
              <a:extLst>
                <a:ext uri="{FF2B5EF4-FFF2-40B4-BE49-F238E27FC236}">
                  <a16:creationId xmlns:a16="http://schemas.microsoft.com/office/drawing/2014/main" id="{409E0C7B-5498-49B3-AF02-E2AB3D1FE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18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1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6" name="Freeform 250">
              <a:extLst>
                <a:ext uri="{FF2B5EF4-FFF2-40B4-BE49-F238E27FC236}">
                  <a16:creationId xmlns:a16="http://schemas.microsoft.com/office/drawing/2014/main" id="{614C26CA-17B2-4B4A-A615-185A6A494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1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1C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7" name="Freeform 251">
              <a:extLst>
                <a:ext uri="{FF2B5EF4-FFF2-40B4-BE49-F238E27FC236}">
                  <a16:creationId xmlns:a16="http://schemas.microsoft.com/office/drawing/2014/main" id="{A8ADA10E-FD1C-4284-8B1D-BA5D6D21D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0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17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8" name="Freeform 252">
              <a:extLst>
                <a:ext uri="{FF2B5EF4-FFF2-40B4-BE49-F238E27FC236}">
                  <a16:creationId xmlns:a16="http://schemas.microsoft.com/office/drawing/2014/main" id="{0DC406BE-60E8-4B70-BE50-08AC456CF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98"/>
              <a:ext cx="1092" cy="3"/>
            </a:xfrm>
            <a:custGeom>
              <a:avLst/>
              <a:gdLst>
                <a:gd name="T0" fmla="*/ 0 w 1092"/>
                <a:gd name="T1" fmla="*/ 2 h 3"/>
                <a:gd name="T2" fmla="*/ 0 w 1092"/>
                <a:gd name="T3" fmla="*/ 0 h 3"/>
                <a:gd name="T4" fmla="*/ 1091 w 1092"/>
                <a:gd name="T5" fmla="*/ 0 h 3"/>
                <a:gd name="T6" fmla="*/ 1091 w 1092"/>
                <a:gd name="T7" fmla="*/ 2 h 3"/>
                <a:gd name="T8" fmla="*/ 0 w 1092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3"/>
                <a:gd name="T17" fmla="*/ 1092 w 1092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3">
                  <a:moveTo>
                    <a:pt x="0" y="2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2"/>
                  </a:lnTo>
                  <a:lnTo>
                    <a:pt x="0" y="2"/>
                  </a:lnTo>
                </a:path>
              </a:pathLst>
            </a:custGeom>
            <a:solidFill>
              <a:srgbClr val="001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19" name="Freeform 253">
              <a:extLst>
                <a:ext uri="{FF2B5EF4-FFF2-40B4-BE49-F238E27FC236}">
                  <a16:creationId xmlns:a16="http://schemas.microsoft.com/office/drawing/2014/main" id="{D6ADBBFB-27EF-425B-9EE7-73AB9588C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9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1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0" name="Freeform 254">
              <a:extLst>
                <a:ext uri="{FF2B5EF4-FFF2-40B4-BE49-F238E27FC236}">
                  <a16:creationId xmlns:a16="http://schemas.microsoft.com/office/drawing/2014/main" id="{75B68C33-E848-4CD2-9FF3-2C3A650C9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8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0B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1" name="Freeform 255">
              <a:extLst>
                <a:ext uri="{FF2B5EF4-FFF2-40B4-BE49-F238E27FC236}">
                  <a16:creationId xmlns:a16="http://schemas.microsoft.com/office/drawing/2014/main" id="{75E4D441-D990-4938-A58F-4DD036AEB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8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05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2" name="Freeform 256">
              <a:extLst>
                <a:ext uri="{FF2B5EF4-FFF2-40B4-BE49-F238E27FC236}">
                  <a16:creationId xmlns:a16="http://schemas.microsoft.com/office/drawing/2014/main" id="{6A7456CC-8089-4D55-84D6-21BEE99F9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71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3" name="Freeform 257">
              <a:extLst>
                <a:ext uri="{FF2B5EF4-FFF2-40B4-BE49-F238E27FC236}">
                  <a16:creationId xmlns:a16="http://schemas.microsoft.com/office/drawing/2014/main" id="{4CEB9BE5-845C-47CE-A45A-B6956F063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4336"/>
              <a:ext cx="1056" cy="253"/>
            </a:xfrm>
            <a:custGeom>
              <a:avLst/>
              <a:gdLst>
                <a:gd name="T0" fmla="*/ 50 w 1056"/>
                <a:gd name="T1" fmla="*/ 107 h 253"/>
                <a:gd name="T2" fmla="*/ 123 w 1056"/>
                <a:gd name="T3" fmla="*/ 81 h 253"/>
                <a:gd name="T4" fmla="*/ 203 w 1056"/>
                <a:gd name="T5" fmla="*/ 58 h 253"/>
                <a:gd name="T6" fmla="*/ 279 w 1056"/>
                <a:gd name="T7" fmla="*/ 35 h 253"/>
                <a:gd name="T8" fmla="*/ 359 w 1056"/>
                <a:gd name="T9" fmla="*/ 21 h 253"/>
                <a:gd name="T10" fmla="*/ 439 w 1056"/>
                <a:gd name="T11" fmla="*/ 9 h 253"/>
                <a:gd name="T12" fmla="*/ 518 w 1056"/>
                <a:gd name="T13" fmla="*/ 3 h 253"/>
                <a:gd name="T14" fmla="*/ 599 w 1056"/>
                <a:gd name="T15" fmla="*/ 3 h 253"/>
                <a:gd name="T16" fmla="*/ 678 w 1056"/>
                <a:gd name="T17" fmla="*/ 9 h 253"/>
                <a:gd name="T18" fmla="*/ 758 w 1056"/>
                <a:gd name="T19" fmla="*/ 26 h 253"/>
                <a:gd name="T20" fmla="*/ 837 w 1056"/>
                <a:gd name="T21" fmla="*/ 50 h 253"/>
                <a:gd name="T22" fmla="*/ 875 w 1056"/>
                <a:gd name="T23" fmla="*/ 61 h 253"/>
                <a:gd name="T24" fmla="*/ 920 w 1056"/>
                <a:gd name="T25" fmla="*/ 72 h 253"/>
                <a:gd name="T26" fmla="*/ 964 w 1056"/>
                <a:gd name="T27" fmla="*/ 84 h 253"/>
                <a:gd name="T28" fmla="*/ 1008 w 1056"/>
                <a:gd name="T29" fmla="*/ 99 h 253"/>
                <a:gd name="T30" fmla="*/ 1043 w 1056"/>
                <a:gd name="T31" fmla="*/ 116 h 253"/>
                <a:gd name="T32" fmla="*/ 1046 w 1056"/>
                <a:gd name="T33" fmla="*/ 128 h 253"/>
                <a:gd name="T34" fmla="*/ 1028 w 1056"/>
                <a:gd name="T35" fmla="*/ 139 h 253"/>
                <a:gd name="T36" fmla="*/ 1008 w 1056"/>
                <a:gd name="T37" fmla="*/ 145 h 253"/>
                <a:gd name="T38" fmla="*/ 984 w 1056"/>
                <a:gd name="T39" fmla="*/ 150 h 253"/>
                <a:gd name="T40" fmla="*/ 961 w 1056"/>
                <a:gd name="T41" fmla="*/ 153 h 253"/>
                <a:gd name="T42" fmla="*/ 935 w 1056"/>
                <a:gd name="T43" fmla="*/ 156 h 253"/>
                <a:gd name="T44" fmla="*/ 911 w 1056"/>
                <a:gd name="T45" fmla="*/ 159 h 253"/>
                <a:gd name="T46" fmla="*/ 884 w 1056"/>
                <a:gd name="T47" fmla="*/ 159 h 253"/>
                <a:gd name="T48" fmla="*/ 860 w 1056"/>
                <a:gd name="T49" fmla="*/ 162 h 253"/>
                <a:gd name="T50" fmla="*/ 840 w 1056"/>
                <a:gd name="T51" fmla="*/ 165 h 253"/>
                <a:gd name="T52" fmla="*/ 822 w 1056"/>
                <a:gd name="T53" fmla="*/ 168 h 253"/>
                <a:gd name="T54" fmla="*/ 828 w 1056"/>
                <a:gd name="T55" fmla="*/ 183 h 253"/>
                <a:gd name="T56" fmla="*/ 840 w 1056"/>
                <a:gd name="T57" fmla="*/ 203 h 253"/>
                <a:gd name="T58" fmla="*/ 834 w 1056"/>
                <a:gd name="T59" fmla="*/ 215 h 253"/>
                <a:gd name="T60" fmla="*/ 801 w 1056"/>
                <a:gd name="T61" fmla="*/ 223 h 253"/>
                <a:gd name="T62" fmla="*/ 769 w 1056"/>
                <a:gd name="T63" fmla="*/ 229 h 253"/>
                <a:gd name="T64" fmla="*/ 737 w 1056"/>
                <a:gd name="T65" fmla="*/ 234 h 253"/>
                <a:gd name="T66" fmla="*/ 701 w 1056"/>
                <a:gd name="T67" fmla="*/ 240 h 253"/>
                <a:gd name="T68" fmla="*/ 672 w 1056"/>
                <a:gd name="T69" fmla="*/ 243 h 253"/>
                <a:gd name="T70" fmla="*/ 651 w 1056"/>
                <a:gd name="T71" fmla="*/ 246 h 253"/>
                <a:gd name="T72" fmla="*/ 627 w 1056"/>
                <a:gd name="T73" fmla="*/ 249 h 253"/>
                <a:gd name="T74" fmla="*/ 604 w 1056"/>
                <a:gd name="T75" fmla="*/ 252 h 253"/>
                <a:gd name="T76" fmla="*/ 578 w 1056"/>
                <a:gd name="T77" fmla="*/ 252 h 253"/>
                <a:gd name="T78" fmla="*/ 554 w 1056"/>
                <a:gd name="T79" fmla="*/ 252 h 253"/>
                <a:gd name="T80" fmla="*/ 527 w 1056"/>
                <a:gd name="T81" fmla="*/ 249 h 253"/>
                <a:gd name="T82" fmla="*/ 504 w 1056"/>
                <a:gd name="T83" fmla="*/ 249 h 253"/>
                <a:gd name="T84" fmla="*/ 480 w 1056"/>
                <a:gd name="T85" fmla="*/ 246 h 253"/>
                <a:gd name="T86" fmla="*/ 456 w 1056"/>
                <a:gd name="T87" fmla="*/ 243 h 253"/>
                <a:gd name="T88" fmla="*/ 436 w 1056"/>
                <a:gd name="T89" fmla="*/ 240 h 253"/>
                <a:gd name="T90" fmla="*/ 413 w 1056"/>
                <a:gd name="T91" fmla="*/ 237 h 253"/>
                <a:gd name="T92" fmla="*/ 389 w 1056"/>
                <a:gd name="T93" fmla="*/ 234 h 253"/>
                <a:gd name="T94" fmla="*/ 362 w 1056"/>
                <a:gd name="T95" fmla="*/ 234 h 253"/>
                <a:gd name="T96" fmla="*/ 336 w 1056"/>
                <a:gd name="T97" fmla="*/ 231 h 253"/>
                <a:gd name="T98" fmla="*/ 309 w 1056"/>
                <a:gd name="T99" fmla="*/ 229 h 253"/>
                <a:gd name="T100" fmla="*/ 282 w 1056"/>
                <a:gd name="T101" fmla="*/ 226 h 253"/>
                <a:gd name="T102" fmla="*/ 257 w 1056"/>
                <a:gd name="T103" fmla="*/ 223 h 253"/>
                <a:gd name="T104" fmla="*/ 230 w 1056"/>
                <a:gd name="T105" fmla="*/ 221 h 253"/>
                <a:gd name="T106" fmla="*/ 203 w 1056"/>
                <a:gd name="T107" fmla="*/ 212 h 253"/>
                <a:gd name="T108" fmla="*/ 180 w 1056"/>
                <a:gd name="T109" fmla="*/ 206 h 253"/>
                <a:gd name="T110" fmla="*/ 156 w 1056"/>
                <a:gd name="T111" fmla="*/ 197 h 253"/>
                <a:gd name="T112" fmla="*/ 153 w 1056"/>
                <a:gd name="T113" fmla="*/ 180 h 253"/>
                <a:gd name="T114" fmla="*/ 147 w 1056"/>
                <a:gd name="T115" fmla="*/ 159 h 253"/>
                <a:gd name="T116" fmla="*/ 123 w 1056"/>
                <a:gd name="T117" fmla="*/ 147 h 253"/>
                <a:gd name="T118" fmla="*/ 91 w 1056"/>
                <a:gd name="T119" fmla="*/ 142 h 253"/>
                <a:gd name="T120" fmla="*/ 59 w 1056"/>
                <a:gd name="T121" fmla="*/ 139 h 253"/>
                <a:gd name="T122" fmla="*/ 26 w 1056"/>
                <a:gd name="T123" fmla="*/ 134 h 253"/>
                <a:gd name="T124" fmla="*/ 0 w 1056"/>
                <a:gd name="T125" fmla="*/ 125 h 25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056"/>
                <a:gd name="T190" fmla="*/ 0 h 253"/>
                <a:gd name="T191" fmla="*/ 1056 w 1056"/>
                <a:gd name="T192" fmla="*/ 253 h 253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056" h="253">
                  <a:moveTo>
                    <a:pt x="0" y="125"/>
                  </a:moveTo>
                  <a:lnTo>
                    <a:pt x="23" y="116"/>
                  </a:lnTo>
                  <a:lnTo>
                    <a:pt x="50" y="107"/>
                  </a:lnTo>
                  <a:lnTo>
                    <a:pt x="74" y="99"/>
                  </a:lnTo>
                  <a:lnTo>
                    <a:pt x="99" y="90"/>
                  </a:lnTo>
                  <a:lnTo>
                    <a:pt x="123" y="81"/>
                  </a:lnTo>
                  <a:lnTo>
                    <a:pt x="150" y="72"/>
                  </a:lnTo>
                  <a:lnTo>
                    <a:pt x="177" y="63"/>
                  </a:lnTo>
                  <a:lnTo>
                    <a:pt x="203" y="58"/>
                  </a:lnTo>
                  <a:lnTo>
                    <a:pt x="227" y="50"/>
                  </a:lnTo>
                  <a:lnTo>
                    <a:pt x="254" y="44"/>
                  </a:lnTo>
                  <a:lnTo>
                    <a:pt x="279" y="35"/>
                  </a:lnTo>
                  <a:lnTo>
                    <a:pt x="306" y="29"/>
                  </a:lnTo>
                  <a:lnTo>
                    <a:pt x="333" y="23"/>
                  </a:lnTo>
                  <a:lnTo>
                    <a:pt x="359" y="21"/>
                  </a:lnTo>
                  <a:lnTo>
                    <a:pt x="386" y="15"/>
                  </a:lnTo>
                  <a:lnTo>
                    <a:pt x="413" y="12"/>
                  </a:lnTo>
                  <a:lnTo>
                    <a:pt x="439" y="9"/>
                  </a:lnTo>
                  <a:lnTo>
                    <a:pt x="465" y="6"/>
                  </a:lnTo>
                  <a:lnTo>
                    <a:pt x="492" y="3"/>
                  </a:lnTo>
                  <a:lnTo>
                    <a:pt x="518" y="3"/>
                  </a:lnTo>
                  <a:lnTo>
                    <a:pt x="545" y="0"/>
                  </a:lnTo>
                  <a:lnTo>
                    <a:pt x="572" y="0"/>
                  </a:lnTo>
                  <a:lnTo>
                    <a:pt x="599" y="3"/>
                  </a:lnTo>
                  <a:lnTo>
                    <a:pt x="624" y="3"/>
                  </a:lnTo>
                  <a:lnTo>
                    <a:pt x="651" y="6"/>
                  </a:lnTo>
                  <a:lnTo>
                    <a:pt x="678" y="9"/>
                  </a:lnTo>
                  <a:lnTo>
                    <a:pt x="704" y="15"/>
                  </a:lnTo>
                  <a:lnTo>
                    <a:pt x="731" y="21"/>
                  </a:lnTo>
                  <a:lnTo>
                    <a:pt x="758" y="26"/>
                  </a:lnTo>
                  <a:lnTo>
                    <a:pt x="784" y="32"/>
                  </a:lnTo>
                  <a:lnTo>
                    <a:pt x="810" y="41"/>
                  </a:lnTo>
                  <a:lnTo>
                    <a:pt x="837" y="50"/>
                  </a:lnTo>
                  <a:lnTo>
                    <a:pt x="849" y="52"/>
                  </a:lnTo>
                  <a:lnTo>
                    <a:pt x="860" y="58"/>
                  </a:lnTo>
                  <a:lnTo>
                    <a:pt x="875" y="61"/>
                  </a:lnTo>
                  <a:lnTo>
                    <a:pt x="890" y="63"/>
                  </a:lnTo>
                  <a:lnTo>
                    <a:pt x="905" y="66"/>
                  </a:lnTo>
                  <a:lnTo>
                    <a:pt x="920" y="72"/>
                  </a:lnTo>
                  <a:lnTo>
                    <a:pt x="935" y="75"/>
                  </a:lnTo>
                  <a:lnTo>
                    <a:pt x="949" y="78"/>
                  </a:lnTo>
                  <a:lnTo>
                    <a:pt x="964" y="84"/>
                  </a:lnTo>
                  <a:lnTo>
                    <a:pt x="978" y="87"/>
                  </a:lnTo>
                  <a:lnTo>
                    <a:pt x="993" y="93"/>
                  </a:lnTo>
                  <a:lnTo>
                    <a:pt x="1008" y="99"/>
                  </a:lnTo>
                  <a:lnTo>
                    <a:pt x="1019" y="102"/>
                  </a:lnTo>
                  <a:lnTo>
                    <a:pt x="1031" y="107"/>
                  </a:lnTo>
                  <a:lnTo>
                    <a:pt x="1043" y="116"/>
                  </a:lnTo>
                  <a:lnTo>
                    <a:pt x="1055" y="122"/>
                  </a:lnTo>
                  <a:lnTo>
                    <a:pt x="1052" y="125"/>
                  </a:lnTo>
                  <a:lnTo>
                    <a:pt x="1046" y="128"/>
                  </a:lnTo>
                  <a:lnTo>
                    <a:pt x="1040" y="134"/>
                  </a:lnTo>
                  <a:lnTo>
                    <a:pt x="1034" y="136"/>
                  </a:lnTo>
                  <a:lnTo>
                    <a:pt x="1028" y="139"/>
                  </a:lnTo>
                  <a:lnTo>
                    <a:pt x="1022" y="139"/>
                  </a:lnTo>
                  <a:lnTo>
                    <a:pt x="1017" y="142"/>
                  </a:lnTo>
                  <a:lnTo>
                    <a:pt x="1008" y="145"/>
                  </a:lnTo>
                  <a:lnTo>
                    <a:pt x="1002" y="147"/>
                  </a:lnTo>
                  <a:lnTo>
                    <a:pt x="993" y="147"/>
                  </a:lnTo>
                  <a:lnTo>
                    <a:pt x="984" y="150"/>
                  </a:lnTo>
                  <a:lnTo>
                    <a:pt x="978" y="150"/>
                  </a:lnTo>
                  <a:lnTo>
                    <a:pt x="969" y="153"/>
                  </a:lnTo>
                  <a:lnTo>
                    <a:pt x="961" y="153"/>
                  </a:lnTo>
                  <a:lnTo>
                    <a:pt x="952" y="153"/>
                  </a:lnTo>
                  <a:lnTo>
                    <a:pt x="943" y="156"/>
                  </a:lnTo>
                  <a:lnTo>
                    <a:pt x="935" y="156"/>
                  </a:lnTo>
                  <a:lnTo>
                    <a:pt x="926" y="156"/>
                  </a:lnTo>
                  <a:lnTo>
                    <a:pt x="920" y="159"/>
                  </a:lnTo>
                  <a:lnTo>
                    <a:pt x="911" y="159"/>
                  </a:lnTo>
                  <a:lnTo>
                    <a:pt x="902" y="159"/>
                  </a:lnTo>
                  <a:lnTo>
                    <a:pt x="893" y="159"/>
                  </a:lnTo>
                  <a:lnTo>
                    <a:pt x="884" y="159"/>
                  </a:lnTo>
                  <a:lnTo>
                    <a:pt x="875" y="162"/>
                  </a:lnTo>
                  <a:lnTo>
                    <a:pt x="869" y="162"/>
                  </a:lnTo>
                  <a:lnTo>
                    <a:pt x="860" y="162"/>
                  </a:lnTo>
                  <a:lnTo>
                    <a:pt x="854" y="162"/>
                  </a:lnTo>
                  <a:lnTo>
                    <a:pt x="846" y="165"/>
                  </a:lnTo>
                  <a:lnTo>
                    <a:pt x="840" y="165"/>
                  </a:lnTo>
                  <a:lnTo>
                    <a:pt x="834" y="165"/>
                  </a:lnTo>
                  <a:lnTo>
                    <a:pt x="828" y="168"/>
                  </a:lnTo>
                  <a:lnTo>
                    <a:pt x="822" y="168"/>
                  </a:lnTo>
                  <a:lnTo>
                    <a:pt x="822" y="171"/>
                  </a:lnTo>
                  <a:lnTo>
                    <a:pt x="825" y="177"/>
                  </a:lnTo>
                  <a:lnTo>
                    <a:pt x="828" y="183"/>
                  </a:lnTo>
                  <a:lnTo>
                    <a:pt x="831" y="189"/>
                  </a:lnTo>
                  <a:lnTo>
                    <a:pt x="834" y="197"/>
                  </a:lnTo>
                  <a:lnTo>
                    <a:pt x="840" y="203"/>
                  </a:lnTo>
                  <a:lnTo>
                    <a:pt x="843" y="206"/>
                  </a:lnTo>
                  <a:lnTo>
                    <a:pt x="843" y="212"/>
                  </a:lnTo>
                  <a:lnTo>
                    <a:pt x="834" y="215"/>
                  </a:lnTo>
                  <a:lnTo>
                    <a:pt x="825" y="218"/>
                  </a:lnTo>
                  <a:lnTo>
                    <a:pt x="813" y="221"/>
                  </a:lnTo>
                  <a:lnTo>
                    <a:pt x="801" y="223"/>
                  </a:lnTo>
                  <a:lnTo>
                    <a:pt x="792" y="223"/>
                  </a:lnTo>
                  <a:lnTo>
                    <a:pt x="781" y="226"/>
                  </a:lnTo>
                  <a:lnTo>
                    <a:pt x="769" y="229"/>
                  </a:lnTo>
                  <a:lnTo>
                    <a:pt x="758" y="231"/>
                  </a:lnTo>
                  <a:lnTo>
                    <a:pt x="746" y="231"/>
                  </a:lnTo>
                  <a:lnTo>
                    <a:pt x="737" y="234"/>
                  </a:lnTo>
                  <a:lnTo>
                    <a:pt x="725" y="237"/>
                  </a:lnTo>
                  <a:lnTo>
                    <a:pt x="713" y="237"/>
                  </a:lnTo>
                  <a:lnTo>
                    <a:pt x="701" y="240"/>
                  </a:lnTo>
                  <a:lnTo>
                    <a:pt x="692" y="240"/>
                  </a:lnTo>
                  <a:lnTo>
                    <a:pt x="681" y="243"/>
                  </a:lnTo>
                  <a:lnTo>
                    <a:pt x="672" y="243"/>
                  </a:lnTo>
                  <a:lnTo>
                    <a:pt x="666" y="246"/>
                  </a:lnTo>
                  <a:lnTo>
                    <a:pt x="657" y="246"/>
                  </a:lnTo>
                  <a:lnTo>
                    <a:pt x="651" y="246"/>
                  </a:lnTo>
                  <a:lnTo>
                    <a:pt x="642" y="249"/>
                  </a:lnTo>
                  <a:lnTo>
                    <a:pt x="636" y="249"/>
                  </a:lnTo>
                  <a:lnTo>
                    <a:pt x="627" y="249"/>
                  </a:lnTo>
                  <a:lnTo>
                    <a:pt x="618" y="249"/>
                  </a:lnTo>
                  <a:lnTo>
                    <a:pt x="610" y="249"/>
                  </a:lnTo>
                  <a:lnTo>
                    <a:pt x="604" y="252"/>
                  </a:lnTo>
                  <a:lnTo>
                    <a:pt x="596" y="252"/>
                  </a:lnTo>
                  <a:lnTo>
                    <a:pt x="587" y="252"/>
                  </a:lnTo>
                  <a:lnTo>
                    <a:pt x="578" y="252"/>
                  </a:lnTo>
                  <a:lnTo>
                    <a:pt x="572" y="252"/>
                  </a:lnTo>
                  <a:lnTo>
                    <a:pt x="563" y="252"/>
                  </a:lnTo>
                  <a:lnTo>
                    <a:pt x="554" y="252"/>
                  </a:lnTo>
                  <a:lnTo>
                    <a:pt x="545" y="249"/>
                  </a:lnTo>
                  <a:lnTo>
                    <a:pt x="536" y="249"/>
                  </a:lnTo>
                  <a:lnTo>
                    <a:pt x="527" y="249"/>
                  </a:lnTo>
                  <a:lnTo>
                    <a:pt x="521" y="249"/>
                  </a:lnTo>
                  <a:lnTo>
                    <a:pt x="513" y="249"/>
                  </a:lnTo>
                  <a:lnTo>
                    <a:pt x="504" y="249"/>
                  </a:lnTo>
                  <a:lnTo>
                    <a:pt x="495" y="246"/>
                  </a:lnTo>
                  <a:lnTo>
                    <a:pt x="486" y="246"/>
                  </a:lnTo>
                  <a:lnTo>
                    <a:pt x="480" y="246"/>
                  </a:lnTo>
                  <a:lnTo>
                    <a:pt x="471" y="246"/>
                  </a:lnTo>
                  <a:lnTo>
                    <a:pt x="465" y="246"/>
                  </a:lnTo>
                  <a:lnTo>
                    <a:pt x="456" y="243"/>
                  </a:lnTo>
                  <a:lnTo>
                    <a:pt x="450" y="243"/>
                  </a:lnTo>
                  <a:lnTo>
                    <a:pt x="441" y="243"/>
                  </a:lnTo>
                  <a:lnTo>
                    <a:pt x="436" y="240"/>
                  </a:lnTo>
                  <a:lnTo>
                    <a:pt x="428" y="240"/>
                  </a:lnTo>
                  <a:lnTo>
                    <a:pt x="422" y="240"/>
                  </a:lnTo>
                  <a:lnTo>
                    <a:pt x="413" y="237"/>
                  </a:lnTo>
                  <a:lnTo>
                    <a:pt x="407" y="237"/>
                  </a:lnTo>
                  <a:lnTo>
                    <a:pt x="398" y="237"/>
                  </a:lnTo>
                  <a:lnTo>
                    <a:pt x="389" y="234"/>
                  </a:lnTo>
                  <a:lnTo>
                    <a:pt x="380" y="234"/>
                  </a:lnTo>
                  <a:lnTo>
                    <a:pt x="371" y="234"/>
                  </a:lnTo>
                  <a:lnTo>
                    <a:pt x="362" y="234"/>
                  </a:lnTo>
                  <a:lnTo>
                    <a:pt x="353" y="231"/>
                  </a:lnTo>
                  <a:lnTo>
                    <a:pt x="345" y="231"/>
                  </a:lnTo>
                  <a:lnTo>
                    <a:pt x="336" y="231"/>
                  </a:lnTo>
                  <a:lnTo>
                    <a:pt x="327" y="231"/>
                  </a:lnTo>
                  <a:lnTo>
                    <a:pt x="318" y="229"/>
                  </a:lnTo>
                  <a:lnTo>
                    <a:pt x="309" y="229"/>
                  </a:lnTo>
                  <a:lnTo>
                    <a:pt x="300" y="229"/>
                  </a:lnTo>
                  <a:lnTo>
                    <a:pt x="291" y="229"/>
                  </a:lnTo>
                  <a:lnTo>
                    <a:pt x="282" y="226"/>
                  </a:lnTo>
                  <a:lnTo>
                    <a:pt x="273" y="226"/>
                  </a:lnTo>
                  <a:lnTo>
                    <a:pt x="264" y="223"/>
                  </a:lnTo>
                  <a:lnTo>
                    <a:pt x="257" y="223"/>
                  </a:lnTo>
                  <a:lnTo>
                    <a:pt x="248" y="221"/>
                  </a:lnTo>
                  <a:lnTo>
                    <a:pt x="239" y="221"/>
                  </a:lnTo>
                  <a:lnTo>
                    <a:pt x="230" y="221"/>
                  </a:lnTo>
                  <a:lnTo>
                    <a:pt x="221" y="218"/>
                  </a:lnTo>
                  <a:lnTo>
                    <a:pt x="212" y="215"/>
                  </a:lnTo>
                  <a:lnTo>
                    <a:pt x="203" y="212"/>
                  </a:lnTo>
                  <a:lnTo>
                    <a:pt x="197" y="212"/>
                  </a:lnTo>
                  <a:lnTo>
                    <a:pt x="188" y="209"/>
                  </a:lnTo>
                  <a:lnTo>
                    <a:pt x="180" y="206"/>
                  </a:lnTo>
                  <a:lnTo>
                    <a:pt x="174" y="203"/>
                  </a:lnTo>
                  <a:lnTo>
                    <a:pt x="165" y="200"/>
                  </a:lnTo>
                  <a:lnTo>
                    <a:pt x="156" y="197"/>
                  </a:lnTo>
                  <a:lnTo>
                    <a:pt x="150" y="194"/>
                  </a:lnTo>
                  <a:lnTo>
                    <a:pt x="150" y="186"/>
                  </a:lnTo>
                  <a:lnTo>
                    <a:pt x="153" y="180"/>
                  </a:lnTo>
                  <a:lnTo>
                    <a:pt x="153" y="171"/>
                  </a:lnTo>
                  <a:lnTo>
                    <a:pt x="153" y="162"/>
                  </a:lnTo>
                  <a:lnTo>
                    <a:pt x="147" y="159"/>
                  </a:lnTo>
                  <a:lnTo>
                    <a:pt x="141" y="153"/>
                  </a:lnTo>
                  <a:lnTo>
                    <a:pt x="132" y="150"/>
                  </a:lnTo>
                  <a:lnTo>
                    <a:pt x="123" y="147"/>
                  </a:lnTo>
                  <a:lnTo>
                    <a:pt x="114" y="145"/>
                  </a:lnTo>
                  <a:lnTo>
                    <a:pt x="102" y="145"/>
                  </a:lnTo>
                  <a:lnTo>
                    <a:pt x="91" y="142"/>
                  </a:lnTo>
                  <a:lnTo>
                    <a:pt x="83" y="142"/>
                  </a:lnTo>
                  <a:lnTo>
                    <a:pt x="71" y="142"/>
                  </a:lnTo>
                  <a:lnTo>
                    <a:pt x="59" y="139"/>
                  </a:lnTo>
                  <a:lnTo>
                    <a:pt x="47" y="139"/>
                  </a:lnTo>
                  <a:lnTo>
                    <a:pt x="38" y="136"/>
                  </a:lnTo>
                  <a:lnTo>
                    <a:pt x="26" y="134"/>
                  </a:lnTo>
                  <a:lnTo>
                    <a:pt x="17" y="134"/>
                  </a:lnTo>
                  <a:lnTo>
                    <a:pt x="9" y="131"/>
                  </a:lnTo>
                  <a:lnTo>
                    <a:pt x="0" y="125"/>
                  </a:lnTo>
                </a:path>
              </a:pathLst>
            </a:custGeom>
            <a:solidFill>
              <a:srgbClr val="F5B8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4" name="Freeform 258">
              <a:extLst>
                <a:ext uri="{FF2B5EF4-FFF2-40B4-BE49-F238E27FC236}">
                  <a16:creationId xmlns:a16="http://schemas.microsoft.com/office/drawing/2014/main" id="{CB3811B1-9B3C-4C51-AF55-2FB1AD5EE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" y="3755"/>
              <a:ext cx="268" cy="597"/>
            </a:xfrm>
            <a:custGeom>
              <a:avLst/>
              <a:gdLst>
                <a:gd name="T0" fmla="*/ 244 w 268"/>
                <a:gd name="T1" fmla="*/ 9 h 597"/>
                <a:gd name="T2" fmla="*/ 267 w 268"/>
                <a:gd name="T3" fmla="*/ 0 h 597"/>
                <a:gd name="T4" fmla="*/ 255 w 268"/>
                <a:gd name="T5" fmla="*/ 29 h 597"/>
                <a:gd name="T6" fmla="*/ 241 w 268"/>
                <a:gd name="T7" fmla="*/ 64 h 597"/>
                <a:gd name="T8" fmla="*/ 226 w 268"/>
                <a:gd name="T9" fmla="*/ 97 h 597"/>
                <a:gd name="T10" fmla="*/ 214 w 268"/>
                <a:gd name="T11" fmla="*/ 135 h 597"/>
                <a:gd name="T12" fmla="*/ 200 w 268"/>
                <a:gd name="T13" fmla="*/ 170 h 597"/>
                <a:gd name="T14" fmla="*/ 186 w 268"/>
                <a:gd name="T15" fmla="*/ 208 h 597"/>
                <a:gd name="T16" fmla="*/ 174 w 268"/>
                <a:gd name="T17" fmla="*/ 249 h 597"/>
                <a:gd name="T18" fmla="*/ 162 w 268"/>
                <a:gd name="T19" fmla="*/ 287 h 597"/>
                <a:gd name="T20" fmla="*/ 151 w 268"/>
                <a:gd name="T21" fmla="*/ 326 h 597"/>
                <a:gd name="T22" fmla="*/ 142 w 268"/>
                <a:gd name="T23" fmla="*/ 366 h 597"/>
                <a:gd name="T24" fmla="*/ 130 w 268"/>
                <a:gd name="T25" fmla="*/ 405 h 597"/>
                <a:gd name="T26" fmla="*/ 125 w 268"/>
                <a:gd name="T27" fmla="*/ 447 h 597"/>
                <a:gd name="T28" fmla="*/ 119 w 268"/>
                <a:gd name="T29" fmla="*/ 484 h 597"/>
                <a:gd name="T30" fmla="*/ 113 w 268"/>
                <a:gd name="T31" fmla="*/ 523 h 597"/>
                <a:gd name="T32" fmla="*/ 111 w 268"/>
                <a:gd name="T33" fmla="*/ 560 h 597"/>
                <a:gd name="T34" fmla="*/ 111 w 268"/>
                <a:gd name="T35" fmla="*/ 596 h 597"/>
                <a:gd name="T36" fmla="*/ 0 w 268"/>
                <a:gd name="T37" fmla="*/ 575 h 597"/>
                <a:gd name="T38" fmla="*/ 6 w 268"/>
                <a:gd name="T39" fmla="*/ 560 h 597"/>
                <a:gd name="T40" fmla="*/ 12 w 268"/>
                <a:gd name="T41" fmla="*/ 543 h 597"/>
                <a:gd name="T42" fmla="*/ 18 w 268"/>
                <a:gd name="T43" fmla="*/ 529 h 597"/>
                <a:gd name="T44" fmla="*/ 23 w 268"/>
                <a:gd name="T45" fmla="*/ 511 h 597"/>
                <a:gd name="T46" fmla="*/ 29 w 268"/>
                <a:gd name="T47" fmla="*/ 493 h 597"/>
                <a:gd name="T48" fmla="*/ 35 w 268"/>
                <a:gd name="T49" fmla="*/ 475 h 597"/>
                <a:gd name="T50" fmla="*/ 44 w 268"/>
                <a:gd name="T51" fmla="*/ 457 h 597"/>
                <a:gd name="T52" fmla="*/ 49 w 268"/>
                <a:gd name="T53" fmla="*/ 441 h 597"/>
                <a:gd name="T54" fmla="*/ 58 w 268"/>
                <a:gd name="T55" fmla="*/ 423 h 597"/>
                <a:gd name="T56" fmla="*/ 67 w 268"/>
                <a:gd name="T57" fmla="*/ 405 h 597"/>
                <a:gd name="T58" fmla="*/ 72 w 268"/>
                <a:gd name="T59" fmla="*/ 387 h 597"/>
                <a:gd name="T60" fmla="*/ 81 w 268"/>
                <a:gd name="T61" fmla="*/ 366 h 597"/>
                <a:gd name="T62" fmla="*/ 90 w 268"/>
                <a:gd name="T63" fmla="*/ 349 h 597"/>
                <a:gd name="T64" fmla="*/ 96 w 268"/>
                <a:gd name="T65" fmla="*/ 332 h 597"/>
                <a:gd name="T66" fmla="*/ 105 w 268"/>
                <a:gd name="T67" fmla="*/ 311 h 597"/>
                <a:gd name="T68" fmla="*/ 113 w 268"/>
                <a:gd name="T69" fmla="*/ 293 h 597"/>
                <a:gd name="T70" fmla="*/ 122 w 268"/>
                <a:gd name="T71" fmla="*/ 276 h 597"/>
                <a:gd name="T72" fmla="*/ 130 w 268"/>
                <a:gd name="T73" fmla="*/ 258 h 597"/>
                <a:gd name="T74" fmla="*/ 139 w 268"/>
                <a:gd name="T75" fmla="*/ 238 h 597"/>
                <a:gd name="T76" fmla="*/ 148 w 268"/>
                <a:gd name="T77" fmla="*/ 220 h 597"/>
                <a:gd name="T78" fmla="*/ 154 w 268"/>
                <a:gd name="T79" fmla="*/ 202 h 597"/>
                <a:gd name="T80" fmla="*/ 162 w 268"/>
                <a:gd name="T81" fmla="*/ 182 h 597"/>
                <a:gd name="T82" fmla="*/ 171 w 268"/>
                <a:gd name="T83" fmla="*/ 164 h 597"/>
                <a:gd name="T84" fmla="*/ 180 w 268"/>
                <a:gd name="T85" fmla="*/ 147 h 597"/>
                <a:gd name="T86" fmla="*/ 189 w 268"/>
                <a:gd name="T87" fmla="*/ 129 h 597"/>
                <a:gd name="T88" fmla="*/ 198 w 268"/>
                <a:gd name="T89" fmla="*/ 111 h 597"/>
                <a:gd name="T90" fmla="*/ 203 w 268"/>
                <a:gd name="T91" fmla="*/ 94 h 597"/>
                <a:gd name="T92" fmla="*/ 211 w 268"/>
                <a:gd name="T93" fmla="*/ 76 h 597"/>
                <a:gd name="T94" fmla="*/ 220 w 268"/>
                <a:gd name="T95" fmla="*/ 58 h 597"/>
                <a:gd name="T96" fmla="*/ 229 w 268"/>
                <a:gd name="T97" fmla="*/ 41 h 597"/>
                <a:gd name="T98" fmla="*/ 235 w 268"/>
                <a:gd name="T99" fmla="*/ 26 h 597"/>
                <a:gd name="T100" fmla="*/ 244 w 268"/>
                <a:gd name="T101" fmla="*/ 9 h 5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68"/>
                <a:gd name="T154" fmla="*/ 0 h 597"/>
                <a:gd name="T155" fmla="*/ 268 w 268"/>
                <a:gd name="T156" fmla="*/ 597 h 5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68" h="597">
                  <a:moveTo>
                    <a:pt x="244" y="9"/>
                  </a:moveTo>
                  <a:lnTo>
                    <a:pt x="267" y="0"/>
                  </a:lnTo>
                  <a:lnTo>
                    <a:pt x="255" y="29"/>
                  </a:lnTo>
                  <a:lnTo>
                    <a:pt x="241" y="64"/>
                  </a:lnTo>
                  <a:lnTo>
                    <a:pt x="226" y="97"/>
                  </a:lnTo>
                  <a:lnTo>
                    <a:pt x="214" y="135"/>
                  </a:lnTo>
                  <a:lnTo>
                    <a:pt x="200" y="170"/>
                  </a:lnTo>
                  <a:lnTo>
                    <a:pt x="186" y="208"/>
                  </a:lnTo>
                  <a:lnTo>
                    <a:pt x="174" y="249"/>
                  </a:lnTo>
                  <a:lnTo>
                    <a:pt x="162" y="287"/>
                  </a:lnTo>
                  <a:lnTo>
                    <a:pt x="151" y="326"/>
                  </a:lnTo>
                  <a:lnTo>
                    <a:pt x="142" y="366"/>
                  </a:lnTo>
                  <a:lnTo>
                    <a:pt x="130" y="405"/>
                  </a:lnTo>
                  <a:lnTo>
                    <a:pt x="125" y="447"/>
                  </a:lnTo>
                  <a:lnTo>
                    <a:pt x="119" y="484"/>
                  </a:lnTo>
                  <a:lnTo>
                    <a:pt x="113" y="523"/>
                  </a:lnTo>
                  <a:lnTo>
                    <a:pt x="111" y="560"/>
                  </a:lnTo>
                  <a:lnTo>
                    <a:pt x="111" y="596"/>
                  </a:lnTo>
                  <a:lnTo>
                    <a:pt x="0" y="575"/>
                  </a:lnTo>
                  <a:lnTo>
                    <a:pt x="6" y="560"/>
                  </a:lnTo>
                  <a:lnTo>
                    <a:pt x="12" y="543"/>
                  </a:lnTo>
                  <a:lnTo>
                    <a:pt x="18" y="529"/>
                  </a:lnTo>
                  <a:lnTo>
                    <a:pt x="23" y="511"/>
                  </a:lnTo>
                  <a:lnTo>
                    <a:pt x="29" y="493"/>
                  </a:lnTo>
                  <a:lnTo>
                    <a:pt x="35" y="475"/>
                  </a:lnTo>
                  <a:lnTo>
                    <a:pt x="44" y="457"/>
                  </a:lnTo>
                  <a:lnTo>
                    <a:pt x="49" y="441"/>
                  </a:lnTo>
                  <a:lnTo>
                    <a:pt x="58" y="423"/>
                  </a:lnTo>
                  <a:lnTo>
                    <a:pt x="67" y="405"/>
                  </a:lnTo>
                  <a:lnTo>
                    <a:pt x="72" y="387"/>
                  </a:lnTo>
                  <a:lnTo>
                    <a:pt x="81" y="366"/>
                  </a:lnTo>
                  <a:lnTo>
                    <a:pt x="90" y="349"/>
                  </a:lnTo>
                  <a:lnTo>
                    <a:pt x="96" y="332"/>
                  </a:lnTo>
                  <a:lnTo>
                    <a:pt x="105" y="311"/>
                  </a:lnTo>
                  <a:lnTo>
                    <a:pt x="113" y="293"/>
                  </a:lnTo>
                  <a:lnTo>
                    <a:pt x="122" y="276"/>
                  </a:lnTo>
                  <a:lnTo>
                    <a:pt x="130" y="258"/>
                  </a:lnTo>
                  <a:lnTo>
                    <a:pt x="139" y="238"/>
                  </a:lnTo>
                  <a:lnTo>
                    <a:pt x="148" y="220"/>
                  </a:lnTo>
                  <a:lnTo>
                    <a:pt x="154" y="202"/>
                  </a:lnTo>
                  <a:lnTo>
                    <a:pt x="162" y="182"/>
                  </a:lnTo>
                  <a:lnTo>
                    <a:pt x="171" y="164"/>
                  </a:lnTo>
                  <a:lnTo>
                    <a:pt x="180" y="147"/>
                  </a:lnTo>
                  <a:lnTo>
                    <a:pt x="189" y="129"/>
                  </a:lnTo>
                  <a:lnTo>
                    <a:pt x="198" y="111"/>
                  </a:lnTo>
                  <a:lnTo>
                    <a:pt x="203" y="94"/>
                  </a:lnTo>
                  <a:lnTo>
                    <a:pt x="211" y="76"/>
                  </a:lnTo>
                  <a:lnTo>
                    <a:pt x="220" y="58"/>
                  </a:lnTo>
                  <a:lnTo>
                    <a:pt x="229" y="41"/>
                  </a:lnTo>
                  <a:lnTo>
                    <a:pt x="235" y="26"/>
                  </a:lnTo>
                  <a:lnTo>
                    <a:pt x="244" y="9"/>
                  </a:lnTo>
                </a:path>
              </a:pathLst>
            </a:cu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5" name="Freeform 259">
              <a:extLst>
                <a:ext uri="{FF2B5EF4-FFF2-40B4-BE49-F238E27FC236}">
                  <a16:creationId xmlns:a16="http://schemas.microsoft.com/office/drawing/2014/main" id="{7450F44E-819C-4809-9E82-5F75866B1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669"/>
              <a:ext cx="304" cy="134"/>
            </a:xfrm>
            <a:custGeom>
              <a:avLst/>
              <a:gdLst>
                <a:gd name="T0" fmla="*/ 294 w 304"/>
                <a:gd name="T1" fmla="*/ 39 h 134"/>
                <a:gd name="T2" fmla="*/ 230 w 304"/>
                <a:gd name="T3" fmla="*/ 0 h 134"/>
                <a:gd name="T4" fmla="*/ 0 w 304"/>
                <a:gd name="T5" fmla="*/ 133 h 134"/>
                <a:gd name="T6" fmla="*/ 111 w 304"/>
                <a:gd name="T7" fmla="*/ 127 h 134"/>
                <a:gd name="T8" fmla="*/ 137 w 304"/>
                <a:gd name="T9" fmla="*/ 94 h 134"/>
                <a:gd name="T10" fmla="*/ 131 w 304"/>
                <a:gd name="T11" fmla="*/ 130 h 134"/>
                <a:gd name="T12" fmla="*/ 277 w 304"/>
                <a:gd name="T13" fmla="*/ 97 h 134"/>
                <a:gd name="T14" fmla="*/ 303 w 304"/>
                <a:gd name="T15" fmla="*/ 82 h 134"/>
                <a:gd name="T16" fmla="*/ 294 w 304"/>
                <a:gd name="T17" fmla="*/ 39 h 1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4"/>
                <a:gd name="T28" fmla="*/ 0 h 134"/>
                <a:gd name="T29" fmla="*/ 304 w 304"/>
                <a:gd name="T30" fmla="*/ 134 h 13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4" h="134">
                  <a:moveTo>
                    <a:pt x="294" y="39"/>
                  </a:moveTo>
                  <a:lnTo>
                    <a:pt x="230" y="0"/>
                  </a:lnTo>
                  <a:lnTo>
                    <a:pt x="0" y="133"/>
                  </a:lnTo>
                  <a:lnTo>
                    <a:pt x="111" y="127"/>
                  </a:lnTo>
                  <a:lnTo>
                    <a:pt x="137" y="94"/>
                  </a:lnTo>
                  <a:lnTo>
                    <a:pt x="131" y="130"/>
                  </a:lnTo>
                  <a:lnTo>
                    <a:pt x="277" y="97"/>
                  </a:lnTo>
                  <a:lnTo>
                    <a:pt x="303" y="82"/>
                  </a:lnTo>
                  <a:lnTo>
                    <a:pt x="294" y="39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6" name="Freeform 260">
              <a:extLst>
                <a:ext uri="{FF2B5EF4-FFF2-40B4-BE49-F238E27FC236}">
                  <a16:creationId xmlns:a16="http://schemas.microsoft.com/office/drawing/2014/main" id="{0DA431FE-6A84-4F46-B7E7-C64CFDC79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6" y="3695"/>
              <a:ext cx="182" cy="233"/>
            </a:xfrm>
            <a:custGeom>
              <a:avLst/>
              <a:gdLst>
                <a:gd name="T0" fmla="*/ 0 w 182"/>
                <a:gd name="T1" fmla="*/ 23 h 233"/>
                <a:gd name="T2" fmla="*/ 34 w 182"/>
                <a:gd name="T3" fmla="*/ 0 h 233"/>
                <a:gd name="T4" fmla="*/ 181 w 182"/>
                <a:gd name="T5" fmla="*/ 232 h 233"/>
                <a:gd name="T6" fmla="*/ 89 w 182"/>
                <a:gd name="T7" fmla="*/ 174 h 233"/>
                <a:gd name="T8" fmla="*/ 77 w 182"/>
                <a:gd name="T9" fmla="*/ 131 h 233"/>
                <a:gd name="T10" fmla="*/ 69 w 182"/>
                <a:gd name="T11" fmla="*/ 168 h 233"/>
                <a:gd name="T12" fmla="*/ 22 w 182"/>
                <a:gd name="T13" fmla="*/ 107 h 233"/>
                <a:gd name="T14" fmla="*/ 0 w 182"/>
                <a:gd name="T15" fmla="*/ 23 h 2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2"/>
                <a:gd name="T25" fmla="*/ 0 h 233"/>
                <a:gd name="T26" fmla="*/ 182 w 182"/>
                <a:gd name="T27" fmla="*/ 233 h 2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2" h="233">
                  <a:moveTo>
                    <a:pt x="0" y="23"/>
                  </a:moveTo>
                  <a:lnTo>
                    <a:pt x="34" y="0"/>
                  </a:lnTo>
                  <a:lnTo>
                    <a:pt x="181" y="232"/>
                  </a:lnTo>
                  <a:lnTo>
                    <a:pt x="89" y="174"/>
                  </a:lnTo>
                  <a:lnTo>
                    <a:pt x="77" y="131"/>
                  </a:lnTo>
                  <a:lnTo>
                    <a:pt x="69" y="168"/>
                  </a:lnTo>
                  <a:lnTo>
                    <a:pt x="22" y="107"/>
                  </a:lnTo>
                  <a:lnTo>
                    <a:pt x="0" y="23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7" name="Freeform 261">
              <a:extLst>
                <a:ext uri="{FF2B5EF4-FFF2-40B4-BE49-F238E27FC236}">
                  <a16:creationId xmlns:a16="http://schemas.microsoft.com/office/drawing/2014/main" id="{235B5029-9AE4-4816-9C8E-0EED44730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8" y="3651"/>
              <a:ext cx="137" cy="297"/>
            </a:xfrm>
            <a:custGeom>
              <a:avLst/>
              <a:gdLst>
                <a:gd name="T0" fmla="*/ 42 w 137"/>
                <a:gd name="T1" fmla="*/ 0 h 297"/>
                <a:gd name="T2" fmla="*/ 0 w 137"/>
                <a:gd name="T3" fmla="*/ 58 h 297"/>
                <a:gd name="T4" fmla="*/ 6 w 137"/>
                <a:gd name="T5" fmla="*/ 102 h 297"/>
                <a:gd name="T6" fmla="*/ 34 w 137"/>
                <a:gd name="T7" fmla="*/ 163 h 297"/>
                <a:gd name="T8" fmla="*/ 54 w 137"/>
                <a:gd name="T9" fmla="*/ 127 h 297"/>
                <a:gd name="T10" fmla="*/ 39 w 137"/>
                <a:gd name="T11" fmla="*/ 177 h 297"/>
                <a:gd name="T12" fmla="*/ 108 w 137"/>
                <a:gd name="T13" fmla="*/ 296 h 297"/>
                <a:gd name="T14" fmla="*/ 136 w 137"/>
                <a:gd name="T15" fmla="*/ 218 h 297"/>
                <a:gd name="T16" fmla="*/ 88 w 137"/>
                <a:gd name="T17" fmla="*/ 40 h 297"/>
                <a:gd name="T18" fmla="*/ 42 w 137"/>
                <a:gd name="T19" fmla="*/ 0 h 2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37"/>
                <a:gd name="T31" fmla="*/ 0 h 297"/>
                <a:gd name="T32" fmla="*/ 137 w 137"/>
                <a:gd name="T33" fmla="*/ 297 h 2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37" h="297">
                  <a:moveTo>
                    <a:pt x="42" y="0"/>
                  </a:moveTo>
                  <a:lnTo>
                    <a:pt x="0" y="58"/>
                  </a:lnTo>
                  <a:lnTo>
                    <a:pt x="6" y="102"/>
                  </a:lnTo>
                  <a:lnTo>
                    <a:pt x="34" y="163"/>
                  </a:lnTo>
                  <a:lnTo>
                    <a:pt x="54" y="127"/>
                  </a:lnTo>
                  <a:lnTo>
                    <a:pt x="39" y="177"/>
                  </a:lnTo>
                  <a:lnTo>
                    <a:pt x="108" y="296"/>
                  </a:lnTo>
                  <a:lnTo>
                    <a:pt x="136" y="218"/>
                  </a:lnTo>
                  <a:lnTo>
                    <a:pt x="88" y="40"/>
                  </a:lnTo>
                  <a:lnTo>
                    <a:pt x="42" y="0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8" name="Freeform 262">
              <a:extLst>
                <a:ext uri="{FF2B5EF4-FFF2-40B4-BE49-F238E27FC236}">
                  <a16:creationId xmlns:a16="http://schemas.microsoft.com/office/drawing/2014/main" id="{0DB6532D-2BAF-4A71-AD5A-DC8B5F097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3770"/>
              <a:ext cx="134" cy="113"/>
            </a:xfrm>
            <a:custGeom>
              <a:avLst/>
              <a:gdLst>
                <a:gd name="T0" fmla="*/ 100 w 134"/>
                <a:gd name="T1" fmla="*/ 5 h 113"/>
                <a:gd name="T2" fmla="*/ 133 w 134"/>
                <a:gd name="T3" fmla="*/ 0 h 113"/>
                <a:gd name="T4" fmla="*/ 113 w 134"/>
                <a:gd name="T5" fmla="*/ 42 h 113"/>
                <a:gd name="T6" fmla="*/ 62 w 134"/>
                <a:gd name="T7" fmla="*/ 84 h 113"/>
                <a:gd name="T8" fmla="*/ 45 w 134"/>
                <a:gd name="T9" fmla="*/ 67 h 113"/>
                <a:gd name="T10" fmla="*/ 39 w 134"/>
                <a:gd name="T11" fmla="*/ 95 h 113"/>
                <a:gd name="T12" fmla="*/ 0 w 134"/>
                <a:gd name="T13" fmla="*/ 112 h 113"/>
                <a:gd name="T14" fmla="*/ 39 w 134"/>
                <a:gd name="T15" fmla="*/ 22 h 113"/>
                <a:gd name="T16" fmla="*/ 100 w 134"/>
                <a:gd name="T17" fmla="*/ 5 h 1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13"/>
                <a:gd name="T29" fmla="*/ 134 w 134"/>
                <a:gd name="T30" fmla="*/ 113 h 1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13">
                  <a:moveTo>
                    <a:pt x="100" y="5"/>
                  </a:moveTo>
                  <a:lnTo>
                    <a:pt x="133" y="0"/>
                  </a:lnTo>
                  <a:lnTo>
                    <a:pt x="113" y="42"/>
                  </a:lnTo>
                  <a:lnTo>
                    <a:pt x="62" y="84"/>
                  </a:lnTo>
                  <a:lnTo>
                    <a:pt x="45" y="67"/>
                  </a:lnTo>
                  <a:lnTo>
                    <a:pt x="39" y="95"/>
                  </a:lnTo>
                  <a:lnTo>
                    <a:pt x="0" y="112"/>
                  </a:lnTo>
                  <a:lnTo>
                    <a:pt x="39" y="22"/>
                  </a:lnTo>
                  <a:lnTo>
                    <a:pt x="100" y="5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29" name="Freeform 263">
              <a:extLst>
                <a:ext uri="{FF2B5EF4-FFF2-40B4-BE49-F238E27FC236}">
                  <a16:creationId xmlns:a16="http://schemas.microsoft.com/office/drawing/2014/main" id="{CEE3D61A-AFE7-46E3-B8DE-10438CA18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" y="3755"/>
              <a:ext cx="43" cy="134"/>
            </a:xfrm>
            <a:custGeom>
              <a:avLst/>
              <a:gdLst>
                <a:gd name="T0" fmla="*/ 24 w 43"/>
                <a:gd name="T1" fmla="*/ 0 h 134"/>
                <a:gd name="T2" fmla="*/ 42 w 43"/>
                <a:gd name="T3" fmla="*/ 54 h 134"/>
                <a:gd name="T4" fmla="*/ 32 w 43"/>
                <a:gd name="T5" fmla="*/ 133 h 134"/>
                <a:gd name="T6" fmla="*/ 0 w 43"/>
                <a:gd name="T7" fmla="*/ 59 h 134"/>
                <a:gd name="T8" fmla="*/ 24 w 43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34"/>
                <a:gd name="T17" fmla="*/ 43 w 43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34">
                  <a:moveTo>
                    <a:pt x="24" y="0"/>
                  </a:moveTo>
                  <a:lnTo>
                    <a:pt x="42" y="54"/>
                  </a:lnTo>
                  <a:lnTo>
                    <a:pt x="32" y="133"/>
                  </a:lnTo>
                  <a:lnTo>
                    <a:pt x="0" y="59"/>
                  </a:lnTo>
                  <a:lnTo>
                    <a:pt x="24" y="0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30" name="Freeform 264">
              <a:extLst>
                <a:ext uri="{FF2B5EF4-FFF2-40B4-BE49-F238E27FC236}">
                  <a16:creationId xmlns:a16="http://schemas.microsoft.com/office/drawing/2014/main" id="{C81F20E7-32D7-42F5-97C6-47970D077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598"/>
              <a:ext cx="226" cy="763"/>
            </a:xfrm>
            <a:custGeom>
              <a:avLst/>
              <a:gdLst>
                <a:gd name="T0" fmla="*/ 22 w 226"/>
                <a:gd name="T1" fmla="*/ 14 h 763"/>
                <a:gd name="T2" fmla="*/ 0 w 226"/>
                <a:gd name="T3" fmla="*/ 0 h 763"/>
                <a:gd name="T4" fmla="*/ 12 w 226"/>
                <a:gd name="T5" fmla="*/ 41 h 763"/>
                <a:gd name="T6" fmla="*/ 19 w 226"/>
                <a:gd name="T7" fmla="*/ 82 h 763"/>
                <a:gd name="T8" fmla="*/ 31 w 226"/>
                <a:gd name="T9" fmla="*/ 129 h 763"/>
                <a:gd name="T10" fmla="*/ 43 w 226"/>
                <a:gd name="T11" fmla="*/ 174 h 763"/>
                <a:gd name="T12" fmla="*/ 55 w 226"/>
                <a:gd name="T13" fmla="*/ 220 h 763"/>
                <a:gd name="T14" fmla="*/ 63 w 226"/>
                <a:gd name="T15" fmla="*/ 270 h 763"/>
                <a:gd name="T16" fmla="*/ 75 w 226"/>
                <a:gd name="T17" fmla="*/ 320 h 763"/>
                <a:gd name="T18" fmla="*/ 84 w 226"/>
                <a:gd name="T19" fmla="*/ 370 h 763"/>
                <a:gd name="T20" fmla="*/ 93 w 226"/>
                <a:gd name="T21" fmla="*/ 421 h 763"/>
                <a:gd name="T22" fmla="*/ 97 w 226"/>
                <a:gd name="T23" fmla="*/ 470 h 763"/>
                <a:gd name="T24" fmla="*/ 103 w 226"/>
                <a:gd name="T25" fmla="*/ 521 h 763"/>
                <a:gd name="T26" fmla="*/ 109 w 226"/>
                <a:gd name="T27" fmla="*/ 571 h 763"/>
                <a:gd name="T28" fmla="*/ 112 w 226"/>
                <a:gd name="T29" fmla="*/ 620 h 763"/>
                <a:gd name="T30" fmla="*/ 115 w 226"/>
                <a:gd name="T31" fmla="*/ 668 h 763"/>
                <a:gd name="T32" fmla="*/ 115 w 226"/>
                <a:gd name="T33" fmla="*/ 714 h 763"/>
                <a:gd name="T34" fmla="*/ 112 w 226"/>
                <a:gd name="T35" fmla="*/ 762 h 763"/>
                <a:gd name="T36" fmla="*/ 225 w 226"/>
                <a:gd name="T37" fmla="*/ 741 h 763"/>
                <a:gd name="T38" fmla="*/ 216 w 226"/>
                <a:gd name="T39" fmla="*/ 699 h 763"/>
                <a:gd name="T40" fmla="*/ 205 w 226"/>
                <a:gd name="T41" fmla="*/ 659 h 763"/>
                <a:gd name="T42" fmla="*/ 196 w 226"/>
                <a:gd name="T43" fmla="*/ 614 h 763"/>
                <a:gd name="T44" fmla="*/ 184 w 226"/>
                <a:gd name="T45" fmla="*/ 571 h 763"/>
                <a:gd name="T46" fmla="*/ 173 w 226"/>
                <a:gd name="T47" fmla="*/ 523 h 763"/>
                <a:gd name="T48" fmla="*/ 159 w 226"/>
                <a:gd name="T49" fmla="*/ 476 h 763"/>
                <a:gd name="T50" fmla="*/ 144 w 226"/>
                <a:gd name="T51" fmla="*/ 430 h 763"/>
                <a:gd name="T52" fmla="*/ 132 w 226"/>
                <a:gd name="T53" fmla="*/ 379 h 763"/>
                <a:gd name="T54" fmla="*/ 118 w 226"/>
                <a:gd name="T55" fmla="*/ 332 h 763"/>
                <a:gd name="T56" fmla="*/ 103 w 226"/>
                <a:gd name="T57" fmla="*/ 285 h 763"/>
                <a:gd name="T58" fmla="*/ 90 w 226"/>
                <a:gd name="T59" fmla="*/ 238 h 763"/>
                <a:gd name="T60" fmla="*/ 75 w 226"/>
                <a:gd name="T61" fmla="*/ 191 h 763"/>
                <a:gd name="T62" fmla="*/ 60 w 226"/>
                <a:gd name="T63" fmla="*/ 147 h 763"/>
                <a:gd name="T64" fmla="*/ 49 w 226"/>
                <a:gd name="T65" fmla="*/ 99 h 763"/>
                <a:gd name="T66" fmla="*/ 34 w 226"/>
                <a:gd name="T67" fmla="*/ 59 h 763"/>
                <a:gd name="T68" fmla="*/ 22 w 226"/>
                <a:gd name="T69" fmla="*/ 14 h 76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6"/>
                <a:gd name="T106" fmla="*/ 0 h 763"/>
                <a:gd name="T107" fmla="*/ 226 w 226"/>
                <a:gd name="T108" fmla="*/ 763 h 76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6" h="763">
                  <a:moveTo>
                    <a:pt x="22" y="14"/>
                  </a:moveTo>
                  <a:lnTo>
                    <a:pt x="0" y="0"/>
                  </a:lnTo>
                  <a:lnTo>
                    <a:pt x="12" y="41"/>
                  </a:lnTo>
                  <a:lnTo>
                    <a:pt x="19" y="82"/>
                  </a:lnTo>
                  <a:lnTo>
                    <a:pt x="31" y="129"/>
                  </a:lnTo>
                  <a:lnTo>
                    <a:pt x="43" y="174"/>
                  </a:lnTo>
                  <a:lnTo>
                    <a:pt x="55" y="220"/>
                  </a:lnTo>
                  <a:lnTo>
                    <a:pt x="63" y="270"/>
                  </a:lnTo>
                  <a:lnTo>
                    <a:pt x="75" y="320"/>
                  </a:lnTo>
                  <a:lnTo>
                    <a:pt x="84" y="370"/>
                  </a:lnTo>
                  <a:lnTo>
                    <a:pt x="93" y="421"/>
                  </a:lnTo>
                  <a:lnTo>
                    <a:pt x="97" y="470"/>
                  </a:lnTo>
                  <a:lnTo>
                    <a:pt x="103" y="521"/>
                  </a:lnTo>
                  <a:lnTo>
                    <a:pt x="109" y="571"/>
                  </a:lnTo>
                  <a:lnTo>
                    <a:pt x="112" y="620"/>
                  </a:lnTo>
                  <a:lnTo>
                    <a:pt x="115" y="668"/>
                  </a:lnTo>
                  <a:lnTo>
                    <a:pt x="115" y="714"/>
                  </a:lnTo>
                  <a:lnTo>
                    <a:pt x="112" y="762"/>
                  </a:lnTo>
                  <a:lnTo>
                    <a:pt x="225" y="741"/>
                  </a:lnTo>
                  <a:lnTo>
                    <a:pt x="216" y="699"/>
                  </a:lnTo>
                  <a:lnTo>
                    <a:pt x="205" y="659"/>
                  </a:lnTo>
                  <a:lnTo>
                    <a:pt x="196" y="614"/>
                  </a:lnTo>
                  <a:lnTo>
                    <a:pt x="184" y="571"/>
                  </a:lnTo>
                  <a:lnTo>
                    <a:pt x="173" y="523"/>
                  </a:lnTo>
                  <a:lnTo>
                    <a:pt x="159" y="476"/>
                  </a:lnTo>
                  <a:lnTo>
                    <a:pt x="144" y="430"/>
                  </a:lnTo>
                  <a:lnTo>
                    <a:pt x="132" y="379"/>
                  </a:lnTo>
                  <a:lnTo>
                    <a:pt x="118" y="332"/>
                  </a:lnTo>
                  <a:lnTo>
                    <a:pt x="103" y="285"/>
                  </a:lnTo>
                  <a:lnTo>
                    <a:pt x="90" y="238"/>
                  </a:lnTo>
                  <a:lnTo>
                    <a:pt x="75" y="191"/>
                  </a:lnTo>
                  <a:lnTo>
                    <a:pt x="60" y="147"/>
                  </a:lnTo>
                  <a:lnTo>
                    <a:pt x="49" y="99"/>
                  </a:lnTo>
                  <a:lnTo>
                    <a:pt x="34" y="59"/>
                  </a:lnTo>
                  <a:lnTo>
                    <a:pt x="22" y="14"/>
                  </a:lnTo>
                </a:path>
              </a:pathLst>
            </a:cu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31" name="Freeform 265">
              <a:extLst>
                <a:ext uri="{FF2B5EF4-FFF2-40B4-BE49-F238E27FC236}">
                  <a16:creationId xmlns:a16="http://schemas.microsoft.com/office/drawing/2014/main" id="{7559440F-2F6B-410F-9B89-F1FDB857A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497"/>
              <a:ext cx="297" cy="184"/>
            </a:xfrm>
            <a:custGeom>
              <a:avLst/>
              <a:gdLst>
                <a:gd name="T0" fmla="*/ 12 w 297"/>
                <a:gd name="T1" fmla="*/ 46 h 184"/>
                <a:gd name="T2" fmla="*/ 78 w 297"/>
                <a:gd name="T3" fmla="*/ 0 h 184"/>
                <a:gd name="T4" fmla="*/ 296 w 297"/>
                <a:gd name="T5" fmla="*/ 183 h 184"/>
                <a:gd name="T6" fmla="*/ 188 w 297"/>
                <a:gd name="T7" fmla="*/ 169 h 184"/>
                <a:gd name="T8" fmla="*/ 166 w 297"/>
                <a:gd name="T9" fmla="*/ 123 h 184"/>
                <a:gd name="T10" fmla="*/ 169 w 297"/>
                <a:gd name="T11" fmla="*/ 172 h 184"/>
                <a:gd name="T12" fmla="*/ 23 w 297"/>
                <a:gd name="T13" fmla="*/ 120 h 184"/>
                <a:gd name="T14" fmla="*/ 0 w 297"/>
                <a:gd name="T15" fmla="*/ 100 h 184"/>
                <a:gd name="T16" fmla="*/ 12 w 297"/>
                <a:gd name="T17" fmla="*/ 46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7"/>
                <a:gd name="T28" fmla="*/ 0 h 184"/>
                <a:gd name="T29" fmla="*/ 297 w 297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7" h="184">
                  <a:moveTo>
                    <a:pt x="12" y="46"/>
                  </a:moveTo>
                  <a:lnTo>
                    <a:pt x="78" y="0"/>
                  </a:lnTo>
                  <a:lnTo>
                    <a:pt x="296" y="183"/>
                  </a:lnTo>
                  <a:lnTo>
                    <a:pt x="188" y="169"/>
                  </a:lnTo>
                  <a:lnTo>
                    <a:pt x="166" y="123"/>
                  </a:lnTo>
                  <a:lnTo>
                    <a:pt x="169" y="172"/>
                  </a:lnTo>
                  <a:lnTo>
                    <a:pt x="23" y="120"/>
                  </a:lnTo>
                  <a:lnTo>
                    <a:pt x="0" y="100"/>
                  </a:lnTo>
                  <a:lnTo>
                    <a:pt x="12" y="46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32" name="Freeform 266">
              <a:extLst>
                <a:ext uri="{FF2B5EF4-FFF2-40B4-BE49-F238E27FC236}">
                  <a16:creationId xmlns:a16="http://schemas.microsoft.com/office/drawing/2014/main" id="{15B1F9E7-19E6-4B52-A627-D9F9FE1AC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3520"/>
              <a:ext cx="197" cy="280"/>
            </a:xfrm>
            <a:custGeom>
              <a:avLst/>
              <a:gdLst>
                <a:gd name="T0" fmla="*/ 196 w 197"/>
                <a:gd name="T1" fmla="*/ 26 h 280"/>
                <a:gd name="T2" fmla="*/ 161 w 197"/>
                <a:gd name="T3" fmla="*/ 0 h 280"/>
                <a:gd name="T4" fmla="*/ 0 w 197"/>
                <a:gd name="T5" fmla="*/ 279 h 280"/>
                <a:gd name="T6" fmla="*/ 95 w 197"/>
                <a:gd name="T7" fmla="*/ 215 h 280"/>
                <a:gd name="T8" fmla="*/ 110 w 197"/>
                <a:gd name="T9" fmla="*/ 158 h 280"/>
                <a:gd name="T10" fmla="*/ 115 w 197"/>
                <a:gd name="T11" fmla="*/ 207 h 280"/>
                <a:gd name="T12" fmla="*/ 167 w 197"/>
                <a:gd name="T13" fmla="*/ 134 h 280"/>
                <a:gd name="T14" fmla="*/ 196 w 197"/>
                <a:gd name="T15" fmla="*/ 26 h 2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7"/>
                <a:gd name="T25" fmla="*/ 0 h 280"/>
                <a:gd name="T26" fmla="*/ 197 w 197"/>
                <a:gd name="T27" fmla="*/ 280 h 2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7" h="280">
                  <a:moveTo>
                    <a:pt x="196" y="26"/>
                  </a:moveTo>
                  <a:lnTo>
                    <a:pt x="161" y="0"/>
                  </a:lnTo>
                  <a:lnTo>
                    <a:pt x="0" y="279"/>
                  </a:lnTo>
                  <a:lnTo>
                    <a:pt x="95" y="215"/>
                  </a:lnTo>
                  <a:lnTo>
                    <a:pt x="110" y="158"/>
                  </a:lnTo>
                  <a:lnTo>
                    <a:pt x="115" y="207"/>
                  </a:lnTo>
                  <a:lnTo>
                    <a:pt x="167" y="134"/>
                  </a:lnTo>
                  <a:lnTo>
                    <a:pt x="196" y="26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33" name="Freeform 267">
              <a:extLst>
                <a:ext uri="{FF2B5EF4-FFF2-40B4-BE49-F238E27FC236}">
                  <a16:creationId xmlns:a16="http://schemas.microsoft.com/office/drawing/2014/main" id="{3CDA3962-1DE3-4A45-9504-AC633B7B8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3467"/>
              <a:ext cx="150" cy="369"/>
            </a:xfrm>
            <a:custGeom>
              <a:avLst/>
              <a:gdLst>
                <a:gd name="T0" fmla="*/ 109 w 150"/>
                <a:gd name="T1" fmla="*/ 0 h 369"/>
                <a:gd name="T2" fmla="*/ 149 w 150"/>
                <a:gd name="T3" fmla="*/ 76 h 369"/>
                <a:gd name="T4" fmla="*/ 140 w 150"/>
                <a:gd name="T5" fmla="*/ 131 h 369"/>
                <a:gd name="T6" fmla="*/ 106 w 150"/>
                <a:gd name="T7" fmla="*/ 208 h 369"/>
                <a:gd name="T8" fmla="*/ 91 w 150"/>
                <a:gd name="T9" fmla="*/ 160 h 369"/>
                <a:gd name="T10" fmla="*/ 100 w 150"/>
                <a:gd name="T11" fmla="*/ 224 h 369"/>
                <a:gd name="T12" fmla="*/ 23 w 150"/>
                <a:gd name="T13" fmla="*/ 368 h 369"/>
                <a:gd name="T14" fmla="*/ 0 w 150"/>
                <a:gd name="T15" fmla="*/ 269 h 369"/>
                <a:gd name="T16" fmla="*/ 63 w 150"/>
                <a:gd name="T17" fmla="*/ 49 h 369"/>
                <a:gd name="T18" fmla="*/ 109 w 150"/>
                <a:gd name="T19" fmla="*/ 0 h 3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0"/>
                <a:gd name="T31" fmla="*/ 0 h 369"/>
                <a:gd name="T32" fmla="*/ 150 w 150"/>
                <a:gd name="T33" fmla="*/ 369 h 3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0" h="369">
                  <a:moveTo>
                    <a:pt x="109" y="0"/>
                  </a:moveTo>
                  <a:lnTo>
                    <a:pt x="149" y="76"/>
                  </a:lnTo>
                  <a:lnTo>
                    <a:pt x="140" y="131"/>
                  </a:lnTo>
                  <a:lnTo>
                    <a:pt x="106" y="208"/>
                  </a:lnTo>
                  <a:lnTo>
                    <a:pt x="91" y="160"/>
                  </a:lnTo>
                  <a:lnTo>
                    <a:pt x="100" y="224"/>
                  </a:lnTo>
                  <a:lnTo>
                    <a:pt x="23" y="368"/>
                  </a:lnTo>
                  <a:lnTo>
                    <a:pt x="0" y="269"/>
                  </a:lnTo>
                  <a:lnTo>
                    <a:pt x="63" y="49"/>
                  </a:lnTo>
                  <a:lnTo>
                    <a:pt x="109" y="0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34" name="Freeform 268">
              <a:extLst>
                <a:ext uri="{FF2B5EF4-FFF2-40B4-BE49-F238E27FC236}">
                  <a16:creationId xmlns:a16="http://schemas.microsoft.com/office/drawing/2014/main" id="{ADACA739-CFE6-43A3-873E-E598C53C9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3618"/>
              <a:ext cx="126" cy="155"/>
            </a:xfrm>
            <a:custGeom>
              <a:avLst/>
              <a:gdLst>
                <a:gd name="T0" fmla="*/ 34 w 126"/>
                <a:gd name="T1" fmla="*/ 12 h 155"/>
                <a:gd name="T2" fmla="*/ 0 w 126"/>
                <a:gd name="T3" fmla="*/ 0 h 155"/>
                <a:gd name="T4" fmla="*/ 17 w 126"/>
                <a:gd name="T5" fmla="*/ 58 h 155"/>
                <a:gd name="T6" fmla="*/ 63 w 126"/>
                <a:gd name="T7" fmla="*/ 115 h 155"/>
                <a:gd name="T8" fmla="*/ 79 w 126"/>
                <a:gd name="T9" fmla="*/ 94 h 155"/>
                <a:gd name="T10" fmla="*/ 85 w 126"/>
                <a:gd name="T11" fmla="*/ 132 h 155"/>
                <a:gd name="T12" fmla="*/ 125 w 126"/>
                <a:gd name="T13" fmla="*/ 154 h 155"/>
                <a:gd name="T14" fmla="*/ 91 w 126"/>
                <a:gd name="T15" fmla="*/ 38 h 155"/>
                <a:gd name="T16" fmla="*/ 34 w 126"/>
                <a:gd name="T17" fmla="*/ 12 h 1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6"/>
                <a:gd name="T28" fmla="*/ 0 h 155"/>
                <a:gd name="T29" fmla="*/ 126 w 126"/>
                <a:gd name="T30" fmla="*/ 155 h 1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6" h="155">
                  <a:moveTo>
                    <a:pt x="34" y="12"/>
                  </a:moveTo>
                  <a:lnTo>
                    <a:pt x="0" y="0"/>
                  </a:lnTo>
                  <a:lnTo>
                    <a:pt x="17" y="58"/>
                  </a:lnTo>
                  <a:lnTo>
                    <a:pt x="63" y="115"/>
                  </a:lnTo>
                  <a:lnTo>
                    <a:pt x="79" y="94"/>
                  </a:lnTo>
                  <a:lnTo>
                    <a:pt x="85" y="132"/>
                  </a:lnTo>
                  <a:lnTo>
                    <a:pt x="125" y="154"/>
                  </a:lnTo>
                  <a:lnTo>
                    <a:pt x="91" y="38"/>
                  </a:lnTo>
                  <a:lnTo>
                    <a:pt x="34" y="12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35" name="Freeform 269">
              <a:extLst>
                <a:ext uri="{FF2B5EF4-FFF2-40B4-BE49-F238E27FC236}">
                  <a16:creationId xmlns:a16="http://schemas.microsoft.com/office/drawing/2014/main" id="{84BDC099-6F24-4F79-B4DA-9D7630511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600"/>
              <a:ext cx="42" cy="170"/>
            </a:xfrm>
            <a:custGeom>
              <a:avLst/>
              <a:gdLst>
                <a:gd name="T0" fmla="*/ 24 w 42"/>
                <a:gd name="T1" fmla="*/ 0 h 170"/>
                <a:gd name="T2" fmla="*/ 0 w 42"/>
                <a:gd name="T3" fmla="*/ 67 h 170"/>
                <a:gd name="T4" fmla="*/ 8 w 42"/>
                <a:gd name="T5" fmla="*/ 169 h 170"/>
                <a:gd name="T6" fmla="*/ 41 w 42"/>
                <a:gd name="T7" fmla="*/ 78 h 170"/>
                <a:gd name="T8" fmla="*/ 24 w 42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170"/>
                <a:gd name="T17" fmla="*/ 42 w 42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170">
                  <a:moveTo>
                    <a:pt x="24" y="0"/>
                  </a:moveTo>
                  <a:lnTo>
                    <a:pt x="0" y="67"/>
                  </a:lnTo>
                  <a:lnTo>
                    <a:pt x="8" y="169"/>
                  </a:lnTo>
                  <a:lnTo>
                    <a:pt x="41" y="78"/>
                  </a:lnTo>
                  <a:lnTo>
                    <a:pt x="24" y="0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49159" name="Picture 270">
            <a:extLst>
              <a:ext uri="{FF2B5EF4-FFF2-40B4-BE49-F238E27FC236}">
                <a16:creationId xmlns:a16="http://schemas.microsoft.com/office/drawing/2014/main" id="{BA395DEC-A8C3-496F-A855-790D81F51FC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5" y="5627688"/>
            <a:ext cx="720725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60" name="Line 271">
            <a:extLst>
              <a:ext uri="{FF2B5EF4-FFF2-40B4-BE49-F238E27FC236}">
                <a16:creationId xmlns:a16="http://schemas.microsoft.com/office/drawing/2014/main" id="{D0B70F8A-FC2C-49A2-BCB0-236186FF3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538" y="3379788"/>
            <a:ext cx="0" cy="603250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9161" name="Group 272">
            <a:extLst>
              <a:ext uri="{FF2B5EF4-FFF2-40B4-BE49-F238E27FC236}">
                <a16:creationId xmlns:a16="http://schemas.microsoft.com/office/drawing/2014/main" id="{FD519FA5-554F-4279-9686-8474EA9634F3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094163"/>
            <a:ext cx="863600" cy="809625"/>
            <a:chOff x="966" y="2856"/>
            <a:chExt cx="571" cy="545"/>
          </a:xfrm>
        </p:grpSpPr>
        <p:sp>
          <p:nvSpPr>
            <p:cNvPr id="49185" name="Freeform 273">
              <a:extLst>
                <a:ext uri="{FF2B5EF4-FFF2-40B4-BE49-F238E27FC236}">
                  <a16:creationId xmlns:a16="http://schemas.microsoft.com/office/drawing/2014/main" id="{7CF3BE39-0CAB-4250-879E-E583EA804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2957"/>
              <a:ext cx="371" cy="411"/>
            </a:xfrm>
            <a:custGeom>
              <a:avLst/>
              <a:gdLst>
                <a:gd name="T0" fmla="*/ 299 w 371"/>
                <a:gd name="T1" fmla="*/ 0 h 411"/>
                <a:gd name="T2" fmla="*/ 300 w 371"/>
                <a:gd name="T3" fmla="*/ 14 h 411"/>
                <a:gd name="T4" fmla="*/ 299 w 371"/>
                <a:gd name="T5" fmla="*/ 108 h 411"/>
                <a:gd name="T6" fmla="*/ 284 w 371"/>
                <a:gd name="T7" fmla="*/ 110 h 411"/>
                <a:gd name="T8" fmla="*/ 263 w 371"/>
                <a:gd name="T9" fmla="*/ 82 h 411"/>
                <a:gd name="T10" fmla="*/ 256 w 371"/>
                <a:gd name="T11" fmla="*/ 75 h 411"/>
                <a:gd name="T12" fmla="*/ 249 w 371"/>
                <a:gd name="T13" fmla="*/ 69 h 411"/>
                <a:gd name="T14" fmla="*/ 242 w 371"/>
                <a:gd name="T15" fmla="*/ 62 h 411"/>
                <a:gd name="T16" fmla="*/ 235 w 371"/>
                <a:gd name="T17" fmla="*/ 57 h 411"/>
                <a:gd name="T18" fmla="*/ 227 w 371"/>
                <a:gd name="T19" fmla="*/ 51 h 411"/>
                <a:gd name="T20" fmla="*/ 219 w 371"/>
                <a:gd name="T21" fmla="*/ 46 h 411"/>
                <a:gd name="T22" fmla="*/ 208 w 371"/>
                <a:gd name="T23" fmla="*/ 40 h 411"/>
                <a:gd name="T24" fmla="*/ 199 w 371"/>
                <a:gd name="T25" fmla="*/ 36 h 411"/>
                <a:gd name="T26" fmla="*/ 185 w 371"/>
                <a:gd name="T27" fmla="*/ 32 h 411"/>
                <a:gd name="T28" fmla="*/ 176 w 371"/>
                <a:gd name="T29" fmla="*/ 30 h 411"/>
                <a:gd name="T30" fmla="*/ 176 w 371"/>
                <a:gd name="T31" fmla="*/ 103 h 411"/>
                <a:gd name="T32" fmla="*/ 299 w 371"/>
                <a:gd name="T33" fmla="*/ 160 h 411"/>
                <a:gd name="T34" fmla="*/ 306 w 371"/>
                <a:gd name="T35" fmla="*/ 166 h 411"/>
                <a:gd name="T36" fmla="*/ 319 w 371"/>
                <a:gd name="T37" fmla="*/ 182 h 411"/>
                <a:gd name="T38" fmla="*/ 331 w 371"/>
                <a:gd name="T39" fmla="*/ 206 h 411"/>
                <a:gd name="T40" fmla="*/ 332 w 371"/>
                <a:gd name="T41" fmla="*/ 224 h 411"/>
                <a:gd name="T42" fmla="*/ 328 w 371"/>
                <a:gd name="T43" fmla="*/ 244 h 411"/>
                <a:gd name="T44" fmla="*/ 317 w 371"/>
                <a:gd name="T45" fmla="*/ 268 h 411"/>
                <a:gd name="T46" fmla="*/ 301 w 371"/>
                <a:gd name="T47" fmla="*/ 283 h 411"/>
                <a:gd name="T48" fmla="*/ 286 w 371"/>
                <a:gd name="T49" fmla="*/ 293 h 411"/>
                <a:gd name="T50" fmla="*/ 258 w 371"/>
                <a:gd name="T51" fmla="*/ 305 h 411"/>
                <a:gd name="T52" fmla="*/ 210 w 371"/>
                <a:gd name="T53" fmla="*/ 317 h 411"/>
                <a:gd name="T54" fmla="*/ 176 w 371"/>
                <a:gd name="T55" fmla="*/ 319 h 411"/>
                <a:gd name="T56" fmla="*/ 176 w 371"/>
                <a:gd name="T57" fmla="*/ 375 h 411"/>
                <a:gd name="T58" fmla="*/ 157 w 371"/>
                <a:gd name="T59" fmla="*/ 375 h 411"/>
                <a:gd name="T60" fmla="*/ 157 w 371"/>
                <a:gd name="T61" fmla="*/ 319 h 411"/>
                <a:gd name="T62" fmla="*/ 141 w 371"/>
                <a:gd name="T63" fmla="*/ 317 h 411"/>
                <a:gd name="T64" fmla="*/ 124 w 371"/>
                <a:gd name="T65" fmla="*/ 314 h 411"/>
                <a:gd name="T66" fmla="*/ 107 w 371"/>
                <a:gd name="T67" fmla="*/ 310 h 411"/>
                <a:gd name="T68" fmla="*/ 85 w 371"/>
                <a:gd name="T69" fmla="*/ 301 h 411"/>
                <a:gd name="T70" fmla="*/ 67 w 371"/>
                <a:gd name="T71" fmla="*/ 291 h 411"/>
                <a:gd name="T72" fmla="*/ 38 w 371"/>
                <a:gd name="T73" fmla="*/ 267 h 411"/>
                <a:gd name="T74" fmla="*/ 18 w 371"/>
                <a:gd name="T75" fmla="*/ 314 h 411"/>
                <a:gd name="T76" fmla="*/ 0 w 371"/>
                <a:gd name="T77" fmla="*/ 314 h 411"/>
                <a:gd name="T78" fmla="*/ 0 w 371"/>
                <a:gd name="T79" fmla="*/ 330 h 411"/>
                <a:gd name="T80" fmla="*/ 16 w 371"/>
                <a:gd name="T81" fmla="*/ 347 h 411"/>
                <a:gd name="T82" fmla="*/ 65 w 371"/>
                <a:gd name="T83" fmla="*/ 386 h 411"/>
                <a:gd name="T84" fmla="*/ 86 w 371"/>
                <a:gd name="T85" fmla="*/ 395 h 411"/>
                <a:gd name="T86" fmla="*/ 119 w 371"/>
                <a:gd name="T87" fmla="*/ 405 h 411"/>
                <a:gd name="T88" fmla="*/ 149 w 371"/>
                <a:gd name="T89" fmla="*/ 410 h 411"/>
                <a:gd name="T90" fmla="*/ 186 w 371"/>
                <a:gd name="T91" fmla="*/ 408 h 411"/>
                <a:gd name="T92" fmla="*/ 222 w 371"/>
                <a:gd name="T93" fmla="*/ 399 h 411"/>
                <a:gd name="T94" fmla="*/ 256 w 371"/>
                <a:gd name="T95" fmla="*/ 383 h 411"/>
                <a:gd name="T96" fmla="*/ 298 w 371"/>
                <a:gd name="T97" fmla="*/ 352 h 411"/>
                <a:gd name="T98" fmla="*/ 325 w 371"/>
                <a:gd name="T99" fmla="*/ 321 h 411"/>
                <a:gd name="T100" fmla="*/ 336 w 371"/>
                <a:gd name="T101" fmla="*/ 303 h 411"/>
                <a:gd name="T102" fmla="*/ 347 w 371"/>
                <a:gd name="T103" fmla="*/ 281 h 411"/>
                <a:gd name="T104" fmla="*/ 355 w 371"/>
                <a:gd name="T105" fmla="*/ 263 h 411"/>
                <a:gd name="T106" fmla="*/ 365 w 371"/>
                <a:gd name="T107" fmla="*/ 224 h 411"/>
                <a:gd name="T108" fmla="*/ 369 w 371"/>
                <a:gd name="T109" fmla="*/ 205 h 411"/>
                <a:gd name="T110" fmla="*/ 370 w 371"/>
                <a:gd name="T111" fmla="*/ 180 h 411"/>
                <a:gd name="T112" fmla="*/ 368 w 371"/>
                <a:gd name="T113" fmla="*/ 136 h 411"/>
                <a:gd name="T114" fmla="*/ 363 w 371"/>
                <a:gd name="T115" fmla="*/ 111 h 411"/>
                <a:gd name="T116" fmla="*/ 358 w 371"/>
                <a:gd name="T117" fmla="*/ 94 h 411"/>
                <a:gd name="T118" fmla="*/ 346 w 371"/>
                <a:gd name="T119" fmla="*/ 64 h 411"/>
                <a:gd name="T120" fmla="*/ 337 w 371"/>
                <a:gd name="T121" fmla="*/ 49 h 411"/>
                <a:gd name="T122" fmla="*/ 322 w 371"/>
                <a:gd name="T123" fmla="*/ 27 h 411"/>
                <a:gd name="T124" fmla="*/ 299 w 371"/>
                <a:gd name="T125" fmla="*/ 0 h 41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71"/>
                <a:gd name="T190" fmla="*/ 0 h 411"/>
                <a:gd name="T191" fmla="*/ 371 w 371"/>
                <a:gd name="T192" fmla="*/ 411 h 41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71" h="411">
                  <a:moveTo>
                    <a:pt x="299" y="0"/>
                  </a:moveTo>
                  <a:lnTo>
                    <a:pt x="300" y="14"/>
                  </a:lnTo>
                  <a:lnTo>
                    <a:pt x="299" y="108"/>
                  </a:lnTo>
                  <a:lnTo>
                    <a:pt x="284" y="110"/>
                  </a:lnTo>
                  <a:lnTo>
                    <a:pt x="263" y="82"/>
                  </a:lnTo>
                  <a:lnTo>
                    <a:pt x="256" y="75"/>
                  </a:lnTo>
                  <a:lnTo>
                    <a:pt x="249" y="69"/>
                  </a:lnTo>
                  <a:lnTo>
                    <a:pt x="242" y="62"/>
                  </a:lnTo>
                  <a:lnTo>
                    <a:pt x="235" y="57"/>
                  </a:lnTo>
                  <a:lnTo>
                    <a:pt x="227" y="51"/>
                  </a:lnTo>
                  <a:lnTo>
                    <a:pt x="219" y="46"/>
                  </a:lnTo>
                  <a:lnTo>
                    <a:pt x="208" y="40"/>
                  </a:lnTo>
                  <a:lnTo>
                    <a:pt x="199" y="36"/>
                  </a:lnTo>
                  <a:lnTo>
                    <a:pt x="185" y="32"/>
                  </a:lnTo>
                  <a:lnTo>
                    <a:pt x="176" y="30"/>
                  </a:lnTo>
                  <a:lnTo>
                    <a:pt x="176" y="103"/>
                  </a:lnTo>
                  <a:lnTo>
                    <a:pt x="299" y="160"/>
                  </a:lnTo>
                  <a:lnTo>
                    <a:pt x="306" y="166"/>
                  </a:lnTo>
                  <a:lnTo>
                    <a:pt x="319" y="182"/>
                  </a:lnTo>
                  <a:lnTo>
                    <a:pt x="331" y="206"/>
                  </a:lnTo>
                  <a:lnTo>
                    <a:pt x="332" y="224"/>
                  </a:lnTo>
                  <a:lnTo>
                    <a:pt x="328" y="244"/>
                  </a:lnTo>
                  <a:lnTo>
                    <a:pt x="317" y="268"/>
                  </a:lnTo>
                  <a:lnTo>
                    <a:pt x="301" y="283"/>
                  </a:lnTo>
                  <a:lnTo>
                    <a:pt x="286" y="293"/>
                  </a:lnTo>
                  <a:lnTo>
                    <a:pt x="258" y="305"/>
                  </a:lnTo>
                  <a:lnTo>
                    <a:pt x="210" y="317"/>
                  </a:lnTo>
                  <a:lnTo>
                    <a:pt x="176" y="319"/>
                  </a:lnTo>
                  <a:lnTo>
                    <a:pt x="176" y="375"/>
                  </a:lnTo>
                  <a:lnTo>
                    <a:pt x="157" y="375"/>
                  </a:lnTo>
                  <a:lnTo>
                    <a:pt x="157" y="319"/>
                  </a:lnTo>
                  <a:lnTo>
                    <a:pt x="141" y="317"/>
                  </a:lnTo>
                  <a:lnTo>
                    <a:pt x="124" y="314"/>
                  </a:lnTo>
                  <a:lnTo>
                    <a:pt x="107" y="310"/>
                  </a:lnTo>
                  <a:lnTo>
                    <a:pt x="85" y="301"/>
                  </a:lnTo>
                  <a:lnTo>
                    <a:pt x="67" y="291"/>
                  </a:lnTo>
                  <a:lnTo>
                    <a:pt x="38" y="267"/>
                  </a:lnTo>
                  <a:lnTo>
                    <a:pt x="18" y="314"/>
                  </a:lnTo>
                  <a:lnTo>
                    <a:pt x="0" y="314"/>
                  </a:lnTo>
                  <a:lnTo>
                    <a:pt x="0" y="330"/>
                  </a:lnTo>
                  <a:lnTo>
                    <a:pt x="16" y="347"/>
                  </a:lnTo>
                  <a:lnTo>
                    <a:pt x="65" y="386"/>
                  </a:lnTo>
                  <a:lnTo>
                    <a:pt x="86" y="395"/>
                  </a:lnTo>
                  <a:lnTo>
                    <a:pt x="119" y="405"/>
                  </a:lnTo>
                  <a:lnTo>
                    <a:pt x="149" y="410"/>
                  </a:lnTo>
                  <a:lnTo>
                    <a:pt x="186" y="408"/>
                  </a:lnTo>
                  <a:lnTo>
                    <a:pt x="222" y="399"/>
                  </a:lnTo>
                  <a:lnTo>
                    <a:pt x="256" y="383"/>
                  </a:lnTo>
                  <a:lnTo>
                    <a:pt x="298" y="352"/>
                  </a:lnTo>
                  <a:lnTo>
                    <a:pt x="325" y="321"/>
                  </a:lnTo>
                  <a:lnTo>
                    <a:pt x="336" y="303"/>
                  </a:lnTo>
                  <a:lnTo>
                    <a:pt x="347" y="281"/>
                  </a:lnTo>
                  <a:lnTo>
                    <a:pt x="355" y="263"/>
                  </a:lnTo>
                  <a:lnTo>
                    <a:pt x="365" y="224"/>
                  </a:lnTo>
                  <a:lnTo>
                    <a:pt x="369" y="205"/>
                  </a:lnTo>
                  <a:lnTo>
                    <a:pt x="370" y="180"/>
                  </a:lnTo>
                  <a:lnTo>
                    <a:pt x="368" y="136"/>
                  </a:lnTo>
                  <a:lnTo>
                    <a:pt x="363" y="111"/>
                  </a:lnTo>
                  <a:lnTo>
                    <a:pt x="358" y="94"/>
                  </a:lnTo>
                  <a:lnTo>
                    <a:pt x="346" y="64"/>
                  </a:lnTo>
                  <a:lnTo>
                    <a:pt x="337" y="49"/>
                  </a:lnTo>
                  <a:lnTo>
                    <a:pt x="322" y="27"/>
                  </a:lnTo>
                  <a:lnTo>
                    <a:pt x="299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6" name="Freeform 274">
              <a:extLst>
                <a:ext uri="{FF2B5EF4-FFF2-40B4-BE49-F238E27FC236}">
                  <a16:creationId xmlns:a16="http://schemas.microsoft.com/office/drawing/2014/main" id="{D0E48E5B-6BAA-4A37-BE63-1459076B1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2878"/>
              <a:ext cx="232" cy="504"/>
            </a:xfrm>
            <a:custGeom>
              <a:avLst/>
              <a:gdLst>
                <a:gd name="T0" fmla="*/ 231 w 232"/>
                <a:gd name="T1" fmla="*/ 0 h 504"/>
                <a:gd name="T2" fmla="*/ 45 w 232"/>
                <a:gd name="T3" fmla="*/ 0 h 504"/>
                <a:gd name="T4" fmla="*/ 63 w 232"/>
                <a:gd name="T5" fmla="*/ 14 h 504"/>
                <a:gd name="T6" fmla="*/ 71 w 232"/>
                <a:gd name="T7" fmla="*/ 36 h 504"/>
                <a:gd name="T8" fmla="*/ 71 w 232"/>
                <a:gd name="T9" fmla="*/ 60 h 504"/>
                <a:gd name="T10" fmla="*/ 47 w 232"/>
                <a:gd name="T11" fmla="*/ 97 h 504"/>
                <a:gd name="T12" fmla="*/ 29 w 232"/>
                <a:gd name="T13" fmla="*/ 126 h 504"/>
                <a:gd name="T14" fmla="*/ 13 w 232"/>
                <a:gd name="T15" fmla="*/ 166 h 504"/>
                <a:gd name="T16" fmla="*/ 5 w 232"/>
                <a:gd name="T17" fmla="*/ 207 h 504"/>
                <a:gd name="T18" fmla="*/ 1 w 232"/>
                <a:gd name="T19" fmla="*/ 237 h 504"/>
                <a:gd name="T20" fmla="*/ 0 w 232"/>
                <a:gd name="T21" fmla="*/ 261 h 504"/>
                <a:gd name="T22" fmla="*/ 2 w 232"/>
                <a:gd name="T23" fmla="*/ 294 h 504"/>
                <a:gd name="T24" fmla="*/ 5 w 232"/>
                <a:gd name="T25" fmla="*/ 308 h 504"/>
                <a:gd name="T26" fmla="*/ 9 w 232"/>
                <a:gd name="T27" fmla="*/ 329 h 504"/>
                <a:gd name="T28" fmla="*/ 16 w 232"/>
                <a:gd name="T29" fmla="*/ 349 h 504"/>
                <a:gd name="T30" fmla="*/ 23 w 232"/>
                <a:gd name="T31" fmla="*/ 367 h 504"/>
                <a:gd name="T32" fmla="*/ 31 w 232"/>
                <a:gd name="T33" fmla="*/ 382 h 504"/>
                <a:gd name="T34" fmla="*/ 39 w 232"/>
                <a:gd name="T35" fmla="*/ 396 h 504"/>
                <a:gd name="T36" fmla="*/ 49 w 232"/>
                <a:gd name="T37" fmla="*/ 410 h 504"/>
                <a:gd name="T38" fmla="*/ 65 w 232"/>
                <a:gd name="T39" fmla="*/ 429 h 504"/>
                <a:gd name="T40" fmla="*/ 83 w 232"/>
                <a:gd name="T41" fmla="*/ 447 h 504"/>
                <a:gd name="T42" fmla="*/ 102 w 232"/>
                <a:gd name="T43" fmla="*/ 462 h 504"/>
                <a:gd name="T44" fmla="*/ 120 w 232"/>
                <a:gd name="T45" fmla="*/ 476 h 504"/>
                <a:gd name="T46" fmla="*/ 115 w 232"/>
                <a:gd name="T47" fmla="*/ 503 h 504"/>
                <a:gd name="T48" fmla="*/ 223 w 232"/>
                <a:gd name="T49" fmla="*/ 503 h 504"/>
                <a:gd name="T50" fmla="*/ 223 w 232"/>
                <a:gd name="T51" fmla="*/ 490 h 504"/>
                <a:gd name="T52" fmla="*/ 193 w 232"/>
                <a:gd name="T53" fmla="*/ 485 h 504"/>
                <a:gd name="T54" fmla="*/ 160 w 232"/>
                <a:gd name="T55" fmla="*/ 475 h 504"/>
                <a:gd name="T56" fmla="*/ 139 w 232"/>
                <a:gd name="T57" fmla="*/ 465 h 504"/>
                <a:gd name="T58" fmla="*/ 90 w 232"/>
                <a:gd name="T59" fmla="*/ 427 h 504"/>
                <a:gd name="T60" fmla="*/ 74 w 232"/>
                <a:gd name="T61" fmla="*/ 410 h 504"/>
                <a:gd name="T62" fmla="*/ 54 w 232"/>
                <a:gd name="T63" fmla="*/ 378 h 504"/>
                <a:gd name="T64" fmla="*/ 45 w 232"/>
                <a:gd name="T65" fmla="*/ 361 h 504"/>
                <a:gd name="T66" fmla="*/ 38 w 232"/>
                <a:gd name="T67" fmla="*/ 343 h 504"/>
                <a:gd name="T68" fmla="*/ 32 w 232"/>
                <a:gd name="T69" fmla="*/ 326 h 504"/>
                <a:gd name="T70" fmla="*/ 28 w 232"/>
                <a:gd name="T71" fmla="*/ 310 h 504"/>
                <a:gd name="T72" fmla="*/ 25 w 232"/>
                <a:gd name="T73" fmla="*/ 293 h 504"/>
                <a:gd name="T74" fmla="*/ 22 w 232"/>
                <a:gd name="T75" fmla="*/ 263 h 504"/>
                <a:gd name="T76" fmla="*/ 23 w 232"/>
                <a:gd name="T77" fmla="*/ 228 h 504"/>
                <a:gd name="T78" fmla="*/ 28 w 232"/>
                <a:gd name="T79" fmla="*/ 197 h 504"/>
                <a:gd name="T80" fmla="*/ 36 w 232"/>
                <a:gd name="T81" fmla="*/ 167 h 504"/>
                <a:gd name="T82" fmla="*/ 41 w 232"/>
                <a:gd name="T83" fmla="*/ 154 h 504"/>
                <a:gd name="T84" fmla="*/ 52 w 232"/>
                <a:gd name="T85" fmla="*/ 130 h 504"/>
                <a:gd name="T86" fmla="*/ 70 w 232"/>
                <a:gd name="T87" fmla="*/ 105 h 504"/>
                <a:gd name="T88" fmla="*/ 86 w 232"/>
                <a:gd name="T89" fmla="*/ 84 h 504"/>
                <a:gd name="T90" fmla="*/ 122 w 232"/>
                <a:gd name="T91" fmla="*/ 52 h 504"/>
                <a:gd name="T92" fmla="*/ 153 w 232"/>
                <a:gd name="T93" fmla="*/ 34 h 504"/>
                <a:gd name="T94" fmla="*/ 186 w 232"/>
                <a:gd name="T95" fmla="*/ 23 h 504"/>
                <a:gd name="T96" fmla="*/ 231 w 232"/>
                <a:gd name="T97" fmla="*/ 16 h 504"/>
                <a:gd name="T98" fmla="*/ 231 w 232"/>
                <a:gd name="T99" fmla="*/ 0 h 50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32"/>
                <a:gd name="T151" fmla="*/ 0 h 504"/>
                <a:gd name="T152" fmla="*/ 232 w 232"/>
                <a:gd name="T153" fmla="*/ 504 h 50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32" h="504">
                  <a:moveTo>
                    <a:pt x="231" y="0"/>
                  </a:moveTo>
                  <a:lnTo>
                    <a:pt x="45" y="0"/>
                  </a:lnTo>
                  <a:lnTo>
                    <a:pt x="63" y="14"/>
                  </a:lnTo>
                  <a:lnTo>
                    <a:pt x="71" y="36"/>
                  </a:lnTo>
                  <a:lnTo>
                    <a:pt x="71" y="60"/>
                  </a:lnTo>
                  <a:lnTo>
                    <a:pt x="47" y="97"/>
                  </a:lnTo>
                  <a:lnTo>
                    <a:pt x="29" y="126"/>
                  </a:lnTo>
                  <a:lnTo>
                    <a:pt x="13" y="166"/>
                  </a:lnTo>
                  <a:lnTo>
                    <a:pt x="5" y="207"/>
                  </a:lnTo>
                  <a:lnTo>
                    <a:pt x="1" y="237"/>
                  </a:lnTo>
                  <a:lnTo>
                    <a:pt x="0" y="261"/>
                  </a:lnTo>
                  <a:lnTo>
                    <a:pt x="2" y="294"/>
                  </a:lnTo>
                  <a:lnTo>
                    <a:pt x="5" y="308"/>
                  </a:lnTo>
                  <a:lnTo>
                    <a:pt x="9" y="329"/>
                  </a:lnTo>
                  <a:lnTo>
                    <a:pt x="16" y="349"/>
                  </a:lnTo>
                  <a:lnTo>
                    <a:pt x="23" y="367"/>
                  </a:lnTo>
                  <a:lnTo>
                    <a:pt x="31" y="382"/>
                  </a:lnTo>
                  <a:lnTo>
                    <a:pt x="39" y="396"/>
                  </a:lnTo>
                  <a:lnTo>
                    <a:pt x="49" y="410"/>
                  </a:lnTo>
                  <a:lnTo>
                    <a:pt x="65" y="429"/>
                  </a:lnTo>
                  <a:lnTo>
                    <a:pt x="83" y="447"/>
                  </a:lnTo>
                  <a:lnTo>
                    <a:pt x="102" y="462"/>
                  </a:lnTo>
                  <a:lnTo>
                    <a:pt x="120" y="476"/>
                  </a:lnTo>
                  <a:lnTo>
                    <a:pt x="115" y="503"/>
                  </a:lnTo>
                  <a:lnTo>
                    <a:pt x="223" y="503"/>
                  </a:lnTo>
                  <a:lnTo>
                    <a:pt x="223" y="490"/>
                  </a:lnTo>
                  <a:lnTo>
                    <a:pt x="193" y="485"/>
                  </a:lnTo>
                  <a:lnTo>
                    <a:pt x="160" y="475"/>
                  </a:lnTo>
                  <a:lnTo>
                    <a:pt x="139" y="465"/>
                  </a:lnTo>
                  <a:lnTo>
                    <a:pt x="90" y="427"/>
                  </a:lnTo>
                  <a:lnTo>
                    <a:pt x="74" y="410"/>
                  </a:lnTo>
                  <a:lnTo>
                    <a:pt x="54" y="378"/>
                  </a:lnTo>
                  <a:lnTo>
                    <a:pt x="45" y="361"/>
                  </a:lnTo>
                  <a:lnTo>
                    <a:pt x="38" y="343"/>
                  </a:lnTo>
                  <a:lnTo>
                    <a:pt x="32" y="326"/>
                  </a:lnTo>
                  <a:lnTo>
                    <a:pt x="28" y="310"/>
                  </a:lnTo>
                  <a:lnTo>
                    <a:pt x="25" y="293"/>
                  </a:lnTo>
                  <a:lnTo>
                    <a:pt x="22" y="263"/>
                  </a:lnTo>
                  <a:lnTo>
                    <a:pt x="23" y="228"/>
                  </a:lnTo>
                  <a:lnTo>
                    <a:pt x="28" y="197"/>
                  </a:lnTo>
                  <a:lnTo>
                    <a:pt x="36" y="167"/>
                  </a:lnTo>
                  <a:lnTo>
                    <a:pt x="41" y="154"/>
                  </a:lnTo>
                  <a:lnTo>
                    <a:pt x="52" y="130"/>
                  </a:lnTo>
                  <a:lnTo>
                    <a:pt x="70" y="105"/>
                  </a:lnTo>
                  <a:lnTo>
                    <a:pt x="86" y="84"/>
                  </a:lnTo>
                  <a:lnTo>
                    <a:pt x="122" y="52"/>
                  </a:lnTo>
                  <a:lnTo>
                    <a:pt x="153" y="34"/>
                  </a:lnTo>
                  <a:lnTo>
                    <a:pt x="186" y="23"/>
                  </a:lnTo>
                  <a:lnTo>
                    <a:pt x="231" y="16"/>
                  </a:lnTo>
                  <a:lnTo>
                    <a:pt x="231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A9A56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7" name="Freeform 275">
              <a:extLst>
                <a:ext uri="{FF2B5EF4-FFF2-40B4-BE49-F238E27FC236}">
                  <a16:creationId xmlns:a16="http://schemas.microsoft.com/office/drawing/2014/main" id="{361B3724-7583-4AB4-B698-12203F942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2878"/>
              <a:ext cx="244" cy="504"/>
            </a:xfrm>
            <a:custGeom>
              <a:avLst/>
              <a:gdLst>
                <a:gd name="T0" fmla="*/ 8 w 244"/>
                <a:gd name="T1" fmla="*/ 0 h 504"/>
                <a:gd name="T2" fmla="*/ 8 w 244"/>
                <a:gd name="T3" fmla="*/ 16 h 504"/>
                <a:gd name="T4" fmla="*/ 29 w 244"/>
                <a:gd name="T5" fmla="*/ 18 h 504"/>
                <a:gd name="T6" fmla="*/ 64 w 244"/>
                <a:gd name="T7" fmla="*/ 25 h 504"/>
                <a:gd name="T8" fmla="*/ 90 w 244"/>
                <a:gd name="T9" fmla="*/ 36 h 504"/>
                <a:gd name="T10" fmla="*/ 111 w 244"/>
                <a:gd name="T11" fmla="*/ 47 h 504"/>
                <a:gd name="T12" fmla="*/ 129 w 244"/>
                <a:gd name="T13" fmla="*/ 60 h 504"/>
                <a:gd name="T14" fmla="*/ 145 w 244"/>
                <a:gd name="T15" fmla="*/ 72 h 504"/>
                <a:gd name="T16" fmla="*/ 151 w 244"/>
                <a:gd name="T17" fmla="*/ 78 h 504"/>
                <a:gd name="T18" fmla="*/ 173 w 244"/>
                <a:gd name="T19" fmla="*/ 106 h 504"/>
                <a:gd name="T20" fmla="*/ 188 w 244"/>
                <a:gd name="T21" fmla="*/ 128 h 504"/>
                <a:gd name="T22" fmla="*/ 197 w 244"/>
                <a:gd name="T23" fmla="*/ 143 h 504"/>
                <a:gd name="T24" fmla="*/ 209 w 244"/>
                <a:gd name="T25" fmla="*/ 172 h 504"/>
                <a:gd name="T26" fmla="*/ 214 w 244"/>
                <a:gd name="T27" fmla="*/ 190 h 504"/>
                <a:gd name="T28" fmla="*/ 219 w 244"/>
                <a:gd name="T29" fmla="*/ 215 h 504"/>
                <a:gd name="T30" fmla="*/ 221 w 244"/>
                <a:gd name="T31" fmla="*/ 259 h 504"/>
                <a:gd name="T32" fmla="*/ 220 w 244"/>
                <a:gd name="T33" fmla="*/ 284 h 504"/>
                <a:gd name="T34" fmla="*/ 216 w 244"/>
                <a:gd name="T35" fmla="*/ 303 h 504"/>
                <a:gd name="T36" fmla="*/ 206 w 244"/>
                <a:gd name="T37" fmla="*/ 342 h 504"/>
                <a:gd name="T38" fmla="*/ 199 w 244"/>
                <a:gd name="T39" fmla="*/ 360 h 504"/>
                <a:gd name="T40" fmla="*/ 187 w 244"/>
                <a:gd name="T41" fmla="*/ 382 h 504"/>
                <a:gd name="T42" fmla="*/ 176 w 244"/>
                <a:gd name="T43" fmla="*/ 400 h 504"/>
                <a:gd name="T44" fmla="*/ 149 w 244"/>
                <a:gd name="T45" fmla="*/ 432 h 504"/>
                <a:gd name="T46" fmla="*/ 108 w 244"/>
                <a:gd name="T47" fmla="*/ 462 h 504"/>
                <a:gd name="T48" fmla="*/ 74 w 244"/>
                <a:gd name="T49" fmla="*/ 479 h 504"/>
                <a:gd name="T50" fmla="*/ 37 w 244"/>
                <a:gd name="T51" fmla="*/ 488 h 504"/>
                <a:gd name="T52" fmla="*/ 0 w 244"/>
                <a:gd name="T53" fmla="*/ 490 h 504"/>
                <a:gd name="T54" fmla="*/ 0 w 244"/>
                <a:gd name="T55" fmla="*/ 503 h 504"/>
                <a:gd name="T56" fmla="*/ 137 w 244"/>
                <a:gd name="T57" fmla="*/ 503 h 504"/>
                <a:gd name="T58" fmla="*/ 132 w 244"/>
                <a:gd name="T59" fmla="*/ 483 h 504"/>
                <a:gd name="T60" fmla="*/ 152 w 244"/>
                <a:gd name="T61" fmla="*/ 467 h 504"/>
                <a:gd name="T62" fmla="*/ 164 w 244"/>
                <a:gd name="T63" fmla="*/ 455 h 504"/>
                <a:gd name="T64" fmla="*/ 183 w 244"/>
                <a:gd name="T65" fmla="*/ 436 h 504"/>
                <a:gd name="T66" fmla="*/ 206 w 244"/>
                <a:gd name="T67" fmla="*/ 404 h 504"/>
                <a:gd name="T68" fmla="*/ 219 w 244"/>
                <a:gd name="T69" fmla="*/ 380 h 504"/>
                <a:gd name="T70" fmla="*/ 228 w 244"/>
                <a:gd name="T71" fmla="*/ 354 h 504"/>
                <a:gd name="T72" fmla="*/ 239 w 244"/>
                <a:gd name="T73" fmla="*/ 314 h 504"/>
                <a:gd name="T74" fmla="*/ 243 w 244"/>
                <a:gd name="T75" fmla="*/ 268 h 504"/>
                <a:gd name="T76" fmla="*/ 243 w 244"/>
                <a:gd name="T77" fmla="*/ 226 h 504"/>
                <a:gd name="T78" fmla="*/ 239 w 244"/>
                <a:gd name="T79" fmla="*/ 198 h 504"/>
                <a:gd name="T80" fmla="*/ 235 w 244"/>
                <a:gd name="T81" fmla="*/ 176 h 504"/>
                <a:gd name="T82" fmla="*/ 229 w 244"/>
                <a:gd name="T83" fmla="*/ 158 h 504"/>
                <a:gd name="T84" fmla="*/ 221 w 244"/>
                <a:gd name="T85" fmla="*/ 138 h 504"/>
                <a:gd name="T86" fmla="*/ 205 w 244"/>
                <a:gd name="T87" fmla="*/ 104 h 504"/>
                <a:gd name="T88" fmla="*/ 197 w 244"/>
                <a:gd name="T89" fmla="*/ 91 h 504"/>
                <a:gd name="T90" fmla="*/ 188 w 244"/>
                <a:gd name="T91" fmla="*/ 76 h 504"/>
                <a:gd name="T92" fmla="*/ 182 w 244"/>
                <a:gd name="T93" fmla="*/ 67 h 504"/>
                <a:gd name="T94" fmla="*/ 178 w 244"/>
                <a:gd name="T95" fmla="*/ 60 h 504"/>
                <a:gd name="T96" fmla="*/ 172 w 244"/>
                <a:gd name="T97" fmla="*/ 46 h 504"/>
                <a:gd name="T98" fmla="*/ 172 w 244"/>
                <a:gd name="T99" fmla="*/ 32 h 504"/>
                <a:gd name="T100" fmla="*/ 175 w 244"/>
                <a:gd name="T101" fmla="*/ 20 h 504"/>
                <a:gd name="T102" fmla="*/ 180 w 244"/>
                <a:gd name="T103" fmla="*/ 10 h 504"/>
                <a:gd name="T104" fmla="*/ 186 w 244"/>
                <a:gd name="T105" fmla="*/ 4 h 504"/>
                <a:gd name="T106" fmla="*/ 193 w 244"/>
                <a:gd name="T107" fmla="*/ 0 h 504"/>
                <a:gd name="T108" fmla="*/ 8 w 244"/>
                <a:gd name="T109" fmla="*/ 0 h 50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44"/>
                <a:gd name="T166" fmla="*/ 0 h 504"/>
                <a:gd name="T167" fmla="*/ 244 w 244"/>
                <a:gd name="T168" fmla="*/ 504 h 50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44" h="504">
                  <a:moveTo>
                    <a:pt x="8" y="0"/>
                  </a:moveTo>
                  <a:lnTo>
                    <a:pt x="8" y="16"/>
                  </a:lnTo>
                  <a:lnTo>
                    <a:pt x="29" y="18"/>
                  </a:lnTo>
                  <a:lnTo>
                    <a:pt x="64" y="25"/>
                  </a:lnTo>
                  <a:lnTo>
                    <a:pt x="90" y="36"/>
                  </a:lnTo>
                  <a:lnTo>
                    <a:pt x="111" y="47"/>
                  </a:lnTo>
                  <a:lnTo>
                    <a:pt x="129" y="60"/>
                  </a:lnTo>
                  <a:lnTo>
                    <a:pt x="145" y="72"/>
                  </a:lnTo>
                  <a:lnTo>
                    <a:pt x="151" y="78"/>
                  </a:lnTo>
                  <a:lnTo>
                    <a:pt x="173" y="106"/>
                  </a:lnTo>
                  <a:lnTo>
                    <a:pt x="188" y="128"/>
                  </a:lnTo>
                  <a:lnTo>
                    <a:pt x="197" y="143"/>
                  </a:lnTo>
                  <a:lnTo>
                    <a:pt x="209" y="172"/>
                  </a:lnTo>
                  <a:lnTo>
                    <a:pt x="214" y="190"/>
                  </a:lnTo>
                  <a:lnTo>
                    <a:pt x="219" y="215"/>
                  </a:lnTo>
                  <a:lnTo>
                    <a:pt x="221" y="259"/>
                  </a:lnTo>
                  <a:lnTo>
                    <a:pt x="220" y="284"/>
                  </a:lnTo>
                  <a:lnTo>
                    <a:pt x="216" y="303"/>
                  </a:lnTo>
                  <a:lnTo>
                    <a:pt x="206" y="342"/>
                  </a:lnTo>
                  <a:lnTo>
                    <a:pt x="199" y="360"/>
                  </a:lnTo>
                  <a:lnTo>
                    <a:pt x="187" y="382"/>
                  </a:lnTo>
                  <a:lnTo>
                    <a:pt x="176" y="400"/>
                  </a:lnTo>
                  <a:lnTo>
                    <a:pt x="149" y="432"/>
                  </a:lnTo>
                  <a:lnTo>
                    <a:pt x="108" y="462"/>
                  </a:lnTo>
                  <a:lnTo>
                    <a:pt x="74" y="479"/>
                  </a:lnTo>
                  <a:lnTo>
                    <a:pt x="37" y="488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7" y="503"/>
                  </a:lnTo>
                  <a:lnTo>
                    <a:pt x="132" y="483"/>
                  </a:lnTo>
                  <a:lnTo>
                    <a:pt x="152" y="467"/>
                  </a:lnTo>
                  <a:lnTo>
                    <a:pt x="164" y="455"/>
                  </a:lnTo>
                  <a:lnTo>
                    <a:pt x="183" y="436"/>
                  </a:lnTo>
                  <a:lnTo>
                    <a:pt x="206" y="404"/>
                  </a:lnTo>
                  <a:lnTo>
                    <a:pt x="219" y="380"/>
                  </a:lnTo>
                  <a:lnTo>
                    <a:pt x="228" y="354"/>
                  </a:lnTo>
                  <a:lnTo>
                    <a:pt x="239" y="314"/>
                  </a:lnTo>
                  <a:lnTo>
                    <a:pt x="243" y="268"/>
                  </a:lnTo>
                  <a:lnTo>
                    <a:pt x="243" y="226"/>
                  </a:lnTo>
                  <a:lnTo>
                    <a:pt x="239" y="198"/>
                  </a:lnTo>
                  <a:lnTo>
                    <a:pt x="235" y="176"/>
                  </a:lnTo>
                  <a:lnTo>
                    <a:pt x="229" y="158"/>
                  </a:lnTo>
                  <a:lnTo>
                    <a:pt x="221" y="138"/>
                  </a:lnTo>
                  <a:lnTo>
                    <a:pt x="205" y="104"/>
                  </a:lnTo>
                  <a:lnTo>
                    <a:pt x="197" y="91"/>
                  </a:lnTo>
                  <a:lnTo>
                    <a:pt x="188" y="76"/>
                  </a:lnTo>
                  <a:lnTo>
                    <a:pt x="182" y="67"/>
                  </a:lnTo>
                  <a:lnTo>
                    <a:pt x="178" y="60"/>
                  </a:lnTo>
                  <a:lnTo>
                    <a:pt x="172" y="46"/>
                  </a:lnTo>
                  <a:lnTo>
                    <a:pt x="172" y="32"/>
                  </a:lnTo>
                  <a:lnTo>
                    <a:pt x="175" y="20"/>
                  </a:lnTo>
                  <a:lnTo>
                    <a:pt x="180" y="10"/>
                  </a:lnTo>
                  <a:lnTo>
                    <a:pt x="186" y="4"/>
                  </a:lnTo>
                  <a:lnTo>
                    <a:pt x="193" y="0"/>
                  </a:lnTo>
                  <a:lnTo>
                    <a:pt x="8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A9A56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8" name="Freeform 276">
              <a:extLst>
                <a:ext uri="{FF2B5EF4-FFF2-40B4-BE49-F238E27FC236}">
                  <a16:creationId xmlns:a16="http://schemas.microsoft.com/office/drawing/2014/main" id="{4F4968B3-F6A1-454E-B562-463DB9EF5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2894"/>
              <a:ext cx="352" cy="393"/>
            </a:xfrm>
            <a:custGeom>
              <a:avLst/>
              <a:gdLst>
                <a:gd name="T0" fmla="*/ 164 w 352"/>
                <a:gd name="T1" fmla="*/ 7 h 393"/>
                <a:gd name="T2" fmla="*/ 100 w 352"/>
                <a:gd name="T3" fmla="*/ 36 h 393"/>
                <a:gd name="T4" fmla="*/ 47 w 352"/>
                <a:gd name="T5" fmla="*/ 88 h 393"/>
                <a:gd name="T6" fmla="*/ 19 w 352"/>
                <a:gd name="T7" fmla="*/ 138 h 393"/>
                <a:gd name="T8" fmla="*/ 6 w 352"/>
                <a:gd name="T9" fmla="*/ 180 h 393"/>
                <a:gd name="T10" fmla="*/ 0 w 352"/>
                <a:gd name="T11" fmla="*/ 246 h 393"/>
                <a:gd name="T12" fmla="*/ 6 w 352"/>
                <a:gd name="T13" fmla="*/ 292 h 393"/>
                <a:gd name="T14" fmla="*/ 16 w 352"/>
                <a:gd name="T15" fmla="*/ 325 h 393"/>
                <a:gd name="T16" fmla="*/ 32 w 352"/>
                <a:gd name="T17" fmla="*/ 360 h 393"/>
                <a:gd name="T18" fmla="*/ 52 w 352"/>
                <a:gd name="T19" fmla="*/ 376 h 393"/>
                <a:gd name="T20" fmla="*/ 70 w 352"/>
                <a:gd name="T21" fmla="*/ 278 h 393"/>
                <a:gd name="T22" fmla="*/ 91 w 352"/>
                <a:gd name="T23" fmla="*/ 306 h 393"/>
                <a:gd name="T24" fmla="*/ 117 w 352"/>
                <a:gd name="T25" fmla="*/ 331 h 393"/>
                <a:gd name="T26" fmla="*/ 155 w 352"/>
                <a:gd name="T27" fmla="*/ 353 h 393"/>
                <a:gd name="T28" fmla="*/ 190 w 352"/>
                <a:gd name="T29" fmla="*/ 365 h 393"/>
                <a:gd name="T30" fmla="*/ 208 w 352"/>
                <a:gd name="T31" fmla="*/ 295 h 393"/>
                <a:gd name="T32" fmla="*/ 110 w 352"/>
                <a:gd name="T33" fmla="*/ 251 h 393"/>
                <a:gd name="T34" fmla="*/ 77 w 352"/>
                <a:gd name="T35" fmla="*/ 225 h 393"/>
                <a:gd name="T36" fmla="*/ 56 w 352"/>
                <a:gd name="T37" fmla="*/ 182 h 393"/>
                <a:gd name="T38" fmla="*/ 60 w 352"/>
                <a:gd name="T39" fmla="*/ 143 h 393"/>
                <a:gd name="T40" fmla="*/ 88 w 352"/>
                <a:gd name="T41" fmla="*/ 108 h 393"/>
                <a:gd name="T42" fmla="*/ 143 w 352"/>
                <a:gd name="T43" fmla="*/ 83 h 393"/>
                <a:gd name="T44" fmla="*/ 190 w 352"/>
                <a:gd name="T45" fmla="*/ 78 h 393"/>
                <a:gd name="T46" fmla="*/ 208 w 352"/>
                <a:gd name="T47" fmla="*/ 35 h 393"/>
                <a:gd name="T48" fmla="*/ 227 w 352"/>
                <a:gd name="T49" fmla="*/ 80 h 393"/>
                <a:gd name="T50" fmla="*/ 248 w 352"/>
                <a:gd name="T51" fmla="*/ 84 h 393"/>
                <a:gd name="T52" fmla="*/ 273 w 352"/>
                <a:gd name="T53" fmla="*/ 92 h 393"/>
                <a:gd name="T54" fmla="*/ 308 w 352"/>
                <a:gd name="T55" fmla="*/ 114 h 393"/>
                <a:gd name="T56" fmla="*/ 335 w 352"/>
                <a:gd name="T57" fmla="*/ 74 h 393"/>
                <a:gd name="T58" fmla="*/ 351 w 352"/>
                <a:gd name="T59" fmla="*/ 62 h 393"/>
                <a:gd name="T60" fmla="*/ 329 w 352"/>
                <a:gd name="T61" fmla="*/ 43 h 393"/>
                <a:gd name="T62" fmla="*/ 290 w 352"/>
                <a:gd name="T63" fmla="*/ 20 h 393"/>
                <a:gd name="T64" fmla="*/ 229 w 352"/>
                <a:gd name="T65" fmla="*/ 2 h 39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2"/>
                <a:gd name="T100" fmla="*/ 0 h 393"/>
                <a:gd name="T101" fmla="*/ 352 w 352"/>
                <a:gd name="T102" fmla="*/ 393 h 39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2" h="393">
                  <a:moveTo>
                    <a:pt x="209" y="0"/>
                  </a:moveTo>
                  <a:lnTo>
                    <a:pt x="164" y="7"/>
                  </a:lnTo>
                  <a:lnTo>
                    <a:pt x="131" y="18"/>
                  </a:lnTo>
                  <a:lnTo>
                    <a:pt x="100" y="36"/>
                  </a:lnTo>
                  <a:lnTo>
                    <a:pt x="63" y="67"/>
                  </a:lnTo>
                  <a:lnTo>
                    <a:pt x="47" y="88"/>
                  </a:lnTo>
                  <a:lnTo>
                    <a:pt x="30" y="114"/>
                  </a:lnTo>
                  <a:lnTo>
                    <a:pt x="19" y="138"/>
                  </a:lnTo>
                  <a:lnTo>
                    <a:pt x="14" y="150"/>
                  </a:lnTo>
                  <a:lnTo>
                    <a:pt x="6" y="180"/>
                  </a:lnTo>
                  <a:lnTo>
                    <a:pt x="1" y="211"/>
                  </a:lnTo>
                  <a:lnTo>
                    <a:pt x="0" y="246"/>
                  </a:lnTo>
                  <a:lnTo>
                    <a:pt x="2" y="275"/>
                  </a:lnTo>
                  <a:lnTo>
                    <a:pt x="6" y="292"/>
                  </a:lnTo>
                  <a:lnTo>
                    <a:pt x="10" y="308"/>
                  </a:lnTo>
                  <a:lnTo>
                    <a:pt x="16" y="325"/>
                  </a:lnTo>
                  <a:lnTo>
                    <a:pt x="23" y="343"/>
                  </a:lnTo>
                  <a:lnTo>
                    <a:pt x="32" y="360"/>
                  </a:lnTo>
                  <a:lnTo>
                    <a:pt x="52" y="392"/>
                  </a:lnTo>
                  <a:lnTo>
                    <a:pt x="52" y="376"/>
                  </a:lnTo>
                  <a:lnTo>
                    <a:pt x="53" y="277"/>
                  </a:lnTo>
                  <a:lnTo>
                    <a:pt x="70" y="278"/>
                  </a:lnTo>
                  <a:lnTo>
                    <a:pt x="81" y="292"/>
                  </a:lnTo>
                  <a:lnTo>
                    <a:pt x="91" y="306"/>
                  </a:lnTo>
                  <a:lnTo>
                    <a:pt x="103" y="318"/>
                  </a:lnTo>
                  <a:lnTo>
                    <a:pt x="117" y="331"/>
                  </a:lnTo>
                  <a:lnTo>
                    <a:pt x="135" y="343"/>
                  </a:lnTo>
                  <a:lnTo>
                    <a:pt x="155" y="353"/>
                  </a:lnTo>
                  <a:lnTo>
                    <a:pt x="170" y="359"/>
                  </a:lnTo>
                  <a:lnTo>
                    <a:pt x="190" y="365"/>
                  </a:lnTo>
                  <a:lnTo>
                    <a:pt x="208" y="365"/>
                  </a:lnTo>
                  <a:lnTo>
                    <a:pt x="208" y="295"/>
                  </a:lnTo>
                  <a:lnTo>
                    <a:pt x="198" y="290"/>
                  </a:lnTo>
                  <a:lnTo>
                    <a:pt x="110" y="251"/>
                  </a:lnTo>
                  <a:lnTo>
                    <a:pt x="94" y="239"/>
                  </a:lnTo>
                  <a:lnTo>
                    <a:pt x="77" y="225"/>
                  </a:lnTo>
                  <a:lnTo>
                    <a:pt x="62" y="203"/>
                  </a:lnTo>
                  <a:lnTo>
                    <a:pt x="56" y="182"/>
                  </a:lnTo>
                  <a:lnTo>
                    <a:pt x="56" y="167"/>
                  </a:lnTo>
                  <a:lnTo>
                    <a:pt x="60" y="143"/>
                  </a:lnTo>
                  <a:lnTo>
                    <a:pt x="73" y="121"/>
                  </a:lnTo>
                  <a:lnTo>
                    <a:pt x="88" y="108"/>
                  </a:lnTo>
                  <a:lnTo>
                    <a:pt x="112" y="93"/>
                  </a:lnTo>
                  <a:lnTo>
                    <a:pt x="143" y="83"/>
                  </a:lnTo>
                  <a:lnTo>
                    <a:pt x="158" y="80"/>
                  </a:lnTo>
                  <a:lnTo>
                    <a:pt x="190" y="78"/>
                  </a:lnTo>
                  <a:lnTo>
                    <a:pt x="208" y="78"/>
                  </a:lnTo>
                  <a:lnTo>
                    <a:pt x="208" y="35"/>
                  </a:lnTo>
                  <a:lnTo>
                    <a:pt x="227" y="35"/>
                  </a:lnTo>
                  <a:lnTo>
                    <a:pt x="227" y="80"/>
                  </a:lnTo>
                  <a:lnTo>
                    <a:pt x="236" y="81"/>
                  </a:lnTo>
                  <a:lnTo>
                    <a:pt x="248" y="84"/>
                  </a:lnTo>
                  <a:lnTo>
                    <a:pt x="261" y="88"/>
                  </a:lnTo>
                  <a:lnTo>
                    <a:pt x="273" y="92"/>
                  </a:lnTo>
                  <a:lnTo>
                    <a:pt x="288" y="102"/>
                  </a:lnTo>
                  <a:lnTo>
                    <a:pt x="308" y="114"/>
                  </a:lnTo>
                  <a:lnTo>
                    <a:pt x="320" y="120"/>
                  </a:lnTo>
                  <a:lnTo>
                    <a:pt x="335" y="74"/>
                  </a:lnTo>
                  <a:lnTo>
                    <a:pt x="351" y="75"/>
                  </a:lnTo>
                  <a:lnTo>
                    <a:pt x="351" y="62"/>
                  </a:lnTo>
                  <a:lnTo>
                    <a:pt x="345" y="56"/>
                  </a:lnTo>
                  <a:lnTo>
                    <a:pt x="329" y="43"/>
                  </a:lnTo>
                  <a:lnTo>
                    <a:pt x="311" y="30"/>
                  </a:lnTo>
                  <a:lnTo>
                    <a:pt x="290" y="20"/>
                  </a:lnTo>
                  <a:lnTo>
                    <a:pt x="264" y="9"/>
                  </a:lnTo>
                  <a:lnTo>
                    <a:pt x="229" y="2"/>
                  </a:lnTo>
                  <a:lnTo>
                    <a:pt x="209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9" name="Freeform 277">
              <a:extLst>
                <a:ext uri="{FF2B5EF4-FFF2-40B4-BE49-F238E27FC236}">
                  <a16:creationId xmlns:a16="http://schemas.microsoft.com/office/drawing/2014/main" id="{7378984A-D73D-41B7-84D5-4DE38C6DB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3385"/>
              <a:ext cx="298" cy="16"/>
            </a:xfrm>
            <a:custGeom>
              <a:avLst/>
              <a:gdLst>
                <a:gd name="T0" fmla="*/ 297 w 298"/>
                <a:gd name="T1" fmla="*/ 15 h 16"/>
                <a:gd name="T2" fmla="*/ 274 w 298"/>
                <a:gd name="T3" fmla="*/ 0 h 16"/>
                <a:gd name="T4" fmla="*/ 19 w 298"/>
                <a:gd name="T5" fmla="*/ 0 h 16"/>
                <a:gd name="T6" fmla="*/ 0 w 298"/>
                <a:gd name="T7" fmla="*/ 15 h 16"/>
                <a:gd name="T8" fmla="*/ 297 w 298"/>
                <a:gd name="T9" fmla="*/ 15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"/>
                <a:gd name="T16" fmla="*/ 0 h 16"/>
                <a:gd name="T17" fmla="*/ 298 w 298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" h="16">
                  <a:moveTo>
                    <a:pt x="297" y="15"/>
                  </a:moveTo>
                  <a:lnTo>
                    <a:pt x="274" y="0"/>
                  </a:lnTo>
                  <a:lnTo>
                    <a:pt x="19" y="0"/>
                  </a:lnTo>
                  <a:lnTo>
                    <a:pt x="0" y="15"/>
                  </a:lnTo>
                  <a:lnTo>
                    <a:pt x="297" y="15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0" name="Freeform 278">
              <a:extLst>
                <a:ext uri="{FF2B5EF4-FFF2-40B4-BE49-F238E27FC236}">
                  <a16:creationId xmlns:a16="http://schemas.microsoft.com/office/drawing/2014/main" id="{97AC0957-2E5E-4FD2-83F5-BDA4969DB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2972"/>
              <a:ext cx="153" cy="217"/>
            </a:xfrm>
            <a:custGeom>
              <a:avLst/>
              <a:gdLst>
                <a:gd name="T0" fmla="*/ 152 w 153"/>
                <a:gd name="T1" fmla="*/ 216 h 217"/>
                <a:gd name="T2" fmla="*/ 152 w 153"/>
                <a:gd name="T3" fmla="*/ 77 h 217"/>
                <a:gd name="T4" fmla="*/ 121 w 153"/>
                <a:gd name="T5" fmla="*/ 68 h 217"/>
                <a:gd name="T6" fmla="*/ 100 w 153"/>
                <a:gd name="T7" fmla="*/ 56 h 217"/>
                <a:gd name="T8" fmla="*/ 91 w 153"/>
                <a:gd name="T9" fmla="*/ 46 h 217"/>
                <a:gd name="T10" fmla="*/ 90 w 153"/>
                <a:gd name="T11" fmla="*/ 39 h 217"/>
                <a:gd name="T12" fmla="*/ 90 w 153"/>
                <a:gd name="T13" fmla="*/ 34 h 217"/>
                <a:gd name="T14" fmla="*/ 95 w 153"/>
                <a:gd name="T15" fmla="*/ 27 h 217"/>
                <a:gd name="T16" fmla="*/ 105 w 153"/>
                <a:gd name="T17" fmla="*/ 19 h 217"/>
                <a:gd name="T18" fmla="*/ 129 w 153"/>
                <a:gd name="T19" fmla="*/ 13 h 217"/>
                <a:gd name="T20" fmla="*/ 152 w 153"/>
                <a:gd name="T21" fmla="*/ 11 h 217"/>
                <a:gd name="T22" fmla="*/ 152 w 153"/>
                <a:gd name="T23" fmla="*/ 0 h 217"/>
                <a:gd name="T24" fmla="*/ 133 w 153"/>
                <a:gd name="T25" fmla="*/ 0 h 217"/>
                <a:gd name="T26" fmla="*/ 102 w 153"/>
                <a:gd name="T27" fmla="*/ 2 h 217"/>
                <a:gd name="T28" fmla="*/ 87 w 153"/>
                <a:gd name="T29" fmla="*/ 5 h 217"/>
                <a:gd name="T30" fmla="*/ 57 w 153"/>
                <a:gd name="T31" fmla="*/ 16 h 217"/>
                <a:gd name="T32" fmla="*/ 32 w 153"/>
                <a:gd name="T33" fmla="*/ 30 h 217"/>
                <a:gd name="T34" fmla="*/ 17 w 153"/>
                <a:gd name="T35" fmla="*/ 43 h 217"/>
                <a:gd name="T36" fmla="*/ 4 w 153"/>
                <a:gd name="T37" fmla="*/ 65 h 217"/>
                <a:gd name="T38" fmla="*/ 0 w 153"/>
                <a:gd name="T39" fmla="*/ 89 h 217"/>
                <a:gd name="T40" fmla="*/ 0 w 153"/>
                <a:gd name="T41" fmla="*/ 103 h 217"/>
                <a:gd name="T42" fmla="*/ 7 w 153"/>
                <a:gd name="T43" fmla="*/ 125 h 217"/>
                <a:gd name="T44" fmla="*/ 22 w 153"/>
                <a:gd name="T45" fmla="*/ 146 h 217"/>
                <a:gd name="T46" fmla="*/ 38 w 153"/>
                <a:gd name="T47" fmla="*/ 160 h 217"/>
                <a:gd name="T48" fmla="*/ 54 w 153"/>
                <a:gd name="T49" fmla="*/ 173 h 217"/>
                <a:gd name="T50" fmla="*/ 141 w 153"/>
                <a:gd name="T51" fmla="*/ 212 h 217"/>
                <a:gd name="T52" fmla="*/ 152 w 153"/>
                <a:gd name="T53" fmla="*/ 216 h 2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217"/>
                <a:gd name="T83" fmla="*/ 153 w 153"/>
                <a:gd name="T84" fmla="*/ 217 h 2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217">
                  <a:moveTo>
                    <a:pt x="152" y="216"/>
                  </a:moveTo>
                  <a:lnTo>
                    <a:pt x="152" y="77"/>
                  </a:lnTo>
                  <a:lnTo>
                    <a:pt x="121" y="68"/>
                  </a:lnTo>
                  <a:lnTo>
                    <a:pt x="100" y="56"/>
                  </a:lnTo>
                  <a:lnTo>
                    <a:pt x="91" y="46"/>
                  </a:lnTo>
                  <a:lnTo>
                    <a:pt x="90" y="39"/>
                  </a:lnTo>
                  <a:lnTo>
                    <a:pt x="90" y="34"/>
                  </a:lnTo>
                  <a:lnTo>
                    <a:pt x="95" y="27"/>
                  </a:lnTo>
                  <a:lnTo>
                    <a:pt x="105" y="19"/>
                  </a:lnTo>
                  <a:lnTo>
                    <a:pt x="129" y="13"/>
                  </a:lnTo>
                  <a:lnTo>
                    <a:pt x="152" y="11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02" y="2"/>
                  </a:lnTo>
                  <a:lnTo>
                    <a:pt x="87" y="5"/>
                  </a:lnTo>
                  <a:lnTo>
                    <a:pt x="57" y="16"/>
                  </a:lnTo>
                  <a:lnTo>
                    <a:pt x="32" y="30"/>
                  </a:lnTo>
                  <a:lnTo>
                    <a:pt x="17" y="43"/>
                  </a:lnTo>
                  <a:lnTo>
                    <a:pt x="4" y="65"/>
                  </a:lnTo>
                  <a:lnTo>
                    <a:pt x="0" y="89"/>
                  </a:lnTo>
                  <a:lnTo>
                    <a:pt x="0" y="103"/>
                  </a:lnTo>
                  <a:lnTo>
                    <a:pt x="7" y="125"/>
                  </a:lnTo>
                  <a:lnTo>
                    <a:pt x="22" y="146"/>
                  </a:lnTo>
                  <a:lnTo>
                    <a:pt x="38" y="160"/>
                  </a:lnTo>
                  <a:lnTo>
                    <a:pt x="54" y="173"/>
                  </a:lnTo>
                  <a:lnTo>
                    <a:pt x="141" y="212"/>
                  </a:lnTo>
                  <a:lnTo>
                    <a:pt x="152" y="21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1" name="Freeform 279">
              <a:extLst>
                <a:ext uri="{FF2B5EF4-FFF2-40B4-BE49-F238E27FC236}">
                  <a16:creationId xmlns:a16="http://schemas.microsoft.com/office/drawing/2014/main" id="{E047B213-4975-4615-8E19-61F40DA90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2969"/>
              <a:ext cx="124" cy="96"/>
            </a:xfrm>
            <a:custGeom>
              <a:avLst/>
              <a:gdLst>
                <a:gd name="T0" fmla="*/ 0 w 124"/>
                <a:gd name="T1" fmla="*/ 6 h 96"/>
                <a:gd name="T2" fmla="*/ 0 w 124"/>
                <a:gd name="T3" fmla="*/ 18 h 96"/>
                <a:gd name="T4" fmla="*/ 9 w 124"/>
                <a:gd name="T5" fmla="*/ 19 h 96"/>
                <a:gd name="T6" fmla="*/ 23 w 124"/>
                <a:gd name="T7" fmla="*/ 23 h 96"/>
                <a:gd name="T8" fmla="*/ 32 w 124"/>
                <a:gd name="T9" fmla="*/ 27 h 96"/>
                <a:gd name="T10" fmla="*/ 43 w 124"/>
                <a:gd name="T11" fmla="*/ 33 h 96"/>
                <a:gd name="T12" fmla="*/ 51 w 124"/>
                <a:gd name="T13" fmla="*/ 38 h 96"/>
                <a:gd name="T14" fmla="*/ 59 w 124"/>
                <a:gd name="T15" fmla="*/ 43 h 96"/>
                <a:gd name="T16" fmla="*/ 66 w 124"/>
                <a:gd name="T17" fmla="*/ 48 h 96"/>
                <a:gd name="T18" fmla="*/ 73 w 124"/>
                <a:gd name="T19" fmla="*/ 55 h 96"/>
                <a:gd name="T20" fmla="*/ 79 w 124"/>
                <a:gd name="T21" fmla="*/ 61 h 96"/>
                <a:gd name="T22" fmla="*/ 87 w 124"/>
                <a:gd name="T23" fmla="*/ 68 h 96"/>
                <a:gd name="T24" fmla="*/ 107 w 124"/>
                <a:gd name="T25" fmla="*/ 95 h 96"/>
                <a:gd name="T26" fmla="*/ 123 w 124"/>
                <a:gd name="T27" fmla="*/ 93 h 96"/>
                <a:gd name="T28" fmla="*/ 123 w 124"/>
                <a:gd name="T29" fmla="*/ 1 h 96"/>
                <a:gd name="T30" fmla="*/ 107 w 124"/>
                <a:gd name="T31" fmla="*/ 0 h 96"/>
                <a:gd name="T32" fmla="*/ 93 w 124"/>
                <a:gd name="T33" fmla="*/ 44 h 96"/>
                <a:gd name="T34" fmla="*/ 80 w 124"/>
                <a:gd name="T35" fmla="*/ 38 h 96"/>
                <a:gd name="T36" fmla="*/ 61 w 124"/>
                <a:gd name="T37" fmla="*/ 27 h 96"/>
                <a:gd name="T38" fmla="*/ 46 w 124"/>
                <a:gd name="T39" fmla="*/ 18 h 96"/>
                <a:gd name="T40" fmla="*/ 34 w 124"/>
                <a:gd name="T41" fmla="*/ 13 h 96"/>
                <a:gd name="T42" fmla="*/ 21 w 124"/>
                <a:gd name="T43" fmla="*/ 9 h 96"/>
                <a:gd name="T44" fmla="*/ 9 w 124"/>
                <a:gd name="T45" fmla="*/ 7 h 96"/>
                <a:gd name="T46" fmla="*/ 0 w 124"/>
                <a:gd name="T47" fmla="*/ 6 h 9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4"/>
                <a:gd name="T73" fmla="*/ 0 h 96"/>
                <a:gd name="T74" fmla="*/ 124 w 124"/>
                <a:gd name="T75" fmla="*/ 96 h 9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4" h="96">
                  <a:moveTo>
                    <a:pt x="0" y="6"/>
                  </a:moveTo>
                  <a:lnTo>
                    <a:pt x="0" y="18"/>
                  </a:lnTo>
                  <a:lnTo>
                    <a:pt x="9" y="19"/>
                  </a:lnTo>
                  <a:lnTo>
                    <a:pt x="23" y="23"/>
                  </a:lnTo>
                  <a:lnTo>
                    <a:pt x="32" y="27"/>
                  </a:lnTo>
                  <a:lnTo>
                    <a:pt x="43" y="33"/>
                  </a:lnTo>
                  <a:lnTo>
                    <a:pt x="51" y="38"/>
                  </a:lnTo>
                  <a:lnTo>
                    <a:pt x="59" y="43"/>
                  </a:lnTo>
                  <a:lnTo>
                    <a:pt x="66" y="48"/>
                  </a:lnTo>
                  <a:lnTo>
                    <a:pt x="73" y="55"/>
                  </a:lnTo>
                  <a:lnTo>
                    <a:pt x="79" y="61"/>
                  </a:lnTo>
                  <a:lnTo>
                    <a:pt x="87" y="68"/>
                  </a:lnTo>
                  <a:lnTo>
                    <a:pt x="107" y="95"/>
                  </a:lnTo>
                  <a:lnTo>
                    <a:pt x="123" y="93"/>
                  </a:lnTo>
                  <a:lnTo>
                    <a:pt x="123" y="1"/>
                  </a:lnTo>
                  <a:lnTo>
                    <a:pt x="107" y="0"/>
                  </a:lnTo>
                  <a:lnTo>
                    <a:pt x="93" y="44"/>
                  </a:lnTo>
                  <a:lnTo>
                    <a:pt x="80" y="38"/>
                  </a:lnTo>
                  <a:lnTo>
                    <a:pt x="61" y="27"/>
                  </a:lnTo>
                  <a:lnTo>
                    <a:pt x="46" y="18"/>
                  </a:lnTo>
                  <a:lnTo>
                    <a:pt x="34" y="13"/>
                  </a:lnTo>
                  <a:lnTo>
                    <a:pt x="21" y="9"/>
                  </a:lnTo>
                  <a:lnTo>
                    <a:pt x="9" y="7"/>
                  </a:lnTo>
                  <a:lnTo>
                    <a:pt x="0" y="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2" name="Freeform 280">
              <a:extLst>
                <a:ext uri="{FF2B5EF4-FFF2-40B4-BE49-F238E27FC236}">
                  <a16:creationId xmlns:a16="http://schemas.microsoft.com/office/drawing/2014/main" id="{FFB25EF1-4100-4DD9-BCD2-8B20A3F3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2984"/>
              <a:ext cx="63" cy="67"/>
            </a:xfrm>
            <a:custGeom>
              <a:avLst/>
              <a:gdLst>
                <a:gd name="T0" fmla="*/ 62 w 63"/>
                <a:gd name="T1" fmla="*/ 0 h 67"/>
                <a:gd name="T2" fmla="*/ 39 w 63"/>
                <a:gd name="T3" fmla="*/ 2 h 67"/>
                <a:gd name="T4" fmla="*/ 15 w 63"/>
                <a:gd name="T5" fmla="*/ 8 h 67"/>
                <a:gd name="T6" fmla="*/ 4 w 63"/>
                <a:gd name="T7" fmla="*/ 16 h 67"/>
                <a:gd name="T8" fmla="*/ 0 w 63"/>
                <a:gd name="T9" fmla="*/ 23 h 67"/>
                <a:gd name="T10" fmla="*/ 0 w 63"/>
                <a:gd name="T11" fmla="*/ 28 h 67"/>
                <a:gd name="T12" fmla="*/ 1 w 63"/>
                <a:gd name="T13" fmla="*/ 35 h 67"/>
                <a:gd name="T14" fmla="*/ 9 w 63"/>
                <a:gd name="T15" fmla="*/ 45 h 67"/>
                <a:gd name="T16" fmla="*/ 31 w 63"/>
                <a:gd name="T17" fmla="*/ 57 h 67"/>
                <a:gd name="T18" fmla="*/ 62 w 63"/>
                <a:gd name="T19" fmla="*/ 66 h 67"/>
                <a:gd name="T20" fmla="*/ 62 w 63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"/>
                <a:gd name="T34" fmla="*/ 0 h 67"/>
                <a:gd name="T35" fmla="*/ 63 w 63"/>
                <a:gd name="T36" fmla="*/ 67 h 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" h="67">
                  <a:moveTo>
                    <a:pt x="62" y="0"/>
                  </a:moveTo>
                  <a:lnTo>
                    <a:pt x="39" y="2"/>
                  </a:lnTo>
                  <a:lnTo>
                    <a:pt x="15" y="8"/>
                  </a:lnTo>
                  <a:lnTo>
                    <a:pt x="4" y="16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1" y="35"/>
                  </a:lnTo>
                  <a:lnTo>
                    <a:pt x="9" y="45"/>
                  </a:lnTo>
                  <a:lnTo>
                    <a:pt x="31" y="57"/>
                  </a:lnTo>
                  <a:lnTo>
                    <a:pt x="62" y="66"/>
                  </a:lnTo>
                  <a:lnTo>
                    <a:pt x="62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3" name="Freeform 281">
              <a:extLst>
                <a:ext uri="{FF2B5EF4-FFF2-40B4-BE49-F238E27FC236}">
                  <a16:creationId xmlns:a16="http://schemas.microsoft.com/office/drawing/2014/main" id="{B2F27D78-71DA-4120-883C-27AD13E9F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3197"/>
              <a:ext cx="55" cy="67"/>
            </a:xfrm>
            <a:custGeom>
              <a:avLst/>
              <a:gdLst>
                <a:gd name="T0" fmla="*/ 0 w 55"/>
                <a:gd name="T1" fmla="*/ 0 h 67"/>
                <a:gd name="T2" fmla="*/ 0 w 55"/>
                <a:gd name="T3" fmla="*/ 66 h 67"/>
                <a:gd name="T4" fmla="*/ 26 w 55"/>
                <a:gd name="T5" fmla="*/ 61 h 67"/>
                <a:gd name="T6" fmla="*/ 35 w 55"/>
                <a:gd name="T7" fmla="*/ 58 h 67"/>
                <a:gd name="T8" fmla="*/ 42 w 55"/>
                <a:gd name="T9" fmla="*/ 54 h 67"/>
                <a:gd name="T10" fmla="*/ 49 w 55"/>
                <a:gd name="T11" fmla="*/ 50 h 67"/>
                <a:gd name="T12" fmla="*/ 53 w 55"/>
                <a:gd name="T13" fmla="*/ 44 h 67"/>
                <a:gd name="T14" fmla="*/ 54 w 55"/>
                <a:gd name="T15" fmla="*/ 36 h 67"/>
                <a:gd name="T16" fmla="*/ 52 w 55"/>
                <a:gd name="T17" fmla="*/ 30 h 67"/>
                <a:gd name="T18" fmla="*/ 44 w 55"/>
                <a:gd name="T19" fmla="*/ 21 h 67"/>
                <a:gd name="T20" fmla="*/ 34 w 55"/>
                <a:gd name="T21" fmla="*/ 13 h 67"/>
                <a:gd name="T22" fmla="*/ 13 w 55"/>
                <a:gd name="T23" fmla="*/ 4 h 67"/>
                <a:gd name="T24" fmla="*/ 0 w 55"/>
                <a:gd name="T25" fmla="*/ 0 h 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5"/>
                <a:gd name="T40" fmla="*/ 0 h 67"/>
                <a:gd name="T41" fmla="*/ 55 w 55"/>
                <a:gd name="T42" fmla="*/ 67 h 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5" h="67">
                  <a:moveTo>
                    <a:pt x="0" y="0"/>
                  </a:moveTo>
                  <a:lnTo>
                    <a:pt x="0" y="66"/>
                  </a:lnTo>
                  <a:lnTo>
                    <a:pt x="26" y="61"/>
                  </a:lnTo>
                  <a:lnTo>
                    <a:pt x="35" y="58"/>
                  </a:lnTo>
                  <a:lnTo>
                    <a:pt x="42" y="54"/>
                  </a:lnTo>
                  <a:lnTo>
                    <a:pt x="49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2" y="30"/>
                  </a:lnTo>
                  <a:lnTo>
                    <a:pt x="44" y="21"/>
                  </a:lnTo>
                  <a:lnTo>
                    <a:pt x="34" y="13"/>
                  </a:lnTo>
                  <a:lnTo>
                    <a:pt x="13" y="4"/>
                  </a:lnTo>
                  <a:lnTo>
                    <a:pt x="0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4" name="Freeform 282">
              <a:extLst>
                <a:ext uri="{FF2B5EF4-FFF2-40B4-BE49-F238E27FC236}">
                  <a16:creationId xmlns:a16="http://schemas.microsoft.com/office/drawing/2014/main" id="{3B04E245-CC53-479E-978F-2DA1ED384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876"/>
              <a:ext cx="37" cy="15"/>
            </a:xfrm>
            <a:custGeom>
              <a:avLst/>
              <a:gdLst>
                <a:gd name="T0" fmla="*/ 36 w 37"/>
                <a:gd name="T1" fmla="*/ 0 h 15"/>
                <a:gd name="T2" fmla="*/ 9 w 37"/>
                <a:gd name="T3" fmla="*/ 14 h 15"/>
                <a:gd name="T4" fmla="*/ 0 w 37"/>
                <a:gd name="T5" fmla="*/ 12 h 15"/>
                <a:gd name="T6" fmla="*/ 0 w 37"/>
                <a:gd name="T7" fmla="*/ 0 h 15"/>
                <a:gd name="T8" fmla="*/ 36 w 37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5"/>
                <a:gd name="T17" fmla="*/ 37 w 37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5">
                  <a:moveTo>
                    <a:pt x="36" y="0"/>
                  </a:moveTo>
                  <a:lnTo>
                    <a:pt x="9" y="14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5" name="Freeform 283">
              <a:extLst>
                <a:ext uri="{FF2B5EF4-FFF2-40B4-BE49-F238E27FC236}">
                  <a16:creationId xmlns:a16="http://schemas.microsoft.com/office/drawing/2014/main" id="{1C5735C7-AC48-40A2-8CB6-B81AAF1DB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877"/>
              <a:ext cx="35" cy="16"/>
            </a:xfrm>
            <a:custGeom>
              <a:avLst/>
              <a:gdLst>
                <a:gd name="T0" fmla="*/ 0 w 35"/>
                <a:gd name="T1" fmla="*/ 0 h 16"/>
                <a:gd name="T2" fmla="*/ 34 w 35"/>
                <a:gd name="T3" fmla="*/ 0 h 16"/>
                <a:gd name="T4" fmla="*/ 34 w 35"/>
                <a:gd name="T5" fmla="*/ 13 h 16"/>
                <a:gd name="T6" fmla="*/ 28 w 35"/>
                <a:gd name="T7" fmla="*/ 15 h 16"/>
                <a:gd name="T8" fmla="*/ 0 w 35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16"/>
                <a:gd name="T17" fmla="*/ 35 w 35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16">
                  <a:moveTo>
                    <a:pt x="0" y="0"/>
                  </a:moveTo>
                  <a:lnTo>
                    <a:pt x="34" y="0"/>
                  </a:lnTo>
                  <a:lnTo>
                    <a:pt x="34" y="13"/>
                  </a:lnTo>
                  <a:lnTo>
                    <a:pt x="28" y="15"/>
                  </a:lnTo>
                  <a:lnTo>
                    <a:pt x="0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6" name="Freeform 284">
              <a:extLst>
                <a:ext uri="{FF2B5EF4-FFF2-40B4-BE49-F238E27FC236}">
                  <a16:creationId xmlns:a16="http://schemas.microsoft.com/office/drawing/2014/main" id="{421AC1D1-09CE-4677-B171-85720953E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" y="3381"/>
              <a:ext cx="256" cy="5"/>
            </a:xfrm>
            <a:custGeom>
              <a:avLst/>
              <a:gdLst>
                <a:gd name="T0" fmla="*/ 255 w 256"/>
                <a:gd name="T1" fmla="*/ 4 h 5"/>
                <a:gd name="T2" fmla="*/ 251 w 256"/>
                <a:gd name="T3" fmla="*/ 0 h 5"/>
                <a:gd name="T4" fmla="*/ 6 w 256"/>
                <a:gd name="T5" fmla="*/ 0 h 5"/>
                <a:gd name="T6" fmla="*/ 0 w 256"/>
                <a:gd name="T7" fmla="*/ 4 h 5"/>
                <a:gd name="T8" fmla="*/ 255 w 25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5"/>
                <a:gd name="T17" fmla="*/ 256 w 256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5">
                  <a:moveTo>
                    <a:pt x="255" y="4"/>
                  </a:moveTo>
                  <a:lnTo>
                    <a:pt x="251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255" y="4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7" name="Freeform 285">
              <a:extLst>
                <a:ext uri="{FF2B5EF4-FFF2-40B4-BE49-F238E27FC236}">
                  <a16:creationId xmlns:a16="http://schemas.microsoft.com/office/drawing/2014/main" id="{BE729F84-9975-48B3-A755-E349E3CA7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2856"/>
              <a:ext cx="571" cy="545"/>
            </a:xfrm>
            <a:custGeom>
              <a:avLst/>
              <a:gdLst>
                <a:gd name="T0" fmla="*/ 430 w 571"/>
                <a:gd name="T1" fmla="*/ 520 h 545"/>
                <a:gd name="T2" fmla="*/ 488 w 571"/>
                <a:gd name="T3" fmla="*/ 452 h 545"/>
                <a:gd name="T4" fmla="*/ 515 w 571"/>
                <a:gd name="T5" fmla="*/ 399 h 545"/>
                <a:gd name="T6" fmla="*/ 536 w 571"/>
                <a:gd name="T7" fmla="*/ 311 h 545"/>
                <a:gd name="T8" fmla="*/ 531 w 571"/>
                <a:gd name="T9" fmla="*/ 206 h 545"/>
                <a:gd name="T10" fmla="*/ 488 w 571"/>
                <a:gd name="T11" fmla="*/ 103 h 545"/>
                <a:gd name="T12" fmla="*/ 470 w 571"/>
                <a:gd name="T13" fmla="*/ 66 h 545"/>
                <a:gd name="T14" fmla="*/ 481 w 571"/>
                <a:gd name="T15" fmla="*/ 41 h 545"/>
                <a:gd name="T16" fmla="*/ 548 w 571"/>
                <a:gd name="T17" fmla="*/ 61 h 545"/>
                <a:gd name="T18" fmla="*/ 570 w 571"/>
                <a:gd name="T19" fmla="*/ 0 h 545"/>
                <a:gd name="T20" fmla="*/ 0 w 571"/>
                <a:gd name="T21" fmla="*/ 50 h 545"/>
                <a:gd name="T22" fmla="*/ 59 w 571"/>
                <a:gd name="T23" fmla="*/ 41 h 545"/>
                <a:gd name="T24" fmla="*/ 83 w 571"/>
                <a:gd name="T25" fmla="*/ 39 h 545"/>
                <a:gd name="T26" fmla="*/ 98 w 571"/>
                <a:gd name="T27" fmla="*/ 58 h 545"/>
                <a:gd name="T28" fmla="*/ 85 w 571"/>
                <a:gd name="T29" fmla="*/ 98 h 545"/>
                <a:gd name="T30" fmla="*/ 59 w 571"/>
                <a:gd name="T31" fmla="*/ 143 h 545"/>
                <a:gd name="T32" fmla="*/ 40 w 571"/>
                <a:gd name="T33" fmla="*/ 206 h 545"/>
                <a:gd name="T34" fmla="*/ 33 w 571"/>
                <a:gd name="T35" fmla="*/ 275 h 545"/>
                <a:gd name="T36" fmla="*/ 35 w 571"/>
                <a:gd name="T37" fmla="*/ 320 h 545"/>
                <a:gd name="T38" fmla="*/ 49 w 571"/>
                <a:gd name="T39" fmla="*/ 381 h 545"/>
                <a:gd name="T40" fmla="*/ 77 w 571"/>
                <a:gd name="T41" fmla="*/ 440 h 545"/>
                <a:gd name="T42" fmla="*/ 145 w 571"/>
                <a:gd name="T43" fmla="*/ 518 h 545"/>
                <a:gd name="T44" fmla="*/ 159 w 571"/>
                <a:gd name="T45" fmla="*/ 529 h 545"/>
                <a:gd name="T46" fmla="*/ 141 w 571"/>
                <a:gd name="T47" fmla="*/ 481 h 545"/>
                <a:gd name="T48" fmla="*/ 108 w 571"/>
                <a:gd name="T49" fmla="*/ 451 h 545"/>
                <a:gd name="T50" fmla="*/ 79 w 571"/>
                <a:gd name="T51" fmla="*/ 410 h 545"/>
                <a:gd name="T52" fmla="*/ 61 w 571"/>
                <a:gd name="T53" fmla="*/ 370 h 545"/>
                <a:gd name="T54" fmla="*/ 50 w 571"/>
                <a:gd name="T55" fmla="*/ 327 h 545"/>
                <a:gd name="T56" fmla="*/ 47 w 571"/>
                <a:gd name="T57" fmla="*/ 265 h 545"/>
                <a:gd name="T58" fmla="*/ 54 w 571"/>
                <a:gd name="T59" fmla="*/ 214 h 545"/>
                <a:gd name="T60" fmla="*/ 68 w 571"/>
                <a:gd name="T61" fmla="*/ 167 h 545"/>
                <a:gd name="T62" fmla="*/ 100 w 571"/>
                <a:gd name="T63" fmla="*/ 106 h 545"/>
                <a:gd name="T64" fmla="*/ 117 w 571"/>
                <a:gd name="T65" fmla="*/ 58 h 545"/>
                <a:gd name="T66" fmla="*/ 90 w 571"/>
                <a:gd name="T67" fmla="*/ 20 h 545"/>
                <a:gd name="T68" fmla="*/ 22 w 571"/>
                <a:gd name="T69" fmla="*/ 38 h 545"/>
                <a:gd name="T70" fmla="*/ 11 w 571"/>
                <a:gd name="T71" fmla="*/ 18 h 545"/>
                <a:gd name="T72" fmla="*/ 556 w 571"/>
                <a:gd name="T73" fmla="*/ 38 h 545"/>
                <a:gd name="T74" fmla="*/ 512 w 571"/>
                <a:gd name="T75" fmla="*/ 21 h 545"/>
                <a:gd name="T76" fmla="*/ 463 w 571"/>
                <a:gd name="T77" fmla="*/ 29 h 545"/>
                <a:gd name="T78" fmla="*/ 452 w 571"/>
                <a:gd name="T79" fmla="*/ 46 h 545"/>
                <a:gd name="T80" fmla="*/ 452 w 571"/>
                <a:gd name="T81" fmla="*/ 72 h 545"/>
                <a:gd name="T82" fmla="*/ 469 w 571"/>
                <a:gd name="T83" fmla="*/ 102 h 545"/>
                <a:gd name="T84" fmla="*/ 492 w 571"/>
                <a:gd name="T85" fmla="*/ 145 h 545"/>
                <a:gd name="T86" fmla="*/ 511 w 571"/>
                <a:gd name="T87" fmla="*/ 193 h 545"/>
                <a:gd name="T88" fmla="*/ 520 w 571"/>
                <a:gd name="T89" fmla="*/ 248 h 545"/>
                <a:gd name="T90" fmla="*/ 520 w 571"/>
                <a:gd name="T91" fmla="*/ 300 h 545"/>
                <a:gd name="T92" fmla="*/ 516 w 571"/>
                <a:gd name="T93" fmla="*/ 334 h 545"/>
                <a:gd name="T94" fmla="*/ 511 w 571"/>
                <a:gd name="T95" fmla="*/ 359 h 545"/>
                <a:gd name="T96" fmla="*/ 501 w 571"/>
                <a:gd name="T97" fmla="*/ 389 h 545"/>
                <a:gd name="T98" fmla="*/ 482 w 571"/>
                <a:gd name="T99" fmla="*/ 432 h 545"/>
                <a:gd name="T100" fmla="*/ 461 w 571"/>
                <a:gd name="T101" fmla="*/ 459 h 545"/>
                <a:gd name="T102" fmla="*/ 446 w 571"/>
                <a:gd name="T103" fmla="*/ 476 h 545"/>
                <a:gd name="T104" fmla="*/ 431 w 571"/>
                <a:gd name="T105" fmla="*/ 491 h 545"/>
                <a:gd name="T106" fmla="*/ 414 w 571"/>
                <a:gd name="T107" fmla="*/ 529 h 5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71"/>
                <a:gd name="T163" fmla="*/ 0 h 545"/>
                <a:gd name="T164" fmla="*/ 571 w 571"/>
                <a:gd name="T165" fmla="*/ 545 h 54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71" h="545">
                  <a:moveTo>
                    <a:pt x="437" y="544"/>
                  </a:moveTo>
                  <a:lnTo>
                    <a:pt x="430" y="520"/>
                  </a:lnTo>
                  <a:lnTo>
                    <a:pt x="473" y="473"/>
                  </a:lnTo>
                  <a:lnTo>
                    <a:pt x="488" y="452"/>
                  </a:lnTo>
                  <a:lnTo>
                    <a:pt x="505" y="420"/>
                  </a:lnTo>
                  <a:lnTo>
                    <a:pt x="515" y="399"/>
                  </a:lnTo>
                  <a:lnTo>
                    <a:pt x="525" y="367"/>
                  </a:lnTo>
                  <a:lnTo>
                    <a:pt x="536" y="311"/>
                  </a:lnTo>
                  <a:lnTo>
                    <a:pt x="539" y="267"/>
                  </a:lnTo>
                  <a:lnTo>
                    <a:pt x="531" y="206"/>
                  </a:lnTo>
                  <a:lnTo>
                    <a:pt x="513" y="152"/>
                  </a:lnTo>
                  <a:lnTo>
                    <a:pt x="488" y="103"/>
                  </a:lnTo>
                  <a:lnTo>
                    <a:pt x="474" y="80"/>
                  </a:lnTo>
                  <a:lnTo>
                    <a:pt x="470" y="66"/>
                  </a:lnTo>
                  <a:lnTo>
                    <a:pt x="473" y="53"/>
                  </a:lnTo>
                  <a:lnTo>
                    <a:pt x="481" y="41"/>
                  </a:lnTo>
                  <a:lnTo>
                    <a:pt x="499" y="38"/>
                  </a:lnTo>
                  <a:lnTo>
                    <a:pt x="548" y="61"/>
                  </a:lnTo>
                  <a:lnTo>
                    <a:pt x="570" y="50"/>
                  </a:lnTo>
                  <a:lnTo>
                    <a:pt x="570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21" y="61"/>
                  </a:lnTo>
                  <a:lnTo>
                    <a:pt x="59" y="41"/>
                  </a:lnTo>
                  <a:lnTo>
                    <a:pt x="71" y="38"/>
                  </a:lnTo>
                  <a:lnTo>
                    <a:pt x="83" y="39"/>
                  </a:lnTo>
                  <a:lnTo>
                    <a:pt x="94" y="46"/>
                  </a:lnTo>
                  <a:lnTo>
                    <a:pt x="98" y="58"/>
                  </a:lnTo>
                  <a:lnTo>
                    <a:pt x="94" y="80"/>
                  </a:lnTo>
                  <a:lnTo>
                    <a:pt x="85" y="98"/>
                  </a:lnTo>
                  <a:lnTo>
                    <a:pt x="74" y="114"/>
                  </a:lnTo>
                  <a:lnTo>
                    <a:pt x="59" y="143"/>
                  </a:lnTo>
                  <a:lnTo>
                    <a:pt x="47" y="177"/>
                  </a:lnTo>
                  <a:lnTo>
                    <a:pt x="40" y="206"/>
                  </a:lnTo>
                  <a:lnTo>
                    <a:pt x="35" y="246"/>
                  </a:lnTo>
                  <a:lnTo>
                    <a:pt x="33" y="275"/>
                  </a:lnTo>
                  <a:lnTo>
                    <a:pt x="33" y="291"/>
                  </a:lnTo>
                  <a:lnTo>
                    <a:pt x="35" y="320"/>
                  </a:lnTo>
                  <a:lnTo>
                    <a:pt x="38" y="341"/>
                  </a:lnTo>
                  <a:lnTo>
                    <a:pt x="49" y="381"/>
                  </a:lnTo>
                  <a:lnTo>
                    <a:pt x="62" y="411"/>
                  </a:lnTo>
                  <a:lnTo>
                    <a:pt x="77" y="440"/>
                  </a:lnTo>
                  <a:lnTo>
                    <a:pt x="128" y="501"/>
                  </a:lnTo>
                  <a:lnTo>
                    <a:pt x="145" y="518"/>
                  </a:lnTo>
                  <a:lnTo>
                    <a:pt x="140" y="544"/>
                  </a:lnTo>
                  <a:lnTo>
                    <a:pt x="159" y="529"/>
                  </a:lnTo>
                  <a:lnTo>
                    <a:pt x="165" y="502"/>
                  </a:lnTo>
                  <a:lnTo>
                    <a:pt x="141" y="481"/>
                  </a:lnTo>
                  <a:lnTo>
                    <a:pt x="122" y="465"/>
                  </a:lnTo>
                  <a:lnTo>
                    <a:pt x="108" y="451"/>
                  </a:lnTo>
                  <a:lnTo>
                    <a:pt x="91" y="428"/>
                  </a:lnTo>
                  <a:lnTo>
                    <a:pt x="79" y="410"/>
                  </a:lnTo>
                  <a:lnTo>
                    <a:pt x="68" y="387"/>
                  </a:lnTo>
                  <a:lnTo>
                    <a:pt x="61" y="370"/>
                  </a:lnTo>
                  <a:lnTo>
                    <a:pt x="55" y="351"/>
                  </a:lnTo>
                  <a:lnTo>
                    <a:pt x="50" y="327"/>
                  </a:lnTo>
                  <a:lnTo>
                    <a:pt x="47" y="296"/>
                  </a:lnTo>
                  <a:lnTo>
                    <a:pt x="47" y="265"/>
                  </a:lnTo>
                  <a:lnTo>
                    <a:pt x="50" y="238"/>
                  </a:lnTo>
                  <a:lnTo>
                    <a:pt x="54" y="214"/>
                  </a:lnTo>
                  <a:lnTo>
                    <a:pt x="59" y="191"/>
                  </a:lnTo>
                  <a:lnTo>
                    <a:pt x="68" y="167"/>
                  </a:lnTo>
                  <a:lnTo>
                    <a:pt x="77" y="145"/>
                  </a:lnTo>
                  <a:lnTo>
                    <a:pt x="100" y="106"/>
                  </a:lnTo>
                  <a:lnTo>
                    <a:pt x="117" y="79"/>
                  </a:lnTo>
                  <a:lnTo>
                    <a:pt x="117" y="58"/>
                  </a:lnTo>
                  <a:lnTo>
                    <a:pt x="110" y="39"/>
                  </a:lnTo>
                  <a:lnTo>
                    <a:pt x="90" y="20"/>
                  </a:lnTo>
                  <a:lnTo>
                    <a:pt x="54" y="20"/>
                  </a:lnTo>
                  <a:lnTo>
                    <a:pt x="22" y="38"/>
                  </a:lnTo>
                  <a:lnTo>
                    <a:pt x="11" y="35"/>
                  </a:lnTo>
                  <a:lnTo>
                    <a:pt x="11" y="18"/>
                  </a:lnTo>
                  <a:lnTo>
                    <a:pt x="556" y="18"/>
                  </a:lnTo>
                  <a:lnTo>
                    <a:pt x="556" y="38"/>
                  </a:lnTo>
                  <a:lnTo>
                    <a:pt x="549" y="40"/>
                  </a:lnTo>
                  <a:lnTo>
                    <a:pt x="512" y="21"/>
                  </a:lnTo>
                  <a:lnTo>
                    <a:pt x="472" y="21"/>
                  </a:lnTo>
                  <a:lnTo>
                    <a:pt x="463" y="29"/>
                  </a:lnTo>
                  <a:lnTo>
                    <a:pt x="455" y="38"/>
                  </a:lnTo>
                  <a:lnTo>
                    <a:pt x="452" y="46"/>
                  </a:lnTo>
                  <a:lnTo>
                    <a:pt x="450" y="60"/>
                  </a:lnTo>
                  <a:lnTo>
                    <a:pt x="452" y="72"/>
                  </a:lnTo>
                  <a:lnTo>
                    <a:pt x="456" y="81"/>
                  </a:lnTo>
                  <a:lnTo>
                    <a:pt x="469" y="102"/>
                  </a:lnTo>
                  <a:lnTo>
                    <a:pt x="481" y="124"/>
                  </a:lnTo>
                  <a:lnTo>
                    <a:pt x="492" y="145"/>
                  </a:lnTo>
                  <a:lnTo>
                    <a:pt x="502" y="168"/>
                  </a:lnTo>
                  <a:lnTo>
                    <a:pt x="511" y="193"/>
                  </a:lnTo>
                  <a:lnTo>
                    <a:pt x="516" y="219"/>
                  </a:lnTo>
                  <a:lnTo>
                    <a:pt x="520" y="248"/>
                  </a:lnTo>
                  <a:lnTo>
                    <a:pt x="521" y="277"/>
                  </a:lnTo>
                  <a:lnTo>
                    <a:pt x="520" y="300"/>
                  </a:lnTo>
                  <a:lnTo>
                    <a:pt x="518" y="316"/>
                  </a:lnTo>
                  <a:lnTo>
                    <a:pt x="516" y="334"/>
                  </a:lnTo>
                  <a:lnTo>
                    <a:pt x="514" y="347"/>
                  </a:lnTo>
                  <a:lnTo>
                    <a:pt x="511" y="359"/>
                  </a:lnTo>
                  <a:lnTo>
                    <a:pt x="508" y="370"/>
                  </a:lnTo>
                  <a:lnTo>
                    <a:pt x="501" y="389"/>
                  </a:lnTo>
                  <a:lnTo>
                    <a:pt x="491" y="414"/>
                  </a:lnTo>
                  <a:lnTo>
                    <a:pt x="482" y="432"/>
                  </a:lnTo>
                  <a:lnTo>
                    <a:pt x="470" y="449"/>
                  </a:lnTo>
                  <a:lnTo>
                    <a:pt x="461" y="459"/>
                  </a:lnTo>
                  <a:lnTo>
                    <a:pt x="454" y="469"/>
                  </a:lnTo>
                  <a:lnTo>
                    <a:pt x="446" y="476"/>
                  </a:lnTo>
                  <a:lnTo>
                    <a:pt x="438" y="483"/>
                  </a:lnTo>
                  <a:lnTo>
                    <a:pt x="431" y="491"/>
                  </a:lnTo>
                  <a:lnTo>
                    <a:pt x="409" y="507"/>
                  </a:lnTo>
                  <a:lnTo>
                    <a:pt x="414" y="529"/>
                  </a:lnTo>
                  <a:lnTo>
                    <a:pt x="437" y="544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8" name="Freeform 286">
              <a:extLst>
                <a:ext uri="{FF2B5EF4-FFF2-40B4-BE49-F238E27FC236}">
                  <a16:creationId xmlns:a16="http://schemas.microsoft.com/office/drawing/2014/main" id="{9A7F62DD-7136-4BFE-967F-4CB7FACA0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3172"/>
              <a:ext cx="157" cy="103"/>
            </a:xfrm>
            <a:custGeom>
              <a:avLst/>
              <a:gdLst>
                <a:gd name="T0" fmla="*/ 156 w 157"/>
                <a:gd name="T1" fmla="*/ 87 h 103"/>
                <a:gd name="T2" fmla="*/ 137 w 157"/>
                <a:gd name="T3" fmla="*/ 87 h 103"/>
                <a:gd name="T4" fmla="*/ 118 w 157"/>
                <a:gd name="T5" fmla="*/ 81 h 103"/>
                <a:gd name="T6" fmla="*/ 103 w 157"/>
                <a:gd name="T7" fmla="*/ 75 h 103"/>
                <a:gd name="T8" fmla="*/ 83 w 157"/>
                <a:gd name="T9" fmla="*/ 65 h 103"/>
                <a:gd name="T10" fmla="*/ 65 w 157"/>
                <a:gd name="T11" fmla="*/ 54 h 103"/>
                <a:gd name="T12" fmla="*/ 50 w 157"/>
                <a:gd name="T13" fmla="*/ 41 h 103"/>
                <a:gd name="T14" fmla="*/ 39 w 157"/>
                <a:gd name="T15" fmla="*/ 29 h 103"/>
                <a:gd name="T16" fmla="*/ 28 w 157"/>
                <a:gd name="T17" fmla="*/ 15 h 103"/>
                <a:gd name="T18" fmla="*/ 17 w 157"/>
                <a:gd name="T19" fmla="*/ 1 h 103"/>
                <a:gd name="T20" fmla="*/ 0 w 157"/>
                <a:gd name="T21" fmla="*/ 0 h 103"/>
                <a:gd name="T22" fmla="*/ 0 w 157"/>
                <a:gd name="T23" fmla="*/ 98 h 103"/>
                <a:gd name="T24" fmla="*/ 17 w 157"/>
                <a:gd name="T25" fmla="*/ 98 h 103"/>
                <a:gd name="T26" fmla="*/ 37 w 157"/>
                <a:gd name="T27" fmla="*/ 51 h 103"/>
                <a:gd name="T28" fmla="*/ 66 w 157"/>
                <a:gd name="T29" fmla="*/ 75 h 103"/>
                <a:gd name="T30" fmla="*/ 84 w 157"/>
                <a:gd name="T31" fmla="*/ 84 h 103"/>
                <a:gd name="T32" fmla="*/ 106 w 157"/>
                <a:gd name="T33" fmla="*/ 94 h 103"/>
                <a:gd name="T34" fmla="*/ 124 w 157"/>
                <a:gd name="T35" fmla="*/ 98 h 103"/>
                <a:gd name="T36" fmla="*/ 141 w 157"/>
                <a:gd name="T37" fmla="*/ 100 h 103"/>
                <a:gd name="T38" fmla="*/ 156 w 157"/>
                <a:gd name="T39" fmla="*/ 102 h 103"/>
                <a:gd name="T40" fmla="*/ 156 w 157"/>
                <a:gd name="T41" fmla="*/ 87 h 10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7"/>
                <a:gd name="T64" fmla="*/ 0 h 103"/>
                <a:gd name="T65" fmla="*/ 157 w 157"/>
                <a:gd name="T66" fmla="*/ 103 h 10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7" h="103">
                  <a:moveTo>
                    <a:pt x="156" y="87"/>
                  </a:moveTo>
                  <a:lnTo>
                    <a:pt x="137" y="87"/>
                  </a:lnTo>
                  <a:lnTo>
                    <a:pt x="118" y="81"/>
                  </a:lnTo>
                  <a:lnTo>
                    <a:pt x="103" y="75"/>
                  </a:lnTo>
                  <a:lnTo>
                    <a:pt x="83" y="65"/>
                  </a:lnTo>
                  <a:lnTo>
                    <a:pt x="65" y="54"/>
                  </a:lnTo>
                  <a:lnTo>
                    <a:pt x="50" y="41"/>
                  </a:lnTo>
                  <a:lnTo>
                    <a:pt x="39" y="29"/>
                  </a:lnTo>
                  <a:lnTo>
                    <a:pt x="28" y="15"/>
                  </a:lnTo>
                  <a:lnTo>
                    <a:pt x="17" y="1"/>
                  </a:lnTo>
                  <a:lnTo>
                    <a:pt x="0" y="0"/>
                  </a:lnTo>
                  <a:lnTo>
                    <a:pt x="0" y="98"/>
                  </a:lnTo>
                  <a:lnTo>
                    <a:pt x="17" y="98"/>
                  </a:lnTo>
                  <a:lnTo>
                    <a:pt x="37" y="51"/>
                  </a:lnTo>
                  <a:lnTo>
                    <a:pt x="66" y="75"/>
                  </a:lnTo>
                  <a:lnTo>
                    <a:pt x="84" y="84"/>
                  </a:lnTo>
                  <a:lnTo>
                    <a:pt x="106" y="94"/>
                  </a:lnTo>
                  <a:lnTo>
                    <a:pt x="124" y="98"/>
                  </a:lnTo>
                  <a:lnTo>
                    <a:pt x="141" y="100"/>
                  </a:lnTo>
                  <a:lnTo>
                    <a:pt x="156" y="102"/>
                  </a:lnTo>
                  <a:lnTo>
                    <a:pt x="156" y="87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99" name="Freeform 287">
              <a:extLst>
                <a:ext uri="{FF2B5EF4-FFF2-40B4-BE49-F238E27FC236}">
                  <a16:creationId xmlns:a16="http://schemas.microsoft.com/office/drawing/2014/main" id="{75F3E117-BFA6-441F-A502-0BA862B7A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873"/>
              <a:ext cx="547" cy="513"/>
            </a:xfrm>
            <a:custGeom>
              <a:avLst/>
              <a:gdLst>
                <a:gd name="T0" fmla="*/ 399 w 547"/>
                <a:gd name="T1" fmla="*/ 490 h 513"/>
                <a:gd name="T2" fmla="*/ 428 w 547"/>
                <a:gd name="T3" fmla="*/ 466 h 513"/>
                <a:gd name="T4" fmla="*/ 443 w 547"/>
                <a:gd name="T5" fmla="*/ 451 h 513"/>
                <a:gd name="T6" fmla="*/ 460 w 547"/>
                <a:gd name="T7" fmla="*/ 432 h 513"/>
                <a:gd name="T8" fmla="*/ 480 w 547"/>
                <a:gd name="T9" fmla="*/ 397 h 513"/>
                <a:gd name="T10" fmla="*/ 498 w 547"/>
                <a:gd name="T11" fmla="*/ 352 h 513"/>
                <a:gd name="T12" fmla="*/ 504 w 547"/>
                <a:gd name="T13" fmla="*/ 330 h 513"/>
                <a:gd name="T14" fmla="*/ 507 w 547"/>
                <a:gd name="T15" fmla="*/ 298 h 513"/>
                <a:gd name="T16" fmla="*/ 510 w 547"/>
                <a:gd name="T17" fmla="*/ 260 h 513"/>
                <a:gd name="T18" fmla="*/ 506 w 547"/>
                <a:gd name="T19" fmla="*/ 202 h 513"/>
                <a:gd name="T20" fmla="*/ 491 w 547"/>
                <a:gd name="T21" fmla="*/ 151 h 513"/>
                <a:gd name="T22" fmla="*/ 470 w 547"/>
                <a:gd name="T23" fmla="*/ 107 h 513"/>
                <a:gd name="T24" fmla="*/ 445 w 547"/>
                <a:gd name="T25" fmla="*/ 64 h 513"/>
                <a:gd name="T26" fmla="*/ 439 w 547"/>
                <a:gd name="T27" fmla="*/ 42 h 513"/>
                <a:gd name="T28" fmla="*/ 445 w 547"/>
                <a:gd name="T29" fmla="*/ 20 h 513"/>
                <a:gd name="T30" fmla="*/ 462 w 547"/>
                <a:gd name="T31" fmla="*/ 4 h 513"/>
                <a:gd name="T32" fmla="*/ 543 w 547"/>
                <a:gd name="T33" fmla="*/ 16 h 513"/>
                <a:gd name="T34" fmla="*/ 509 w 547"/>
                <a:gd name="T35" fmla="*/ 4 h 513"/>
                <a:gd name="T36" fmla="*/ 538 w 547"/>
                <a:gd name="T37" fmla="*/ 23 h 513"/>
                <a:gd name="T38" fmla="*/ 546 w 547"/>
                <a:gd name="T39" fmla="*/ 1 h 513"/>
                <a:gd name="T40" fmla="*/ 0 w 547"/>
                <a:gd name="T41" fmla="*/ 19 h 513"/>
                <a:gd name="T42" fmla="*/ 43 w 547"/>
                <a:gd name="T43" fmla="*/ 3 h 513"/>
                <a:gd name="T44" fmla="*/ 11 w 547"/>
                <a:gd name="T45" fmla="*/ 17 h 513"/>
                <a:gd name="T46" fmla="*/ 3 w 547"/>
                <a:gd name="T47" fmla="*/ 3 h 513"/>
                <a:gd name="T48" fmla="*/ 100 w 547"/>
                <a:gd name="T49" fmla="*/ 22 h 513"/>
                <a:gd name="T50" fmla="*/ 107 w 547"/>
                <a:gd name="T51" fmla="*/ 61 h 513"/>
                <a:gd name="T52" fmla="*/ 66 w 547"/>
                <a:gd name="T53" fmla="*/ 128 h 513"/>
                <a:gd name="T54" fmla="*/ 48 w 547"/>
                <a:gd name="T55" fmla="*/ 174 h 513"/>
                <a:gd name="T56" fmla="*/ 39 w 547"/>
                <a:gd name="T57" fmla="*/ 220 h 513"/>
                <a:gd name="T58" fmla="*/ 36 w 547"/>
                <a:gd name="T59" fmla="*/ 279 h 513"/>
                <a:gd name="T60" fmla="*/ 44 w 547"/>
                <a:gd name="T61" fmla="*/ 334 h 513"/>
                <a:gd name="T62" fmla="*/ 57 w 547"/>
                <a:gd name="T63" fmla="*/ 370 h 513"/>
                <a:gd name="T64" fmla="*/ 80 w 547"/>
                <a:gd name="T65" fmla="*/ 411 h 513"/>
                <a:gd name="T66" fmla="*/ 111 w 547"/>
                <a:gd name="T67" fmla="*/ 448 h 513"/>
                <a:gd name="T68" fmla="*/ 155 w 547"/>
                <a:gd name="T69" fmla="*/ 484 h 513"/>
                <a:gd name="T70" fmla="*/ 155 w 547"/>
                <a:gd name="T71" fmla="*/ 508 h 513"/>
                <a:gd name="T72" fmla="*/ 141 w 547"/>
                <a:gd name="T73" fmla="*/ 467 h 513"/>
                <a:gd name="T74" fmla="*/ 104 w 547"/>
                <a:gd name="T75" fmla="*/ 434 h 513"/>
                <a:gd name="T76" fmla="*/ 78 w 547"/>
                <a:gd name="T77" fmla="*/ 400 h 513"/>
                <a:gd name="T78" fmla="*/ 62 w 547"/>
                <a:gd name="T79" fmla="*/ 371 h 513"/>
                <a:gd name="T80" fmla="*/ 48 w 547"/>
                <a:gd name="T81" fmla="*/ 334 h 513"/>
                <a:gd name="T82" fmla="*/ 41 w 547"/>
                <a:gd name="T83" fmla="*/ 299 h 513"/>
                <a:gd name="T84" fmla="*/ 40 w 547"/>
                <a:gd name="T85" fmla="*/ 242 h 513"/>
                <a:gd name="T86" fmla="*/ 52 w 547"/>
                <a:gd name="T87" fmla="*/ 171 h 513"/>
                <a:gd name="T88" fmla="*/ 86 w 547"/>
                <a:gd name="T89" fmla="*/ 101 h 513"/>
                <a:gd name="T90" fmla="*/ 110 w 547"/>
                <a:gd name="T91" fmla="*/ 41 h 513"/>
                <a:gd name="T92" fmla="*/ 84 w 547"/>
                <a:gd name="T93" fmla="*/ 5 h 513"/>
                <a:gd name="T94" fmla="*/ 448 w 547"/>
                <a:gd name="T95" fmla="*/ 9 h 513"/>
                <a:gd name="T96" fmla="*/ 438 w 547"/>
                <a:gd name="T97" fmla="*/ 25 h 513"/>
                <a:gd name="T98" fmla="*/ 435 w 547"/>
                <a:gd name="T99" fmla="*/ 50 h 513"/>
                <a:gd name="T100" fmla="*/ 445 w 547"/>
                <a:gd name="T101" fmla="*/ 71 h 513"/>
                <a:gd name="T102" fmla="*/ 460 w 547"/>
                <a:gd name="T103" fmla="*/ 96 h 513"/>
                <a:gd name="T104" fmla="*/ 484 w 547"/>
                <a:gd name="T105" fmla="*/ 143 h 513"/>
                <a:gd name="T106" fmla="*/ 498 w 547"/>
                <a:gd name="T107" fmla="*/ 181 h 513"/>
                <a:gd name="T108" fmla="*/ 506 w 547"/>
                <a:gd name="T109" fmla="*/ 231 h 513"/>
                <a:gd name="T110" fmla="*/ 501 w 547"/>
                <a:gd name="T111" fmla="*/ 319 h 513"/>
                <a:gd name="T112" fmla="*/ 482 w 547"/>
                <a:gd name="T113" fmla="*/ 385 h 513"/>
                <a:gd name="T114" fmla="*/ 445 w 547"/>
                <a:gd name="T115" fmla="*/ 441 h 513"/>
                <a:gd name="T116" fmla="*/ 415 w 547"/>
                <a:gd name="T117" fmla="*/ 472 h 513"/>
                <a:gd name="T118" fmla="*/ 399 w 547"/>
                <a:gd name="T119" fmla="*/ 508 h 51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7"/>
                <a:gd name="T181" fmla="*/ 0 h 513"/>
                <a:gd name="T182" fmla="*/ 547 w 547"/>
                <a:gd name="T183" fmla="*/ 513 h 51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7" h="513">
                  <a:moveTo>
                    <a:pt x="403" y="512"/>
                  </a:moveTo>
                  <a:lnTo>
                    <a:pt x="399" y="490"/>
                  </a:lnTo>
                  <a:lnTo>
                    <a:pt x="421" y="474"/>
                  </a:lnTo>
                  <a:lnTo>
                    <a:pt x="428" y="466"/>
                  </a:lnTo>
                  <a:lnTo>
                    <a:pt x="436" y="459"/>
                  </a:lnTo>
                  <a:lnTo>
                    <a:pt x="443" y="451"/>
                  </a:lnTo>
                  <a:lnTo>
                    <a:pt x="450" y="442"/>
                  </a:lnTo>
                  <a:lnTo>
                    <a:pt x="460" y="432"/>
                  </a:lnTo>
                  <a:lnTo>
                    <a:pt x="472" y="415"/>
                  </a:lnTo>
                  <a:lnTo>
                    <a:pt x="480" y="397"/>
                  </a:lnTo>
                  <a:lnTo>
                    <a:pt x="491" y="372"/>
                  </a:lnTo>
                  <a:lnTo>
                    <a:pt x="498" y="352"/>
                  </a:lnTo>
                  <a:lnTo>
                    <a:pt x="501" y="342"/>
                  </a:lnTo>
                  <a:lnTo>
                    <a:pt x="504" y="330"/>
                  </a:lnTo>
                  <a:lnTo>
                    <a:pt x="506" y="316"/>
                  </a:lnTo>
                  <a:lnTo>
                    <a:pt x="507" y="298"/>
                  </a:lnTo>
                  <a:lnTo>
                    <a:pt x="509" y="283"/>
                  </a:lnTo>
                  <a:lnTo>
                    <a:pt x="510" y="260"/>
                  </a:lnTo>
                  <a:lnTo>
                    <a:pt x="509" y="231"/>
                  </a:lnTo>
                  <a:lnTo>
                    <a:pt x="506" y="202"/>
                  </a:lnTo>
                  <a:lnTo>
                    <a:pt x="500" y="176"/>
                  </a:lnTo>
                  <a:lnTo>
                    <a:pt x="491" y="151"/>
                  </a:lnTo>
                  <a:lnTo>
                    <a:pt x="482" y="128"/>
                  </a:lnTo>
                  <a:lnTo>
                    <a:pt x="470" y="107"/>
                  </a:lnTo>
                  <a:lnTo>
                    <a:pt x="458" y="85"/>
                  </a:lnTo>
                  <a:lnTo>
                    <a:pt x="445" y="64"/>
                  </a:lnTo>
                  <a:lnTo>
                    <a:pt x="441" y="55"/>
                  </a:lnTo>
                  <a:lnTo>
                    <a:pt x="439" y="42"/>
                  </a:lnTo>
                  <a:lnTo>
                    <a:pt x="442" y="29"/>
                  </a:lnTo>
                  <a:lnTo>
                    <a:pt x="445" y="20"/>
                  </a:lnTo>
                  <a:lnTo>
                    <a:pt x="453" y="12"/>
                  </a:lnTo>
                  <a:lnTo>
                    <a:pt x="462" y="4"/>
                  </a:lnTo>
                  <a:lnTo>
                    <a:pt x="543" y="4"/>
                  </a:lnTo>
                  <a:lnTo>
                    <a:pt x="543" y="16"/>
                  </a:lnTo>
                  <a:lnTo>
                    <a:pt x="537" y="19"/>
                  </a:lnTo>
                  <a:lnTo>
                    <a:pt x="509" y="4"/>
                  </a:lnTo>
                  <a:lnTo>
                    <a:pt x="502" y="4"/>
                  </a:lnTo>
                  <a:lnTo>
                    <a:pt x="538" y="23"/>
                  </a:lnTo>
                  <a:lnTo>
                    <a:pt x="546" y="20"/>
                  </a:lnTo>
                  <a:lnTo>
                    <a:pt x="546" y="1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2" y="22"/>
                  </a:lnTo>
                  <a:lnTo>
                    <a:pt x="43" y="3"/>
                  </a:lnTo>
                  <a:lnTo>
                    <a:pt x="39" y="3"/>
                  </a:lnTo>
                  <a:lnTo>
                    <a:pt x="11" y="17"/>
                  </a:lnTo>
                  <a:lnTo>
                    <a:pt x="3" y="15"/>
                  </a:lnTo>
                  <a:lnTo>
                    <a:pt x="3" y="3"/>
                  </a:lnTo>
                  <a:lnTo>
                    <a:pt x="80" y="3"/>
                  </a:lnTo>
                  <a:lnTo>
                    <a:pt x="100" y="22"/>
                  </a:lnTo>
                  <a:lnTo>
                    <a:pt x="107" y="41"/>
                  </a:lnTo>
                  <a:lnTo>
                    <a:pt x="107" y="61"/>
                  </a:lnTo>
                  <a:lnTo>
                    <a:pt x="90" y="89"/>
                  </a:lnTo>
                  <a:lnTo>
                    <a:pt x="66" y="128"/>
                  </a:lnTo>
                  <a:lnTo>
                    <a:pt x="57" y="150"/>
                  </a:lnTo>
                  <a:lnTo>
                    <a:pt x="48" y="174"/>
                  </a:lnTo>
                  <a:lnTo>
                    <a:pt x="43" y="197"/>
                  </a:lnTo>
                  <a:lnTo>
                    <a:pt x="39" y="220"/>
                  </a:lnTo>
                  <a:lnTo>
                    <a:pt x="36" y="248"/>
                  </a:lnTo>
                  <a:lnTo>
                    <a:pt x="36" y="279"/>
                  </a:lnTo>
                  <a:lnTo>
                    <a:pt x="39" y="310"/>
                  </a:lnTo>
                  <a:lnTo>
                    <a:pt x="44" y="334"/>
                  </a:lnTo>
                  <a:lnTo>
                    <a:pt x="50" y="352"/>
                  </a:lnTo>
                  <a:lnTo>
                    <a:pt x="57" y="370"/>
                  </a:lnTo>
                  <a:lnTo>
                    <a:pt x="69" y="393"/>
                  </a:lnTo>
                  <a:lnTo>
                    <a:pt x="80" y="411"/>
                  </a:lnTo>
                  <a:lnTo>
                    <a:pt x="98" y="433"/>
                  </a:lnTo>
                  <a:lnTo>
                    <a:pt x="111" y="448"/>
                  </a:lnTo>
                  <a:lnTo>
                    <a:pt x="130" y="464"/>
                  </a:lnTo>
                  <a:lnTo>
                    <a:pt x="155" y="484"/>
                  </a:lnTo>
                  <a:lnTo>
                    <a:pt x="148" y="512"/>
                  </a:lnTo>
                  <a:lnTo>
                    <a:pt x="155" y="508"/>
                  </a:lnTo>
                  <a:lnTo>
                    <a:pt x="159" y="481"/>
                  </a:lnTo>
                  <a:lnTo>
                    <a:pt x="141" y="467"/>
                  </a:lnTo>
                  <a:lnTo>
                    <a:pt x="122" y="452"/>
                  </a:lnTo>
                  <a:lnTo>
                    <a:pt x="104" y="434"/>
                  </a:lnTo>
                  <a:lnTo>
                    <a:pt x="88" y="415"/>
                  </a:lnTo>
                  <a:lnTo>
                    <a:pt x="78" y="400"/>
                  </a:lnTo>
                  <a:lnTo>
                    <a:pt x="70" y="387"/>
                  </a:lnTo>
                  <a:lnTo>
                    <a:pt x="62" y="371"/>
                  </a:lnTo>
                  <a:lnTo>
                    <a:pt x="55" y="354"/>
                  </a:lnTo>
                  <a:lnTo>
                    <a:pt x="48" y="334"/>
                  </a:lnTo>
                  <a:lnTo>
                    <a:pt x="44" y="313"/>
                  </a:lnTo>
                  <a:lnTo>
                    <a:pt x="41" y="299"/>
                  </a:lnTo>
                  <a:lnTo>
                    <a:pt x="39" y="265"/>
                  </a:lnTo>
                  <a:lnTo>
                    <a:pt x="40" y="242"/>
                  </a:lnTo>
                  <a:lnTo>
                    <a:pt x="44" y="212"/>
                  </a:lnTo>
                  <a:lnTo>
                    <a:pt x="52" y="171"/>
                  </a:lnTo>
                  <a:lnTo>
                    <a:pt x="68" y="131"/>
                  </a:lnTo>
                  <a:lnTo>
                    <a:pt x="86" y="101"/>
                  </a:lnTo>
                  <a:lnTo>
                    <a:pt x="110" y="64"/>
                  </a:lnTo>
                  <a:lnTo>
                    <a:pt x="110" y="41"/>
                  </a:lnTo>
                  <a:lnTo>
                    <a:pt x="102" y="19"/>
                  </a:lnTo>
                  <a:lnTo>
                    <a:pt x="84" y="5"/>
                  </a:lnTo>
                  <a:lnTo>
                    <a:pt x="456" y="5"/>
                  </a:lnTo>
                  <a:lnTo>
                    <a:pt x="448" y="9"/>
                  </a:lnTo>
                  <a:lnTo>
                    <a:pt x="443" y="15"/>
                  </a:lnTo>
                  <a:lnTo>
                    <a:pt x="438" y="25"/>
                  </a:lnTo>
                  <a:lnTo>
                    <a:pt x="435" y="37"/>
                  </a:lnTo>
                  <a:lnTo>
                    <a:pt x="435" y="50"/>
                  </a:lnTo>
                  <a:lnTo>
                    <a:pt x="441" y="64"/>
                  </a:lnTo>
                  <a:lnTo>
                    <a:pt x="445" y="71"/>
                  </a:lnTo>
                  <a:lnTo>
                    <a:pt x="451" y="81"/>
                  </a:lnTo>
                  <a:lnTo>
                    <a:pt x="460" y="96"/>
                  </a:lnTo>
                  <a:lnTo>
                    <a:pt x="467" y="109"/>
                  </a:lnTo>
                  <a:lnTo>
                    <a:pt x="484" y="143"/>
                  </a:lnTo>
                  <a:lnTo>
                    <a:pt x="492" y="163"/>
                  </a:lnTo>
                  <a:lnTo>
                    <a:pt x="498" y="181"/>
                  </a:lnTo>
                  <a:lnTo>
                    <a:pt x="502" y="202"/>
                  </a:lnTo>
                  <a:lnTo>
                    <a:pt x="506" y="231"/>
                  </a:lnTo>
                  <a:lnTo>
                    <a:pt x="506" y="272"/>
                  </a:lnTo>
                  <a:lnTo>
                    <a:pt x="501" y="319"/>
                  </a:lnTo>
                  <a:lnTo>
                    <a:pt x="491" y="359"/>
                  </a:lnTo>
                  <a:lnTo>
                    <a:pt x="482" y="385"/>
                  </a:lnTo>
                  <a:lnTo>
                    <a:pt x="469" y="409"/>
                  </a:lnTo>
                  <a:lnTo>
                    <a:pt x="445" y="441"/>
                  </a:lnTo>
                  <a:lnTo>
                    <a:pt x="427" y="460"/>
                  </a:lnTo>
                  <a:lnTo>
                    <a:pt x="415" y="472"/>
                  </a:lnTo>
                  <a:lnTo>
                    <a:pt x="394" y="488"/>
                  </a:lnTo>
                  <a:lnTo>
                    <a:pt x="399" y="508"/>
                  </a:lnTo>
                  <a:lnTo>
                    <a:pt x="403" y="512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0" name="Freeform 288">
              <a:extLst>
                <a:ext uri="{FF2B5EF4-FFF2-40B4-BE49-F238E27FC236}">
                  <a16:creationId xmlns:a16="http://schemas.microsoft.com/office/drawing/2014/main" id="{C43A575A-339E-42B4-9245-B5C488AEB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3060"/>
              <a:ext cx="156" cy="216"/>
            </a:xfrm>
            <a:custGeom>
              <a:avLst/>
              <a:gdLst>
                <a:gd name="T0" fmla="*/ 0 w 156"/>
                <a:gd name="T1" fmla="*/ 0 h 216"/>
                <a:gd name="T2" fmla="*/ 0 w 156"/>
                <a:gd name="T3" fmla="*/ 137 h 216"/>
                <a:gd name="T4" fmla="*/ 13 w 156"/>
                <a:gd name="T5" fmla="*/ 141 h 216"/>
                <a:gd name="T6" fmla="*/ 34 w 156"/>
                <a:gd name="T7" fmla="*/ 149 h 216"/>
                <a:gd name="T8" fmla="*/ 44 w 156"/>
                <a:gd name="T9" fmla="*/ 157 h 216"/>
                <a:gd name="T10" fmla="*/ 51 w 156"/>
                <a:gd name="T11" fmla="*/ 166 h 216"/>
                <a:gd name="T12" fmla="*/ 54 w 156"/>
                <a:gd name="T13" fmla="*/ 172 h 216"/>
                <a:gd name="T14" fmla="*/ 53 w 156"/>
                <a:gd name="T15" fmla="*/ 179 h 216"/>
                <a:gd name="T16" fmla="*/ 49 w 156"/>
                <a:gd name="T17" fmla="*/ 186 h 216"/>
                <a:gd name="T18" fmla="*/ 42 w 156"/>
                <a:gd name="T19" fmla="*/ 189 h 216"/>
                <a:gd name="T20" fmla="*/ 35 w 156"/>
                <a:gd name="T21" fmla="*/ 193 h 216"/>
                <a:gd name="T22" fmla="*/ 26 w 156"/>
                <a:gd name="T23" fmla="*/ 196 h 216"/>
                <a:gd name="T24" fmla="*/ 0 w 156"/>
                <a:gd name="T25" fmla="*/ 201 h 216"/>
                <a:gd name="T26" fmla="*/ 0 w 156"/>
                <a:gd name="T27" fmla="*/ 215 h 216"/>
                <a:gd name="T28" fmla="*/ 34 w 156"/>
                <a:gd name="T29" fmla="*/ 212 h 216"/>
                <a:gd name="T30" fmla="*/ 80 w 156"/>
                <a:gd name="T31" fmla="*/ 201 h 216"/>
                <a:gd name="T32" fmla="*/ 109 w 156"/>
                <a:gd name="T33" fmla="*/ 189 h 216"/>
                <a:gd name="T34" fmla="*/ 126 w 156"/>
                <a:gd name="T35" fmla="*/ 178 h 216"/>
                <a:gd name="T36" fmla="*/ 141 w 156"/>
                <a:gd name="T37" fmla="*/ 161 h 216"/>
                <a:gd name="T38" fmla="*/ 151 w 156"/>
                <a:gd name="T39" fmla="*/ 141 h 216"/>
                <a:gd name="T40" fmla="*/ 155 w 156"/>
                <a:gd name="T41" fmla="*/ 120 h 216"/>
                <a:gd name="T42" fmla="*/ 153 w 156"/>
                <a:gd name="T43" fmla="*/ 103 h 216"/>
                <a:gd name="T44" fmla="*/ 142 w 156"/>
                <a:gd name="T45" fmla="*/ 79 h 216"/>
                <a:gd name="T46" fmla="*/ 129 w 156"/>
                <a:gd name="T47" fmla="*/ 63 h 216"/>
                <a:gd name="T48" fmla="*/ 122 w 156"/>
                <a:gd name="T49" fmla="*/ 57 h 216"/>
                <a:gd name="T50" fmla="*/ 0 w 156"/>
                <a:gd name="T51" fmla="*/ 0 h 21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6"/>
                <a:gd name="T79" fmla="*/ 0 h 216"/>
                <a:gd name="T80" fmla="*/ 156 w 156"/>
                <a:gd name="T81" fmla="*/ 216 h 21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6" h="216">
                  <a:moveTo>
                    <a:pt x="0" y="0"/>
                  </a:moveTo>
                  <a:lnTo>
                    <a:pt x="0" y="137"/>
                  </a:lnTo>
                  <a:lnTo>
                    <a:pt x="13" y="141"/>
                  </a:lnTo>
                  <a:lnTo>
                    <a:pt x="34" y="149"/>
                  </a:lnTo>
                  <a:lnTo>
                    <a:pt x="44" y="157"/>
                  </a:lnTo>
                  <a:lnTo>
                    <a:pt x="51" y="166"/>
                  </a:lnTo>
                  <a:lnTo>
                    <a:pt x="54" y="172"/>
                  </a:lnTo>
                  <a:lnTo>
                    <a:pt x="53" y="179"/>
                  </a:lnTo>
                  <a:lnTo>
                    <a:pt x="49" y="186"/>
                  </a:lnTo>
                  <a:lnTo>
                    <a:pt x="42" y="189"/>
                  </a:lnTo>
                  <a:lnTo>
                    <a:pt x="35" y="193"/>
                  </a:lnTo>
                  <a:lnTo>
                    <a:pt x="26" y="196"/>
                  </a:lnTo>
                  <a:lnTo>
                    <a:pt x="0" y="201"/>
                  </a:lnTo>
                  <a:lnTo>
                    <a:pt x="0" y="215"/>
                  </a:lnTo>
                  <a:lnTo>
                    <a:pt x="34" y="212"/>
                  </a:lnTo>
                  <a:lnTo>
                    <a:pt x="80" y="201"/>
                  </a:lnTo>
                  <a:lnTo>
                    <a:pt x="109" y="189"/>
                  </a:lnTo>
                  <a:lnTo>
                    <a:pt x="126" y="178"/>
                  </a:lnTo>
                  <a:lnTo>
                    <a:pt x="141" y="161"/>
                  </a:lnTo>
                  <a:lnTo>
                    <a:pt x="151" y="141"/>
                  </a:lnTo>
                  <a:lnTo>
                    <a:pt x="155" y="120"/>
                  </a:lnTo>
                  <a:lnTo>
                    <a:pt x="153" y="103"/>
                  </a:lnTo>
                  <a:lnTo>
                    <a:pt x="142" y="79"/>
                  </a:lnTo>
                  <a:lnTo>
                    <a:pt x="129" y="63"/>
                  </a:lnTo>
                  <a:lnTo>
                    <a:pt x="122" y="57"/>
                  </a:lnTo>
                  <a:lnTo>
                    <a:pt x="0" y="0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01" name="Freeform 289">
              <a:extLst>
                <a:ext uri="{FF2B5EF4-FFF2-40B4-BE49-F238E27FC236}">
                  <a16:creationId xmlns:a16="http://schemas.microsoft.com/office/drawing/2014/main" id="{5A144361-D503-4D43-A012-818E65F1D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929"/>
              <a:ext cx="18" cy="403"/>
            </a:xfrm>
            <a:custGeom>
              <a:avLst/>
              <a:gdLst>
                <a:gd name="T0" fmla="*/ 0 w 18"/>
                <a:gd name="T1" fmla="*/ 331 h 403"/>
                <a:gd name="T2" fmla="*/ 0 w 18"/>
                <a:gd name="T3" fmla="*/ 402 h 403"/>
                <a:gd name="T4" fmla="*/ 17 w 18"/>
                <a:gd name="T5" fmla="*/ 402 h 403"/>
                <a:gd name="T6" fmla="*/ 17 w 18"/>
                <a:gd name="T7" fmla="*/ 0 h 403"/>
                <a:gd name="T8" fmla="*/ 0 w 18"/>
                <a:gd name="T9" fmla="*/ 0 h 403"/>
                <a:gd name="T10" fmla="*/ 0 w 18"/>
                <a:gd name="T11" fmla="*/ 331 h 4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403"/>
                <a:gd name="T20" fmla="*/ 18 w 18"/>
                <a:gd name="T21" fmla="*/ 403 h 4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403">
                  <a:moveTo>
                    <a:pt x="0" y="331"/>
                  </a:moveTo>
                  <a:lnTo>
                    <a:pt x="0" y="402"/>
                  </a:lnTo>
                  <a:lnTo>
                    <a:pt x="17" y="40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31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9162" name="Rectangle 290">
            <a:extLst>
              <a:ext uri="{FF2B5EF4-FFF2-40B4-BE49-F238E27FC236}">
                <a16:creationId xmlns:a16="http://schemas.microsoft.com/office/drawing/2014/main" id="{446BF479-607B-49C7-AF13-7DE971842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4951413"/>
            <a:ext cx="209867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100" b="1" dirty="0">
                <a:solidFill>
                  <a:srgbClr val="CF0E30"/>
                </a:solidFill>
              </a:rPr>
              <a:t>Contributions</a:t>
            </a:r>
          </a:p>
        </p:txBody>
      </p:sp>
      <p:sp>
        <p:nvSpPr>
          <p:cNvPr id="49163" name="Line 291">
            <a:extLst>
              <a:ext uri="{FF2B5EF4-FFF2-40B4-BE49-F238E27FC236}">
                <a16:creationId xmlns:a16="http://schemas.microsoft.com/office/drawing/2014/main" id="{73D0B42D-0646-46E4-93E2-1107F1E2A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6963" y="4546600"/>
            <a:ext cx="1057275" cy="0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164" name="Line 292">
            <a:extLst>
              <a:ext uri="{FF2B5EF4-FFF2-40B4-BE49-F238E27FC236}">
                <a16:creationId xmlns:a16="http://schemas.microsoft.com/office/drawing/2014/main" id="{2C46B15D-9844-4051-8616-41B90B402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7525" y="3689350"/>
            <a:ext cx="1381125" cy="1588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165" name="Line 293">
            <a:extLst>
              <a:ext uri="{FF2B5EF4-FFF2-40B4-BE49-F238E27FC236}">
                <a16:creationId xmlns:a16="http://schemas.microsoft.com/office/drawing/2014/main" id="{D0B3C184-14FB-443A-99E1-13C666C62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5538" y="4165600"/>
            <a:ext cx="0" cy="388938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9166" name="Group 294">
            <a:extLst>
              <a:ext uri="{FF2B5EF4-FFF2-40B4-BE49-F238E27FC236}">
                <a16:creationId xmlns:a16="http://schemas.microsoft.com/office/drawing/2014/main" id="{BBA10E52-D58D-4C53-B90C-E338E3241EB1}"/>
              </a:ext>
            </a:extLst>
          </p:cNvPr>
          <p:cNvGrpSpPr>
            <a:grpSpLocks/>
          </p:cNvGrpSpPr>
          <p:nvPr/>
        </p:nvGrpSpPr>
        <p:grpSpPr bwMode="auto">
          <a:xfrm>
            <a:off x="7048500" y="3289300"/>
            <a:ext cx="863600" cy="811213"/>
            <a:chOff x="4662" y="2316"/>
            <a:chExt cx="571" cy="545"/>
          </a:xfrm>
        </p:grpSpPr>
        <p:sp>
          <p:nvSpPr>
            <p:cNvPr id="49168" name="Freeform 295">
              <a:extLst>
                <a:ext uri="{FF2B5EF4-FFF2-40B4-BE49-F238E27FC236}">
                  <a16:creationId xmlns:a16="http://schemas.microsoft.com/office/drawing/2014/main" id="{9995E301-DD2E-4512-B6F4-A35F49F6D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" y="2417"/>
              <a:ext cx="371" cy="411"/>
            </a:xfrm>
            <a:custGeom>
              <a:avLst/>
              <a:gdLst>
                <a:gd name="T0" fmla="*/ 299 w 371"/>
                <a:gd name="T1" fmla="*/ 0 h 411"/>
                <a:gd name="T2" fmla="*/ 300 w 371"/>
                <a:gd name="T3" fmla="*/ 14 h 411"/>
                <a:gd name="T4" fmla="*/ 299 w 371"/>
                <a:gd name="T5" fmla="*/ 108 h 411"/>
                <a:gd name="T6" fmla="*/ 284 w 371"/>
                <a:gd name="T7" fmla="*/ 110 h 411"/>
                <a:gd name="T8" fmla="*/ 263 w 371"/>
                <a:gd name="T9" fmla="*/ 82 h 411"/>
                <a:gd name="T10" fmla="*/ 256 w 371"/>
                <a:gd name="T11" fmla="*/ 75 h 411"/>
                <a:gd name="T12" fmla="*/ 249 w 371"/>
                <a:gd name="T13" fmla="*/ 69 h 411"/>
                <a:gd name="T14" fmla="*/ 242 w 371"/>
                <a:gd name="T15" fmla="*/ 62 h 411"/>
                <a:gd name="T16" fmla="*/ 235 w 371"/>
                <a:gd name="T17" fmla="*/ 57 h 411"/>
                <a:gd name="T18" fmla="*/ 227 w 371"/>
                <a:gd name="T19" fmla="*/ 51 h 411"/>
                <a:gd name="T20" fmla="*/ 219 w 371"/>
                <a:gd name="T21" fmla="*/ 46 h 411"/>
                <a:gd name="T22" fmla="*/ 208 w 371"/>
                <a:gd name="T23" fmla="*/ 40 h 411"/>
                <a:gd name="T24" fmla="*/ 199 w 371"/>
                <a:gd name="T25" fmla="*/ 36 h 411"/>
                <a:gd name="T26" fmla="*/ 185 w 371"/>
                <a:gd name="T27" fmla="*/ 32 h 411"/>
                <a:gd name="T28" fmla="*/ 176 w 371"/>
                <a:gd name="T29" fmla="*/ 30 h 411"/>
                <a:gd name="T30" fmla="*/ 176 w 371"/>
                <a:gd name="T31" fmla="*/ 103 h 411"/>
                <a:gd name="T32" fmla="*/ 299 w 371"/>
                <a:gd name="T33" fmla="*/ 160 h 411"/>
                <a:gd name="T34" fmla="*/ 306 w 371"/>
                <a:gd name="T35" fmla="*/ 166 h 411"/>
                <a:gd name="T36" fmla="*/ 319 w 371"/>
                <a:gd name="T37" fmla="*/ 182 h 411"/>
                <a:gd name="T38" fmla="*/ 331 w 371"/>
                <a:gd name="T39" fmla="*/ 206 h 411"/>
                <a:gd name="T40" fmla="*/ 332 w 371"/>
                <a:gd name="T41" fmla="*/ 224 h 411"/>
                <a:gd name="T42" fmla="*/ 328 w 371"/>
                <a:gd name="T43" fmla="*/ 244 h 411"/>
                <a:gd name="T44" fmla="*/ 317 w 371"/>
                <a:gd name="T45" fmla="*/ 268 h 411"/>
                <a:gd name="T46" fmla="*/ 301 w 371"/>
                <a:gd name="T47" fmla="*/ 283 h 411"/>
                <a:gd name="T48" fmla="*/ 286 w 371"/>
                <a:gd name="T49" fmla="*/ 293 h 411"/>
                <a:gd name="T50" fmla="*/ 258 w 371"/>
                <a:gd name="T51" fmla="*/ 305 h 411"/>
                <a:gd name="T52" fmla="*/ 210 w 371"/>
                <a:gd name="T53" fmla="*/ 317 h 411"/>
                <a:gd name="T54" fmla="*/ 176 w 371"/>
                <a:gd name="T55" fmla="*/ 319 h 411"/>
                <a:gd name="T56" fmla="*/ 176 w 371"/>
                <a:gd name="T57" fmla="*/ 375 h 411"/>
                <a:gd name="T58" fmla="*/ 157 w 371"/>
                <a:gd name="T59" fmla="*/ 375 h 411"/>
                <a:gd name="T60" fmla="*/ 157 w 371"/>
                <a:gd name="T61" fmla="*/ 319 h 411"/>
                <a:gd name="T62" fmla="*/ 141 w 371"/>
                <a:gd name="T63" fmla="*/ 317 h 411"/>
                <a:gd name="T64" fmla="*/ 124 w 371"/>
                <a:gd name="T65" fmla="*/ 314 h 411"/>
                <a:gd name="T66" fmla="*/ 107 w 371"/>
                <a:gd name="T67" fmla="*/ 310 h 411"/>
                <a:gd name="T68" fmla="*/ 85 w 371"/>
                <a:gd name="T69" fmla="*/ 301 h 411"/>
                <a:gd name="T70" fmla="*/ 67 w 371"/>
                <a:gd name="T71" fmla="*/ 291 h 411"/>
                <a:gd name="T72" fmla="*/ 38 w 371"/>
                <a:gd name="T73" fmla="*/ 267 h 411"/>
                <a:gd name="T74" fmla="*/ 18 w 371"/>
                <a:gd name="T75" fmla="*/ 314 h 411"/>
                <a:gd name="T76" fmla="*/ 0 w 371"/>
                <a:gd name="T77" fmla="*/ 314 h 411"/>
                <a:gd name="T78" fmla="*/ 0 w 371"/>
                <a:gd name="T79" fmla="*/ 330 h 411"/>
                <a:gd name="T80" fmla="*/ 16 w 371"/>
                <a:gd name="T81" fmla="*/ 347 h 411"/>
                <a:gd name="T82" fmla="*/ 65 w 371"/>
                <a:gd name="T83" fmla="*/ 386 h 411"/>
                <a:gd name="T84" fmla="*/ 86 w 371"/>
                <a:gd name="T85" fmla="*/ 395 h 411"/>
                <a:gd name="T86" fmla="*/ 119 w 371"/>
                <a:gd name="T87" fmla="*/ 405 h 411"/>
                <a:gd name="T88" fmla="*/ 149 w 371"/>
                <a:gd name="T89" fmla="*/ 410 h 411"/>
                <a:gd name="T90" fmla="*/ 186 w 371"/>
                <a:gd name="T91" fmla="*/ 408 h 411"/>
                <a:gd name="T92" fmla="*/ 222 w 371"/>
                <a:gd name="T93" fmla="*/ 399 h 411"/>
                <a:gd name="T94" fmla="*/ 256 w 371"/>
                <a:gd name="T95" fmla="*/ 383 h 411"/>
                <a:gd name="T96" fmla="*/ 298 w 371"/>
                <a:gd name="T97" fmla="*/ 352 h 411"/>
                <a:gd name="T98" fmla="*/ 325 w 371"/>
                <a:gd name="T99" fmla="*/ 321 h 411"/>
                <a:gd name="T100" fmla="*/ 336 w 371"/>
                <a:gd name="T101" fmla="*/ 303 h 411"/>
                <a:gd name="T102" fmla="*/ 347 w 371"/>
                <a:gd name="T103" fmla="*/ 281 h 411"/>
                <a:gd name="T104" fmla="*/ 355 w 371"/>
                <a:gd name="T105" fmla="*/ 263 h 411"/>
                <a:gd name="T106" fmla="*/ 365 w 371"/>
                <a:gd name="T107" fmla="*/ 224 h 411"/>
                <a:gd name="T108" fmla="*/ 369 w 371"/>
                <a:gd name="T109" fmla="*/ 205 h 411"/>
                <a:gd name="T110" fmla="*/ 370 w 371"/>
                <a:gd name="T111" fmla="*/ 180 h 411"/>
                <a:gd name="T112" fmla="*/ 368 w 371"/>
                <a:gd name="T113" fmla="*/ 136 h 411"/>
                <a:gd name="T114" fmla="*/ 363 w 371"/>
                <a:gd name="T115" fmla="*/ 111 h 411"/>
                <a:gd name="T116" fmla="*/ 358 w 371"/>
                <a:gd name="T117" fmla="*/ 94 h 411"/>
                <a:gd name="T118" fmla="*/ 346 w 371"/>
                <a:gd name="T119" fmla="*/ 64 h 411"/>
                <a:gd name="T120" fmla="*/ 337 w 371"/>
                <a:gd name="T121" fmla="*/ 49 h 411"/>
                <a:gd name="T122" fmla="*/ 322 w 371"/>
                <a:gd name="T123" fmla="*/ 27 h 411"/>
                <a:gd name="T124" fmla="*/ 299 w 371"/>
                <a:gd name="T125" fmla="*/ 0 h 41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71"/>
                <a:gd name="T190" fmla="*/ 0 h 411"/>
                <a:gd name="T191" fmla="*/ 371 w 371"/>
                <a:gd name="T192" fmla="*/ 411 h 41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71" h="411">
                  <a:moveTo>
                    <a:pt x="299" y="0"/>
                  </a:moveTo>
                  <a:lnTo>
                    <a:pt x="300" y="14"/>
                  </a:lnTo>
                  <a:lnTo>
                    <a:pt x="299" y="108"/>
                  </a:lnTo>
                  <a:lnTo>
                    <a:pt x="284" y="110"/>
                  </a:lnTo>
                  <a:lnTo>
                    <a:pt x="263" y="82"/>
                  </a:lnTo>
                  <a:lnTo>
                    <a:pt x="256" y="75"/>
                  </a:lnTo>
                  <a:lnTo>
                    <a:pt x="249" y="69"/>
                  </a:lnTo>
                  <a:lnTo>
                    <a:pt x="242" y="62"/>
                  </a:lnTo>
                  <a:lnTo>
                    <a:pt x="235" y="57"/>
                  </a:lnTo>
                  <a:lnTo>
                    <a:pt x="227" y="51"/>
                  </a:lnTo>
                  <a:lnTo>
                    <a:pt x="219" y="46"/>
                  </a:lnTo>
                  <a:lnTo>
                    <a:pt x="208" y="40"/>
                  </a:lnTo>
                  <a:lnTo>
                    <a:pt x="199" y="36"/>
                  </a:lnTo>
                  <a:lnTo>
                    <a:pt x="185" y="32"/>
                  </a:lnTo>
                  <a:lnTo>
                    <a:pt x="176" y="30"/>
                  </a:lnTo>
                  <a:lnTo>
                    <a:pt x="176" y="103"/>
                  </a:lnTo>
                  <a:lnTo>
                    <a:pt x="299" y="160"/>
                  </a:lnTo>
                  <a:lnTo>
                    <a:pt x="306" y="166"/>
                  </a:lnTo>
                  <a:lnTo>
                    <a:pt x="319" y="182"/>
                  </a:lnTo>
                  <a:lnTo>
                    <a:pt x="331" y="206"/>
                  </a:lnTo>
                  <a:lnTo>
                    <a:pt x="332" y="224"/>
                  </a:lnTo>
                  <a:lnTo>
                    <a:pt x="328" y="244"/>
                  </a:lnTo>
                  <a:lnTo>
                    <a:pt x="317" y="268"/>
                  </a:lnTo>
                  <a:lnTo>
                    <a:pt x="301" y="283"/>
                  </a:lnTo>
                  <a:lnTo>
                    <a:pt x="286" y="293"/>
                  </a:lnTo>
                  <a:lnTo>
                    <a:pt x="258" y="305"/>
                  </a:lnTo>
                  <a:lnTo>
                    <a:pt x="210" y="317"/>
                  </a:lnTo>
                  <a:lnTo>
                    <a:pt x="176" y="319"/>
                  </a:lnTo>
                  <a:lnTo>
                    <a:pt x="176" y="375"/>
                  </a:lnTo>
                  <a:lnTo>
                    <a:pt x="157" y="375"/>
                  </a:lnTo>
                  <a:lnTo>
                    <a:pt x="157" y="319"/>
                  </a:lnTo>
                  <a:lnTo>
                    <a:pt x="141" y="317"/>
                  </a:lnTo>
                  <a:lnTo>
                    <a:pt x="124" y="314"/>
                  </a:lnTo>
                  <a:lnTo>
                    <a:pt x="107" y="310"/>
                  </a:lnTo>
                  <a:lnTo>
                    <a:pt x="85" y="301"/>
                  </a:lnTo>
                  <a:lnTo>
                    <a:pt x="67" y="291"/>
                  </a:lnTo>
                  <a:lnTo>
                    <a:pt x="38" y="267"/>
                  </a:lnTo>
                  <a:lnTo>
                    <a:pt x="18" y="314"/>
                  </a:lnTo>
                  <a:lnTo>
                    <a:pt x="0" y="314"/>
                  </a:lnTo>
                  <a:lnTo>
                    <a:pt x="0" y="330"/>
                  </a:lnTo>
                  <a:lnTo>
                    <a:pt x="16" y="347"/>
                  </a:lnTo>
                  <a:lnTo>
                    <a:pt x="65" y="386"/>
                  </a:lnTo>
                  <a:lnTo>
                    <a:pt x="86" y="395"/>
                  </a:lnTo>
                  <a:lnTo>
                    <a:pt x="119" y="405"/>
                  </a:lnTo>
                  <a:lnTo>
                    <a:pt x="149" y="410"/>
                  </a:lnTo>
                  <a:lnTo>
                    <a:pt x="186" y="408"/>
                  </a:lnTo>
                  <a:lnTo>
                    <a:pt x="222" y="399"/>
                  </a:lnTo>
                  <a:lnTo>
                    <a:pt x="256" y="383"/>
                  </a:lnTo>
                  <a:lnTo>
                    <a:pt x="298" y="352"/>
                  </a:lnTo>
                  <a:lnTo>
                    <a:pt x="325" y="321"/>
                  </a:lnTo>
                  <a:lnTo>
                    <a:pt x="336" y="303"/>
                  </a:lnTo>
                  <a:lnTo>
                    <a:pt x="347" y="281"/>
                  </a:lnTo>
                  <a:lnTo>
                    <a:pt x="355" y="263"/>
                  </a:lnTo>
                  <a:lnTo>
                    <a:pt x="365" y="224"/>
                  </a:lnTo>
                  <a:lnTo>
                    <a:pt x="369" y="205"/>
                  </a:lnTo>
                  <a:lnTo>
                    <a:pt x="370" y="180"/>
                  </a:lnTo>
                  <a:lnTo>
                    <a:pt x="368" y="136"/>
                  </a:lnTo>
                  <a:lnTo>
                    <a:pt x="363" y="111"/>
                  </a:lnTo>
                  <a:lnTo>
                    <a:pt x="358" y="94"/>
                  </a:lnTo>
                  <a:lnTo>
                    <a:pt x="346" y="64"/>
                  </a:lnTo>
                  <a:lnTo>
                    <a:pt x="337" y="49"/>
                  </a:lnTo>
                  <a:lnTo>
                    <a:pt x="322" y="27"/>
                  </a:lnTo>
                  <a:lnTo>
                    <a:pt x="299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69" name="Freeform 296">
              <a:extLst>
                <a:ext uri="{FF2B5EF4-FFF2-40B4-BE49-F238E27FC236}">
                  <a16:creationId xmlns:a16="http://schemas.microsoft.com/office/drawing/2014/main" id="{30A4E416-F6CC-4F13-90B2-7BF17C0E0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" y="2338"/>
              <a:ext cx="232" cy="504"/>
            </a:xfrm>
            <a:custGeom>
              <a:avLst/>
              <a:gdLst>
                <a:gd name="T0" fmla="*/ 231 w 232"/>
                <a:gd name="T1" fmla="*/ 0 h 504"/>
                <a:gd name="T2" fmla="*/ 45 w 232"/>
                <a:gd name="T3" fmla="*/ 0 h 504"/>
                <a:gd name="T4" fmla="*/ 63 w 232"/>
                <a:gd name="T5" fmla="*/ 14 h 504"/>
                <a:gd name="T6" fmla="*/ 71 w 232"/>
                <a:gd name="T7" fmla="*/ 36 h 504"/>
                <a:gd name="T8" fmla="*/ 71 w 232"/>
                <a:gd name="T9" fmla="*/ 60 h 504"/>
                <a:gd name="T10" fmla="*/ 47 w 232"/>
                <a:gd name="T11" fmla="*/ 97 h 504"/>
                <a:gd name="T12" fmla="*/ 29 w 232"/>
                <a:gd name="T13" fmla="*/ 126 h 504"/>
                <a:gd name="T14" fmla="*/ 13 w 232"/>
                <a:gd name="T15" fmla="*/ 166 h 504"/>
                <a:gd name="T16" fmla="*/ 5 w 232"/>
                <a:gd name="T17" fmla="*/ 207 h 504"/>
                <a:gd name="T18" fmla="*/ 1 w 232"/>
                <a:gd name="T19" fmla="*/ 237 h 504"/>
                <a:gd name="T20" fmla="*/ 0 w 232"/>
                <a:gd name="T21" fmla="*/ 261 h 504"/>
                <a:gd name="T22" fmla="*/ 2 w 232"/>
                <a:gd name="T23" fmla="*/ 294 h 504"/>
                <a:gd name="T24" fmla="*/ 5 w 232"/>
                <a:gd name="T25" fmla="*/ 308 h 504"/>
                <a:gd name="T26" fmla="*/ 9 w 232"/>
                <a:gd name="T27" fmla="*/ 329 h 504"/>
                <a:gd name="T28" fmla="*/ 16 w 232"/>
                <a:gd name="T29" fmla="*/ 349 h 504"/>
                <a:gd name="T30" fmla="*/ 23 w 232"/>
                <a:gd name="T31" fmla="*/ 367 h 504"/>
                <a:gd name="T32" fmla="*/ 31 w 232"/>
                <a:gd name="T33" fmla="*/ 382 h 504"/>
                <a:gd name="T34" fmla="*/ 39 w 232"/>
                <a:gd name="T35" fmla="*/ 396 h 504"/>
                <a:gd name="T36" fmla="*/ 49 w 232"/>
                <a:gd name="T37" fmla="*/ 410 h 504"/>
                <a:gd name="T38" fmla="*/ 65 w 232"/>
                <a:gd name="T39" fmla="*/ 429 h 504"/>
                <a:gd name="T40" fmla="*/ 83 w 232"/>
                <a:gd name="T41" fmla="*/ 447 h 504"/>
                <a:gd name="T42" fmla="*/ 102 w 232"/>
                <a:gd name="T43" fmla="*/ 462 h 504"/>
                <a:gd name="T44" fmla="*/ 120 w 232"/>
                <a:gd name="T45" fmla="*/ 476 h 504"/>
                <a:gd name="T46" fmla="*/ 115 w 232"/>
                <a:gd name="T47" fmla="*/ 503 h 504"/>
                <a:gd name="T48" fmla="*/ 223 w 232"/>
                <a:gd name="T49" fmla="*/ 503 h 504"/>
                <a:gd name="T50" fmla="*/ 223 w 232"/>
                <a:gd name="T51" fmla="*/ 490 h 504"/>
                <a:gd name="T52" fmla="*/ 193 w 232"/>
                <a:gd name="T53" fmla="*/ 485 h 504"/>
                <a:gd name="T54" fmla="*/ 160 w 232"/>
                <a:gd name="T55" fmla="*/ 475 h 504"/>
                <a:gd name="T56" fmla="*/ 139 w 232"/>
                <a:gd name="T57" fmla="*/ 465 h 504"/>
                <a:gd name="T58" fmla="*/ 90 w 232"/>
                <a:gd name="T59" fmla="*/ 427 h 504"/>
                <a:gd name="T60" fmla="*/ 74 w 232"/>
                <a:gd name="T61" fmla="*/ 410 h 504"/>
                <a:gd name="T62" fmla="*/ 54 w 232"/>
                <a:gd name="T63" fmla="*/ 378 h 504"/>
                <a:gd name="T64" fmla="*/ 45 w 232"/>
                <a:gd name="T65" fmla="*/ 361 h 504"/>
                <a:gd name="T66" fmla="*/ 38 w 232"/>
                <a:gd name="T67" fmla="*/ 343 h 504"/>
                <a:gd name="T68" fmla="*/ 32 w 232"/>
                <a:gd name="T69" fmla="*/ 326 h 504"/>
                <a:gd name="T70" fmla="*/ 28 w 232"/>
                <a:gd name="T71" fmla="*/ 310 h 504"/>
                <a:gd name="T72" fmla="*/ 25 w 232"/>
                <a:gd name="T73" fmla="*/ 293 h 504"/>
                <a:gd name="T74" fmla="*/ 22 w 232"/>
                <a:gd name="T75" fmla="*/ 263 h 504"/>
                <a:gd name="T76" fmla="*/ 23 w 232"/>
                <a:gd name="T77" fmla="*/ 228 h 504"/>
                <a:gd name="T78" fmla="*/ 28 w 232"/>
                <a:gd name="T79" fmla="*/ 197 h 504"/>
                <a:gd name="T80" fmla="*/ 36 w 232"/>
                <a:gd name="T81" fmla="*/ 167 h 504"/>
                <a:gd name="T82" fmla="*/ 41 w 232"/>
                <a:gd name="T83" fmla="*/ 154 h 504"/>
                <a:gd name="T84" fmla="*/ 52 w 232"/>
                <a:gd name="T85" fmla="*/ 130 h 504"/>
                <a:gd name="T86" fmla="*/ 70 w 232"/>
                <a:gd name="T87" fmla="*/ 105 h 504"/>
                <a:gd name="T88" fmla="*/ 86 w 232"/>
                <a:gd name="T89" fmla="*/ 84 h 504"/>
                <a:gd name="T90" fmla="*/ 122 w 232"/>
                <a:gd name="T91" fmla="*/ 52 h 504"/>
                <a:gd name="T92" fmla="*/ 153 w 232"/>
                <a:gd name="T93" fmla="*/ 34 h 504"/>
                <a:gd name="T94" fmla="*/ 186 w 232"/>
                <a:gd name="T95" fmla="*/ 23 h 504"/>
                <a:gd name="T96" fmla="*/ 231 w 232"/>
                <a:gd name="T97" fmla="*/ 16 h 504"/>
                <a:gd name="T98" fmla="*/ 231 w 232"/>
                <a:gd name="T99" fmla="*/ 0 h 50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32"/>
                <a:gd name="T151" fmla="*/ 0 h 504"/>
                <a:gd name="T152" fmla="*/ 232 w 232"/>
                <a:gd name="T153" fmla="*/ 504 h 50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32" h="504">
                  <a:moveTo>
                    <a:pt x="231" y="0"/>
                  </a:moveTo>
                  <a:lnTo>
                    <a:pt x="45" y="0"/>
                  </a:lnTo>
                  <a:lnTo>
                    <a:pt x="63" y="14"/>
                  </a:lnTo>
                  <a:lnTo>
                    <a:pt x="71" y="36"/>
                  </a:lnTo>
                  <a:lnTo>
                    <a:pt x="71" y="60"/>
                  </a:lnTo>
                  <a:lnTo>
                    <a:pt x="47" y="97"/>
                  </a:lnTo>
                  <a:lnTo>
                    <a:pt x="29" y="126"/>
                  </a:lnTo>
                  <a:lnTo>
                    <a:pt x="13" y="166"/>
                  </a:lnTo>
                  <a:lnTo>
                    <a:pt x="5" y="207"/>
                  </a:lnTo>
                  <a:lnTo>
                    <a:pt x="1" y="237"/>
                  </a:lnTo>
                  <a:lnTo>
                    <a:pt x="0" y="261"/>
                  </a:lnTo>
                  <a:lnTo>
                    <a:pt x="2" y="294"/>
                  </a:lnTo>
                  <a:lnTo>
                    <a:pt x="5" y="308"/>
                  </a:lnTo>
                  <a:lnTo>
                    <a:pt x="9" y="329"/>
                  </a:lnTo>
                  <a:lnTo>
                    <a:pt x="16" y="349"/>
                  </a:lnTo>
                  <a:lnTo>
                    <a:pt x="23" y="367"/>
                  </a:lnTo>
                  <a:lnTo>
                    <a:pt x="31" y="382"/>
                  </a:lnTo>
                  <a:lnTo>
                    <a:pt x="39" y="396"/>
                  </a:lnTo>
                  <a:lnTo>
                    <a:pt x="49" y="410"/>
                  </a:lnTo>
                  <a:lnTo>
                    <a:pt x="65" y="429"/>
                  </a:lnTo>
                  <a:lnTo>
                    <a:pt x="83" y="447"/>
                  </a:lnTo>
                  <a:lnTo>
                    <a:pt x="102" y="462"/>
                  </a:lnTo>
                  <a:lnTo>
                    <a:pt x="120" y="476"/>
                  </a:lnTo>
                  <a:lnTo>
                    <a:pt x="115" y="503"/>
                  </a:lnTo>
                  <a:lnTo>
                    <a:pt x="223" y="503"/>
                  </a:lnTo>
                  <a:lnTo>
                    <a:pt x="223" y="490"/>
                  </a:lnTo>
                  <a:lnTo>
                    <a:pt x="193" y="485"/>
                  </a:lnTo>
                  <a:lnTo>
                    <a:pt x="160" y="475"/>
                  </a:lnTo>
                  <a:lnTo>
                    <a:pt x="139" y="465"/>
                  </a:lnTo>
                  <a:lnTo>
                    <a:pt x="90" y="427"/>
                  </a:lnTo>
                  <a:lnTo>
                    <a:pt x="74" y="410"/>
                  </a:lnTo>
                  <a:lnTo>
                    <a:pt x="54" y="378"/>
                  </a:lnTo>
                  <a:lnTo>
                    <a:pt x="45" y="361"/>
                  </a:lnTo>
                  <a:lnTo>
                    <a:pt x="38" y="343"/>
                  </a:lnTo>
                  <a:lnTo>
                    <a:pt x="32" y="326"/>
                  </a:lnTo>
                  <a:lnTo>
                    <a:pt x="28" y="310"/>
                  </a:lnTo>
                  <a:lnTo>
                    <a:pt x="25" y="293"/>
                  </a:lnTo>
                  <a:lnTo>
                    <a:pt x="22" y="263"/>
                  </a:lnTo>
                  <a:lnTo>
                    <a:pt x="23" y="228"/>
                  </a:lnTo>
                  <a:lnTo>
                    <a:pt x="28" y="197"/>
                  </a:lnTo>
                  <a:lnTo>
                    <a:pt x="36" y="167"/>
                  </a:lnTo>
                  <a:lnTo>
                    <a:pt x="41" y="154"/>
                  </a:lnTo>
                  <a:lnTo>
                    <a:pt x="52" y="130"/>
                  </a:lnTo>
                  <a:lnTo>
                    <a:pt x="70" y="105"/>
                  </a:lnTo>
                  <a:lnTo>
                    <a:pt x="86" y="84"/>
                  </a:lnTo>
                  <a:lnTo>
                    <a:pt x="122" y="52"/>
                  </a:lnTo>
                  <a:lnTo>
                    <a:pt x="153" y="34"/>
                  </a:lnTo>
                  <a:lnTo>
                    <a:pt x="186" y="23"/>
                  </a:lnTo>
                  <a:lnTo>
                    <a:pt x="231" y="16"/>
                  </a:lnTo>
                  <a:lnTo>
                    <a:pt x="231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0" name="Freeform 297">
              <a:extLst>
                <a:ext uri="{FF2B5EF4-FFF2-40B4-BE49-F238E27FC236}">
                  <a16:creationId xmlns:a16="http://schemas.microsoft.com/office/drawing/2014/main" id="{EF2731FD-79E8-4E77-9DBF-BB341E8D1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" y="2338"/>
              <a:ext cx="244" cy="504"/>
            </a:xfrm>
            <a:custGeom>
              <a:avLst/>
              <a:gdLst>
                <a:gd name="T0" fmla="*/ 8 w 244"/>
                <a:gd name="T1" fmla="*/ 0 h 504"/>
                <a:gd name="T2" fmla="*/ 8 w 244"/>
                <a:gd name="T3" fmla="*/ 16 h 504"/>
                <a:gd name="T4" fmla="*/ 29 w 244"/>
                <a:gd name="T5" fmla="*/ 18 h 504"/>
                <a:gd name="T6" fmla="*/ 64 w 244"/>
                <a:gd name="T7" fmla="*/ 25 h 504"/>
                <a:gd name="T8" fmla="*/ 90 w 244"/>
                <a:gd name="T9" fmla="*/ 36 h 504"/>
                <a:gd name="T10" fmla="*/ 111 w 244"/>
                <a:gd name="T11" fmla="*/ 47 h 504"/>
                <a:gd name="T12" fmla="*/ 129 w 244"/>
                <a:gd name="T13" fmla="*/ 60 h 504"/>
                <a:gd name="T14" fmla="*/ 145 w 244"/>
                <a:gd name="T15" fmla="*/ 72 h 504"/>
                <a:gd name="T16" fmla="*/ 151 w 244"/>
                <a:gd name="T17" fmla="*/ 78 h 504"/>
                <a:gd name="T18" fmla="*/ 173 w 244"/>
                <a:gd name="T19" fmla="*/ 106 h 504"/>
                <a:gd name="T20" fmla="*/ 188 w 244"/>
                <a:gd name="T21" fmla="*/ 128 h 504"/>
                <a:gd name="T22" fmla="*/ 197 w 244"/>
                <a:gd name="T23" fmla="*/ 143 h 504"/>
                <a:gd name="T24" fmla="*/ 209 w 244"/>
                <a:gd name="T25" fmla="*/ 172 h 504"/>
                <a:gd name="T26" fmla="*/ 214 w 244"/>
                <a:gd name="T27" fmla="*/ 190 h 504"/>
                <a:gd name="T28" fmla="*/ 219 w 244"/>
                <a:gd name="T29" fmla="*/ 215 h 504"/>
                <a:gd name="T30" fmla="*/ 221 w 244"/>
                <a:gd name="T31" fmla="*/ 259 h 504"/>
                <a:gd name="T32" fmla="*/ 220 w 244"/>
                <a:gd name="T33" fmla="*/ 284 h 504"/>
                <a:gd name="T34" fmla="*/ 216 w 244"/>
                <a:gd name="T35" fmla="*/ 303 h 504"/>
                <a:gd name="T36" fmla="*/ 206 w 244"/>
                <a:gd name="T37" fmla="*/ 342 h 504"/>
                <a:gd name="T38" fmla="*/ 199 w 244"/>
                <a:gd name="T39" fmla="*/ 360 h 504"/>
                <a:gd name="T40" fmla="*/ 187 w 244"/>
                <a:gd name="T41" fmla="*/ 382 h 504"/>
                <a:gd name="T42" fmla="*/ 176 w 244"/>
                <a:gd name="T43" fmla="*/ 400 h 504"/>
                <a:gd name="T44" fmla="*/ 149 w 244"/>
                <a:gd name="T45" fmla="*/ 432 h 504"/>
                <a:gd name="T46" fmla="*/ 108 w 244"/>
                <a:gd name="T47" fmla="*/ 462 h 504"/>
                <a:gd name="T48" fmla="*/ 74 w 244"/>
                <a:gd name="T49" fmla="*/ 479 h 504"/>
                <a:gd name="T50" fmla="*/ 37 w 244"/>
                <a:gd name="T51" fmla="*/ 488 h 504"/>
                <a:gd name="T52" fmla="*/ 0 w 244"/>
                <a:gd name="T53" fmla="*/ 490 h 504"/>
                <a:gd name="T54" fmla="*/ 0 w 244"/>
                <a:gd name="T55" fmla="*/ 503 h 504"/>
                <a:gd name="T56" fmla="*/ 137 w 244"/>
                <a:gd name="T57" fmla="*/ 503 h 504"/>
                <a:gd name="T58" fmla="*/ 132 w 244"/>
                <a:gd name="T59" fmla="*/ 483 h 504"/>
                <a:gd name="T60" fmla="*/ 152 w 244"/>
                <a:gd name="T61" fmla="*/ 467 h 504"/>
                <a:gd name="T62" fmla="*/ 164 w 244"/>
                <a:gd name="T63" fmla="*/ 455 h 504"/>
                <a:gd name="T64" fmla="*/ 183 w 244"/>
                <a:gd name="T65" fmla="*/ 436 h 504"/>
                <a:gd name="T66" fmla="*/ 206 w 244"/>
                <a:gd name="T67" fmla="*/ 404 h 504"/>
                <a:gd name="T68" fmla="*/ 219 w 244"/>
                <a:gd name="T69" fmla="*/ 380 h 504"/>
                <a:gd name="T70" fmla="*/ 228 w 244"/>
                <a:gd name="T71" fmla="*/ 354 h 504"/>
                <a:gd name="T72" fmla="*/ 239 w 244"/>
                <a:gd name="T73" fmla="*/ 314 h 504"/>
                <a:gd name="T74" fmla="*/ 243 w 244"/>
                <a:gd name="T75" fmla="*/ 268 h 504"/>
                <a:gd name="T76" fmla="*/ 243 w 244"/>
                <a:gd name="T77" fmla="*/ 226 h 504"/>
                <a:gd name="T78" fmla="*/ 239 w 244"/>
                <a:gd name="T79" fmla="*/ 198 h 504"/>
                <a:gd name="T80" fmla="*/ 235 w 244"/>
                <a:gd name="T81" fmla="*/ 176 h 504"/>
                <a:gd name="T82" fmla="*/ 229 w 244"/>
                <a:gd name="T83" fmla="*/ 158 h 504"/>
                <a:gd name="T84" fmla="*/ 221 w 244"/>
                <a:gd name="T85" fmla="*/ 138 h 504"/>
                <a:gd name="T86" fmla="*/ 205 w 244"/>
                <a:gd name="T87" fmla="*/ 104 h 504"/>
                <a:gd name="T88" fmla="*/ 197 w 244"/>
                <a:gd name="T89" fmla="*/ 91 h 504"/>
                <a:gd name="T90" fmla="*/ 188 w 244"/>
                <a:gd name="T91" fmla="*/ 76 h 504"/>
                <a:gd name="T92" fmla="*/ 182 w 244"/>
                <a:gd name="T93" fmla="*/ 67 h 504"/>
                <a:gd name="T94" fmla="*/ 178 w 244"/>
                <a:gd name="T95" fmla="*/ 60 h 504"/>
                <a:gd name="T96" fmla="*/ 172 w 244"/>
                <a:gd name="T97" fmla="*/ 46 h 504"/>
                <a:gd name="T98" fmla="*/ 172 w 244"/>
                <a:gd name="T99" fmla="*/ 32 h 504"/>
                <a:gd name="T100" fmla="*/ 175 w 244"/>
                <a:gd name="T101" fmla="*/ 20 h 504"/>
                <a:gd name="T102" fmla="*/ 180 w 244"/>
                <a:gd name="T103" fmla="*/ 10 h 504"/>
                <a:gd name="T104" fmla="*/ 186 w 244"/>
                <a:gd name="T105" fmla="*/ 4 h 504"/>
                <a:gd name="T106" fmla="*/ 193 w 244"/>
                <a:gd name="T107" fmla="*/ 0 h 504"/>
                <a:gd name="T108" fmla="*/ 8 w 244"/>
                <a:gd name="T109" fmla="*/ 0 h 50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44"/>
                <a:gd name="T166" fmla="*/ 0 h 504"/>
                <a:gd name="T167" fmla="*/ 244 w 244"/>
                <a:gd name="T168" fmla="*/ 504 h 50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44" h="504">
                  <a:moveTo>
                    <a:pt x="8" y="0"/>
                  </a:moveTo>
                  <a:lnTo>
                    <a:pt x="8" y="16"/>
                  </a:lnTo>
                  <a:lnTo>
                    <a:pt x="29" y="18"/>
                  </a:lnTo>
                  <a:lnTo>
                    <a:pt x="64" y="25"/>
                  </a:lnTo>
                  <a:lnTo>
                    <a:pt x="90" y="36"/>
                  </a:lnTo>
                  <a:lnTo>
                    <a:pt x="111" y="47"/>
                  </a:lnTo>
                  <a:lnTo>
                    <a:pt x="129" y="60"/>
                  </a:lnTo>
                  <a:lnTo>
                    <a:pt x="145" y="72"/>
                  </a:lnTo>
                  <a:lnTo>
                    <a:pt x="151" y="78"/>
                  </a:lnTo>
                  <a:lnTo>
                    <a:pt x="173" y="106"/>
                  </a:lnTo>
                  <a:lnTo>
                    <a:pt x="188" y="128"/>
                  </a:lnTo>
                  <a:lnTo>
                    <a:pt x="197" y="143"/>
                  </a:lnTo>
                  <a:lnTo>
                    <a:pt x="209" y="172"/>
                  </a:lnTo>
                  <a:lnTo>
                    <a:pt x="214" y="190"/>
                  </a:lnTo>
                  <a:lnTo>
                    <a:pt x="219" y="215"/>
                  </a:lnTo>
                  <a:lnTo>
                    <a:pt x="221" y="259"/>
                  </a:lnTo>
                  <a:lnTo>
                    <a:pt x="220" y="284"/>
                  </a:lnTo>
                  <a:lnTo>
                    <a:pt x="216" y="303"/>
                  </a:lnTo>
                  <a:lnTo>
                    <a:pt x="206" y="342"/>
                  </a:lnTo>
                  <a:lnTo>
                    <a:pt x="199" y="360"/>
                  </a:lnTo>
                  <a:lnTo>
                    <a:pt x="187" y="382"/>
                  </a:lnTo>
                  <a:lnTo>
                    <a:pt x="176" y="400"/>
                  </a:lnTo>
                  <a:lnTo>
                    <a:pt x="149" y="432"/>
                  </a:lnTo>
                  <a:lnTo>
                    <a:pt x="108" y="462"/>
                  </a:lnTo>
                  <a:lnTo>
                    <a:pt x="74" y="479"/>
                  </a:lnTo>
                  <a:lnTo>
                    <a:pt x="37" y="488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7" y="503"/>
                  </a:lnTo>
                  <a:lnTo>
                    <a:pt x="132" y="483"/>
                  </a:lnTo>
                  <a:lnTo>
                    <a:pt x="152" y="467"/>
                  </a:lnTo>
                  <a:lnTo>
                    <a:pt x="164" y="455"/>
                  </a:lnTo>
                  <a:lnTo>
                    <a:pt x="183" y="436"/>
                  </a:lnTo>
                  <a:lnTo>
                    <a:pt x="206" y="404"/>
                  </a:lnTo>
                  <a:lnTo>
                    <a:pt x="219" y="380"/>
                  </a:lnTo>
                  <a:lnTo>
                    <a:pt x="228" y="354"/>
                  </a:lnTo>
                  <a:lnTo>
                    <a:pt x="239" y="314"/>
                  </a:lnTo>
                  <a:lnTo>
                    <a:pt x="243" y="268"/>
                  </a:lnTo>
                  <a:lnTo>
                    <a:pt x="243" y="226"/>
                  </a:lnTo>
                  <a:lnTo>
                    <a:pt x="239" y="198"/>
                  </a:lnTo>
                  <a:lnTo>
                    <a:pt x="235" y="176"/>
                  </a:lnTo>
                  <a:lnTo>
                    <a:pt x="229" y="158"/>
                  </a:lnTo>
                  <a:lnTo>
                    <a:pt x="221" y="138"/>
                  </a:lnTo>
                  <a:lnTo>
                    <a:pt x="205" y="104"/>
                  </a:lnTo>
                  <a:lnTo>
                    <a:pt x="197" y="91"/>
                  </a:lnTo>
                  <a:lnTo>
                    <a:pt x="188" y="76"/>
                  </a:lnTo>
                  <a:lnTo>
                    <a:pt x="182" y="67"/>
                  </a:lnTo>
                  <a:lnTo>
                    <a:pt x="178" y="60"/>
                  </a:lnTo>
                  <a:lnTo>
                    <a:pt x="172" y="46"/>
                  </a:lnTo>
                  <a:lnTo>
                    <a:pt x="172" y="32"/>
                  </a:lnTo>
                  <a:lnTo>
                    <a:pt x="175" y="20"/>
                  </a:lnTo>
                  <a:lnTo>
                    <a:pt x="180" y="10"/>
                  </a:lnTo>
                  <a:lnTo>
                    <a:pt x="186" y="4"/>
                  </a:lnTo>
                  <a:lnTo>
                    <a:pt x="193" y="0"/>
                  </a:lnTo>
                  <a:lnTo>
                    <a:pt x="8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1" name="Freeform 298">
              <a:extLst>
                <a:ext uri="{FF2B5EF4-FFF2-40B4-BE49-F238E27FC236}">
                  <a16:creationId xmlns:a16="http://schemas.microsoft.com/office/drawing/2014/main" id="{BC3E3FA9-0EED-40D7-A1EE-3B96482FE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2354"/>
              <a:ext cx="352" cy="393"/>
            </a:xfrm>
            <a:custGeom>
              <a:avLst/>
              <a:gdLst>
                <a:gd name="T0" fmla="*/ 164 w 352"/>
                <a:gd name="T1" fmla="*/ 7 h 393"/>
                <a:gd name="T2" fmla="*/ 100 w 352"/>
                <a:gd name="T3" fmla="*/ 36 h 393"/>
                <a:gd name="T4" fmla="*/ 47 w 352"/>
                <a:gd name="T5" fmla="*/ 88 h 393"/>
                <a:gd name="T6" fmla="*/ 19 w 352"/>
                <a:gd name="T7" fmla="*/ 138 h 393"/>
                <a:gd name="T8" fmla="*/ 6 w 352"/>
                <a:gd name="T9" fmla="*/ 180 h 393"/>
                <a:gd name="T10" fmla="*/ 0 w 352"/>
                <a:gd name="T11" fmla="*/ 246 h 393"/>
                <a:gd name="T12" fmla="*/ 6 w 352"/>
                <a:gd name="T13" fmla="*/ 292 h 393"/>
                <a:gd name="T14" fmla="*/ 16 w 352"/>
                <a:gd name="T15" fmla="*/ 325 h 393"/>
                <a:gd name="T16" fmla="*/ 32 w 352"/>
                <a:gd name="T17" fmla="*/ 360 h 393"/>
                <a:gd name="T18" fmla="*/ 52 w 352"/>
                <a:gd name="T19" fmla="*/ 376 h 393"/>
                <a:gd name="T20" fmla="*/ 70 w 352"/>
                <a:gd name="T21" fmla="*/ 278 h 393"/>
                <a:gd name="T22" fmla="*/ 91 w 352"/>
                <a:gd name="T23" fmla="*/ 306 h 393"/>
                <a:gd name="T24" fmla="*/ 117 w 352"/>
                <a:gd name="T25" fmla="*/ 331 h 393"/>
                <a:gd name="T26" fmla="*/ 155 w 352"/>
                <a:gd name="T27" fmla="*/ 353 h 393"/>
                <a:gd name="T28" fmla="*/ 190 w 352"/>
                <a:gd name="T29" fmla="*/ 365 h 393"/>
                <a:gd name="T30" fmla="*/ 208 w 352"/>
                <a:gd name="T31" fmla="*/ 295 h 393"/>
                <a:gd name="T32" fmla="*/ 110 w 352"/>
                <a:gd name="T33" fmla="*/ 251 h 393"/>
                <a:gd name="T34" fmla="*/ 77 w 352"/>
                <a:gd name="T35" fmla="*/ 225 h 393"/>
                <a:gd name="T36" fmla="*/ 56 w 352"/>
                <a:gd name="T37" fmla="*/ 182 h 393"/>
                <a:gd name="T38" fmla="*/ 60 w 352"/>
                <a:gd name="T39" fmla="*/ 143 h 393"/>
                <a:gd name="T40" fmla="*/ 88 w 352"/>
                <a:gd name="T41" fmla="*/ 108 h 393"/>
                <a:gd name="T42" fmla="*/ 143 w 352"/>
                <a:gd name="T43" fmla="*/ 83 h 393"/>
                <a:gd name="T44" fmla="*/ 190 w 352"/>
                <a:gd name="T45" fmla="*/ 78 h 393"/>
                <a:gd name="T46" fmla="*/ 208 w 352"/>
                <a:gd name="T47" fmla="*/ 35 h 393"/>
                <a:gd name="T48" fmla="*/ 227 w 352"/>
                <a:gd name="T49" fmla="*/ 80 h 393"/>
                <a:gd name="T50" fmla="*/ 248 w 352"/>
                <a:gd name="T51" fmla="*/ 84 h 393"/>
                <a:gd name="T52" fmla="*/ 273 w 352"/>
                <a:gd name="T53" fmla="*/ 92 h 393"/>
                <a:gd name="T54" fmla="*/ 308 w 352"/>
                <a:gd name="T55" fmla="*/ 114 h 393"/>
                <a:gd name="T56" fmla="*/ 335 w 352"/>
                <a:gd name="T57" fmla="*/ 74 h 393"/>
                <a:gd name="T58" fmla="*/ 351 w 352"/>
                <a:gd name="T59" fmla="*/ 62 h 393"/>
                <a:gd name="T60" fmla="*/ 329 w 352"/>
                <a:gd name="T61" fmla="*/ 43 h 393"/>
                <a:gd name="T62" fmla="*/ 290 w 352"/>
                <a:gd name="T63" fmla="*/ 20 h 393"/>
                <a:gd name="T64" fmla="*/ 229 w 352"/>
                <a:gd name="T65" fmla="*/ 2 h 39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2"/>
                <a:gd name="T100" fmla="*/ 0 h 393"/>
                <a:gd name="T101" fmla="*/ 352 w 352"/>
                <a:gd name="T102" fmla="*/ 393 h 39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2" h="393">
                  <a:moveTo>
                    <a:pt x="209" y="0"/>
                  </a:moveTo>
                  <a:lnTo>
                    <a:pt x="164" y="7"/>
                  </a:lnTo>
                  <a:lnTo>
                    <a:pt x="131" y="18"/>
                  </a:lnTo>
                  <a:lnTo>
                    <a:pt x="100" y="36"/>
                  </a:lnTo>
                  <a:lnTo>
                    <a:pt x="63" y="67"/>
                  </a:lnTo>
                  <a:lnTo>
                    <a:pt x="47" y="88"/>
                  </a:lnTo>
                  <a:lnTo>
                    <a:pt x="30" y="114"/>
                  </a:lnTo>
                  <a:lnTo>
                    <a:pt x="19" y="138"/>
                  </a:lnTo>
                  <a:lnTo>
                    <a:pt x="14" y="150"/>
                  </a:lnTo>
                  <a:lnTo>
                    <a:pt x="6" y="180"/>
                  </a:lnTo>
                  <a:lnTo>
                    <a:pt x="1" y="211"/>
                  </a:lnTo>
                  <a:lnTo>
                    <a:pt x="0" y="246"/>
                  </a:lnTo>
                  <a:lnTo>
                    <a:pt x="2" y="275"/>
                  </a:lnTo>
                  <a:lnTo>
                    <a:pt x="6" y="292"/>
                  </a:lnTo>
                  <a:lnTo>
                    <a:pt x="10" y="308"/>
                  </a:lnTo>
                  <a:lnTo>
                    <a:pt x="16" y="325"/>
                  </a:lnTo>
                  <a:lnTo>
                    <a:pt x="23" y="343"/>
                  </a:lnTo>
                  <a:lnTo>
                    <a:pt x="32" y="360"/>
                  </a:lnTo>
                  <a:lnTo>
                    <a:pt x="52" y="392"/>
                  </a:lnTo>
                  <a:lnTo>
                    <a:pt x="52" y="376"/>
                  </a:lnTo>
                  <a:lnTo>
                    <a:pt x="53" y="277"/>
                  </a:lnTo>
                  <a:lnTo>
                    <a:pt x="70" y="278"/>
                  </a:lnTo>
                  <a:lnTo>
                    <a:pt x="81" y="292"/>
                  </a:lnTo>
                  <a:lnTo>
                    <a:pt x="91" y="306"/>
                  </a:lnTo>
                  <a:lnTo>
                    <a:pt x="103" y="318"/>
                  </a:lnTo>
                  <a:lnTo>
                    <a:pt x="117" y="331"/>
                  </a:lnTo>
                  <a:lnTo>
                    <a:pt x="135" y="343"/>
                  </a:lnTo>
                  <a:lnTo>
                    <a:pt x="155" y="353"/>
                  </a:lnTo>
                  <a:lnTo>
                    <a:pt x="170" y="359"/>
                  </a:lnTo>
                  <a:lnTo>
                    <a:pt x="190" y="365"/>
                  </a:lnTo>
                  <a:lnTo>
                    <a:pt x="208" y="365"/>
                  </a:lnTo>
                  <a:lnTo>
                    <a:pt x="208" y="295"/>
                  </a:lnTo>
                  <a:lnTo>
                    <a:pt x="198" y="290"/>
                  </a:lnTo>
                  <a:lnTo>
                    <a:pt x="110" y="251"/>
                  </a:lnTo>
                  <a:lnTo>
                    <a:pt x="94" y="239"/>
                  </a:lnTo>
                  <a:lnTo>
                    <a:pt x="77" y="225"/>
                  </a:lnTo>
                  <a:lnTo>
                    <a:pt x="62" y="203"/>
                  </a:lnTo>
                  <a:lnTo>
                    <a:pt x="56" y="182"/>
                  </a:lnTo>
                  <a:lnTo>
                    <a:pt x="56" y="167"/>
                  </a:lnTo>
                  <a:lnTo>
                    <a:pt x="60" y="143"/>
                  </a:lnTo>
                  <a:lnTo>
                    <a:pt x="73" y="121"/>
                  </a:lnTo>
                  <a:lnTo>
                    <a:pt x="88" y="108"/>
                  </a:lnTo>
                  <a:lnTo>
                    <a:pt x="112" y="93"/>
                  </a:lnTo>
                  <a:lnTo>
                    <a:pt x="143" y="83"/>
                  </a:lnTo>
                  <a:lnTo>
                    <a:pt x="158" y="80"/>
                  </a:lnTo>
                  <a:lnTo>
                    <a:pt x="190" y="78"/>
                  </a:lnTo>
                  <a:lnTo>
                    <a:pt x="208" y="78"/>
                  </a:lnTo>
                  <a:lnTo>
                    <a:pt x="208" y="35"/>
                  </a:lnTo>
                  <a:lnTo>
                    <a:pt x="227" y="35"/>
                  </a:lnTo>
                  <a:lnTo>
                    <a:pt x="227" y="80"/>
                  </a:lnTo>
                  <a:lnTo>
                    <a:pt x="236" y="81"/>
                  </a:lnTo>
                  <a:lnTo>
                    <a:pt x="248" y="84"/>
                  </a:lnTo>
                  <a:lnTo>
                    <a:pt x="261" y="88"/>
                  </a:lnTo>
                  <a:lnTo>
                    <a:pt x="273" y="92"/>
                  </a:lnTo>
                  <a:lnTo>
                    <a:pt x="288" y="102"/>
                  </a:lnTo>
                  <a:lnTo>
                    <a:pt x="308" y="114"/>
                  </a:lnTo>
                  <a:lnTo>
                    <a:pt x="320" y="120"/>
                  </a:lnTo>
                  <a:lnTo>
                    <a:pt x="335" y="74"/>
                  </a:lnTo>
                  <a:lnTo>
                    <a:pt x="351" y="75"/>
                  </a:lnTo>
                  <a:lnTo>
                    <a:pt x="351" y="62"/>
                  </a:lnTo>
                  <a:lnTo>
                    <a:pt x="345" y="56"/>
                  </a:lnTo>
                  <a:lnTo>
                    <a:pt x="329" y="43"/>
                  </a:lnTo>
                  <a:lnTo>
                    <a:pt x="311" y="30"/>
                  </a:lnTo>
                  <a:lnTo>
                    <a:pt x="290" y="20"/>
                  </a:lnTo>
                  <a:lnTo>
                    <a:pt x="264" y="9"/>
                  </a:lnTo>
                  <a:lnTo>
                    <a:pt x="229" y="2"/>
                  </a:lnTo>
                  <a:lnTo>
                    <a:pt x="209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2" name="Freeform 299">
              <a:extLst>
                <a:ext uri="{FF2B5EF4-FFF2-40B4-BE49-F238E27FC236}">
                  <a16:creationId xmlns:a16="http://schemas.microsoft.com/office/drawing/2014/main" id="{A03B40F1-6CB2-484E-9293-CFE24602F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2" y="2845"/>
              <a:ext cx="298" cy="16"/>
            </a:xfrm>
            <a:custGeom>
              <a:avLst/>
              <a:gdLst>
                <a:gd name="T0" fmla="*/ 297 w 298"/>
                <a:gd name="T1" fmla="*/ 15 h 16"/>
                <a:gd name="T2" fmla="*/ 274 w 298"/>
                <a:gd name="T3" fmla="*/ 0 h 16"/>
                <a:gd name="T4" fmla="*/ 19 w 298"/>
                <a:gd name="T5" fmla="*/ 0 h 16"/>
                <a:gd name="T6" fmla="*/ 0 w 298"/>
                <a:gd name="T7" fmla="*/ 15 h 16"/>
                <a:gd name="T8" fmla="*/ 297 w 298"/>
                <a:gd name="T9" fmla="*/ 15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"/>
                <a:gd name="T16" fmla="*/ 0 h 16"/>
                <a:gd name="T17" fmla="*/ 298 w 298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" h="16">
                  <a:moveTo>
                    <a:pt x="297" y="15"/>
                  </a:moveTo>
                  <a:lnTo>
                    <a:pt x="274" y="0"/>
                  </a:lnTo>
                  <a:lnTo>
                    <a:pt x="19" y="0"/>
                  </a:lnTo>
                  <a:lnTo>
                    <a:pt x="0" y="15"/>
                  </a:lnTo>
                  <a:lnTo>
                    <a:pt x="297" y="15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3" name="Freeform 300">
              <a:extLst>
                <a:ext uri="{FF2B5EF4-FFF2-40B4-BE49-F238E27FC236}">
                  <a16:creationId xmlns:a16="http://schemas.microsoft.com/office/drawing/2014/main" id="{D08FCFB2-B3A5-45B3-9CCA-96CE74363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2432"/>
              <a:ext cx="153" cy="217"/>
            </a:xfrm>
            <a:custGeom>
              <a:avLst/>
              <a:gdLst>
                <a:gd name="T0" fmla="*/ 152 w 153"/>
                <a:gd name="T1" fmla="*/ 216 h 217"/>
                <a:gd name="T2" fmla="*/ 152 w 153"/>
                <a:gd name="T3" fmla="*/ 77 h 217"/>
                <a:gd name="T4" fmla="*/ 121 w 153"/>
                <a:gd name="T5" fmla="*/ 68 h 217"/>
                <a:gd name="T6" fmla="*/ 100 w 153"/>
                <a:gd name="T7" fmla="*/ 56 h 217"/>
                <a:gd name="T8" fmla="*/ 91 w 153"/>
                <a:gd name="T9" fmla="*/ 46 h 217"/>
                <a:gd name="T10" fmla="*/ 90 w 153"/>
                <a:gd name="T11" fmla="*/ 39 h 217"/>
                <a:gd name="T12" fmla="*/ 90 w 153"/>
                <a:gd name="T13" fmla="*/ 34 h 217"/>
                <a:gd name="T14" fmla="*/ 95 w 153"/>
                <a:gd name="T15" fmla="*/ 27 h 217"/>
                <a:gd name="T16" fmla="*/ 105 w 153"/>
                <a:gd name="T17" fmla="*/ 19 h 217"/>
                <a:gd name="T18" fmla="*/ 129 w 153"/>
                <a:gd name="T19" fmla="*/ 13 h 217"/>
                <a:gd name="T20" fmla="*/ 152 w 153"/>
                <a:gd name="T21" fmla="*/ 11 h 217"/>
                <a:gd name="T22" fmla="*/ 152 w 153"/>
                <a:gd name="T23" fmla="*/ 0 h 217"/>
                <a:gd name="T24" fmla="*/ 133 w 153"/>
                <a:gd name="T25" fmla="*/ 0 h 217"/>
                <a:gd name="T26" fmla="*/ 102 w 153"/>
                <a:gd name="T27" fmla="*/ 2 h 217"/>
                <a:gd name="T28" fmla="*/ 87 w 153"/>
                <a:gd name="T29" fmla="*/ 5 h 217"/>
                <a:gd name="T30" fmla="*/ 57 w 153"/>
                <a:gd name="T31" fmla="*/ 16 h 217"/>
                <a:gd name="T32" fmla="*/ 32 w 153"/>
                <a:gd name="T33" fmla="*/ 30 h 217"/>
                <a:gd name="T34" fmla="*/ 17 w 153"/>
                <a:gd name="T35" fmla="*/ 43 h 217"/>
                <a:gd name="T36" fmla="*/ 4 w 153"/>
                <a:gd name="T37" fmla="*/ 65 h 217"/>
                <a:gd name="T38" fmla="*/ 0 w 153"/>
                <a:gd name="T39" fmla="*/ 89 h 217"/>
                <a:gd name="T40" fmla="*/ 0 w 153"/>
                <a:gd name="T41" fmla="*/ 103 h 217"/>
                <a:gd name="T42" fmla="*/ 7 w 153"/>
                <a:gd name="T43" fmla="*/ 125 h 217"/>
                <a:gd name="T44" fmla="*/ 22 w 153"/>
                <a:gd name="T45" fmla="*/ 146 h 217"/>
                <a:gd name="T46" fmla="*/ 38 w 153"/>
                <a:gd name="T47" fmla="*/ 160 h 217"/>
                <a:gd name="T48" fmla="*/ 54 w 153"/>
                <a:gd name="T49" fmla="*/ 173 h 217"/>
                <a:gd name="T50" fmla="*/ 141 w 153"/>
                <a:gd name="T51" fmla="*/ 212 h 217"/>
                <a:gd name="T52" fmla="*/ 152 w 153"/>
                <a:gd name="T53" fmla="*/ 216 h 2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217"/>
                <a:gd name="T83" fmla="*/ 153 w 153"/>
                <a:gd name="T84" fmla="*/ 217 h 2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217">
                  <a:moveTo>
                    <a:pt x="152" y="216"/>
                  </a:moveTo>
                  <a:lnTo>
                    <a:pt x="152" y="77"/>
                  </a:lnTo>
                  <a:lnTo>
                    <a:pt x="121" y="68"/>
                  </a:lnTo>
                  <a:lnTo>
                    <a:pt x="100" y="56"/>
                  </a:lnTo>
                  <a:lnTo>
                    <a:pt x="91" y="46"/>
                  </a:lnTo>
                  <a:lnTo>
                    <a:pt x="90" y="39"/>
                  </a:lnTo>
                  <a:lnTo>
                    <a:pt x="90" y="34"/>
                  </a:lnTo>
                  <a:lnTo>
                    <a:pt x="95" y="27"/>
                  </a:lnTo>
                  <a:lnTo>
                    <a:pt x="105" y="19"/>
                  </a:lnTo>
                  <a:lnTo>
                    <a:pt x="129" y="13"/>
                  </a:lnTo>
                  <a:lnTo>
                    <a:pt x="152" y="11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02" y="2"/>
                  </a:lnTo>
                  <a:lnTo>
                    <a:pt x="87" y="5"/>
                  </a:lnTo>
                  <a:lnTo>
                    <a:pt x="57" y="16"/>
                  </a:lnTo>
                  <a:lnTo>
                    <a:pt x="32" y="30"/>
                  </a:lnTo>
                  <a:lnTo>
                    <a:pt x="17" y="43"/>
                  </a:lnTo>
                  <a:lnTo>
                    <a:pt x="4" y="65"/>
                  </a:lnTo>
                  <a:lnTo>
                    <a:pt x="0" y="89"/>
                  </a:lnTo>
                  <a:lnTo>
                    <a:pt x="0" y="103"/>
                  </a:lnTo>
                  <a:lnTo>
                    <a:pt x="7" y="125"/>
                  </a:lnTo>
                  <a:lnTo>
                    <a:pt x="22" y="146"/>
                  </a:lnTo>
                  <a:lnTo>
                    <a:pt x="38" y="160"/>
                  </a:lnTo>
                  <a:lnTo>
                    <a:pt x="54" y="173"/>
                  </a:lnTo>
                  <a:lnTo>
                    <a:pt x="141" y="212"/>
                  </a:lnTo>
                  <a:lnTo>
                    <a:pt x="152" y="21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4" name="Freeform 301">
              <a:extLst>
                <a:ext uri="{FF2B5EF4-FFF2-40B4-BE49-F238E27FC236}">
                  <a16:creationId xmlns:a16="http://schemas.microsoft.com/office/drawing/2014/main" id="{0862B9BD-809D-44C9-933D-F2ACCD5F7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429"/>
              <a:ext cx="124" cy="96"/>
            </a:xfrm>
            <a:custGeom>
              <a:avLst/>
              <a:gdLst>
                <a:gd name="T0" fmla="*/ 0 w 124"/>
                <a:gd name="T1" fmla="*/ 6 h 96"/>
                <a:gd name="T2" fmla="*/ 0 w 124"/>
                <a:gd name="T3" fmla="*/ 18 h 96"/>
                <a:gd name="T4" fmla="*/ 9 w 124"/>
                <a:gd name="T5" fmla="*/ 19 h 96"/>
                <a:gd name="T6" fmla="*/ 23 w 124"/>
                <a:gd name="T7" fmla="*/ 23 h 96"/>
                <a:gd name="T8" fmla="*/ 32 w 124"/>
                <a:gd name="T9" fmla="*/ 27 h 96"/>
                <a:gd name="T10" fmla="*/ 43 w 124"/>
                <a:gd name="T11" fmla="*/ 33 h 96"/>
                <a:gd name="T12" fmla="*/ 51 w 124"/>
                <a:gd name="T13" fmla="*/ 38 h 96"/>
                <a:gd name="T14" fmla="*/ 59 w 124"/>
                <a:gd name="T15" fmla="*/ 43 h 96"/>
                <a:gd name="T16" fmla="*/ 66 w 124"/>
                <a:gd name="T17" fmla="*/ 48 h 96"/>
                <a:gd name="T18" fmla="*/ 73 w 124"/>
                <a:gd name="T19" fmla="*/ 55 h 96"/>
                <a:gd name="T20" fmla="*/ 79 w 124"/>
                <a:gd name="T21" fmla="*/ 61 h 96"/>
                <a:gd name="T22" fmla="*/ 87 w 124"/>
                <a:gd name="T23" fmla="*/ 68 h 96"/>
                <a:gd name="T24" fmla="*/ 107 w 124"/>
                <a:gd name="T25" fmla="*/ 95 h 96"/>
                <a:gd name="T26" fmla="*/ 123 w 124"/>
                <a:gd name="T27" fmla="*/ 93 h 96"/>
                <a:gd name="T28" fmla="*/ 123 w 124"/>
                <a:gd name="T29" fmla="*/ 1 h 96"/>
                <a:gd name="T30" fmla="*/ 107 w 124"/>
                <a:gd name="T31" fmla="*/ 0 h 96"/>
                <a:gd name="T32" fmla="*/ 93 w 124"/>
                <a:gd name="T33" fmla="*/ 44 h 96"/>
                <a:gd name="T34" fmla="*/ 80 w 124"/>
                <a:gd name="T35" fmla="*/ 38 h 96"/>
                <a:gd name="T36" fmla="*/ 61 w 124"/>
                <a:gd name="T37" fmla="*/ 27 h 96"/>
                <a:gd name="T38" fmla="*/ 46 w 124"/>
                <a:gd name="T39" fmla="*/ 18 h 96"/>
                <a:gd name="T40" fmla="*/ 34 w 124"/>
                <a:gd name="T41" fmla="*/ 13 h 96"/>
                <a:gd name="T42" fmla="*/ 21 w 124"/>
                <a:gd name="T43" fmla="*/ 9 h 96"/>
                <a:gd name="T44" fmla="*/ 9 w 124"/>
                <a:gd name="T45" fmla="*/ 7 h 96"/>
                <a:gd name="T46" fmla="*/ 0 w 124"/>
                <a:gd name="T47" fmla="*/ 6 h 9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4"/>
                <a:gd name="T73" fmla="*/ 0 h 96"/>
                <a:gd name="T74" fmla="*/ 124 w 124"/>
                <a:gd name="T75" fmla="*/ 96 h 9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4" h="96">
                  <a:moveTo>
                    <a:pt x="0" y="6"/>
                  </a:moveTo>
                  <a:lnTo>
                    <a:pt x="0" y="18"/>
                  </a:lnTo>
                  <a:lnTo>
                    <a:pt x="9" y="19"/>
                  </a:lnTo>
                  <a:lnTo>
                    <a:pt x="23" y="23"/>
                  </a:lnTo>
                  <a:lnTo>
                    <a:pt x="32" y="27"/>
                  </a:lnTo>
                  <a:lnTo>
                    <a:pt x="43" y="33"/>
                  </a:lnTo>
                  <a:lnTo>
                    <a:pt x="51" y="38"/>
                  </a:lnTo>
                  <a:lnTo>
                    <a:pt x="59" y="43"/>
                  </a:lnTo>
                  <a:lnTo>
                    <a:pt x="66" y="48"/>
                  </a:lnTo>
                  <a:lnTo>
                    <a:pt x="73" y="55"/>
                  </a:lnTo>
                  <a:lnTo>
                    <a:pt x="79" y="61"/>
                  </a:lnTo>
                  <a:lnTo>
                    <a:pt x="87" y="68"/>
                  </a:lnTo>
                  <a:lnTo>
                    <a:pt x="107" y="95"/>
                  </a:lnTo>
                  <a:lnTo>
                    <a:pt x="123" y="93"/>
                  </a:lnTo>
                  <a:lnTo>
                    <a:pt x="123" y="1"/>
                  </a:lnTo>
                  <a:lnTo>
                    <a:pt x="107" y="0"/>
                  </a:lnTo>
                  <a:lnTo>
                    <a:pt x="93" y="44"/>
                  </a:lnTo>
                  <a:lnTo>
                    <a:pt x="80" y="38"/>
                  </a:lnTo>
                  <a:lnTo>
                    <a:pt x="61" y="27"/>
                  </a:lnTo>
                  <a:lnTo>
                    <a:pt x="46" y="18"/>
                  </a:lnTo>
                  <a:lnTo>
                    <a:pt x="34" y="13"/>
                  </a:lnTo>
                  <a:lnTo>
                    <a:pt x="21" y="9"/>
                  </a:lnTo>
                  <a:lnTo>
                    <a:pt x="9" y="7"/>
                  </a:lnTo>
                  <a:lnTo>
                    <a:pt x="0" y="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5" name="Freeform 302">
              <a:extLst>
                <a:ext uri="{FF2B5EF4-FFF2-40B4-BE49-F238E27FC236}">
                  <a16:creationId xmlns:a16="http://schemas.microsoft.com/office/drawing/2014/main" id="{F61D59BB-1B08-4694-86EB-D71F2363B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" y="2444"/>
              <a:ext cx="63" cy="67"/>
            </a:xfrm>
            <a:custGeom>
              <a:avLst/>
              <a:gdLst>
                <a:gd name="T0" fmla="*/ 62 w 63"/>
                <a:gd name="T1" fmla="*/ 0 h 67"/>
                <a:gd name="T2" fmla="*/ 39 w 63"/>
                <a:gd name="T3" fmla="*/ 2 h 67"/>
                <a:gd name="T4" fmla="*/ 15 w 63"/>
                <a:gd name="T5" fmla="*/ 8 h 67"/>
                <a:gd name="T6" fmla="*/ 4 w 63"/>
                <a:gd name="T7" fmla="*/ 16 h 67"/>
                <a:gd name="T8" fmla="*/ 0 w 63"/>
                <a:gd name="T9" fmla="*/ 23 h 67"/>
                <a:gd name="T10" fmla="*/ 0 w 63"/>
                <a:gd name="T11" fmla="*/ 28 h 67"/>
                <a:gd name="T12" fmla="*/ 1 w 63"/>
                <a:gd name="T13" fmla="*/ 35 h 67"/>
                <a:gd name="T14" fmla="*/ 9 w 63"/>
                <a:gd name="T15" fmla="*/ 45 h 67"/>
                <a:gd name="T16" fmla="*/ 31 w 63"/>
                <a:gd name="T17" fmla="*/ 57 h 67"/>
                <a:gd name="T18" fmla="*/ 62 w 63"/>
                <a:gd name="T19" fmla="*/ 66 h 67"/>
                <a:gd name="T20" fmla="*/ 62 w 63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"/>
                <a:gd name="T34" fmla="*/ 0 h 67"/>
                <a:gd name="T35" fmla="*/ 63 w 63"/>
                <a:gd name="T36" fmla="*/ 67 h 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" h="67">
                  <a:moveTo>
                    <a:pt x="62" y="0"/>
                  </a:moveTo>
                  <a:lnTo>
                    <a:pt x="39" y="2"/>
                  </a:lnTo>
                  <a:lnTo>
                    <a:pt x="15" y="8"/>
                  </a:lnTo>
                  <a:lnTo>
                    <a:pt x="4" y="16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1" y="35"/>
                  </a:lnTo>
                  <a:lnTo>
                    <a:pt x="9" y="45"/>
                  </a:lnTo>
                  <a:lnTo>
                    <a:pt x="31" y="57"/>
                  </a:lnTo>
                  <a:lnTo>
                    <a:pt x="62" y="66"/>
                  </a:lnTo>
                  <a:lnTo>
                    <a:pt x="62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6" name="Freeform 303">
              <a:extLst>
                <a:ext uri="{FF2B5EF4-FFF2-40B4-BE49-F238E27FC236}">
                  <a16:creationId xmlns:a16="http://schemas.microsoft.com/office/drawing/2014/main" id="{DE7D6BF9-3879-4408-9A42-93EE9F91D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657"/>
              <a:ext cx="55" cy="67"/>
            </a:xfrm>
            <a:custGeom>
              <a:avLst/>
              <a:gdLst>
                <a:gd name="T0" fmla="*/ 0 w 55"/>
                <a:gd name="T1" fmla="*/ 0 h 67"/>
                <a:gd name="T2" fmla="*/ 0 w 55"/>
                <a:gd name="T3" fmla="*/ 66 h 67"/>
                <a:gd name="T4" fmla="*/ 26 w 55"/>
                <a:gd name="T5" fmla="*/ 61 h 67"/>
                <a:gd name="T6" fmla="*/ 35 w 55"/>
                <a:gd name="T7" fmla="*/ 58 h 67"/>
                <a:gd name="T8" fmla="*/ 42 w 55"/>
                <a:gd name="T9" fmla="*/ 54 h 67"/>
                <a:gd name="T10" fmla="*/ 49 w 55"/>
                <a:gd name="T11" fmla="*/ 50 h 67"/>
                <a:gd name="T12" fmla="*/ 53 w 55"/>
                <a:gd name="T13" fmla="*/ 44 h 67"/>
                <a:gd name="T14" fmla="*/ 54 w 55"/>
                <a:gd name="T15" fmla="*/ 36 h 67"/>
                <a:gd name="T16" fmla="*/ 52 w 55"/>
                <a:gd name="T17" fmla="*/ 30 h 67"/>
                <a:gd name="T18" fmla="*/ 44 w 55"/>
                <a:gd name="T19" fmla="*/ 21 h 67"/>
                <a:gd name="T20" fmla="*/ 34 w 55"/>
                <a:gd name="T21" fmla="*/ 13 h 67"/>
                <a:gd name="T22" fmla="*/ 13 w 55"/>
                <a:gd name="T23" fmla="*/ 4 h 67"/>
                <a:gd name="T24" fmla="*/ 0 w 55"/>
                <a:gd name="T25" fmla="*/ 0 h 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5"/>
                <a:gd name="T40" fmla="*/ 0 h 67"/>
                <a:gd name="T41" fmla="*/ 55 w 55"/>
                <a:gd name="T42" fmla="*/ 67 h 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5" h="67">
                  <a:moveTo>
                    <a:pt x="0" y="0"/>
                  </a:moveTo>
                  <a:lnTo>
                    <a:pt x="0" y="66"/>
                  </a:lnTo>
                  <a:lnTo>
                    <a:pt x="26" y="61"/>
                  </a:lnTo>
                  <a:lnTo>
                    <a:pt x="35" y="58"/>
                  </a:lnTo>
                  <a:lnTo>
                    <a:pt x="42" y="54"/>
                  </a:lnTo>
                  <a:lnTo>
                    <a:pt x="49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2" y="30"/>
                  </a:lnTo>
                  <a:lnTo>
                    <a:pt x="44" y="21"/>
                  </a:lnTo>
                  <a:lnTo>
                    <a:pt x="34" y="13"/>
                  </a:lnTo>
                  <a:lnTo>
                    <a:pt x="13" y="4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7" name="Freeform 304">
              <a:extLst>
                <a:ext uri="{FF2B5EF4-FFF2-40B4-BE49-F238E27FC236}">
                  <a16:creationId xmlns:a16="http://schemas.microsoft.com/office/drawing/2014/main" id="{EB1C636B-4D15-49B3-A69E-989EF3E41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336"/>
              <a:ext cx="37" cy="15"/>
            </a:xfrm>
            <a:custGeom>
              <a:avLst/>
              <a:gdLst>
                <a:gd name="T0" fmla="*/ 36 w 37"/>
                <a:gd name="T1" fmla="*/ 0 h 15"/>
                <a:gd name="T2" fmla="*/ 9 w 37"/>
                <a:gd name="T3" fmla="*/ 14 h 15"/>
                <a:gd name="T4" fmla="*/ 0 w 37"/>
                <a:gd name="T5" fmla="*/ 12 h 15"/>
                <a:gd name="T6" fmla="*/ 0 w 37"/>
                <a:gd name="T7" fmla="*/ 0 h 15"/>
                <a:gd name="T8" fmla="*/ 36 w 37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5"/>
                <a:gd name="T17" fmla="*/ 37 w 37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5">
                  <a:moveTo>
                    <a:pt x="36" y="0"/>
                  </a:moveTo>
                  <a:lnTo>
                    <a:pt x="9" y="14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8" name="Freeform 305">
              <a:extLst>
                <a:ext uri="{FF2B5EF4-FFF2-40B4-BE49-F238E27FC236}">
                  <a16:creationId xmlns:a16="http://schemas.microsoft.com/office/drawing/2014/main" id="{5944FAEB-0539-4199-8354-C307FB9FE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2" y="2337"/>
              <a:ext cx="35" cy="16"/>
            </a:xfrm>
            <a:custGeom>
              <a:avLst/>
              <a:gdLst>
                <a:gd name="T0" fmla="*/ 0 w 35"/>
                <a:gd name="T1" fmla="*/ 0 h 16"/>
                <a:gd name="T2" fmla="*/ 34 w 35"/>
                <a:gd name="T3" fmla="*/ 0 h 16"/>
                <a:gd name="T4" fmla="*/ 34 w 35"/>
                <a:gd name="T5" fmla="*/ 13 h 16"/>
                <a:gd name="T6" fmla="*/ 28 w 35"/>
                <a:gd name="T7" fmla="*/ 15 h 16"/>
                <a:gd name="T8" fmla="*/ 0 w 35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16"/>
                <a:gd name="T17" fmla="*/ 35 w 35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16">
                  <a:moveTo>
                    <a:pt x="0" y="0"/>
                  </a:moveTo>
                  <a:lnTo>
                    <a:pt x="34" y="0"/>
                  </a:lnTo>
                  <a:lnTo>
                    <a:pt x="34" y="13"/>
                  </a:lnTo>
                  <a:lnTo>
                    <a:pt x="28" y="15"/>
                  </a:lnTo>
                  <a:lnTo>
                    <a:pt x="0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79" name="Freeform 306">
              <a:extLst>
                <a:ext uri="{FF2B5EF4-FFF2-40B4-BE49-F238E27FC236}">
                  <a16:creationId xmlns:a16="http://schemas.microsoft.com/office/drawing/2014/main" id="{27B90F8D-834F-463E-92A1-5BE0115F7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841"/>
              <a:ext cx="256" cy="5"/>
            </a:xfrm>
            <a:custGeom>
              <a:avLst/>
              <a:gdLst>
                <a:gd name="T0" fmla="*/ 255 w 256"/>
                <a:gd name="T1" fmla="*/ 4 h 5"/>
                <a:gd name="T2" fmla="*/ 251 w 256"/>
                <a:gd name="T3" fmla="*/ 0 h 5"/>
                <a:gd name="T4" fmla="*/ 6 w 256"/>
                <a:gd name="T5" fmla="*/ 0 h 5"/>
                <a:gd name="T6" fmla="*/ 0 w 256"/>
                <a:gd name="T7" fmla="*/ 4 h 5"/>
                <a:gd name="T8" fmla="*/ 255 w 25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5"/>
                <a:gd name="T17" fmla="*/ 256 w 256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5">
                  <a:moveTo>
                    <a:pt x="255" y="4"/>
                  </a:moveTo>
                  <a:lnTo>
                    <a:pt x="251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255" y="4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0" name="Freeform 307">
              <a:extLst>
                <a:ext uri="{FF2B5EF4-FFF2-40B4-BE49-F238E27FC236}">
                  <a16:creationId xmlns:a16="http://schemas.microsoft.com/office/drawing/2014/main" id="{0AA72A3B-637D-4CA7-8E9C-CBDF40972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316"/>
              <a:ext cx="571" cy="545"/>
            </a:xfrm>
            <a:custGeom>
              <a:avLst/>
              <a:gdLst>
                <a:gd name="T0" fmla="*/ 430 w 571"/>
                <a:gd name="T1" fmla="*/ 520 h 545"/>
                <a:gd name="T2" fmla="*/ 488 w 571"/>
                <a:gd name="T3" fmla="*/ 452 h 545"/>
                <a:gd name="T4" fmla="*/ 515 w 571"/>
                <a:gd name="T5" fmla="*/ 399 h 545"/>
                <a:gd name="T6" fmla="*/ 536 w 571"/>
                <a:gd name="T7" fmla="*/ 311 h 545"/>
                <a:gd name="T8" fmla="*/ 531 w 571"/>
                <a:gd name="T9" fmla="*/ 206 h 545"/>
                <a:gd name="T10" fmla="*/ 488 w 571"/>
                <a:gd name="T11" fmla="*/ 103 h 545"/>
                <a:gd name="T12" fmla="*/ 470 w 571"/>
                <a:gd name="T13" fmla="*/ 66 h 545"/>
                <a:gd name="T14" fmla="*/ 481 w 571"/>
                <a:gd name="T15" fmla="*/ 41 h 545"/>
                <a:gd name="T16" fmla="*/ 548 w 571"/>
                <a:gd name="T17" fmla="*/ 61 h 545"/>
                <a:gd name="T18" fmla="*/ 570 w 571"/>
                <a:gd name="T19" fmla="*/ 0 h 545"/>
                <a:gd name="T20" fmla="*/ 0 w 571"/>
                <a:gd name="T21" fmla="*/ 50 h 545"/>
                <a:gd name="T22" fmla="*/ 59 w 571"/>
                <a:gd name="T23" fmla="*/ 41 h 545"/>
                <a:gd name="T24" fmla="*/ 83 w 571"/>
                <a:gd name="T25" fmla="*/ 39 h 545"/>
                <a:gd name="T26" fmla="*/ 98 w 571"/>
                <a:gd name="T27" fmla="*/ 58 h 545"/>
                <a:gd name="T28" fmla="*/ 85 w 571"/>
                <a:gd name="T29" fmla="*/ 98 h 545"/>
                <a:gd name="T30" fmla="*/ 59 w 571"/>
                <a:gd name="T31" fmla="*/ 143 h 545"/>
                <a:gd name="T32" fmla="*/ 40 w 571"/>
                <a:gd name="T33" fmla="*/ 206 h 545"/>
                <a:gd name="T34" fmla="*/ 33 w 571"/>
                <a:gd name="T35" fmla="*/ 275 h 545"/>
                <a:gd name="T36" fmla="*/ 35 w 571"/>
                <a:gd name="T37" fmla="*/ 320 h 545"/>
                <a:gd name="T38" fmla="*/ 49 w 571"/>
                <a:gd name="T39" fmla="*/ 381 h 545"/>
                <a:gd name="T40" fmla="*/ 77 w 571"/>
                <a:gd name="T41" fmla="*/ 440 h 545"/>
                <a:gd name="T42" fmla="*/ 145 w 571"/>
                <a:gd name="T43" fmla="*/ 518 h 545"/>
                <a:gd name="T44" fmla="*/ 159 w 571"/>
                <a:gd name="T45" fmla="*/ 529 h 545"/>
                <a:gd name="T46" fmla="*/ 141 w 571"/>
                <a:gd name="T47" fmla="*/ 481 h 545"/>
                <a:gd name="T48" fmla="*/ 108 w 571"/>
                <a:gd name="T49" fmla="*/ 451 h 545"/>
                <a:gd name="T50" fmla="*/ 79 w 571"/>
                <a:gd name="T51" fmla="*/ 410 h 545"/>
                <a:gd name="T52" fmla="*/ 61 w 571"/>
                <a:gd name="T53" fmla="*/ 370 h 545"/>
                <a:gd name="T54" fmla="*/ 50 w 571"/>
                <a:gd name="T55" fmla="*/ 327 h 545"/>
                <a:gd name="T56" fmla="*/ 47 w 571"/>
                <a:gd name="T57" fmla="*/ 265 h 545"/>
                <a:gd name="T58" fmla="*/ 54 w 571"/>
                <a:gd name="T59" fmla="*/ 214 h 545"/>
                <a:gd name="T60" fmla="*/ 68 w 571"/>
                <a:gd name="T61" fmla="*/ 167 h 545"/>
                <a:gd name="T62" fmla="*/ 100 w 571"/>
                <a:gd name="T63" fmla="*/ 106 h 545"/>
                <a:gd name="T64" fmla="*/ 117 w 571"/>
                <a:gd name="T65" fmla="*/ 58 h 545"/>
                <a:gd name="T66" fmla="*/ 90 w 571"/>
                <a:gd name="T67" fmla="*/ 20 h 545"/>
                <a:gd name="T68" fmla="*/ 22 w 571"/>
                <a:gd name="T69" fmla="*/ 38 h 545"/>
                <a:gd name="T70" fmla="*/ 11 w 571"/>
                <a:gd name="T71" fmla="*/ 18 h 545"/>
                <a:gd name="T72" fmla="*/ 556 w 571"/>
                <a:gd name="T73" fmla="*/ 38 h 545"/>
                <a:gd name="T74" fmla="*/ 512 w 571"/>
                <a:gd name="T75" fmla="*/ 21 h 545"/>
                <a:gd name="T76" fmla="*/ 463 w 571"/>
                <a:gd name="T77" fmla="*/ 29 h 545"/>
                <a:gd name="T78" fmla="*/ 452 w 571"/>
                <a:gd name="T79" fmla="*/ 46 h 545"/>
                <a:gd name="T80" fmla="*/ 452 w 571"/>
                <a:gd name="T81" fmla="*/ 72 h 545"/>
                <a:gd name="T82" fmla="*/ 469 w 571"/>
                <a:gd name="T83" fmla="*/ 102 h 545"/>
                <a:gd name="T84" fmla="*/ 492 w 571"/>
                <a:gd name="T85" fmla="*/ 145 h 545"/>
                <a:gd name="T86" fmla="*/ 511 w 571"/>
                <a:gd name="T87" fmla="*/ 193 h 545"/>
                <a:gd name="T88" fmla="*/ 520 w 571"/>
                <a:gd name="T89" fmla="*/ 248 h 545"/>
                <a:gd name="T90" fmla="*/ 520 w 571"/>
                <a:gd name="T91" fmla="*/ 300 h 545"/>
                <a:gd name="T92" fmla="*/ 516 w 571"/>
                <a:gd name="T93" fmla="*/ 334 h 545"/>
                <a:gd name="T94" fmla="*/ 511 w 571"/>
                <a:gd name="T95" fmla="*/ 359 h 545"/>
                <a:gd name="T96" fmla="*/ 501 w 571"/>
                <a:gd name="T97" fmla="*/ 389 h 545"/>
                <a:gd name="T98" fmla="*/ 482 w 571"/>
                <a:gd name="T99" fmla="*/ 432 h 545"/>
                <a:gd name="T100" fmla="*/ 461 w 571"/>
                <a:gd name="T101" fmla="*/ 459 h 545"/>
                <a:gd name="T102" fmla="*/ 446 w 571"/>
                <a:gd name="T103" fmla="*/ 476 h 545"/>
                <a:gd name="T104" fmla="*/ 431 w 571"/>
                <a:gd name="T105" fmla="*/ 491 h 545"/>
                <a:gd name="T106" fmla="*/ 414 w 571"/>
                <a:gd name="T107" fmla="*/ 529 h 5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71"/>
                <a:gd name="T163" fmla="*/ 0 h 545"/>
                <a:gd name="T164" fmla="*/ 571 w 571"/>
                <a:gd name="T165" fmla="*/ 545 h 54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71" h="545">
                  <a:moveTo>
                    <a:pt x="437" y="544"/>
                  </a:moveTo>
                  <a:lnTo>
                    <a:pt x="430" y="520"/>
                  </a:lnTo>
                  <a:lnTo>
                    <a:pt x="473" y="473"/>
                  </a:lnTo>
                  <a:lnTo>
                    <a:pt x="488" y="452"/>
                  </a:lnTo>
                  <a:lnTo>
                    <a:pt x="505" y="420"/>
                  </a:lnTo>
                  <a:lnTo>
                    <a:pt x="515" y="399"/>
                  </a:lnTo>
                  <a:lnTo>
                    <a:pt x="525" y="367"/>
                  </a:lnTo>
                  <a:lnTo>
                    <a:pt x="536" y="311"/>
                  </a:lnTo>
                  <a:lnTo>
                    <a:pt x="539" y="267"/>
                  </a:lnTo>
                  <a:lnTo>
                    <a:pt x="531" y="206"/>
                  </a:lnTo>
                  <a:lnTo>
                    <a:pt x="513" y="152"/>
                  </a:lnTo>
                  <a:lnTo>
                    <a:pt x="488" y="103"/>
                  </a:lnTo>
                  <a:lnTo>
                    <a:pt x="474" y="80"/>
                  </a:lnTo>
                  <a:lnTo>
                    <a:pt x="470" y="66"/>
                  </a:lnTo>
                  <a:lnTo>
                    <a:pt x="473" y="53"/>
                  </a:lnTo>
                  <a:lnTo>
                    <a:pt x="481" y="41"/>
                  </a:lnTo>
                  <a:lnTo>
                    <a:pt x="499" y="38"/>
                  </a:lnTo>
                  <a:lnTo>
                    <a:pt x="548" y="61"/>
                  </a:lnTo>
                  <a:lnTo>
                    <a:pt x="570" y="50"/>
                  </a:lnTo>
                  <a:lnTo>
                    <a:pt x="570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21" y="61"/>
                  </a:lnTo>
                  <a:lnTo>
                    <a:pt x="59" y="41"/>
                  </a:lnTo>
                  <a:lnTo>
                    <a:pt x="71" y="38"/>
                  </a:lnTo>
                  <a:lnTo>
                    <a:pt x="83" y="39"/>
                  </a:lnTo>
                  <a:lnTo>
                    <a:pt x="94" y="46"/>
                  </a:lnTo>
                  <a:lnTo>
                    <a:pt x="98" y="58"/>
                  </a:lnTo>
                  <a:lnTo>
                    <a:pt x="94" y="80"/>
                  </a:lnTo>
                  <a:lnTo>
                    <a:pt x="85" y="98"/>
                  </a:lnTo>
                  <a:lnTo>
                    <a:pt x="74" y="114"/>
                  </a:lnTo>
                  <a:lnTo>
                    <a:pt x="59" y="143"/>
                  </a:lnTo>
                  <a:lnTo>
                    <a:pt x="47" y="177"/>
                  </a:lnTo>
                  <a:lnTo>
                    <a:pt x="40" y="206"/>
                  </a:lnTo>
                  <a:lnTo>
                    <a:pt x="35" y="246"/>
                  </a:lnTo>
                  <a:lnTo>
                    <a:pt x="33" y="275"/>
                  </a:lnTo>
                  <a:lnTo>
                    <a:pt x="33" y="291"/>
                  </a:lnTo>
                  <a:lnTo>
                    <a:pt x="35" y="320"/>
                  </a:lnTo>
                  <a:lnTo>
                    <a:pt x="38" y="341"/>
                  </a:lnTo>
                  <a:lnTo>
                    <a:pt x="49" y="381"/>
                  </a:lnTo>
                  <a:lnTo>
                    <a:pt x="62" y="411"/>
                  </a:lnTo>
                  <a:lnTo>
                    <a:pt x="77" y="440"/>
                  </a:lnTo>
                  <a:lnTo>
                    <a:pt x="128" y="501"/>
                  </a:lnTo>
                  <a:lnTo>
                    <a:pt x="145" y="518"/>
                  </a:lnTo>
                  <a:lnTo>
                    <a:pt x="140" y="544"/>
                  </a:lnTo>
                  <a:lnTo>
                    <a:pt x="159" y="529"/>
                  </a:lnTo>
                  <a:lnTo>
                    <a:pt x="165" y="502"/>
                  </a:lnTo>
                  <a:lnTo>
                    <a:pt x="141" y="481"/>
                  </a:lnTo>
                  <a:lnTo>
                    <a:pt x="122" y="465"/>
                  </a:lnTo>
                  <a:lnTo>
                    <a:pt x="108" y="451"/>
                  </a:lnTo>
                  <a:lnTo>
                    <a:pt x="91" y="428"/>
                  </a:lnTo>
                  <a:lnTo>
                    <a:pt x="79" y="410"/>
                  </a:lnTo>
                  <a:lnTo>
                    <a:pt x="68" y="387"/>
                  </a:lnTo>
                  <a:lnTo>
                    <a:pt x="61" y="370"/>
                  </a:lnTo>
                  <a:lnTo>
                    <a:pt x="55" y="351"/>
                  </a:lnTo>
                  <a:lnTo>
                    <a:pt x="50" y="327"/>
                  </a:lnTo>
                  <a:lnTo>
                    <a:pt x="47" y="296"/>
                  </a:lnTo>
                  <a:lnTo>
                    <a:pt x="47" y="265"/>
                  </a:lnTo>
                  <a:lnTo>
                    <a:pt x="50" y="238"/>
                  </a:lnTo>
                  <a:lnTo>
                    <a:pt x="54" y="214"/>
                  </a:lnTo>
                  <a:lnTo>
                    <a:pt x="59" y="191"/>
                  </a:lnTo>
                  <a:lnTo>
                    <a:pt x="68" y="167"/>
                  </a:lnTo>
                  <a:lnTo>
                    <a:pt x="77" y="145"/>
                  </a:lnTo>
                  <a:lnTo>
                    <a:pt x="100" y="106"/>
                  </a:lnTo>
                  <a:lnTo>
                    <a:pt x="117" y="79"/>
                  </a:lnTo>
                  <a:lnTo>
                    <a:pt x="117" y="58"/>
                  </a:lnTo>
                  <a:lnTo>
                    <a:pt x="110" y="39"/>
                  </a:lnTo>
                  <a:lnTo>
                    <a:pt x="90" y="20"/>
                  </a:lnTo>
                  <a:lnTo>
                    <a:pt x="54" y="20"/>
                  </a:lnTo>
                  <a:lnTo>
                    <a:pt x="22" y="38"/>
                  </a:lnTo>
                  <a:lnTo>
                    <a:pt x="11" y="35"/>
                  </a:lnTo>
                  <a:lnTo>
                    <a:pt x="11" y="18"/>
                  </a:lnTo>
                  <a:lnTo>
                    <a:pt x="556" y="18"/>
                  </a:lnTo>
                  <a:lnTo>
                    <a:pt x="556" y="38"/>
                  </a:lnTo>
                  <a:lnTo>
                    <a:pt x="549" y="40"/>
                  </a:lnTo>
                  <a:lnTo>
                    <a:pt x="512" y="21"/>
                  </a:lnTo>
                  <a:lnTo>
                    <a:pt x="472" y="21"/>
                  </a:lnTo>
                  <a:lnTo>
                    <a:pt x="463" y="29"/>
                  </a:lnTo>
                  <a:lnTo>
                    <a:pt x="455" y="38"/>
                  </a:lnTo>
                  <a:lnTo>
                    <a:pt x="452" y="46"/>
                  </a:lnTo>
                  <a:lnTo>
                    <a:pt x="450" y="60"/>
                  </a:lnTo>
                  <a:lnTo>
                    <a:pt x="452" y="72"/>
                  </a:lnTo>
                  <a:lnTo>
                    <a:pt x="456" y="81"/>
                  </a:lnTo>
                  <a:lnTo>
                    <a:pt x="469" y="102"/>
                  </a:lnTo>
                  <a:lnTo>
                    <a:pt x="481" y="124"/>
                  </a:lnTo>
                  <a:lnTo>
                    <a:pt x="492" y="145"/>
                  </a:lnTo>
                  <a:lnTo>
                    <a:pt x="502" y="168"/>
                  </a:lnTo>
                  <a:lnTo>
                    <a:pt x="511" y="193"/>
                  </a:lnTo>
                  <a:lnTo>
                    <a:pt x="516" y="219"/>
                  </a:lnTo>
                  <a:lnTo>
                    <a:pt x="520" y="248"/>
                  </a:lnTo>
                  <a:lnTo>
                    <a:pt x="521" y="277"/>
                  </a:lnTo>
                  <a:lnTo>
                    <a:pt x="520" y="300"/>
                  </a:lnTo>
                  <a:lnTo>
                    <a:pt x="518" y="316"/>
                  </a:lnTo>
                  <a:lnTo>
                    <a:pt x="516" y="334"/>
                  </a:lnTo>
                  <a:lnTo>
                    <a:pt x="514" y="347"/>
                  </a:lnTo>
                  <a:lnTo>
                    <a:pt x="511" y="359"/>
                  </a:lnTo>
                  <a:lnTo>
                    <a:pt x="508" y="370"/>
                  </a:lnTo>
                  <a:lnTo>
                    <a:pt x="501" y="389"/>
                  </a:lnTo>
                  <a:lnTo>
                    <a:pt x="491" y="414"/>
                  </a:lnTo>
                  <a:lnTo>
                    <a:pt x="482" y="432"/>
                  </a:lnTo>
                  <a:lnTo>
                    <a:pt x="470" y="449"/>
                  </a:lnTo>
                  <a:lnTo>
                    <a:pt x="461" y="459"/>
                  </a:lnTo>
                  <a:lnTo>
                    <a:pt x="454" y="469"/>
                  </a:lnTo>
                  <a:lnTo>
                    <a:pt x="446" y="476"/>
                  </a:lnTo>
                  <a:lnTo>
                    <a:pt x="438" y="483"/>
                  </a:lnTo>
                  <a:lnTo>
                    <a:pt x="431" y="491"/>
                  </a:lnTo>
                  <a:lnTo>
                    <a:pt x="409" y="507"/>
                  </a:lnTo>
                  <a:lnTo>
                    <a:pt x="414" y="529"/>
                  </a:lnTo>
                  <a:lnTo>
                    <a:pt x="437" y="544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1" name="Freeform 308">
              <a:extLst>
                <a:ext uri="{FF2B5EF4-FFF2-40B4-BE49-F238E27FC236}">
                  <a16:creationId xmlns:a16="http://schemas.microsoft.com/office/drawing/2014/main" id="{EDAE26CC-5939-4DAF-BD7B-E037FF5FF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" y="2632"/>
              <a:ext cx="157" cy="103"/>
            </a:xfrm>
            <a:custGeom>
              <a:avLst/>
              <a:gdLst>
                <a:gd name="T0" fmla="*/ 156 w 157"/>
                <a:gd name="T1" fmla="*/ 87 h 103"/>
                <a:gd name="T2" fmla="*/ 137 w 157"/>
                <a:gd name="T3" fmla="*/ 87 h 103"/>
                <a:gd name="T4" fmla="*/ 118 w 157"/>
                <a:gd name="T5" fmla="*/ 81 h 103"/>
                <a:gd name="T6" fmla="*/ 103 w 157"/>
                <a:gd name="T7" fmla="*/ 75 h 103"/>
                <a:gd name="T8" fmla="*/ 83 w 157"/>
                <a:gd name="T9" fmla="*/ 65 h 103"/>
                <a:gd name="T10" fmla="*/ 65 w 157"/>
                <a:gd name="T11" fmla="*/ 54 h 103"/>
                <a:gd name="T12" fmla="*/ 50 w 157"/>
                <a:gd name="T13" fmla="*/ 41 h 103"/>
                <a:gd name="T14" fmla="*/ 39 w 157"/>
                <a:gd name="T15" fmla="*/ 29 h 103"/>
                <a:gd name="T16" fmla="*/ 28 w 157"/>
                <a:gd name="T17" fmla="*/ 15 h 103"/>
                <a:gd name="T18" fmla="*/ 17 w 157"/>
                <a:gd name="T19" fmla="*/ 1 h 103"/>
                <a:gd name="T20" fmla="*/ 0 w 157"/>
                <a:gd name="T21" fmla="*/ 0 h 103"/>
                <a:gd name="T22" fmla="*/ 0 w 157"/>
                <a:gd name="T23" fmla="*/ 98 h 103"/>
                <a:gd name="T24" fmla="*/ 17 w 157"/>
                <a:gd name="T25" fmla="*/ 98 h 103"/>
                <a:gd name="T26" fmla="*/ 37 w 157"/>
                <a:gd name="T27" fmla="*/ 51 h 103"/>
                <a:gd name="T28" fmla="*/ 66 w 157"/>
                <a:gd name="T29" fmla="*/ 75 h 103"/>
                <a:gd name="T30" fmla="*/ 84 w 157"/>
                <a:gd name="T31" fmla="*/ 84 h 103"/>
                <a:gd name="T32" fmla="*/ 106 w 157"/>
                <a:gd name="T33" fmla="*/ 94 h 103"/>
                <a:gd name="T34" fmla="*/ 124 w 157"/>
                <a:gd name="T35" fmla="*/ 98 h 103"/>
                <a:gd name="T36" fmla="*/ 141 w 157"/>
                <a:gd name="T37" fmla="*/ 100 h 103"/>
                <a:gd name="T38" fmla="*/ 156 w 157"/>
                <a:gd name="T39" fmla="*/ 102 h 103"/>
                <a:gd name="T40" fmla="*/ 156 w 157"/>
                <a:gd name="T41" fmla="*/ 87 h 10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7"/>
                <a:gd name="T64" fmla="*/ 0 h 103"/>
                <a:gd name="T65" fmla="*/ 157 w 157"/>
                <a:gd name="T66" fmla="*/ 103 h 10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7" h="103">
                  <a:moveTo>
                    <a:pt x="156" y="87"/>
                  </a:moveTo>
                  <a:lnTo>
                    <a:pt x="137" y="87"/>
                  </a:lnTo>
                  <a:lnTo>
                    <a:pt x="118" y="81"/>
                  </a:lnTo>
                  <a:lnTo>
                    <a:pt x="103" y="75"/>
                  </a:lnTo>
                  <a:lnTo>
                    <a:pt x="83" y="65"/>
                  </a:lnTo>
                  <a:lnTo>
                    <a:pt x="65" y="54"/>
                  </a:lnTo>
                  <a:lnTo>
                    <a:pt x="50" y="41"/>
                  </a:lnTo>
                  <a:lnTo>
                    <a:pt x="39" y="29"/>
                  </a:lnTo>
                  <a:lnTo>
                    <a:pt x="28" y="15"/>
                  </a:lnTo>
                  <a:lnTo>
                    <a:pt x="17" y="1"/>
                  </a:lnTo>
                  <a:lnTo>
                    <a:pt x="0" y="0"/>
                  </a:lnTo>
                  <a:lnTo>
                    <a:pt x="0" y="98"/>
                  </a:lnTo>
                  <a:lnTo>
                    <a:pt x="17" y="98"/>
                  </a:lnTo>
                  <a:lnTo>
                    <a:pt x="37" y="51"/>
                  </a:lnTo>
                  <a:lnTo>
                    <a:pt x="66" y="75"/>
                  </a:lnTo>
                  <a:lnTo>
                    <a:pt x="84" y="84"/>
                  </a:lnTo>
                  <a:lnTo>
                    <a:pt x="106" y="94"/>
                  </a:lnTo>
                  <a:lnTo>
                    <a:pt x="124" y="98"/>
                  </a:lnTo>
                  <a:lnTo>
                    <a:pt x="141" y="100"/>
                  </a:lnTo>
                  <a:lnTo>
                    <a:pt x="156" y="102"/>
                  </a:lnTo>
                  <a:lnTo>
                    <a:pt x="156" y="87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2" name="Freeform 309">
              <a:extLst>
                <a:ext uri="{FF2B5EF4-FFF2-40B4-BE49-F238E27FC236}">
                  <a16:creationId xmlns:a16="http://schemas.microsoft.com/office/drawing/2014/main" id="{B069285E-FFD2-4168-AD9F-AACC9B569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" y="2333"/>
              <a:ext cx="547" cy="513"/>
            </a:xfrm>
            <a:custGeom>
              <a:avLst/>
              <a:gdLst>
                <a:gd name="T0" fmla="*/ 399 w 547"/>
                <a:gd name="T1" fmla="*/ 490 h 513"/>
                <a:gd name="T2" fmla="*/ 428 w 547"/>
                <a:gd name="T3" fmla="*/ 466 h 513"/>
                <a:gd name="T4" fmla="*/ 443 w 547"/>
                <a:gd name="T5" fmla="*/ 451 h 513"/>
                <a:gd name="T6" fmla="*/ 460 w 547"/>
                <a:gd name="T7" fmla="*/ 432 h 513"/>
                <a:gd name="T8" fmla="*/ 480 w 547"/>
                <a:gd name="T9" fmla="*/ 397 h 513"/>
                <a:gd name="T10" fmla="*/ 498 w 547"/>
                <a:gd name="T11" fmla="*/ 352 h 513"/>
                <a:gd name="T12" fmla="*/ 504 w 547"/>
                <a:gd name="T13" fmla="*/ 330 h 513"/>
                <a:gd name="T14" fmla="*/ 507 w 547"/>
                <a:gd name="T15" fmla="*/ 298 h 513"/>
                <a:gd name="T16" fmla="*/ 510 w 547"/>
                <a:gd name="T17" fmla="*/ 260 h 513"/>
                <a:gd name="T18" fmla="*/ 506 w 547"/>
                <a:gd name="T19" fmla="*/ 202 h 513"/>
                <a:gd name="T20" fmla="*/ 491 w 547"/>
                <a:gd name="T21" fmla="*/ 151 h 513"/>
                <a:gd name="T22" fmla="*/ 470 w 547"/>
                <a:gd name="T23" fmla="*/ 107 h 513"/>
                <a:gd name="T24" fmla="*/ 445 w 547"/>
                <a:gd name="T25" fmla="*/ 64 h 513"/>
                <a:gd name="T26" fmla="*/ 439 w 547"/>
                <a:gd name="T27" fmla="*/ 42 h 513"/>
                <a:gd name="T28" fmla="*/ 445 w 547"/>
                <a:gd name="T29" fmla="*/ 20 h 513"/>
                <a:gd name="T30" fmla="*/ 462 w 547"/>
                <a:gd name="T31" fmla="*/ 4 h 513"/>
                <a:gd name="T32" fmla="*/ 543 w 547"/>
                <a:gd name="T33" fmla="*/ 16 h 513"/>
                <a:gd name="T34" fmla="*/ 509 w 547"/>
                <a:gd name="T35" fmla="*/ 4 h 513"/>
                <a:gd name="T36" fmla="*/ 538 w 547"/>
                <a:gd name="T37" fmla="*/ 23 h 513"/>
                <a:gd name="T38" fmla="*/ 546 w 547"/>
                <a:gd name="T39" fmla="*/ 1 h 513"/>
                <a:gd name="T40" fmla="*/ 0 w 547"/>
                <a:gd name="T41" fmla="*/ 19 h 513"/>
                <a:gd name="T42" fmla="*/ 43 w 547"/>
                <a:gd name="T43" fmla="*/ 3 h 513"/>
                <a:gd name="T44" fmla="*/ 11 w 547"/>
                <a:gd name="T45" fmla="*/ 17 h 513"/>
                <a:gd name="T46" fmla="*/ 3 w 547"/>
                <a:gd name="T47" fmla="*/ 3 h 513"/>
                <a:gd name="T48" fmla="*/ 100 w 547"/>
                <a:gd name="T49" fmla="*/ 22 h 513"/>
                <a:gd name="T50" fmla="*/ 107 w 547"/>
                <a:gd name="T51" fmla="*/ 61 h 513"/>
                <a:gd name="T52" fmla="*/ 66 w 547"/>
                <a:gd name="T53" fmla="*/ 128 h 513"/>
                <a:gd name="T54" fmla="*/ 48 w 547"/>
                <a:gd name="T55" fmla="*/ 174 h 513"/>
                <a:gd name="T56" fmla="*/ 39 w 547"/>
                <a:gd name="T57" fmla="*/ 220 h 513"/>
                <a:gd name="T58" fmla="*/ 36 w 547"/>
                <a:gd name="T59" fmla="*/ 279 h 513"/>
                <a:gd name="T60" fmla="*/ 44 w 547"/>
                <a:gd name="T61" fmla="*/ 334 h 513"/>
                <a:gd name="T62" fmla="*/ 57 w 547"/>
                <a:gd name="T63" fmla="*/ 370 h 513"/>
                <a:gd name="T64" fmla="*/ 80 w 547"/>
                <a:gd name="T65" fmla="*/ 411 h 513"/>
                <a:gd name="T66" fmla="*/ 111 w 547"/>
                <a:gd name="T67" fmla="*/ 448 h 513"/>
                <a:gd name="T68" fmla="*/ 155 w 547"/>
                <a:gd name="T69" fmla="*/ 484 h 513"/>
                <a:gd name="T70" fmla="*/ 155 w 547"/>
                <a:gd name="T71" fmla="*/ 508 h 513"/>
                <a:gd name="T72" fmla="*/ 141 w 547"/>
                <a:gd name="T73" fmla="*/ 467 h 513"/>
                <a:gd name="T74" fmla="*/ 104 w 547"/>
                <a:gd name="T75" fmla="*/ 434 h 513"/>
                <a:gd name="T76" fmla="*/ 78 w 547"/>
                <a:gd name="T77" fmla="*/ 400 h 513"/>
                <a:gd name="T78" fmla="*/ 62 w 547"/>
                <a:gd name="T79" fmla="*/ 371 h 513"/>
                <a:gd name="T80" fmla="*/ 48 w 547"/>
                <a:gd name="T81" fmla="*/ 334 h 513"/>
                <a:gd name="T82" fmla="*/ 41 w 547"/>
                <a:gd name="T83" fmla="*/ 299 h 513"/>
                <a:gd name="T84" fmla="*/ 40 w 547"/>
                <a:gd name="T85" fmla="*/ 242 h 513"/>
                <a:gd name="T86" fmla="*/ 52 w 547"/>
                <a:gd name="T87" fmla="*/ 171 h 513"/>
                <a:gd name="T88" fmla="*/ 86 w 547"/>
                <a:gd name="T89" fmla="*/ 101 h 513"/>
                <a:gd name="T90" fmla="*/ 110 w 547"/>
                <a:gd name="T91" fmla="*/ 41 h 513"/>
                <a:gd name="T92" fmla="*/ 84 w 547"/>
                <a:gd name="T93" fmla="*/ 5 h 513"/>
                <a:gd name="T94" fmla="*/ 448 w 547"/>
                <a:gd name="T95" fmla="*/ 9 h 513"/>
                <a:gd name="T96" fmla="*/ 438 w 547"/>
                <a:gd name="T97" fmla="*/ 25 h 513"/>
                <a:gd name="T98" fmla="*/ 435 w 547"/>
                <a:gd name="T99" fmla="*/ 50 h 513"/>
                <a:gd name="T100" fmla="*/ 445 w 547"/>
                <a:gd name="T101" fmla="*/ 71 h 513"/>
                <a:gd name="T102" fmla="*/ 460 w 547"/>
                <a:gd name="T103" fmla="*/ 96 h 513"/>
                <a:gd name="T104" fmla="*/ 484 w 547"/>
                <a:gd name="T105" fmla="*/ 143 h 513"/>
                <a:gd name="T106" fmla="*/ 498 w 547"/>
                <a:gd name="T107" fmla="*/ 181 h 513"/>
                <a:gd name="T108" fmla="*/ 506 w 547"/>
                <a:gd name="T109" fmla="*/ 231 h 513"/>
                <a:gd name="T110" fmla="*/ 501 w 547"/>
                <a:gd name="T111" fmla="*/ 319 h 513"/>
                <a:gd name="T112" fmla="*/ 482 w 547"/>
                <a:gd name="T113" fmla="*/ 385 h 513"/>
                <a:gd name="T114" fmla="*/ 445 w 547"/>
                <a:gd name="T115" fmla="*/ 441 h 513"/>
                <a:gd name="T116" fmla="*/ 415 w 547"/>
                <a:gd name="T117" fmla="*/ 472 h 513"/>
                <a:gd name="T118" fmla="*/ 399 w 547"/>
                <a:gd name="T119" fmla="*/ 508 h 51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7"/>
                <a:gd name="T181" fmla="*/ 0 h 513"/>
                <a:gd name="T182" fmla="*/ 547 w 547"/>
                <a:gd name="T183" fmla="*/ 513 h 51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7" h="513">
                  <a:moveTo>
                    <a:pt x="403" y="512"/>
                  </a:moveTo>
                  <a:lnTo>
                    <a:pt x="399" y="490"/>
                  </a:lnTo>
                  <a:lnTo>
                    <a:pt x="421" y="474"/>
                  </a:lnTo>
                  <a:lnTo>
                    <a:pt x="428" y="466"/>
                  </a:lnTo>
                  <a:lnTo>
                    <a:pt x="436" y="459"/>
                  </a:lnTo>
                  <a:lnTo>
                    <a:pt x="443" y="451"/>
                  </a:lnTo>
                  <a:lnTo>
                    <a:pt x="450" y="442"/>
                  </a:lnTo>
                  <a:lnTo>
                    <a:pt x="460" y="432"/>
                  </a:lnTo>
                  <a:lnTo>
                    <a:pt x="472" y="415"/>
                  </a:lnTo>
                  <a:lnTo>
                    <a:pt x="480" y="397"/>
                  </a:lnTo>
                  <a:lnTo>
                    <a:pt x="491" y="372"/>
                  </a:lnTo>
                  <a:lnTo>
                    <a:pt x="498" y="352"/>
                  </a:lnTo>
                  <a:lnTo>
                    <a:pt x="501" y="342"/>
                  </a:lnTo>
                  <a:lnTo>
                    <a:pt x="504" y="330"/>
                  </a:lnTo>
                  <a:lnTo>
                    <a:pt x="506" y="316"/>
                  </a:lnTo>
                  <a:lnTo>
                    <a:pt x="507" y="298"/>
                  </a:lnTo>
                  <a:lnTo>
                    <a:pt x="509" y="283"/>
                  </a:lnTo>
                  <a:lnTo>
                    <a:pt x="510" y="260"/>
                  </a:lnTo>
                  <a:lnTo>
                    <a:pt x="509" y="231"/>
                  </a:lnTo>
                  <a:lnTo>
                    <a:pt x="506" y="202"/>
                  </a:lnTo>
                  <a:lnTo>
                    <a:pt x="500" y="176"/>
                  </a:lnTo>
                  <a:lnTo>
                    <a:pt x="491" y="151"/>
                  </a:lnTo>
                  <a:lnTo>
                    <a:pt x="482" y="128"/>
                  </a:lnTo>
                  <a:lnTo>
                    <a:pt x="470" y="107"/>
                  </a:lnTo>
                  <a:lnTo>
                    <a:pt x="458" y="85"/>
                  </a:lnTo>
                  <a:lnTo>
                    <a:pt x="445" y="64"/>
                  </a:lnTo>
                  <a:lnTo>
                    <a:pt x="441" y="55"/>
                  </a:lnTo>
                  <a:lnTo>
                    <a:pt x="439" y="42"/>
                  </a:lnTo>
                  <a:lnTo>
                    <a:pt x="442" y="29"/>
                  </a:lnTo>
                  <a:lnTo>
                    <a:pt x="445" y="20"/>
                  </a:lnTo>
                  <a:lnTo>
                    <a:pt x="453" y="12"/>
                  </a:lnTo>
                  <a:lnTo>
                    <a:pt x="462" y="4"/>
                  </a:lnTo>
                  <a:lnTo>
                    <a:pt x="543" y="4"/>
                  </a:lnTo>
                  <a:lnTo>
                    <a:pt x="543" y="16"/>
                  </a:lnTo>
                  <a:lnTo>
                    <a:pt x="537" y="19"/>
                  </a:lnTo>
                  <a:lnTo>
                    <a:pt x="509" y="4"/>
                  </a:lnTo>
                  <a:lnTo>
                    <a:pt x="502" y="4"/>
                  </a:lnTo>
                  <a:lnTo>
                    <a:pt x="538" y="23"/>
                  </a:lnTo>
                  <a:lnTo>
                    <a:pt x="546" y="20"/>
                  </a:lnTo>
                  <a:lnTo>
                    <a:pt x="546" y="1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2" y="22"/>
                  </a:lnTo>
                  <a:lnTo>
                    <a:pt x="43" y="3"/>
                  </a:lnTo>
                  <a:lnTo>
                    <a:pt x="39" y="3"/>
                  </a:lnTo>
                  <a:lnTo>
                    <a:pt x="11" y="17"/>
                  </a:lnTo>
                  <a:lnTo>
                    <a:pt x="3" y="15"/>
                  </a:lnTo>
                  <a:lnTo>
                    <a:pt x="3" y="3"/>
                  </a:lnTo>
                  <a:lnTo>
                    <a:pt x="80" y="3"/>
                  </a:lnTo>
                  <a:lnTo>
                    <a:pt x="100" y="22"/>
                  </a:lnTo>
                  <a:lnTo>
                    <a:pt x="107" y="41"/>
                  </a:lnTo>
                  <a:lnTo>
                    <a:pt x="107" y="61"/>
                  </a:lnTo>
                  <a:lnTo>
                    <a:pt x="90" y="89"/>
                  </a:lnTo>
                  <a:lnTo>
                    <a:pt x="66" y="128"/>
                  </a:lnTo>
                  <a:lnTo>
                    <a:pt x="57" y="150"/>
                  </a:lnTo>
                  <a:lnTo>
                    <a:pt x="48" y="174"/>
                  </a:lnTo>
                  <a:lnTo>
                    <a:pt x="43" y="197"/>
                  </a:lnTo>
                  <a:lnTo>
                    <a:pt x="39" y="220"/>
                  </a:lnTo>
                  <a:lnTo>
                    <a:pt x="36" y="248"/>
                  </a:lnTo>
                  <a:lnTo>
                    <a:pt x="36" y="279"/>
                  </a:lnTo>
                  <a:lnTo>
                    <a:pt x="39" y="310"/>
                  </a:lnTo>
                  <a:lnTo>
                    <a:pt x="44" y="334"/>
                  </a:lnTo>
                  <a:lnTo>
                    <a:pt x="50" y="352"/>
                  </a:lnTo>
                  <a:lnTo>
                    <a:pt x="57" y="370"/>
                  </a:lnTo>
                  <a:lnTo>
                    <a:pt x="69" y="393"/>
                  </a:lnTo>
                  <a:lnTo>
                    <a:pt x="80" y="411"/>
                  </a:lnTo>
                  <a:lnTo>
                    <a:pt x="98" y="433"/>
                  </a:lnTo>
                  <a:lnTo>
                    <a:pt x="111" y="448"/>
                  </a:lnTo>
                  <a:lnTo>
                    <a:pt x="130" y="464"/>
                  </a:lnTo>
                  <a:lnTo>
                    <a:pt x="155" y="484"/>
                  </a:lnTo>
                  <a:lnTo>
                    <a:pt x="148" y="512"/>
                  </a:lnTo>
                  <a:lnTo>
                    <a:pt x="155" y="508"/>
                  </a:lnTo>
                  <a:lnTo>
                    <a:pt x="159" y="481"/>
                  </a:lnTo>
                  <a:lnTo>
                    <a:pt x="141" y="467"/>
                  </a:lnTo>
                  <a:lnTo>
                    <a:pt x="122" y="452"/>
                  </a:lnTo>
                  <a:lnTo>
                    <a:pt x="104" y="434"/>
                  </a:lnTo>
                  <a:lnTo>
                    <a:pt x="88" y="415"/>
                  </a:lnTo>
                  <a:lnTo>
                    <a:pt x="78" y="400"/>
                  </a:lnTo>
                  <a:lnTo>
                    <a:pt x="70" y="387"/>
                  </a:lnTo>
                  <a:lnTo>
                    <a:pt x="62" y="371"/>
                  </a:lnTo>
                  <a:lnTo>
                    <a:pt x="55" y="354"/>
                  </a:lnTo>
                  <a:lnTo>
                    <a:pt x="48" y="334"/>
                  </a:lnTo>
                  <a:lnTo>
                    <a:pt x="44" y="313"/>
                  </a:lnTo>
                  <a:lnTo>
                    <a:pt x="41" y="299"/>
                  </a:lnTo>
                  <a:lnTo>
                    <a:pt x="39" y="265"/>
                  </a:lnTo>
                  <a:lnTo>
                    <a:pt x="40" y="242"/>
                  </a:lnTo>
                  <a:lnTo>
                    <a:pt x="44" y="212"/>
                  </a:lnTo>
                  <a:lnTo>
                    <a:pt x="52" y="171"/>
                  </a:lnTo>
                  <a:lnTo>
                    <a:pt x="68" y="131"/>
                  </a:lnTo>
                  <a:lnTo>
                    <a:pt x="86" y="101"/>
                  </a:lnTo>
                  <a:lnTo>
                    <a:pt x="110" y="64"/>
                  </a:lnTo>
                  <a:lnTo>
                    <a:pt x="110" y="41"/>
                  </a:lnTo>
                  <a:lnTo>
                    <a:pt x="102" y="19"/>
                  </a:lnTo>
                  <a:lnTo>
                    <a:pt x="84" y="5"/>
                  </a:lnTo>
                  <a:lnTo>
                    <a:pt x="456" y="5"/>
                  </a:lnTo>
                  <a:lnTo>
                    <a:pt x="448" y="9"/>
                  </a:lnTo>
                  <a:lnTo>
                    <a:pt x="443" y="15"/>
                  </a:lnTo>
                  <a:lnTo>
                    <a:pt x="438" y="25"/>
                  </a:lnTo>
                  <a:lnTo>
                    <a:pt x="435" y="37"/>
                  </a:lnTo>
                  <a:lnTo>
                    <a:pt x="435" y="50"/>
                  </a:lnTo>
                  <a:lnTo>
                    <a:pt x="441" y="64"/>
                  </a:lnTo>
                  <a:lnTo>
                    <a:pt x="445" y="71"/>
                  </a:lnTo>
                  <a:lnTo>
                    <a:pt x="451" y="81"/>
                  </a:lnTo>
                  <a:lnTo>
                    <a:pt x="460" y="96"/>
                  </a:lnTo>
                  <a:lnTo>
                    <a:pt x="467" y="109"/>
                  </a:lnTo>
                  <a:lnTo>
                    <a:pt x="484" y="143"/>
                  </a:lnTo>
                  <a:lnTo>
                    <a:pt x="492" y="163"/>
                  </a:lnTo>
                  <a:lnTo>
                    <a:pt x="498" y="181"/>
                  </a:lnTo>
                  <a:lnTo>
                    <a:pt x="502" y="202"/>
                  </a:lnTo>
                  <a:lnTo>
                    <a:pt x="506" y="231"/>
                  </a:lnTo>
                  <a:lnTo>
                    <a:pt x="506" y="272"/>
                  </a:lnTo>
                  <a:lnTo>
                    <a:pt x="501" y="319"/>
                  </a:lnTo>
                  <a:lnTo>
                    <a:pt x="491" y="359"/>
                  </a:lnTo>
                  <a:lnTo>
                    <a:pt x="482" y="385"/>
                  </a:lnTo>
                  <a:lnTo>
                    <a:pt x="469" y="409"/>
                  </a:lnTo>
                  <a:lnTo>
                    <a:pt x="445" y="441"/>
                  </a:lnTo>
                  <a:lnTo>
                    <a:pt x="427" y="460"/>
                  </a:lnTo>
                  <a:lnTo>
                    <a:pt x="415" y="472"/>
                  </a:lnTo>
                  <a:lnTo>
                    <a:pt x="394" y="488"/>
                  </a:lnTo>
                  <a:lnTo>
                    <a:pt x="399" y="508"/>
                  </a:lnTo>
                  <a:lnTo>
                    <a:pt x="403" y="512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3" name="Freeform 310">
              <a:extLst>
                <a:ext uri="{FF2B5EF4-FFF2-40B4-BE49-F238E27FC236}">
                  <a16:creationId xmlns:a16="http://schemas.microsoft.com/office/drawing/2014/main" id="{3A9F3E1F-8E4E-4312-90E0-16E853771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520"/>
              <a:ext cx="156" cy="216"/>
            </a:xfrm>
            <a:custGeom>
              <a:avLst/>
              <a:gdLst>
                <a:gd name="T0" fmla="*/ 0 w 156"/>
                <a:gd name="T1" fmla="*/ 0 h 216"/>
                <a:gd name="T2" fmla="*/ 0 w 156"/>
                <a:gd name="T3" fmla="*/ 137 h 216"/>
                <a:gd name="T4" fmla="*/ 13 w 156"/>
                <a:gd name="T5" fmla="*/ 141 h 216"/>
                <a:gd name="T6" fmla="*/ 34 w 156"/>
                <a:gd name="T7" fmla="*/ 149 h 216"/>
                <a:gd name="T8" fmla="*/ 44 w 156"/>
                <a:gd name="T9" fmla="*/ 157 h 216"/>
                <a:gd name="T10" fmla="*/ 51 w 156"/>
                <a:gd name="T11" fmla="*/ 166 h 216"/>
                <a:gd name="T12" fmla="*/ 54 w 156"/>
                <a:gd name="T13" fmla="*/ 172 h 216"/>
                <a:gd name="T14" fmla="*/ 53 w 156"/>
                <a:gd name="T15" fmla="*/ 179 h 216"/>
                <a:gd name="T16" fmla="*/ 49 w 156"/>
                <a:gd name="T17" fmla="*/ 186 h 216"/>
                <a:gd name="T18" fmla="*/ 42 w 156"/>
                <a:gd name="T19" fmla="*/ 189 h 216"/>
                <a:gd name="T20" fmla="*/ 35 w 156"/>
                <a:gd name="T21" fmla="*/ 193 h 216"/>
                <a:gd name="T22" fmla="*/ 26 w 156"/>
                <a:gd name="T23" fmla="*/ 196 h 216"/>
                <a:gd name="T24" fmla="*/ 0 w 156"/>
                <a:gd name="T25" fmla="*/ 201 h 216"/>
                <a:gd name="T26" fmla="*/ 0 w 156"/>
                <a:gd name="T27" fmla="*/ 215 h 216"/>
                <a:gd name="T28" fmla="*/ 34 w 156"/>
                <a:gd name="T29" fmla="*/ 212 h 216"/>
                <a:gd name="T30" fmla="*/ 80 w 156"/>
                <a:gd name="T31" fmla="*/ 201 h 216"/>
                <a:gd name="T32" fmla="*/ 109 w 156"/>
                <a:gd name="T33" fmla="*/ 189 h 216"/>
                <a:gd name="T34" fmla="*/ 126 w 156"/>
                <a:gd name="T35" fmla="*/ 178 h 216"/>
                <a:gd name="T36" fmla="*/ 141 w 156"/>
                <a:gd name="T37" fmla="*/ 161 h 216"/>
                <a:gd name="T38" fmla="*/ 151 w 156"/>
                <a:gd name="T39" fmla="*/ 141 h 216"/>
                <a:gd name="T40" fmla="*/ 155 w 156"/>
                <a:gd name="T41" fmla="*/ 120 h 216"/>
                <a:gd name="T42" fmla="*/ 153 w 156"/>
                <a:gd name="T43" fmla="*/ 103 h 216"/>
                <a:gd name="T44" fmla="*/ 142 w 156"/>
                <a:gd name="T45" fmla="*/ 79 h 216"/>
                <a:gd name="T46" fmla="*/ 129 w 156"/>
                <a:gd name="T47" fmla="*/ 63 h 216"/>
                <a:gd name="T48" fmla="*/ 122 w 156"/>
                <a:gd name="T49" fmla="*/ 57 h 216"/>
                <a:gd name="T50" fmla="*/ 0 w 156"/>
                <a:gd name="T51" fmla="*/ 0 h 21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6"/>
                <a:gd name="T79" fmla="*/ 0 h 216"/>
                <a:gd name="T80" fmla="*/ 156 w 156"/>
                <a:gd name="T81" fmla="*/ 216 h 21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6" h="216">
                  <a:moveTo>
                    <a:pt x="0" y="0"/>
                  </a:moveTo>
                  <a:lnTo>
                    <a:pt x="0" y="137"/>
                  </a:lnTo>
                  <a:lnTo>
                    <a:pt x="13" y="141"/>
                  </a:lnTo>
                  <a:lnTo>
                    <a:pt x="34" y="149"/>
                  </a:lnTo>
                  <a:lnTo>
                    <a:pt x="44" y="157"/>
                  </a:lnTo>
                  <a:lnTo>
                    <a:pt x="51" y="166"/>
                  </a:lnTo>
                  <a:lnTo>
                    <a:pt x="54" y="172"/>
                  </a:lnTo>
                  <a:lnTo>
                    <a:pt x="53" y="179"/>
                  </a:lnTo>
                  <a:lnTo>
                    <a:pt x="49" y="186"/>
                  </a:lnTo>
                  <a:lnTo>
                    <a:pt x="42" y="189"/>
                  </a:lnTo>
                  <a:lnTo>
                    <a:pt x="35" y="193"/>
                  </a:lnTo>
                  <a:lnTo>
                    <a:pt x="26" y="196"/>
                  </a:lnTo>
                  <a:lnTo>
                    <a:pt x="0" y="201"/>
                  </a:lnTo>
                  <a:lnTo>
                    <a:pt x="0" y="215"/>
                  </a:lnTo>
                  <a:lnTo>
                    <a:pt x="34" y="212"/>
                  </a:lnTo>
                  <a:lnTo>
                    <a:pt x="80" y="201"/>
                  </a:lnTo>
                  <a:lnTo>
                    <a:pt x="109" y="189"/>
                  </a:lnTo>
                  <a:lnTo>
                    <a:pt x="126" y="178"/>
                  </a:lnTo>
                  <a:lnTo>
                    <a:pt x="141" y="161"/>
                  </a:lnTo>
                  <a:lnTo>
                    <a:pt x="151" y="141"/>
                  </a:lnTo>
                  <a:lnTo>
                    <a:pt x="155" y="120"/>
                  </a:lnTo>
                  <a:lnTo>
                    <a:pt x="153" y="103"/>
                  </a:lnTo>
                  <a:lnTo>
                    <a:pt x="142" y="79"/>
                  </a:lnTo>
                  <a:lnTo>
                    <a:pt x="129" y="63"/>
                  </a:lnTo>
                  <a:lnTo>
                    <a:pt x="122" y="57"/>
                  </a:lnTo>
                  <a:lnTo>
                    <a:pt x="0" y="0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84" name="Freeform 311">
              <a:extLst>
                <a:ext uri="{FF2B5EF4-FFF2-40B4-BE49-F238E27FC236}">
                  <a16:creationId xmlns:a16="http://schemas.microsoft.com/office/drawing/2014/main" id="{44F9EFC9-479B-44F6-AADB-24C1DBB25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2389"/>
              <a:ext cx="18" cy="403"/>
            </a:xfrm>
            <a:custGeom>
              <a:avLst/>
              <a:gdLst>
                <a:gd name="T0" fmla="*/ 0 w 18"/>
                <a:gd name="T1" fmla="*/ 331 h 403"/>
                <a:gd name="T2" fmla="*/ 0 w 18"/>
                <a:gd name="T3" fmla="*/ 402 h 403"/>
                <a:gd name="T4" fmla="*/ 17 w 18"/>
                <a:gd name="T5" fmla="*/ 402 h 403"/>
                <a:gd name="T6" fmla="*/ 17 w 18"/>
                <a:gd name="T7" fmla="*/ 0 h 403"/>
                <a:gd name="T8" fmla="*/ 0 w 18"/>
                <a:gd name="T9" fmla="*/ 0 h 403"/>
                <a:gd name="T10" fmla="*/ 0 w 18"/>
                <a:gd name="T11" fmla="*/ 331 h 4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403"/>
                <a:gd name="T20" fmla="*/ 18 w 18"/>
                <a:gd name="T21" fmla="*/ 403 h 4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403">
                  <a:moveTo>
                    <a:pt x="0" y="331"/>
                  </a:moveTo>
                  <a:lnTo>
                    <a:pt x="0" y="402"/>
                  </a:lnTo>
                  <a:lnTo>
                    <a:pt x="17" y="40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31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9167" name="Rectangle 312">
            <a:extLst>
              <a:ext uri="{FF2B5EF4-FFF2-40B4-BE49-F238E27FC236}">
                <a16:creationId xmlns:a16="http://schemas.microsoft.com/office/drawing/2014/main" id="{E363E692-CC5D-415C-A2D3-D6243FDDF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5" y="2679700"/>
            <a:ext cx="1390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900" b="1" dirty="0">
                <a:solidFill>
                  <a:srgbClr val="CF0E30"/>
                </a:solidFill>
              </a:rPr>
              <a:t>Benefits</a:t>
            </a: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967</Words>
  <Application>Microsoft Office PowerPoint</Application>
  <PresentationFormat>On-screen Show (4:3)</PresentationFormat>
  <Paragraphs>151</Paragraphs>
  <Slides>23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Times New Roman</vt:lpstr>
      <vt:lpstr>Arial Black</vt:lpstr>
      <vt:lpstr>Default Design</vt:lpstr>
      <vt:lpstr>Micrografx Windows Draw 5.0 Drawing</vt:lpstr>
      <vt:lpstr>Microsoft Word 97 - 2003 Document</vt:lpstr>
      <vt:lpstr>Microsoft Excel 97-2003 Worksheet</vt:lpstr>
      <vt:lpstr> Payroll Accounting And Pension Plan.</vt:lpstr>
      <vt:lpstr>PAYROLL ACCOUNTING</vt:lpstr>
      <vt:lpstr>INTERNAL CONTROLS FOR PAYROLL</vt:lpstr>
      <vt:lpstr>HIRING EMPLOYEES</vt:lpstr>
      <vt:lpstr>TIMEKEEPING</vt:lpstr>
      <vt:lpstr>PREPARING THE PAYROLL</vt:lpstr>
      <vt:lpstr>DETERMINING AND PAYING THE PAYROLL</vt:lpstr>
      <vt:lpstr>PowerPoint Presentation</vt:lpstr>
      <vt:lpstr>PAYROLL DEDUCTIONS</vt:lpstr>
      <vt:lpstr>PowerPoint Presentation</vt:lpstr>
      <vt:lpstr>INCOME TAXES </vt:lpstr>
      <vt:lpstr>VOLUNTARY DEDUCTIONS </vt:lpstr>
      <vt:lpstr>PowerPoint Presentation</vt:lpstr>
      <vt:lpstr>RECORDING THE PAYROLL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POSTRETIREMENT BENEFITS</vt:lpstr>
      <vt:lpstr> PENSION PLANS </vt:lpstr>
      <vt:lpstr>PowerPoint Presentation</vt:lpstr>
    </vt:vector>
  </TitlesOfParts>
  <Company>Diablo Valley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Payroll Accounting</dc:title>
  <dc:creator>Diablo Valley College</dc:creator>
  <cp:lastModifiedBy>Adedeji-ace Oyetunji</cp:lastModifiedBy>
  <cp:revision>14</cp:revision>
  <cp:lastPrinted>2016-04-26T15:43:25Z</cp:lastPrinted>
  <dcterms:created xsi:type="dcterms:W3CDTF">2006-05-20T14:43:47Z</dcterms:created>
  <dcterms:modified xsi:type="dcterms:W3CDTF">2026-03-25T15:56:12Z</dcterms:modified>
</cp:coreProperties>
</file>