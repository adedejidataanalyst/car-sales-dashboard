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7" r:id="rId19"/>
    <p:sldId id="278" r:id="rId20"/>
    <p:sldId id="279" r:id="rId21"/>
    <p:sldId id="280" r:id="rId22"/>
    <p:sldId id="281" r:id="rId23"/>
    <p:sldId id="282" r:id="rId24"/>
  </p:sldIdLst>
  <p:sldSz cx="9144000" cy="6858000" type="screen4x3"/>
  <p:notesSz cx="9290050" cy="70040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2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521C9A-3B11-4632-A91F-629083BD5A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6412C-967E-444C-AD85-C9D4EA8C4F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62563" y="0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85EF8FC5-C8D2-4C5B-A242-896BB22CB5EB}" type="datetimeFigureOut">
              <a:rPr lang="en-GB"/>
              <a:pPr>
                <a:defRPr/>
              </a:pPr>
              <a:t>01/04/2026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CCF45-2AB3-4F7D-B184-59ACAFF3E6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51625"/>
            <a:ext cx="4025900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0F5DC-82EB-49F9-80BA-E55A7D9E33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62563" y="6651625"/>
            <a:ext cx="4025900" cy="3508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ED6BA72-67BB-4BA2-AD27-313E50F87EF2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F9F1E69-190D-4311-8FEB-C5E9BA80A3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8A44620-8604-4C36-ACDE-3F4F29E0CE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2563" y="0"/>
            <a:ext cx="40259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59059D6F-4E55-41EA-A446-D7F65A767C6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894013" y="525463"/>
            <a:ext cx="3502025" cy="2625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F3D9BFC-2A2A-4EDB-AC21-7BCEE4CE1C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3327400"/>
            <a:ext cx="7432675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75C6516-C53F-4B5A-BD70-E35A6A60E4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3213"/>
            <a:ext cx="40259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0675DA3-7B0B-4379-868C-4D1F922738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2563" y="6653213"/>
            <a:ext cx="40259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66FC1B2-9006-494E-98E0-9489B184F6E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7F86A41C-7533-4BA7-9E35-A60DA46225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E05731CA-83FE-4BF4-B862-4FD2EA529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46786CA5-82BA-487B-924D-8E9BCD1B5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28AD11-57C0-43D7-9F44-59D5A3E2F7D2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A4EE956-1A4D-42CF-8C1F-22D3CC2FE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590127-CAAD-4880-B16C-DA66F104526A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FB7551E-5E03-429C-B21F-1CE4C1B83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A0CA374-54CB-434E-8021-70C5965FB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50A99AD0-C7D3-4943-B67B-F00E5FB1B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2938B548-F110-417E-AAAA-58AF66F2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10ACF61B-C96D-45CB-8417-68B6D335C2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57AC0ED4-A4C3-4606-9596-0634E1024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7B44ADA-03AF-4A4A-8296-7D6DEF23A6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83DCA6-C9E2-42B6-AAF7-6BD56E833B1A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22CD589-FBA9-4919-8933-D3D78875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6370C58-4015-4A16-B2A5-527E240F3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139A6D34-9C32-43E8-9EF6-F78EBB5B8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A8B516AE-95BF-417B-B339-7FDFD3864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2D03ABC8-6029-4E03-931E-E29FB30F4AC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28680" name="Rectangle 7">
            <a:extLst>
              <a:ext uri="{FF2B5EF4-FFF2-40B4-BE49-F238E27FC236}">
                <a16:creationId xmlns:a16="http://schemas.microsoft.com/office/drawing/2014/main" id="{C7EF263A-F51B-43C8-AC2D-2F3B7F481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25172E2-7ED6-4C36-BEDB-804287F057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E12E8F8-CA6F-4E2B-989C-2665A56A1836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805E40D-59E2-42F4-8A57-6B50396565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C3A5208-FFDB-444F-B6A9-E3E65E31E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6DACE39-059F-4B15-99D1-CA90738F91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6705F4-2C79-4BE8-9717-7F57D58A9009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F48BD56-3D62-41BD-A823-6047D727A2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B2FC064-E9D3-4259-BD5F-579808404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F0D5938-F36B-4435-97D4-E1232D309A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06AF43-0815-48D1-984F-E0C70F947556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2F365F2-A511-4F84-91A7-0294B5A622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FCEAEC7-921D-4C8E-86C0-0A485A6B4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59B665E8-84E2-4BF5-9ACF-7081C9A10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711E5A-EB4F-4543-8068-43D0242090B2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C8902B2-C3D0-42FF-A7D0-2AED654D68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4998A2E-22D4-4CA4-A3BA-EAC417C0B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29AD7B82-5EC2-46FF-A257-2D76B1B63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C3CDC8-225B-46AC-9E3E-8D660C72B9F8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923EF55-14FF-4FCF-9F8C-A0B5F0AB0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3CEBA71-7854-4380-A180-61EE79ECA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11278B0C-881B-4224-B93A-936AF8D0A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798" name="Rectangle 5">
            <a:extLst>
              <a:ext uri="{FF2B5EF4-FFF2-40B4-BE49-F238E27FC236}">
                <a16:creationId xmlns:a16="http://schemas.microsoft.com/office/drawing/2014/main" id="{94EF87B6-DD7A-474A-8B92-92EFED496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9689444C-C54E-4260-AA14-D054B097D6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3800" name="Rectangle 7">
            <a:extLst>
              <a:ext uri="{FF2B5EF4-FFF2-40B4-BE49-F238E27FC236}">
                <a16:creationId xmlns:a16="http://schemas.microsoft.com/office/drawing/2014/main" id="{E7D75D57-E026-4FA7-920F-397FC0A62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A8C06178-B280-4136-87C7-D5AB40D9EF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708370-7DD5-40F6-A099-20382E935C1F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EDC3CE5-4D7A-419C-B588-7618D0FA6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953B568-21E1-4417-8B1A-537F15FFC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108E0A7B-B9C0-4FD1-8823-9203DBA28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BA0E63ED-9D23-4DF4-A050-5133B1CC2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3FA0DD20-4139-4ED5-8151-18CD2BE01A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B2DA1BC4-C207-4154-8B4C-BEF13ECFB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284CC50-DB7F-44CE-872F-AACA33A942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704EE3-42D5-407D-804E-54EE2999B51E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B7CA6E8-70AF-4CD4-B726-9C48C6DA7D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4EC5E09-F927-409C-9B77-60F49D409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FEF930AA-C011-4C02-A114-3B3C0AC9E6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57555A-DE81-465E-9F51-54F1C135CB38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9D85488-0F62-4094-8576-6CD65D64A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C60B52B-098F-4EBF-A985-F19B92AF2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22</a:t>
            </a: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9BDDEC00-9428-470C-A77D-2006918C2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C0C3CD1E-F65F-42B4-8704-F06C3FD8F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E65C6182-56EE-4B2E-A23F-8D9100D16E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1B16DBBB-8C8F-435C-98BF-5C6152A41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85C26FB7-9B90-403D-AEAA-3153FBEC02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3FCCD3-D8FE-41CD-AF7E-1641BBEBADBC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E853A02-572B-412A-9D45-F7F7102FE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B981502-B1BC-4ED0-9C48-5F809D5BC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4E56E9F3-A720-4938-8278-8B6C643E4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911B3CA2-6032-4EEC-9C95-0469F2D42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51C2D8C4-3B51-469B-9906-AF0D4AF26E2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3F5C8880-1691-44AB-AAB7-6404D791C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CEFBD1D-B002-4DBA-937D-F95155901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08455E-6A1C-4C8E-9041-4E4A4455378A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F37E6D2-0362-48E9-91FE-860E46EF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6AF2658B-F39D-486B-AADC-6A119ECBB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24</a:t>
            </a: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E14FB363-36CF-4CA4-8327-9430BCC17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27F51B1C-67BB-47DD-84B2-C0EF6152D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8F8B7208-EE9F-4673-B851-7A4B84B62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20" name="Rectangle 7">
            <a:extLst>
              <a:ext uri="{FF2B5EF4-FFF2-40B4-BE49-F238E27FC236}">
                <a16:creationId xmlns:a16="http://schemas.microsoft.com/office/drawing/2014/main" id="{7172C746-6914-4C74-A730-8F3A99D306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19F1D3B0-0DB0-48F3-B3E6-BB0514D448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A9B797-C5F3-4EEE-980B-B5A09B45AAA8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F6A2B53-EF0C-4B45-9BCA-EEF71FFD7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011B74F-BC86-4E73-B633-936FCD540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25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BF48ED27-78E1-411E-9FC0-E087716D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BBB9317A-9AF1-4EF6-94C4-D33388628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225AB127-AB36-4020-AC20-5785A9C4DC2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9851A39C-9112-49E4-834F-679F20E40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CCDD493C-1D91-4061-81FB-B66241734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A0EA29-DF25-46CF-B2BB-3E67DD0D7718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85293C1-FA66-45C5-8438-57A54E9D160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47EB62A-6812-4A89-BEE2-71B842352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845CB74A-6461-461A-ACAB-DA30DF73A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AC961B-2E95-4692-81F1-50BE60729CE8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6FF6DF3-8F26-4355-B4F2-FA7617C15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FE75217-E9E7-49CD-BCC5-37BF10ED0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27</a:t>
            </a: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141B4FB9-C5D8-48F0-88AE-8602A65E9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FBD3DC86-1D40-49EE-AFC9-35CE96DDE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1" name="Rectangle 6">
            <a:extLst>
              <a:ext uri="{FF2B5EF4-FFF2-40B4-BE49-F238E27FC236}">
                <a16:creationId xmlns:a16="http://schemas.microsoft.com/office/drawing/2014/main" id="{9EA76E1B-D8AA-4FFC-88F2-1FC2D8CB5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97CEF8B8-8BD7-4F0A-99E1-7155BE6E37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22809194-9F1B-453B-A1D4-F5096134DD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364173-236A-4849-BA08-CA25D8045C4A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03E1EF0-A797-40F2-8AB7-05714C28B6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9579525-8CAE-4DCE-8FCB-640185739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31FE627-A559-4738-9737-B7AC66A682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C6FE44-94BD-460F-A734-8E4D9062B6EC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0B4FE702-06CD-4627-8285-830D848182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DDE9A2F-F055-4955-B808-5DF7A832A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9F9BD930-66D7-431F-9527-6DB2D59493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C09685-6400-4731-8D5B-646DE369B721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61BCC17-2F4C-462B-8E0A-E89F57F064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6DAB00A-1833-4724-AF2C-4ACC2719D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9F784A2-6D04-461B-8A9C-852E163C5D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F84AAC-289E-431C-91CF-AEA38612CF9F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D5FBE5C-D51A-4BE6-8B1E-FF238B2E51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89C4D7B-CFEC-4AA6-857E-2CDAA41AC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6AA4A588-2E78-4BFF-93DA-0EFADFC03E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AC4A2B-545F-4085-98F5-01D243015692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3E90B81-9EEC-4432-B93B-6186E96B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19E018B6-B16D-4F21-B717-6B691373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B197AF7D-66FD-45EB-AE0E-846ED911C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0" name="Rectangle 5">
            <a:extLst>
              <a:ext uri="{FF2B5EF4-FFF2-40B4-BE49-F238E27FC236}">
                <a16:creationId xmlns:a16="http://schemas.microsoft.com/office/drawing/2014/main" id="{88809808-1E3E-4CE3-84CA-44E1E3A5C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815E0949-8D6A-4488-A93B-BF87F8A2382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47112" name="Rectangle 7">
            <a:extLst>
              <a:ext uri="{FF2B5EF4-FFF2-40B4-BE49-F238E27FC236}">
                <a16:creationId xmlns:a16="http://schemas.microsoft.com/office/drawing/2014/main" id="{533805D8-51CD-4494-BDD3-3EC5BAE60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AAE91EC-491A-4757-AB4B-3F22093A69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D177FF5-D29A-47DE-AE43-32B164213A13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C5B2947-0381-43F9-AD9C-1AA7F076C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708F309A-DD0A-43F7-87BB-69DF7BD9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95" tIns="0" rIns="19395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19962F8B-84F0-4056-B7BA-12CD3E660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83841415-5907-46E3-8F6F-D93D27323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95" tIns="46548" rIns="93095" bIns="4654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5" name="Rectangle 6">
            <a:extLst>
              <a:ext uri="{FF2B5EF4-FFF2-40B4-BE49-F238E27FC236}">
                <a16:creationId xmlns:a16="http://schemas.microsoft.com/office/drawing/2014/main" id="{87B2399E-6025-4DE4-A2C1-61D49C8591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 w="12700" cap="flat">
            <a:solidFill>
              <a:schemeClr val="tx1"/>
            </a:solidFill>
          </a:ln>
        </p:spPr>
      </p:sp>
      <p:sp>
        <p:nvSpPr>
          <p:cNvPr id="48136" name="Rectangle 7">
            <a:extLst>
              <a:ext uri="{FF2B5EF4-FFF2-40B4-BE49-F238E27FC236}">
                <a16:creationId xmlns:a16="http://schemas.microsoft.com/office/drawing/2014/main" id="{4B8FA235-CA5D-403E-A480-09DEDEF7F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26" tIns="45255" rIns="92126" bIns="4525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B2883B0C-6E0D-4E26-9F56-F28FD894D2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90109D-8749-4324-B2C5-9DBD58D622FD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C026CA7-A9D9-4F42-9F54-0DA5FA712B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2782888" y="412750"/>
            <a:ext cx="3724275" cy="2794000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6B920EB-0599-4F8B-B569-E55AD86A4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7400"/>
            <a:ext cx="6813550" cy="31511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3861EB-7A93-4FEA-B0F5-4B7B1B677B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3D83BF-60D6-45BD-8FDA-C8DAE28744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BEF494-5C5C-48AB-B28A-3B000BC51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E0EEEC-0D76-4997-8140-4435C577A0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58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ED7BB9-128F-4AEC-9018-BE8F51C14C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1A1076-0CD9-4C81-AC0B-B0BB8CCF03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5BAAC9-8E1B-480A-9C81-78826E4190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08ACD4-B1CF-43B1-B364-9CCA9A3AF8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669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DF7D9A-EA5A-42A2-8D15-646C37BAC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B8503D-D5FE-4AF1-8A1F-F738AAB358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F66573-7DFB-4341-B164-F6789ECE33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0C9A28-EDAC-4565-846B-66AF2E5F91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45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C0552-2347-431C-BE4D-8E0FD487D3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B6C46-5A9D-425E-B7CF-8E98B32DEE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8F679D-255B-4883-B6B5-19C28CFF4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64A087-1477-4C10-A1BD-19D17A3C61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01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F70B52-BA7C-4A18-BCD1-60934C0B11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33D778D-D2CC-4D1E-9179-082CD43FED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E7A7499-C7FA-4DD5-BF87-69058FA2FB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6DF88C-BCA7-4ACF-8D2B-07BE5AD4B5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78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B443B6-3439-4C54-9C8C-D2541C27C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C0C05D-B2FD-488D-94B2-8F2EA636CE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586DB2-597C-45EA-A8B1-9A089BBFB6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C78577-202D-41F0-93E2-906310CEDD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30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C3481BA-A88B-499E-B936-E3EA51347F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62E6B4-339B-4840-AF6E-E150C027D4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BCA18D-319D-40F2-997E-E318377E23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1009AF-F09A-4A4F-9741-815DD89528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58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6B12D-528F-48B2-9FB1-DB08B9403D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0012C-9B54-4BC7-8C52-FDA7633412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DDD12-25DB-499A-AD64-8B7F0AF78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B356D3-4BB1-4031-B5BF-9C6C83422B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270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C5FFF-A701-4220-B68B-A0DDA28BB5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A8F9B-BADA-4E17-9818-243DE3184D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D8B15-72C6-4DDE-8D36-8D74B1C34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98235C-3575-451D-8EF1-810F80B2E0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75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9C6CDE-E7C8-46FF-B7E9-6CA9069B59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2E654C-EE39-4368-B191-61334B09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C7F4DC-8823-4093-ACBC-6B28F786B2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7C97C-4148-4654-9D8E-BB082A0CD8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92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1F98AA-4F8B-4495-9839-00CA3BEB05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EDAA99-29DF-42DB-8A60-CAC77B53A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A76BDF-C349-4D12-BEBA-1A1F387B28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08F2C3-D69D-4F85-8745-AD593E92C7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561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1975D2B-AEF2-49AF-9CCF-8C71303EE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9A7302-86C4-4BEB-8578-6E13CEDF8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44CFA53-47E4-4E4B-8E96-2A37CBFEA0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8F2436D-7096-440D-93C2-A12C20FD7A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AA7654-AD82-4F61-9F23-76D6D96875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D6286AE-45A9-4DE5-BFE7-85056E7C52D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>
            <a:extLst>
              <a:ext uri="{FF2B5EF4-FFF2-40B4-BE49-F238E27FC236}">
                <a16:creationId xmlns:a16="http://schemas.microsoft.com/office/drawing/2014/main" id="{08F6FD30-91C7-4425-862D-D991B5D8BA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 Payroll Accounting And Pension Plan.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BF6ECAC-796F-4EED-AD42-1513511C7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550" y="1817688"/>
            <a:ext cx="8313738" cy="4887912"/>
          </a:xfrm>
          <a:noFill/>
        </p:spPr>
        <p:txBody>
          <a:bodyPr lIns="91583" tIns="45040" rIns="91583" bIns="45040"/>
          <a:lstStyle/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Payroll</a:t>
            </a:r>
            <a:r>
              <a:rPr lang="en-US" altLang="en-US" sz="2400" b="1">
                <a:latin typeface="Times New Roman" panose="02020603050405020304" pitchFamily="18" charset="0"/>
              </a:rPr>
              <a:t> pertains to both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</a:t>
            </a:r>
            <a:r>
              <a:rPr lang="en-US" altLang="en-US" sz="2400" b="1">
                <a:latin typeface="Times New Roman" panose="02020603050405020304" pitchFamily="18" charset="0"/>
              </a:rPr>
              <a:t>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Managerial, administrative, and sales                   personnel are generally paid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</a:t>
            </a:r>
            <a:r>
              <a:rPr lang="en-US" altLang="en-US" sz="2400" b="1">
                <a:latin typeface="Times New Roman" panose="02020603050405020304" pitchFamily="18" charset="0"/>
              </a:rPr>
              <a:t>. Salaries                   are often expressed in terms of a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specified amount per month or year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Store clerks, factory employees and manual laborers are normally paid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wages-</a:t>
            </a:r>
            <a:r>
              <a:rPr lang="en-US" altLang="en-US" sz="2400" b="1">
                <a:latin typeface="Times New Roman" panose="02020603050405020304" pitchFamily="18" charset="0"/>
              </a:rPr>
              <a:t>based on a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rate per hour</a:t>
            </a:r>
            <a:r>
              <a:rPr lang="en-US" altLang="en-US" sz="2400" b="1">
                <a:latin typeface="Times New Roman" panose="02020603050405020304" pitchFamily="18" charset="0"/>
              </a:rPr>
              <a:t>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Payments made to professional individuals who             are independent contractors are called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fees</a:t>
            </a:r>
            <a:r>
              <a:rPr lang="en-US" altLang="en-US" sz="2400" b="1">
                <a:latin typeface="Times New Roman" panose="02020603050405020304" pitchFamily="18" charset="0"/>
              </a:rPr>
              <a:t>. 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Government regulations relating to the payment           and reporting of payroll taxes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apply only to employees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BFFA866-B3A2-4D54-9760-721847841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18450" cy="86518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PAYROLL ACCOUNTING</a:t>
            </a:r>
            <a:br>
              <a:rPr lang="en-US" altLang="en-US" b="1"/>
            </a:br>
            <a:br>
              <a:rPr lang="en-US" altLang="en-US" sz="2100" b="1">
                <a:solidFill>
                  <a:srgbClr val="CF0E30"/>
                </a:solidFill>
              </a:rPr>
            </a:br>
            <a:endParaRPr lang="en-US" altLang="en-US" sz="2100" b="1">
              <a:solidFill>
                <a:srgbClr val="CF0E3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82660A8-EC77-48D9-B237-723D346FF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365125"/>
            <a:ext cx="6470650" cy="8413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INTERNAL CONTROLS FOR PAYROLL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5BBA98C-EA29-40C1-BC3A-B76C6FEBA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263" y="1606550"/>
            <a:ext cx="7770812" cy="5249863"/>
          </a:xfrm>
          <a:noFill/>
        </p:spPr>
        <p:txBody>
          <a:bodyPr lIns="91583" tIns="45040" rIns="91583" bIns="45040"/>
          <a:lstStyle/>
          <a:p>
            <a:pPr marL="398463" indent="-360363" defTabSz="681038" eaLnBrk="1" hangingPunct="1">
              <a:buClr>
                <a:schemeClr val="tx1"/>
              </a:buClr>
            </a:pPr>
            <a:r>
              <a:rPr lang="en-US" altLang="en-US" sz="2800" b="1">
                <a:latin typeface="Times New Roman" panose="02020603050405020304" pitchFamily="18" charset="0"/>
              </a:rPr>
              <a:t>The objectives of internal accounting control concerning payroll are: </a:t>
            </a:r>
          </a:p>
          <a:p>
            <a:pPr marL="398463" indent="-360363" defTabSz="681038" eaLnBrk="1" hangingPunct="1"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1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to safeguard company assets from unauthorized  payments of payrolls</a:t>
            </a:r>
            <a:r>
              <a:rPr lang="en-US" altLang="en-US" sz="2800" b="1">
                <a:latin typeface="Times New Roman" panose="02020603050405020304" pitchFamily="18" charset="0"/>
              </a:rPr>
              <a:t> and</a:t>
            </a:r>
          </a:p>
          <a:p>
            <a:pPr marL="398463" indent="-360363" defTabSz="681038" eaLnBrk="1" hangingPunct="1"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2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to ensure the accuracy and reliability of the      	accounting records pertaining to payrolls</a:t>
            </a:r>
            <a:r>
              <a:rPr lang="en-US" altLang="en-US" sz="2800" b="1">
                <a:latin typeface="Times New Roman" panose="02020603050405020304" pitchFamily="18" charset="0"/>
              </a:rPr>
              <a:t>.</a:t>
            </a:r>
            <a:endParaRPr lang="en-US" altLang="en-US" sz="2800" b="1">
              <a:solidFill>
                <a:srgbClr val="CF0E30"/>
              </a:solidFill>
              <a:latin typeface="Times New Roman" panose="02020603050405020304" pitchFamily="18" charset="0"/>
            </a:endParaRPr>
          </a:p>
          <a:p>
            <a:pPr marL="398463" indent="-360363" defTabSz="681038" eaLnBrk="1" hangingPunct="1">
              <a:buClr>
                <a:schemeClr val="tx1"/>
              </a:buClr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Payroll activities involve four functions</a:t>
            </a:r>
            <a:r>
              <a:rPr lang="en-US" altLang="en-US" sz="2800" b="1">
                <a:latin typeface="Times New Roman" panose="02020603050405020304" pitchFamily="18" charset="0"/>
              </a:rPr>
              <a:t>: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1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 hiring employees</a:t>
            </a:r>
            <a:r>
              <a:rPr lang="en-US" altLang="en-US" sz="2800" b="1">
                <a:latin typeface="Times New Roman" panose="02020603050405020304" pitchFamily="18" charset="0"/>
              </a:rPr>
              <a:t>,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2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timekeeping</a:t>
            </a:r>
            <a:r>
              <a:rPr lang="en-US" altLang="en-US" sz="2800" b="1">
                <a:latin typeface="Times New Roman" panose="02020603050405020304" pitchFamily="18" charset="0"/>
              </a:rPr>
              <a:t>,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3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preparing the payroll</a:t>
            </a:r>
            <a:r>
              <a:rPr lang="en-US" altLang="en-US" sz="2800" b="1">
                <a:latin typeface="Times New Roman" panose="02020603050405020304" pitchFamily="18" charset="0"/>
              </a:rPr>
              <a:t>, and</a:t>
            </a:r>
          </a:p>
          <a:p>
            <a:pPr marL="398463" indent="-360363" defTabSz="681038" eaLnBrk="1" hangingPunct="1">
              <a:lnSpc>
                <a:spcPct val="70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006B61"/>
                </a:solidFill>
              </a:rPr>
              <a:t>4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paying the payroll</a:t>
            </a:r>
            <a:r>
              <a:rPr lang="en-US" altLang="en-US" sz="2800" b="1">
                <a:latin typeface="Times New Roman" panose="02020603050405020304" pitchFamily="18" charset="0"/>
              </a:rPr>
              <a:t>.</a:t>
            </a:r>
            <a:endParaRPr lang="en-US" altLang="en-US" sz="2800" b="1">
              <a:solidFill>
                <a:srgbClr val="CF0E3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E42FC8B-8121-4CC5-B645-E7A6F23E0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0338" y="460375"/>
            <a:ext cx="62738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HIRING EMPLOYEES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3AE0DA2-5704-4EDF-A431-8729B2412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1922463"/>
            <a:ext cx="7893050" cy="2563812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human resources department </a:t>
            </a:r>
            <a:r>
              <a:rPr lang="en-US" altLang="en-US" sz="2400" b="1">
                <a:latin typeface="Times New Roman" panose="02020603050405020304" pitchFamily="18" charset="0"/>
              </a:rPr>
              <a:t>is responsible for ensuring the accuracy of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personnel authorization form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62865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human resources department is also responsible for authorizing changes in employment status: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	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changes in pay rates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 termination of employment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124" name="Object 4">
            <a:hlinkClick r:id="" action="ppaction://ole?verb=0"/>
            <a:extLst>
              <a:ext uri="{FF2B5EF4-FFF2-40B4-BE49-F238E27FC236}">
                <a16:creationId xmlns:a16="http://schemas.microsoft.com/office/drawing/2014/main" id="{1C09E462-BC67-4A18-AAC9-97B4397BBEAE}"/>
              </a:ext>
            </a:extLst>
          </p:cNvPr>
          <p:cNvGraphicFramePr>
            <a:graphicFrameLocks/>
          </p:cNvGraphicFramePr>
          <p:nvPr/>
        </p:nvGraphicFramePr>
        <p:xfrm>
          <a:off x="5921375" y="4929188"/>
          <a:ext cx="2409825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Micrografx Windows Draw 5.0 Drawing" r:id="rId4" imgW="2647950" imgH="2657475" progId="Draw.Document.5">
                  <p:embed/>
                </p:oleObj>
              </mc:Choice>
              <mc:Fallback>
                <p:oleObj name="Micrografx Windows Draw 5.0 Drawing" r:id="rId4" imgW="2647950" imgH="2657475" progId="Draw.Document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4929188"/>
                        <a:ext cx="2409825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B8F8C97-E86E-4664-9EA3-E3DBC3DAB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2038" y="473075"/>
            <a:ext cx="44704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TIMEKEEPING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D1E83DC-E68A-42C4-BA76-82F86EA15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1727200"/>
            <a:ext cx="7893050" cy="5019675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Hourly employees are usually required to record time worked by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“punching” a time clock</a:t>
            </a:r>
            <a:r>
              <a:rPr lang="en-US" altLang="en-US" sz="2400" b="1">
                <a:latin typeface="Times New Roman" panose="02020603050405020304" pitchFamily="18" charset="0"/>
              </a:rPr>
              <a:t>. Times of arrival and departure are automatically recorded by the employee by inserting a time card into the clock.</a:t>
            </a:r>
          </a:p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In large companies time clock procedures are often monitored by a supervisor or security guard to make sure an employee punches only one card.</a:t>
            </a:r>
          </a:p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employee’s supervisor:</a:t>
            </a: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approves the hours shown by signing the time card  	at the end of the pay period</a:t>
            </a:r>
            <a:r>
              <a:rPr lang="en-US" altLang="en-US" sz="2400" b="1">
                <a:latin typeface="Times New Roman" panose="02020603050405020304" pitchFamily="18" charset="0"/>
              </a:rPr>
              <a:t> and</a:t>
            </a: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authorizes any overtime hours for an employee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040DB25-F744-4A85-B6FF-DBE9AC4E6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473075"/>
            <a:ext cx="7823200" cy="642938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PREPARING THE PAYROLL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CE9F842-3EB7-4EFE-BDAE-4C49AE313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0888" y="1727200"/>
            <a:ext cx="8175625" cy="2157413"/>
          </a:xfrm>
          <a:noFill/>
        </p:spPr>
        <p:txBody>
          <a:bodyPr lIns="91583" tIns="45040" rIns="91583" bIns="45040"/>
          <a:lstStyle/>
          <a:p>
            <a:pPr marL="0" indent="0" defTabSz="628650" eaLnBrk="1" hangingPunct="1">
              <a:buFontTx/>
              <a:buNone/>
            </a:pPr>
            <a:r>
              <a:rPr lang="en-US" altLang="en-US" sz="3000" b="1">
                <a:latin typeface="Times New Roman" panose="02020603050405020304" pitchFamily="18" charset="0"/>
              </a:rPr>
              <a:t>The 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payroll is </a:t>
            </a:r>
            <a:r>
              <a:rPr lang="en-US" altLang="en-US" sz="3000" b="1">
                <a:latin typeface="Times New Roman" panose="02020603050405020304" pitchFamily="18" charset="0"/>
              </a:rPr>
              <a:t>prepared in the payroll department on the basis of </a:t>
            </a:r>
            <a:r>
              <a:rPr lang="en-US" altLang="en-US" sz="3000" b="1">
                <a:solidFill>
                  <a:srgbClr val="CF0E30"/>
                </a:solidFill>
              </a:rPr>
              <a:t>two </a:t>
            </a:r>
            <a:r>
              <a:rPr lang="en-US" altLang="en-US" sz="3000" b="1">
                <a:latin typeface="Times New Roman" panose="02020603050405020304" pitchFamily="18" charset="0"/>
              </a:rPr>
              <a:t>inputs:</a:t>
            </a:r>
          </a:p>
          <a:p>
            <a:pPr marL="0" indent="0" defTabSz="628650" eaLnBrk="1" hangingPunct="1">
              <a:buFontTx/>
              <a:buNone/>
            </a:pPr>
            <a:r>
              <a:rPr lang="en-US" altLang="en-US" sz="3000" b="1">
                <a:solidFill>
                  <a:srgbClr val="006B61"/>
                </a:solidFill>
              </a:rPr>
              <a:t>1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human resources department authorizations</a:t>
            </a:r>
            <a:r>
              <a:rPr lang="en-US" altLang="en-US" sz="3000" b="1">
                <a:latin typeface="Times New Roman" panose="02020603050405020304" pitchFamily="18" charset="0"/>
              </a:rPr>
              <a:t> </a:t>
            </a:r>
          </a:p>
          <a:p>
            <a:pPr marL="0" indent="0" defTabSz="628650" eaLnBrk="1" hangingPunct="1">
              <a:buFontTx/>
              <a:buNone/>
            </a:pPr>
            <a:r>
              <a:rPr lang="en-US" altLang="en-US" sz="3000" b="1">
                <a:solidFill>
                  <a:srgbClr val="006B61"/>
                </a:solidFill>
              </a:rPr>
              <a:t>2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approved time cards</a:t>
            </a:r>
            <a:r>
              <a:rPr lang="en-US" altLang="en-US" sz="30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172" name="Object 4">
            <a:hlinkClick r:id="" action="ppaction://ole?verb=0"/>
            <a:extLst>
              <a:ext uri="{FF2B5EF4-FFF2-40B4-BE49-F238E27FC236}">
                <a16:creationId xmlns:a16="http://schemas.microsoft.com/office/drawing/2014/main" id="{BB59CC62-8188-498B-9495-3CDB79508472}"/>
              </a:ext>
            </a:extLst>
          </p:cNvPr>
          <p:cNvGraphicFramePr>
            <a:graphicFrameLocks/>
          </p:cNvGraphicFramePr>
          <p:nvPr/>
        </p:nvGraphicFramePr>
        <p:xfrm>
          <a:off x="6459538" y="4643438"/>
          <a:ext cx="1885950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Micrografx Windows Draw 5.0 Drawing" r:id="rId4" imgW="2400300" imgH="2971800" progId="Draw.Document.5">
                  <p:embed/>
                </p:oleObj>
              </mc:Choice>
              <mc:Fallback>
                <p:oleObj name="Micrografx Windows Draw 5.0 Drawing" r:id="rId4" imgW="2400300" imgH="2971800" progId="Draw.Document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4643438"/>
                        <a:ext cx="1885950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F7B528-74BC-4E48-AFF8-88F757238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395288"/>
            <a:ext cx="7823200" cy="79692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3900" b="1"/>
              <a:t>DETERMINING AND PAYING THE PAYROLL</a:t>
            </a:r>
            <a:br>
              <a:rPr lang="en-US" altLang="en-US" sz="3900" b="1"/>
            </a:br>
            <a:br>
              <a:rPr lang="en-US" altLang="en-US" sz="1900" b="1">
                <a:solidFill>
                  <a:srgbClr val="CF0E30"/>
                </a:solidFill>
              </a:rPr>
            </a:br>
            <a:endParaRPr lang="en-US" altLang="en-US" sz="1900" b="1">
              <a:solidFill>
                <a:srgbClr val="CF0E30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6975F4D-4D2C-4B8A-B1DE-E3893D57A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9938" y="1636713"/>
            <a:ext cx="7596187" cy="3524250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Determining the payroll involves computing three amounts: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gross earnings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payroll deductions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3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net pay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The payroll is paid by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treasurer’s department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Payment by check minimizes the risk of loss from 	theft</a:t>
            </a:r>
            <a:r>
              <a:rPr lang="en-US" altLang="en-US" sz="2400" b="1">
                <a:latin typeface="Times New Roman" panose="02020603050405020304" pitchFamily="18" charset="0"/>
              </a:rPr>
              <a:t> and</a:t>
            </a:r>
          </a:p>
          <a:p>
            <a:pPr marL="361950" indent="-361950" defTabSz="62865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the endorsed check provides proof of payment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5F8986FF-FBDA-41E3-A7F6-372F9C0A64AD}"/>
              </a:ext>
            </a:extLst>
          </p:cNvPr>
          <p:cNvGrpSpPr>
            <a:grpSpLocks/>
          </p:cNvGrpSpPr>
          <p:nvPr/>
        </p:nvGrpSpPr>
        <p:grpSpPr bwMode="auto">
          <a:xfrm>
            <a:off x="725488" y="5143500"/>
            <a:ext cx="7673975" cy="1503363"/>
            <a:chOff x="496" y="3532"/>
            <a:chExt cx="5076" cy="1010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1F623929-DF0B-4462-B603-6AB035B7F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3532"/>
              <a:ext cx="5076" cy="101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graphicFrame>
          <p:nvGraphicFramePr>
            <p:cNvPr id="9222" name="Object 4">
              <a:hlinkClick r:id="" action="ppaction://ole?verb=0"/>
              <a:extLst>
                <a:ext uri="{FF2B5EF4-FFF2-40B4-BE49-F238E27FC236}">
                  <a16:creationId xmlns:a16="http://schemas.microsoft.com/office/drawing/2014/main" id="{5C5D4C2E-870C-4221-9B21-E7D7C7464B3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08" y="3549"/>
            <a:ext cx="4085" cy="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Document" r:id="rId4" imgW="10308336" imgH="2075688" progId="Word.Document.8">
                    <p:embed/>
                  </p:oleObj>
                </mc:Choice>
                <mc:Fallback>
                  <p:oleObj name="Document" r:id="rId4" imgW="10308336" imgH="2075688" progId="Word.Document.8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66435" b="59541"/>
                        <a:stretch>
                          <a:fillRect/>
                        </a:stretch>
                      </p:blipFill>
                      <p:spPr bwMode="auto">
                        <a:xfrm>
                          <a:off x="1008" y="3549"/>
                          <a:ext cx="4085" cy="98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9" name="Rectangle 5">
            <a:extLst>
              <a:ext uri="{FF2B5EF4-FFF2-40B4-BE49-F238E27FC236}">
                <a16:creationId xmlns:a16="http://schemas.microsoft.com/office/drawing/2014/main" id="{A50B0D0B-8689-47F4-A49B-937E85218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1630363"/>
            <a:ext cx="7788275" cy="3567112"/>
          </a:xfrm>
          <a:noFill/>
        </p:spPr>
        <p:txBody>
          <a:bodyPr lIns="91583" tIns="45040" rIns="91583" bIns="45040"/>
          <a:lstStyle/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Gross earnings </a:t>
            </a:r>
            <a:r>
              <a:rPr lang="en-US" altLang="en-US" sz="2400" b="1">
                <a:latin typeface="Times New Roman" panose="02020603050405020304" pitchFamily="18" charset="0"/>
              </a:rPr>
              <a:t>is the total compensation earned by an employee. 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It consists of 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wages</a:t>
            </a:r>
            <a:r>
              <a:rPr lang="en-US" altLang="en-US" sz="2400" b="1">
                <a:latin typeface="Times New Roman" panose="02020603050405020304" pitchFamily="18" charset="0"/>
              </a:rPr>
              <a:t> or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salaries</a:t>
            </a:r>
            <a:r>
              <a:rPr lang="en-US" altLang="en-US" sz="2400" b="1">
                <a:latin typeface="Times New Roman" panose="02020603050405020304" pitchFamily="18" charset="0"/>
              </a:rPr>
              <a:t>, plus any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bonuses and commissions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Total wages are determined by multiplying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hours worked</a:t>
            </a:r>
            <a:r>
              <a:rPr lang="en-US" altLang="en-US" sz="2400" b="1">
                <a:latin typeface="Times New Roman" panose="02020603050405020304" pitchFamily="18" charset="0"/>
              </a:rPr>
              <a:t> by 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hourly rate of pay</a:t>
            </a:r>
            <a:r>
              <a:rPr lang="en-US" altLang="en-US" sz="2400" b="1">
                <a:latin typeface="Times New Roman" panose="02020603050405020304" pitchFamily="18" charset="0"/>
              </a:rPr>
              <a:t>.</a:t>
            </a:r>
          </a:p>
          <a:p>
            <a:pPr marL="361950" indent="-361950" defTabSz="966788" eaLnBrk="1" hangingPunct="1">
              <a:buClr>
                <a:srgbClr val="006B6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Most companies are required to pay a minimum of   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1 1/2 </a:t>
            </a:r>
            <a:r>
              <a:rPr lang="en-US" altLang="en-US" sz="2400" b="1">
                <a:latin typeface="Times New Roman" panose="02020603050405020304" pitchFamily="18" charset="0"/>
              </a:rPr>
              <a:t>the regular hourly rate for overtime work.</a:t>
            </a:r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5B8703BB-7FB2-4578-BA98-F64870CD5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63538"/>
            <a:ext cx="7508875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400" b="1">
                <a:solidFill>
                  <a:srgbClr val="000099"/>
                </a:solidFill>
                <a:latin typeface="Arial Black" panose="020B0A04020102020204" pitchFamily="34" charset="0"/>
              </a:rPr>
              <a:t>COMPUTATION OF TOTAL WAGES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2703092-2314-4752-AF1F-35A663A85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20675"/>
            <a:ext cx="8112125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sz="4200" b="1"/>
              <a:t>PAYROLL DEDUCTIONS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55E66DC-BC09-4526-A28A-934BC6D58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70063"/>
            <a:ext cx="7772400" cy="4945062"/>
          </a:xfrm>
          <a:noFill/>
        </p:spPr>
        <p:txBody>
          <a:bodyPr lIns="91583" tIns="45040" rIns="91583" bIns="45040"/>
          <a:lstStyle/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sz="3400" b="1">
                <a:latin typeface="Times New Roman" panose="02020603050405020304" pitchFamily="18" charset="0"/>
              </a:rPr>
              <a:t>The difference between gross pay and the amount </a:t>
            </a:r>
            <a:r>
              <a:rPr lang="en-US" altLang="en-US" sz="3400" b="1">
                <a:solidFill>
                  <a:srgbClr val="CF0E30"/>
                </a:solidFill>
                <a:latin typeface="Times New Roman" panose="02020603050405020304" pitchFamily="18" charset="0"/>
              </a:rPr>
              <a:t>actually received </a:t>
            </a:r>
            <a:r>
              <a:rPr lang="en-US" altLang="en-US" sz="3400" b="1">
                <a:latin typeface="Times New Roman" panose="02020603050405020304" pitchFamily="18" charset="0"/>
              </a:rPr>
              <a:t>is attributable to </a:t>
            </a:r>
            <a:r>
              <a:rPr lang="en-US" altLang="en-US" sz="3400" b="1">
                <a:solidFill>
                  <a:srgbClr val="CF0E30"/>
                </a:solidFill>
                <a:latin typeface="Times New Roman" panose="02020603050405020304" pitchFamily="18" charset="0"/>
              </a:rPr>
              <a:t>payroll deductions.</a:t>
            </a:r>
            <a:endParaRPr lang="en-US" altLang="en-US" sz="3400" b="1">
              <a:latin typeface="Times New Roman" panose="02020603050405020304" pitchFamily="18" charset="0"/>
            </a:endParaRPr>
          </a:p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sz="3400" b="1">
                <a:latin typeface="Times New Roman" panose="02020603050405020304" pitchFamily="18" charset="0"/>
              </a:rPr>
              <a:t>Mandatory</a:t>
            </a:r>
            <a:r>
              <a:rPr lang="en-US" altLang="en-US" sz="3400" b="1">
                <a:solidFill>
                  <a:schemeClr val="tx2"/>
                </a:solidFill>
                <a:latin typeface="Times New Roman" panose="02020603050405020304" pitchFamily="18" charset="0"/>
              </a:rPr>
              <a:t> deductions </a:t>
            </a:r>
            <a:r>
              <a:rPr lang="en-US" altLang="en-US" sz="3400" b="1">
                <a:latin typeface="Times New Roman" panose="02020603050405020304" pitchFamily="18" charset="0"/>
              </a:rPr>
              <a:t>consist of  </a:t>
            </a:r>
            <a:r>
              <a:rPr lang="en-US" altLang="en-US" sz="3400" b="1">
                <a:solidFill>
                  <a:srgbClr val="CF0E30"/>
                </a:solidFill>
                <a:latin typeface="Times New Roman" panose="02020603050405020304" pitchFamily="18" charset="0"/>
              </a:rPr>
              <a:t>income taxes.</a:t>
            </a:r>
          </a:p>
          <a:p>
            <a:pPr marL="466725" indent="-466725" defTabSz="966788" eaLnBrk="1" hangingPunct="1">
              <a:buClr>
                <a:srgbClr val="006B61"/>
              </a:buClr>
            </a:pPr>
            <a:r>
              <a:rPr lang="en-US" altLang="en-US" sz="3400" b="1">
                <a:latin typeface="Times New Roman" panose="02020603050405020304" pitchFamily="18" charset="0"/>
              </a:rPr>
              <a:t>The employer is merely a collection agent and subsequently transfers the amounts deducted to the government and designated recipients.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863FA38-4123-4DB8-99AA-0D2B6A1DB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255588"/>
            <a:ext cx="750887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PAYROLL DEDUCTIONS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2C516F3F-AD6D-46B5-9556-6BCF0D021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144000" cy="59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728A67E-527B-468F-8738-C723D00CE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313" y="1428750"/>
            <a:ext cx="7951787" cy="5076825"/>
          </a:xfrm>
          <a:noFill/>
        </p:spPr>
        <p:txBody>
          <a:bodyPr lIns="91583" tIns="45040" rIns="91583" bIns="45040"/>
          <a:lstStyle/>
          <a:p>
            <a:pPr marL="466725" indent="-466725" defTabSz="738188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Income Taxes </a:t>
            </a:r>
            <a:r>
              <a:rPr lang="en-US" altLang="en-US" sz="2400" b="1">
                <a:latin typeface="Times New Roman" panose="02020603050405020304" pitchFamily="18" charset="0"/>
              </a:rPr>
              <a:t>are required to be withheld  from employees each pay period </a:t>
            </a:r>
          </a:p>
          <a:p>
            <a:pPr marL="466725" indent="-466725" defTabSz="738188" eaLnBrk="1" hangingPunct="1">
              <a:lnSpc>
                <a:spcPct val="90000"/>
              </a:lnSpc>
              <a:buClr>
                <a:srgbClr val="006B61"/>
              </a:buClr>
            </a:pPr>
            <a:r>
              <a:rPr lang="en-US" altLang="en-US" sz="2600" b="1">
                <a:latin typeface="Times New Roman" panose="02020603050405020304" pitchFamily="18" charset="0"/>
              </a:rPr>
              <a:t>Amount is determined by </a:t>
            </a:r>
            <a:r>
              <a:rPr lang="en-US" altLang="en-US" sz="2600" b="1">
                <a:solidFill>
                  <a:srgbClr val="CF0E30"/>
                </a:solidFill>
              </a:rPr>
              <a:t>3</a:t>
            </a:r>
            <a:r>
              <a:rPr lang="en-US" altLang="en-US" sz="2600" b="1">
                <a:latin typeface="Times New Roman" panose="02020603050405020304" pitchFamily="18" charset="0"/>
              </a:rPr>
              <a:t> variables:</a:t>
            </a: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>
                <a:latin typeface="Times New Roman" panose="02020603050405020304" pitchFamily="18" charset="0"/>
              </a:rPr>
              <a:t>	</a:t>
            </a:r>
            <a:r>
              <a:rPr lang="en-US" altLang="en-US" sz="2600" b="1">
                <a:solidFill>
                  <a:srgbClr val="006B61"/>
                </a:solidFill>
              </a:rPr>
              <a:t>1</a:t>
            </a:r>
            <a:r>
              <a:rPr lang="en-US" altLang="en-US" sz="2600" b="1">
                <a:latin typeface="Times New Roman" panose="02020603050405020304" pitchFamily="18" charset="0"/>
              </a:rPr>
              <a:t>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the employee’s gross earnings</a:t>
            </a:r>
            <a:endParaRPr lang="en-US" altLang="en-US" sz="2600" b="1">
              <a:latin typeface="Times New Roman" panose="02020603050405020304" pitchFamily="18" charset="0"/>
            </a:endParaRP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600" b="1">
                <a:solidFill>
                  <a:srgbClr val="006B61"/>
                </a:solidFill>
              </a:rPr>
              <a:t>2</a:t>
            </a:r>
            <a:r>
              <a:rPr lang="en-US" altLang="en-US" sz="2600" b="1">
                <a:latin typeface="Times New Roman" panose="02020603050405020304" pitchFamily="18" charset="0"/>
              </a:rPr>
              <a:t>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the number of allowances claimed by                       	the employee</a:t>
            </a:r>
          </a:p>
          <a:p>
            <a:pPr marL="466725" indent="-466725" defTabSz="738188" eaLnBrk="1" hangingPunct="1">
              <a:lnSpc>
                <a:spcPct val="90000"/>
              </a:lnSpc>
              <a:buFontTx/>
              <a:buNone/>
            </a:pPr>
            <a:r>
              <a:rPr lang="en-US" altLang="en-US" sz="2600" b="1">
                <a:latin typeface="Times New Roman" panose="02020603050405020304" pitchFamily="18" charset="0"/>
              </a:rPr>
              <a:t>	</a:t>
            </a:r>
            <a:r>
              <a:rPr lang="en-US" altLang="en-US" sz="2600" b="1">
                <a:solidFill>
                  <a:srgbClr val="006B61"/>
                </a:solidFill>
              </a:rPr>
              <a:t>3</a:t>
            </a:r>
            <a:r>
              <a:rPr lang="en-US" altLang="en-US" sz="2600" b="1">
                <a:latin typeface="Times New Roman" panose="02020603050405020304" pitchFamily="18" charset="0"/>
              </a:rPr>
              <a:t>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the length of the pay period</a:t>
            </a:r>
            <a:endParaRPr lang="en-US" altLang="en-US" sz="2600" b="1">
              <a:latin typeface="Times New Roman" panose="02020603050405020304" pitchFamily="18" charset="0"/>
            </a:endParaRPr>
          </a:p>
          <a:p>
            <a:pPr marL="466725" indent="-466725" defTabSz="738188" eaLnBrk="1" hangingPunct="1">
              <a:lnSpc>
                <a:spcPct val="120000"/>
              </a:lnSpc>
              <a:buClr>
                <a:srgbClr val="006B61"/>
              </a:buClr>
            </a:pPr>
            <a:r>
              <a:rPr lang="en-US" altLang="en-US" sz="2600" b="1">
                <a:latin typeface="Times New Roman" panose="02020603050405020304" pitchFamily="18" charset="0"/>
              </a:rPr>
              <a:t>To indicate to the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Internal Revenue Service</a:t>
            </a:r>
            <a:r>
              <a:rPr lang="en-US" altLang="en-US" sz="2600" b="1">
                <a:latin typeface="Times New Roman" panose="02020603050405020304" pitchFamily="18" charset="0"/>
              </a:rPr>
              <a:t> the number of allowances claimed, the employee must complete an </a:t>
            </a:r>
            <a:r>
              <a:rPr lang="en-US" altLang="en-US" sz="2600" b="1">
                <a:solidFill>
                  <a:srgbClr val="CF0E30"/>
                </a:solidFill>
                <a:latin typeface="Times New Roman" panose="02020603050405020304" pitchFamily="18" charset="0"/>
              </a:rPr>
              <a:t>Employee’s Withholding Certificate</a:t>
            </a:r>
            <a:r>
              <a:rPr lang="en-US" altLang="en-US" sz="26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D351ED1-670B-4AD0-AB36-90F9C9794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9913" y="522288"/>
            <a:ext cx="5449887" cy="519112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INCOME TAXES 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267118E9-4B9B-4C36-8670-0A3806AEB36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2143125"/>
            <a:ext cx="21050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E9987E6-DC78-4909-A55C-542BBBD79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94650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VOLUNTARY DEDUCTIONS 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CB2C6FB-950B-477B-94DA-5395AB41F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1851025"/>
            <a:ext cx="7240588" cy="4829175"/>
          </a:xfrm>
          <a:noFill/>
        </p:spPr>
        <p:txBody>
          <a:bodyPr lIns="91583" tIns="45040" rIns="91583" bIns="45040"/>
          <a:lstStyle/>
          <a:p>
            <a:pPr marL="457200" indent="-457200" defTabSz="966788" eaLnBrk="1" hangingPunct="1">
              <a:buClr>
                <a:srgbClr val="006B61"/>
              </a:buClr>
            </a:pPr>
            <a:r>
              <a:rPr lang="en-US" altLang="en-US" sz="3400" b="1">
                <a:solidFill>
                  <a:srgbClr val="CF0E30"/>
                </a:solidFill>
                <a:latin typeface="Times New Roman" panose="02020603050405020304" pitchFamily="18" charset="0"/>
              </a:rPr>
              <a:t>Voluntary Deductions </a:t>
            </a:r>
          </a:p>
          <a:p>
            <a:pPr marL="871538" lvl="1" indent="-300038" defTabSz="966788" eaLnBrk="1" hangingPunct="1">
              <a:buClr>
                <a:srgbClr val="006B61"/>
              </a:buClr>
              <a:buFont typeface="Times New Roman" panose="02020603050405020304" pitchFamily="18" charset="0"/>
              <a:buChar char="–"/>
            </a:pPr>
            <a:r>
              <a:rPr lang="en-US" altLang="en-US" sz="2600" b="1">
                <a:latin typeface="Times New Roman" panose="02020603050405020304" pitchFamily="18" charset="0"/>
              </a:rPr>
              <a:t>pertain to withholdings for charitable, retirement, and other purposes  </a:t>
            </a:r>
          </a:p>
          <a:p>
            <a:pPr marL="871538" lvl="1" indent="-300038" defTabSz="966788" eaLnBrk="1" hangingPunct="1">
              <a:buClr>
                <a:srgbClr val="006B61"/>
              </a:buClr>
              <a:buFont typeface="Times New Roman" panose="02020603050405020304" pitchFamily="18" charset="0"/>
              <a:buChar char="–"/>
            </a:pPr>
            <a:r>
              <a:rPr lang="en-US" altLang="en-US" sz="2600" b="1">
                <a:latin typeface="Times New Roman" panose="02020603050405020304" pitchFamily="18" charset="0"/>
              </a:rPr>
              <a:t>authorized in  writing by the employee.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7CA0A3D0-5903-4B79-B413-23B1D2EB832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2714625"/>
            <a:ext cx="168592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charRg st="13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69054BB-8EE0-457A-9245-6940ED0F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1797050"/>
            <a:ext cx="7504113" cy="341153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graphicFrame>
        <p:nvGraphicFramePr>
          <p:cNvPr id="14339" name="Object 3">
            <a:hlinkClick r:id="" action="ppaction://ole?verb=0"/>
            <a:extLst>
              <a:ext uri="{FF2B5EF4-FFF2-40B4-BE49-F238E27FC236}">
                <a16:creationId xmlns:a16="http://schemas.microsoft.com/office/drawing/2014/main" id="{F3D34B25-F392-45A8-ADD5-98FD17E1DF2D}"/>
              </a:ext>
            </a:extLst>
          </p:cNvPr>
          <p:cNvGraphicFramePr>
            <a:graphicFrameLocks/>
          </p:cNvGraphicFramePr>
          <p:nvPr/>
        </p:nvGraphicFramePr>
        <p:xfrm>
          <a:off x="871538" y="1857375"/>
          <a:ext cx="7442200" cy="330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Document" r:id="rId4" imgW="8973312" imgH="2865120" progId="Word.Document.8">
                  <p:embed/>
                </p:oleObj>
              </mc:Choice>
              <mc:Fallback>
                <p:oleObj name="Document" r:id="rId4" imgW="8973312" imgH="286512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12" r="36496" b="13326"/>
                      <a:stretch>
                        <a:fillRect/>
                      </a:stretch>
                    </p:blipFill>
                    <p:spPr bwMode="auto">
                      <a:xfrm>
                        <a:off x="871538" y="1857375"/>
                        <a:ext cx="7442200" cy="33004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4">
            <a:extLst>
              <a:ext uri="{FF2B5EF4-FFF2-40B4-BE49-F238E27FC236}">
                <a16:creationId xmlns:a16="http://schemas.microsoft.com/office/drawing/2014/main" id="{FA1DFEE8-42B4-4052-BCC5-BD783FBF5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9800" y="5392738"/>
            <a:ext cx="7240588" cy="1331912"/>
          </a:xfrm>
          <a:solidFill>
            <a:srgbClr val="DADADA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lIns="91583" tIns="45040" rIns="91583" bIns="45040"/>
          <a:lstStyle/>
          <a:p>
            <a:pPr marL="0" indent="0" defTabSz="966788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Net Pay</a:t>
            </a:r>
            <a:r>
              <a:rPr lang="en-US" altLang="en-US" sz="2000" b="1">
                <a:latin typeface="Times New Roman" panose="02020603050405020304" pitchFamily="18" charset="0"/>
              </a:rPr>
              <a:t> (or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take-home pay</a:t>
            </a:r>
            <a:r>
              <a:rPr lang="en-US" altLang="en-US" sz="2000" b="1">
                <a:latin typeface="Times New Roman" panose="02020603050405020304" pitchFamily="18" charset="0"/>
              </a:rPr>
              <a:t>) is determined by subtracting payroll deductions from gross earnings.  Assuming an employee’s wages are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₦552</a:t>
            </a:r>
            <a:r>
              <a:rPr lang="en-US" altLang="en-US" sz="2000" b="1">
                <a:latin typeface="Times New Roman" panose="02020603050405020304" pitchFamily="18" charset="0"/>
              </a:rPr>
              <a:t> each week, the employee will earn 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₦28,704</a:t>
            </a:r>
            <a:r>
              <a:rPr lang="en-US" altLang="en-US" sz="2000" b="1">
                <a:latin typeface="Times New Roman" panose="02020603050405020304" pitchFamily="18" charset="0"/>
              </a:rPr>
              <a:t> for the year (</a:t>
            </a:r>
            <a:r>
              <a:rPr lang="en-US" altLang="en-US" sz="2000" b="1">
                <a:solidFill>
                  <a:srgbClr val="CF0E30"/>
                </a:solidFill>
                <a:latin typeface="Times New Roman" panose="02020603050405020304" pitchFamily="18" charset="0"/>
              </a:rPr>
              <a:t>52 weeks X ₦552</a:t>
            </a:r>
            <a:r>
              <a:rPr lang="en-US" altLang="en-US" sz="2000" b="1">
                <a:latin typeface="Times New Roman" panose="02020603050405020304" pitchFamily="18" charset="0"/>
              </a:rPr>
              <a:t>).  Thus, all earnings are subject to FICA taxes.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67A42787-3579-4FE1-B469-CF16CA8BA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09563"/>
            <a:ext cx="7508875" cy="6556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800" b="1">
                <a:solidFill>
                  <a:srgbClr val="000099"/>
                </a:solidFill>
              </a:rPr>
              <a:t>COMPUTATION OF NET PAY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C66D06D-1448-4895-80FE-D99232145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4975" y="1357313"/>
            <a:ext cx="8024813" cy="5311775"/>
          </a:xfrm>
          <a:noFill/>
        </p:spPr>
        <p:txBody>
          <a:bodyPr lIns="91583" tIns="45040" rIns="91583" bIns="45040"/>
          <a:lstStyle/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3400" b="1">
                <a:solidFill>
                  <a:srgbClr val="CF0E30"/>
                </a:solidFill>
                <a:latin typeface="Times New Roman" panose="02020603050405020304" pitchFamily="18" charset="0"/>
              </a:rPr>
              <a:t>Employee earnings record 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1 file state and federal payroll tax returns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FontTx/>
              <a:buNone/>
            </a:pP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	2 provides each employee with a statement of gross 	earnings and tax withholdings for the year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marL="361950" indent="-361950" defTabSz="628650" eaLnBrk="1" hangingPunct="1">
              <a:buClr>
                <a:srgbClr val="006B61"/>
              </a:buClr>
            </a:pPr>
            <a:r>
              <a:rPr lang="en-US" altLang="en-US" sz="2800" b="1">
                <a:latin typeface="Times New Roman" panose="02020603050405020304" pitchFamily="18" charset="0"/>
              </a:rPr>
              <a:t>Many companies use a </a:t>
            </a:r>
            <a:r>
              <a:rPr lang="en-US" altLang="en-US" sz="2800" b="1">
                <a:solidFill>
                  <a:srgbClr val="CF0E30"/>
                </a:solidFill>
                <a:latin typeface="Times New Roman" panose="02020603050405020304" pitchFamily="18" charset="0"/>
              </a:rPr>
              <a:t>payroll register </a:t>
            </a:r>
            <a:r>
              <a:rPr lang="en-US" altLang="en-US" sz="2800" b="1">
                <a:latin typeface="Times New Roman" panose="02020603050405020304" pitchFamily="18" charset="0"/>
              </a:rPr>
              <a:t>to accumulate the gross earnings, deductions, and net pay by employee for each period.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A2B30D4-56B4-4050-B14E-2F94BB6EF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142875"/>
            <a:ext cx="7546975" cy="1357313"/>
          </a:xfrm>
          <a:effectLst>
            <a:outerShdw dist="35921" dir="2700000" algn="ctr" rotWithShape="0">
              <a:srgbClr val="006B61"/>
            </a:outerShdw>
          </a:effectLst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RECORDING THE PAYROLL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136A2FC-E005-472E-B2C5-2879527AE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638"/>
            <a:ext cx="9144000" cy="116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RECOGNIZING PAYROLL EXPENSES AND LIABILITIES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8902C83-0979-47C4-BADF-4D49234B9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989513"/>
            <a:ext cx="8785225" cy="192722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20000"/>
              </a:spcBef>
            </a:pPr>
            <a:r>
              <a:rPr lang="en-US" altLang="en-US" sz="2100" b="1">
                <a:latin typeface="Times New Roman" panose="02020603050405020304" pitchFamily="18" charset="0"/>
              </a:rPr>
              <a:t>Academy Company records its payroll for the week ending January 14, 2005 with the journal entry above. 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Office Salaries Expense</a:t>
            </a:r>
            <a:r>
              <a:rPr lang="en-US" altLang="en-US" sz="2100" b="1">
                <a:latin typeface="Times New Roman" panose="02020603050405020304" pitchFamily="18" charset="0"/>
              </a:rPr>
              <a:t> (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₦5,200</a:t>
            </a:r>
            <a:r>
              <a:rPr lang="en-US" altLang="en-US" sz="2100" b="1">
                <a:latin typeface="Times New Roman" panose="02020603050405020304" pitchFamily="18" charset="0"/>
              </a:rPr>
              <a:t>) and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Wages Payable</a:t>
            </a:r>
            <a:r>
              <a:rPr lang="en-US" altLang="en-US" sz="2100" b="1">
                <a:latin typeface="Times New Roman" panose="02020603050405020304" pitchFamily="18" charset="0"/>
              </a:rPr>
              <a:t> (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₦12,010</a:t>
            </a:r>
            <a:r>
              <a:rPr lang="en-US" altLang="en-US" sz="2100" b="1">
                <a:latin typeface="Times New Roman" panose="02020603050405020304" pitchFamily="18" charset="0"/>
              </a:rPr>
              <a:t>) are debited in total for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</a:t>
            </a:r>
            <a:r>
              <a:rPr lang="en-US" altLang="en-US" sz="2100" b="1">
                <a:latin typeface="Times New Roman" panose="02020603050405020304" pitchFamily="18" charset="0"/>
              </a:rPr>
              <a:t> in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gross earnings</a:t>
            </a:r>
            <a:r>
              <a:rPr lang="en-US" altLang="en-US" sz="2100" b="1">
                <a:latin typeface="Times New Roman" panose="02020603050405020304" pitchFamily="18" charset="0"/>
              </a:rPr>
              <a:t>.  Specific liability accounts are credited for the deductions made during the pay period. 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 Payable </a:t>
            </a:r>
            <a:r>
              <a:rPr lang="en-US" altLang="en-US" sz="2100" b="1">
                <a:latin typeface="Times New Roman" panose="02020603050405020304" pitchFamily="18" charset="0"/>
              </a:rPr>
              <a:t>is credited for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₦11,462.50 </a:t>
            </a:r>
            <a:r>
              <a:rPr lang="en-US" altLang="en-US" sz="2100" b="1">
                <a:latin typeface="Times New Roman" panose="02020603050405020304" pitchFamily="18" charset="0"/>
              </a:rPr>
              <a:t>in </a:t>
            </a:r>
            <a:r>
              <a:rPr lang="en-US" altLang="en-US" sz="2100" b="1">
                <a:solidFill>
                  <a:srgbClr val="CF0E30"/>
                </a:solidFill>
                <a:latin typeface="Times New Roman" panose="02020603050405020304" pitchFamily="18" charset="0"/>
              </a:rPr>
              <a:t>net earnings</a:t>
            </a:r>
            <a:r>
              <a:rPr lang="en-US" altLang="en-US" sz="2100" b="1">
                <a:latin typeface="Times New Roman" panose="02020603050405020304" pitchFamily="18" charset="0"/>
              </a:rPr>
              <a:t>.                         </a:t>
            </a:r>
          </a:p>
        </p:txBody>
      </p:sp>
      <p:graphicFrame>
        <p:nvGraphicFramePr>
          <p:cNvPr id="16388" name="Object 4">
            <a:extLst>
              <a:ext uri="{FF2B5EF4-FFF2-40B4-BE49-F238E27FC236}">
                <a16:creationId xmlns:a16="http://schemas.microsoft.com/office/drawing/2014/main" id="{B7735DAA-6F49-40A9-8A90-BC929BD13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2975" y="1571625"/>
          <a:ext cx="7112000" cy="344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Worksheet" r:id="rId4" imgW="3324463" imgH="1790938" progId="Excel.Sheet.8">
                  <p:embed/>
                </p:oleObj>
              </mc:Choice>
              <mc:Fallback>
                <p:oleObj name="Worksheet" r:id="rId4" imgW="3324463" imgH="1790938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1571625"/>
                        <a:ext cx="7112000" cy="344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5">
            <a:extLst>
              <a:ext uri="{FF2B5EF4-FFF2-40B4-BE49-F238E27FC236}">
                <a16:creationId xmlns:a16="http://schemas.microsoft.com/office/drawing/2014/main" id="{90C91AB6-677C-4AC9-AFF8-6D6C6B426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025" y="2143125"/>
            <a:ext cx="6908800" cy="259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Jan 14        Office Salaries Expense                  5,200.00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                  Wages Expense                             12,010.00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		FICA                                                         1,376.80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		Federal Income Taxes Pay.                       3,490.00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		State Income Taxes Pay.                              344.20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		United Fund Pay.                                         421.50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		Union Dues Pay.                                          115.00</a:t>
            </a:r>
          </a:p>
          <a:p>
            <a:pPr>
              <a:lnSpc>
                <a:spcPct val="110000"/>
              </a:lnSpc>
            </a:pPr>
            <a:r>
              <a:rPr lang="en-US" altLang="en-US" sz="1900">
                <a:latin typeface="Times New Roman" panose="02020603050405020304" pitchFamily="18" charset="0"/>
              </a:rPr>
              <a:t>		Salaries and Wages Pay.                         11,462.50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AD68E83-B054-40F9-9399-F15B1C462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F3671DE-1497-4F01-A158-36EC63D5B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E6DA8616-85B6-4CC5-B1E0-FB8933B19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610100"/>
            <a:ext cx="6375400" cy="185420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latin typeface="Times New Roman" panose="02020603050405020304" pitchFamily="18" charset="0"/>
              </a:rPr>
              <a:t>The entry to record payment of the Academy Company payroll is a debit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Salaries and Wages Payable </a:t>
            </a:r>
            <a:r>
              <a:rPr lang="en-US" altLang="en-US" sz="2300" b="1">
                <a:latin typeface="Times New Roman" panose="02020603050405020304" pitchFamily="18" charset="0"/>
              </a:rPr>
              <a:t>and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Cash</a:t>
            </a:r>
            <a:r>
              <a:rPr lang="en-US" altLang="en-US" sz="2300" b="1">
                <a:latin typeface="Times New Roman" panose="02020603050405020304" pitchFamily="18" charset="0"/>
              </a:rPr>
              <a:t>.  When currency is used in payment, one check is prepared for the amount of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net earnings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₦11,462.50</a:t>
            </a:r>
            <a:r>
              <a:rPr lang="en-US" altLang="en-US" sz="2300" b="1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B30BDCC3-B41E-4360-AB35-C6F4E97E9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74638"/>
            <a:ext cx="5667375" cy="116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RECORDING PAYMENT OF THE PAYROLL</a:t>
            </a:r>
          </a:p>
        </p:txBody>
      </p:sp>
      <p:graphicFrame>
        <p:nvGraphicFramePr>
          <p:cNvPr id="17414" name="Object 6">
            <a:extLst>
              <a:ext uri="{FF2B5EF4-FFF2-40B4-BE49-F238E27FC236}">
                <a16:creationId xmlns:a16="http://schemas.microsoft.com/office/drawing/2014/main" id="{793281C2-4A78-4D7F-A91B-904720AC79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538" y="1785938"/>
          <a:ext cx="7473950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1785938"/>
                        <a:ext cx="7473950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>
            <a:extLst>
              <a:ext uri="{FF2B5EF4-FFF2-40B4-BE49-F238E27FC236}">
                <a16:creationId xmlns:a16="http://schemas.microsoft.com/office/drawing/2014/main" id="{004212F1-2167-4B3E-B970-A2DE5789D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150" y="2466975"/>
            <a:ext cx="74898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>
                <a:latin typeface="Times New Roman" panose="02020603050405020304" pitchFamily="18" charset="0"/>
              </a:rPr>
              <a:t>Jan. 14      Salaries and Wages Pay.       11,462.50</a:t>
            </a:r>
          </a:p>
          <a:p>
            <a:r>
              <a:rPr lang="en-US" altLang="en-US" sz="2300">
                <a:latin typeface="Times New Roman" panose="02020603050405020304" pitchFamily="18" charset="0"/>
              </a:rPr>
              <a:t>		Cash				         11,462.50			</a:t>
            </a:r>
          </a:p>
        </p:txBody>
      </p:sp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F81A2F8-F797-43D0-806B-93326077D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322263"/>
            <a:ext cx="6794500" cy="11144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RECORDING EMPLOYER PAYROLL TAXES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1CDDA6C-0570-45B4-8FE6-8F1E96081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771650"/>
            <a:ext cx="7502525" cy="2208213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latin typeface="Times New Roman" panose="02020603050405020304" pitchFamily="18" charset="0"/>
              </a:rPr>
              <a:t>The entry to record the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payroll tax expense </a:t>
            </a:r>
            <a:r>
              <a:rPr lang="en-US" altLang="en-US" sz="2300" b="1">
                <a:latin typeface="Times New Roman" panose="02020603050405020304" pitchFamily="18" charset="0"/>
              </a:rPr>
              <a:t>associated with the Academy Company payroll results in a debit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Payroll Tax Expense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₦2,443.82</a:t>
            </a:r>
            <a:r>
              <a:rPr lang="en-US" altLang="en-US" sz="2300" b="1">
                <a:latin typeface="Times New Roman" panose="02020603050405020304" pitchFamily="18" charset="0"/>
              </a:rPr>
              <a:t>,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FICA Taxes Payable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₦1,376.80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 X 8%</a:t>
            </a:r>
            <a:r>
              <a:rPr lang="en-US" altLang="en-US" sz="2300" b="1">
                <a:latin typeface="Times New Roman" panose="02020603050405020304" pitchFamily="18" charset="0"/>
              </a:rPr>
              <a:t>),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FUTA Payable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₦137.68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 X 0.8%</a:t>
            </a:r>
            <a:r>
              <a:rPr lang="en-US" altLang="en-US" sz="2300" b="1">
                <a:latin typeface="Times New Roman" panose="02020603050405020304" pitchFamily="18" charset="0"/>
              </a:rPr>
              <a:t>), and a credit to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SUTA Payable</a:t>
            </a:r>
            <a:r>
              <a:rPr lang="en-US" altLang="en-US" sz="2300" b="1">
                <a:latin typeface="Times New Roman" panose="02020603050405020304" pitchFamily="18" charset="0"/>
              </a:rPr>
              <a:t> for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₦929.34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₦17,210 X 5.4%</a:t>
            </a:r>
            <a:r>
              <a:rPr lang="en-US" altLang="en-US" sz="2300" b="1">
                <a:latin typeface="Times New Roman" panose="02020603050405020304" pitchFamily="18" charset="0"/>
              </a:rPr>
              <a:t>). </a:t>
            </a:r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2B808C5D-B22E-4077-9E7C-E6DC8A46E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0463" y="4214813"/>
          <a:ext cx="6965950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4214813"/>
                        <a:ext cx="6965950" cy="235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5">
            <a:extLst>
              <a:ext uri="{FF2B5EF4-FFF2-40B4-BE49-F238E27FC236}">
                <a16:creationId xmlns:a16="http://schemas.microsoft.com/office/drawing/2014/main" id="{136C6AE1-3B87-4DBD-896A-463FC27F2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4929188"/>
            <a:ext cx="7635875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en-US" sz="1600">
                <a:latin typeface="Times New Roman" panose="02020603050405020304" pitchFamily="18" charset="0"/>
              </a:rPr>
              <a:t>Jan 14.        Payroll Tax Expense  	                   2,443.82</a:t>
            </a:r>
          </a:p>
          <a:p>
            <a:pPr>
              <a:lnSpc>
                <a:spcPct val="125000"/>
              </a:lnSpc>
            </a:pPr>
            <a:r>
              <a:rPr lang="en-US" altLang="en-US" sz="1600">
                <a:latin typeface="Times New Roman" panose="02020603050405020304" pitchFamily="18" charset="0"/>
              </a:rPr>
              <a:t>	        FICA Taxes Pay.  		                         1,376.80</a:t>
            </a:r>
          </a:p>
          <a:p>
            <a:pPr>
              <a:lnSpc>
                <a:spcPct val="125000"/>
              </a:lnSpc>
            </a:pPr>
            <a:r>
              <a:rPr lang="en-US" altLang="en-US" sz="1600">
                <a:latin typeface="Times New Roman" panose="02020603050405020304" pitchFamily="18" charset="0"/>
              </a:rPr>
              <a:t>	        Federal Unemployment Taxes Pay.                                137.68</a:t>
            </a:r>
          </a:p>
          <a:p>
            <a:pPr>
              <a:lnSpc>
                <a:spcPct val="125000"/>
              </a:lnSpc>
            </a:pPr>
            <a:r>
              <a:rPr lang="en-US" altLang="en-US" sz="1600">
                <a:latin typeface="Times New Roman" panose="02020603050405020304" pitchFamily="18" charset="0"/>
              </a:rPr>
              <a:t>	        State Unemployment Taxes Pay. 	                             929.34</a:t>
            </a:r>
          </a:p>
          <a:p>
            <a:pPr>
              <a:lnSpc>
                <a:spcPct val="125000"/>
              </a:lnSpc>
            </a:pPr>
            <a:r>
              <a:rPr lang="en-US" altLang="en-US" sz="1600">
                <a:latin typeface="Times New Roman" panose="02020603050405020304" pitchFamily="18" charset="0"/>
              </a:rPr>
              <a:t>		</a:t>
            </a: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>
            <a:extLst>
              <a:ext uri="{FF2B5EF4-FFF2-40B4-BE49-F238E27FC236}">
                <a16:creationId xmlns:a16="http://schemas.microsoft.com/office/drawing/2014/main" id="{900BFA74-1AC6-45D1-8A64-2561F39B5768}"/>
              </a:ext>
            </a:extLst>
          </p:cNvPr>
          <p:cNvGrpSpPr>
            <a:grpSpLocks/>
          </p:cNvGrpSpPr>
          <p:nvPr/>
        </p:nvGrpSpPr>
        <p:grpSpPr bwMode="auto">
          <a:xfrm>
            <a:off x="368300" y="1785938"/>
            <a:ext cx="8445500" cy="3713162"/>
            <a:chOff x="271" y="54"/>
            <a:chExt cx="5586" cy="2495"/>
          </a:xfrm>
        </p:grpSpPr>
        <p:sp>
          <p:nvSpPr>
            <p:cNvPr id="19460" name="Rectangle 3">
              <a:extLst>
                <a:ext uri="{FF2B5EF4-FFF2-40B4-BE49-F238E27FC236}">
                  <a16:creationId xmlns:a16="http://schemas.microsoft.com/office/drawing/2014/main" id="{95AE9C98-0FC5-4BFF-8D21-67319180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54"/>
              <a:ext cx="5140" cy="1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83" tIns="45040" rIns="91583" bIns="45040" anchor="ctr"/>
            <a:lstStyle>
              <a:lvl1pPr defTabSz="908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08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08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08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080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2300" b="1">
                <a:solidFill>
                  <a:srgbClr val="CF0E30"/>
                </a:solidFill>
              </a:endParaRPr>
            </a:p>
          </p:txBody>
        </p:sp>
        <p:sp>
          <p:nvSpPr>
            <p:cNvPr id="19461" name="Rectangle 4">
              <a:extLst>
                <a:ext uri="{FF2B5EF4-FFF2-40B4-BE49-F238E27FC236}">
                  <a16:creationId xmlns:a16="http://schemas.microsoft.com/office/drawing/2014/main" id="{22FC1BD2-8F1F-499D-9C95-718CC8F69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" y="1238"/>
              <a:ext cx="5586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577" tIns="42038" rIns="85577" bIns="42038">
              <a:spAutoFit/>
            </a:bodyPr>
            <a:lstStyle>
              <a:lvl1pPr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7300" b="1">
                  <a:solidFill>
                    <a:srgbClr val="063DE8"/>
                  </a:solidFill>
                </a:rPr>
                <a:t>................................</a:t>
              </a:r>
            </a:p>
          </p:txBody>
        </p:sp>
        <p:sp>
          <p:nvSpPr>
            <p:cNvPr id="44037" name="AutoShape 5">
              <a:extLst>
                <a:ext uri="{FF2B5EF4-FFF2-40B4-BE49-F238E27FC236}">
                  <a16:creationId xmlns:a16="http://schemas.microsoft.com/office/drawing/2014/main" id="{DFB52C92-CD68-4964-B60B-8E86FF3933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09" y="1370"/>
              <a:ext cx="1726" cy="1179"/>
            </a:xfrm>
            <a:prstGeom prst="triangle">
              <a:avLst>
                <a:gd name="adj" fmla="val 49995"/>
              </a:avLst>
            </a:prstGeom>
            <a:solidFill>
              <a:srgbClr val="006B6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9459" name="Rectangle 6">
            <a:extLst>
              <a:ext uri="{FF2B5EF4-FFF2-40B4-BE49-F238E27FC236}">
                <a16:creationId xmlns:a16="http://schemas.microsoft.com/office/drawing/2014/main" id="{56517BD3-4CDC-4135-AB32-90E34E70B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500063"/>
            <a:ext cx="7867650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800" b="1"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en-US" altLang="en-US" sz="3800" b="1">
                <a:solidFill>
                  <a:schemeClr val="accent2"/>
                </a:solidFill>
                <a:latin typeface="Arial Black" panose="020B0A04020102020204" pitchFamily="34" charset="0"/>
              </a:rPr>
              <a:t>Additional Fringe Benefits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4245278-C259-48E2-8DDC-1FC457B71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668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000099"/>
                </a:solidFill>
                <a:latin typeface="Arial Black" panose="020B0A04020102020204" pitchFamily="34" charset="0"/>
              </a:rPr>
              <a:t>ADDITIONAL FRINGE BENEFITS</a:t>
            </a:r>
            <a:r>
              <a:rPr lang="en-US" altLang="en-US" sz="3400" b="1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altLang="en-US" sz="3400" b="1">
                <a:solidFill>
                  <a:srgbClr val="006B61"/>
                </a:solidFill>
              </a:rPr>
              <a:t>PAID ABSENCES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EB4C2C6-8D61-42D7-A6E2-D9BEE9A4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8" y="1554163"/>
            <a:ext cx="9083675" cy="344805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2300" b="1">
                <a:latin typeface="Times New Roman" panose="02020603050405020304" pitchFamily="18" charset="0"/>
              </a:rPr>
              <a:t>Employees often are given rights to receive compensation for  absences when certain conditions of employment are met.  Such compensation may relate to </a:t>
            </a:r>
            <a:r>
              <a:rPr lang="en-US" altLang="en-US" sz="2300" b="1"/>
              <a:t>1)</a:t>
            </a:r>
            <a:r>
              <a:rPr lang="en-US" altLang="en-US" sz="2300" b="1">
                <a:latin typeface="Times New Roman" panose="02020603050405020304" pitchFamily="18" charset="0"/>
              </a:rPr>
              <a:t>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paid vacations</a:t>
            </a:r>
            <a:r>
              <a:rPr lang="en-US" altLang="en-US" sz="2300" b="1">
                <a:latin typeface="Times New Roman" panose="02020603050405020304" pitchFamily="18" charset="0"/>
              </a:rPr>
              <a:t>,   </a:t>
            </a:r>
            <a:r>
              <a:rPr lang="en-US" altLang="en-US" sz="2300" b="1"/>
              <a:t>2)</a:t>
            </a:r>
            <a:r>
              <a:rPr lang="en-US" altLang="en-US" sz="2300" b="1">
                <a:latin typeface="Times New Roman" panose="02020603050405020304" pitchFamily="18" charset="0"/>
              </a:rPr>
              <a:t>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sick pay benefits</a:t>
            </a:r>
            <a:r>
              <a:rPr lang="en-US" altLang="en-US" sz="2300" b="1">
                <a:latin typeface="Times New Roman" panose="02020603050405020304" pitchFamily="18" charset="0"/>
              </a:rPr>
              <a:t>, and </a:t>
            </a:r>
            <a:r>
              <a:rPr lang="en-US" altLang="en-US" sz="2300" b="1">
                <a:solidFill>
                  <a:schemeClr val="tx2"/>
                </a:solidFill>
              </a:rPr>
              <a:t>3</a:t>
            </a:r>
            <a:r>
              <a:rPr lang="en-US" altLang="en-US" sz="2300" b="1">
                <a:latin typeface="Times New Roman" panose="02020603050405020304" pitchFamily="18" charset="0"/>
              </a:rPr>
              <a:t>)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paid holidays</a:t>
            </a:r>
            <a:r>
              <a:rPr lang="en-US" altLang="en-US" sz="2300" b="1">
                <a:latin typeface="Times New Roman" panose="02020603050405020304" pitchFamily="18" charset="0"/>
              </a:rPr>
              <a:t>.  A liability should be accrued for paid future absences if </a:t>
            </a:r>
            <a:r>
              <a:rPr lang="en-US" altLang="en-US" sz="2300" b="1">
                <a:solidFill>
                  <a:schemeClr val="tx2"/>
                </a:solidFill>
              </a:rPr>
              <a:t>1)</a:t>
            </a:r>
            <a:r>
              <a:rPr lang="en-US" altLang="en-US" sz="2300" b="1">
                <a:latin typeface="Times New Roman" panose="02020603050405020304" pitchFamily="18" charset="0"/>
              </a:rPr>
              <a:t>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its payment is probable</a:t>
            </a:r>
            <a:r>
              <a:rPr lang="en-US" altLang="en-US" sz="2300" b="1">
                <a:latin typeface="Times New Roman" panose="02020603050405020304" pitchFamily="18" charset="0"/>
              </a:rPr>
              <a:t> and </a:t>
            </a:r>
            <a:r>
              <a:rPr lang="en-US" altLang="en-US" sz="2300" b="1"/>
              <a:t>2)</a:t>
            </a:r>
            <a:r>
              <a:rPr lang="en-US" altLang="en-US" sz="2300" b="1">
                <a:latin typeface="Times New Roman" panose="02020603050405020304" pitchFamily="18" charset="0"/>
              </a:rPr>
              <a:t>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the amount can be reasonably estimated</a:t>
            </a:r>
            <a:r>
              <a:rPr lang="en-US" altLang="en-US" sz="2300" b="1">
                <a:latin typeface="Times New Roman" panose="02020603050405020304" pitchFamily="18" charset="0"/>
              </a:rPr>
              <a:t>.  Academy Company employees are entitled to one day’s vacation for each month worked.  If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30</a:t>
            </a:r>
            <a:r>
              <a:rPr lang="en-US" altLang="en-US" sz="2300" b="1">
                <a:latin typeface="Times New Roman" panose="02020603050405020304" pitchFamily="18" charset="0"/>
              </a:rPr>
              <a:t> employees earn an average of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₦110</a:t>
            </a:r>
            <a:r>
              <a:rPr lang="en-US" altLang="en-US" sz="2300" b="1">
                <a:latin typeface="Times New Roman" panose="02020603050405020304" pitchFamily="18" charset="0"/>
              </a:rPr>
              <a:t> per day in a given month, the accrual for vacation benefits for January is 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₦3,300</a:t>
            </a:r>
            <a:r>
              <a:rPr lang="en-US" altLang="en-US" sz="2300" b="1">
                <a:latin typeface="Times New Roman" panose="02020603050405020304" pitchFamily="18" charset="0"/>
              </a:rPr>
              <a:t> (</a:t>
            </a:r>
            <a:r>
              <a:rPr lang="en-US" altLang="en-US" sz="2300" b="1">
                <a:solidFill>
                  <a:srgbClr val="CF0E30"/>
                </a:solidFill>
                <a:latin typeface="Times New Roman" panose="02020603050405020304" pitchFamily="18" charset="0"/>
              </a:rPr>
              <a:t>₦110 X 30</a:t>
            </a:r>
            <a:r>
              <a:rPr lang="en-US" altLang="en-US" sz="2300" b="1">
                <a:latin typeface="Times New Roman" panose="02020603050405020304" pitchFamily="18" charset="0"/>
              </a:rPr>
              <a:t>).  The liability is recognized at January 31 by the following adjusting entry: 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1F26980F-0B35-4335-9BFC-CEEC17C058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1488" y="4929188"/>
          <a:ext cx="6154737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929188"/>
                        <a:ext cx="6154737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>
            <a:extLst>
              <a:ext uri="{FF2B5EF4-FFF2-40B4-BE49-F238E27FC236}">
                <a16:creationId xmlns:a16="http://schemas.microsoft.com/office/drawing/2014/main" id="{49049B0E-9F50-4171-A7FB-12356A9B0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5465763"/>
            <a:ext cx="5892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latin typeface="Times New Roman" panose="02020603050405020304" pitchFamily="18" charset="0"/>
              </a:rPr>
              <a:t>Jan. 31       Vacation Benefits Exp.                      3,300</a:t>
            </a:r>
          </a:p>
          <a:p>
            <a:r>
              <a:rPr lang="en-US" altLang="en-US" sz="1700">
                <a:latin typeface="Times New Roman" panose="02020603050405020304" pitchFamily="18" charset="0"/>
              </a:rPr>
              <a:t>		Vacation Benefits Pay.                          3,300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454CEC5-7E6E-4AAC-A6F1-D6EA6CD88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0"/>
            <a:ext cx="8924925" cy="11668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83" tIns="45040" rIns="91583" bIns="45040" anchor="ctr"/>
          <a:lstStyle>
            <a:lvl1pPr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8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400" b="1">
                <a:solidFill>
                  <a:srgbClr val="000099"/>
                </a:solidFill>
                <a:latin typeface="Arial Black" panose="020B0A04020102020204" pitchFamily="34" charset="0"/>
              </a:rPr>
              <a:t>ADDITIONAL FRINGE BENEFITS</a:t>
            </a:r>
            <a:r>
              <a:rPr lang="en-US" altLang="en-US" sz="3400" b="1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altLang="en-US" sz="3400" b="1">
                <a:solidFill>
                  <a:srgbClr val="006B61"/>
                </a:solidFill>
              </a:rPr>
              <a:t>PAID ABSENCES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F6E259-87CD-4997-9E4D-FB7AFC173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1689100"/>
            <a:ext cx="7446963" cy="24860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600" b="1"/>
              <a:t>When </a:t>
            </a:r>
            <a:r>
              <a:rPr lang="en-US" altLang="en-US" sz="2600" b="1">
                <a:solidFill>
                  <a:srgbClr val="CF0E30"/>
                </a:solidFill>
              </a:rPr>
              <a:t>vacation</a:t>
            </a:r>
            <a:r>
              <a:rPr lang="en-US" altLang="en-US" sz="2600" b="1"/>
              <a:t> </a:t>
            </a:r>
            <a:r>
              <a:rPr lang="en-US" altLang="en-US" sz="2600" b="1">
                <a:solidFill>
                  <a:srgbClr val="CF0E30"/>
                </a:solidFill>
              </a:rPr>
              <a:t>benefits</a:t>
            </a:r>
            <a:r>
              <a:rPr lang="en-US" altLang="en-US" sz="2600" b="1"/>
              <a:t> are paid, </a:t>
            </a:r>
            <a:r>
              <a:rPr lang="en-US" altLang="en-US" sz="2600" b="1">
                <a:solidFill>
                  <a:srgbClr val="CF0E30"/>
                </a:solidFill>
              </a:rPr>
              <a:t>Vacation Benefits Payable</a:t>
            </a:r>
            <a:r>
              <a:rPr lang="en-US" altLang="en-US" sz="2600" b="1"/>
              <a:t> is debited and </a:t>
            </a:r>
            <a:r>
              <a:rPr lang="en-US" altLang="en-US" sz="2600" b="1">
                <a:solidFill>
                  <a:srgbClr val="CF0E30"/>
                </a:solidFill>
              </a:rPr>
              <a:t>Cash </a:t>
            </a:r>
            <a:r>
              <a:rPr lang="en-US" altLang="en-US" sz="2600" b="1"/>
              <a:t>is credited.  If Academy Company pays such benefits for </a:t>
            </a:r>
            <a:r>
              <a:rPr lang="en-US" altLang="en-US" sz="2600" b="1">
                <a:solidFill>
                  <a:srgbClr val="CF0E30"/>
                </a:solidFill>
              </a:rPr>
              <a:t>10</a:t>
            </a:r>
            <a:r>
              <a:rPr lang="en-US" altLang="en-US" sz="2600" b="1"/>
              <a:t> employees in July, the journal entry to record the payment is for </a:t>
            </a:r>
            <a:r>
              <a:rPr lang="en-US" altLang="en-US" sz="2600" b="1">
                <a:solidFill>
                  <a:srgbClr val="CF0E30"/>
                </a:solidFill>
              </a:rPr>
              <a:t>₦1,100</a:t>
            </a:r>
            <a:r>
              <a:rPr lang="en-US" altLang="en-US" sz="2600" b="1"/>
              <a:t> (</a:t>
            </a:r>
            <a:r>
              <a:rPr lang="en-US" altLang="en-US" sz="2600" b="1">
                <a:solidFill>
                  <a:srgbClr val="CF0E30"/>
                </a:solidFill>
              </a:rPr>
              <a:t>₦110 X 10</a:t>
            </a:r>
            <a:r>
              <a:rPr lang="en-US" altLang="en-US" sz="2600" b="1"/>
              <a:t>). </a:t>
            </a:r>
          </a:p>
        </p:txBody>
      </p:sp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8FAD91A2-97C5-4124-851D-88989101B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0975" y="4286250"/>
          <a:ext cx="6313488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Worksheet" r:id="rId4" imgW="3324463" imgH="1143238" progId="Excel.Sheet.8">
                  <p:embed/>
                </p:oleObj>
              </mc:Choice>
              <mc:Fallback>
                <p:oleObj name="Worksheet" r:id="rId4" imgW="3324463" imgH="1143238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4286250"/>
                        <a:ext cx="6313488" cy="213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>
            <a:extLst>
              <a:ext uri="{FF2B5EF4-FFF2-40B4-BE49-F238E27FC236}">
                <a16:creationId xmlns:a16="http://schemas.microsoft.com/office/drawing/2014/main" id="{D95F6F70-7326-4B6F-897F-694FDCEE9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4857750"/>
            <a:ext cx="60388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78" tIns="43239" rIns="86478" bIns="43239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latin typeface="Times New Roman" panose="02020603050405020304" pitchFamily="18" charset="0"/>
              </a:rPr>
              <a:t>July 31   Vacation Benefits Pay.      1,100</a:t>
            </a:r>
          </a:p>
          <a:p>
            <a:r>
              <a:rPr lang="en-US" altLang="en-US" sz="2100">
                <a:latin typeface="Times New Roman" panose="02020603050405020304" pitchFamily="18" charset="0"/>
              </a:rPr>
              <a:t>	         Cash                                                 1,100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368578B-2D7B-4E27-8850-D1DC88D16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1951971-30A4-4A8C-85EB-8E3051A8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AC6AD255-2B6D-4E7B-8EDC-7217F1A7F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20675"/>
            <a:ext cx="7994650" cy="968375"/>
          </a:xfrm>
          <a:effectLst>
            <a:outerShdw dist="35921" dir="2700000" algn="ctr" rotWithShape="0">
              <a:srgbClr val="006B61"/>
            </a:outerShdw>
          </a:effectLst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POSTRETIREMENT BENEFITS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55964FC3-64ED-446C-9510-123A3F906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5488" y="1677988"/>
            <a:ext cx="7770812" cy="4051300"/>
          </a:xfrm>
          <a:noFill/>
        </p:spPr>
        <p:txBody>
          <a:bodyPr lIns="91583" tIns="45040" rIns="91583" bIns="45040"/>
          <a:lstStyle/>
          <a:p>
            <a:pPr marL="466725" indent="-466725" defTabSz="9667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Postretirement benefits </a:t>
            </a:r>
            <a:r>
              <a:rPr lang="en-US" altLang="en-US" sz="3000" b="1">
                <a:latin typeface="Times New Roman" panose="02020603050405020304" pitchFamily="18" charset="0"/>
              </a:rPr>
              <a:t>are benefits provided by employers to retired employees for:</a:t>
            </a:r>
          </a:p>
          <a:p>
            <a:pPr marL="466725" indent="-466725" defTabSz="966788" eaLnBrk="1" hangingPunct="1">
              <a:lnSpc>
                <a:spcPct val="90000"/>
              </a:lnSpc>
              <a:buFontTx/>
              <a:buNone/>
            </a:pP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000" b="1">
                <a:solidFill>
                  <a:srgbClr val="006B61"/>
                </a:solidFill>
              </a:rPr>
              <a:t>1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health care and life insurance</a:t>
            </a:r>
            <a:endParaRPr lang="en-US" altLang="en-US" sz="3000" b="1">
              <a:latin typeface="Times New Roman" panose="02020603050405020304" pitchFamily="18" charset="0"/>
            </a:endParaRPr>
          </a:p>
          <a:p>
            <a:pPr marL="466725" indent="-466725" defTabSz="966788" eaLnBrk="1" hangingPunct="1">
              <a:lnSpc>
                <a:spcPct val="90000"/>
              </a:lnSpc>
              <a:buFontTx/>
              <a:buNone/>
            </a:pP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3000" b="1">
                <a:solidFill>
                  <a:srgbClr val="006B61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 pensions</a:t>
            </a:r>
          </a:p>
          <a:p>
            <a:pPr marL="466725" indent="-466725" defTabSz="966788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3000" b="1">
                <a:latin typeface="Times New Roman" panose="02020603050405020304" pitchFamily="18" charset="0"/>
              </a:rPr>
              <a:t>Both types of postretirement               benefits are accounted for on                     the </a:t>
            </a:r>
            <a:r>
              <a:rPr lang="en-US" altLang="en-US" sz="3000" b="1">
                <a:solidFill>
                  <a:srgbClr val="CF0E30"/>
                </a:solidFill>
                <a:latin typeface="Times New Roman" panose="02020603050405020304" pitchFamily="18" charset="0"/>
              </a:rPr>
              <a:t>accrual basis</a:t>
            </a:r>
            <a:r>
              <a:rPr lang="en-US" altLang="en-US" sz="3400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22534" name="Picture 6">
            <a:extLst>
              <a:ext uri="{FF2B5EF4-FFF2-40B4-BE49-F238E27FC236}">
                <a16:creationId xmlns:a16="http://schemas.microsoft.com/office/drawing/2014/main" id="{30221421-B255-435A-8FF7-E957B678152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25" y="4357688"/>
            <a:ext cx="2973388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0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DC21FB2-15E3-4815-8352-6F92331DF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8132D51-9CEC-41B1-BBEE-1A6BE16F0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6241AD2-E8C6-4F6B-888C-4C49AFD20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875" y="320675"/>
            <a:ext cx="7918450" cy="917575"/>
          </a:xfrm>
          <a:noFill/>
        </p:spPr>
        <p:txBody>
          <a:bodyPr lIns="91583" tIns="45040" rIns="91583" bIns="45040"/>
          <a:lstStyle/>
          <a:p>
            <a:pPr defTabSz="966788" eaLnBrk="1" hangingPunct="1"/>
            <a:r>
              <a:rPr lang="en-US" altLang="en-US" b="1"/>
              <a:t> PENSION PLANS 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73E406F2-E7CB-4BB1-9421-B34E22A91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1722438"/>
            <a:ext cx="8212137" cy="3706812"/>
          </a:xfrm>
          <a:noFill/>
        </p:spPr>
        <p:txBody>
          <a:bodyPr lIns="91583" tIns="45040" rIns="91583" bIns="45040"/>
          <a:lstStyle/>
          <a:p>
            <a:pPr marL="466725" indent="-466725" defTabSz="6858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latin typeface="Times New Roman" panose="02020603050405020304" pitchFamily="18" charset="0"/>
              </a:rPr>
              <a:t>A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pension plan </a:t>
            </a:r>
            <a:r>
              <a:rPr lang="en-US" altLang="en-US" sz="2400" b="1">
                <a:latin typeface="Times New Roman" panose="02020603050405020304" pitchFamily="18" charset="0"/>
              </a:rPr>
              <a:t>is an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agreement</a:t>
            </a:r>
            <a:r>
              <a:rPr lang="en-US" altLang="en-US" sz="2400" b="1">
                <a:latin typeface="Times New Roman" panose="02020603050405020304" pitchFamily="18" charset="0"/>
              </a:rPr>
              <a:t> whereby an employer provides benefits to employees after they retire. </a:t>
            </a:r>
          </a:p>
          <a:p>
            <a:pPr marL="466725" indent="-466725" defTabSz="6858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Three</a:t>
            </a:r>
            <a:r>
              <a:rPr lang="en-US" altLang="en-US" sz="2400" b="1">
                <a:latin typeface="Times New Roman" panose="02020603050405020304" pitchFamily="18" charset="0"/>
              </a:rPr>
              <a:t> parties are generally involved in a pension plan.</a:t>
            </a: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1)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employer</a:t>
            </a:r>
            <a:r>
              <a:rPr lang="en-US" altLang="en-US" sz="2400" b="1">
                <a:latin typeface="Times New Roman" panose="02020603050405020304" pitchFamily="18" charset="0"/>
              </a:rPr>
              <a:t> sponsors the pension plan.</a:t>
            </a: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2)</a:t>
            </a:r>
            <a:r>
              <a:rPr lang="en-US" altLang="en-US" sz="2400" b="1">
                <a:solidFill>
                  <a:srgbClr val="006B6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plan administrator</a:t>
            </a:r>
            <a:r>
              <a:rPr lang="en-US" altLang="en-US" sz="2400" b="1">
                <a:latin typeface="Times New Roman" panose="02020603050405020304" pitchFamily="18" charset="0"/>
              </a:rPr>
              <a:t> receives the contributions 		  from the employer, invests the pension assets, and  		  makes the benefit payments.</a:t>
            </a:r>
            <a:endParaRPr lang="en-US" altLang="en-US" sz="2400" b="1">
              <a:solidFill>
                <a:srgbClr val="CF0E30"/>
              </a:solidFill>
              <a:latin typeface="Times New Roman" panose="02020603050405020304" pitchFamily="18" charset="0"/>
            </a:endParaRPr>
          </a:p>
          <a:p>
            <a:pPr marL="466725" indent="-466725" defTabSz="6858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>
                <a:solidFill>
                  <a:srgbClr val="006B61"/>
                </a:solidFill>
              </a:rPr>
              <a:t>3)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The </a:t>
            </a:r>
            <a:r>
              <a:rPr lang="en-US" altLang="en-US" sz="2400" b="1">
                <a:solidFill>
                  <a:srgbClr val="CF0E30"/>
                </a:solidFill>
                <a:latin typeface="Times New Roman" panose="02020603050405020304" pitchFamily="18" charset="0"/>
              </a:rPr>
              <a:t>retired employees</a:t>
            </a:r>
            <a:r>
              <a:rPr lang="en-US" altLang="en-US" sz="2400" b="1">
                <a:latin typeface="Times New Roman" panose="02020603050405020304" pitchFamily="18" charset="0"/>
              </a:rPr>
              <a:t> receive                                       	  the pension payments.</a:t>
            </a:r>
          </a:p>
        </p:txBody>
      </p:sp>
      <p:pic>
        <p:nvPicPr>
          <p:cNvPr id="23558" name="Picture 6">
            <a:extLst>
              <a:ext uri="{FF2B5EF4-FFF2-40B4-BE49-F238E27FC236}">
                <a16:creationId xmlns:a16="http://schemas.microsoft.com/office/drawing/2014/main" id="{9E411103-3428-4CE0-8089-5E5E05E3505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4359275"/>
            <a:ext cx="3409950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507E787-C46D-4B60-B909-5934E0A9D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309563"/>
            <a:ext cx="7508875" cy="12271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006B6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800">
                <a:solidFill>
                  <a:srgbClr val="000099"/>
                </a:solidFill>
                <a:latin typeface="Arial Black" panose="020B0A04020102020204" pitchFamily="34" charset="0"/>
              </a:rPr>
              <a:t>PARTIES IN A PENSION PLAN</a:t>
            </a:r>
          </a:p>
        </p:txBody>
      </p:sp>
      <p:grpSp>
        <p:nvGrpSpPr>
          <p:cNvPr id="24579" name="Group 3">
            <a:extLst>
              <a:ext uri="{FF2B5EF4-FFF2-40B4-BE49-F238E27FC236}">
                <a16:creationId xmlns:a16="http://schemas.microsoft.com/office/drawing/2014/main" id="{B4F4628F-8332-4410-9CD1-CD43D880268A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1785938"/>
            <a:ext cx="2108200" cy="1646237"/>
            <a:chOff x="552" y="1199"/>
            <a:chExt cx="1395" cy="1106"/>
          </a:xfrm>
        </p:grpSpPr>
        <p:grpSp>
          <p:nvGrpSpPr>
            <p:cNvPr id="24847" name="Group 4">
              <a:extLst>
                <a:ext uri="{FF2B5EF4-FFF2-40B4-BE49-F238E27FC236}">
                  <a16:creationId xmlns:a16="http://schemas.microsoft.com/office/drawing/2014/main" id="{945D64F7-1984-432A-81AC-370720509F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" y="1199"/>
              <a:ext cx="1395" cy="1106"/>
              <a:chOff x="552" y="1199"/>
              <a:chExt cx="1395" cy="1106"/>
            </a:xfrm>
          </p:grpSpPr>
          <p:sp>
            <p:nvSpPr>
              <p:cNvPr id="24849" name="Freeform 5">
                <a:extLst>
                  <a:ext uri="{FF2B5EF4-FFF2-40B4-BE49-F238E27FC236}">
                    <a16:creationId xmlns:a16="http://schemas.microsoft.com/office/drawing/2014/main" id="{C67123ED-A88D-49DA-B735-F0FB875D8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199"/>
                <a:ext cx="1395" cy="88"/>
              </a:xfrm>
              <a:custGeom>
                <a:avLst/>
                <a:gdLst>
                  <a:gd name="T0" fmla="*/ 1394 w 1395"/>
                  <a:gd name="T1" fmla="*/ 87 h 88"/>
                  <a:gd name="T2" fmla="*/ 1394 w 1395"/>
                  <a:gd name="T3" fmla="*/ 0 h 88"/>
                  <a:gd name="T4" fmla="*/ 0 w 1395"/>
                  <a:gd name="T5" fmla="*/ 0 h 88"/>
                  <a:gd name="T6" fmla="*/ 0 w 1395"/>
                  <a:gd name="T7" fmla="*/ 87 h 88"/>
                  <a:gd name="T8" fmla="*/ 1394 w 1395"/>
                  <a:gd name="T9" fmla="*/ 87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8"/>
                  <a:gd name="T17" fmla="*/ 1395 w 1395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8">
                    <a:moveTo>
                      <a:pt x="1394" y="87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394" y="87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0" name="Freeform 6">
                <a:extLst>
                  <a:ext uri="{FF2B5EF4-FFF2-40B4-BE49-F238E27FC236}">
                    <a16:creationId xmlns:a16="http://schemas.microsoft.com/office/drawing/2014/main" id="{A34F16A5-B31B-440D-B0A0-8B8AA5A16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1" name="Freeform 7">
                <a:extLst>
                  <a:ext uri="{FF2B5EF4-FFF2-40B4-BE49-F238E27FC236}">
                    <a16:creationId xmlns:a16="http://schemas.microsoft.com/office/drawing/2014/main" id="{93A51093-7F5A-4D00-8BE5-41B3E22C1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2" name="Freeform 8">
                <a:extLst>
                  <a:ext uri="{FF2B5EF4-FFF2-40B4-BE49-F238E27FC236}">
                    <a16:creationId xmlns:a16="http://schemas.microsoft.com/office/drawing/2014/main" id="{C29907F8-A06E-48CE-8CB5-973B18F1B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286"/>
                <a:ext cx="178" cy="138"/>
              </a:xfrm>
              <a:custGeom>
                <a:avLst/>
                <a:gdLst>
                  <a:gd name="T0" fmla="*/ 0 w 178"/>
                  <a:gd name="T1" fmla="*/ 0 h 138"/>
                  <a:gd name="T2" fmla="*/ 0 w 178"/>
                  <a:gd name="T3" fmla="*/ 137 h 138"/>
                  <a:gd name="T4" fmla="*/ 177 w 178"/>
                  <a:gd name="T5" fmla="*/ 137 h 138"/>
                  <a:gd name="T6" fmla="*/ 177 w 178"/>
                  <a:gd name="T7" fmla="*/ 0 h 138"/>
                  <a:gd name="T8" fmla="*/ 0 w 178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8"/>
                  <a:gd name="T17" fmla="*/ 178 w 178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3" name="Freeform 9">
                <a:extLst>
                  <a:ext uri="{FF2B5EF4-FFF2-40B4-BE49-F238E27FC236}">
                    <a16:creationId xmlns:a16="http://schemas.microsoft.com/office/drawing/2014/main" id="{922E83F7-0F38-4B38-8279-A4E531A6D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4" name="Freeform 10">
                <a:extLst>
                  <a:ext uri="{FF2B5EF4-FFF2-40B4-BE49-F238E27FC236}">
                    <a16:creationId xmlns:a16="http://schemas.microsoft.com/office/drawing/2014/main" id="{31AC8ED6-A9A9-45FF-97AC-CDC04A8C4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5" name="Freeform 11">
                <a:extLst>
                  <a:ext uri="{FF2B5EF4-FFF2-40B4-BE49-F238E27FC236}">
                    <a16:creationId xmlns:a16="http://schemas.microsoft.com/office/drawing/2014/main" id="{F975DA28-0607-400A-A9FA-0FBCBE43A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286"/>
                <a:ext cx="174" cy="138"/>
              </a:xfrm>
              <a:custGeom>
                <a:avLst/>
                <a:gdLst>
                  <a:gd name="T0" fmla="*/ 0 w 174"/>
                  <a:gd name="T1" fmla="*/ 0 h 138"/>
                  <a:gd name="T2" fmla="*/ 0 w 174"/>
                  <a:gd name="T3" fmla="*/ 137 h 138"/>
                  <a:gd name="T4" fmla="*/ 173 w 174"/>
                  <a:gd name="T5" fmla="*/ 137 h 138"/>
                  <a:gd name="T6" fmla="*/ 173 w 174"/>
                  <a:gd name="T7" fmla="*/ 0 h 138"/>
                  <a:gd name="T8" fmla="*/ 0 w 174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8"/>
                  <a:gd name="T17" fmla="*/ 174 w 174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6" name="Freeform 12">
                <a:extLst>
                  <a:ext uri="{FF2B5EF4-FFF2-40B4-BE49-F238E27FC236}">
                    <a16:creationId xmlns:a16="http://schemas.microsoft.com/office/drawing/2014/main" id="{84C84538-D438-48FC-9E53-8171A7A5F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7" name="Freeform 13">
                <a:extLst>
                  <a:ext uri="{FF2B5EF4-FFF2-40B4-BE49-F238E27FC236}">
                    <a16:creationId xmlns:a16="http://schemas.microsoft.com/office/drawing/2014/main" id="{EFC79850-FC22-40F1-916C-DB00FE3FA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286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8" name="Freeform 14">
                <a:extLst>
                  <a:ext uri="{FF2B5EF4-FFF2-40B4-BE49-F238E27FC236}">
                    <a16:creationId xmlns:a16="http://schemas.microsoft.com/office/drawing/2014/main" id="{E83528B8-8434-4D11-8AC6-61ED6843B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423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9" name="Freeform 15">
                <a:extLst>
                  <a:ext uri="{FF2B5EF4-FFF2-40B4-BE49-F238E27FC236}">
                    <a16:creationId xmlns:a16="http://schemas.microsoft.com/office/drawing/2014/main" id="{B16917F1-F1B0-4865-BBA1-7014A1666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509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0" name="Freeform 16">
                <a:extLst>
                  <a:ext uri="{FF2B5EF4-FFF2-40B4-BE49-F238E27FC236}">
                    <a16:creationId xmlns:a16="http://schemas.microsoft.com/office/drawing/2014/main" id="{0B0BEE63-3EEC-44C4-A354-9C8A1CCF4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1" name="Freeform 17">
                <a:extLst>
                  <a:ext uri="{FF2B5EF4-FFF2-40B4-BE49-F238E27FC236}">
                    <a16:creationId xmlns:a16="http://schemas.microsoft.com/office/drawing/2014/main" id="{058F0E60-0279-47FA-B120-828C83F33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509"/>
                <a:ext cx="178" cy="135"/>
              </a:xfrm>
              <a:custGeom>
                <a:avLst/>
                <a:gdLst>
                  <a:gd name="T0" fmla="*/ 0 w 178"/>
                  <a:gd name="T1" fmla="*/ 0 h 135"/>
                  <a:gd name="T2" fmla="*/ 0 w 178"/>
                  <a:gd name="T3" fmla="*/ 134 h 135"/>
                  <a:gd name="T4" fmla="*/ 177 w 178"/>
                  <a:gd name="T5" fmla="*/ 134 h 135"/>
                  <a:gd name="T6" fmla="*/ 177 w 178"/>
                  <a:gd name="T7" fmla="*/ 0 h 135"/>
                  <a:gd name="T8" fmla="*/ 0 w 1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5"/>
                  <a:gd name="T17" fmla="*/ 178 w 1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7" y="134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2" name="Freeform 18">
                <a:extLst>
                  <a:ext uri="{FF2B5EF4-FFF2-40B4-BE49-F238E27FC236}">
                    <a16:creationId xmlns:a16="http://schemas.microsoft.com/office/drawing/2014/main" id="{A7132BBE-CDC8-4879-A68F-A438023EC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3" name="Freeform 19">
                <a:extLst>
                  <a:ext uri="{FF2B5EF4-FFF2-40B4-BE49-F238E27FC236}">
                    <a16:creationId xmlns:a16="http://schemas.microsoft.com/office/drawing/2014/main" id="{D17621AD-0A25-4102-B728-723B29303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4" name="Freeform 20">
                <a:extLst>
                  <a:ext uri="{FF2B5EF4-FFF2-40B4-BE49-F238E27FC236}">
                    <a16:creationId xmlns:a16="http://schemas.microsoft.com/office/drawing/2014/main" id="{E75C1781-74C4-4C7F-9A82-E8908E727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509"/>
                <a:ext cx="174" cy="135"/>
              </a:xfrm>
              <a:custGeom>
                <a:avLst/>
                <a:gdLst>
                  <a:gd name="T0" fmla="*/ 0 w 174"/>
                  <a:gd name="T1" fmla="*/ 0 h 135"/>
                  <a:gd name="T2" fmla="*/ 0 w 174"/>
                  <a:gd name="T3" fmla="*/ 134 h 135"/>
                  <a:gd name="T4" fmla="*/ 173 w 174"/>
                  <a:gd name="T5" fmla="*/ 134 h 135"/>
                  <a:gd name="T6" fmla="*/ 173 w 174"/>
                  <a:gd name="T7" fmla="*/ 0 h 135"/>
                  <a:gd name="T8" fmla="*/ 0 w 174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5"/>
                  <a:gd name="T17" fmla="*/ 174 w 174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3" y="134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5" name="Freeform 21">
                <a:extLst>
                  <a:ext uri="{FF2B5EF4-FFF2-40B4-BE49-F238E27FC236}">
                    <a16:creationId xmlns:a16="http://schemas.microsoft.com/office/drawing/2014/main" id="{C000F18E-F159-4402-908D-AAD7BAE12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6" name="Freeform 22">
                <a:extLst>
                  <a:ext uri="{FF2B5EF4-FFF2-40B4-BE49-F238E27FC236}">
                    <a16:creationId xmlns:a16="http://schemas.microsoft.com/office/drawing/2014/main" id="{2D787658-E325-4E33-83DB-F6272E129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509"/>
                <a:ext cx="175" cy="135"/>
              </a:xfrm>
              <a:custGeom>
                <a:avLst/>
                <a:gdLst>
                  <a:gd name="T0" fmla="*/ 0 w 175"/>
                  <a:gd name="T1" fmla="*/ 0 h 135"/>
                  <a:gd name="T2" fmla="*/ 0 w 175"/>
                  <a:gd name="T3" fmla="*/ 134 h 135"/>
                  <a:gd name="T4" fmla="*/ 174 w 175"/>
                  <a:gd name="T5" fmla="*/ 134 h 135"/>
                  <a:gd name="T6" fmla="*/ 174 w 175"/>
                  <a:gd name="T7" fmla="*/ 0 h 135"/>
                  <a:gd name="T8" fmla="*/ 0 w 17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5"/>
                  <a:gd name="T17" fmla="*/ 175 w 175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7" name="Freeform 23">
                <a:extLst>
                  <a:ext uri="{FF2B5EF4-FFF2-40B4-BE49-F238E27FC236}">
                    <a16:creationId xmlns:a16="http://schemas.microsoft.com/office/drawing/2014/main" id="{4D0EFC65-5554-4A3C-9792-C22CBAE69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643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8" name="Freeform 24">
                <a:extLst>
                  <a:ext uri="{FF2B5EF4-FFF2-40B4-BE49-F238E27FC236}">
                    <a16:creationId xmlns:a16="http://schemas.microsoft.com/office/drawing/2014/main" id="{54EF4B1D-BE0B-4363-B282-48C0A5F09F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9" name="Freeform 25">
                <a:extLst>
                  <a:ext uri="{FF2B5EF4-FFF2-40B4-BE49-F238E27FC236}">
                    <a16:creationId xmlns:a16="http://schemas.microsoft.com/office/drawing/2014/main" id="{1BBC7A19-6B99-440F-9C44-2B494A9BB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0" name="Freeform 26">
                <a:extLst>
                  <a:ext uri="{FF2B5EF4-FFF2-40B4-BE49-F238E27FC236}">
                    <a16:creationId xmlns:a16="http://schemas.microsoft.com/office/drawing/2014/main" id="{54260555-1580-4BAD-9C3D-32E4939C7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729"/>
                <a:ext cx="178" cy="138"/>
              </a:xfrm>
              <a:custGeom>
                <a:avLst/>
                <a:gdLst>
                  <a:gd name="T0" fmla="*/ 0 w 178"/>
                  <a:gd name="T1" fmla="*/ 0 h 138"/>
                  <a:gd name="T2" fmla="*/ 0 w 178"/>
                  <a:gd name="T3" fmla="*/ 137 h 138"/>
                  <a:gd name="T4" fmla="*/ 177 w 178"/>
                  <a:gd name="T5" fmla="*/ 137 h 138"/>
                  <a:gd name="T6" fmla="*/ 177 w 178"/>
                  <a:gd name="T7" fmla="*/ 0 h 138"/>
                  <a:gd name="T8" fmla="*/ 0 w 178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8"/>
                  <a:gd name="T17" fmla="*/ 178 w 178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1" name="Freeform 27">
                <a:extLst>
                  <a:ext uri="{FF2B5EF4-FFF2-40B4-BE49-F238E27FC236}">
                    <a16:creationId xmlns:a16="http://schemas.microsoft.com/office/drawing/2014/main" id="{2EC7AF4B-8D3F-4B48-AFF0-7B2D665A28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2" name="Freeform 28">
                <a:extLst>
                  <a:ext uri="{FF2B5EF4-FFF2-40B4-BE49-F238E27FC236}">
                    <a16:creationId xmlns:a16="http://schemas.microsoft.com/office/drawing/2014/main" id="{05F51631-2E89-4F6D-B6BC-2304018131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3" name="Freeform 29">
                <a:extLst>
                  <a:ext uri="{FF2B5EF4-FFF2-40B4-BE49-F238E27FC236}">
                    <a16:creationId xmlns:a16="http://schemas.microsoft.com/office/drawing/2014/main" id="{642C50A1-EE7E-4FF4-A589-E24BE6AFD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729"/>
                <a:ext cx="174" cy="138"/>
              </a:xfrm>
              <a:custGeom>
                <a:avLst/>
                <a:gdLst>
                  <a:gd name="T0" fmla="*/ 0 w 174"/>
                  <a:gd name="T1" fmla="*/ 0 h 138"/>
                  <a:gd name="T2" fmla="*/ 0 w 174"/>
                  <a:gd name="T3" fmla="*/ 137 h 138"/>
                  <a:gd name="T4" fmla="*/ 173 w 174"/>
                  <a:gd name="T5" fmla="*/ 137 h 138"/>
                  <a:gd name="T6" fmla="*/ 173 w 174"/>
                  <a:gd name="T7" fmla="*/ 0 h 138"/>
                  <a:gd name="T8" fmla="*/ 0 w 174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8"/>
                  <a:gd name="T17" fmla="*/ 174 w 174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4" name="Freeform 30">
                <a:extLst>
                  <a:ext uri="{FF2B5EF4-FFF2-40B4-BE49-F238E27FC236}">
                    <a16:creationId xmlns:a16="http://schemas.microsoft.com/office/drawing/2014/main" id="{5C29EDDE-8B9C-4CC5-BD2D-E3D1C8D19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5" name="Freeform 31">
                <a:extLst>
                  <a:ext uri="{FF2B5EF4-FFF2-40B4-BE49-F238E27FC236}">
                    <a16:creationId xmlns:a16="http://schemas.microsoft.com/office/drawing/2014/main" id="{8114EE7C-73D8-49B6-A286-12246B7B1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729"/>
                <a:ext cx="175" cy="138"/>
              </a:xfrm>
              <a:custGeom>
                <a:avLst/>
                <a:gdLst>
                  <a:gd name="T0" fmla="*/ 0 w 175"/>
                  <a:gd name="T1" fmla="*/ 0 h 138"/>
                  <a:gd name="T2" fmla="*/ 0 w 175"/>
                  <a:gd name="T3" fmla="*/ 137 h 138"/>
                  <a:gd name="T4" fmla="*/ 174 w 175"/>
                  <a:gd name="T5" fmla="*/ 137 h 138"/>
                  <a:gd name="T6" fmla="*/ 174 w 175"/>
                  <a:gd name="T7" fmla="*/ 0 h 138"/>
                  <a:gd name="T8" fmla="*/ 0 w 175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8"/>
                  <a:gd name="T17" fmla="*/ 175 w 175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8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6" name="Freeform 32">
                <a:extLst>
                  <a:ext uri="{FF2B5EF4-FFF2-40B4-BE49-F238E27FC236}">
                    <a16:creationId xmlns:a16="http://schemas.microsoft.com/office/drawing/2014/main" id="{8A6AB727-E303-40AA-A60C-025F2778F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866"/>
                <a:ext cx="1395" cy="87"/>
              </a:xfrm>
              <a:custGeom>
                <a:avLst/>
                <a:gdLst>
                  <a:gd name="T0" fmla="*/ 1394 w 1395"/>
                  <a:gd name="T1" fmla="*/ 86 h 87"/>
                  <a:gd name="T2" fmla="*/ 1394 w 1395"/>
                  <a:gd name="T3" fmla="*/ 0 h 87"/>
                  <a:gd name="T4" fmla="*/ 0 w 1395"/>
                  <a:gd name="T5" fmla="*/ 0 h 87"/>
                  <a:gd name="T6" fmla="*/ 0 w 1395"/>
                  <a:gd name="T7" fmla="*/ 86 h 87"/>
                  <a:gd name="T8" fmla="*/ 1394 w 1395"/>
                  <a:gd name="T9" fmla="*/ 86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5"/>
                  <a:gd name="T16" fmla="*/ 0 h 87"/>
                  <a:gd name="T17" fmla="*/ 1395 w 1395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5" h="87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7" name="Freeform 33">
                <a:extLst>
                  <a:ext uri="{FF2B5EF4-FFF2-40B4-BE49-F238E27FC236}">
                    <a16:creationId xmlns:a16="http://schemas.microsoft.com/office/drawing/2014/main" id="{4D37C168-8189-4FB0-BACC-4A407F4F0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8" name="Freeform 34">
                <a:extLst>
                  <a:ext uri="{FF2B5EF4-FFF2-40B4-BE49-F238E27FC236}">
                    <a16:creationId xmlns:a16="http://schemas.microsoft.com/office/drawing/2014/main" id="{5113A65C-08CB-4E0E-BDF2-6380588F6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9" name="Freeform 35">
                <a:extLst>
                  <a:ext uri="{FF2B5EF4-FFF2-40B4-BE49-F238E27FC236}">
                    <a16:creationId xmlns:a16="http://schemas.microsoft.com/office/drawing/2014/main" id="{E86E74F0-633C-489E-9533-6C60C6D6F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952"/>
                <a:ext cx="178" cy="139"/>
              </a:xfrm>
              <a:custGeom>
                <a:avLst/>
                <a:gdLst>
                  <a:gd name="T0" fmla="*/ 0 w 178"/>
                  <a:gd name="T1" fmla="*/ 0 h 139"/>
                  <a:gd name="T2" fmla="*/ 0 w 178"/>
                  <a:gd name="T3" fmla="*/ 138 h 139"/>
                  <a:gd name="T4" fmla="*/ 177 w 178"/>
                  <a:gd name="T5" fmla="*/ 138 h 139"/>
                  <a:gd name="T6" fmla="*/ 177 w 178"/>
                  <a:gd name="T7" fmla="*/ 0 h 139"/>
                  <a:gd name="T8" fmla="*/ 0 w 178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8"/>
                  <a:gd name="T16" fmla="*/ 0 h 139"/>
                  <a:gd name="T17" fmla="*/ 178 w 178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8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7" y="138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0" name="Freeform 36">
                <a:extLst>
                  <a:ext uri="{FF2B5EF4-FFF2-40B4-BE49-F238E27FC236}">
                    <a16:creationId xmlns:a16="http://schemas.microsoft.com/office/drawing/2014/main" id="{FAA1A8BE-EA4B-4D85-AC33-EC7B2307C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1" name="Freeform 37">
                <a:extLst>
                  <a:ext uri="{FF2B5EF4-FFF2-40B4-BE49-F238E27FC236}">
                    <a16:creationId xmlns:a16="http://schemas.microsoft.com/office/drawing/2014/main" id="{3697AE39-94A2-49B3-A4A1-E0B25F331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2" name="Freeform 38">
                <a:extLst>
                  <a:ext uri="{FF2B5EF4-FFF2-40B4-BE49-F238E27FC236}">
                    <a16:creationId xmlns:a16="http://schemas.microsoft.com/office/drawing/2014/main" id="{88AA5055-B956-44F5-B2CA-7A74FCD22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952"/>
                <a:ext cx="174" cy="139"/>
              </a:xfrm>
              <a:custGeom>
                <a:avLst/>
                <a:gdLst>
                  <a:gd name="T0" fmla="*/ 0 w 174"/>
                  <a:gd name="T1" fmla="*/ 0 h 139"/>
                  <a:gd name="T2" fmla="*/ 0 w 174"/>
                  <a:gd name="T3" fmla="*/ 138 h 139"/>
                  <a:gd name="T4" fmla="*/ 173 w 174"/>
                  <a:gd name="T5" fmla="*/ 138 h 139"/>
                  <a:gd name="T6" fmla="*/ 173 w 174"/>
                  <a:gd name="T7" fmla="*/ 0 h 139"/>
                  <a:gd name="T8" fmla="*/ 0 w 174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139"/>
                  <a:gd name="T17" fmla="*/ 174 w 174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3" y="138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3" name="Freeform 39">
                <a:extLst>
                  <a:ext uri="{FF2B5EF4-FFF2-40B4-BE49-F238E27FC236}">
                    <a16:creationId xmlns:a16="http://schemas.microsoft.com/office/drawing/2014/main" id="{F21814B6-5404-44BF-A72B-6579F705D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4" name="Freeform 40">
                <a:extLst>
                  <a:ext uri="{FF2B5EF4-FFF2-40B4-BE49-F238E27FC236}">
                    <a16:creationId xmlns:a16="http://schemas.microsoft.com/office/drawing/2014/main" id="{5A560CFB-19F8-44A1-AD12-28C5BB246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1952"/>
                <a:ext cx="175" cy="139"/>
              </a:xfrm>
              <a:custGeom>
                <a:avLst/>
                <a:gdLst>
                  <a:gd name="T0" fmla="*/ 0 w 175"/>
                  <a:gd name="T1" fmla="*/ 0 h 139"/>
                  <a:gd name="T2" fmla="*/ 0 w 175"/>
                  <a:gd name="T3" fmla="*/ 138 h 139"/>
                  <a:gd name="T4" fmla="*/ 174 w 175"/>
                  <a:gd name="T5" fmla="*/ 138 h 139"/>
                  <a:gd name="T6" fmla="*/ 174 w 175"/>
                  <a:gd name="T7" fmla="*/ 0 h 139"/>
                  <a:gd name="T8" fmla="*/ 0 w 175"/>
                  <a:gd name="T9" fmla="*/ 0 h 1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139"/>
                  <a:gd name="T17" fmla="*/ 175 w 175"/>
                  <a:gd name="T18" fmla="*/ 139 h 1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139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5" name="Freeform 41">
                <a:extLst>
                  <a:ext uri="{FF2B5EF4-FFF2-40B4-BE49-F238E27FC236}">
                    <a16:creationId xmlns:a16="http://schemas.microsoft.com/office/drawing/2014/main" id="{D504C396-D02B-475E-8083-8BD852065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" y="2090"/>
                <a:ext cx="1207" cy="215"/>
              </a:xfrm>
              <a:custGeom>
                <a:avLst/>
                <a:gdLst>
                  <a:gd name="T0" fmla="*/ 1206 w 1207"/>
                  <a:gd name="T1" fmla="*/ 0 h 215"/>
                  <a:gd name="T2" fmla="*/ 1206 w 1207"/>
                  <a:gd name="T3" fmla="*/ 214 h 215"/>
                  <a:gd name="T4" fmla="*/ 1105 w 1207"/>
                  <a:gd name="T5" fmla="*/ 214 h 215"/>
                  <a:gd name="T6" fmla="*/ 1105 w 1207"/>
                  <a:gd name="T7" fmla="*/ 36 h 215"/>
                  <a:gd name="T8" fmla="*/ 97 w 1207"/>
                  <a:gd name="T9" fmla="*/ 36 h 215"/>
                  <a:gd name="T10" fmla="*/ 97 w 1207"/>
                  <a:gd name="T11" fmla="*/ 214 h 215"/>
                  <a:gd name="T12" fmla="*/ 0 w 1207"/>
                  <a:gd name="T13" fmla="*/ 214 h 215"/>
                  <a:gd name="T14" fmla="*/ 0 w 1207"/>
                  <a:gd name="T15" fmla="*/ 0 h 215"/>
                  <a:gd name="T16" fmla="*/ 1206 w 1207"/>
                  <a:gd name="T17" fmla="*/ 0 h 2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07"/>
                  <a:gd name="T28" fmla="*/ 0 h 215"/>
                  <a:gd name="T29" fmla="*/ 1207 w 1207"/>
                  <a:gd name="T30" fmla="*/ 215 h 2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07" h="215">
                    <a:moveTo>
                      <a:pt x="1206" y="0"/>
                    </a:moveTo>
                    <a:lnTo>
                      <a:pt x="1206" y="214"/>
                    </a:lnTo>
                    <a:lnTo>
                      <a:pt x="1105" y="214"/>
                    </a:lnTo>
                    <a:lnTo>
                      <a:pt x="1105" y="36"/>
                    </a:lnTo>
                    <a:lnTo>
                      <a:pt x="97" y="36"/>
                    </a:lnTo>
                    <a:lnTo>
                      <a:pt x="97" y="214"/>
                    </a:lnTo>
                    <a:lnTo>
                      <a:pt x="0" y="214"/>
                    </a:lnTo>
                    <a:lnTo>
                      <a:pt x="0" y="0"/>
                    </a:lnTo>
                    <a:lnTo>
                      <a:pt x="1206" y="0"/>
                    </a:lnTo>
                  </a:path>
                </a:pathLst>
              </a:custGeom>
              <a:solidFill>
                <a:srgbClr val="009688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6" name="Freeform 42">
                <a:extLst>
                  <a:ext uri="{FF2B5EF4-FFF2-40B4-BE49-F238E27FC236}">
                    <a16:creationId xmlns:a16="http://schemas.microsoft.com/office/drawing/2014/main" id="{A641F8E4-E7ED-4F90-9DAB-FA8E42E57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" y="2125"/>
                <a:ext cx="1009" cy="180"/>
              </a:xfrm>
              <a:custGeom>
                <a:avLst/>
                <a:gdLst>
                  <a:gd name="T0" fmla="*/ 0 w 1009"/>
                  <a:gd name="T1" fmla="*/ 179 h 180"/>
                  <a:gd name="T2" fmla="*/ 0 w 1009"/>
                  <a:gd name="T3" fmla="*/ 0 h 180"/>
                  <a:gd name="T4" fmla="*/ 1008 w 1009"/>
                  <a:gd name="T5" fmla="*/ 0 h 180"/>
                  <a:gd name="T6" fmla="*/ 1008 w 1009"/>
                  <a:gd name="T7" fmla="*/ 179 h 180"/>
                  <a:gd name="T8" fmla="*/ 581 w 1009"/>
                  <a:gd name="T9" fmla="*/ 179 h 180"/>
                  <a:gd name="T10" fmla="*/ 581 w 1009"/>
                  <a:gd name="T11" fmla="*/ 45 h 180"/>
                  <a:gd name="T12" fmla="*/ 427 w 1009"/>
                  <a:gd name="T13" fmla="*/ 45 h 180"/>
                  <a:gd name="T14" fmla="*/ 427 w 1009"/>
                  <a:gd name="T15" fmla="*/ 179 h 180"/>
                  <a:gd name="T16" fmla="*/ 0 w 1009"/>
                  <a:gd name="T17" fmla="*/ 179 h 1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09"/>
                  <a:gd name="T28" fmla="*/ 0 h 180"/>
                  <a:gd name="T29" fmla="*/ 1009 w 1009"/>
                  <a:gd name="T30" fmla="*/ 180 h 1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09" h="180">
                    <a:moveTo>
                      <a:pt x="0" y="179"/>
                    </a:moveTo>
                    <a:lnTo>
                      <a:pt x="0" y="0"/>
                    </a:lnTo>
                    <a:lnTo>
                      <a:pt x="1008" y="0"/>
                    </a:lnTo>
                    <a:lnTo>
                      <a:pt x="1008" y="179"/>
                    </a:lnTo>
                    <a:lnTo>
                      <a:pt x="581" y="179"/>
                    </a:lnTo>
                    <a:lnTo>
                      <a:pt x="581" y="45"/>
                    </a:lnTo>
                    <a:lnTo>
                      <a:pt x="427" y="45"/>
                    </a:lnTo>
                    <a:lnTo>
                      <a:pt x="427" y="179"/>
                    </a:lnTo>
                    <a:lnTo>
                      <a:pt x="0" y="179"/>
                    </a:lnTo>
                  </a:path>
                </a:pathLst>
              </a:custGeom>
              <a:solidFill>
                <a:srgbClr val="80FFFF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7" name="Freeform 43">
                <a:extLst>
                  <a:ext uri="{FF2B5EF4-FFF2-40B4-BE49-F238E27FC236}">
                    <a16:creationId xmlns:a16="http://schemas.microsoft.com/office/drawing/2014/main" id="{8675EA45-F669-4CB2-9BE7-C0168A61B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" y="2170"/>
                <a:ext cx="78" cy="135"/>
              </a:xfrm>
              <a:custGeom>
                <a:avLst/>
                <a:gdLst>
                  <a:gd name="T0" fmla="*/ 77 w 78"/>
                  <a:gd name="T1" fmla="*/ 0 h 135"/>
                  <a:gd name="T2" fmla="*/ 0 w 78"/>
                  <a:gd name="T3" fmla="*/ 0 h 135"/>
                  <a:gd name="T4" fmla="*/ 0 w 78"/>
                  <a:gd name="T5" fmla="*/ 134 h 135"/>
                  <a:gd name="T6" fmla="*/ 77 w 78"/>
                  <a:gd name="T7" fmla="*/ 134 h 135"/>
                  <a:gd name="T8" fmla="*/ 77 w 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35"/>
                  <a:gd name="T17" fmla="*/ 78 w 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35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8" name="Freeform 44">
                <a:extLst>
                  <a:ext uri="{FF2B5EF4-FFF2-40B4-BE49-F238E27FC236}">
                    <a16:creationId xmlns:a16="http://schemas.microsoft.com/office/drawing/2014/main" id="{0B3D9C07-DA36-4088-BECD-CD67C1030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1" y="2170"/>
                <a:ext cx="78" cy="135"/>
              </a:xfrm>
              <a:custGeom>
                <a:avLst/>
                <a:gdLst>
                  <a:gd name="T0" fmla="*/ 77 w 78"/>
                  <a:gd name="T1" fmla="*/ 0 h 135"/>
                  <a:gd name="T2" fmla="*/ 0 w 78"/>
                  <a:gd name="T3" fmla="*/ 0 h 135"/>
                  <a:gd name="T4" fmla="*/ 0 w 78"/>
                  <a:gd name="T5" fmla="*/ 134 h 135"/>
                  <a:gd name="T6" fmla="*/ 77 w 78"/>
                  <a:gd name="T7" fmla="*/ 134 h 135"/>
                  <a:gd name="T8" fmla="*/ 77 w 78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35"/>
                  <a:gd name="T17" fmla="*/ 78 w 78"/>
                  <a:gd name="T18" fmla="*/ 135 h 1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35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848" name="Rectangle 45">
              <a:extLst>
                <a:ext uri="{FF2B5EF4-FFF2-40B4-BE49-F238E27FC236}">
                  <a16:creationId xmlns:a16="http://schemas.microsoft.com/office/drawing/2014/main" id="{D803E7A8-9AFD-49B8-9923-0E021638D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" y="1206"/>
              <a:ext cx="1194" cy="32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85577" tIns="42038" rIns="85577" bIns="42038">
              <a:spAutoFit/>
            </a:bodyPr>
            <a:lstStyle>
              <a:lvl1pPr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600" b="1"/>
                <a:t>Employer</a:t>
              </a:r>
            </a:p>
          </p:txBody>
        </p:sp>
      </p:grpSp>
      <p:grpSp>
        <p:nvGrpSpPr>
          <p:cNvPr id="24580" name="Group 46">
            <a:extLst>
              <a:ext uri="{FF2B5EF4-FFF2-40B4-BE49-F238E27FC236}">
                <a16:creationId xmlns:a16="http://schemas.microsoft.com/office/drawing/2014/main" id="{27FDC42D-35FD-4F6D-8C7F-99F7D40469A8}"/>
              </a:ext>
            </a:extLst>
          </p:cNvPr>
          <p:cNvGrpSpPr>
            <a:grpSpLocks/>
          </p:cNvGrpSpPr>
          <p:nvPr/>
        </p:nvGrpSpPr>
        <p:grpSpPr bwMode="auto">
          <a:xfrm>
            <a:off x="3373438" y="3419475"/>
            <a:ext cx="2392362" cy="1665288"/>
            <a:chOff x="2231" y="2298"/>
            <a:chExt cx="1583" cy="1119"/>
          </a:xfrm>
        </p:grpSpPr>
        <p:grpSp>
          <p:nvGrpSpPr>
            <p:cNvPr id="24760" name="Group 47">
              <a:extLst>
                <a:ext uri="{FF2B5EF4-FFF2-40B4-BE49-F238E27FC236}">
                  <a16:creationId xmlns:a16="http://schemas.microsoft.com/office/drawing/2014/main" id="{2554CC55-B222-4B45-A5DB-353772C10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2298"/>
              <a:ext cx="1583" cy="1119"/>
              <a:chOff x="2231" y="2298"/>
              <a:chExt cx="1583" cy="1119"/>
            </a:xfrm>
          </p:grpSpPr>
          <p:sp>
            <p:nvSpPr>
              <p:cNvPr id="24762" name="Freeform 48">
                <a:extLst>
                  <a:ext uri="{FF2B5EF4-FFF2-40B4-BE49-F238E27FC236}">
                    <a16:creationId xmlns:a16="http://schemas.microsoft.com/office/drawing/2014/main" id="{9435571F-A50F-46D0-A9FC-040F58B30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2458"/>
                <a:ext cx="1272" cy="943"/>
              </a:xfrm>
              <a:custGeom>
                <a:avLst/>
                <a:gdLst>
                  <a:gd name="T0" fmla="*/ 1271 w 1272"/>
                  <a:gd name="T1" fmla="*/ 942 h 943"/>
                  <a:gd name="T2" fmla="*/ 1271 w 1272"/>
                  <a:gd name="T3" fmla="*/ 0 h 943"/>
                  <a:gd name="T4" fmla="*/ 0 w 1272"/>
                  <a:gd name="T5" fmla="*/ 0 h 943"/>
                  <a:gd name="T6" fmla="*/ 0 w 1272"/>
                  <a:gd name="T7" fmla="*/ 942 h 943"/>
                  <a:gd name="T8" fmla="*/ 1271 w 1272"/>
                  <a:gd name="T9" fmla="*/ 942 h 9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2"/>
                  <a:gd name="T16" fmla="*/ 0 h 943"/>
                  <a:gd name="T17" fmla="*/ 1272 w 1272"/>
                  <a:gd name="T18" fmla="*/ 943 h 9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2" h="943">
                    <a:moveTo>
                      <a:pt x="1271" y="942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271" y="94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3" name="Freeform 49">
                <a:extLst>
                  <a:ext uri="{FF2B5EF4-FFF2-40B4-BE49-F238E27FC236}">
                    <a16:creationId xmlns:a16="http://schemas.microsoft.com/office/drawing/2014/main" id="{E2412C5B-34F4-43AA-B624-5D1AC9A1B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2450"/>
                <a:ext cx="10" cy="951"/>
              </a:xfrm>
              <a:custGeom>
                <a:avLst/>
                <a:gdLst>
                  <a:gd name="T0" fmla="*/ 5 w 10"/>
                  <a:gd name="T1" fmla="*/ 17 h 951"/>
                  <a:gd name="T2" fmla="*/ 0 w 10"/>
                  <a:gd name="T3" fmla="*/ 8 h 951"/>
                  <a:gd name="T4" fmla="*/ 0 w 10"/>
                  <a:gd name="T5" fmla="*/ 950 h 951"/>
                  <a:gd name="T6" fmla="*/ 9 w 10"/>
                  <a:gd name="T7" fmla="*/ 950 h 951"/>
                  <a:gd name="T8" fmla="*/ 9 w 10"/>
                  <a:gd name="T9" fmla="*/ 8 h 951"/>
                  <a:gd name="T10" fmla="*/ 5 w 10"/>
                  <a:gd name="T11" fmla="*/ 0 h 951"/>
                  <a:gd name="T12" fmla="*/ 9 w 10"/>
                  <a:gd name="T13" fmla="*/ 8 h 951"/>
                  <a:gd name="T14" fmla="*/ 9 w 10"/>
                  <a:gd name="T15" fmla="*/ 0 h 951"/>
                  <a:gd name="T16" fmla="*/ 5 w 10"/>
                  <a:gd name="T17" fmla="*/ 0 h 951"/>
                  <a:gd name="T18" fmla="*/ 5 w 10"/>
                  <a:gd name="T19" fmla="*/ 17 h 9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951"/>
                  <a:gd name="T32" fmla="*/ 10 w 10"/>
                  <a:gd name="T33" fmla="*/ 951 h 9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951">
                    <a:moveTo>
                      <a:pt x="5" y="17"/>
                    </a:moveTo>
                    <a:lnTo>
                      <a:pt x="0" y="8"/>
                    </a:lnTo>
                    <a:lnTo>
                      <a:pt x="0" y="950"/>
                    </a:lnTo>
                    <a:lnTo>
                      <a:pt x="9" y="95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4" name="Freeform 50">
                <a:extLst>
                  <a:ext uri="{FF2B5EF4-FFF2-40B4-BE49-F238E27FC236}">
                    <a16:creationId xmlns:a16="http://schemas.microsoft.com/office/drawing/2014/main" id="{E774D7ED-2655-4C4C-8436-815A8BDF1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2450"/>
                <a:ext cx="1279" cy="12"/>
              </a:xfrm>
              <a:custGeom>
                <a:avLst/>
                <a:gdLst>
                  <a:gd name="T0" fmla="*/ 7 w 1279"/>
                  <a:gd name="T1" fmla="*/ 5 h 12"/>
                  <a:gd name="T2" fmla="*/ 7 w 1279"/>
                  <a:gd name="T3" fmla="*/ 11 h 12"/>
                  <a:gd name="T4" fmla="*/ 1278 w 1279"/>
                  <a:gd name="T5" fmla="*/ 11 h 12"/>
                  <a:gd name="T6" fmla="*/ 1278 w 1279"/>
                  <a:gd name="T7" fmla="*/ 0 h 12"/>
                  <a:gd name="T8" fmla="*/ 7 w 1279"/>
                  <a:gd name="T9" fmla="*/ 0 h 12"/>
                  <a:gd name="T10" fmla="*/ 0 w 1279"/>
                  <a:gd name="T11" fmla="*/ 5 h 12"/>
                  <a:gd name="T12" fmla="*/ 7 w 1279"/>
                  <a:gd name="T13" fmla="*/ 0 h 12"/>
                  <a:gd name="T14" fmla="*/ 0 w 1279"/>
                  <a:gd name="T15" fmla="*/ 0 h 12"/>
                  <a:gd name="T16" fmla="*/ 0 w 1279"/>
                  <a:gd name="T17" fmla="*/ 5 h 12"/>
                  <a:gd name="T18" fmla="*/ 7 w 1279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9"/>
                  <a:gd name="T31" fmla="*/ 0 h 12"/>
                  <a:gd name="T32" fmla="*/ 1279 w 127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9" h="12">
                    <a:moveTo>
                      <a:pt x="7" y="5"/>
                    </a:moveTo>
                    <a:lnTo>
                      <a:pt x="7" y="11"/>
                    </a:lnTo>
                    <a:lnTo>
                      <a:pt x="1278" y="11"/>
                    </a:lnTo>
                    <a:lnTo>
                      <a:pt x="1278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5" name="Freeform 51">
                <a:extLst>
                  <a:ext uri="{FF2B5EF4-FFF2-40B4-BE49-F238E27FC236}">
                    <a16:creationId xmlns:a16="http://schemas.microsoft.com/office/drawing/2014/main" id="{14E621B4-EC32-48AF-A5CC-A1B9E99374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2458"/>
                <a:ext cx="2" cy="951"/>
              </a:xfrm>
              <a:custGeom>
                <a:avLst/>
                <a:gdLst>
                  <a:gd name="T0" fmla="*/ 1 w 2"/>
                  <a:gd name="T1" fmla="*/ 933 h 951"/>
                  <a:gd name="T2" fmla="*/ 1 w 2"/>
                  <a:gd name="T3" fmla="*/ 942 h 951"/>
                  <a:gd name="T4" fmla="*/ 1 w 2"/>
                  <a:gd name="T5" fmla="*/ 0 h 951"/>
                  <a:gd name="T6" fmla="*/ 0 w 2"/>
                  <a:gd name="T7" fmla="*/ 0 h 951"/>
                  <a:gd name="T8" fmla="*/ 0 w 2"/>
                  <a:gd name="T9" fmla="*/ 942 h 951"/>
                  <a:gd name="T10" fmla="*/ 1 w 2"/>
                  <a:gd name="T11" fmla="*/ 950 h 951"/>
                  <a:gd name="T12" fmla="*/ 0 w 2"/>
                  <a:gd name="T13" fmla="*/ 942 h 951"/>
                  <a:gd name="T14" fmla="*/ 0 w 2"/>
                  <a:gd name="T15" fmla="*/ 950 h 951"/>
                  <a:gd name="T16" fmla="*/ 1 w 2"/>
                  <a:gd name="T17" fmla="*/ 950 h 951"/>
                  <a:gd name="T18" fmla="*/ 1 w 2"/>
                  <a:gd name="T19" fmla="*/ 933 h 9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951"/>
                  <a:gd name="T32" fmla="*/ 2 w 2"/>
                  <a:gd name="T33" fmla="*/ 951 h 9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951">
                    <a:moveTo>
                      <a:pt x="1" y="933"/>
                    </a:moveTo>
                    <a:lnTo>
                      <a:pt x="1" y="94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" y="950"/>
                    </a:lnTo>
                    <a:lnTo>
                      <a:pt x="0" y="942"/>
                    </a:lnTo>
                    <a:lnTo>
                      <a:pt x="0" y="950"/>
                    </a:lnTo>
                    <a:lnTo>
                      <a:pt x="1" y="950"/>
                    </a:lnTo>
                    <a:lnTo>
                      <a:pt x="1" y="9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6" name="Freeform 52">
                <a:extLst>
                  <a:ext uri="{FF2B5EF4-FFF2-40B4-BE49-F238E27FC236}">
                    <a16:creationId xmlns:a16="http://schemas.microsoft.com/office/drawing/2014/main" id="{38B2C90F-C7A3-4761-B1D1-75C5F797D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3397"/>
                <a:ext cx="1279" cy="12"/>
              </a:xfrm>
              <a:custGeom>
                <a:avLst/>
                <a:gdLst>
                  <a:gd name="T0" fmla="*/ 1263 w 1279"/>
                  <a:gd name="T1" fmla="*/ 6 h 12"/>
                  <a:gd name="T2" fmla="*/ 1271 w 1279"/>
                  <a:gd name="T3" fmla="*/ 0 h 12"/>
                  <a:gd name="T4" fmla="*/ 0 w 1279"/>
                  <a:gd name="T5" fmla="*/ 0 h 12"/>
                  <a:gd name="T6" fmla="*/ 0 w 1279"/>
                  <a:gd name="T7" fmla="*/ 11 h 12"/>
                  <a:gd name="T8" fmla="*/ 1271 w 1279"/>
                  <a:gd name="T9" fmla="*/ 11 h 12"/>
                  <a:gd name="T10" fmla="*/ 1278 w 1279"/>
                  <a:gd name="T11" fmla="*/ 6 h 12"/>
                  <a:gd name="T12" fmla="*/ 1271 w 1279"/>
                  <a:gd name="T13" fmla="*/ 11 h 12"/>
                  <a:gd name="T14" fmla="*/ 1278 w 1279"/>
                  <a:gd name="T15" fmla="*/ 11 h 12"/>
                  <a:gd name="T16" fmla="*/ 1278 w 1279"/>
                  <a:gd name="T17" fmla="*/ 6 h 12"/>
                  <a:gd name="T18" fmla="*/ 1263 w 1279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9"/>
                  <a:gd name="T31" fmla="*/ 0 h 12"/>
                  <a:gd name="T32" fmla="*/ 1279 w 1279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9" h="12">
                    <a:moveTo>
                      <a:pt x="1263" y="6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71" y="11"/>
                    </a:lnTo>
                    <a:lnTo>
                      <a:pt x="1278" y="6"/>
                    </a:lnTo>
                    <a:lnTo>
                      <a:pt x="1271" y="11"/>
                    </a:lnTo>
                    <a:lnTo>
                      <a:pt x="1278" y="11"/>
                    </a:lnTo>
                    <a:lnTo>
                      <a:pt x="1278" y="6"/>
                    </a:lnTo>
                    <a:lnTo>
                      <a:pt x="126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7" name="Freeform 53">
                <a:extLst>
                  <a:ext uri="{FF2B5EF4-FFF2-40B4-BE49-F238E27FC236}">
                    <a16:creationId xmlns:a16="http://schemas.microsoft.com/office/drawing/2014/main" id="{717E4FCA-DF8A-416C-875E-A8F75D21B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306"/>
                <a:ext cx="1421" cy="147"/>
              </a:xfrm>
              <a:custGeom>
                <a:avLst/>
                <a:gdLst>
                  <a:gd name="T0" fmla="*/ 50 w 1421"/>
                  <a:gd name="T1" fmla="*/ 0 h 147"/>
                  <a:gd name="T2" fmla="*/ 0 w 1421"/>
                  <a:gd name="T3" fmla="*/ 146 h 147"/>
                  <a:gd name="T4" fmla="*/ 1420 w 1421"/>
                  <a:gd name="T5" fmla="*/ 146 h 147"/>
                  <a:gd name="T6" fmla="*/ 1377 w 1421"/>
                  <a:gd name="T7" fmla="*/ 0 h 147"/>
                  <a:gd name="T8" fmla="*/ 50 w 1421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1"/>
                  <a:gd name="T16" fmla="*/ 0 h 147"/>
                  <a:gd name="T17" fmla="*/ 1421 w 1421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1" h="147">
                    <a:moveTo>
                      <a:pt x="50" y="0"/>
                    </a:moveTo>
                    <a:lnTo>
                      <a:pt x="0" y="146"/>
                    </a:lnTo>
                    <a:lnTo>
                      <a:pt x="1420" y="146"/>
                    </a:lnTo>
                    <a:lnTo>
                      <a:pt x="1377" y="0"/>
                    </a:lnTo>
                    <a:lnTo>
                      <a:pt x="50" y="0"/>
                    </a:lnTo>
                  </a:path>
                </a:pathLst>
              </a:custGeom>
              <a:solidFill>
                <a:srgbClr val="006B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8" name="Freeform 54">
                <a:extLst>
                  <a:ext uri="{FF2B5EF4-FFF2-40B4-BE49-F238E27FC236}">
                    <a16:creationId xmlns:a16="http://schemas.microsoft.com/office/drawing/2014/main" id="{E2E0C17A-017A-4D80-94B7-EE820377A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306"/>
                <a:ext cx="52" cy="156"/>
              </a:xfrm>
              <a:custGeom>
                <a:avLst/>
                <a:gdLst>
                  <a:gd name="T0" fmla="*/ 6 w 52"/>
                  <a:gd name="T1" fmla="*/ 139 h 156"/>
                  <a:gd name="T2" fmla="*/ 13 w 52"/>
                  <a:gd name="T3" fmla="*/ 146 h 156"/>
                  <a:gd name="T4" fmla="*/ 51 w 52"/>
                  <a:gd name="T5" fmla="*/ 0 h 156"/>
                  <a:gd name="T6" fmla="*/ 45 w 52"/>
                  <a:gd name="T7" fmla="*/ 0 h 156"/>
                  <a:gd name="T8" fmla="*/ 6 w 52"/>
                  <a:gd name="T9" fmla="*/ 139 h 156"/>
                  <a:gd name="T10" fmla="*/ 6 w 52"/>
                  <a:gd name="T11" fmla="*/ 155 h 156"/>
                  <a:gd name="T12" fmla="*/ 6 w 52"/>
                  <a:gd name="T13" fmla="*/ 139 h 156"/>
                  <a:gd name="T14" fmla="*/ 0 w 52"/>
                  <a:gd name="T15" fmla="*/ 146 h 156"/>
                  <a:gd name="T16" fmla="*/ 6 w 52"/>
                  <a:gd name="T17" fmla="*/ 155 h 156"/>
                  <a:gd name="T18" fmla="*/ 6 w 52"/>
                  <a:gd name="T19" fmla="*/ 139 h 1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2"/>
                  <a:gd name="T31" fmla="*/ 0 h 156"/>
                  <a:gd name="T32" fmla="*/ 52 w 52"/>
                  <a:gd name="T33" fmla="*/ 156 h 1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2" h="156">
                    <a:moveTo>
                      <a:pt x="6" y="139"/>
                    </a:moveTo>
                    <a:lnTo>
                      <a:pt x="13" y="146"/>
                    </a:lnTo>
                    <a:lnTo>
                      <a:pt x="51" y="0"/>
                    </a:lnTo>
                    <a:lnTo>
                      <a:pt x="45" y="0"/>
                    </a:lnTo>
                    <a:lnTo>
                      <a:pt x="6" y="139"/>
                    </a:lnTo>
                    <a:lnTo>
                      <a:pt x="6" y="155"/>
                    </a:lnTo>
                    <a:lnTo>
                      <a:pt x="6" y="139"/>
                    </a:lnTo>
                    <a:lnTo>
                      <a:pt x="0" y="146"/>
                    </a:lnTo>
                    <a:lnTo>
                      <a:pt x="6" y="155"/>
                    </a:lnTo>
                    <a:lnTo>
                      <a:pt x="6" y="13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9" name="Freeform 55">
                <a:extLst>
                  <a:ext uri="{FF2B5EF4-FFF2-40B4-BE49-F238E27FC236}">
                    <a16:creationId xmlns:a16="http://schemas.microsoft.com/office/drawing/2014/main" id="{86BF49FB-FEEB-4FF3-ADD9-EDF96DDAFD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450"/>
                <a:ext cx="1428" cy="12"/>
              </a:xfrm>
              <a:custGeom>
                <a:avLst/>
                <a:gdLst>
                  <a:gd name="T0" fmla="*/ 1412 w 1428"/>
                  <a:gd name="T1" fmla="*/ 5 h 12"/>
                  <a:gd name="T2" fmla="*/ 1420 w 1428"/>
                  <a:gd name="T3" fmla="*/ 0 h 12"/>
                  <a:gd name="T4" fmla="*/ 0 w 1428"/>
                  <a:gd name="T5" fmla="*/ 0 h 12"/>
                  <a:gd name="T6" fmla="*/ 0 w 1428"/>
                  <a:gd name="T7" fmla="*/ 11 h 12"/>
                  <a:gd name="T8" fmla="*/ 1420 w 1428"/>
                  <a:gd name="T9" fmla="*/ 11 h 12"/>
                  <a:gd name="T10" fmla="*/ 1427 w 1428"/>
                  <a:gd name="T11" fmla="*/ 0 h 12"/>
                  <a:gd name="T12" fmla="*/ 1420 w 1428"/>
                  <a:gd name="T13" fmla="*/ 11 h 12"/>
                  <a:gd name="T14" fmla="*/ 1427 w 1428"/>
                  <a:gd name="T15" fmla="*/ 5 h 12"/>
                  <a:gd name="T16" fmla="*/ 1427 w 1428"/>
                  <a:gd name="T17" fmla="*/ 0 h 12"/>
                  <a:gd name="T18" fmla="*/ 1412 w 1428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28"/>
                  <a:gd name="T31" fmla="*/ 0 h 12"/>
                  <a:gd name="T32" fmla="*/ 1428 w 1428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28" h="12">
                    <a:moveTo>
                      <a:pt x="1412" y="5"/>
                    </a:moveTo>
                    <a:lnTo>
                      <a:pt x="1420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420" y="11"/>
                    </a:lnTo>
                    <a:lnTo>
                      <a:pt x="1427" y="0"/>
                    </a:lnTo>
                    <a:lnTo>
                      <a:pt x="1420" y="11"/>
                    </a:lnTo>
                    <a:lnTo>
                      <a:pt x="1427" y="5"/>
                    </a:lnTo>
                    <a:lnTo>
                      <a:pt x="1427" y="0"/>
                    </a:lnTo>
                    <a:lnTo>
                      <a:pt x="1412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0" name="Freeform 56">
                <a:extLst>
                  <a:ext uri="{FF2B5EF4-FFF2-40B4-BE49-F238E27FC236}">
                    <a16:creationId xmlns:a16="http://schemas.microsoft.com/office/drawing/2014/main" id="{AC600E34-1855-426F-BBA0-6D026B21C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2298"/>
                <a:ext cx="52" cy="155"/>
              </a:xfrm>
              <a:custGeom>
                <a:avLst/>
                <a:gdLst>
                  <a:gd name="T0" fmla="*/ 6 w 52"/>
                  <a:gd name="T1" fmla="*/ 15 h 155"/>
                  <a:gd name="T2" fmla="*/ 0 w 52"/>
                  <a:gd name="T3" fmla="*/ 8 h 155"/>
                  <a:gd name="T4" fmla="*/ 38 w 52"/>
                  <a:gd name="T5" fmla="*/ 154 h 155"/>
                  <a:gd name="T6" fmla="*/ 51 w 52"/>
                  <a:gd name="T7" fmla="*/ 146 h 155"/>
                  <a:gd name="T8" fmla="*/ 6 w 52"/>
                  <a:gd name="T9" fmla="*/ 8 h 155"/>
                  <a:gd name="T10" fmla="*/ 6 w 52"/>
                  <a:gd name="T11" fmla="*/ 0 h 155"/>
                  <a:gd name="T12" fmla="*/ 6 w 52"/>
                  <a:gd name="T13" fmla="*/ 8 h 155"/>
                  <a:gd name="T14" fmla="*/ 6 w 52"/>
                  <a:gd name="T15" fmla="*/ 0 h 155"/>
                  <a:gd name="T16" fmla="*/ 6 w 52"/>
                  <a:gd name="T17" fmla="*/ 15 h 1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2"/>
                  <a:gd name="T28" fmla="*/ 0 h 155"/>
                  <a:gd name="T29" fmla="*/ 52 w 52"/>
                  <a:gd name="T30" fmla="*/ 155 h 1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2" h="155">
                    <a:moveTo>
                      <a:pt x="6" y="15"/>
                    </a:moveTo>
                    <a:lnTo>
                      <a:pt x="0" y="8"/>
                    </a:lnTo>
                    <a:lnTo>
                      <a:pt x="38" y="154"/>
                    </a:lnTo>
                    <a:lnTo>
                      <a:pt x="51" y="146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1" name="Freeform 57">
                <a:extLst>
                  <a:ext uri="{FF2B5EF4-FFF2-40B4-BE49-F238E27FC236}">
                    <a16:creationId xmlns:a16="http://schemas.microsoft.com/office/drawing/2014/main" id="{BD058872-5954-43F7-B3A6-7EAEC085B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298"/>
                <a:ext cx="1335" cy="11"/>
              </a:xfrm>
              <a:custGeom>
                <a:avLst/>
                <a:gdLst>
                  <a:gd name="T0" fmla="*/ 7 w 1335"/>
                  <a:gd name="T1" fmla="*/ 5 h 11"/>
                  <a:gd name="T2" fmla="*/ 7 w 1335"/>
                  <a:gd name="T3" fmla="*/ 10 h 11"/>
                  <a:gd name="T4" fmla="*/ 1334 w 1335"/>
                  <a:gd name="T5" fmla="*/ 10 h 11"/>
                  <a:gd name="T6" fmla="*/ 1334 w 1335"/>
                  <a:gd name="T7" fmla="*/ 0 h 11"/>
                  <a:gd name="T8" fmla="*/ 7 w 1335"/>
                  <a:gd name="T9" fmla="*/ 0 h 11"/>
                  <a:gd name="T10" fmla="*/ 0 w 1335"/>
                  <a:gd name="T11" fmla="*/ 5 h 11"/>
                  <a:gd name="T12" fmla="*/ 7 w 1335"/>
                  <a:gd name="T13" fmla="*/ 0 h 11"/>
                  <a:gd name="T14" fmla="*/ 0 w 1335"/>
                  <a:gd name="T15" fmla="*/ 0 h 11"/>
                  <a:gd name="T16" fmla="*/ 0 w 1335"/>
                  <a:gd name="T17" fmla="*/ 5 h 11"/>
                  <a:gd name="T18" fmla="*/ 7 w 1335"/>
                  <a:gd name="T19" fmla="*/ 5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35"/>
                  <a:gd name="T31" fmla="*/ 0 h 11"/>
                  <a:gd name="T32" fmla="*/ 1335 w 1335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35" h="11">
                    <a:moveTo>
                      <a:pt x="7" y="5"/>
                    </a:moveTo>
                    <a:lnTo>
                      <a:pt x="7" y="10"/>
                    </a:lnTo>
                    <a:lnTo>
                      <a:pt x="1334" y="10"/>
                    </a:lnTo>
                    <a:lnTo>
                      <a:pt x="133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2" name="Freeform 58">
                <a:extLst>
                  <a:ext uri="{FF2B5EF4-FFF2-40B4-BE49-F238E27FC236}">
                    <a16:creationId xmlns:a16="http://schemas.microsoft.com/office/drawing/2014/main" id="{ECA12E06-AB8D-47C0-84BA-45C70A059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093"/>
                <a:ext cx="123" cy="308"/>
              </a:xfrm>
              <a:custGeom>
                <a:avLst/>
                <a:gdLst>
                  <a:gd name="T0" fmla="*/ 0 w 123"/>
                  <a:gd name="T1" fmla="*/ 0 h 308"/>
                  <a:gd name="T2" fmla="*/ 0 w 123"/>
                  <a:gd name="T3" fmla="*/ 307 h 308"/>
                  <a:gd name="T4" fmla="*/ 122 w 123"/>
                  <a:gd name="T5" fmla="*/ 307 h 308"/>
                  <a:gd name="T6" fmla="*/ 122 w 123"/>
                  <a:gd name="T7" fmla="*/ 0 h 308"/>
                  <a:gd name="T8" fmla="*/ 0 w 123"/>
                  <a:gd name="T9" fmla="*/ 0 h 3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3"/>
                  <a:gd name="T16" fmla="*/ 0 h 308"/>
                  <a:gd name="T17" fmla="*/ 123 w 123"/>
                  <a:gd name="T18" fmla="*/ 308 h 3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3" h="308">
                    <a:moveTo>
                      <a:pt x="0" y="0"/>
                    </a:moveTo>
                    <a:lnTo>
                      <a:pt x="0" y="307"/>
                    </a:lnTo>
                    <a:lnTo>
                      <a:pt x="122" y="307"/>
                    </a:lnTo>
                    <a:lnTo>
                      <a:pt x="12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3" name="Freeform 59">
                <a:extLst>
                  <a:ext uri="{FF2B5EF4-FFF2-40B4-BE49-F238E27FC236}">
                    <a16:creationId xmlns:a16="http://schemas.microsoft.com/office/drawing/2014/main" id="{26A3310E-B791-4B81-85EA-B27507B13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3093"/>
                <a:ext cx="10" cy="316"/>
              </a:xfrm>
              <a:custGeom>
                <a:avLst/>
                <a:gdLst>
                  <a:gd name="T0" fmla="*/ 4 w 10"/>
                  <a:gd name="T1" fmla="*/ 298 h 316"/>
                  <a:gd name="T2" fmla="*/ 9 w 10"/>
                  <a:gd name="T3" fmla="*/ 307 h 316"/>
                  <a:gd name="T4" fmla="*/ 9 w 10"/>
                  <a:gd name="T5" fmla="*/ 0 h 316"/>
                  <a:gd name="T6" fmla="*/ 0 w 10"/>
                  <a:gd name="T7" fmla="*/ 0 h 316"/>
                  <a:gd name="T8" fmla="*/ 0 w 10"/>
                  <a:gd name="T9" fmla="*/ 307 h 316"/>
                  <a:gd name="T10" fmla="*/ 4 w 10"/>
                  <a:gd name="T11" fmla="*/ 315 h 316"/>
                  <a:gd name="T12" fmla="*/ 0 w 10"/>
                  <a:gd name="T13" fmla="*/ 307 h 316"/>
                  <a:gd name="T14" fmla="*/ 0 w 10"/>
                  <a:gd name="T15" fmla="*/ 315 h 316"/>
                  <a:gd name="T16" fmla="*/ 4 w 10"/>
                  <a:gd name="T17" fmla="*/ 315 h 316"/>
                  <a:gd name="T18" fmla="*/ 4 w 10"/>
                  <a:gd name="T19" fmla="*/ 298 h 3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316"/>
                  <a:gd name="T32" fmla="*/ 10 w 10"/>
                  <a:gd name="T33" fmla="*/ 316 h 3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316">
                    <a:moveTo>
                      <a:pt x="4" y="298"/>
                    </a:moveTo>
                    <a:lnTo>
                      <a:pt x="9" y="307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4" name="Freeform 60">
                <a:extLst>
                  <a:ext uri="{FF2B5EF4-FFF2-40B4-BE49-F238E27FC236}">
                    <a16:creationId xmlns:a16="http://schemas.microsoft.com/office/drawing/2014/main" id="{03E1F0F8-CE56-4149-B431-C2C30731B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397"/>
                <a:ext cx="130" cy="12"/>
              </a:xfrm>
              <a:custGeom>
                <a:avLst/>
                <a:gdLst>
                  <a:gd name="T0" fmla="*/ 116 w 130"/>
                  <a:gd name="T1" fmla="*/ 6 h 12"/>
                  <a:gd name="T2" fmla="*/ 122 w 130"/>
                  <a:gd name="T3" fmla="*/ 0 h 12"/>
                  <a:gd name="T4" fmla="*/ 0 w 130"/>
                  <a:gd name="T5" fmla="*/ 0 h 12"/>
                  <a:gd name="T6" fmla="*/ 0 w 130"/>
                  <a:gd name="T7" fmla="*/ 11 h 12"/>
                  <a:gd name="T8" fmla="*/ 122 w 130"/>
                  <a:gd name="T9" fmla="*/ 11 h 12"/>
                  <a:gd name="T10" fmla="*/ 129 w 130"/>
                  <a:gd name="T11" fmla="*/ 6 h 12"/>
                  <a:gd name="T12" fmla="*/ 122 w 130"/>
                  <a:gd name="T13" fmla="*/ 11 h 12"/>
                  <a:gd name="T14" fmla="*/ 129 w 130"/>
                  <a:gd name="T15" fmla="*/ 11 h 12"/>
                  <a:gd name="T16" fmla="*/ 129 w 130"/>
                  <a:gd name="T17" fmla="*/ 6 h 12"/>
                  <a:gd name="T18" fmla="*/ 116 w 1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0"/>
                  <a:gd name="T31" fmla="*/ 0 h 12"/>
                  <a:gd name="T32" fmla="*/ 130 w 1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0" h="12">
                    <a:moveTo>
                      <a:pt x="116" y="6"/>
                    </a:moveTo>
                    <a:lnTo>
                      <a:pt x="12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2" y="11"/>
                    </a:lnTo>
                    <a:lnTo>
                      <a:pt x="129" y="6"/>
                    </a:lnTo>
                    <a:lnTo>
                      <a:pt x="122" y="11"/>
                    </a:lnTo>
                    <a:lnTo>
                      <a:pt x="129" y="11"/>
                    </a:lnTo>
                    <a:lnTo>
                      <a:pt x="129" y="6"/>
                    </a:lnTo>
                    <a:lnTo>
                      <a:pt x="116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5" name="Freeform 61">
                <a:extLst>
                  <a:ext uri="{FF2B5EF4-FFF2-40B4-BE49-F238E27FC236}">
                    <a16:creationId xmlns:a16="http://schemas.microsoft.com/office/drawing/2014/main" id="{68934CFE-4C51-4CC4-9A53-163B5B5EB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3084"/>
                <a:ext cx="9" cy="317"/>
              </a:xfrm>
              <a:custGeom>
                <a:avLst/>
                <a:gdLst>
                  <a:gd name="T0" fmla="*/ 4 w 9"/>
                  <a:gd name="T1" fmla="*/ 17 h 317"/>
                  <a:gd name="T2" fmla="*/ 0 w 9"/>
                  <a:gd name="T3" fmla="*/ 9 h 317"/>
                  <a:gd name="T4" fmla="*/ 0 w 9"/>
                  <a:gd name="T5" fmla="*/ 316 h 317"/>
                  <a:gd name="T6" fmla="*/ 8 w 9"/>
                  <a:gd name="T7" fmla="*/ 316 h 317"/>
                  <a:gd name="T8" fmla="*/ 8 w 9"/>
                  <a:gd name="T9" fmla="*/ 9 h 317"/>
                  <a:gd name="T10" fmla="*/ 4 w 9"/>
                  <a:gd name="T11" fmla="*/ 0 h 317"/>
                  <a:gd name="T12" fmla="*/ 8 w 9"/>
                  <a:gd name="T13" fmla="*/ 9 h 317"/>
                  <a:gd name="T14" fmla="*/ 8 w 9"/>
                  <a:gd name="T15" fmla="*/ 0 h 317"/>
                  <a:gd name="T16" fmla="*/ 4 w 9"/>
                  <a:gd name="T17" fmla="*/ 0 h 317"/>
                  <a:gd name="T18" fmla="*/ 4 w 9"/>
                  <a:gd name="T19" fmla="*/ 17 h 3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17"/>
                  <a:gd name="T32" fmla="*/ 9 w 9"/>
                  <a:gd name="T33" fmla="*/ 317 h 31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17">
                    <a:moveTo>
                      <a:pt x="4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8" y="316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6" name="Freeform 62">
                <a:extLst>
                  <a:ext uri="{FF2B5EF4-FFF2-40B4-BE49-F238E27FC236}">
                    <a16:creationId xmlns:a16="http://schemas.microsoft.com/office/drawing/2014/main" id="{5BA7FA67-2ABB-4536-AFF2-7A608F35A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3084"/>
                <a:ext cx="130" cy="12"/>
              </a:xfrm>
              <a:custGeom>
                <a:avLst/>
                <a:gdLst>
                  <a:gd name="T0" fmla="*/ 14 w 130"/>
                  <a:gd name="T1" fmla="*/ 6 h 12"/>
                  <a:gd name="T2" fmla="*/ 7 w 130"/>
                  <a:gd name="T3" fmla="*/ 11 h 12"/>
                  <a:gd name="T4" fmla="*/ 129 w 130"/>
                  <a:gd name="T5" fmla="*/ 11 h 12"/>
                  <a:gd name="T6" fmla="*/ 129 w 130"/>
                  <a:gd name="T7" fmla="*/ 0 h 12"/>
                  <a:gd name="T8" fmla="*/ 7 w 130"/>
                  <a:gd name="T9" fmla="*/ 0 h 12"/>
                  <a:gd name="T10" fmla="*/ 0 w 130"/>
                  <a:gd name="T11" fmla="*/ 6 h 12"/>
                  <a:gd name="T12" fmla="*/ 7 w 130"/>
                  <a:gd name="T13" fmla="*/ 0 h 12"/>
                  <a:gd name="T14" fmla="*/ 0 w 130"/>
                  <a:gd name="T15" fmla="*/ 0 h 12"/>
                  <a:gd name="T16" fmla="*/ 0 w 130"/>
                  <a:gd name="T17" fmla="*/ 6 h 12"/>
                  <a:gd name="T18" fmla="*/ 14 w 1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0"/>
                  <a:gd name="T31" fmla="*/ 0 h 12"/>
                  <a:gd name="T32" fmla="*/ 130 w 1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0" h="12">
                    <a:moveTo>
                      <a:pt x="14" y="6"/>
                    </a:moveTo>
                    <a:lnTo>
                      <a:pt x="7" y="11"/>
                    </a:lnTo>
                    <a:lnTo>
                      <a:pt x="129" y="11"/>
                    </a:lnTo>
                    <a:lnTo>
                      <a:pt x="12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7" name="Freeform 63">
                <a:extLst>
                  <a:ext uri="{FF2B5EF4-FFF2-40B4-BE49-F238E27FC236}">
                    <a16:creationId xmlns:a16="http://schemas.microsoft.com/office/drawing/2014/main" id="{A32E4830-B0B5-4F98-A62A-3B12AA7BD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1" y="3093"/>
                <a:ext cx="115" cy="308"/>
              </a:xfrm>
              <a:custGeom>
                <a:avLst/>
                <a:gdLst>
                  <a:gd name="T0" fmla="*/ 0 w 115"/>
                  <a:gd name="T1" fmla="*/ 0 h 308"/>
                  <a:gd name="T2" fmla="*/ 0 w 115"/>
                  <a:gd name="T3" fmla="*/ 307 h 308"/>
                  <a:gd name="T4" fmla="*/ 114 w 115"/>
                  <a:gd name="T5" fmla="*/ 307 h 308"/>
                  <a:gd name="T6" fmla="*/ 114 w 115"/>
                  <a:gd name="T7" fmla="*/ 0 h 308"/>
                  <a:gd name="T8" fmla="*/ 0 w 115"/>
                  <a:gd name="T9" fmla="*/ 0 h 3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308"/>
                  <a:gd name="T17" fmla="*/ 115 w 115"/>
                  <a:gd name="T18" fmla="*/ 308 h 3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308">
                    <a:moveTo>
                      <a:pt x="0" y="0"/>
                    </a:moveTo>
                    <a:lnTo>
                      <a:pt x="0" y="307"/>
                    </a:lnTo>
                    <a:lnTo>
                      <a:pt x="114" y="307"/>
                    </a:lnTo>
                    <a:lnTo>
                      <a:pt x="11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8" name="Freeform 64">
                <a:extLst>
                  <a:ext uri="{FF2B5EF4-FFF2-40B4-BE49-F238E27FC236}">
                    <a16:creationId xmlns:a16="http://schemas.microsoft.com/office/drawing/2014/main" id="{E9148E38-FCB0-4311-86AF-CBAEA0C6F5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3093"/>
                <a:ext cx="9" cy="316"/>
              </a:xfrm>
              <a:custGeom>
                <a:avLst/>
                <a:gdLst>
                  <a:gd name="T0" fmla="*/ 4 w 9"/>
                  <a:gd name="T1" fmla="*/ 298 h 316"/>
                  <a:gd name="T2" fmla="*/ 8 w 9"/>
                  <a:gd name="T3" fmla="*/ 307 h 316"/>
                  <a:gd name="T4" fmla="*/ 8 w 9"/>
                  <a:gd name="T5" fmla="*/ 0 h 316"/>
                  <a:gd name="T6" fmla="*/ 0 w 9"/>
                  <a:gd name="T7" fmla="*/ 0 h 316"/>
                  <a:gd name="T8" fmla="*/ 0 w 9"/>
                  <a:gd name="T9" fmla="*/ 307 h 316"/>
                  <a:gd name="T10" fmla="*/ 4 w 9"/>
                  <a:gd name="T11" fmla="*/ 315 h 316"/>
                  <a:gd name="T12" fmla="*/ 0 w 9"/>
                  <a:gd name="T13" fmla="*/ 307 h 316"/>
                  <a:gd name="T14" fmla="*/ 0 w 9"/>
                  <a:gd name="T15" fmla="*/ 315 h 316"/>
                  <a:gd name="T16" fmla="*/ 4 w 9"/>
                  <a:gd name="T17" fmla="*/ 315 h 316"/>
                  <a:gd name="T18" fmla="*/ 4 w 9"/>
                  <a:gd name="T19" fmla="*/ 298 h 3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16"/>
                  <a:gd name="T32" fmla="*/ 9 w 9"/>
                  <a:gd name="T33" fmla="*/ 316 h 3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16">
                    <a:moveTo>
                      <a:pt x="4" y="298"/>
                    </a:moveTo>
                    <a:lnTo>
                      <a:pt x="8" y="307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9" name="Freeform 65">
                <a:extLst>
                  <a:ext uri="{FF2B5EF4-FFF2-40B4-BE49-F238E27FC236}">
                    <a16:creationId xmlns:a16="http://schemas.microsoft.com/office/drawing/2014/main" id="{A57DCC05-54B9-47EF-9016-A444146AF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1" y="3397"/>
                <a:ext cx="122" cy="12"/>
              </a:xfrm>
              <a:custGeom>
                <a:avLst/>
                <a:gdLst>
                  <a:gd name="T0" fmla="*/ 114 w 122"/>
                  <a:gd name="T1" fmla="*/ 6 h 12"/>
                  <a:gd name="T2" fmla="*/ 114 w 122"/>
                  <a:gd name="T3" fmla="*/ 0 h 12"/>
                  <a:gd name="T4" fmla="*/ 0 w 122"/>
                  <a:gd name="T5" fmla="*/ 0 h 12"/>
                  <a:gd name="T6" fmla="*/ 0 w 122"/>
                  <a:gd name="T7" fmla="*/ 11 h 12"/>
                  <a:gd name="T8" fmla="*/ 114 w 122"/>
                  <a:gd name="T9" fmla="*/ 11 h 12"/>
                  <a:gd name="T10" fmla="*/ 121 w 122"/>
                  <a:gd name="T11" fmla="*/ 6 h 12"/>
                  <a:gd name="T12" fmla="*/ 114 w 122"/>
                  <a:gd name="T13" fmla="*/ 11 h 12"/>
                  <a:gd name="T14" fmla="*/ 121 w 122"/>
                  <a:gd name="T15" fmla="*/ 11 h 12"/>
                  <a:gd name="T16" fmla="*/ 121 w 122"/>
                  <a:gd name="T17" fmla="*/ 6 h 12"/>
                  <a:gd name="T18" fmla="*/ 114 w 12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2"/>
                  <a:gd name="T32" fmla="*/ 122 w 12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2">
                    <a:moveTo>
                      <a:pt x="114" y="6"/>
                    </a:moveTo>
                    <a:lnTo>
                      <a:pt x="114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14" y="11"/>
                    </a:lnTo>
                    <a:lnTo>
                      <a:pt x="121" y="6"/>
                    </a:lnTo>
                    <a:lnTo>
                      <a:pt x="114" y="11"/>
                    </a:lnTo>
                    <a:lnTo>
                      <a:pt x="121" y="11"/>
                    </a:lnTo>
                    <a:lnTo>
                      <a:pt x="121" y="6"/>
                    </a:lnTo>
                    <a:lnTo>
                      <a:pt x="1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0" name="Freeform 66">
                <a:extLst>
                  <a:ext uri="{FF2B5EF4-FFF2-40B4-BE49-F238E27FC236}">
                    <a16:creationId xmlns:a16="http://schemas.microsoft.com/office/drawing/2014/main" id="{437043C3-98AE-4FDB-821A-1731B220E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3084"/>
                <a:ext cx="2" cy="317"/>
              </a:xfrm>
              <a:custGeom>
                <a:avLst/>
                <a:gdLst>
                  <a:gd name="T0" fmla="*/ 0 w 2"/>
                  <a:gd name="T1" fmla="*/ 17 h 317"/>
                  <a:gd name="T2" fmla="*/ 0 w 2"/>
                  <a:gd name="T3" fmla="*/ 9 h 317"/>
                  <a:gd name="T4" fmla="*/ 0 w 2"/>
                  <a:gd name="T5" fmla="*/ 316 h 317"/>
                  <a:gd name="T6" fmla="*/ 1 w 2"/>
                  <a:gd name="T7" fmla="*/ 316 h 317"/>
                  <a:gd name="T8" fmla="*/ 1 w 2"/>
                  <a:gd name="T9" fmla="*/ 9 h 317"/>
                  <a:gd name="T10" fmla="*/ 0 w 2"/>
                  <a:gd name="T11" fmla="*/ 0 h 317"/>
                  <a:gd name="T12" fmla="*/ 1 w 2"/>
                  <a:gd name="T13" fmla="*/ 9 h 317"/>
                  <a:gd name="T14" fmla="*/ 1 w 2"/>
                  <a:gd name="T15" fmla="*/ 0 h 317"/>
                  <a:gd name="T16" fmla="*/ 0 w 2"/>
                  <a:gd name="T17" fmla="*/ 0 h 317"/>
                  <a:gd name="T18" fmla="*/ 0 w 2"/>
                  <a:gd name="T19" fmla="*/ 17 h 3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317"/>
                  <a:gd name="T32" fmla="*/ 2 w 2"/>
                  <a:gd name="T33" fmla="*/ 317 h 31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317">
                    <a:moveTo>
                      <a:pt x="0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1" y="316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1" name="Freeform 67">
                <a:extLst>
                  <a:ext uri="{FF2B5EF4-FFF2-40B4-BE49-F238E27FC236}">
                    <a16:creationId xmlns:a16="http://schemas.microsoft.com/office/drawing/2014/main" id="{F6BBB1F1-96B0-410E-8232-465CBB8C5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3084"/>
                <a:ext cx="122" cy="12"/>
              </a:xfrm>
              <a:custGeom>
                <a:avLst/>
                <a:gdLst>
                  <a:gd name="T0" fmla="*/ 13 w 122"/>
                  <a:gd name="T1" fmla="*/ 6 h 12"/>
                  <a:gd name="T2" fmla="*/ 7 w 122"/>
                  <a:gd name="T3" fmla="*/ 11 h 12"/>
                  <a:gd name="T4" fmla="*/ 121 w 122"/>
                  <a:gd name="T5" fmla="*/ 11 h 12"/>
                  <a:gd name="T6" fmla="*/ 121 w 122"/>
                  <a:gd name="T7" fmla="*/ 0 h 12"/>
                  <a:gd name="T8" fmla="*/ 7 w 122"/>
                  <a:gd name="T9" fmla="*/ 0 h 12"/>
                  <a:gd name="T10" fmla="*/ 0 w 122"/>
                  <a:gd name="T11" fmla="*/ 6 h 12"/>
                  <a:gd name="T12" fmla="*/ 7 w 122"/>
                  <a:gd name="T13" fmla="*/ 0 h 12"/>
                  <a:gd name="T14" fmla="*/ 0 w 122"/>
                  <a:gd name="T15" fmla="*/ 0 h 12"/>
                  <a:gd name="T16" fmla="*/ 0 w 122"/>
                  <a:gd name="T17" fmla="*/ 6 h 12"/>
                  <a:gd name="T18" fmla="*/ 13 w 12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2"/>
                  <a:gd name="T31" fmla="*/ 0 h 12"/>
                  <a:gd name="T32" fmla="*/ 122 w 12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2" h="12">
                    <a:moveTo>
                      <a:pt x="13" y="6"/>
                    </a:moveTo>
                    <a:lnTo>
                      <a:pt x="7" y="11"/>
                    </a:lnTo>
                    <a:lnTo>
                      <a:pt x="121" y="11"/>
                    </a:lnTo>
                    <a:lnTo>
                      <a:pt x="12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2" name="Freeform 68">
                <a:extLst>
                  <a:ext uri="{FF2B5EF4-FFF2-40B4-BE49-F238E27FC236}">
                    <a16:creationId xmlns:a16="http://schemas.microsoft.com/office/drawing/2014/main" id="{E3688E01-56A6-41B0-B98A-917EBC55B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551"/>
                <a:ext cx="165" cy="173"/>
              </a:xfrm>
              <a:custGeom>
                <a:avLst/>
                <a:gdLst>
                  <a:gd name="T0" fmla="*/ 164 w 165"/>
                  <a:gd name="T1" fmla="*/ 172 h 173"/>
                  <a:gd name="T2" fmla="*/ 164 w 165"/>
                  <a:gd name="T3" fmla="*/ 0 h 173"/>
                  <a:gd name="T4" fmla="*/ 0 w 165"/>
                  <a:gd name="T5" fmla="*/ 0 h 173"/>
                  <a:gd name="T6" fmla="*/ 0 w 165"/>
                  <a:gd name="T7" fmla="*/ 172 h 173"/>
                  <a:gd name="T8" fmla="*/ 164 w 165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5"/>
                  <a:gd name="T16" fmla="*/ 0 h 173"/>
                  <a:gd name="T17" fmla="*/ 165 w 165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5" h="173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3" name="Freeform 69">
                <a:extLst>
                  <a:ext uri="{FF2B5EF4-FFF2-40B4-BE49-F238E27FC236}">
                    <a16:creationId xmlns:a16="http://schemas.microsoft.com/office/drawing/2014/main" id="{05B808CE-7274-41F6-8E03-C9117D6CC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2543"/>
                <a:ext cx="2" cy="181"/>
              </a:xfrm>
              <a:custGeom>
                <a:avLst/>
                <a:gdLst>
                  <a:gd name="T0" fmla="*/ 1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1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1 w 2"/>
                  <a:gd name="T17" fmla="*/ 16 h 1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81"/>
                  <a:gd name="T29" fmla="*/ 2 w 2"/>
                  <a:gd name="T30" fmla="*/ 181 h 1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81">
                    <a:moveTo>
                      <a:pt x="1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4" name="Freeform 70">
                <a:extLst>
                  <a:ext uri="{FF2B5EF4-FFF2-40B4-BE49-F238E27FC236}">
                    <a16:creationId xmlns:a16="http://schemas.microsoft.com/office/drawing/2014/main" id="{CA72BB67-C031-4B1B-B1A2-F69895BD7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543"/>
                <a:ext cx="172" cy="12"/>
              </a:xfrm>
              <a:custGeom>
                <a:avLst/>
                <a:gdLst>
                  <a:gd name="T0" fmla="*/ 7 w 172"/>
                  <a:gd name="T1" fmla="*/ 5 h 12"/>
                  <a:gd name="T2" fmla="*/ 7 w 172"/>
                  <a:gd name="T3" fmla="*/ 11 h 12"/>
                  <a:gd name="T4" fmla="*/ 171 w 172"/>
                  <a:gd name="T5" fmla="*/ 11 h 12"/>
                  <a:gd name="T6" fmla="*/ 171 w 172"/>
                  <a:gd name="T7" fmla="*/ 0 h 12"/>
                  <a:gd name="T8" fmla="*/ 7 w 172"/>
                  <a:gd name="T9" fmla="*/ 0 h 12"/>
                  <a:gd name="T10" fmla="*/ 0 w 172"/>
                  <a:gd name="T11" fmla="*/ 5 h 12"/>
                  <a:gd name="T12" fmla="*/ 7 w 172"/>
                  <a:gd name="T13" fmla="*/ 0 h 12"/>
                  <a:gd name="T14" fmla="*/ 0 w 172"/>
                  <a:gd name="T15" fmla="*/ 0 h 12"/>
                  <a:gd name="T16" fmla="*/ 0 w 172"/>
                  <a:gd name="T17" fmla="*/ 5 h 12"/>
                  <a:gd name="T18" fmla="*/ 7 w 172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12"/>
                  <a:gd name="T32" fmla="*/ 172 w 17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12">
                    <a:moveTo>
                      <a:pt x="7" y="5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5" name="Freeform 71">
                <a:extLst>
                  <a:ext uri="{FF2B5EF4-FFF2-40B4-BE49-F238E27FC236}">
                    <a16:creationId xmlns:a16="http://schemas.microsoft.com/office/drawing/2014/main" id="{BF3F9FA5-ABBF-4219-9E3B-05D7916DA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6" name="Freeform 72">
                <a:extLst>
                  <a:ext uri="{FF2B5EF4-FFF2-40B4-BE49-F238E27FC236}">
                    <a16:creationId xmlns:a16="http://schemas.microsoft.com/office/drawing/2014/main" id="{CFA08DD6-CCC2-43CA-B443-9CB52B7FC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720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64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64 w 165"/>
                  <a:gd name="T9" fmla="*/ 3 h 4"/>
                  <a:gd name="T10" fmla="*/ 157 w 165"/>
                  <a:gd name="T11" fmla="*/ 3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"/>
                  <a:gd name="T20" fmla="*/ 165 w 165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7" name="Freeform 73">
                <a:extLst>
                  <a:ext uri="{FF2B5EF4-FFF2-40B4-BE49-F238E27FC236}">
                    <a16:creationId xmlns:a16="http://schemas.microsoft.com/office/drawing/2014/main" id="{24EA6E40-9900-4858-87FF-55929C3CF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551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8" name="Freeform 74">
                <a:extLst>
                  <a:ext uri="{FF2B5EF4-FFF2-40B4-BE49-F238E27FC236}">
                    <a16:creationId xmlns:a16="http://schemas.microsoft.com/office/drawing/2014/main" id="{419D56D4-7834-402A-94F8-3E2DC0002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2543"/>
                <a:ext cx="2" cy="181"/>
              </a:xfrm>
              <a:custGeom>
                <a:avLst/>
                <a:gdLst>
                  <a:gd name="T0" fmla="*/ 0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0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0 w 2"/>
                  <a:gd name="T17" fmla="*/ 0 h 181"/>
                  <a:gd name="T18" fmla="*/ 0 w 2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1"/>
                  <a:gd name="T32" fmla="*/ 2 w 2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9" name="Freeform 75">
                <a:extLst>
                  <a:ext uri="{FF2B5EF4-FFF2-40B4-BE49-F238E27FC236}">
                    <a16:creationId xmlns:a16="http://schemas.microsoft.com/office/drawing/2014/main" id="{29BEB706-C597-427F-BD8C-F12F1D5BB3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543"/>
                <a:ext cx="165" cy="12"/>
              </a:xfrm>
              <a:custGeom>
                <a:avLst/>
                <a:gdLst>
                  <a:gd name="T0" fmla="*/ 7 w 165"/>
                  <a:gd name="T1" fmla="*/ 5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5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5 h 12"/>
                  <a:gd name="T18" fmla="*/ 7 w 165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0" name="Freeform 76">
                <a:extLst>
                  <a:ext uri="{FF2B5EF4-FFF2-40B4-BE49-F238E27FC236}">
                    <a16:creationId xmlns:a16="http://schemas.microsoft.com/office/drawing/2014/main" id="{30A59AC3-DB88-4D7C-A68B-AC74E2C5A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1" name="Freeform 77">
                <a:extLst>
                  <a:ext uri="{FF2B5EF4-FFF2-40B4-BE49-F238E27FC236}">
                    <a16:creationId xmlns:a16="http://schemas.microsoft.com/office/drawing/2014/main" id="{2FCDC7B5-D270-4B37-AE8E-5AAE6C958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720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57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57 w 165"/>
                  <a:gd name="T9" fmla="*/ 3 h 4"/>
                  <a:gd name="T10" fmla="*/ 164 w 165"/>
                  <a:gd name="T11" fmla="*/ 3 h 4"/>
                  <a:gd name="T12" fmla="*/ 157 w 165"/>
                  <a:gd name="T13" fmla="*/ 3 h 4"/>
                  <a:gd name="T14" fmla="*/ 164 w 165"/>
                  <a:gd name="T15" fmla="*/ 3 h 4"/>
                  <a:gd name="T16" fmla="*/ 157 w 165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5"/>
                  <a:gd name="T28" fmla="*/ 0 h 4"/>
                  <a:gd name="T29" fmla="*/ 165 w 165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5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2" name="Freeform 78">
                <a:extLst>
                  <a:ext uri="{FF2B5EF4-FFF2-40B4-BE49-F238E27FC236}">
                    <a16:creationId xmlns:a16="http://schemas.microsoft.com/office/drawing/2014/main" id="{20554857-CC39-4AB1-84BC-D4837C057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551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3" name="Freeform 79">
                <a:extLst>
                  <a:ext uri="{FF2B5EF4-FFF2-40B4-BE49-F238E27FC236}">
                    <a16:creationId xmlns:a16="http://schemas.microsoft.com/office/drawing/2014/main" id="{F7256F4B-9BF0-4F3A-983F-864AFB5A7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2543"/>
                <a:ext cx="3" cy="181"/>
              </a:xfrm>
              <a:custGeom>
                <a:avLst/>
                <a:gdLst>
                  <a:gd name="T0" fmla="*/ 0 w 3"/>
                  <a:gd name="T1" fmla="*/ 16 h 181"/>
                  <a:gd name="T2" fmla="*/ 0 w 3"/>
                  <a:gd name="T3" fmla="*/ 8 h 181"/>
                  <a:gd name="T4" fmla="*/ 0 w 3"/>
                  <a:gd name="T5" fmla="*/ 180 h 181"/>
                  <a:gd name="T6" fmla="*/ 2 w 3"/>
                  <a:gd name="T7" fmla="*/ 180 h 181"/>
                  <a:gd name="T8" fmla="*/ 2 w 3"/>
                  <a:gd name="T9" fmla="*/ 8 h 181"/>
                  <a:gd name="T10" fmla="*/ 0 w 3"/>
                  <a:gd name="T11" fmla="*/ 0 h 181"/>
                  <a:gd name="T12" fmla="*/ 2 w 3"/>
                  <a:gd name="T13" fmla="*/ 8 h 181"/>
                  <a:gd name="T14" fmla="*/ 2 w 3"/>
                  <a:gd name="T15" fmla="*/ 0 h 181"/>
                  <a:gd name="T16" fmla="*/ 0 w 3"/>
                  <a:gd name="T17" fmla="*/ 0 h 181"/>
                  <a:gd name="T18" fmla="*/ 0 w 3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181"/>
                  <a:gd name="T32" fmla="*/ 3 w 3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2" y="180"/>
                    </a:lnTo>
                    <a:lnTo>
                      <a:pt x="2" y="8"/>
                    </a:lnTo>
                    <a:lnTo>
                      <a:pt x="0" y="0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4" name="Freeform 80">
                <a:extLst>
                  <a:ext uri="{FF2B5EF4-FFF2-40B4-BE49-F238E27FC236}">
                    <a16:creationId xmlns:a16="http://schemas.microsoft.com/office/drawing/2014/main" id="{374EF432-DEF1-44B0-9EF4-1AEC26FFF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543"/>
                <a:ext cx="165" cy="12"/>
              </a:xfrm>
              <a:custGeom>
                <a:avLst/>
                <a:gdLst>
                  <a:gd name="T0" fmla="*/ 7 w 165"/>
                  <a:gd name="T1" fmla="*/ 5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5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5 h 12"/>
                  <a:gd name="T18" fmla="*/ 7 w 165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5" name="Freeform 81">
                <a:extLst>
                  <a:ext uri="{FF2B5EF4-FFF2-40B4-BE49-F238E27FC236}">
                    <a16:creationId xmlns:a16="http://schemas.microsoft.com/office/drawing/2014/main" id="{EE662421-E00D-4F2F-BF84-D4A7613D9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551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6" name="Freeform 82">
                <a:extLst>
                  <a:ext uri="{FF2B5EF4-FFF2-40B4-BE49-F238E27FC236}">
                    <a16:creationId xmlns:a16="http://schemas.microsoft.com/office/drawing/2014/main" id="{08EA58C9-CBE2-4FD6-A3E6-169398036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720"/>
                <a:ext cx="166" cy="4"/>
              </a:xfrm>
              <a:custGeom>
                <a:avLst/>
                <a:gdLst>
                  <a:gd name="T0" fmla="*/ 157 w 166"/>
                  <a:gd name="T1" fmla="*/ 3 h 4"/>
                  <a:gd name="T2" fmla="*/ 157 w 166"/>
                  <a:gd name="T3" fmla="*/ 0 h 4"/>
                  <a:gd name="T4" fmla="*/ 0 w 166"/>
                  <a:gd name="T5" fmla="*/ 0 h 4"/>
                  <a:gd name="T6" fmla="*/ 0 w 166"/>
                  <a:gd name="T7" fmla="*/ 3 h 4"/>
                  <a:gd name="T8" fmla="*/ 157 w 166"/>
                  <a:gd name="T9" fmla="*/ 3 h 4"/>
                  <a:gd name="T10" fmla="*/ 165 w 166"/>
                  <a:gd name="T11" fmla="*/ 3 h 4"/>
                  <a:gd name="T12" fmla="*/ 157 w 166"/>
                  <a:gd name="T13" fmla="*/ 3 h 4"/>
                  <a:gd name="T14" fmla="*/ 165 w 166"/>
                  <a:gd name="T15" fmla="*/ 3 h 4"/>
                  <a:gd name="T16" fmla="*/ 157 w 166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4"/>
                  <a:gd name="T29" fmla="*/ 166 w 166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7" name="Freeform 83">
                <a:extLst>
                  <a:ext uri="{FF2B5EF4-FFF2-40B4-BE49-F238E27FC236}">
                    <a16:creationId xmlns:a16="http://schemas.microsoft.com/office/drawing/2014/main" id="{3B4CE9C2-6F25-4377-B8CE-620FA7CF4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51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8" name="Freeform 84">
                <a:extLst>
                  <a:ext uri="{FF2B5EF4-FFF2-40B4-BE49-F238E27FC236}">
                    <a16:creationId xmlns:a16="http://schemas.microsoft.com/office/drawing/2014/main" id="{EB3E5E32-4CFE-48BC-9DB0-102C7E175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543"/>
                <a:ext cx="2" cy="181"/>
              </a:xfrm>
              <a:custGeom>
                <a:avLst/>
                <a:gdLst>
                  <a:gd name="T0" fmla="*/ 0 w 2"/>
                  <a:gd name="T1" fmla="*/ 16 h 181"/>
                  <a:gd name="T2" fmla="*/ 0 w 2"/>
                  <a:gd name="T3" fmla="*/ 8 h 181"/>
                  <a:gd name="T4" fmla="*/ 0 w 2"/>
                  <a:gd name="T5" fmla="*/ 180 h 181"/>
                  <a:gd name="T6" fmla="*/ 1 w 2"/>
                  <a:gd name="T7" fmla="*/ 180 h 181"/>
                  <a:gd name="T8" fmla="*/ 1 w 2"/>
                  <a:gd name="T9" fmla="*/ 8 h 181"/>
                  <a:gd name="T10" fmla="*/ 0 w 2"/>
                  <a:gd name="T11" fmla="*/ 0 h 181"/>
                  <a:gd name="T12" fmla="*/ 1 w 2"/>
                  <a:gd name="T13" fmla="*/ 8 h 181"/>
                  <a:gd name="T14" fmla="*/ 1 w 2"/>
                  <a:gd name="T15" fmla="*/ 0 h 181"/>
                  <a:gd name="T16" fmla="*/ 0 w 2"/>
                  <a:gd name="T17" fmla="*/ 0 h 181"/>
                  <a:gd name="T18" fmla="*/ 0 w 2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1"/>
                  <a:gd name="T32" fmla="*/ 2 w 2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1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9" name="Freeform 85">
                <a:extLst>
                  <a:ext uri="{FF2B5EF4-FFF2-40B4-BE49-F238E27FC236}">
                    <a16:creationId xmlns:a16="http://schemas.microsoft.com/office/drawing/2014/main" id="{6B6E5422-BEEB-4418-900F-B90DC128A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43"/>
                <a:ext cx="166" cy="12"/>
              </a:xfrm>
              <a:custGeom>
                <a:avLst/>
                <a:gdLst>
                  <a:gd name="T0" fmla="*/ 7 w 166"/>
                  <a:gd name="T1" fmla="*/ 5 h 12"/>
                  <a:gd name="T2" fmla="*/ 0 w 166"/>
                  <a:gd name="T3" fmla="*/ 11 h 12"/>
                  <a:gd name="T4" fmla="*/ 165 w 166"/>
                  <a:gd name="T5" fmla="*/ 11 h 12"/>
                  <a:gd name="T6" fmla="*/ 165 w 166"/>
                  <a:gd name="T7" fmla="*/ 0 h 12"/>
                  <a:gd name="T8" fmla="*/ 0 w 166"/>
                  <a:gd name="T9" fmla="*/ 0 h 12"/>
                  <a:gd name="T10" fmla="*/ 0 w 166"/>
                  <a:gd name="T11" fmla="*/ 5 h 12"/>
                  <a:gd name="T12" fmla="*/ 0 w 166"/>
                  <a:gd name="T13" fmla="*/ 0 h 12"/>
                  <a:gd name="T14" fmla="*/ 0 w 166"/>
                  <a:gd name="T15" fmla="*/ 5 h 12"/>
                  <a:gd name="T16" fmla="*/ 7 w 166"/>
                  <a:gd name="T17" fmla="*/ 5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12"/>
                  <a:gd name="T29" fmla="*/ 166 w 166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12">
                    <a:moveTo>
                      <a:pt x="7" y="5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0" name="Freeform 86">
                <a:extLst>
                  <a:ext uri="{FF2B5EF4-FFF2-40B4-BE49-F238E27FC236}">
                    <a16:creationId xmlns:a16="http://schemas.microsoft.com/office/drawing/2014/main" id="{ADA2ABED-19ED-4625-9C99-15D5AEBEC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551"/>
                <a:ext cx="2" cy="173"/>
              </a:xfrm>
              <a:custGeom>
                <a:avLst/>
                <a:gdLst>
                  <a:gd name="T0" fmla="*/ 0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0 w 2"/>
                  <a:gd name="T11" fmla="*/ 163 h 1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73"/>
                  <a:gd name="T20" fmla="*/ 2 w 2"/>
                  <a:gd name="T21" fmla="*/ 173 h 1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73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1" name="Freeform 87">
                <a:extLst>
                  <a:ext uri="{FF2B5EF4-FFF2-40B4-BE49-F238E27FC236}">
                    <a16:creationId xmlns:a16="http://schemas.microsoft.com/office/drawing/2014/main" id="{268DF6C4-D39F-4682-A809-C8A020BA0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720"/>
                <a:ext cx="173" cy="4"/>
              </a:xfrm>
              <a:custGeom>
                <a:avLst/>
                <a:gdLst>
                  <a:gd name="T0" fmla="*/ 165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65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2" name="Freeform 88">
                <a:extLst>
                  <a:ext uri="{FF2B5EF4-FFF2-40B4-BE49-F238E27FC236}">
                    <a16:creationId xmlns:a16="http://schemas.microsoft.com/office/drawing/2014/main" id="{F1F94A41-3194-4BA3-82B3-6FE86CCC5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551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3" name="Freeform 89">
                <a:extLst>
                  <a:ext uri="{FF2B5EF4-FFF2-40B4-BE49-F238E27FC236}">
                    <a16:creationId xmlns:a16="http://schemas.microsoft.com/office/drawing/2014/main" id="{AF0576D1-BFBC-4B04-A33A-0B403FD86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543"/>
                <a:ext cx="10" cy="181"/>
              </a:xfrm>
              <a:custGeom>
                <a:avLst/>
                <a:gdLst>
                  <a:gd name="T0" fmla="*/ 5 w 10"/>
                  <a:gd name="T1" fmla="*/ 16 h 181"/>
                  <a:gd name="T2" fmla="*/ 0 w 10"/>
                  <a:gd name="T3" fmla="*/ 8 h 181"/>
                  <a:gd name="T4" fmla="*/ 0 w 10"/>
                  <a:gd name="T5" fmla="*/ 180 h 181"/>
                  <a:gd name="T6" fmla="*/ 9 w 10"/>
                  <a:gd name="T7" fmla="*/ 180 h 181"/>
                  <a:gd name="T8" fmla="*/ 9 w 10"/>
                  <a:gd name="T9" fmla="*/ 8 h 181"/>
                  <a:gd name="T10" fmla="*/ 5 w 10"/>
                  <a:gd name="T11" fmla="*/ 0 h 181"/>
                  <a:gd name="T12" fmla="*/ 9 w 10"/>
                  <a:gd name="T13" fmla="*/ 8 h 181"/>
                  <a:gd name="T14" fmla="*/ 9 w 10"/>
                  <a:gd name="T15" fmla="*/ 0 h 181"/>
                  <a:gd name="T16" fmla="*/ 5 w 10"/>
                  <a:gd name="T17" fmla="*/ 0 h 181"/>
                  <a:gd name="T18" fmla="*/ 5 w 10"/>
                  <a:gd name="T19" fmla="*/ 16 h 1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81"/>
                  <a:gd name="T32" fmla="*/ 10 w 10"/>
                  <a:gd name="T33" fmla="*/ 181 h 1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81">
                    <a:moveTo>
                      <a:pt x="5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9" y="18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4" name="Freeform 90">
                <a:extLst>
                  <a:ext uri="{FF2B5EF4-FFF2-40B4-BE49-F238E27FC236}">
                    <a16:creationId xmlns:a16="http://schemas.microsoft.com/office/drawing/2014/main" id="{7332AA1F-1BEE-4393-A68C-63B57A2B1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543"/>
                <a:ext cx="173" cy="12"/>
              </a:xfrm>
              <a:custGeom>
                <a:avLst/>
                <a:gdLst>
                  <a:gd name="T0" fmla="*/ 14 w 173"/>
                  <a:gd name="T1" fmla="*/ 5 h 12"/>
                  <a:gd name="T2" fmla="*/ 7 w 173"/>
                  <a:gd name="T3" fmla="*/ 11 h 12"/>
                  <a:gd name="T4" fmla="*/ 172 w 173"/>
                  <a:gd name="T5" fmla="*/ 11 h 12"/>
                  <a:gd name="T6" fmla="*/ 172 w 173"/>
                  <a:gd name="T7" fmla="*/ 0 h 12"/>
                  <a:gd name="T8" fmla="*/ 7 w 173"/>
                  <a:gd name="T9" fmla="*/ 0 h 12"/>
                  <a:gd name="T10" fmla="*/ 0 w 173"/>
                  <a:gd name="T11" fmla="*/ 5 h 12"/>
                  <a:gd name="T12" fmla="*/ 7 w 173"/>
                  <a:gd name="T13" fmla="*/ 0 h 12"/>
                  <a:gd name="T14" fmla="*/ 0 w 173"/>
                  <a:gd name="T15" fmla="*/ 0 h 12"/>
                  <a:gd name="T16" fmla="*/ 0 w 173"/>
                  <a:gd name="T17" fmla="*/ 5 h 12"/>
                  <a:gd name="T18" fmla="*/ 14 w 173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3"/>
                  <a:gd name="T31" fmla="*/ 0 h 12"/>
                  <a:gd name="T32" fmla="*/ 173 w 17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3" h="12">
                    <a:moveTo>
                      <a:pt x="14" y="5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5" name="Freeform 91">
                <a:extLst>
                  <a:ext uri="{FF2B5EF4-FFF2-40B4-BE49-F238E27FC236}">
                    <a16:creationId xmlns:a16="http://schemas.microsoft.com/office/drawing/2014/main" id="{EED4D569-0B7A-4445-B349-A1C7C6261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551"/>
                <a:ext cx="10" cy="173"/>
              </a:xfrm>
              <a:custGeom>
                <a:avLst/>
                <a:gdLst>
                  <a:gd name="T0" fmla="*/ 4 w 10"/>
                  <a:gd name="T1" fmla="*/ 163 h 173"/>
                  <a:gd name="T2" fmla="*/ 9 w 10"/>
                  <a:gd name="T3" fmla="*/ 172 h 173"/>
                  <a:gd name="T4" fmla="*/ 9 w 10"/>
                  <a:gd name="T5" fmla="*/ 0 h 173"/>
                  <a:gd name="T6" fmla="*/ 0 w 10"/>
                  <a:gd name="T7" fmla="*/ 0 h 173"/>
                  <a:gd name="T8" fmla="*/ 0 w 10"/>
                  <a:gd name="T9" fmla="*/ 172 h 173"/>
                  <a:gd name="T10" fmla="*/ 4 w 10"/>
                  <a:gd name="T11" fmla="*/ 172 h 173"/>
                  <a:gd name="T12" fmla="*/ 0 w 10"/>
                  <a:gd name="T13" fmla="*/ 172 h 173"/>
                  <a:gd name="T14" fmla="*/ 4 w 10"/>
                  <a:gd name="T15" fmla="*/ 172 h 173"/>
                  <a:gd name="T16" fmla="*/ 4 w 10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"/>
                  <a:gd name="T28" fmla="*/ 0 h 173"/>
                  <a:gd name="T29" fmla="*/ 10 w 10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" h="173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6" name="Freeform 92">
                <a:extLst>
                  <a:ext uri="{FF2B5EF4-FFF2-40B4-BE49-F238E27FC236}">
                    <a16:creationId xmlns:a16="http://schemas.microsoft.com/office/drawing/2014/main" id="{C8EBF846-2EA5-4182-8EB4-D455531E7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720"/>
                <a:ext cx="173" cy="4"/>
              </a:xfrm>
              <a:custGeom>
                <a:avLst/>
                <a:gdLst>
                  <a:gd name="T0" fmla="*/ 158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58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7" name="Freeform 93">
                <a:extLst>
                  <a:ext uri="{FF2B5EF4-FFF2-40B4-BE49-F238E27FC236}">
                    <a16:creationId xmlns:a16="http://schemas.microsoft.com/office/drawing/2014/main" id="{005FB12D-FBC6-4130-A2B5-B0F22EBA1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822"/>
                <a:ext cx="165" cy="173"/>
              </a:xfrm>
              <a:custGeom>
                <a:avLst/>
                <a:gdLst>
                  <a:gd name="T0" fmla="*/ 164 w 165"/>
                  <a:gd name="T1" fmla="*/ 172 h 173"/>
                  <a:gd name="T2" fmla="*/ 164 w 165"/>
                  <a:gd name="T3" fmla="*/ 0 h 173"/>
                  <a:gd name="T4" fmla="*/ 0 w 165"/>
                  <a:gd name="T5" fmla="*/ 0 h 173"/>
                  <a:gd name="T6" fmla="*/ 0 w 165"/>
                  <a:gd name="T7" fmla="*/ 172 h 173"/>
                  <a:gd name="T8" fmla="*/ 164 w 165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5"/>
                  <a:gd name="T16" fmla="*/ 0 h 173"/>
                  <a:gd name="T17" fmla="*/ 165 w 165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5" h="173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8" name="Freeform 94">
                <a:extLst>
                  <a:ext uri="{FF2B5EF4-FFF2-40B4-BE49-F238E27FC236}">
                    <a16:creationId xmlns:a16="http://schemas.microsoft.com/office/drawing/2014/main" id="{30586060-AA14-4276-921C-A1CF7E965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8" y="2813"/>
                <a:ext cx="2" cy="182"/>
              </a:xfrm>
              <a:custGeom>
                <a:avLst/>
                <a:gdLst>
                  <a:gd name="T0" fmla="*/ 1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1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1 w 2"/>
                  <a:gd name="T17" fmla="*/ 16 h 1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82"/>
                  <a:gd name="T29" fmla="*/ 2 w 2"/>
                  <a:gd name="T30" fmla="*/ 182 h 1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82">
                    <a:moveTo>
                      <a:pt x="1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9" name="Freeform 95">
                <a:extLst>
                  <a:ext uri="{FF2B5EF4-FFF2-40B4-BE49-F238E27FC236}">
                    <a16:creationId xmlns:a16="http://schemas.microsoft.com/office/drawing/2014/main" id="{3615C524-DA4E-4F2D-A858-1C740F1F4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13"/>
                <a:ext cx="172" cy="12"/>
              </a:xfrm>
              <a:custGeom>
                <a:avLst/>
                <a:gdLst>
                  <a:gd name="T0" fmla="*/ 7 w 172"/>
                  <a:gd name="T1" fmla="*/ 6 h 12"/>
                  <a:gd name="T2" fmla="*/ 7 w 172"/>
                  <a:gd name="T3" fmla="*/ 11 h 12"/>
                  <a:gd name="T4" fmla="*/ 171 w 172"/>
                  <a:gd name="T5" fmla="*/ 11 h 12"/>
                  <a:gd name="T6" fmla="*/ 171 w 172"/>
                  <a:gd name="T7" fmla="*/ 0 h 12"/>
                  <a:gd name="T8" fmla="*/ 7 w 172"/>
                  <a:gd name="T9" fmla="*/ 0 h 12"/>
                  <a:gd name="T10" fmla="*/ 0 w 172"/>
                  <a:gd name="T11" fmla="*/ 6 h 12"/>
                  <a:gd name="T12" fmla="*/ 7 w 172"/>
                  <a:gd name="T13" fmla="*/ 0 h 12"/>
                  <a:gd name="T14" fmla="*/ 0 w 172"/>
                  <a:gd name="T15" fmla="*/ 0 h 12"/>
                  <a:gd name="T16" fmla="*/ 0 w 172"/>
                  <a:gd name="T17" fmla="*/ 6 h 12"/>
                  <a:gd name="T18" fmla="*/ 7 w 172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12"/>
                  <a:gd name="T32" fmla="*/ 172 w 172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12">
                    <a:moveTo>
                      <a:pt x="7" y="6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0" name="Freeform 96">
                <a:extLst>
                  <a:ext uri="{FF2B5EF4-FFF2-40B4-BE49-F238E27FC236}">
                    <a16:creationId xmlns:a16="http://schemas.microsoft.com/office/drawing/2014/main" id="{9C8B38E4-FF41-48FD-AC51-4944A68AE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1" name="Freeform 97">
                <a:extLst>
                  <a:ext uri="{FF2B5EF4-FFF2-40B4-BE49-F238E27FC236}">
                    <a16:creationId xmlns:a16="http://schemas.microsoft.com/office/drawing/2014/main" id="{D76BCF6F-A048-42C7-9B89-98AA0BEB6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991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64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64 w 165"/>
                  <a:gd name="T9" fmla="*/ 3 h 4"/>
                  <a:gd name="T10" fmla="*/ 157 w 165"/>
                  <a:gd name="T11" fmla="*/ 3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"/>
                  <a:gd name="T20" fmla="*/ 165 w 165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2" name="Freeform 98">
                <a:extLst>
                  <a:ext uri="{FF2B5EF4-FFF2-40B4-BE49-F238E27FC236}">
                    <a16:creationId xmlns:a16="http://schemas.microsoft.com/office/drawing/2014/main" id="{994CB061-0EC7-4157-81CE-AE04F799C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822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3" name="Freeform 99">
                <a:extLst>
                  <a:ext uri="{FF2B5EF4-FFF2-40B4-BE49-F238E27FC236}">
                    <a16:creationId xmlns:a16="http://schemas.microsoft.com/office/drawing/2014/main" id="{1B02A7D2-0F68-45E0-AA81-009AC80C9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9" y="2813"/>
                <a:ext cx="2" cy="182"/>
              </a:xfrm>
              <a:custGeom>
                <a:avLst/>
                <a:gdLst>
                  <a:gd name="T0" fmla="*/ 0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0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0 w 2"/>
                  <a:gd name="T17" fmla="*/ 0 h 182"/>
                  <a:gd name="T18" fmla="*/ 0 w 2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2"/>
                  <a:gd name="T32" fmla="*/ 2 w 2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4" name="Freeform 100">
                <a:extLst>
                  <a:ext uri="{FF2B5EF4-FFF2-40B4-BE49-F238E27FC236}">
                    <a16:creationId xmlns:a16="http://schemas.microsoft.com/office/drawing/2014/main" id="{B7BEDC88-B59A-4306-876F-7B9417365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813"/>
                <a:ext cx="165" cy="12"/>
              </a:xfrm>
              <a:custGeom>
                <a:avLst/>
                <a:gdLst>
                  <a:gd name="T0" fmla="*/ 7 w 165"/>
                  <a:gd name="T1" fmla="*/ 6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6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6 h 12"/>
                  <a:gd name="T18" fmla="*/ 7 w 165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5" name="Freeform 101">
                <a:extLst>
                  <a:ext uri="{FF2B5EF4-FFF2-40B4-BE49-F238E27FC236}">
                    <a16:creationId xmlns:a16="http://schemas.microsoft.com/office/drawing/2014/main" id="{7203C64A-7F99-4916-9477-F6F07115F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9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6" name="Freeform 102">
                <a:extLst>
                  <a:ext uri="{FF2B5EF4-FFF2-40B4-BE49-F238E27FC236}">
                    <a16:creationId xmlns:a16="http://schemas.microsoft.com/office/drawing/2014/main" id="{A64B17F3-0F7A-49CF-9B02-9010E30BE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991"/>
                <a:ext cx="165" cy="4"/>
              </a:xfrm>
              <a:custGeom>
                <a:avLst/>
                <a:gdLst>
                  <a:gd name="T0" fmla="*/ 157 w 165"/>
                  <a:gd name="T1" fmla="*/ 3 h 4"/>
                  <a:gd name="T2" fmla="*/ 157 w 165"/>
                  <a:gd name="T3" fmla="*/ 0 h 4"/>
                  <a:gd name="T4" fmla="*/ 0 w 165"/>
                  <a:gd name="T5" fmla="*/ 0 h 4"/>
                  <a:gd name="T6" fmla="*/ 0 w 165"/>
                  <a:gd name="T7" fmla="*/ 3 h 4"/>
                  <a:gd name="T8" fmla="*/ 157 w 165"/>
                  <a:gd name="T9" fmla="*/ 3 h 4"/>
                  <a:gd name="T10" fmla="*/ 164 w 165"/>
                  <a:gd name="T11" fmla="*/ 3 h 4"/>
                  <a:gd name="T12" fmla="*/ 157 w 165"/>
                  <a:gd name="T13" fmla="*/ 3 h 4"/>
                  <a:gd name="T14" fmla="*/ 164 w 165"/>
                  <a:gd name="T15" fmla="*/ 3 h 4"/>
                  <a:gd name="T16" fmla="*/ 157 w 165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5"/>
                  <a:gd name="T28" fmla="*/ 0 h 4"/>
                  <a:gd name="T29" fmla="*/ 165 w 165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5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7" name="Freeform 103">
                <a:extLst>
                  <a:ext uri="{FF2B5EF4-FFF2-40B4-BE49-F238E27FC236}">
                    <a16:creationId xmlns:a16="http://schemas.microsoft.com/office/drawing/2014/main" id="{2F8F05A7-8E58-4E10-A6BF-506915A96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822"/>
                <a:ext cx="158" cy="173"/>
              </a:xfrm>
              <a:custGeom>
                <a:avLst/>
                <a:gdLst>
                  <a:gd name="T0" fmla="*/ 157 w 158"/>
                  <a:gd name="T1" fmla="*/ 172 h 173"/>
                  <a:gd name="T2" fmla="*/ 157 w 158"/>
                  <a:gd name="T3" fmla="*/ 0 h 173"/>
                  <a:gd name="T4" fmla="*/ 0 w 158"/>
                  <a:gd name="T5" fmla="*/ 0 h 173"/>
                  <a:gd name="T6" fmla="*/ 0 w 158"/>
                  <a:gd name="T7" fmla="*/ 172 h 173"/>
                  <a:gd name="T8" fmla="*/ 157 w 158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"/>
                  <a:gd name="T16" fmla="*/ 0 h 173"/>
                  <a:gd name="T17" fmla="*/ 158 w 158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" h="173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8" name="Freeform 104">
                <a:extLst>
                  <a:ext uri="{FF2B5EF4-FFF2-40B4-BE49-F238E27FC236}">
                    <a16:creationId xmlns:a16="http://schemas.microsoft.com/office/drawing/2014/main" id="{4FBB283B-265D-4BD7-A03C-DDB18161C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2813"/>
                <a:ext cx="3" cy="182"/>
              </a:xfrm>
              <a:custGeom>
                <a:avLst/>
                <a:gdLst>
                  <a:gd name="T0" fmla="*/ 0 w 3"/>
                  <a:gd name="T1" fmla="*/ 16 h 182"/>
                  <a:gd name="T2" fmla="*/ 0 w 3"/>
                  <a:gd name="T3" fmla="*/ 9 h 182"/>
                  <a:gd name="T4" fmla="*/ 0 w 3"/>
                  <a:gd name="T5" fmla="*/ 181 h 182"/>
                  <a:gd name="T6" fmla="*/ 2 w 3"/>
                  <a:gd name="T7" fmla="*/ 181 h 182"/>
                  <a:gd name="T8" fmla="*/ 2 w 3"/>
                  <a:gd name="T9" fmla="*/ 9 h 182"/>
                  <a:gd name="T10" fmla="*/ 0 w 3"/>
                  <a:gd name="T11" fmla="*/ 0 h 182"/>
                  <a:gd name="T12" fmla="*/ 2 w 3"/>
                  <a:gd name="T13" fmla="*/ 9 h 182"/>
                  <a:gd name="T14" fmla="*/ 2 w 3"/>
                  <a:gd name="T15" fmla="*/ 0 h 182"/>
                  <a:gd name="T16" fmla="*/ 0 w 3"/>
                  <a:gd name="T17" fmla="*/ 0 h 182"/>
                  <a:gd name="T18" fmla="*/ 0 w 3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"/>
                  <a:gd name="T31" fmla="*/ 0 h 182"/>
                  <a:gd name="T32" fmla="*/ 3 w 3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2" y="181"/>
                    </a:lnTo>
                    <a:lnTo>
                      <a:pt x="2" y="9"/>
                    </a:lnTo>
                    <a:lnTo>
                      <a:pt x="0" y="0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9" name="Freeform 105">
                <a:extLst>
                  <a:ext uri="{FF2B5EF4-FFF2-40B4-BE49-F238E27FC236}">
                    <a16:creationId xmlns:a16="http://schemas.microsoft.com/office/drawing/2014/main" id="{13D93C8B-93E5-49F4-B3BB-AEFCDA344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813"/>
                <a:ext cx="165" cy="12"/>
              </a:xfrm>
              <a:custGeom>
                <a:avLst/>
                <a:gdLst>
                  <a:gd name="T0" fmla="*/ 7 w 165"/>
                  <a:gd name="T1" fmla="*/ 6 h 12"/>
                  <a:gd name="T2" fmla="*/ 7 w 165"/>
                  <a:gd name="T3" fmla="*/ 11 h 12"/>
                  <a:gd name="T4" fmla="*/ 164 w 165"/>
                  <a:gd name="T5" fmla="*/ 11 h 12"/>
                  <a:gd name="T6" fmla="*/ 164 w 165"/>
                  <a:gd name="T7" fmla="*/ 0 h 12"/>
                  <a:gd name="T8" fmla="*/ 7 w 165"/>
                  <a:gd name="T9" fmla="*/ 0 h 12"/>
                  <a:gd name="T10" fmla="*/ 0 w 165"/>
                  <a:gd name="T11" fmla="*/ 6 h 12"/>
                  <a:gd name="T12" fmla="*/ 7 w 165"/>
                  <a:gd name="T13" fmla="*/ 0 h 12"/>
                  <a:gd name="T14" fmla="*/ 0 w 165"/>
                  <a:gd name="T15" fmla="*/ 0 h 12"/>
                  <a:gd name="T16" fmla="*/ 0 w 165"/>
                  <a:gd name="T17" fmla="*/ 6 h 12"/>
                  <a:gd name="T18" fmla="*/ 7 w 165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"/>
                  <a:gd name="T31" fmla="*/ 0 h 12"/>
                  <a:gd name="T32" fmla="*/ 165 w 165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" h="12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0" name="Freeform 106">
                <a:extLst>
                  <a:ext uri="{FF2B5EF4-FFF2-40B4-BE49-F238E27FC236}">
                    <a16:creationId xmlns:a16="http://schemas.microsoft.com/office/drawing/2014/main" id="{CA9B86AB-50E4-4F97-B03B-479D455BD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0" y="2822"/>
                <a:ext cx="2" cy="173"/>
              </a:xfrm>
              <a:custGeom>
                <a:avLst/>
                <a:gdLst>
                  <a:gd name="T0" fmla="*/ 1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1 w 2"/>
                  <a:gd name="T11" fmla="*/ 172 h 173"/>
                  <a:gd name="T12" fmla="*/ 0 w 2"/>
                  <a:gd name="T13" fmla="*/ 172 h 173"/>
                  <a:gd name="T14" fmla="*/ 1 w 2"/>
                  <a:gd name="T15" fmla="*/ 172 h 173"/>
                  <a:gd name="T16" fmla="*/ 1 w 2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1" name="Freeform 107">
                <a:extLst>
                  <a:ext uri="{FF2B5EF4-FFF2-40B4-BE49-F238E27FC236}">
                    <a16:creationId xmlns:a16="http://schemas.microsoft.com/office/drawing/2014/main" id="{774CD523-C012-4DF7-82E8-FCDD1D75B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2991"/>
                <a:ext cx="166" cy="4"/>
              </a:xfrm>
              <a:custGeom>
                <a:avLst/>
                <a:gdLst>
                  <a:gd name="T0" fmla="*/ 157 w 166"/>
                  <a:gd name="T1" fmla="*/ 3 h 4"/>
                  <a:gd name="T2" fmla="*/ 157 w 166"/>
                  <a:gd name="T3" fmla="*/ 0 h 4"/>
                  <a:gd name="T4" fmla="*/ 0 w 166"/>
                  <a:gd name="T5" fmla="*/ 0 h 4"/>
                  <a:gd name="T6" fmla="*/ 0 w 166"/>
                  <a:gd name="T7" fmla="*/ 3 h 4"/>
                  <a:gd name="T8" fmla="*/ 157 w 166"/>
                  <a:gd name="T9" fmla="*/ 3 h 4"/>
                  <a:gd name="T10" fmla="*/ 165 w 166"/>
                  <a:gd name="T11" fmla="*/ 3 h 4"/>
                  <a:gd name="T12" fmla="*/ 157 w 166"/>
                  <a:gd name="T13" fmla="*/ 3 h 4"/>
                  <a:gd name="T14" fmla="*/ 165 w 166"/>
                  <a:gd name="T15" fmla="*/ 3 h 4"/>
                  <a:gd name="T16" fmla="*/ 157 w 166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4"/>
                  <a:gd name="T29" fmla="*/ 166 w 166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4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2" name="Freeform 108">
                <a:extLst>
                  <a:ext uri="{FF2B5EF4-FFF2-40B4-BE49-F238E27FC236}">
                    <a16:creationId xmlns:a16="http://schemas.microsoft.com/office/drawing/2014/main" id="{2D602AF7-10EC-4FB8-AC0A-31742EDAD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22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3" name="Freeform 109">
                <a:extLst>
                  <a:ext uri="{FF2B5EF4-FFF2-40B4-BE49-F238E27FC236}">
                    <a16:creationId xmlns:a16="http://schemas.microsoft.com/office/drawing/2014/main" id="{DA88CE4D-509E-4BB6-BFAE-204D2646B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813"/>
                <a:ext cx="2" cy="182"/>
              </a:xfrm>
              <a:custGeom>
                <a:avLst/>
                <a:gdLst>
                  <a:gd name="T0" fmla="*/ 0 w 2"/>
                  <a:gd name="T1" fmla="*/ 16 h 182"/>
                  <a:gd name="T2" fmla="*/ 0 w 2"/>
                  <a:gd name="T3" fmla="*/ 9 h 182"/>
                  <a:gd name="T4" fmla="*/ 0 w 2"/>
                  <a:gd name="T5" fmla="*/ 181 h 182"/>
                  <a:gd name="T6" fmla="*/ 1 w 2"/>
                  <a:gd name="T7" fmla="*/ 181 h 182"/>
                  <a:gd name="T8" fmla="*/ 1 w 2"/>
                  <a:gd name="T9" fmla="*/ 9 h 182"/>
                  <a:gd name="T10" fmla="*/ 0 w 2"/>
                  <a:gd name="T11" fmla="*/ 0 h 182"/>
                  <a:gd name="T12" fmla="*/ 1 w 2"/>
                  <a:gd name="T13" fmla="*/ 9 h 182"/>
                  <a:gd name="T14" fmla="*/ 1 w 2"/>
                  <a:gd name="T15" fmla="*/ 0 h 182"/>
                  <a:gd name="T16" fmla="*/ 0 w 2"/>
                  <a:gd name="T17" fmla="*/ 0 h 182"/>
                  <a:gd name="T18" fmla="*/ 0 w 2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"/>
                  <a:gd name="T31" fmla="*/ 0 h 182"/>
                  <a:gd name="T32" fmla="*/ 2 w 2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" h="18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4" name="Freeform 110">
                <a:extLst>
                  <a:ext uri="{FF2B5EF4-FFF2-40B4-BE49-F238E27FC236}">
                    <a16:creationId xmlns:a16="http://schemas.microsoft.com/office/drawing/2014/main" id="{273DE668-05E7-4FF4-9C48-AB799DAA2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13"/>
                <a:ext cx="166" cy="12"/>
              </a:xfrm>
              <a:custGeom>
                <a:avLst/>
                <a:gdLst>
                  <a:gd name="T0" fmla="*/ 7 w 166"/>
                  <a:gd name="T1" fmla="*/ 6 h 12"/>
                  <a:gd name="T2" fmla="*/ 0 w 166"/>
                  <a:gd name="T3" fmla="*/ 11 h 12"/>
                  <a:gd name="T4" fmla="*/ 165 w 166"/>
                  <a:gd name="T5" fmla="*/ 11 h 12"/>
                  <a:gd name="T6" fmla="*/ 165 w 166"/>
                  <a:gd name="T7" fmla="*/ 0 h 12"/>
                  <a:gd name="T8" fmla="*/ 0 w 166"/>
                  <a:gd name="T9" fmla="*/ 0 h 12"/>
                  <a:gd name="T10" fmla="*/ 0 w 166"/>
                  <a:gd name="T11" fmla="*/ 6 h 12"/>
                  <a:gd name="T12" fmla="*/ 0 w 166"/>
                  <a:gd name="T13" fmla="*/ 0 h 12"/>
                  <a:gd name="T14" fmla="*/ 0 w 166"/>
                  <a:gd name="T15" fmla="*/ 6 h 12"/>
                  <a:gd name="T16" fmla="*/ 7 w 166"/>
                  <a:gd name="T17" fmla="*/ 6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6"/>
                  <a:gd name="T28" fmla="*/ 0 h 12"/>
                  <a:gd name="T29" fmla="*/ 166 w 166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6" h="12">
                    <a:moveTo>
                      <a:pt x="7" y="6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5" name="Freeform 111">
                <a:extLst>
                  <a:ext uri="{FF2B5EF4-FFF2-40B4-BE49-F238E27FC236}">
                    <a16:creationId xmlns:a16="http://schemas.microsoft.com/office/drawing/2014/main" id="{937FF4B1-618B-4DB0-A638-BEB2FE72F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22"/>
                <a:ext cx="2" cy="173"/>
              </a:xfrm>
              <a:custGeom>
                <a:avLst/>
                <a:gdLst>
                  <a:gd name="T0" fmla="*/ 0 w 2"/>
                  <a:gd name="T1" fmla="*/ 163 h 173"/>
                  <a:gd name="T2" fmla="*/ 1 w 2"/>
                  <a:gd name="T3" fmla="*/ 172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72 h 173"/>
                  <a:gd name="T10" fmla="*/ 0 w 2"/>
                  <a:gd name="T11" fmla="*/ 163 h 1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"/>
                  <a:gd name="T19" fmla="*/ 0 h 173"/>
                  <a:gd name="T20" fmla="*/ 2 w 2"/>
                  <a:gd name="T21" fmla="*/ 173 h 1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" h="173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6" name="Freeform 112">
                <a:extLst>
                  <a:ext uri="{FF2B5EF4-FFF2-40B4-BE49-F238E27FC236}">
                    <a16:creationId xmlns:a16="http://schemas.microsoft.com/office/drawing/2014/main" id="{EFE682CF-6586-446B-9DA4-991BE7360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991"/>
                <a:ext cx="173" cy="4"/>
              </a:xfrm>
              <a:custGeom>
                <a:avLst/>
                <a:gdLst>
                  <a:gd name="T0" fmla="*/ 165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65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7" name="Freeform 113">
                <a:extLst>
                  <a:ext uri="{FF2B5EF4-FFF2-40B4-BE49-F238E27FC236}">
                    <a16:creationId xmlns:a16="http://schemas.microsoft.com/office/drawing/2014/main" id="{C7E93514-A4CF-421D-B007-03192139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822"/>
                <a:ext cx="166" cy="173"/>
              </a:xfrm>
              <a:custGeom>
                <a:avLst/>
                <a:gdLst>
                  <a:gd name="T0" fmla="*/ 165 w 166"/>
                  <a:gd name="T1" fmla="*/ 172 h 173"/>
                  <a:gd name="T2" fmla="*/ 165 w 166"/>
                  <a:gd name="T3" fmla="*/ 0 h 173"/>
                  <a:gd name="T4" fmla="*/ 0 w 166"/>
                  <a:gd name="T5" fmla="*/ 0 h 173"/>
                  <a:gd name="T6" fmla="*/ 0 w 166"/>
                  <a:gd name="T7" fmla="*/ 172 h 173"/>
                  <a:gd name="T8" fmla="*/ 165 w 166"/>
                  <a:gd name="T9" fmla="*/ 172 h 1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6"/>
                  <a:gd name="T16" fmla="*/ 0 h 173"/>
                  <a:gd name="T17" fmla="*/ 166 w 166"/>
                  <a:gd name="T18" fmla="*/ 173 h 1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6" h="173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8" name="Freeform 114">
                <a:extLst>
                  <a:ext uri="{FF2B5EF4-FFF2-40B4-BE49-F238E27FC236}">
                    <a16:creationId xmlns:a16="http://schemas.microsoft.com/office/drawing/2014/main" id="{AC14FAC0-3963-42E3-8D3C-4EF0FBE92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813"/>
                <a:ext cx="10" cy="182"/>
              </a:xfrm>
              <a:custGeom>
                <a:avLst/>
                <a:gdLst>
                  <a:gd name="T0" fmla="*/ 5 w 10"/>
                  <a:gd name="T1" fmla="*/ 16 h 182"/>
                  <a:gd name="T2" fmla="*/ 0 w 10"/>
                  <a:gd name="T3" fmla="*/ 9 h 182"/>
                  <a:gd name="T4" fmla="*/ 0 w 10"/>
                  <a:gd name="T5" fmla="*/ 181 h 182"/>
                  <a:gd name="T6" fmla="*/ 9 w 10"/>
                  <a:gd name="T7" fmla="*/ 181 h 182"/>
                  <a:gd name="T8" fmla="*/ 9 w 10"/>
                  <a:gd name="T9" fmla="*/ 9 h 182"/>
                  <a:gd name="T10" fmla="*/ 5 w 10"/>
                  <a:gd name="T11" fmla="*/ 0 h 182"/>
                  <a:gd name="T12" fmla="*/ 9 w 10"/>
                  <a:gd name="T13" fmla="*/ 9 h 182"/>
                  <a:gd name="T14" fmla="*/ 9 w 10"/>
                  <a:gd name="T15" fmla="*/ 0 h 182"/>
                  <a:gd name="T16" fmla="*/ 5 w 10"/>
                  <a:gd name="T17" fmla="*/ 0 h 182"/>
                  <a:gd name="T18" fmla="*/ 5 w 10"/>
                  <a:gd name="T19" fmla="*/ 16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82"/>
                  <a:gd name="T32" fmla="*/ 10 w 10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82">
                    <a:moveTo>
                      <a:pt x="5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9" y="181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9" name="Freeform 115">
                <a:extLst>
                  <a:ext uri="{FF2B5EF4-FFF2-40B4-BE49-F238E27FC236}">
                    <a16:creationId xmlns:a16="http://schemas.microsoft.com/office/drawing/2014/main" id="{271F7A49-50BB-44E7-870A-E30289CAF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813"/>
                <a:ext cx="173" cy="12"/>
              </a:xfrm>
              <a:custGeom>
                <a:avLst/>
                <a:gdLst>
                  <a:gd name="T0" fmla="*/ 14 w 173"/>
                  <a:gd name="T1" fmla="*/ 6 h 12"/>
                  <a:gd name="T2" fmla="*/ 7 w 173"/>
                  <a:gd name="T3" fmla="*/ 11 h 12"/>
                  <a:gd name="T4" fmla="*/ 172 w 173"/>
                  <a:gd name="T5" fmla="*/ 11 h 12"/>
                  <a:gd name="T6" fmla="*/ 172 w 173"/>
                  <a:gd name="T7" fmla="*/ 0 h 12"/>
                  <a:gd name="T8" fmla="*/ 7 w 173"/>
                  <a:gd name="T9" fmla="*/ 0 h 12"/>
                  <a:gd name="T10" fmla="*/ 0 w 173"/>
                  <a:gd name="T11" fmla="*/ 6 h 12"/>
                  <a:gd name="T12" fmla="*/ 7 w 173"/>
                  <a:gd name="T13" fmla="*/ 0 h 12"/>
                  <a:gd name="T14" fmla="*/ 0 w 173"/>
                  <a:gd name="T15" fmla="*/ 0 h 12"/>
                  <a:gd name="T16" fmla="*/ 0 w 173"/>
                  <a:gd name="T17" fmla="*/ 6 h 12"/>
                  <a:gd name="T18" fmla="*/ 14 w 173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3"/>
                  <a:gd name="T31" fmla="*/ 0 h 12"/>
                  <a:gd name="T32" fmla="*/ 173 w 173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3" h="12">
                    <a:moveTo>
                      <a:pt x="14" y="6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0" name="Freeform 116">
                <a:extLst>
                  <a:ext uri="{FF2B5EF4-FFF2-40B4-BE49-F238E27FC236}">
                    <a16:creationId xmlns:a16="http://schemas.microsoft.com/office/drawing/2014/main" id="{B24C21FE-E137-4BF5-BD7B-CC32AC968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" y="2822"/>
                <a:ext cx="10" cy="173"/>
              </a:xfrm>
              <a:custGeom>
                <a:avLst/>
                <a:gdLst>
                  <a:gd name="T0" fmla="*/ 4 w 10"/>
                  <a:gd name="T1" fmla="*/ 163 h 173"/>
                  <a:gd name="T2" fmla="*/ 9 w 10"/>
                  <a:gd name="T3" fmla="*/ 172 h 173"/>
                  <a:gd name="T4" fmla="*/ 9 w 10"/>
                  <a:gd name="T5" fmla="*/ 0 h 173"/>
                  <a:gd name="T6" fmla="*/ 0 w 10"/>
                  <a:gd name="T7" fmla="*/ 0 h 173"/>
                  <a:gd name="T8" fmla="*/ 0 w 10"/>
                  <a:gd name="T9" fmla="*/ 172 h 173"/>
                  <a:gd name="T10" fmla="*/ 4 w 10"/>
                  <a:gd name="T11" fmla="*/ 172 h 173"/>
                  <a:gd name="T12" fmla="*/ 0 w 10"/>
                  <a:gd name="T13" fmla="*/ 172 h 173"/>
                  <a:gd name="T14" fmla="*/ 4 w 10"/>
                  <a:gd name="T15" fmla="*/ 172 h 173"/>
                  <a:gd name="T16" fmla="*/ 4 w 10"/>
                  <a:gd name="T17" fmla="*/ 163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"/>
                  <a:gd name="T28" fmla="*/ 0 h 173"/>
                  <a:gd name="T29" fmla="*/ 10 w 10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" h="173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1" name="Freeform 117">
                <a:extLst>
                  <a:ext uri="{FF2B5EF4-FFF2-40B4-BE49-F238E27FC236}">
                    <a16:creationId xmlns:a16="http://schemas.microsoft.com/office/drawing/2014/main" id="{6945D3B3-F933-4722-8435-899F6F8A7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991"/>
                <a:ext cx="173" cy="4"/>
              </a:xfrm>
              <a:custGeom>
                <a:avLst/>
                <a:gdLst>
                  <a:gd name="T0" fmla="*/ 158 w 173"/>
                  <a:gd name="T1" fmla="*/ 3 h 4"/>
                  <a:gd name="T2" fmla="*/ 165 w 173"/>
                  <a:gd name="T3" fmla="*/ 0 h 4"/>
                  <a:gd name="T4" fmla="*/ 0 w 173"/>
                  <a:gd name="T5" fmla="*/ 0 h 4"/>
                  <a:gd name="T6" fmla="*/ 0 w 173"/>
                  <a:gd name="T7" fmla="*/ 3 h 4"/>
                  <a:gd name="T8" fmla="*/ 165 w 173"/>
                  <a:gd name="T9" fmla="*/ 3 h 4"/>
                  <a:gd name="T10" fmla="*/ 172 w 173"/>
                  <a:gd name="T11" fmla="*/ 3 h 4"/>
                  <a:gd name="T12" fmla="*/ 165 w 173"/>
                  <a:gd name="T13" fmla="*/ 3 h 4"/>
                  <a:gd name="T14" fmla="*/ 172 w 173"/>
                  <a:gd name="T15" fmla="*/ 3 h 4"/>
                  <a:gd name="T16" fmla="*/ 158 w 173"/>
                  <a:gd name="T17" fmla="*/ 3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"/>
                  <a:gd name="T28" fmla="*/ 0 h 4"/>
                  <a:gd name="T29" fmla="*/ 173 w 173"/>
                  <a:gd name="T30" fmla="*/ 4 h 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" h="4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2" name="Freeform 118">
                <a:extLst>
                  <a:ext uri="{FF2B5EF4-FFF2-40B4-BE49-F238E27FC236}">
                    <a16:creationId xmlns:a16="http://schemas.microsoft.com/office/drawing/2014/main" id="{25118EFE-C8FC-4A19-9D14-3245C8EFC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135"/>
                <a:ext cx="293" cy="164"/>
              </a:xfrm>
              <a:custGeom>
                <a:avLst/>
                <a:gdLst>
                  <a:gd name="T0" fmla="*/ 292 w 293"/>
                  <a:gd name="T1" fmla="*/ 163 h 164"/>
                  <a:gd name="T2" fmla="*/ 292 w 293"/>
                  <a:gd name="T3" fmla="*/ 0 h 164"/>
                  <a:gd name="T4" fmla="*/ 0 w 293"/>
                  <a:gd name="T5" fmla="*/ 0 h 164"/>
                  <a:gd name="T6" fmla="*/ 0 w 293"/>
                  <a:gd name="T7" fmla="*/ 163 h 164"/>
                  <a:gd name="T8" fmla="*/ 292 w 293"/>
                  <a:gd name="T9" fmla="*/ 163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3"/>
                  <a:gd name="T16" fmla="*/ 0 h 164"/>
                  <a:gd name="T17" fmla="*/ 293 w 293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3" h="164">
                    <a:moveTo>
                      <a:pt x="292" y="163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2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3" name="Freeform 119">
                <a:extLst>
                  <a:ext uri="{FF2B5EF4-FFF2-40B4-BE49-F238E27FC236}">
                    <a16:creationId xmlns:a16="http://schemas.microsoft.com/office/drawing/2014/main" id="{2D3BA056-D5EC-466D-9943-46B5126F0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3126"/>
                <a:ext cx="10" cy="173"/>
              </a:xfrm>
              <a:custGeom>
                <a:avLst/>
                <a:gdLst>
                  <a:gd name="T0" fmla="*/ 5 w 10"/>
                  <a:gd name="T1" fmla="*/ 16 h 173"/>
                  <a:gd name="T2" fmla="*/ 0 w 10"/>
                  <a:gd name="T3" fmla="*/ 9 h 173"/>
                  <a:gd name="T4" fmla="*/ 0 w 10"/>
                  <a:gd name="T5" fmla="*/ 172 h 173"/>
                  <a:gd name="T6" fmla="*/ 9 w 10"/>
                  <a:gd name="T7" fmla="*/ 172 h 173"/>
                  <a:gd name="T8" fmla="*/ 9 w 10"/>
                  <a:gd name="T9" fmla="*/ 9 h 173"/>
                  <a:gd name="T10" fmla="*/ 5 w 10"/>
                  <a:gd name="T11" fmla="*/ 0 h 173"/>
                  <a:gd name="T12" fmla="*/ 9 w 10"/>
                  <a:gd name="T13" fmla="*/ 9 h 173"/>
                  <a:gd name="T14" fmla="*/ 9 w 10"/>
                  <a:gd name="T15" fmla="*/ 0 h 173"/>
                  <a:gd name="T16" fmla="*/ 5 w 10"/>
                  <a:gd name="T17" fmla="*/ 0 h 173"/>
                  <a:gd name="T18" fmla="*/ 5 w 10"/>
                  <a:gd name="T19" fmla="*/ 1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"/>
                  <a:gd name="T31" fmla="*/ 0 h 173"/>
                  <a:gd name="T32" fmla="*/ 10 w 10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" h="173">
                    <a:moveTo>
                      <a:pt x="5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9" y="172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4" name="Freeform 120">
                <a:extLst>
                  <a:ext uri="{FF2B5EF4-FFF2-40B4-BE49-F238E27FC236}">
                    <a16:creationId xmlns:a16="http://schemas.microsoft.com/office/drawing/2014/main" id="{C6039CAB-C06D-4850-902B-35EE80CA3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3126"/>
                <a:ext cx="300" cy="12"/>
              </a:xfrm>
              <a:custGeom>
                <a:avLst/>
                <a:gdLst>
                  <a:gd name="T0" fmla="*/ 14 w 300"/>
                  <a:gd name="T1" fmla="*/ 6 h 12"/>
                  <a:gd name="T2" fmla="*/ 7 w 300"/>
                  <a:gd name="T3" fmla="*/ 11 h 12"/>
                  <a:gd name="T4" fmla="*/ 299 w 300"/>
                  <a:gd name="T5" fmla="*/ 11 h 12"/>
                  <a:gd name="T6" fmla="*/ 299 w 300"/>
                  <a:gd name="T7" fmla="*/ 0 h 12"/>
                  <a:gd name="T8" fmla="*/ 7 w 300"/>
                  <a:gd name="T9" fmla="*/ 0 h 12"/>
                  <a:gd name="T10" fmla="*/ 0 w 300"/>
                  <a:gd name="T11" fmla="*/ 6 h 12"/>
                  <a:gd name="T12" fmla="*/ 7 w 300"/>
                  <a:gd name="T13" fmla="*/ 0 h 12"/>
                  <a:gd name="T14" fmla="*/ 0 w 300"/>
                  <a:gd name="T15" fmla="*/ 0 h 12"/>
                  <a:gd name="T16" fmla="*/ 0 w 300"/>
                  <a:gd name="T17" fmla="*/ 6 h 12"/>
                  <a:gd name="T18" fmla="*/ 14 w 30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0"/>
                  <a:gd name="T31" fmla="*/ 0 h 12"/>
                  <a:gd name="T32" fmla="*/ 300 w 30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0" h="12">
                    <a:moveTo>
                      <a:pt x="14" y="6"/>
                    </a:moveTo>
                    <a:lnTo>
                      <a:pt x="7" y="11"/>
                    </a:lnTo>
                    <a:lnTo>
                      <a:pt x="299" y="11"/>
                    </a:lnTo>
                    <a:lnTo>
                      <a:pt x="29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5" name="Freeform 121">
                <a:extLst>
                  <a:ext uri="{FF2B5EF4-FFF2-40B4-BE49-F238E27FC236}">
                    <a16:creationId xmlns:a16="http://schemas.microsoft.com/office/drawing/2014/main" id="{26158E8C-3A09-416C-A564-462E40CA9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3135"/>
                <a:ext cx="9" cy="173"/>
              </a:xfrm>
              <a:custGeom>
                <a:avLst/>
                <a:gdLst>
                  <a:gd name="T0" fmla="*/ 4 w 9"/>
                  <a:gd name="T1" fmla="*/ 156 h 173"/>
                  <a:gd name="T2" fmla="*/ 8 w 9"/>
                  <a:gd name="T3" fmla="*/ 163 h 173"/>
                  <a:gd name="T4" fmla="*/ 8 w 9"/>
                  <a:gd name="T5" fmla="*/ 0 h 173"/>
                  <a:gd name="T6" fmla="*/ 0 w 9"/>
                  <a:gd name="T7" fmla="*/ 0 h 173"/>
                  <a:gd name="T8" fmla="*/ 0 w 9"/>
                  <a:gd name="T9" fmla="*/ 163 h 173"/>
                  <a:gd name="T10" fmla="*/ 4 w 9"/>
                  <a:gd name="T11" fmla="*/ 172 h 173"/>
                  <a:gd name="T12" fmla="*/ 0 w 9"/>
                  <a:gd name="T13" fmla="*/ 163 h 173"/>
                  <a:gd name="T14" fmla="*/ 0 w 9"/>
                  <a:gd name="T15" fmla="*/ 172 h 173"/>
                  <a:gd name="T16" fmla="*/ 4 w 9"/>
                  <a:gd name="T17" fmla="*/ 172 h 173"/>
                  <a:gd name="T18" fmla="*/ 4 w 9"/>
                  <a:gd name="T19" fmla="*/ 15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173"/>
                  <a:gd name="T32" fmla="*/ 9 w 9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173">
                    <a:moveTo>
                      <a:pt x="4" y="156"/>
                    </a:moveTo>
                    <a:lnTo>
                      <a:pt x="8" y="16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4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6" name="Freeform 122">
                <a:extLst>
                  <a:ext uri="{FF2B5EF4-FFF2-40B4-BE49-F238E27FC236}">
                    <a16:creationId xmlns:a16="http://schemas.microsoft.com/office/drawing/2014/main" id="{569DB42D-1379-46DD-A4E5-0FAD1612A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296"/>
                <a:ext cx="300" cy="12"/>
              </a:xfrm>
              <a:custGeom>
                <a:avLst/>
                <a:gdLst>
                  <a:gd name="T0" fmla="*/ 284 w 300"/>
                  <a:gd name="T1" fmla="*/ 5 h 12"/>
                  <a:gd name="T2" fmla="*/ 292 w 300"/>
                  <a:gd name="T3" fmla="*/ 0 h 12"/>
                  <a:gd name="T4" fmla="*/ 0 w 300"/>
                  <a:gd name="T5" fmla="*/ 0 h 12"/>
                  <a:gd name="T6" fmla="*/ 0 w 300"/>
                  <a:gd name="T7" fmla="*/ 11 h 12"/>
                  <a:gd name="T8" fmla="*/ 292 w 300"/>
                  <a:gd name="T9" fmla="*/ 11 h 12"/>
                  <a:gd name="T10" fmla="*/ 299 w 300"/>
                  <a:gd name="T11" fmla="*/ 5 h 12"/>
                  <a:gd name="T12" fmla="*/ 292 w 300"/>
                  <a:gd name="T13" fmla="*/ 11 h 12"/>
                  <a:gd name="T14" fmla="*/ 299 w 300"/>
                  <a:gd name="T15" fmla="*/ 11 h 12"/>
                  <a:gd name="T16" fmla="*/ 299 w 300"/>
                  <a:gd name="T17" fmla="*/ 5 h 12"/>
                  <a:gd name="T18" fmla="*/ 284 w 300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0"/>
                  <a:gd name="T31" fmla="*/ 0 h 12"/>
                  <a:gd name="T32" fmla="*/ 300 w 30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0" h="12">
                    <a:moveTo>
                      <a:pt x="284" y="5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2" y="11"/>
                    </a:lnTo>
                    <a:lnTo>
                      <a:pt x="299" y="5"/>
                    </a:lnTo>
                    <a:lnTo>
                      <a:pt x="292" y="11"/>
                    </a:lnTo>
                    <a:lnTo>
                      <a:pt x="299" y="11"/>
                    </a:lnTo>
                    <a:lnTo>
                      <a:pt x="299" y="5"/>
                    </a:lnTo>
                    <a:lnTo>
                      <a:pt x="28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7" name="Freeform 123">
                <a:extLst>
                  <a:ext uri="{FF2B5EF4-FFF2-40B4-BE49-F238E27FC236}">
                    <a16:creationId xmlns:a16="http://schemas.microsoft.com/office/drawing/2014/main" id="{6B85817D-3E09-4A0F-A364-8020D66A6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35"/>
                <a:ext cx="299" cy="164"/>
              </a:xfrm>
              <a:custGeom>
                <a:avLst/>
                <a:gdLst>
                  <a:gd name="T0" fmla="*/ 298 w 299"/>
                  <a:gd name="T1" fmla="*/ 163 h 164"/>
                  <a:gd name="T2" fmla="*/ 298 w 299"/>
                  <a:gd name="T3" fmla="*/ 0 h 164"/>
                  <a:gd name="T4" fmla="*/ 0 w 299"/>
                  <a:gd name="T5" fmla="*/ 0 h 164"/>
                  <a:gd name="T6" fmla="*/ 0 w 299"/>
                  <a:gd name="T7" fmla="*/ 163 h 164"/>
                  <a:gd name="T8" fmla="*/ 298 w 299"/>
                  <a:gd name="T9" fmla="*/ 163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"/>
                  <a:gd name="T16" fmla="*/ 0 h 164"/>
                  <a:gd name="T17" fmla="*/ 299 w 29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" h="164">
                    <a:moveTo>
                      <a:pt x="298" y="163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8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8" name="Freeform 124">
                <a:extLst>
                  <a:ext uri="{FF2B5EF4-FFF2-40B4-BE49-F238E27FC236}">
                    <a16:creationId xmlns:a16="http://schemas.microsoft.com/office/drawing/2014/main" id="{34A960EE-0A8C-4888-8473-270C2B421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126"/>
                <a:ext cx="9" cy="173"/>
              </a:xfrm>
              <a:custGeom>
                <a:avLst/>
                <a:gdLst>
                  <a:gd name="T0" fmla="*/ 4 w 9"/>
                  <a:gd name="T1" fmla="*/ 16 h 173"/>
                  <a:gd name="T2" fmla="*/ 0 w 9"/>
                  <a:gd name="T3" fmla="*/ 9 h 173"/>
                  <a:gd name="T4" fmla="*/ 0 w 9"/>
                  <a:gd name="T5" fmla="*/ 172 h 173"/>
                  <a:gd name="T6" fmla="*/ 8 w 9"/>
                  <a:gd name="T7" fmla="*/ 172 h 173"/>
                  <a:gd name="T8" fmla="*/ 8 w 9"/>
                  <a:gd name="T9" fmla="*/ 9 h 173"/>
                  <a:gd name="T10" fmla="*/ 4 w 9"/>
                  <a:gd name="T11" fmla="*/ 0 h 173"/>
                  <a:gd name="T12" fmla="*/ 8 w 9"/>
                  <a:gd name="T13" fmla="*/ 9 h 173"/>
                  <a:gd name="T14" fmla="*/ 8 w 9"/>
                  <a:gd name="T15" fmla="*/ 0 h 173"/>
                  <a:gd name="T16" fmla="*/ 4 w 9"/>
                  <a:gd name="T17" fmla="*/ 0 h 173"/>
                  <a:gd name="T18" fmla="*/ 4 w 9"/>
                  <a:gd name="T19" fmla="*/ 16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173"/>
                  <a:gd name="T32" fmla="*/ 9 w 9"/>
                  <a:gd name="T33" fmla="*/ 173 h 1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173">
                    <a:moveTo>
                      <a:pt x="4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8" y="172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9" name="Freeform 125">
                <a:extLst>
                  <a:ext uri="{FF2B5EF4-FFF2-40B4-BE49-F238E27FC236}">
                    <a16:creationId xmlns:a16="http://schemas.microsoft.com/office/drawing/2014/main" id="{10714A24-8568-4FDA-AB2F-FFBBB73F1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26"/>
                <a:ext cx="299" cy="12"/>
              </a:xfrm>
              <a:custGeom>
                <a:avLst/>
                <a:gdLst>
                  <a:gd name="T0" fmla="*/ 7 w 299"/>
                  <a:gd name="T1" fmla="*/ 6 h 12"/>
                  <a:gd name="T2" fmla="*/ 0 w 299"/>
                  <a:gd name="T3" fmla="*/ 11 h 12"/>
                  <a:gd name="T4" fmla="*/ 298 w 299"/>
                  <a:gd name="T5" fmla="*/ 11 h 12"/>
                  <a:gd name="T6" fmla="*/ 298 w 299"/>
                  <a:gd name="T7" fmla="*/ 0 h 12"/>
                  <a:gd name="T8" fmla="*/ 0 w 299"/>
                  <a:gd name="T9" fmla="*/ 0 h 12"/>
                  <a:gd name="T10" fmla="*/ 0 w 299"/>
                  <a:gd name="T11" fmla="*/ 6 h 12"/>
                  <a:gd name="T12" fmla="*/ 0 w 299"/>
                  <a:gd name="T13" fmla="*/ 0 h 12"/>
                  <a:gd name="T14" fmla="*/ 0 w 299"/>
                  <a:gd name="T15" fmla="*/ 6 h 12"/>
                  <a:gd name="T16" fmla="*/ 7 w 299"/>
                  <a:gd name="T17" fmla="*/ 6 h 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9"/>
                  <a:gd name="T28" fmla="*/ 0 h 12"/>
                  <a:gd name="T29" fmla="*/ 299 w 299"/>
                  <a:gd name="T30" fmla="*/ 12 h 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9" h="12">
                    <a:moveTo>
                      <a:pt x="7" y="6"/>
                    </a:moveTo>
                    <a:lnTo>
                      <a:pt x="0" y="11"/>
                    </a:lnTo>
                    <a:lnTo>
                      <a:pt x="298" y="11"/>
                    </a:lnTo>
                    <a:lnTo>
                      <a:pt x="298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0" name="Freeform 126">
                <a:extLst>
                  <a:ext uri="{FF2B5EF4-FFF2-40B4-BE49-F238E27FC236}">
                    <a16:creationId xmlns:a16="http://schemas.microsoft.com/office/drawing/2014/main" id="{1A1AF5CE-5A09-4E21-A8A1-2D0C21556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135"/>
                <a:ext cx="2" cy="173"/>
              </a:xfrm>
              <a:custGeom>
                <a:avLst/>
                <a:gdLst>
                  <a:gd name="T0" fmla="*/ 0 w 2"/>
                  <a:gd name="T1" fmla="*/ 156 h 173"/>
                  <a:gd name="T2" fmla="*/ 1 w 2"/>
                  <a:gd name="T3" fmla="*/ 163 h 173"/>
                  <a:gd name="T4" fmla="*/ 1 w 2"/>
                  <a:gd name="T5" fmla="*/ 0 h 173"/>
                  <a:gd name="T6" fmla="*/ 0 w 2"/>
                  <a:gd name="T7" fmla="*/ 0 h 173"/>
                  <a:gd name="T8" fmla="*/ 0 w 2"/>
                  <a:gd name="T9" fmla="*/ 163 h 173"/>
                  <a:gd name="T10" fmla="*/ 0 w 2"/>
                  <a:gd name="T11" fmla="*/ 172 h 173"/>
                  <a:gd name="T12" fmla="*/ 0 w 2"/>
                  <a:gd name="T13" fmla="*/ 163 h 173"/>
                  <a:gd name="T14" fmla="*/ 0 w 2"/>
                  <a:gd name="T15" fmla="*/ 172 h 173"/>
                  <a:gd name="T16" fmla="*/ 0 w 2"/>
                  <a:gd name="T17" fmla="*/ 156 h 1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173"/>
                  <a:gd name="T29" fmla="*/ 2 w 2"/>
                  <a:gd name="T30" fmla="*/ 173 h 1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173">
                    <a:moveTo>
                      <a:pt x="0" y="156"/>
                    </a:moveTo>
                    <a:lnTo>
                      <a:pt x="1" y="16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1" name="Freeform 127">
                <a:extLst>
                  <a:ext uri="{FF2B5EF4-FFF2-40B4-BE49-F238E27FC236}">
                    <a16:creationId xmlns:a16="http://schemas.microsoft.com/office/drawing/2014/main" id="{D919D0D7-A07B-4556-88EB-85061706B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3296"/>
                <a:ext cx="306" cy="12"/>
              </a:xfrm>
              <a:custGeom>
                <a:avLst/>
                <a:gdLst>
                  <a:gd name="T0" fmla="*/ 291 w 306"/>
                  <a:gd name="T1" fmla="*/ 5 h 12"/>
                  <a:gd name="T2" fmla="*/ 298 w 306"/>
                  <a:gd name="T3" fmla="*/ 0 h 12"/>
                  <a:gd name="T4" fmla="*/ 0 w 306"/>
                  <a:gd name="T5" fmla="*/ 0 h 12"/>
                  <a:gd name="T6" fmla="*/ 0 w 306"/>
                  <a:gd name="T7" fmla="*/ 11 h 12"/>
                  <a:gd name="T8" fmla="*/ 298 w 306"/>
                  <a:gd name="T9" fmla="*/ 11 h 12"/>
                  <a:gd name="T10" fmla="*/ 305 w 306"/>
                  <a:gd name="T11" fmla="*/ 5 h 12"/>
                  <a:gd name="T12" fmla="*/ 298 w 306"/>
                  <a:gd name="T13" fmla="*/ 11 h 12"/>
                  <a:gd name="T14" fmla="*/ 305 w 306"/>
                  <a:gd name="T15" fmla="*/ 11 h 12"/>
                  <a:gd name="T16" fmla="*/ 305 w 306"/>
                  <a:gd name="T17" fmla="*/ 5 h 12"/>
                  <a:gd name="T18" fmla="*/ 291 w 306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6"/>
                  <a:gd name="T31" fmla="*/ 0 h 12"/>
                  <a:gd name="T32" fmla="*/ 306 w 306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6" h="12">
                    <a:moveTo>
                      <a:pt x="291" y="5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8" y="11"/>
                    </a:lnTo>
                    <a:lnTo>
                      <a:pt x="305" y="5"/>
                    </a:lnTo>
                    <a:lnTo>
                      <a:pt x="298" y="11"/>
                    </a:lnTo>
                    <a:lnTo>
                      <a:pt x="305" y="11"/>
                    </a:lnTo>
                    <a:lnTo>
                      <a:pt x="305" y="5"/>
                    </a:lnTo>
                    <a:lnTo>
                      <a:pt x="29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2" name="Freeform 128">
                <a:extLst>
                  <a:ext uri="{FF2B5EF4-FFF2-40B4-BE49-F238E27FC236}">
                    <a16:creationId xmlns:a16="http://schemas.microsoft.com/office/drawing/2014/main" id="{338DBA09-E6E4-4F1E-A92A-CD33ED6C5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3380"/>
                <a:ext cx="1569" cy="29"/>
              </a:xfrm>
              <a:custGeom>
                <a:avLst/>
                <a:gdLst>
                  <a:gd name="T0" fmla="*/ 1568 w 1569"/>
                  <a:gd name="T1" fmla="*/ 28 h 29"/>
                  <a:gd name="T2" fmla="*/ 1568 w 1569"/>
                  <a:gd name="T3" fmla="*/ 0 h 29"/>
                  <a:gd name="T4" fmla="*/ 0 w 1569"/>
                  <a:gd name="T5" fmla="*/ 0 h 29"/>
                  <a:gd name="T6" fmla="*/ 0 w 1569"/>
                  <a:gd name="T7" fmla="*/ 28 h 29"/>
                  <a:gd name="T8" fmla="*/ 1568 w 1569"/>
                  <a:gd name="T9" fmla="*/ 2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69"/>
                  <a:gd name="T16" fmla="*/ 0 h 29"/>
                  <a:gd name="T17" fmla="*/ 1569 w 156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69" h="29">
                    <a:moveTo>
                      <a:pt x="1568" y="28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68" y="28"/>
                    </a:lnTo>
                  </a:path>
                </a:pathLst>
              </a:custGeom>
              <a:solidFill>
                <a:srgbClr val="7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3" name="Freeform 129">
                <a:extLst>
                  <a:ext uri="{FF2B5EF4-FFF2-40B4-BE49-F238E27FC236}">
                    <a16:creationId xmlns:a16="http://schemas.microsoft.com/office/drawing/2014/main" id="{E78CB6A2-3333-48FE-B98E-6E3D7877F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3372"/>
                <a:ext cx="9" cy="37"/>
              </a:xfrm>
              <a:custGeom>
                <a:avLst/>
                <a:gdLst>
                  <a:gd name="T0" fmla="*/ 4 w 9"/>
                  <a:gd name="T1" fmla="*/ 15 h 37"/>
                  <a:gd name="T2" fmla="*/ 0 w 9"/>
                  <a:gd name="T3" fmla="*/ 7 h 37"/>
                  <a:gd name="T4" fmla="*/ 0 w 9"/>
                  <a:gd name="T5" fmla="*/ 36 h 37"/>
                  <a:gd name="T6" fmla="*/ 8 w 9"/>
                  <a:gd name="T7" fmla="*/ 36 h 37"/>
                  <a:gd name="T8" fmla="*/ 8 w 9"/>
                  <a:gd name="T9" fmla="*/ 7 h 37"/>
                  <a:gd name="T10" fmla="*/ 4 w 9"/>
                  <a:gd name="T11" fmla="*/ 0 h 37"/>
                  <a:gd name="T12" fmla="*/ 8 w 9"/>
                  <a:gd name="T13" fmla="*/ 7 h 37"/>
                  <a:gd name="T14" fmla="*/ 8 w 9"/>
                  <a:gd name="T15" fmla="*/ 0 h 37"/>
                  <a:gd name="T16" fmla="*/ 4 w 9"/>
                  <a:gd name="T17" fmla="*/ 0 h 37"/>
                  <a:gd name="T18" fmla="*/ 4 w 9"/>
                  <a:gd name="T19" fmla="*/ 15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7"/>
                  <a:gd name="T32" fmla="*/ 9 w 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7">
                    <a:moveTo>
                      <a:pt x="4" y="15"/>
                    </a:moveTo>
                    <a:lnTo>
                      <a:pt x="0" y="7"/>
                    </a:lnTo>
                    <a:lnTo>
                      <a:pt x="0" y="36"/>
                    </a:lnTo>
                    <a:lnTo>
                      <a:pt x="8" y="36"/>
                    </a:lnTo>
                    <a:lnTo>
                      <a:pt x="8" y="7"/>
                    </a:lnTo>
                    <a:lnTo>
                      <a:pt x="4" y="0"/>
                    </a:lnTo>
                    <a:lnTo>
                      <a:pt x="8" y="7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4" name="Freeform 130">
                <a:extLst>
                  <a:ext uri="{FF2B5EF4-FFF2-40B4-BE49-F238E27FC236}">
                    <a16:creationId xmlns:a16="http://schemas.microsoft.com/office/drawing/2014/main" id="{78BD5120-F03C-4CC8-BA41-A5483119D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3372"/>
                <a:ext cx="1576" cy="12"/>
              </a:xfrm>
              <a:custGeom>
                <a:avLst/>
                <a:gdLst>
                  <a:gd name="T0" fmla="*/ 14 w 1576"/>
                  <a:gd name="T1" fmla="*/ 5 h 12"/>
                  <a:gd name="T2" fmla="*/ 7 w 1576"/>
                  <a:gd name="T3" fmla="*/ 11 h 12"/>
                  <a:gd name="T4" fmla="*/ 1575 w 1576"/>
                  <a:gd name="T5" fmla="*/ 11 h 12"/>
                  <a:gd name="T6" fmla="*/ 1575 w 1576"/>
                  <a:gd name="T7" fmla="*/ 0 h 12"/>
                  <a:gd name="T8" fmla="*/ 7 w 1576"/>
                  <a:gd name="T9" fmla="*/ 0 h 12"/>
                  <a:gd name="T10" fmla="*/ 0 w 1576"/>
                  <a:gd name="T11" fmla="*/ 5 h 12"/>
                  <a:gd name="T12" fmla="*/ 7 w 1576"/>
                  <a:gd name="T13" fmla="*/ 0 h 12"/>
                  <a:gd name="T14" fmla="*/ 0 w 1576"/>
                  <a:gd name="T15" fmla="*/ 0 h 12"/>
                  <a:gd name="T16" fmla="*/ 0 w 1576"/>
                  <a:gd name="T17" fmla="*/ 5 h 12"/>
                  <a:gd name="T18" fmla="*/ 14 w 1576"/>
                  <a:gd name="T19" fmla="*/ 5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76"/>
                  <a:gd name="T31" fmla="*/ 0 h 12"/>
                  <a:gd name="T32" fmla="*/ 1576 w 1576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76" h="12">
                    <a:moveTo>
                      <a:pt x="14" y="5"/>
                    </a:moveTo>
                    <a:lnTo>
                      <a:pt x="7" y="11"/>
                    </a:lnTo>
                    <a:lnTo>
                      <a:pt x="1575" y="11"/>
                    </a:lnTo>
                    <a:lnTo>
                      <a:pt x="1575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5" name="Freeform 131">
                <a:extLst>
                  <a:ext uri="{FF2B5EF4-FFF2-40B4-BE49-F238E27FC236}">
                    <a16:creationId xmlns:a16="http://schemas.microsoft.com/office/drawing/2014/main" id="{222B9269-7F93-4175-AFFB-838AF2F0D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3380"/>
                <a:ext cx="9" cy="37"/>
              </a:xfrm>
              <a:custGeom>
                <a:avLst/>
                <a:gdLst>
                  <a:gd name="T0" fmla="*/ 4 w 9"/>
                  <a:gd name="T1" fmla="*/ 22 h 37"/>
                  <a:gd name="T2" fmla="*/ 8 w 9"/>
                  <a:gd name="T3" fmla="*/ 29 h 37"/>
                  <a:gd name="T4" fmla="*/ 8 w 9"/>
                  <a:gd name="T5" fmla="*/ 0 h 37"/>
                  <a:gd name="T6" fmla="*/ 0 w 9"/>
                  <a:gd name="T7" fmla="*/ 0 h 37"/>
                  <a:gd name="T8" fmla="*/ 0 w 9"/>
                  <a:gd name="T9" fmla="*/ 29 h 37"/>
                  <a:gd name="T10" fmla="*/ 4 w 9"/>
                  <a:gd name="T11" fmla="*/ 36 h 37"/>
                  <a:gd name="T12" fmla="*/ 0 w 9"/>
                  <a:gd name="T13" fmla="*/ 29 h 37"/>
                  <a:gd name="T14" fmla="*/ 0 w 9"/>
                  <a:gd name="T15" fmla="*/ 36 h 37"/>
                  <a:gd name="T16" fmla="*/ 4 w 9"/>
                  <a:gd name="T17" fmla="*/ 36 h 37"/>
                  <a:gd name="T18" fmla="*/ 4 w 9"/>
                  <a:gd name="T19" fmla="*/ 22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"/>
                  <a:gd name="T31" fmla="*/ 0 h 37"/>
                  <a:gd name="T32" fmla="*/ 9 w 9"/>
                  <a:gd name="T33" fmla="*/ 37 h 3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" h="37">
                    <a:moveTo>
                      <a:pt x="4" y="22"/>
                    </a:moveTo>
                    <a:lnTo>
                      <a:pt x="8" y="29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4" y="36"/>
                    </a:lnTo>
                    <a:lnTo>
                      <a:pt x="0" y="29"/>
                    </a:lnTo>
                    <a:lnTo>
                      <a:pt x="0" y="36"/>
                    </a:lnTo>
                    <a:lnTo>
                      <a:pt x="4" y="36"/>
                    </a:lnTo>
                    <a:lnTo>
                      <a:pt x="4" y="2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6" name="Freeform 132">
                <a:extLst>
                  <a:ext uri="{FF2B5EF4-FFF2-40B4-BE49-F238E27FC236}">
                    <a16:creationId xmlns:a16="http://schemas.microsoft.com/office/drawing/2014/main" id="{9BD04BF4-0594-41E4-9408-CB47659BE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3406"/>
                <a:ext cx="1576" cy="11"/>
              </a:xfrm>
              <a:custGeom>
                <a:avLst/>
                <a:gdLst>
                  <a:gd name="T0" fmla="*/ 1561 w 1576"/>
                  <a:gd name="T1" fmla="*/ 5 h 11"/>
                  <a:gd name="T2" fmla="*/ 1568 w 1576"/>
                  <a:gd name="T3" fmla="*/ 0 h 11"/>
                  <a:gd name="T4" fmla="*/ 0 w 1576"/>
                  <a:gd name="T5" fmla="*/ 0 h 11"/>
                  <a:gd name="T6" fmla="*/ 0 w 1576"/>
                  <a:gd name="T7" fmla="*/ 10 h 11"/>
                  <a:gd name="T8" fmla="*/ 1568 w 1576"/>
                  <a:gd name="T9" fmla="*/ 10 h 11"/>
                  <a:gd name="T10" fmla="*/ 1575 w 1576"/>
                  <a:gd name="T11" fmla="*/ 5 h 11"/>
                  <a:gd name="T12" fmla="*/ 1568 w 1576"/>
                  <a:gd name="T13" fmla="*/ 10 h 11"/>
                  <a:gd name="T14" fmla="*/ 1575 w 1576"/>
                  <a:gd name="T15" fmla="*/ 10 h 11"/>
                  <a:gd name="T16" fmla="*/ 1575 w 1576"/>
                  <a:gd name="T17" fmla="*/ 5 h 11"/>
                  <a:gd name="T18" fmla="*/ 1561 w 1576"/>
                  <a:gd name="T19" fmla="*/ 5 h 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76"/>
                  <a:gd name="T31" fmla="*/ 0 h 11"/>
                  <a:gd name="T32" fmla="*/ 1576 w 1576"/>
                  <a:gd name="T33" fmla="*/ 11 h 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76" h="11">
                    <a:moveTo>
                      <a:pt x="1561" y="5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1568" y="10"/>
                    </a:lnTo>
                    <a:lnTo>
                      <a:pt x="1575" y="5"/>
                    </a:lnTo>
                    <a:lnTo>
                      <a:pt x="1568" y="10"/>
                    </a:lnTo>
                    <a:lnTo>
                      <a:pt x="1575" y="10"/>
                    </a:lnTo>
                    <a:lnTo>
                      <a:pt x="1575" y="5"/>
                    </a:lnTo>
                    <a:lnTo>
                      <a:pt x="156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61" name="Rectangle 133">
              <a:extLst>
                <a:ext uri="{FF2B5EF4-FFF2-40B4-BE49-F238E27FC236}">
                  <a16:creationId xmlns:a16="http://schemas.microsoft.com/office/drawing/2014/main" id="{34B31CDB-CC5D-4411-B7EB-099F22956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538"/>
              <a:ext cx="1254" cy="468"/>
            </a:xfrm>
            <a:prstGeom prst="rect">
              <a:avLst/>
            </a:prstGeom>
            <a:solidFill>
              <a:srgbClr val="DADAD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85577" tIns="42038" rIns="85577" bIns="42038">
              <a:spAutoFit/>
            </a:bodyPr>
            <a:lstStyle>
              <a:lvl1pPr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65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651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000" b="1"/>
                <a:t>Plan Administrator</a:t>
              </a:r>
            </a:p>
          </p:txBody>
        </p:sp>
      </p:grpSp>
      <p:sp>
        <p:nvSpPr>
          <p:cNvPr id="24581" name="Rectangle 134">
            <a:extLst>
              <a:ext uri="{FF2B5EF4-FFF2-40B4-BE49-F238E27FC236}">
                <a16:creationId xmlns:a16="http://schemas.microsoft.com/office/drawing/2014/main" id="{4198E7CD-464B-41D1-A463-32027A3B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4730750"/>
            <a:ext cx="2709863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900" b="1">
                <a:solidFill>
                  <a:srgbClr val="CF0E30"/>
                </a:solidFill>
              </a:rPr>
              <a:t>Pension Recipients</a:t>
            </a:r>
          </a:p>
        </p:txBody>
      </p:sp>
      <p:grpSp>
        <p:nvGrpSpPr>
          <p:cNvPr id="24582" name="Group 135">
            <a:extLst>
              <a:ext uri="{FF2B5EF4-FFF2-40B4-BE49-F238E27FC236}">
                <a16:creationId xmlns:a16="http://schemas.microsoft.com/office/drawing/2014/main" id="{AC8E45EA-5FF1-4511-8393-B8D344FE0E12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5159375"/>
            <a:ext cx="1651000" cy="1687513"/>
            <a:chOff x="4423" y="3467"/>
            <a:chExt cx="1092" cy="1134"/>
          </a:xfrm>
        </p:grpSpPr>
        <p:sp>
          <p:nvSpPr>
            <p:cNvPr id="24626" name="Freeform 136">
              <a:extLst>
                <a:ext uri="{FF2B5EF4-FFF2-40B4-BE49-F238E27FC236}">
                  <a16:creationId xmlns:a16="http://schemas.microsoft.com/office/drawing/2014/main" id="{F3B1D3F2-0098-432E-BB69-7E6B57A57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470"/>
              <a:ext cx="656" cy="327"/>
            </a:xfrm>
            <a:custGeom>
              <a:avLst/>
              <a:gdLst>
                <a:gd name="T0" fmla="*/ 0 w 656"/>
                <a:gd name="T1" fmla="*/ 308 h 327"/>
                <a:gd name="T2" fmla="*/ 6 w 656"/>
                <a:gd name="T3" fmla="*/ 259 h 327"/>
                <a:gd name="T4" fmla="*/ 18 w 656"/>
                <a:gd name="T5" fmla="*/ 212 h 327"/>
                <a:gd name="T6" fmla="*/ 38 w 656"/>
                <a:gd name="T7" fmla="*/ 172 h 327"/>
                <a:gd name="T8" fmla="*/ 64 w 656"/>
                <a:gd name="T9" fmla="*/ 131 h 327"/>
                <a:gd name="T10" fmla="*/ 94 w 656"/>
                <a:gd name="T11" fmla="*/ 96 h 327"/>
                <a:gd name="T12" fmla="*/ 129 w 656"/>
                <a:gd name="T13" fmla="*/ 64 h 327"/>
                <a:gd name="T14" fmla="*/ 170 w 656"/>
                <a:gd name="T15" fmla="*/ 40 h 327"/>
                <a:gd name="T16" fmla="*/ 214 w 656"/>
                <a:gd name="T17" fmla="*/ 21 h 327"/>
                <a:gd name="T18" fmla="*/ 262 w 656"/>
                <a:gd name="T19" fmla="*/ 6 h 327"/>
                <a:gd name="T20" fmla="*/ 308 w 656"/>
                <a:gd name="T21" fmla="*/ 0 h 327"/>
                <a:gd name="T22" fmla="*/ 362 w 656"/>
                <a:gd name="T23" fmla="*/ 3 h 327"/>
                <a:gd name="T24" fmla="*/ 408 w 656"/>
                <a:gd name="T25" fmla="*/ 12 h 327"/>
                <a:gd name="T26" fmla="*/ 455 w 656"/>
                <a:gd name="T27" fmla="*/ 27 h 327"/>
                <a:gd name="T28" fmla="*/ 496 w 656"/>
                <a:gd name="T29" fmla="*/ 46 h 327"/>
                <a:gd name="T30" fmla="*/ 534 w 656"/>
                <a:gd name="T31" fmla="*/ 76 h 327"/>
                <a:gd name="T32" fmla="*/ 570 w 656"/>
                <a:gd name="T33" fmla="*/ 108 h 327"/>
                <a:gd name="T34" fmla="*/ 600 w 656"/>
                <a:gd name="T35" fmla="*/ 142 h 327"/>
                <a:gd name="T36" fmla="*/ 622 w 656"/>
                <a:gd name="T37" fmla="*/ 184 h 327"/>
                <a:gd name="T38" fmla="*/ 640 w 656"/>
                <a:gd name="T39" fmla="*/ 230 h 327"/>
                <a:gd name="T40" fmla="*/ 649 w 656"/>
                <a:gd name="T41" fmla="*/ 277 h 327"/>
                <a:gd name="T42" fmla="*/ 655 w 656"/>
                <a:gd name="T43" fmla="*/ 326 h 327"/>
                <a:gd name="T44" fmla="*/ 649 w 656"/>
                <a:gd name="T45" fmla="*/ 292 h 327"/>
                <a:gd name="T46" fmla="*/ 640 w 656"/>
                <a:gd name="T47" fmla="*/ 245 h 327"/>
                <a:gd name="T48" fmla="*/ 625 w 656"/>
                <a:gd name="T49" fmla="*/ 201 h 327"/>
                <a:gd name="T50" fmla="*/ 605 w 656"/>
                <a:gd name="T51" fmla="*/ 160 h 327"/>
                <a:gd name="T52" fmla="*/ 576 w 656"/>
                <a:gd name="T53" fmla="*/ 120 h 327"/>
                <a:gd name="T54" fmla="*/ 543 w 656"/>
                <a:gd name="T55" fmla="*/ 87 h 327"/>
                <a:gd name="T56" fmla="*/ 508 w 656"/>
                <a:gd name="T57" fmla="*/ 58 h 327"/>
                <a:gd name="T58" fmla="*/ 467 w 656"/>
                <a:gd name="T59" fmla="*/ 35 h 327"/>
                <a:gd name="T60" fmla="*/ 423 w 656"/>
                <a:gd name="T61" fmla="*/ 18 h 327"/>
                <a:gd name="T62" fmla="*/ 376 w 656"/>
                <a:gd name="T63" fmla="*/ 9 h 327"/>
                <a:gd name="T64" fmla="*/ 326 w 656"/>
                <a:gd name="T65" fmla="*/ 3 h 327"/>
                <a:gd name="T66" fmla="*/ 276 w 656"/>
                <a:gd name="T67" fmla="*/ 9 h 327"/>
                <a:gd name="T68" fmla="*/ 229 w 656"/>
                <a:gd name="T69" fmla="*/ 18 h 327"/>
                <a:gd name="T70" fmla="*/ 185 w 656"/>
                <a:gd name="T71" fmla="*/ 35 h 327"/>
                <a:gd name="T72" fmla="*/ 147 w 656"/>
                <a:gd name="T73" fmla="*/ 58 h 327"/>
                <a:gd name="T74" fmla="*/ 109 w 656"/>
                <a:gd name="T75" fmla="*/ 87 h 327"/>
                <a:gd name="T76" fmla="*/ 76 w 656"/>
                <a:gd name="T77" fmla="*/ 120 h 327"/>
                <a:gd name="T78" fmla="*/ 50 w 656"/>
                <a:gd name="T79" fmla="*/ 160 h 327"/>
                <a:gd name="T80" fmla="*/ 27 w 656"/>
                <a:gd name="T81" fmla="*/ 201 h 327"/>
                <a:gd name="T82" fmla="*/ 12 w 656"/>
                <a:gd name="T83" fmla="*/ 245 h 327"/>
                <a:gd name="T84" fmla="*/ 3 w 656"/>
                <a:gd name="T85" fmla="*/ 292 h 327"/>
                <a:gd name="T86" fmla="*/ 0 w 656"/>
                <a:gd name="T87" fmla="*/ 326 h 32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327"/>
                <a:gd name="T134" fmla="*/ 656 w 656"/>
                <a:gd name="T135" fmla="*/ 327 h 32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327">
                  <a:moveTo>
                    <a:pt x="0" y="326"/>
                  </a:moveTo>
                  <a:lnTo>
                    <a:pt x="0" y="326"/>
                  </a:lnTo>
                  <a:lnTo>
                    <a:pt x="0" y="308"/>
                  </a:lnTo>
                  <a:lnTo>
                    <a:pt x="0" y="292"/>
                  </a:lnTo>
                  <a:lnTo>
                    <a:pt x="3" y="277"/>
                  </a:lnTo>
                  <a:lnTo>
                    <a:pt x="6" y="259"/>
                  </a:lnTo>
                  <a:lnTo>
                    <a:pt x="9" y="245"/>
                  </a:lnTo>
                  <a:lnTo>
                    <a:pt x="15" y="230"/>
                  </a:lnTo>
                  <a:lnTo>
                    <a:pt x="18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72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20"/>
                  </a:lnTo>
                  <a:lnTo>
                    <a:pt x="85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5" y="32"/>
                  </a:lnTo>
                  <a:lnTo>
                    <a:pt x="199" y="27"/>
                  </a:lnTo>
                  <a:lnTo>
                    <a:pt x="214" y="21"/>
                  </a:lnTo>
                  <a:lnTo>
                    <a:pt x="229" y="15"/>
                  </a:lnTo>
                  <a:lnTo>
                    <a:pt x="244" y="12"/>
                  </a:lnTo>
                  <a:lnTo>
                    <a:pt x="262" y="6"/>
                  </a:lnTo>
                  <a:lnTo>
                    <a:pt x="276" y="3"/>
                  </a:lnTo>
                  <a:lnTo>
                    <a:pt x="293" y="3"/>
                  </a:lnTo>
                  <a:lnTo>
                    <a:pt x="308" y="0"/>
                  </a:lnTo>
                  <a:lnTo>
                    <a:pt x="326" y="0"/>
                  </a:lnTo>
                  <a:lnTo>
                    <a:pt x="344" y="0"/>
                  </a:lnTo>
                  <a:lnTo>
                    <a:pt x="362" y="3"/>
                  </a:lnTo>
                  <a:lnTo>
                    <a:pt x="376" y="3"/>
                  </a:lnTo>
                  <a:lnTo>
                    <a:pt x="393" y="6"/>
                  </a:lnTo>
                  <a:lnTo>
                    <a:pt x="408" y="12"/>
                  </a:lnTo>
                  <a:lnTo>
                    <a:pt x="423" y="15"/>
                  </a:lnTo>
                  <a:lnTo>
                    <a:pt x="441" y="21"/>
                  </a:lnTo>
                  <a:lnTo>
                    <a:pt x="455" y="27"/>
                  </a:lnTo>
                  <a:lnTo>
                    <a:pt x="467" y="32"/>
                  </a:lnTo>
                  <a:lnTo>
                    <a:pt x="482" y="40"/>
                  </a:lnTo>
                  <a:lnTo>
                    <a:pt x="496" y="46"/>
                  </a:lnTo>
                  <a:lnTo>
                    <a:pt x="508" y="55"/>
                  </a:lnTo>
                  <a:lnTo>
                    <a:pt x="523" y="64"/>
                  </a:lnTo>
                  <a:lnTo>
                    <a:pt x="534" y="76"/>
                  </a:lnTo>
                  <a:lnTo>
                    <a:pt x="546" y="84"/>
                  </a:lnTo>
                  <a:lnTo>
                    <a:pt x="558" y="96"/>
                  </a:lnTo>
                  <a:lnTo>
                    <a:pt x="570" y="108"/>
                  </a:lnTo>
                  <a:lnTo>
                    <a:pt x="579" y="120"/>
                  </a:lnTo>
                  <a:lnTo>
                    <a:pt x="591" y="131"/>
                  </a:lnTo>
                  <a:lnTo>
                    <a:pt x="600" y="142"/>
                  </a:lnTo>
                  <a:lnTo>
                    <a:pt x="608" y="157"/>
                  </a:lnTo>
                  <a:lnTo>
                    <a:pt x="614" y="172"/>
                  </a:lnTo>
                  <a:lnTo>
                    <a:pt x="622" y="184"/>
                  </a:lnTo>
                  <a:lnTo>
                    <a:pt x="628" y="198"/>
                  </a:lnTo>
                  <a:lnTo>
                    <a:pt x="634" y="212"/>
                  </a:lnTo>
                  <a:lnTo>
                    <a:pt x="640" y="230"/>
                  </a:lnTo>
                  <a:lnTo>
                    <a:pt x="643" y="245"/>
                  </a:lnTo>
                  <a:lnTo>
                    <a:pt x="646" y="259"/>
                  </a:lnTo>
                  <a:lnTo>
                    <a:pt x="649" y="277"/>
                  </a:lnTo>
                  <a:lnTo>
                    <a:pt x="652" y="292"/>
                  </a:lnTo>
                  <a:lnTo>
                    <a:pt x="655" y="308"/>
                  </a:lnTo>
                  <a:lnTo>
                    <a:pt x="655" y="326"/>
                  </a:lnTo>
                  <a:lnTo>
                    <a:pt x="652" y="326"/>
                  </a:lnTo>
                  <a:lnTo>
                    <a:pt x="649" y="308"/>
                  </a:lnTo>
                  <a:lnTo>
                    <a:pt x="649" y="292"/>
                  </a:lnTo>
                  <a:lnTo>
                    <a:pt x="646" y="277"/>
                  </a:lnTo>
                  <a:lnTo>
                    <a:pt x="643" y="262"/>
                  </a:lnTo>
                  <a:lnTo>
                    <a:pt x="640" y="245"/>
                  </a:lnTo>
                  <a:lnTo>
                    <a:pt x="637" y="230"/>
                  </a:lnTo>
                  <a:lnTo>
                    <a:pt x="631" y="215"/>
                  </a:lnTo>
                  <a:lnTo>
                    <a:pt x="625" y="201"/>
                  </a:lnTo>
                  <a:lnTo>
                    <a:pt x="619" y="187"/>
                  </a:lnTo>
                  <a:lnTo>
                    <a:pt x="611" y="172"/>
                  </a:lnTo>
                  <a:lnTo>
                    <a:pt x="605" y="160"/>
                  </a:lnTo>
                  <a:lnTo>
                    <a:pt x="597" y="145"/>
                  </a:lnTo>
                  <a:lnTo>
                    <a:pt x="588" y="134"/>
                  </a:lnTo>
                  <a:lnTo>
                    <a:pt x="576" y="120"/>
                  </a:lnTo>
                  <a:lnTo>
                    <a:pt x="567" y="111"/>
                  </a:lnTo>
                  <a:lnTo>
                    <a:pt x="555" y="99"/>
                  </a:lnTo>
                  <a:lnTo>
                    <a:pt x="543" y="87"/>
                  </a:lnTo>
                  <a:lnTo>
                    <a:pt x="531" y="79"/>
                  </a:lnTo>
                  <a:lnTo>
                    <a:pt x="520" y="67"/>
                  </a:lnTo>
                  <a:lnTo>
                    <a:pt x="508" y="58"/>
                  </a:lnTo>
                  <a:lnTo>
                    <a:pt x="493" y="49"/>
                  </a:lnTo>
                  <a:lnTo>
                    <a:pt x="482" y="43"/>
                  </a:lnTo>
                  <a:lnTo>
                    <a:pt x="467" y="35"/>
                  </a:lnTo>
                  <a:lnTo>
                    <a:pt x="452" y="29"/>
                  </a:lnTo>
                  <a:lnTo>
                    <a:pt x="438" y="24"/>
                  </a:lnTo>
                  <a:lnTo>
                    <a:pt x="423" y="18"/>
                  </a:lnTo>
                  <a:lnTo>
                    <a:pt x="408" y="15"/>
                  </a:lnTo>
                  <a:lnTo>
                    <a:pt x="390" y="12"/>
                  </a:lnTo>
                  <a:lnTo>
                    <a:pt x="376" y="9"/>
                  </a:lnTo>
                  <a:lnTo>
                    <a:pt x="362" y="6"/>
                  </a:lnTo>
                  <a:lnTo>
                    <a:pt x="344" y="3"/>
                  </a:lnTo>
                  <a:lnTo>
                    <a:pt x="326" y="3"/>
                  </a:lnTo>
                  <a:lnTo>
                    <a:pt x="311" y="3"/>
                  </a:lnTo>
                  <a:lnTo>
                    <a:pt x="293" y="6"/>
                  </a:lnTo>
                  <a:lnTo>
                    <a:pt x="276" y="9"/>
                  </a:lnTo>
                  <a:lnTo>
                    <a:pt x="262" y="12"/>
                  </a:lnTo>
                  <a:lnTo>
                    <a:pt x="247" y="15"/>
                  </a:lnTo>
                  <a:lnTo>
                    <a:pt x="229" y="18"/>
                  </a:lnTo>
                  <a:lnTo>
                    <a:pt x="214" y="24"/>
                  </a:lnTo>
                  <a:lnTo>
                    <a:pt x="199" y="29"/>
                  </a:lnTo>
                  <a:lnTo>
                    <a:pt x="185" y="35"/>
                  </a:lnTo>
                  <a:lnTo>
                    <a:pt x="173" y="43"/>
                  </a:lnTo>
                  <a:lnTo>
                    <a:pt x="159" y="49"/>
                  </a:lnTo>
                  <a:lnTo>
                    <a:pt x="147" y="58"/>
                  </a:lnTo>
                  <a:lnTo>
                    <a:pt x="132" y="67"/>
                  </a:lnTo>
                  <a:lnTo>
                    <a:pt x="120" y="79"/>
                  </a:lnTo>
                  <a:lnTo>
                    <a:pt x="109" y="87"/>
                  </a:lnTo>
                  <a:lnTo>
                    <a:pt x="97" y="99"/>
                  </a:lnTo>
                  <a:lnTo>
                    <a:pt x="85" y="111"/>
                  </a:lnTo>
                  <a:lnTo>
                    <a:pt x="76" y="120"/>
                  </a:lnTo>
                  <a:lnTo>
                    <a:pt x="67" y="134"/>
                  </a:lnTo>
                  <a:lnTo>
                    <a:pt x="58" y="145"/>
                  </a:lnTo>
                  <a:lnTo>
                    <a:pt x="50" y="160"/>
                  </a:lnTo>
                  <a:lnTo>
                    <a:pt x="41" y="172"/>
                  </a:lnTo>
                  <a:lnTo>
                    <a:pt x="35" y="187"/>
                  </a:lnTo>
                  <a:lnTo>
                    <a:pt x="27" y="201"/>
                  </a:lnTo>
                  <a:lnTo>
                    <a:pt x="24" y="215"/>
                  </a:lnTo>
                  <a:lnTo>
                    <a:pt x="18" y="230"/>
                  </a:lnTo>
                  <a:lnTo>
                    <a:pt x="12" y="245"/>
                  </a:lnTo>
                  <a:lnTo>
                    <a:pt x="9" y="262"/>
                  </a:lnTo>
                  <a:lnTo>
                    <a:pt x="6" y="277"/>
                  </a:lnTo>
                  <a:lnTo>
                    <a:pt x="3" y="292"/>
                  </a:lnTo>
                  <a:lnTo>
                    <a:pt x="3" y="308"/>
                  </a:lnTo>
                  <a:lnTo>
                    <a:pt x="3" y="326"/>
                  </a:lnTo>
                  <a:lnTo>
                    <a:pt x="0" y="326"/>
                  </a:lnTo>
                </a:path>
              </a:pathLst>
            </a:custGeom>
            <a:solidFill>
              <a:srgbClr val="FF9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137">
              <a:extLst>
                <a:ext uri="{FF2B5EF4-FFF2-40B4-BE49-F238E27FC236}">
                  <a16:creationId xmlns:a16="http://schemas.microsoft.com/office/drawing/2014/main" id="{42829415-479D-42B0-A251-E2F4D2B99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802"/>
              <a:ext cx="656" cy="324"/>
            </a:xfrm>
            <a:custGeom>
              <a:avLst/>
              <a:gdLst>
                <a:gd name="T0" fmla="*/ 0 w 656"/>
                <a:gd name="T1" fmla="*/ 32 h 324"/>
                <a:gd name="T2" fmla="*/ 9 w 656"/>
                <a:gd name="T3" fmla="*/ 81 h 324"/>
                <a:gd name="T4" fmla="*/ 24 w 656"/>
                <a:gd name="T5" fmla="*/ 126 h 324"/>
                <a:gd name="T6" fmla="*/ 47 w 656"/>
                <a:gd name="T7" fmla="*/ 169 h 324"/>
                <a:gd name="T8" fmla="*/ 73 w 656"/>
                <a:gd name="T9" fmla="*/ 207 h 324"/>
                <a:gd name="T10" fmla="*/ 106 w 656"/>
                <a:gd name="T11" fmla="*/ 239 h 324"/>
                <a:gd name="T12" fmla="*/ 144 w 656"/>
                <a:gd name="T13" fmla="*/ 268 h 324"/>
                <a:gd name="T14" fmla="*/ 185 w 656"/>
                <a:gd name="T15" fmla="*/ 292 h 324"/>
                <a:gd name="T16" fmla="*/ 229 w 656"/>
                <a:gd name="T17" fmla="*/ 309 h 324"/>
                <a:gd name="T18" fmla="*/ 276 w 656"/>
                <a:gd name="T19" fmla="*/ 320 h 324"/>
                <a:gd name="T20" fmla="*/ 326 w 656"/>
                <a:gd name="T21" fmla="*/ 323 h 324"/>
                <a:gd name="T22" fmla="*/ 376 w 656"/>
                <a:gd name="T23" fmla="*/ 320 h 324"/>
                <a:gd name="T24" fmla="*/ 423 w 656"/>
                <a:gd name="T25" fmla="*/ 309 h 324"/>
                <a:gd name="T26" fmla="*/ 467 w 656"/>
                <a:gd name="T27" fmla="*/ 292 h 324"/>
                <a:gd name="T28" fmla="*/ 508 w 656"/>
                <a:gd name="T29" fmla="*/ 268 h 324"/>
                <a:gd name="T30" fmla="*/ 546 w 656"/>
                <a:gd name="T31" fmla="*/ 239 h 324"/>
                <a:gd name="T32" fmla="*/ 579 w 656"/>
                <a:gd name="T33" fmla="*/ 207 h 324"/>
                <a:gd name="T34" fmla="*/ 608 w 656"/>
                <a:gd name="T35" fmla="*/ 169 h 324"/>
                <a:gd name="T36" fmla="*/ 628 w 656"/>
                <a:gd name="T37" fmla="*/ 126 h 324"/>
                <a:gd name="T38" fmla="*/ 643 w 656"/>
                <a:gd name="T39" fmla="*/ 81 h 324"/>
                <a:gd name="T40" fmla="*/ 652 w 656"/>
                <a:gd name="T41" fmla="*/ 32 h 324"/>
                <a:gd name="T42" fmla="*/ 652 w 656"/>
                <a:gd name="T43" fmla="*/ 0 h 324"/>
                <a:gd name="T44" fmla="*/ 646 w 656"/>
                <a:gd name="T45" fmla="*/ 50 h 324"/>
                <a:gd name="T46" fmla="*/ 637 w 656"/>
                <a:gd name="T47" fmla="*/ 96 h 324"/>
                <a:gd name="T48" fmla="*/ 619 w 656"/>
                <a:gd name="T49" fmla="*/ 140 h 324"/>
                <a:gd name="T50" fmla="*/ 597 w 656"/>
                <a:gd name="T51" fmla="*/ 181 h 324"/>
                <a:gd name="T52" fmla="*/ 567 w 656"/>
                <a:gd name="T53" fmla="*/ 216 h 324"/>
                <a:gd name="T54" fmla="*/ 531 w 656"/>
                <a:gd name="T55" fmla="*/ 247 h 324"/>
                <a:gd name="T56" fmla="*/ 493 w 656"/>
                <a:gd name="T57" fmla="*/ 274 h 324"/>
                <a:gd name="T58" fmla="*/ 452 w 656"/>
                <a:gd name="T59" fmla="*/ 297 h 324"/>
                <a:gd name="T60" fmla="*/ 408 w 656"/>
                <a:gd name="T61" fmla="*/ 312 h 324"/>
                <a:gd name="T62" fmla="*/ 362 w 656"/>
                <a:gd name="T63" fmla="*/ 320 h 324"/>
                <a:gd name="T64" fmla="*/ 311 w 656"/>
                <a:gd name="T65" fmla="*/ 320 h 324"/>
                <a:gd name="T66" fmla="*/ 262 w 656"/>
                <a:gd name="T67" fmla="*/ 315 h 324"/>
                <a:gd name="T68" fmla="*/ 214 w 656"/>
                <a:gd name="T69" fmla="*/ 303 h 324"/>
                <a:gd name="T70" fmla="*/ 173 w 656"/>
                <a:gd name="T71" fmla="*/ 283 h 324"/>
                <a:gd name="T72" fmla="*/ 132 w 656"/>
                <a:gd name="T73" fmla="*/ 256 h 324"/>
                <a:gd name="T74" fmla="*/ 97 w 656"/>
                <a:gd name="T75" fmla="*/ 228 h 324"/>
                <a:gd name="T76" fmla="*/ 67 w 656"/>
                <a:gd name="T77" fmla="*/ 192 h 324"/>
                <a:gd name="T78" fmla="*/ 41 w 656"/>
                <a:gd name="T79" fmla="*/ 151 h 324"/>
                <a:gd name="T80" fmla="*/ 24 w 656"/>
                <a:gd name="T81" fmla="*/ 111 h 324"/>
                <a:gd name="T82" fmla="*/ 9 w 656"/>
                <a:gd name="T83" fmla="*/ 64 h 324"/>
                <a:gd name="T84" fmla="*/ 3 w 656"/>
                <a:gd name="T85" fmla="*/ 15 h 3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56"/>
                <a:gd name="T130" fmla="*/ 0 h 324"/>
                <a:gd name="T131" fmla="*/ 656 w 656"/>
                <a:gd name="T132" fmla="*/ 324 h 3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56" h="324">
                  <a:moveTo>
                    <a:pt x="0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81"/>
                  </a:lnTo>
                  <a:lnTo>
                    <a:pt x="15" y="96"/>
                  </a:lnTo>
                  <a:lnTo>
                    <a:pt x="18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4"/>
                  </a:lnTo>
                  <a:lnTo>
                    <a:pt x="47" y="169"/>
                  </a:lnTo>
                  <a:lnTo>
                    <a:pt x="55" y="181"/>
                  </a:lnTo>
                  <a:lnTo>
                    <a:pt x="64" y="195"/>
                  </a:lnTo>
                  <a:lnTo>
                    <a:pt x="73" y="207"/>
                  </a:lnTo>
                  <a:lnTo>
                    <a:pt x="85" y="219"/>
                  </a:lnTo>
                  <a:lnTo>
                    <a:pt x="94" y="231"/>
                  </a:lnTo>
                  <a:lnTo>
                    <a:pt x="106" y="239"/>
                  </a:lnTo>
                  <a:lnTo>
                    <a:pt x="117" y="250"/>
                  </a:lnTo>
                  <a:lnTo>
                    <a:pt x="129" y="259"/>
                  </a:lnTo>
                  <a:lnTo>
                    <a:pt x="144" y="268"/>
                  </a:lnTo>
                  <a:lnTo>
                    <a:pt x="156" y="277"/>
                  </a:lnTo>
                  <a:lnTo>
                    <a:pt x="170" y="286"/>
                  </a:lnTo>
                  <a:lnTo>
                    <a:pt x="185" y="292"/>
                  </a:lnTo>
                  <a:lnTo>
                    <a:pt x="199" y="300"/>
                  </a:lnTo>
                  <a:lnTo>
                    <a:pt x="214" y="306"/>
                  </a:lnTo>
                  <a:lnTo>
                    <a:pt x="229" y="309"/>
                  </a:lnTo>
                  <a:lnTo>
                    <a:pt x="244" y="315"/>
                  </a:lnTo>
                  <a:lnTo>
                    <a:pt x="262" y="317"/>
                  </a:lnTo>
                  <a:lnTo>
                    <a:pt x="276" y="320"/>
                  </a:lnTo>
                  <a:lnTo>
                    <a:pt x="293" y="323"/>
                  </a:lnTo>
                  <a:lnTo>
                    <a:pt x="308" y="323"/>
                  </a:lnTo>
                  <a:lnTo>
                    <a:pt x="326" y="323"/>
                  </a:lnTo>
                  <a:lnTo>
                    <a:pt x="344" y="323"/>
                  </a:lnTo>
                  <a:lnTo>
                    <a:pt x="362" y="323"/>
                  </a:lnTo>
                  <a:lnTo>
                    <a:pt x="376" y="320"/>
                  </a:lnTo>
                  <a:lnTo>
                    <a:pt x="393" y="317"/>
                  </a:lnTo>
                  <a:lnTo>
                    <a:pt x="408" y="315"/>
                  </a:lnTo>
                  <a:lnTo>
                    <a:pt x="423" y="309"/>
                  </a:lnTo>
                  <a:lnTo>
                    <a:pt x="441" y="306"/>
                  </a:lnTo>
                  <a:lnTo>
                    <a:pt x="455" y="300"/>
                  </a:lnTo>
                  <a:lnTo>
                    <a:pt x="467" y="292"/>
                  </a:lnTo>
                  <a:lnTo>
                    <a:pt x="482" y="286"/>
                  </a:lnTo>
                  <a:lnTo>
                    <a:pt x="496" y="277"/>
                  </a:lnTo>
                  <a:lnTo>
                    <a:pt x="508" y="268"/>
                  </a:lnTo>
                  <a:lnTo>
                    <a:pt x="523" y="259"/>
                  </a:lnTo>
                  <a:lnTo>
                    <a:pt x="534" y="250"/>
                  </a:lnTo>
                  <a:lnTo>
                    <a:pt x="546" y="239"/>
                  </a:lnTo>
                  <a:lnTo>
                    <a:pt x="558" y="231"/>
                  </a:lnTo>
                  <a:lnTo>
                    <a:pt x="570" y="219"/>
                  </a:lnTo>
                  <a:lnTo>
                    <a:pt x="579" y="207"/>
                  </a:lnTo>
                  <a:lnTo>
                    <a:pt x="591" y="195"/>
                  </a:lnTo>
                  <a:lnTo>
                    <a:pt x="600" y="181"/>
                  </a:lnTo>
                  <a:lnTo>
                    <a:pt x="608" y="169"/>
                  </a:lnTo>
                  <a:lnTo>
                    <a:pt x="614" y="154"/>
                  </a:lnTo>
                  <a:lnTo>
                    <a:pt x="622" y="140"/>
                  </a:lnTo>
                  <a:lnTo>
                    <a:pt x="628" y="126"/>
                  </a:lnTo>
                  <a:lnTo>
                    <a:pt x="634" y="111"/>
                  </a:lnTo>
                  <a:lnTo>
                    <a:pt x="640" y="96"/>
                  </a:lnTo>
                  <a:lnTo>
                    <a:pt x="643" y="81"/>
                  </a:lnTo>
                  <a:lnTo>
                    <a:pt x="646" y="64"/>
                  </a:lnTo>
                  <a:lnTo>
                    <a:pt x="649" y="50"/>
                  </a:lnTo>
                  <a:lnTo>
                    <a:pt x="652" y="32"/>
                  </a:lnTo>
                  <a:lnTo>
                    <a:pt x="655" y="18"/>
                  </a:lnTo>
                  <a:lnTo>
                    <a:pt x="655" y="0"/>
                  </a:lnTo>
                  <a:lnTo>
                    <a:pt x="652" y="0"/>
                  </a:lnTo>
                  <a:lnTo>
                    <a:pt x="649" y="15"/>
                  </a:lnTo>
                  <a:lnTo>
                    <a:pt x="649" y="32"/>
                  </a:lnTo>
                  <a:lnTo>
                    <a:pt x="646" y="50"/>
                  </a:lnTo>
                  <a:lnTo>
                    <a:pt x="643" y="64"/>
                  </a:lnTo>
                  <a:lnTo>
                    <a:pt x="640" y="79"/>
                  </a:lnTo>
                  <a:lnTo>
                    <a:pt x="637" y="96"/>
                  </a:lnTo>
                  <a:lnTo>
                    <a:pt x="631" y="111"/>
                  </a:lnTo>
                  <a:lnTo>
                    <a:pt x="625" y="126"/>
                  </a:lnTo>
                  <a:lnTo>
                    <a:pt x="619" y="140"/>
                  </a:lnTo>
                  <a:lnTo>
                    <a:pt x="611" y="151"/>
                  </a:lnTo>
                  <a:lnTo>
                    <a:pt x="605" y="166"/>
                  </a:lnTo>
                  <a:lnTo>
                    <a:pt x="597" y="181"/>
                  </a:lnTo>
                  <a:lnTo>
                    <a:pt x="588" y="192"/>
                  </a:lnTo>
                  <a:lnTo>
                    <a:pt x="576" y="204"/>
                  </a:lnTo>
                  <a:lnTo>
                    <a:pt x="567" y="216"/>
                  </a:lnTo>
                  <a:lnTo>
                    <a:pt x="555" y="228"/>
                  </a:lnTo>
                  <a:lnTo>
                    <a:pt x="543" y="239"/>
                  </a:lnTo>
                  <a:lnTo>
                    <a:pt x="531" y="247"/>
                  </a:lnTo>
                  <a:lnTo>
                    <a:pt x="520" y="256"/>
                  </a:lnTo>
                  <a:lnTo>
                    <a:pt x="508" y="265"/>
                  </a:lnTo>
                  <a:lnTo>
                    <a:pt x="493" y="274"/>
                  </a:lnTo>
                  <a:lnTo>
                    <a:pt x="482" y="283"/>
                  </a:lnTo>
                  <a:lnTo>
                    <a:pt x="467" y="289"/>
                  </a:lnTo>
                  <a:lnTo>
                    <a:pt x="452" y="297"/>
                  </a:lnTo>
                  <a:lnTo>
                    <a:pt x="438" y="303"/>
                  </a:lnTo>
                  <a:lnTo>
                    <a:pt x="423" y="306"/>
                  </a:lnTo>
                  <a:lnTo>
                    <a:pt x="408" y="312"/>
                  </a:lnTo>
                  <a:lnTo>
                    <a:pt x="390" y="315"/>
                  </a:lnTo>
                  <a:lnTo>
                    <a:pt x="376" y="317"/>
                  </a:lnTo>
                  <a:lnTo>
                    <a:pt x="362" y="320"/>
                  </a:lnTo>
                  <a:lnTo>
                    <a:pt x="344" y="320"/>
                  </a:lnTo>
                  <a:lnTo>
                    <a:pt x="326" y="320"/>
                  </a:lnTo>
                  <a:lnTo>
                    <a:pt x="311" y="320"/>
                  </a:lnTo>
                  <a:lnTo>
                    <a:pt x="293" y="320"/>
                  </a:lnTo>
                  <a:lnTo>
                    <a:pt x="276" y="317"/>
                  </a:lnTo>
                  <a:lnTo>
                    <a:pt x="262" y="315"/>
                  </a:lnTo>
                  <a:lnTo>
                    <a:pt x="247" y="312"/>
                  </a:lnTo>
                  <a:lnTo>
                    <a:pt x="229" y="306"/>
                  </a:lnTo>
                  <a:lnTo>
                    <a:pt x="214" y="303"/>
                  </a:lnTo>
                  <a:lnTo>
                    <a:pt x="199" y="297"/>
                  </a:lnTo>
                  <a:lnTo>
                    <a:pt x="185" y="289"/>
                  </a:lnTo>
                  <a:lnTo>
                    <a:pt x="173" y="283"/>
                  </a:lnTo>
                  <a:lnTo>
                    <a:pt x="159" y="274"/>
                  </a:lnTo>
                  <a:lnTo>
                    <a:pt x="147" y="265"/>
                  </a:lnTo>
                  <a:lnTo>
                    <a:pt x="132" y="256"/>
                  </a:lnTo>
                  <a:lnTo>
                    <a:pt x="120" y="247"/>
                  </a:lnTo>
                  <a:lnTo>
                    <a:pt x="109" y="239"/>
                  </a:lnTo>
                  <a:lnTo>
                    <a:pt x="97" y="228"/>
                  </a:lnTo>
                  <a:lnTo>
                    <a:pt x="85" y="216"/>
                  </a:lnTo>
                  <a:lnTo>
                    <a:pt x="76" y="204"/>
                  </a:lnTo>
                  <a:lnTo>
                    <a:pt x="67" y="192"/>
                  </a:lnTo>
                  <a:lnTo>
                    <a:pt x="58" y="181"/>
                  </a:lnTo>
                  <a:lnTo>
                    <a:pt x="50" y="166"/>
                  </a:lnTo>
                  <a:lnTo>
                    <a:pt x="41" y="151"/>
                  </a:lnTo>
                  <a:lnTo>
                    <a:pt x="35" y="140"/>
                  </a:lnTo>
                  <a:lnTo>
                    <a:pt x="27" y="126"/>
                  </a:lnTo>
                  <a:lnTo>
                    <a:pt x="24" y="111"/>
                  </a:lnTo>
                  <a:lnTo>
                    <a:pt x="18" y="96"/>
                  </a:lnTo>
                  <a:lnTo>
                    <a:pt x="12" y="79"/>
                  </a:lnTo>
                  <a:lnTo>
                    <a:pt x="9" y="64"/>
                  </a:lnTo>
                  <a:lnTo>
                    <a:pt x="6" y="50"/>
                  </a:lnTo>
                  <a:lnTo>
                    <a:pt x="3" y="32"/>
                  </a:lnTo>
                  <a:lnTo>
                    <a:pt x="3" y="15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solidFill>
              <a:srgbClr val="FF94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138">
              <a:extLst>
                <a:ext uri="{FF2B5EF4-FFF2-40B4-BE49-F238E27FC236}">
                  <a16:creationId xmlns:a16="http://schemas.microsoft.com/office/drawing/2014/main" id="{41CD7B1C-2AEA-4A6E-8CD0-9C8D8079D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473"/>
              <a:ext cx="650" cy="324"/>
            </a:xfrm>
            <a:custGeom>
              <a:avLst/>
              <a:gdLst>
                <a:gd name="T0" fmla="*/ 0 w 650"/>
                <a:gd name="T1" fmla="*/ 289 h 324"/>
                <a:gd name="T2" fmla="*/ 9 w 650"/>
                <a:gd name="T3" fmla="*/ 242 h 324"/>
                <a:gd name="T4" fmla="*/ 24 w 650"/>
                <a:gd name="T5" fmla="*/ 198 h 324"/>
                <a:gd name="T6" fmla="*/ 47 w 650"/>
                <a:gd name="T7" fmla="*/ 157 h 324"/>
                <a:gd name="T8" fmla="*/ 73 w 650"/>
                <a:gd name="T9" fmla="*/ 117 h 324"/>
                <a:gd name="T10" fmla="*/ 106 w 650"/>
                <a:gd name="T11" fmla="*/ 84 h 324"/>
                <a:gd name="T12" fmla="*/ 144 w 650"/>
                <a:gd name="T13" fmla="*/ 55 h 324"/>
                <a:gd name="T14" fmla="*/ 182 w 650"/>
                <a:gd name="T15" fmla="*/ 32 h 324"/>
                <a:gd name="T16" fmla="*/ 226 w 650"/>
                <a:gd name="T17" fmla="*/ 15 h 324"/>
                <a:gd name="T18" fmla="*/ 273 w 650"/>
                <a:gd name="T19" fmla="*/ 6 h 324"/>
                <a:gd name="T20" fmla="*/ 323 w 650"/>
                <a:gd name="T21" fmla="*/ 0 h 324"/>
                <a:gd name="T22" fmla="*/ 373 w 650"/>
                <a:gd name="T23" fmla="*/ 6 h 324"/>
                <a:gd name="T24" fmla="*/ 420 w 650"/>
                <a:gd name="T25" fmla="*/ 15 h 324"/>
                <a:gd name="T26" fmla="*/ 464 w 650"/>
                <a:gd name="T27" fmla="*/ 32 h 324"/>
                <a:gd name="T28" fmla="*/ 505 w 650"/>
                <a:gd name="T29" fmla="*/ 55 h 324"/>
                <a:gd name="T30" fmla="*/ 540 w 650"/>
                <a:gd name="T31" fmla="*/ 84 h 324"/>
                <a:gd name="T32" fmla="*/ 573 w 650"/>
                <a:gd name="T33" fmla="*/ 117 h 324"/>
                <a:gd name="T34" fmla="*/ 602 w 650"/>
                <a:gd name="T35" fmla="*/ 157 h 324"/>
                <a:gd name="T36" fmla="*/ 622 w 650"/>
                <a:gd name="T37" fmla="*/ 198 h 324"/>
                <a:gd name="T38" fmla="*/ 637 w 650"/>
                <a:gd name="T39" fmla="*/ 242 h 324"/>
                <a:gd name="T40" fmla="*/ 646 w 650"/>
                <a:gd name="T41" fmla="*/ 289 h 324"/>
                <a:gd name="T42" fmla="*/ 637 w 650"/>
                <a:gd name="T43" fmla="*/ 323 h 324"/>
                <a:gd name="T44" fmla="*/ 634 w 650"/>
                <a:gd name="T45" fmla="*/ 274 h 324"/>
                <a:gd name="T46" fmla="*/ 625 w 650"/>
                <a:gd name="T47" fmla="*/ 230 h 324"/>
                <a:gd name="T48" fmla="*/ 608 w 650"/>
                <a:gd name="T49" fmla="*/ 187 h 324"/>
                <a:gd name="T50" fmla="*/ 585 w 650"/>
                <a:gd name="T51" fmla="*/ 148 h 324"/>
                <a:gd name="T52" fmla="*/ 555 w 650"/>
                <a:gd name="T53" fmla="*/ 114 h 324"/>
                <a:gd name="T54" fmla="*/ 523 w 650"/>
                <a:gd name="T55" fmla="*/ 81 h 324"/>
                <a:gd name="T56" fmla="*/ 487 w 650"/>
                <a:gd name="T57" fmla="*/ 55 h 324"/>
                <a:gd name="T58" fmla="*/ 446 w 650"/>
                <a:gd name="T59" fmla="*/ 35 h 324"/>
                <a:gd name="T60" fmla="*/ 402 w 650"/>
                <a:gd name="T61" fmla="*/ 21 h 324"/>
                <a:gd name="T62" fmla="*/ 356 w 650"/>
                <a:gd name="T63" fmla="*/ 12 h 324"/>
                <a:gd name="T64" fmla="*/ 308 w 650"/>
                <a:gd name="T65" fmla="*/ 12 h 324"/>
                <a:gd name="T66" fmla="*/ 262 w 650"/>
                <a:gd name="T67" fmla="*/ 18 h 324"/>
                <a:gd name="T68" fmla="*/ 214 w 650"/>
                <a:gd name="T69" fmla="*/ 29 h 324"/>
                <a:gd name="T70" fmla="*/ 173 w 650"/>
                <a:gd name="T71" fmla="*/ 46 h 324"/>
                <a:gd name="T72" fmla="*/ 135 w 650"/>
                <a:gd name="T73" fmla="*/ 73 h 324"/>
                <a:gd name="T74" fmla="*/ 100 w 650"/>
                <a:gd name="T75" fmla="*/ 102 h 324"/>
                <a:gd name="T76" fmla="*/ 70 w 650"/>
                <a:gd name="T77" fmla="*/ 136 h 324"/>
                <a:gd name="T78" fmla="*/ 47 w 650"/>
                <a:gd name="T79" fmla="*/ 175 h 324"/>
                <a:gd name="T80" fmla="*/ 27 w 650"/>
                <a:gd name="T81" fmla="*/ 215 h 324"/>
                <a:gd name="T82" fmla="*/ 15 w 650"/>
                <a:gd name="T83" fmla="*/ 259 h 324"/>
                <a:gd name="T84" fmla="*/ 9 w 650"/>
                <a:gd name="T85" fmla="*/ 305 h 3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50"/>
                <a:gd name="T130" fmla="*/ 0 h 324"/>
                <a:gd name="T131" fmla="*/ 650 w 650"/>
                <a:gd name="T132" fmla="*/ 324 h 3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50" h="324">
                  <a:moveTo>
                    <a:pt x="0" y="323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3" y="274"/>
                  </a:lnTo>
                  <a:lnTo>
                    <a:pt x="6" y="259"/>
                  </a:lnTo>
                  <a:lnTo>
                    <a:pt x="9" y="242"/>
                  </a:lnTo>
                  <a:lnTo>
                    <a:pt x="15" y="227"/>
                  </a:lnTo>
                  <a:lnTo>
                    <a:pt x="21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69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17"/>
                  </a:lnTo>
                  <a:lnTo>
                    <a:pt x="82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2" y="32"/>
                  </a:lnTo>
                  <a:lnTo>
                    <a:pt x="196" y="27"/>
                  </a:lnTo>
                  <a:lnTo>
                    <a:pt x="211" y="21"/>
                  </a:lnTo>
                  <a:lnTo>
                    <a:pt x="226" y="15"/>
                  </a:lnTo>
                  <a:lnTo>
                    <a:pt x="244" y="12"/>
                  </a:lnTo>
                  <a:lnTo>
                    <a:pt x="259" y="9"/>
                  </a:lnTo>
                  <a:lnTo>
                    <a:pt x="273" y="6"/>
                  </a:lnTo>
                  <a:lnTo>
                    <a:pt x="290" y="3"/>
                  </a:lnTo>
                  <a:lnTo>
                    <a:pt x="308" y="0"/>
                  </a:lnTo>
                  <a:lnTo>
                    <a:pt x="323" y="0"/>
                  </a:lnTo>
                  <a:lnTo>
                    <a:pt x="341" y="0"/>
                  </a:lnTo>
                  <a:lnTo>
                    <a:pt x="359" y="3"/>
                  </a:lnTo>
                  <a:lnTo>
                    <a:pt x="373" y="6"/>
                  </a:lnTo>
                  <a:lnTo>
                    <a:pt x="387" y="9"/>
                  </a:lnTo>
                  <a:lnTo>
                    <a:pt x="405" y="12"/>
                  </a:lnTo>
                  <a:lnTo>
                    <a:pt x="420" y="15"/>
                  </a:lnTo>
                  <a:lnTo>
                    <a:pt x="435" y="21"/>
                  </a:lnTo>
                  <a:lnTo>
                    <a:pt x="449" y="27"/>
                  </a:lnTo>
                  <a:lnTo>
                    <a:pt x="464" y="32"/>
                  </a:lnTo>
                  <a:lnTo>
                    <a:pt x="479" y="40"/>
                  </a:lnTo>
                  <a:lnTo>
                    <a:pt x="490" y="46"/>
                  </a:lnTo>
                  <a:lnTo>
                    <a:pt x="505" y="55"/>
                  </a:lnTo>
                  <a:lnTo>
                    <a:pt x="517" y="64"/>
                  </a:lnTo>
                  <a:lnTo>
                    <a:pt x="528" y="76"/>
                  </a:lnTo>
                  <a:lnTo>
                    <a:pt x="540" y="84"/>
                  </a:lnTo>
                  <a:lnTo>
                    <a:pt x="552" y="96"/>
                  </a:lnTo>
                  <a:lnTo>
                    <a:pt x="564" y="108"/>
                  </a:lnTo>
                  <a:lnTo>
                    <a:pt x="573" y="117"/>
                  </a:lnTo>
                  <a:lnTo>
                    <a:pt x="585" y="131"/>
                  </a:lnTo>
                  <a:lnTo>
                    <a:pt x="594" y="142"/>
                  </a:lnTo>
                  <a:lnTo>
                    <a:pt x="602" y="157"/>
                  </a:lnTo>
                  <a:lnTo>
                    <a:pt x="608" y="169"/>
                  </a:lnTo>
                  <a:lnTo>
                    <a:pt x="616" y="184"/>
                  </a:lnTo>
                  <a:lnTo>
                    <a:pt x="622" y="198"/>
                  </a:lnTo>
                  <a:lnTo>
                    <a:pt x="628" y="212"/>
                  </a:lnTo>
                  <a:lnTo>
                    <a:pt x="634" y="227"/>
                  </a:lnTo>
                  <a:lnTo>
                    <a:pt x="637" y="242"/>
                  </a:lnTo>
                  <a:lnTo>
                    <a:pt x="640" y="259"/>
                  </a:lnTo>
                  <a:lnTo>
                    <a:pt x="643" y="274"/>
                  </a:lnTo>
                  <a:lnTo>
                    <a:pt x="646" y="289"/>
                  </a:lnTo>
                  <a:lnTo>
                    <a:pt x="646" y="305"/>
                  </a:lnTo>
                  <a:lnTo>
                    <a:pt x="649" y="323"/>
                  </a:lnTo>
                  <a:lnTo>
                    <a:pt x="637" y="323"/>
                  </a:lnTo>
                  <a:lnTo>
                    <a:pt x="637" y="305"/>
                  </a:lnTo>
                  <a:lnTo>
                    <a:pt x="637" y="292"/>
                  </a:lnTo>
                  <a:lnTo>
                    <a:pt x="634" y="274"/>
                  </a:lnTo>
                  <a:lnTo>
                    <a:pt x="631" y="259"/>
                  </a:lnTo>
                  <a:lnTo>
                    <a:pt x="628" y="244"/>
                  </a:lnTo>
                  <a:lnTo>
                    <a:pt x="625" y="230"/>
                  </a:lnTo>
                  <a:lnTo>
                    <a:pt x="619" y="215"/>
                  </a:lnTo>
                  <a:lnTo>
                    <a:pt x="613" y="201"/>
                  </a:lnTo>
                  <a:lnTo>
                    <a:pt x="608" y="187"/>
                  </a:lnTo>
                  <a:lnTo>
                    <a:pt x="599" y="175"/>
                  </a:lnTo>
                  <a:lnTo>
                    <a:pt x="594" y="160"/>
                  </a:lnTo>
                  <a:lnTo>
                    <a:pt x="585" y="148"/>
                  </a:lnTo>
                  <a:lnTo>
                    <a:pt x="576" y="136"/>
                  </a:lnTo>
                  <a:lnTo>
                    <a:pt x="567" y="125"/>
                  </a:lnTo>
                  <a:lnTo>
                    <a:pt x="555" y="114"/>
                  </a:lnTo>
                  <a:lnTo>
                    <a:pt x="546" y="102"/>
                  </a:lnTo>
                  <a:lnTo>
                    <a:pt x="534" y="90"/>
                  </a:lnTo>
                  <a:lnTo>
                    <a:pt x="523" y="81"/>
                  </a:lnTo>
                  <a:lnTo>
                    <a:pt x="511" y="73"/>
                  </a:lnTo>
                  <a:lnTo>
                    <a:pt x="499" y="64"/>
                  </a:lnTo>
                  <a:lnTo>
                    <a:pt x="487" y="55"/>
                  </a:lnTo>
                  <a:lnTo>
                    <a:pt x="473" y="46"/>
                  </a:lnTo>
                  <a:lnTo>
                    <a:pt x="461" y="40"/>
                  </a:lnTo>
                  <a:lnTo>
                    <a:pt x="446" y="35"/>
                  </a:lnTo>
                  <a:lnTo>
                    <a:pt x="432" y="29"/>
                  </a:lnTo>
                  <a:lnTo>
                    <a:pt x="417" y="24"/>
                  </a:lnTo>
                  <a:lnTo>
                    <a:pt x="402" y="21"/>
                  </a:lnTo>
                  <a:lnTo>
                    <a:pt x="387" y="18"/>
                  </a:lnTo>
                  <a:lnTo>
                    <a:pt x="373" y="15"/>
                  </a:lnTo>
                  <a:lnTo>
                    <a:pt x="356" y="12"/>
                  </a:lnTo>
                  <a:lnTo>
                    <a:pt x="341" y="12"/>
                  </a:lnTo>
                  <a:lnTo>
                    <a:pt x="323" y="9"/>
                  </a:lnTo>
                  <a:lnTo>
                    <a:pt x="308" y="12"/>
                  </a:lnTo>
                  <a:lnTo>
                    <a:pt x="290" y="12"/>
                  </a:lnTo>
                  <a:lnTo>
                    <a:pt x="276" y="15"/>
                  </a:lnTo>
                  <a:lnTo>
                    <a:pt x="262" y="18"/>
                  </a:lnTo>
                  <a:lnTo>
                    <a:pt x="244" y="21"/>
                  </a:lnTo>
                  <a:lnTo>
                    <a:pt x="229" y="24"/>
                  </a:lnTo>
                  <a:lnTo>
                    <a:pt x="214" y="29"/>
                  </a:lnTo>
                  <a:lnTo>
                    <a:pt x="202" y="35"/>
                  </a:lnTo>
                  <a:lnTo>
                    <a:pt x="188" y="40"/>
                  </a:lnTo>
                  <a:lnTo>
                    <a:pt x="173" y="46"/>
                  </a:lnTo>
                  <a:lnTo>
                    <a:pt x="162" y="55"/>
                  </a:lnTo>
                  <a:lnTo>
                    <a:pt x="147" y="64"/>
                  </a:lnTo>
                  <a:lnTo>
                    <a:pt x="135" y="73"/>
                  </a:lnTo>
                  <a:lnTo>
                    <a:pt x="123" y="81"/>
                  </a:lnTo>
                  <a:lnTo>
                    <a:pt x="111" y="90"/>
                  </a:lnTo>
                  <a:lnTo>
                    <a:pt x="100" y="102"/>
                  </a:lnTo>
                  <a:lnTo>
                    <a:pt x="91" y="114"/>
                  </a:lnTo>
                  <a:lnTo>
                    <a:pt x="79" y="125"/>
                  </a:lnTo>
                  <a:lnTo>
                    <a:pt x="70" y="136"/>
                  </a:lnTo>
                  <a:lnTo>
                    <a:pt x="61" y="148"/>
                  </a:lnTo>
                  <a:lnTo>
                    <a:pt x="55" y="160"/>
                  </a:lnTo>
                  <a:lnTo>
                    <a:pt x="47" y="175"/>
                  </a:lnTo>
                  <a:lnTo>
                    <a:pt x="41" y="187"/>
                  </a:lnTo>
                  <a:lnTo>
                    <a:pt x="32" y="201"/>
                  </a:lnTo>
                  <a:lnTo>
                    <a:pt x="27" y="215"/>
                  </a:lnTo>
                  <a:lnTo>
                    <a:pt x="24" y="230"/>
                  </a:lnTo>
                  <a:lnTo>
                    <a:pt x="18" y="244"/>
                  </a:lnTo>
                  <a:lnTo>
                    <a:pt x="15" y="259"/>
                  </a:lnTo>
                  <a:lnTo>
                    <a:pt x="12" y="274"/>
                  </a:lnTo>
                  <a:lnTo>
                    <a:pt x="12" y="292"/>
                  </a:lnTo>
                  <a:lnTo>
                    <a:pt x="9" y="305"/>
                  </a:lnTo>
                  <a:lnTo>
                    <a:pt x="9" y="323"/>
                  </a:lnTo>
                  <a:lnTo>
                    <a:pt x="0" y="323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139">
              <a:extLst>
                <a:ext uri="{FF2B5EF4-FFF2-40B4-BE49-F238E27FC236}">
                  <a16:creationId xmlns:a16="http://schemas.microsoft.com/office/drawing/2014/main" id="{0C9B5264-ED1C-444F-B08C-F98986E90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802"/>
              <a:ext cx="650" cy="321"/>
            </a:xfrm>
            <a:custGeom>
              <a:avLst/>
              <a:gdLst>
                <a:gd name="T0" fmla="*/ 0 w 650"/>
                <a:gd name="T1" fmla="*/ 15 h 321"/>
                <a:gd name="T2" fmla="*/ 6 w 650"/>
                <a:gd name="T3" fmla="*/ 64 h 321"/>
                <a:gd name="T4" fmla="*/ 21 w 650"/>
                <a:gd name="T5" fmla="*/ 111 h 321"/>
                <a:gd name="T6" fmla="*/ 38 w 650"/>
                <a:gd name="T7" fmla="*/ 151 h 321"/>
                <a:gd name="T8" fmla="*/ 64 w 650"/>
                <a:gd name="T9" fmla="*/ 192 h 321"/>
                <a:gd name="T10" fmla="*/ 94 w 650"/>
                <a:gd name="T11" fmla="*/ 228 h 321"/>
                <a:gd name="T12" fmla="*/ 129 w 650"/>
                <a:gd name="T13" fmla="*/ 256 h 321"/>
                <a:gd name="T14" fmla="*/ 170 w 650"/>
                <a:gd name="T15" fmla="*/ 283 h 321"/>
                <a:gd name="T16" fmla="*/ 211 w 650"/>
                <a:gd name="T17" fmla="*/ 303 h 321"/>
                <a:gd name="T18" fmla="*/ 259 w 650"/>
                <a:gd name="T19" fmla="*/ 315 h 321"/>
                <a:gd name="T20" fmla="*/ 308 w 650"/>
                <a:gd name="T21" fmla="*/ 320 h 321"/>
                <a:gd name="T22" fmla="*/ 359 w 650"/>
                <a:gd name="T23" fmla="*/ 320 h 321"/>
                <a:gd name="T24" fmla="*/ 405 w 650"/>
                <a:gd name="T25" fmla="*/ 312 h 321"/>
                <a:gd name="T26" fmla="*/ 449 w 650"/>
                <a:gd name="T27" fmla="*/ 297 h 321"/>
                <a:gd name="T28" fmla="*/ 490 w 650"/>
                <a:gd name="T29" fmla="*/ 274 h 321"/>
                <a:gd name="T30" fmla="*/ 528 w 650"/>
                <a:gd name="T31" fmla="*/ 247 h 321"/>
                <a:gd name="T32" fmla="*/ 564 w 650"/>
                <a:gd name="T33" fmla="*/ 216 h 321"/>
                <a:gd name="T34" fmla="*/ 594 w 650"/>
                <a:gd name="T35" fmla="*/ 181 h 321"/>
                <a:gd name="T36" fmla="*/ 616 w 650"/>
                <a:gd name="T37" fmla="*/ 140 h 321"/>
                <a:gd name="T38" fmla="*/ 634 w 650"/>
                <a:gd name="T39" fmla="*/ 96 h 321"/>
                <a:gd name="T40" fmla="*/ 643 w 650"/>
                <a:gd name="T41" fmla="*/ 50 h 321"/>
                <a:gd name="T42" fmla="*/ 649 w 650"/>
                <a:gd name="T43" fmla="*/ 0 h 321"/>
                <a:gd name="T44" fmla="*/ 637 w 650"/>
                <a:gd name="T45" fmla="*/ 32 h 321"/>
                <a:gd name="T46" fmla="*/ 628 w 650"/>
                <a:gd name="T47" fmla="*/ 79 h 321"/>
                <a:gd name="T48" fmla="*/ 613 w 650"/>
                <a:gd name="T49" fmla="*/ 123 h 321"/>
                <a:gd name="T50" fmla="*/ 594 w 650"/>
                <a:gd name="T51" fmla="*/ 160 h 321"/>
                <a:gd name="T52" fmla="*/ 567 w 650"/>
                <a:gd name="T53" fmla="*/ 198 h 321"/>
                <a:gd name="T54" fmla="*/ 534 w 650"/>
                <a:gd name="T55" fmla="*/ 231 h 321"/>
                <a:gd name="T56" fmla="*/ 499 w 650"/>
                <a:gd name="T57" fmla="*/ 259 h 321"/>
                <a:gd name="T58" fmla="*/ 461 w 650"/>
                <a:gd name="T59" fmla="*/ 283 h 321"/>
                <a:gd name="T60" fmla="*/ 417 w 650"/>
                <a:gd name="T61" fmla="*/ 297 h 321"/>
                <a:gd name="T62" fmla="*/ 373 w 650"/>
                <a:gd name="T63" fmla="*/ 309 h 321"/>
                <a:gd name="T64" fmla="*/ 323 w 650"/>
                <a:gd name="T65" fmla="*/ 312 h 321"/>
                <a:gd name="T66" fmla="*/ 276 w 650"/>
                <a:gd name="T67" fmla="*/ 309 h 321"/>
                <a:gd name="T68" fmla="*/ 229 w 650"/>
                <a:gd name="T69" fmla="*/ 297 h 321"/>
                <a:gd name="T70" fmla="*/ 188 w 650"/>
                <a:gd name="T71" fmla="*/ 283 h 321"/>
                <a:gd name="T72" fmla="*/ 147 w 650"/>
                <a:gd name="T73" fmla="*/ 259 h 321"/>
                <a:gd name="T74" fmla="*/ 111 w 650"/>
                <a:gd name="T75" fmla="*/ 231 h 321"/>
                <a:gd name="T76" fmla="*/ 79 w 650"/>
                <a:gd name="T77" fmla="*/ 198 h 321"/>
                <a:gd name="T78" fmla="*/ 55 w 650"/>
                <a:gd name="T79" fmla="*/ 160 h 321"/>
                <a:gd name="T80" fmla="*/ 32 w 650"/>
                <a:gd name="T81" fmla="*/ 123 h 321"/>
                <a:gd name="T82" fmla="*/ 18 w 650"/>
                <a:gd name="T83" fmla="*/ 79 h 321"/>
                <a:gd name="T84" fmla="*/ 12 w 650"/>
                <a:gd name="T85" fmla="*/ 32 h 321"/>
                <a:gd name="T86" fmla="*/ 0 w 650"/>
                <a:gd name="T87" fmla="*/ 0 h 3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0"/>
                <a:gd name="T133" fmla="*/ 0 h 321"/>
                <a:gd name="T134" fmla="*/ 650 w 650"/>
                <a:gd name="T135" fmla="*/ 321 h 3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0" h="321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79"/>
                  </a:lnTo>
                  <a:lnTo>
                    <a:pt x="15" y="96"/>
                  </a:lnTo>
                  <a:lnTo>
                    <a:pt x="21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1"/>
                  </a:lnTo>
                  <a:lnTo>
                    <a:pt x="47" y="166"/>
                  </a:lnTo>
                  <a:lnTo>
                    <a:pt x="55" y="181"/>
                  </a:lnTo>
                  <a:lnTo>
                    <a:pt x="64" y="192"/>
                  </a:lnTo>
                  <a:lnTo>
                    <a:pt x="73" y="204"/>
                  </a:lnTo>
                  <a:lnTo>
                    <a:pt x="82" y="216"/>
                  </a:lnTo>
                  <a:lnTo>
                    <a:pt x="94" y="228"/>
                  </a:lnTo>
                  <a:lnTo>
                    <a:pt x="106" y="239"/>
                  </a:lnTo>
                  <a:lnTo>
                    <a:pt x="117" y="247"/>
                  </a:lnTo>
                  <a:lnTo>
                    <a:pt x="129" y="256"/>
                  </a:lnTo>
                  <a:lnTo>
                    <a:pt x="144" y="265"/>
                  </a:lnTo>
                  <a:lnTo>
                    <a:pt x="156" y="274"/>
                  </a:lnTo>
                  <a:lnTo>
                    <a:pt x="170" y="283"/>
                  </a:lnTo>
                  <a:lnTo>
                    <a:pt x="182" y="289"/>
                  </a:lnTo>
                  <a:lnTo>
                    <a:pt x="196" y="297"/>
                  </a:lnTo>
                  <a:lnTo>
                    <a:pt x="211" y="303"/>
                  </a:lnTo>
                  <a:lnTo>
                    <a:pt x="226" y="306"/>
                  </a:lnTo>
                  <a:lnTo>
                    <a:pt x="244" y="312"/>
                  </a:lnTo>
                  <a:lnTo>
                    <a:pt x="259" y="315"/>
                  </a:lnTo>
                  <a:lnTo>
                    <a:pt x="273" y="317"/>
                  </a:lnTo>
                  <a:lnTo>
                    <a:pt x="290" y="320"/>
                  </a:lnTo>
                  <a:lnTo>
                    <a:pt x="308" y="320"/>
                  </a:lnTo>
                  <a:lnTo>
                    <a:pt x="323" y="320"/>
                  </a:lnTo>
                  <a:lnTo>
                    <a:pt x="341" y="320"/>
                  </a:lnTo>
                  <a:lnTo>
                    <a:pt x="359" y="320"/>
                  </a:lnTo>
                  <a:lnTo>
                    <a:pt x="373" y="317"/>
                  </a:lnTo>
                  <a:lnTo>
                    <a:pt x="387" y="315"/>
                  </a:lnTo>
                  <a:lnTo>
                    <a:pt x="405" y="312"/>
                  </a:lnTo>
                  <a:lnTo>
                    <a:pt x="420" y="306"/>
                  </a:lnTo>
                  <a:lnTo>
                    <a:pt x="435" y="303"/>
                  </a:lnTo>
                  <a:lnTo>
                    <a:pt x="449" y="297"/>
                  </a:lnTo>
                  <a:lnTo>
                    <a:pt x="464" y="289"/>
                  </a:lnTo>
                  <a:lnTo>
                    <a:pt x="479" y="283"/>
                  </a:lnTo>
                  <a:lnTo>
                    <a:pt x="490" y="274"/>
                  </a:lnTo>
                  <a:lnTo>
                    <a:pt x="505" y="265"/>
                  </a:lnTo>
                  <a:lnTo>
                    <a:pt x="517" y="256"/>
                  </a:lnTo>
                  <a:lnTo>
                    <a:pt x="528" y="247"/>
                  </a:lnTo>
                  <a:lnTo>
                    <a:pt x="540" y="239"/>
                  </a:lnTo>
                  <a:lnTo>
                    <a:pt x="552" y="228"/>
                  </a:lnTo>
                  <a:lnTo>
                    <a:pt x="564" y="216"/>
                  </a:lnTo>
                  <a:lnTo>
                    <a:pt x="573" y="204"/>
                  </a:lnTo>
                  <a:lnTo>
                    <a:pt x="585" y="192"/>
                  </a:lnTo>
                  <a:lnTo>
                    <a:pt x="594" y="181"/>
                  </a:lnTo>
                  <a:lnTo>
                    <a:pt x="602" y="166"/>
                  </a:lnTo>
                  <a:lnTo>
                    <a:pt x="608" y="151"/>
                  </a:lnTo>
                  <a:lnTo>
                    <a:pt x="616" y="140"/>
                  </a:lnTo>
                  <a:lnTo>
                    <a:pt x="622" y="126"/>
                  </a:lnTo>
                  <a:lnTo>
                    <a:pt x="628" y="111"/>
                  </a:lnTo>
                  <a:lnTo>
                    <a:pt x="634" y="96"/>
                  </a:lnTo>
                  <a:lnTo>
                    <a:pt x="637" y="79"/>
                  </a:lnTo>
                  <a:lnTo>
                    <a:pt x="640" y="64"/>
                  </a:lnTo>
                  <a:lnTo>
                    <a:pt x="643" y="50"/>
                  </a:lnTo>
                  <a:lnTo>
                    <a:pt x="646" y="32"/>
                  </a:lnTo>
                  <a:lnTo>
                    <a:pt x="646" y="15"/>
                  </a:lnTo>
                  <a:lnTo>
                    <a:pt x="649" y="0"/>
                  </a:lnTo>
                  <a:lnTo>
                    <a:pt x="637" y="0"/>
                  </a:lnTo>
                  <a:lnTo>
                    <a:pt x="637" y="15"/>
                  </a:lnTo>
                  <a:lnTo>
                    <a:pt x="637" y="32"/>
                  </a:lnTo>
                  <a:lnTo>
                    <a:pt x="634" y="47"/>
                  </a:lnTo>
                  <a:lnTo>
                    <a:pt x="631" y="61"/>
                  </a:lnTo>
                  <a:lnTo>
                    <a:pt x="628" y="79"/>
                  </a:lnTo>
                  <a:lnTo>
                    <a:pt x="625" y="93"/>
                  </a:lnTo>
                  <a:lnTo>
                    <a:pt x="619" y="108"/>
                  </a:lnTo>
                  <a:lnTo>
                    <a:pt x="613" y="123"/>
                  </a:lnTo>
                  <a:lnTo>
                    <a:pt x="608" y="134"/>
                  </a:lnTo>
                  <a:lnTo>
                    <a:pt x="599" y="148"/>
                  </a:lnTo>
                  <a:lnTo>
                    <a:pt x="594" y="160"/>
                  </a:lnTo>
                  <a:lnTo>
                    <a:pt x="585" y="175"/>
                  </a:lnTo>
                  <a:lnTo>
                    <a:pt x="576" y="187"/>
                  </a:lnTo>
                  <a:lnTo>
                    <a:pt x="567" y="198"/>
                  </a:lnTo>
                  <a:lnTo>
                    <a:pt x="555" y="210"/>
                  </a:lnTo>
                  <a:lnTo>
                    <a:pt x="546" y="222"/>
                  </a:lnTo>
                  <a:lnTo>
                    <a:pt x="534" y="231"/>
                  </a:lnTo>
                  <a:lnTo>
                    <a:pt x="523" y="241"/>
                  </a:lnTo>
                  <a:lnTo>
                    <a:pt x="511" y="250"/>
                  </a:lnTo>
                  <a:lnTo>
                    <a:pt x="499" y="259"/>
                  </a:lnTo>
                  <a:lnTo>
                    <a:pt x="487" y="268"/>
                  </a:lnTo>
                  <a:lnTo>
                    <a:pt x="473" y="274"/>
                  </a:lnTo>
                  <a:lnTo>
                    <a:pt x="461" y="283"/>
                  </a:lnTo>
                  <a:lnTo>
                    <a:pt x="446" y="289"/>
                  </a:lnTo>
                  <a:lnTo>
                    <a:pt x="432" y="294"/>
                  </a:lnTo>
                  <a:lnTo>
                    <a:pt x="417" y="297"/>
                  </a:lnTo>
                  <a:lnTo>
                    <a:pt x="402" y="303"/>
                  </a:lnTo>
                  <a:lnTo>
                    <a:pt x="387" y="306"/>
                  </a:lnTo>
                  <a:lnTo>
                    <a:pt x="373" y="309"/>
                  </a:lnTo>
                  <a:lnTo>
                    <a:pt x="356" y="312"/>
                  </a:lnTo>
                  <a:lnTo>
                    <a:pt x="341" y="312"/>
                  </a:lnTo>
                  <a:lnTo>
                    <a:pt x="323" y="312"/>
                  </a:lnTo>
                  <a:lnTo>
                    <a:pt x="308" y="312"/>
                  </a:lnTo>
                  <a:lnTo>
                    <a:pt x="290" y="312"/>
                  </a:lnTo>
                  <a:lnTo>
                    <a:pt x="276" y="309"/>
                  </a:lnTo>
                  <a:lnTo>
                    <a:pt x="262" y="306"/>
                  </a:lnTo>
                  <a:lnTo>
                    <a:pt x="244" y="303"/>
                  </a:lnTo>
                  <a:lnTo>
                    <a:pt x="229" y="297"/>
                  </a:lnTo>
                  <a:lnTo>
                    <a:pt x="214" y="294"/>
                  </a:lnTo>
                  <a:lnTo>
                    <a:pt x="202" y="289"/>
                  </a:lnTo>
                  <a:lnTo>
                    <a:pt x="188" y="283"/>
                  </a:lnTo>
                  <a:lnTo>
                    <a:pt x="173" y="274"/>
                  </a:lnTo>
                  <a:lnTo>
                    <a:pt x="162" y="268"/>
                  </a:lnTo>
                  <a:lnTo>
                    <a:pt x="147" y="259"/>
                  </a:lnTo>
                  <a:lnTo>
                    <a:pt x="135" y="250"/>
                  </a:lnTo>
                  <a:lnTo>
                    <a:pt x="123" y="241"/>
                  </a:lnTo>
                  <a:lnTo>
                    <a:pt x="111" y="231"/>
                  </a:lnTo>
                  <a:lnTo>
                    <a:pt x="100" y="222"/>
                  </a:lnTo>
                  <a:lnTo>
                    <a:pt x="91" y="210"/>
                  </a:lnTo>
                  <a:lnTo>
                    <a:pt x="79" y="198"/>
                  </a:lnTo>
                  <a:lnTo>
                    <a:pt x="70" y="187"/>
                  </a:lnTo>
                  <a:lnTo>
                    <a:pt x="61" y="175"/>
                  </a:lnTo>
                  <a:lnTo>
                    <a:pt x="55" y="160"/>
                  </a:lnTo>
                  <a:lnTo>
                    <a:pt x="47" y="148"/>
                  </a:lnTo>
                  <a:lnTo>
                    <a:pt x="41" y="134"/>
                  </a:lnTo>
                  <a:lnTo>
                    <a:pt x="32" y="123"/>
                  </a:lnTo>
                  <a:lnTo>
                    <a:pt x="27" y="108"/>
                  </a:lnTo>
                  <a:lnTo>
                    <a:pt x="24" y="93"/>
                  </a:lnTo>
                  <a:lnTo>
                    <a:pt x="18" y="79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32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140">
              <a:extLst>
                <a:ext uri="{FF2B5EF4-FFF2-40B4-BE49-F238E27FC236}">
                  <a16:creationId xmlns:a16="http://schemas.microsoft.com/office/drawing/2014/main" id="{ACB4633C-5BD5-4004-A565-B5DA24567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482"/>
              <a:ext cx="629" cy="315"/>
            </a:xfrm>
            <a:custGeom>
              <a:avLst/>
              <a:gdLst>
                <a:gd name="T0" fmla="*/ 3 w 629"/>
                <a:gd name="T1" fmla="*/ 283 h 315"/>
                <a:gd name="T2" fmla="*/ 9 w 629"/>
                <a:gd name="T3" fmla="*/ 236 h 315"/>
                <a:gd name="T4" fmla="*/ 23 w 629"/>
                <a:gd name="T5" fmla="*/ 192 h 315"/>
                <a:gd name="T6" fmla="*/ 47 w 629"/>
                <a:gd name="T7" fmla="*/ 151 h 315"/>
                <a:gd name="T8" fmla="*/ 70 w 629"/>
                <a:gd name="T9" fmla="*/ 116 h 315"/>
                <a:gd name="T10" fmla="*/ 102 w 629"/>
                <a:gd name="T11" fmla="*/ 81 h 315"/>
                <a:gd name="T12" fmla="*/ 138 w 629"/>
                <a:gd name="T13" fmla="*/ 55 h 315"/>
                <a:gd name="T14" fmla="*/ 179 w 629"/>
                <a:gd name="T15" fmla="*/ 31 h 315"/>
                <a:gd name="T16" fmla="*/ 220 w 629"/>
                <a:gd name="T17" fmla="*/ 15 h 315"/>
                <a:gd name="T18" fmla="*/ 267 w 629"/>
                <a:gd name="T19" fmla="*/ 6 h 315"/>
                <a:gd name="T20" fmla="*/ 314 w 629"/>
                <a:gd name="T21" fmla="*/ 0 h 315"/>
                <a:gd name="T22" fmla="*/ 364 w 629"/>
                <a:gd name="T23" fmla="*/ 6 h 315"/>
                <a:gd name="T24" fmla="*/ 408 w 629"/>
                <a:gd name="T25" fmla="*/ 15 h 315"/>
                <a:gd name="T26" fmla="*/ 452 w 629"/>
                <a:gd name="T27" fmla="*/ 31 h 315"/>
                <a:gd name="T28" fmla="*/ 490 w 629"/>
                <a:gd name="T29" fmla="*/ 55 h 315"/>
                <a:gd name="T30" fmla="*/ 525 w 629"/>
                <a:gd name="T31" fmla="*/ 81 h 315"/>
                <a:gd name="T32" fmla="*/ 558 w 629"/>
                <a:gd name="T33" fmla="*/ 116 h 315"/>
                <a:gd name="T34" fmla="*/ 584 w 629"/>
                <a:gd name="T35" fmla="*/ 151 h 315"/>
                <a:gd name="T36" fmla="*/ 604 w 629"/>
                <a:gd name="T37" fmla="*/ 192 h 315"/>
                <a:gd name="T38" fmla="*/ 619 w 629"/>
                <a:gd name="T39" fmla="*/ 236 h 315"/>
                <a:gd name="T40" fmla="*/ 628 w 629"/>
                <a:gd name="T41" fmla="*/ 283 h 315"/>
                <a:gd name="T42" fmla="*/ 619 w 629"/>
                <a:gd name="T43" fmla="*/ 314 h 315"/>
                <a:gd name="T44" fmla="*/ 616 w 629"/>
                <a:gd name="T45" fmla="*/ 268 h 315"/>
                <a:gd name="T46" fmla="*/ 607 w 629"/>
                <a:gd name="T47" fmla="*/ 224 h 315"/>
                <a:gd name="T48" fmla="*/ 590 w 629"/>
                <a:gd name="T49" fmla="*/ 183 h 315"/>
                <a:gd name="T50" fmla="*/ 567 w 629"/>
                <a:gd name="T51" fmla="*/ 145 h 315"/>
                <a:gd name="T52" fmla="*/ 540 w 629"/>
                <a:gd name="T53" fmla="*/ 111 h 315"/>
                <a:gd name="T54" fmla="*/ 508 w 629"/>
                <a:gd name="T55" fmla="*/ 79 h 315"/>
                <a:gd name="T56" fmla="*/ 472 w 629"/>
                <a:gd name="T57" fmla="*/ 55 h 315"/>
                <a:gd name="T58" fmla="*/ 435 w 629"/>
                <a:gd name="T59" fmla="*/ 34 h 315"/>
                <a:gd name="T60" fmla="*/ 390 w 629"/>
                <a:gd name="T61" fmla="*/ 21 h 315"/>
                <a:gd name="T62" fmla="*/ 347 w 629"/>
                <a:gd name="T63" fmla="*/ 12 h 315"/>
                <a:gd name="T64" fmla="*/ 299 w 629"/>
                <a:gd name="T65" fmla="*/ 12 h 315"/>
                <a:gd name="T66" fmla="*/ 253 w 629"/>
                <a:gd name="T67" fmla="*/ 18 h 315"/>
                <a:gd name="T68" fmla="*/ 211 w 629"/>
                <a:gd name="T69" fmla="*/ 28 h 315"/>
                <a:gd name="T70" fmla="*/ 170 w 629"/>
                <a:gd name="T71" fmla="*/ 46 h 315"/>
                <a:gd name="T72" fmla="*/ 132 w 629"/>
                <a:gd name="T73" fmla="*/ 70 h 315"/>
                <a:gd name="T74" fmla="*/ 100 w 629"/>
                <a:gd name="T75" fmla="*/ 99 h 315"/>
                <a:gd name="T76" fmla="*/ 70 w 629"/>
                <a:gd name="T77" fmla="*/ 131 h 315"/>
                <a:gd name="T78" fmla="*/ 47 w 629"/>
                <a:gd name="T79" fmla="*/ 169 h 315"/>
                <a:gd name="T80" fmla="*/ 26 w 629"/>
                <a:gd name="T81" fmla="*/ 209 h 315"/>
                <a:gd name="T82" fmla="*/ 15 w 629"/>
                <a:gd name="T83" fmla="*/ 253 h 315"/>
                <a:gd name="T84" fmla="*/ 9 w 629"/>
                <a:gd name="T85" fmla="*/ 296 h 3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29"/>
                <a:gd name="T130" fmla="*/ 0 h 315"/>
                <a:gd name="T131" fmla="*/ 629 w 629"/>
                <a:gd name="T132" fmla="*/ 315 h 3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29" h="315">
                  <a:moveTo>
                    <a:pt x="0" y="314"/>
                  </a:moveTo>
                  <a:lnTo>
                    <a:pt x="0" y="296"/>
                  </a:lnTo>
                  <a:lnTo>
                    <a:pt x="3" y="283"/>
                  </a:lnTo>
                  <a:lnTo>
                    <a:pt x="3" y="265"/>
                  </a:lnTo>
                  <a:lnTo>
                    <a:pt x="6" y="250"/>
                  </a:lnTo>
                  <a:lnTo>
                    <a:pt x="9" y="236"/>
                  </a:lnTo>
                  <a:lnTo>
                    <a:pt x="15" y="221"/>
                  </a:lnTo>
                  <a:lnTo>
                    <a:pt x="18" y="206"/>
                  </a:lnTo>
                  <a:lnTo>
                    <a:pt x="23" y="192"/>
                  </a:lnTo>
                  <a:lnTo>
                    <a:pt x="32" y="178"/>
                  </a:lnTo>
                  <a:lnTo>
                    <a:pt x="38" y="166"/>
                  </a:lnTo>
                  <a:lnTo>
                    <a:pt x="47" y="151"/>
                  </a:lnTo>
                  <a:lnTo>
                    <a:pt x="52" y="139"/>
                  </a:lnTo>
                  <a:lnTo>
                    <a:pt x="61" y="128"/>
                  </a:lnTo>
                  <a:lnTo>
                    <a:pt x="70" y="116"/>
                  </a:lnTo>
                  <a:lnTo>
                    <a:pt x="82" y="105"/>
                  </a:lnTo>
                  <a:lnTo>
                    <a:pt x="91" y="93"/>
                  </a:lnTo>
                  <a:lnTo>
                    <a:pt x="102" y="81"/>
                  </a:lnTo>
                  <a:lnTo>
                    <a:pt x="114" y="73"/>
                  </a:lnTo>
                  <a:lnTo>
                    <a:pt x="126" y="64"/>
                  </a:lnTo>
                  <a:lnTo>
                    <a:pt x="138" y="55"/>
                  </a:lnTo>
                  <a:lnTo>
                    <a:pt x="153" y="46"/>
                  </a:lnTo>
                  <a:lnTo>
                    <a:pt x="164" y="37"/>
                  </a:lnTo>
                  <a:lnTo>
                    <a:pt x="179" y="31"/>
                  </a:lnTo>
                  <a:lnTo>
                    <a:pt x="193" y="26"/>
                  </a:lnTo>
                  <a:lnTo>
                    <a:pt x="205" y="21"/>
                  </a:lnTo>
                  <a:lnTo>
                    <a:pt x="220" y="15"/>
                  </a:lnTo>
                  <a:lnTo>
                    <a:pt x="235" y="12"/>
                  </a:lnTo>
                  <a:lnTo>
                    <a:pt x="253" y="9"/>
                  </a:lnTo>
                  <a:lnTo>
                    <a:pt x="267" y="6"/>
                  </a:lnTo>
                  <a:lnTo>
                    <a:pt x="281" y="3"/>
                  </a:lnTo>
                  <a:lnTo>
                    <a:pt x="299" y="3"/>
                  </a:lnTo>
                  <a:lnTo>
                    <a:pt x="314" y="0"/>
                  </a:lnTo>
                  <a:lnTo>
                    <a:pt x="332" y="3"/>
                  </a:lnTo>
                  <a:lnTo>
                    <a:pt x="347" y="3"/>
                  </a:lnTo>
                  <a:lnTo>
                    <a:pt x="364" y="6"/>
                  </a:lnTo>
                  <a:lnTo>
                    <a:pt x="378" y="9"/>
                  </a:lnTo>
                  <a:lnTo>
                    <a:pt x="393" y="12"/>
                  </a:lnTo>
                  <a:lnTo>
                    <a:pt x="408" y="15"/>
                  </a:lnTo>
                  <a:lnTo>
                    <a:pt x="423" y="21"/>
                  </a:lnTo>
                  <a:lnTo>
                    <a:pt x="437" y="26"/>
                  </a:lnTo>
                  <a:lnTo>
                    <a:pt x="452" y="31"/>
                  </a:lnTo>
                  <a:lnTo>
                    <a:pt x="464" y="37"/>
                  </a:lnTo>
                  <a:lnTo>
                    <a:pt x="478" y="46"/>
                  </a:lnTo>
                  <a:lnTo>
                    <a:pt x="490" y="55"/>
                  </a:lnTo>
                  <a:lnTo>
                    <a:pt x="502" y="64"/>
                  </a:lnTo>
                  <a:lnTo>
                    <a:pt x="514" y="73"/>
                  </a:lnTo>
                  <a:lnTo>
                    <a:pt x="525" y="81"/>
                  </a:lnTo>
                  <a:lnTo>
                    <a:pt x="537" y="93"/>
                  </a:lnTo>
                  <a:lnTo>
                    <a:pt x="546" y="105"/>
                  </a:lnTo>
                  <a:lnTo>
                    <a:pt x="558" y="116"/>
                  </a:lnTo>
                  <a:lnTo>
                    <a:pt x="567" y="128"/>
                  </a:lnTo>
                  <a:lnTo>
                    <a:pt x="576" y="139"/>
                  </a:lnTo>
                  <a:lnTo>
                    <a:pt x="584" y="151"/>
                  </a:lnTo>
                  <a:lnTo>
                    <a:pt x="590" y="166"/>
                  </a:lnTo>
                  <a:lnTo>
                    <a:pt x="599" y="178"/>
                  </a:lnTo>
                  <a:lnTo>
                    <a:pt x="604" y="192"/>
                  </a:lnTo>
                  <a:lnTo>
                    <a:pt x="610" y="206"/>
                  </a:lnTo>
                  <a:lnTo>
                    <a:pt x="616" y="221"/>
                  </a:lnTo>
                  <a:lnTo>
                    <a:pt x="619" y="236"/>
                  </a:lnTo>
                  <a:lnTo>
                    <a:pt x="622" y="250"/>
                  </a:lnTo>
                  <a:lnTo>
                    <a:pt x="625" y="265"/>
                  </a:lnTo>
                  <a:lnTo>
                    <a:pt x="628" y="283"/>
                  </a:lnTo>
                  <a:lnTo>
                    <a:pt x="628" y="296"/>
                  </a:lnTo>
                  <a:lnTo>
                    <a:pt x="628" y="314"/>
                  </a:lnTo>
                  <a:lnTo>
                    <a:pt x="619" y="314"/>
                  </a:lnTo>
                  <a:lnTo>
                    <a:pt x="619" y="296"/>
                  </a:lnTo>
                  <a:lnTo>
                    <a:pt x="619" y="283"/>
                  </a:lnTo>
                  <a:lnTo>
                    <a:pt x="616" y="268"/>
                  </a:lnTo>
                  <a:lnTo>
                    <a:pt x="613" y="253"/>
                  </a:lnTo>
                  <a:lnTo>
                    <a:pt x="610" y="238"/>
                  </a:lnTo>
                  <a:lnTo>
                    <a:pt x="607" y="224"/>
                  </a:lnTo>
                  <a:lnTo>
                    <a:pt x="602" y="209"/>
                  </a:lnTo>
                  <a:lnTo>
                    <a:pt x="596" y="195"/>
                  </a:lnTo>
                  <a:lnTo>
                    <a:pt x="590" y="183"/>
                  </a:lnTo>
                  <a:lnTo>
                    <a:pt x="584" y="169"/>
                  </a:lnTo>
                  <a:lnTo>
                    <a:pt x="576" y="157"/>
                  </a:lnTo>
                  <a:lnTo>
                    <a:pt x="567" y="145"/>
                  </a:lnTo>
                  <a:lnTo>
                    <a:pt x="561" y="131"/>
                  </a:lnTo>
                  <a:lnTo>
                    <a:pt x="549" y="122"/>
                  </a:lnTo>
                  <a:lnTo>
                    <a:pt x="540" y="111"/>
                  </a:lnTo>
                  <a:lnTo>
                    <a:pt x="531" y="99"/>
                  </a:lnTo>
                  <a:lnTo>
                    <a:pt x="519" y="90"/>
                  </a:lnTo>
                  <a:lnTo>
                    <a:pt x="508" y="79"/>
                  </a:lnTo>
                  <a:lnTo>
                    <a:pt x="496" y="70"/>
                  </a:lnTo>
                  <a:lnTo>
                    <a:pt x="484" y="61"/>
                  </a:lnTo>
                  <a:lnTo>
                    <a:pt x="472" y="55"/>
                  </a:lnTo>
                  <a:lnTo>
                    <a:pt x="461" y="46"/>
                  </a:lnTo>
                  <a:lnTo>
                    <a:pt x="446" y="40"/>
                  </a:lnTo>
                  <a:lnTo>
                    <a:pt x="435" y="34"/>
                  </a:lnTo>
                  <a:lnTo>
                    <a:pt x="420" y="28"/>
                  </a:lnTo>
                  <a:lnTo>
                    <a:pt x="405" y="24"/>
                  </a:lnTo>
                  <a:lnTo>
                    <a:pt x="390" y="21"/>
                  </a:lnTo>
                  <a:lnTo>
                    <a:pt x="375" y="18"/>
                  </a:lnTo>
                  <a:lnTo>
                    <a:pt x="361" y="15"/>
                  </a:lnTo>
                  <a:lnTo>
                    <a:pt x="347" y="12"/>
                  </a:lnTo>
                  <a:lnTo>
                    <a:pt x="332" y="12"/>
                  </a:lnTo>
                  <a:lnTo>
                    <a:pt x="314" y="12"/>
                  </a:lnTo>
                  <a:lnTo>
                    <a:pt x="299" y="12"/>
                  </a:lnTo>
                  <a:lnTo>
                    <a:pt x="284" y="12"/>
                  </a:lnTo>
                  <a:lnTo>
                    <a:pt x="267" y="15"/>
                  </a:lnTo>
                  <a:lnTo>
                    <a:pt x="253" y="18"/>
                  </a:lnTo>
                  <a:lnTo>
                    <a:pt x="238" y="21"/>
                  </a:lnTo>
                  <a:lnTo>
                    <a:pt x="223" y="24"/>
                  </a:lnTo>
                  <a:lnTo>
                    <a:pt x="211" y="28"/>
                  </a:lnTo>
                  <a:lnTo>
                    <a:pt x="196" y="34"/>
                  </a:lnTo>
                  <a:lnTo>
                    <a:pt x="182" y="40"/>
                  </a:lnTo>
                  <a:lnTo>
                    <a:pt x="170" y="46"/>
                  </a:lnTo>
                  <a:lnTo>
                    <a:pt x="156" y="55"/>
                  </a:lnTo>
                  <a:lnTo>
                    <a:pt x="144" y="61"/>
                  </a:lnTo>
                  <a:lnTo>
                    <a:pt x="132" y="70"/>
                  </a:lnTo>
                  <a:lnTo>
                    <a:pt x="120" y="79"/>
                  </a:lnTo>
                  <a:lnTo>
                    <a:pt x="108" y="90"/>
                  </a:lnTo>
                  <a:lnTo>
                    <a:pt x="100" y="99"/>
                  </a:lnTo>
                  <a:lnTo>
                    <a:pt x="88" y="111"/>
                  </a:lnTo>
                  <a:lnTo>
                    <a:pt x="79" y="122"/>
                  </a:lnTo>
                  <a:lnTo>
                    <a:pt x="70" y="131"/>
                  </a:lnTo>
                  <a:lnTo>
                    <a:pt x="61" y="145"/>
                  </a:lnTo>
                  <a:lnTo>
                    <a:pt x="52" y="157"/>
                  </a:lnTo>
                  <a:lnTo>
                    <a:pt x="47" y="169"/>
                  </a:lnTo>
                  <a:lnTo>
                    <a:pt x="38" y="183"/>
                  </a:lnTo>
                  <a:lnTo>
                    <a:pt x="32" y="195"/>
                  </a:lnTo>
                  <a:lnTo>
                    <a:pt x="26" y="209"/>
                  </a:lnTo>
                  <a:lnTo>
                    <a:pt x="23" y="224"/>
                  </a:lnTo>
                  <a:lnTo>
                    <a:pt x="18" y="238"/>
                  </a:lnTo>
                  <a:lnTo>
                    <a:pt x="15" y="253"/>
                  </a:lnTo>
                  <a:lnTo>
                    <a:pt x="12" y="268"/>
                  </a:lnTo>
                  <a:lnTo>
                    <a:pt x="12" y="283"/>
                  </a:lnTo>
                  <a:lnTo>
                    <a:pt x="9" y="296"/>
                  </a:lnTo>
                  <a:lnTo>
                    <a:pt x="9" y="314"/>
                  </a:lnTo>
                  <a:lnTo>
                    <a:pt x="0" y="314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Freeform 141">
              <a:extLst>
                <a:ext uri="{FF2B5EF4-FFF2-40B4-BE49-F238E27FC236}">
                  <a16:creationId xmlns:a16="http://schemas.microsoft.com/office/drawing/2014/main" id="{34F27273-3B74-44E7-8FA1-A0F6C35D0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802"/>
              <a:ext cx="629" cy="313"/>
            </a:xfrm>
            <a:custGeom>
              <a:avLst/>
              <a:gdLst>
                <a:gd name="T0" fmla="*/ 0 w 629"/>
                <a:gd name="T1" fmla="*/ 15 h 313"/>
                <a:gd name="T2" fmla="*/ 6 w 629"/>
                <a:gd name="T3" fmla="*/ 61 h 313"/>
                <a:gd name="T4" fmla="*/ 18 w 629"/>
                <a:gd name="T5" fmla="*/ 108 h 313"/>
                <a:gd name="T6" fmla="*/ 38 w 629"/>
                <a:gd name="T7" fmla="*/ 148 h 313"/>
                <a:gd name="T8" fmla="*/ 61 w 629"/>
                <a:gd name="T9" fmla="*/ 186 h 313"/>
                <a:gd name="T10" fmla="*/ 91 w 629"/>
                <a:gd name="T11" fmla="*/ 222 h 313"/>
                <a:gd name="T12" fmla="*/ 126 w 629"/>
                <a:gd name="T13" fmla="*/ 250 h 313"/>
                <a:gd name="T14" fmla="*/ 164 w 629"/>
                <a:gd name="T15" fmla="*/ 274 h 313"/>
                <a:gd name="T16" fmla="*/ 205 w 629"/>
                <a:gd name="T17" fmla="*/ 294 h 313"/>
                <a:gd name="T18" fmla="*/ 253 w 629"/>
                <a:gd name="T19" fmla="*/ 306 h 313"/>
                <a:gd name="T20" fmla="*/ 299 w 629"/>
                <a:gd name="T21" fmla="*/ 312 h 313"/>
                <a:gd name="T22" fmla="*/ 347 w 629"/>
                <a:gd name="T23" fmla="*/ 312 h 313"/>
                <a:gd name="T24" fmla="*/ 393 w 629"/>
                <a:gd name="T25" fmla="*/ 303 h 313"/>
                <a:gd name="T26" fmla="*/ 437 w 629"/>
                <a:gd name="T27" fmla="*/ 288 h 313"/>
                <a:gd name="T28" fmla="*/ 478 w 629"/>
                <a:gd name="T29" fmla="*/ 268 h 313"/>
                <a:gd name="T30" fmla="*/ 514 w 629"/>
                <a:gd name="T31" fmla="*/ 241 h 313"/>
                <a:gd name="T32" fmla="*/ 546 w 629"/>
                <a:gd name="T33" fmla="*/ 210 h 313"/>
                <a:gd name="T34" fmla="*/ 576 w 629"/>
                <a:gd name="T35" fmla="*/ 175 h 313"/>
                <a:gd name="T36" fmla="*/ 599 w 629"/>
                <a:gd name="T37" fmla="*/ 134 h 313"/>
                <a:gd name="T38" fmla="*/ 616 w 629"/>
                <a:gd name="T39" fmla="*/ 93 h 313"/>
                <a:gd name="T40" fmla="*/ 625 w 629"/>
                <a:gd name="T41" fmla="*/ 47 h 313"/>
                <a:gd name="T42" fmla="*/ 628 w 629"/>
                <a:gd name="T43" fmla="*/ 0 h 313"/>
                <a:gd name="T44" fmla="*/ 619 w 629"/>
                <a:gd name="T45" fmla="*/ 29 h 313"/>
                <a:gd name="T46" fmla="*/ 610 w 629"/>
                <a:gd name="T47" fmla="*/ 76 h 313"/>
                <a:gd name="T48" fmla="*/ 596 w 629"/>
                <a:gd name="T49" fmla="*/ 117 h 313"/>
                <a:gd name="T50" fmla="*/ 576 w 629"/>
                <a:gd name="T51" fmla="*/ 157 h 313"/>
                <a:gd name="T52" fmla="*/ 549 w 629"/>
                <a:gd name="T53" fmla="*/ 192 h 313"/>
                <a:gd name="T54" fmla="*/ 519 w 629"/>
                <a:gd name="T55" fmla="*/ 225 h 313"/>
                <a:gd name="T56" fmla="*/ 484 w 629"/>
                <a:gd name="T57" fmla="*/ 250 h 313"/>
                <a:gd name="T58" fmla="*/ 446 w 629"/>
                <a:gd name="T59" fmla="*/ 274 h 313"/>
                <a:gd name="T60" fmla="*/ 405 w 629"/>
                <a:gd name="T61" fmla="*/ 288 h 313"/>
                <a:gd name="T62" fmla="*/ 361 w 629"/>
                <a:gd name="T63" fmla="*/ 300 h 313"/>
                <a:gd name="T64" fmla="*/ 314 w 629"/>
                <a:gd name="T65" fmla="*/ 303 h 313"/>
                <a:gd name="T66" fmla="*/ 267 w 629"/>
                <a:gd name="T67" fmla="*/ 300 h 313"/>
                <a:gd name="T68" fmla="*/ 223 w 629"/>
                <a:gd name="T69" fmla="*/ 288 h 313"/>
                <a:gd name="T70" fmla="*/ 182 w 629"/>
                <a:gd name="T71" fmla="*/ 274 h 313"/>
                <a:gd name="T72" fmla="*/ 144 w 629"/>
                <a:gd name="T73" fmla="*/ 250 h 313"/>
                <a:gd name="T74" fmla="*/ 108 w 629"/>
                <a:gd name="T75" fmla="*/ 225 h 313"/>
                <a:gd name="T76" fmla="*/ 79 w 629"/>
                <a:gd name="T77" fmla="*/ 192 h 313"/>
                <a:gd name="T78" fmla="*/ 52 w 629"/>
                <a:gd name="T79" fmla="*/ 157 h 313"/>
                <a:gd name="T80" fmla="*/ 32 w 629"/>
                <a:gd name="T81" fmla="*/ 117 h 313"/>
                <a:gd name="T82" fmla="*/ 18 w 629"/>
                <a:gd name="T83" fmla="*/ 76 h 313"/>
                <a:gd name="T84" fmla="*/ 12 w 629"/>
                <a:gd name="T85" fmla="*/ 29 h 313"/>
                <a:gd name="T86" fmla="*/ 0 w 629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29"/>
                <a:gd name="T133" fmla="*/ 0 h 313"/>
                <a:gd name="T134" fmla="*/ 629 w 629"/>
                <a:gd name="T135" fmla="*/ 313 h 3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29" h="313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32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8"/>
                  </a:lnTo>
                  <a:lnTo>
                    <a:pt x="15" y="93"/>
                  </a:lnTo>
                  <a:lnTo>
                    <a:pt x="18" y="108"/>
                  </a:lnTo>
                  <a:lnTo>
                    <a:pt x="23" y="123"/>
                  </a:lnTo>
                  <a:lnTo>
                    <a:pt x="32" y="134"/>
                  </a:lnTo>
                  <a:lnTo>
                    <a:pt x="38" y="148"/>
                  </a:lnTo>
                  <a:lnTo>
                    <a:pt x="47" y="160"/>
                  </a:lnTo>
                  <a:lnTo>
                    <a:pt x="52" y="175"/>
                  </a:lnTo>
                  <a:lnTo>
                    <a:pt x="61" y="186"/>
                  </a:lnTo>
                  <a:lnTo>
                    <a:pt x="70" y="198"/>
                  </a:lnTo>
                  <a:lnTo>
                    <a:pt x="82" y="210"/>
                  </a:lnTo>
                  <a:lnTo>
                    <a:pt x="91" y="222"/>
                  </a:lnTo>
                  <a:lnTo>
                    <a:pt x="102" y="231"/>
                  </a:lnTo>
                  <a:lnTo>
                    <a:pt x="114" y="241"/>
                  </a:lnTo>
                  <a:lnTo>
                    <a:pt x="126" y="250"/>
                  </a:lnTo>
                  <a:lnTo>
                    <a:pt x="138" y="259"/>
                  </a:lnTo>
                  <a:lnTo>
                    <a:pt x="153" y="268"/>
                  </a:lnTo>
                  <a:lnTo>
                    <a:pt x="164" y="274"/>
                  </a:lnTo>
                  <a:lnTo>
                    <a:pt x="179" y="283"/>
                  </a:lnTo>
                  <a:lnTo>
                    <a:pt x="193" y="288"/>
                  </a:lnTo>
                  <a:lnTo>
                    <a:pt x="205" y="294"/>
                  </a:lnTo>
                  <a:lnTo>
                    <a:pt x="220" y="297"/>
                  </a:lnTo>
                  <a:lnTo>
                    <a:pt x="235" y="303"/>
                  </a:lnTo>
                  <a:lnTo>
                    <a:pt x="253" y="306"/>
                  </a:lnTo>
                  <a:lnTo>
                    <a:pt x="267" y="309"/>
                  </a:lnTo>
                  <a:lnTo>
                    <a:pt x="281" y="312"/>
                  </a:lnTo>
                  <a:lnTo>
                    <a:pt x="299" y="312"/>
                  </a:lnTo>
                  <a:lnTo>
                    <a:pt x="314" y="312"/>
                  </a:lnTo>
                  <a:lnTo>
                    <a:pt x="332" y="312"/>
                  </a:lnTo>
                  <a:lnTo>
                    <a:pt x="347" y="312"/>
                  </a:lnTo>
                  <a:lnTo>
                    <a:pt x="364" y="309"/>
                  </a:lnTo>
                  <a:lnTo>
                    <a:pt x="378" y="306"/>
                  </a:lnTo>
                  <a:lnTo>
                    <a:pt x="393" y="303"/>
                  </a:lnTo>
                  <a:lnTo>
                    <a:pt x="408" y="297"/>
                  </a:lnTo>
                  <a:lnTo>
                    <a:pt x="423" y="294"/>
                  </a:lnTo>
                  <a:lnTo>
                    <a:pt x="437" y="288"/>
                  </a:lnTo>
                  <a:lnTo>
                    <a:pt x="452" y="283"/>
                  </a:lnTo>
                  <a:lnTo>
                    <a:pt x="464" y="274"/>
                  </a:lnTo>
                  <a:lnTo>
                    <a:pt x="478" y="268"/>
                  </a:lnTo>
                  <a:lnTo>
                    <a:pt x="490" y="259"/>
                  </a:lnTo>
                  <a:lnTo>
                    <a:pt x="502" y="250"/>
                  </a:lnTo>
                  <a:lnTo>
                    <a:pt x="514" y="241"/>
                  </a:lnTo>
                  <a:lnTo>
                    <a:pt x="525" y="231"/>
                  </a:lnTo>
                  <a:lnTo>
                    <a:pt x="537" y="222"/>
                  </a:lnTo>
                  <a:lnTo>
                    <a:pt x="546" y="210"/>
                  </a:lnTo>
                  <a:lnTo>
                    <a:pt x="558" y="198"/>
                  </a:lnTo>
                  <a:lnTo>
                    <a:pt x="567" y="186"/>
                  </a:lnTo>
                  <a:lnTo>
                    <a:pt x="576" y="175"/>
                  </a:lnTo>
                  <a:lnTo>
                    <a:pt x="584" y="160"/>
                  </a:lnTo>
                  <a:lnTo>
                    <a:pt x="590" y="148"/>
                  </a:lnTo>
                  <a:lnTo>
                    <a:pt x="599" y="134"/>
                  </a:lnTo>
                  <a:lnTo>
                    <a:pt x="604" y="123"/>
                  </a:lnTo>
                  <a:lnTo>
                    <a:pt x="610" y="108"/>
                  </a:lnTo>
                  <a:lnTo>
                    <a:pt x="616" y="93"/>
                  </a:lnTo>
                  <a:lnTo>
                    <a:pt x="619" y="78"/>
                  </a:lnTo>
                  <a:lnTo>
                    <a:pt x="622" y="61"/>
                  </a:lnTo>
                  <a:lnTo>
                    <a:pt x="625" y="47"/>
                  </a:lnTo>
                  <a:lnTo>
                    <a:pt x="628" y="32"/>
                  </a:lnTo>
                  <a:lnTo>
                    <a:pt x="628" y="15"/>
                  </a:lnTo>
                  <a:lnTo>
                    <a:pt x="628" y="0"/>
                  </a:lnTo>
                  <a:lnTo>
                    <a:pt x="619" y="0"/>
                  </a:lnTo>
                  <a:lnTo>
                    <a:pt x="619" y="15"/>
                  </a:lnTo>
                  <a:lnTo>
                    <a:pt x="619" y="29"/>
                  </a:lnTo>
                  <a:lnTo>
                    <a:pt x="616" y="47"/>
                  </a:lnTo>
                  <a:lnTo>
                    <a:pt x="613" y="61"/>
                  </a:lnTo>
                  <a:lnTo>
                    <a:pt x="610" y="76"/>
                  </a:lnTo>
                  <a:lnTo>
                    <a:pt x="607" y="90"/>
                  </a:lnTo>
                  <a:lnTo>
                    <a:pt x="602" y="105"/>
                  </a:lnTo>
                  <a:lnTo>
                    <a:pt x="596" y="117"/>
                  </a:lnTo>
                  <a:lnTo>
                    <a:pt x="590" y="131"/>
                  </a:lnTo>
                  <a:lnTo>
                    <a:pt x="584" y="143"/>
                  </a:lnTo>
                  <a:lnTo>
                    <a:pt x="576" y="157"/>
                  </a:lnTo>
                  <a:lnTo>
                    <a:pt x="567" y="169"/>
                  </a:lnTo>
                  <a:lnTo>
                    <a:pt x="561" y="181"/>
                  </a:lnTo>
                  <a:lnTo>
                    <a:pt x="549" y="192"/>
                  </a:lnTo>
                  <a:lnTo>
                    <a:pt x="540" y="204"/>
                  </a:lnTo>
                  <a:lnTo>
                    <a:pt x="531" y="213"/>
                  </a:lnTo>
                  <a:lnTo>
                    <a:pt x="519" y="225"/>
                  </a:lnTo>
                  <a:lnTo>
                    <a:pt x="508" y="233"/>
                  </a:lnTo>
                  <a:lnTo>
                    <a:pt x="496" y="241"/>
                  </a:lnTo>
                  <a:lnTo>
                    <a:pt x="484" y="250"/>
                  </a:lnTo>
                  <a:lnTo>
                    <a:pt x="472" y="259"/>
                  </a:lnTo>
                  <a:lnTo>
                    <a:pt x="461" y="265"/>
                  </a:lnTo>
                  <a:lnTo>
                    <a:pt x="446" y="274"/>
                  </a:lnTo>
                  <a:lnTo>
                    <a:pt x="435" y="280"/>
                  </a:lnTo>
                  <a:lnTo>
                    <a:pt x="420" y="286"/>
                  </a:lnTo>
                  <a:lnTo>
                    <a:pt x="405" y="288"/>
                  </a:lnTo>
                  <a:lnTo>
                    <a:pt x="390" y="294"/>
                  </a:lnTo>
                  <a:lnTo>
                    <a:pt x="375" y="297"/>
                  </a:lnTo>
                  <a:lnTo>
                    <a:pt x="361" y="300"/>
                  </a:lnTo>
                  <a:lnTo>
                    <a:pt x="347" y="303"/>
                  </a:lnTo>
                  <a:lnTo>
                    <a:pt x="332" y="303"/>
                  </a:lnTo>
                  <a:lnTo>
                    <a:pt x="314" y="303"/>
                  </a:lnTo>
                  <a:lnTo>
                    <a:pt x="299" y="303"/>
                  </a:lnTo>
                  <a:lnTo>
                    <a:pt x="284" y="303"/>
                  </a:lnTo>
                  <a:lnTo>
                    <a:pt x="267" y="300"/>
                  </a:lnTo>
                  <a:lnTo>
                    <a:pt x="253" y="297"/>
                  </a:lnTo>
                  <a:lnTo>
                    <a:pt x="238" y="294"/>
                  </a:lnTo>
                  <a:lnTo>
                    <a:pt x="223" y="288"/>
                  </a:lnTo>
                  <a:lnTo>
                    <a:pt x="211" y="286"/>
                  </a:lnTo>
                  <a:lnTo>
                    <a:pt x="196" y="280"/>
                  </a:lnTo>
                  <a:lnTo>
                    <a:pt x="182" y="274"/>
                  </a:lnTo>
                  <a:lnTo>
                    <a:pt x="170" y="265"/>
                  </a:lnTo>
                  <a:lnTo>
                    <a:pt x="156" y="259"/>
                  </a:lnTo>
                  <a:lnTo>
                    <a:pt x="144" y="250"/>
                  </a:lnTo>
                  <a:lnTo>
                    <a:pt x="132" y="241"/>
                  </a:lnTo>
                  <a:lnTo>
                    <a:pt x="120" y="233"/>
                  </a:lnTo>
                  <a:lnTo>
                    <a:pt x="108" y="225"/>
                  </a:lnTo>
                  <a:lnTo>
                    <a:pt x="100" y="213"/>
                  </a:lnTo>
                  <a:lnTo>
                    <a:pt x="88" y="204"/>
                  </a:lnTo>
                  <a:lnTo>
                    <a:pt x="79" y="192"/>
                  </a:lnTo>
                  <a:lnTo>
                    <a:pt x="70" y="181"/>
                  </a:lnTo>
                  <a:lnTo>
                    <a:pt x="61" y="169"/>
                  </a:lnTo>
                  <a:lnTo>
                    <a:pt x="52" y="157"/>
                  </a:lnTo>
                  <a:lnTo>
                    <a:pt x="47" y="143"/>
                  </a:lnTo>
                  <a:lnTo>
                    <a:pt x="38" y="131"/>
                  </a:lnTo>
                  <a:lnTo>
                    <a:pt x="32" y="117"/>
                  </a:lnTo>
                  <a:lnTo>
                    <a:pt x="26" y="105"/>
                  </a:lnTo>
                  <a:lnTo>
                    <a:pt x="23" y="90"/>
                  </a:lnTo>
                  <a:lnTo>
                    <a:pt x="18" y="76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142">
              <a:extLst>
                <a:ext uri="{FF2B5EF4-FFF2-40B4-BE49-F238E27FC236}">
                  <a16:creationId xmlns:a16="http://schemas.microsoft.com/office/drawing/2014/main" id="{EE0F4351-96BC-44D6-AAE8-8091BB0A0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3494"/>
              <a:ext cx="611" cy="303"/>
            </a:xfrm>
            <a:custGeom>
              <a:avLst/>
              <a:gdLst>
                <a:gd name="T0" fmla="*/ 3 w 611"/>
                <a:gd name="T1" fmla="*/ 271 h 303"/>
                <a:gd name="T2" fmla="*/ 9 w 611"/>
                <a:gd name="T3" fmla="*/ 227 h 303"/>
                <a:gd name="T4" fmla="*/ 23 w 611"/>
                <a:gd name="T5" fmla="*/ 183 h 303"/>
                <a:gd name="T6" fmla="*/ 44 w 611"/>
                <a:gd name="T7" fmla="*/ 145 h 303"/>
                <a:gd name="T8" fmla="*/ 70 w 611"/>
                <a:gd name="T9" fmla="*/ 110 h 303"/>
                <a:gd name="T10" fmla="*/ 99 w 611"/>
                <a:gd name="T11" fmla="*/ 78 h 303"/>
                <a:gd name="T12" fmla="*/ 135 w 611"/>
                <a:gd name="T13" fmla="*/ 49 h 303"/>
                <a:gd name="T14" fmla="*/ 173 w 611"/>
                <a:gd name="T15" fmla="*/ 28 h 303"/>
                <a:gd name="T16" fmla="*/ 214 w 611"/>
                <a:gd name="T17" fmla="*/ 12 h 303"/>
                <a:gd name="T18" fmla="*/ 258 w 611"/>
                <a:gd name="T19" fmla="*/ 3 h 303"/>
                <a:gd name="T20" fmla="*/ 305 w 611"/>
                <a:gd name="T21" fmla="*/ 0 h 303"/>
                <a:gd name="T22" fmla="*/ 352 w 611"/>
                <a:gd name="T23" fmla="*/ 3 h 303"/>
                <a:gd name="T24" fmla="*/ 396 w 611"/>
                <a:gd name="T25" fmla="*/ 12 h 303"/>
                <a:gd name="T26" fmla="*/ 437 w 611"/>
                <a:gd name="T27" fmla="*/ 28 h 303"/>
                <a:gd name="T28" fmla="*/ 475 w 611"/>
                <a:gd name="T29" fmla="*/ 49 h 303"/>
                <a:gd name="T30" fmla="*/ 510 w 611"/>
                <a:gd name="T31" fmla="*/ 78 h 303"/>
                <a:gd name="T32" fmla="*/ 540 w 611"/>
                <a:gd name="T33" fmla="*/ 110 h 303"/>
                <a:gd name="T34" fmla="*/ 566 w 611"/>
                <a:gd name="T35" fmla="*/ 145 h 303"/>
                <a:gd name="T36" fmla="*/ 587 w 611"/>
                <a:gd name="T37" fmla="*/ 183 h 303"/>
                <a:gd name="T38" fmla="*/ 601 w 611"/>
                <a:gd name="T39" fmla="*/ 227 h 303"/>
                <a:gd name="T40" fmla="*/ 610 w 611"/>
                <a:gd name="T41" fmla="*/ 271 h 303"/>
                <a:gd name="T42" fmla="*/ 601 w 611"/>
                <a:gd name="T43" fmla="*/ 302 h 303"/>
                <a:gd name="T44" fmla="*/ 598 w 611"/>
                <a:gd name="T45" fmla="*/ 256 h 303"/>
                <a:gd name="T46" fmla="*/ 587 w 611"/>
                <a:gd name="T47" fmla="*/ 215 h 303"/>
                <a:gd name="T48" fmla="*/ 572 w 611"/>
                <a:gd name="T49" fmla="*/ 175 h 303"/>
                <a:gd name="T50" fmla="*/ 552 w 611"/>
                <a:gd name="T51" fmla="*/ 136 h 303"/>
                <a:gd name="T52" fmla="*/ 525 w 611"/>
                <a:gd name="T53" fmla="*/ 104 h 303"/>
                <a:gd name="T54" fmla="*/ 493 w 611"/>
                <a:gd name="T55" fmla="*/ 76 h 303"/>
                <a:gd name="T56" fmla="*/ 458 w 611"/>
                <a:gd name="T57" fmla="*/ 49 h 303"/>
                <a:gd name="T58" fmla="*/ 420 w 611"/>
                <a:gd name="T59" fmla="*/ 31 h 303"/>
                <a:gd name="T60" fmla="*/ 378 w 611"/>
                <a:gd name="T61" fmla="*/ 17 h 303"/>
                <a:gd name="T62" fmla="*/ 338 w 611"/>
                <a:gd name="T63" fmla="*/ 9 h 303"/>
                <a:gd name="T64" fmla="*/ 290 w 611"/>
                <a:gd name="T65" fmla="*/ 9 h 303"/>
                <a:gd name="T66" fmla="*/ 247 w 611"/>
                <a:gd name="T67" fmla="*/ 15 h 303"/>
                <a:gd name="T68" fmla="*/ 205 w 611"/>
                <a:gd name="T69" fmla="*/ 25 h 303"/>
                <a:gd name="T70" fmla="*/ 164 w 611"/>
                <a:gd name="T71" fmla="*/ 43 h 303"/>
                <a:gd name="T72" fmla="*/ 129 w 611"/>
                <a:gd name="T73" fmla="*/ 67 h 303"/>
                <a:gd name="T74" fmla="*/ 96 w 611"/>
                <a:gd name="T75" fmla="*/ 93 h 303"/>
                <a:gd name="T76" fmla="*/ 67 w 611"/>
                <a:gd name="T77" fmla="*/ 125 h 303"/>
                <a:gd name="T78" fmla="*/ 47 w 611"/>
                <a:gd name="T79" fmla="*/ 163 h 303"/>
                <a:gd name="T80" fmla="*/ 26 w 611"/>
                <a:gd name="T81" fmla="*/ 200 h 303"/>
                <a:gd name="T82" fmla="*/ 14 w 611"/>
                <a:gd name="T83" fmla="*/ 241 h 303"/>
                <a:gd name="T84" fmla="*/ 9 w 611"/>
                <a:gd name="T85" fmla="*/ 287 h 30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11"/>
                <a:gd name="T130" fmla="*/ 0 h 303"/>
                <a:gd name="T131" fmla="*/ 611 w 611"/>
                <a:gd name="T132" fmla="*/ 303 h 30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11" h="303">
                  <a:moveTo>
                    <a:pt x="0" y="302"/>
                  </a:moveTo>
                  <a:lnTo>
                    <a:pt x="0" y="284"/>
                  </a:lnTo>
                  <a:lnTo>
                    <a:pt x="3" y="271"/>
                  </a:lnTo>
                  <a:lnTo>
                    <a:pt x="3" y="256"/>
                  </a:lnTo>
                  <a:lnTo>
                    <a:pt x="6" y="241"/>
                  </a:lnTo>
                  <a:lnTo>
                    <a:pt x="9" y="227"/>
                  </a:lnTo>
                  <a:lnTo>
                    <a:pt x="14" y="212"/>
                  </a:lnTo>
                  <a:lnTo>
                    <a:pt x="17" y="197"/>
                  </a:lnTo>
                  <a:lnTo>
                    <a:pt x="23" y="183"/>
                  </a:lnTo>
                  <a:lnTo>
                    <a:pt x="29" y="172"/>
                  </a:lnTo>
                  <a:lnTo>
                    <a:pt x="38" y="157"/>
                  </a:lnTo>
                  <a:lnTo>
                    <a:pt x="44" y="145"/>
                  </a:lnTo>
                  <a:lnTo>
                    <a:pt x="52" y="133"/>
                  </a:lnTo>
                  <a:lnTo>
                    <a:pt x="61" y="119"/>
                  </a:lnTo>
                  <a:lnTo>
                    <a:pt x="70" y="110"/>
                  </a:lnTo>
                  <a:lnTo>
                    <a:pt x="79" y="99"/>
                  </a:lnTo>
                  <a:lnTo>
                    <a:pt x="91" y="87"/>
                  </a:lnTo>
                  <a:lnTo>
                    <a:pt x="99" y="78"/>
                  </a:lnTo>
                  <a:lnTo>
                    <a:pt x="111" y="67"/>
                  </a:lnTo>
                  <a:lnTo>
                    <a:pt x="123" y="58"/>
                  </a:lnTo>
                  <a:lnTo>
                    <a:pt x="135" y="49"/>
                  </a:lnTo>
                  <a:lnTo>
                    <a:pt x="147" y="43"/>
                  </a:lnTo>
                  <a:lnTo>
                    <a:pt x="161" y="34"/>
                  </a:lnTo>
                  <a:lnTo>
                    <a:pt x="173" y="28"/>
                  </a:lnTo>
                  <a:lnTo>
                    <a:pt x="187" y="23"/>
                  </a:lnTo>
                  <a:lnTo>
                    <a:pt x="202" y="17"/>
                  </a:lnTo>
                  <a:lnTo>
                    <a:pt x="214" y="12"/>
                  </a:lnTo>
                  <a:lnTo>
                    <a:pt x="229" y="9"/>
                  </a:lnTo>
                  <a:lnTo>
                    <a:pt x="244" y="6"/>
                  </a:lnTo>
                  <a:lnTo>
                    <a:pt x="258" y="3"/>
                  </a:lnTo>
                  <a:lnTo>
                    <a:pt x="275" y="0"/>
                  </a:lnTo>
                  <a:lnTo>
                    <a:pt x="290" y="0"/>
                  </a:lnTo>
                  <a:lnTo>
                    <a:pt x="305" y="0"/>
                  </a:lnTo>
                  <a:lnTo>
                    <a:pt x="323" y="0"/>
                  </a:lnTo>
                  <a:lnTo>
                    <a:pt x="338" y="0"/>
                  </a:lnTo>
                  <a:lnTo>
                    <a:pt x="352" y="3"/>
                  </a:lnTo>
                  <a:lnTo>
                    <a:pt x="366" y="6"/>
                  </a:lnTo>
                  <a:lnTo>
                    <a:pt x="381" y="9"/>
                  </a:lnTo>
                  <a:lnTo>
                    <a:pt x="396" y="12"/>
                  </a:lnTo>
                  <a:lnTo>
                    <a:pt x="411" y="17"/>
                  </a:lnTo>
                  <a:lnTo>
                    <a:pt x="426" y="23"/>
                  </a:lnTo>
                  <a:lnTo>
                    <a:pt x="437" y="28"/>
                  </a:lnTo>
                  <a:lnTo>
                    <a:pt x="452" y="34"/>
                  </a:lnTo>
                  <a:lnTo>
                    <a:pt x="463" y="43"/>
                  </a:lnTo>
                  <a:lnTo>
                    <a:pt x="475" y="49"/>
                  </a:lnTo>
                  <a:lnTo>
                    <a:pt x="487" y="58"/>
                  </a:lnTo>
                  <a:lnTo>
                    <a:pt x="499" y="67"/>
                  </a:lnTo>
                  <a:lnTo>
                    <a:pt x="510" y="78"/>
                  </a:lnTo>
                  <a:lnTo>
                    <a:pt x="522" y="87"/>
                  </a:lnTo>
                  <a:lnTo>
                    <a:pt x="531" y="99"/>
                  </a:lnTo>
                  <a:lnTo>
                    <a:pt x="540" y="110"/>
                  </a:lnTo>
                  <a:lnTo>
                    <a:pt x="552" y="119"/>
                  </a:lnTo>
                  <a:lnTo>
                    <a:pt x="558" y="133"/>
                  </a:lnTo>
                  <a:lnTo>
                    <a:pt x="566" y="145"/>
                  </a:lnTo>
                  <a:lnTo>
                    <a:pt x="575" y="157"/>
                  </a:lnTo>
                  <a:lnTo>
                    <a:pt x="581" y="172"/>
                  </a:lnTo>
                  <a:lnTo>
                    <a:pt x="587" y="183"/>
                  </a:lnTo>
                  <a:lnTo>
                    <a:pt x="593" y="197"/>
                  </a:lnTo>
                  <a:lnTo>
                    <a:pt x="598" y="212"/>
                  </a:lnTo>
                  <a:lnTo>
                    <a:pt x="601" y="227"/>
                  </a:lnTo>
                  <a:lnTo>
                    <a:pt x="604" y="241"/>
                  </a:lnTo>
                  <a:lnTo>
                    <a:pt x="607" y="256"/>
                  </a:lnTo>
                  <a:lnTo>
                    <a:pt x="610" y="271"/>
                  </a:lnTo>
                  <a:lnTo>
                    <a:pt x="610" y="284"/>
                  </a:lnTo>
                  <a:lnTo>
                    <a:pt x="610" y="302"/>
                  </a:lnTo>
                  <a:lnTo>
                    <a:pt x="601" y="302"/>
                  </a:lnTo>
                  <a:lnTo>
                    <a:pt x="601" y="287"/>
                  </a:lnTo>
                  <a:lnTo>
                    <a:pt x="601" y="271"/>
                  </a:lnTo>
                  <a:lnTo>
                    <a:pt x="598" y="256"/>
                  </a:lnTo>
                  <a:lnTo>
                    <a:pt x="595" y="241"/>
                  </a:lnTo>
                  <a:lnTo>
                    <a:pt x="593" y="229"/>
                  </a:lnTo>
                  <a:lnTo>
                    <a:pt x="587" y="215"/>
                  </a:lnTo>
                  <a:lnTo>
                    <a:pt x="584" y="200"/>
                  </a:lnTo>
                  <a:lnTo>
                    <a:pt x="578" y="188"/>
                  </a:lnTo>
                  <a:lnTo>
                    <a:pt x="572" y="175"/>
                  </a:lnTo>
                  <a:lnTo>
                    <a:pt x="566" y="163"/>
                  </a:lnTo>
                  <a:lnTo>
                    <a:pt x="558" y="148"/>
                  </a:lnTo>
                  <a:lnTo>
                    <a:pt x="552" y="136"/>
                  </a:lnTo>
                  <a:lnTo>
                    <a:pt x="543" y="125"/>
                  </a:lnTo>
                  <a:lnTo>
                    <a:pt x="534" y="116"/>
                  </a:lnTo>
                  <a:lnTo>
                    <a:pt x="525" y="104"/>
                  </a:lnTo>
                  <a:lnTo>
                    <a:pt x="513" y="93"/>
                  </a:lnTo>
                  <a:lnTo>
                    <a:pt x="505" y="84"/>
                  </a:lnTo>
                  <a:lnTo>
                    <a:pt x="493" y="76"/>
                  </a:lnTo>
                  <a:lnTo>
                    <a:pt x="481" y="67"/>
                  </a:lnTo>
                  <a:lnTo>
                    <a:pt x="469" y="58"/>
                  </a:lnTo>
                  <a:lnTo>
                    <a:pt x="458" y="49"/>
                  </a:lnTo>
                  <a:lnTo>
                    <a:pt x="446" y="43"/>
                  </a:lnTo>
                  <a:lnTo>
                    <a:pt x="434" y="37"/>
                  </a:lnTo>
                  <a:lnTo>
                    <a:pt x="420" y="31"/>
                  </a:lnTo>
                  <a:lnTo>
                    <a:pt x="408" y="25"/>
                  </a:lnTo>
                  <a:lnTo>
                    <a:pt x="393" y="20"/>
                  </a:lnTo>
                  <a:lnTo>
                    <a:pt x="378" y="17"/>
                  </a:lnTo>
                  <a:lnTo>
                    <a:pt x="363" y="15"/>
                  </a:lnTo>
                  <a:lnTo>
                    <a:pt x="352" y="12"/>
                  </a:lnTo>
                  <a:lnTo>
                    <a:pt x="338" y="9"/>
                  </a:lnTo>
                  <a:lnTo>
                    <a:pt x="320" y="9"/>
                  </a:lnTo>
                  <a:lnTo>
                    <a:pt x="305" y="9"/>
                  </a:lnTo>
                  <a:lnTo>
                    <a:pt x="290" y="9"/>
                  </a:lnTo>
                  <a:lnTo>
                    <a:pt x="275" y="9"/>
                  </a:lnTo>
                  <a:lnTo>
                    <a:pt x="260" y="12"/>
                  </a:lnTo>
                  <a:lnTo>
                    <a:pt x="247" y="15"/>
                  </a:lnTo>
                  <a:lnTo>
                    <a:pt x="232" y="17"/>
                  </a:lnTo>
                  <a:lnTo>
                    <a:pt x="217" y="20"/>
                  </a:lnTo>
                  <a:lnTo>
                    <a:pt x="205" y="25"/>
                  </a:lnTo>
                  <a:lnTo>
                    <a:pt x="190" y="31"/>
                  </a:lnTo>
                  <a:lnTo>
                    <a:pt x="176" y="37"/>
                  </a:lnTo>
                  <a:lnTo>
                    <a:pt x="164" y="43"/>
                  </a:lnTo>
                  <a:lnTo>
                    <a:pt x="153" y="49"/>
                  </a:lnTo>
                  <a:lnTo>
                    <a:pt x="141" y="58"/>
                  </a:lnTo>
                  <a:lnTo>
                    <a:pt x="129" y="67"/>
                  </a:lnTo>
                  <a:lnTo>
                    <a:pt x="117" y="76"/>
                  </a:lnTo>
                  <a:lnTo>
                    <a:pt x="105" y="84"/>
                  </a:lnTo>
                  <a:lnTo>
                    <a:pt x="96" y="93"/>
                  </a:lnTo>
                  <a:lnTo>
                    <a:pt x="88" y="104"/>
                  </a:lnTo>
                  <a:lnTo>
                    <a:pt x="76" y="116"/>
                  </a:lnTo>
                  <a:lnTo>
                    <a:pt x="67" y="125"/>
                  </a:lnTo>
                  <a:lnTo>
                    <a:pt x="61" y="136"/>
                  </a:lnTo>
                  <a:lnTo>
                    <a:pt x="52" y="148"/>
                  </a:lnTo>
                  <a:lnTo>
                    <a:pt x="47" y="163"/>
                  </a:lnTo>
                  <a:lnTo>
                    <a:pt x="38" y="175"/>
                  </a:lnTo>
                  <a:lnTo>
                    <a:pt x="32" y="188"/>
                  </a:lnTo>
                  <a:lnTo>
                    <a:pt x="26" y="200"/>
                  </a:lnTo>
                  <a:lnTo>
                    <a:pt x="23" y="215"/>
                  </a:lnTo>
                  <a:lnTo>
                    <a:pt x="20" y="229"/>
                  </a:lnTo>
                  <a:lnTo>
                    <a:pt x="14" y="241"/>
                  </a:lnTo>
                  <a:lnTo>
                    <a:pt x="14" y="256"/>
                  </a:lnTo>
                  <a:lnTo>
                    <a:pt x="11" y="271"/>
                  </a:lnTo>
                  <a:lnTo>
                    <a:pt x="9" y="287"/>
                  </a:lnTo>
                  <a:lnTo>
                    <a:pt x="9" y="302"/>
                  </a:lnTo>
                  <a:lnTo>
                    <a:pt x="0" y="302"/>
                  </a:lnTo>
                </a:path>
              </a:pathLst>
            </a:custGeom>
            <a:solidFill>
              <a:srgbClr val="FF9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143">
              <a:extLst>
                <a:ext uri="{FF2B5EF4-FFF2-40B4-BE49-F238E27FC236}">
                  <a16:creationId xmlns:a16="http://schemas.microsoft.com/office/drawing/2014/main" id="{50110BC3-B57C-4295-8C78-AB0E680F5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3802"/>
              <a:ext cx="611" cy="304"/>
            </a:xfrm>
            <a:custGeom>
              <a:avLst/>
              <a:gdLst>
                <a:gd name="T0" fmla="*/ 0 w 611"/>
                <a:gd name="T1" fmla="*/ 15 h 304"/>
                <a:gd name="T2" fmla="*/ 6 w 611"/>
                <a:gd name="T3" fmla="*/ 61 h 304"/>
                <a:gd name="T4" fmla="*/ 17 w 611"/>
                <a:gd name="T5" fmla="*/ 105 h 304"/>
                <a:gd name="T6" fmla="*/ 38 w 611"/>
                <a:gd name="T7" fmla="*/ 143 h 304"/>
                <a:gd name="T8" fmla="*/ 61 w 611"/>
                <a:gd name="T9" fmla="*/ 180 h 304"/>
                <a:gd name="T10" fmla="*/ 91 w 611"/>
                <a:gd name="T11" fmla="*/ 213 h 304"/>
                <a:gd name="T12" fmla="*/ 123 w 611"/>
                <a:gd name="T13" fmla="*/ 241 h 304"/>
                <a:gd name="T14" fmla="*/ 161 w 611"/>
                <a:gd name="T15" fmla="*/ 265 h 304"/>
                <a:gd name="T16" fmla="*/ 202 w 611"/>
                <a:gd name="T17" fmla="*/ 285 h 304"/>
                <a:gd name="T18" fmla="*/ 244 w 611"/>
                <a:gd name="T19" fmla="*/ 297 h 304"/>
                <a:gd name="T20" fmla="*/ 290 w 611"/>
                <a:gd name="T21" fmla="*/ 303 h 304"/>
                <a:gd name="T22" fmla="*/ 338 w 611"/>
                <a:gd name="T23" fmla="*/ 303 h 304"/>
                <a:gd name="T24" fmla="*/ 381 w 611"/>
                <a:gd name="T25" fmla="*/ 294 h 304"/>
                <a:gd name="T26" fmla="*/ 426 w 611"/>
                <a:gd name="T27" fmla="*/ 279 h 304"/>
                <a:gd name="T28" fmla="*/ 463 w 611"/>
                <a:gd name="T29" fmla="*/ 259 h 304"/>
                <a:gd name="T30" fmla="*/ 499 w 611"/>
                <a:gd name="T31" fmla="*/ 232 h 304"/>
                <a:gd name="T32" fmla="*/ 531 w 611"/>
                <a:gd name="T33" fmla="*/ 204 h 304"/>
                <a:gd name="T34" fmla="*/ 558 w 611"/>
                <a:gd name="T35" fmla="*/ 169 h 304"/>
                <a:gd name="T36" fmla="*/ 581 w 611"/>
                <a:gd name="T37" fmla="*/ 131 h 304"/>
                <a:gd name="T38" fmla="*/ 598 w 611"/>
                <a:gd name="T39" fmla="*/ 90 h 304"/>
                <a:gd name="T40" fmla="*/ 607 w 611"/>
                <a:gd name="T41" fmla="*/ 47 h 304"/>
                <a:gd name="T42" fmla="*/ 610 w 611"/>
                <a:gd name="T43" fmla="*/ 0 h 304"/>
                <a:gd name="T44" fmla="*/ 601 w 611"/>
                <a:gd name="T45" fmla="*/ 29 h 304"/>
                <a:gd name="T46" fmla="*/ 593 w 611"/>
                <a:gd name="T47" fmla="*/ 73 h 304"/>
                <a:gd name="T48" fmla="*/ 578 w 611"/>
                <a:gd name="T49" fmla="*/ 114 h 304"/>
                <a:gd name="T50" fmla="*/ 558 w 611"/>
                <a:gd name="T51" fmla="*/ 151 h 304"/>
                <a:gd name="T52" fmla="*/ 534 w 611"/>
                <a:gd name="T53" fmla="*/ 186 h 304"/>
                <a:gd name="T54" fmla="*/ 505 w 611"/>
                <a:gd name="T55" fmla="*/ 219 h 304"/>
                <a:gd name="T56" fmla="*/ 469 w 611"/>
                <a:gd name="T57" fmla="*/ 241 h 304"/>
                <a:gd name="T58" fmla="*/ 434 w 611"/>
                <a:gd name="T59" fmla="*/ 265 h 304"/>
                <a:gd name="T60" fmla="*/ 393 w 611"/>
                <a:gd name="T61" fmla="*/ 279 h 304"/>
                <a:gd name="T62" fmla="*/ 352 w 611"/>
                <a:gd name="T63" fmla="*/ 291 h 304"/>
                <a:gd name="T64" fmla="*/ 305 w 611"/>
                <a:gd name="T65" fmla="*/ 294 h 304"/>
                <a:gd name="T66" fmla="*/ 260 w 611"/>
                <a:gd name="T67" fmla="*/ 291 h 304"/>
                <a:gd name="T68" fmla="*/ 217 w 611"/>
                <a:gd name="T69" fmla="*/ 279 h 304"/>
                <a:gd name="T70" fmla="*/ 176 w 611"/>
                <a:gd name="T71" fmla="*/ 265 h 304"/>
                <a:gd name="T72" fmla="*/ 141 w 611"/>
                <a:gd name="T73" fmla="*/ 241 h 304"/>
                <a:gd name="T74" fmla="*/ 105 w 611"/>
                <a:gd name="T75" fmla="*/ 219 h 304"/>
                <a:gd name="T76" fmla="*/ 76 w 611"/>
                <a:gd name="T77" fmla="*/ 186 h 304"/>
                <a:gd name="T78" fmla="*/ 52 w 611"/>
                <a:gd name="T79" fmla="*/ 151 h 304"/>
                <a:gd name="T80" fmla="*/ 32 w 611"/>
                <a:gd name="T81" fmla="*/ 114 h 304"/>
                <a:gd name="T82" fmla="*/ 20 w 611"/>
                <a:gd name="T83" fmla="*/ 73 h 304"/>
                <a:gd name="T84" fmla="*/ 11 w 611"/>
                <a:gd name="T85" fmla="*/ 29 h 304"/>
                <a:gd name="T86" fmla="*/ 0 w 611"/>
                <a:gd name="T87" fmla="*/ 0 h 30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11"/>
                <a:gd name="T133" fmla="*/ 0 h 304"/>
                <a:gd name="T134" fmla="*/ 611 w 611"/>
                <a:gd name="T135" fmla="*/ 304 h 30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11" h="304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29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6"/>
                  </a:lnTo>
                  <a:lnTo>
                    <a:pt x="14" y="90"/>
                  </a:lnTo>
                  <a:lnTo>
                    <a:pt x="17" y="105"/>
                  </a:lnTo>
                  <a:lnTo>
                    <a:pt x="23" y="117"/>
                  </a:lnTo>
                  <a:lnTo>
                    <a:pt x="29" y="131"/>
                  </a:lnTo>
                  <a:lnTo>
                    <a:pt x="38" y="143"/>
                  </a:lnTo>
                  <a:lnTo>
                    <a:pt x="44" y="157"/>
                  </a:lnTo>
                  <a:lnTo>
                    <a:pt x="52" y="169"/>
                  </a:lnTo>
                  <a:lnTo>
                    <a:pt x="61" y="180"/>
                  </a:lnTo>
                  <a:lnTo>
                    <a:pt x="70" y="192"/>
                  </a:lnTo>
                  <a:lnTo>
                    <a:pt x="79" y="204"/>
                  </a:lnTo>
                  <a:lnTo>
                    <a:pt x="91" y="213"/>
                  </a:lnTo>
                  <a:lnTo>
                    <a:pt x="99" y="225"/>
                  </a:lnTo>
                  <a:lnTo>
                    <a:pt x="111" y="232"/>
                  </a:lnTo>
                  <a:lnTo>
                    <a:pt x="123" y="241"/>
                  </a:lnTo>
                  <a:lnTo>
                    <a:pt x="135" y="250"/>
                  </a:lnTo>
                  <a:lnTo>
                    <a:pt x="147" y="259"/>
                  </a:lnTo>
                  <a:lnTo>
                    <a:pt x="161" y="265"/>
                  </a:lnTo>
                  <a:lnTo>
                    <a:pt x="173" y="274"/>
                  </a:lnTo>
                  <a:lnTo>
                    <a:pt x="187" y="279"/>
                  </a:lnTo>
                  <a:lnTo>
                    <a:pt x="202" y="285"/>
                  </a:lnTo>
                  <a:lnTo>
                    <a:pt x="214" y="288"/>
                  </a:lnTo>
                  <a:lnTo>
                    <a:pt x="229" y="294"/>
                  </a:lnTo>
                  <a:lnTo>
                    <a:pt x="244" y="297"/>
                  </a:lnTo>
                  <a:lnTo>
                    <a:pt x="258" y="300"/>
                  </a:lnTo>
                  <a:lnTo>
                    <a:pt x="275" y="303"/>
                  </a:lnTo>
                  <a:lnTo>
                    <a:pt x="290" y="303"/>
                  </a:lnTo>
                  <a:lnTo>
                    <a:pt x="305" y="303"/>
                  </a:lnTo>
                  <a:lnTo>
                    <a:pt x="323" y="303"/>
                  </a:lnTo>
                  <a:lnTo>
                    <a:pt x="338" y="303"/>
                  </a:lnTo>
                  <a:lnTo>
                    <a:pt x="352" y="300"/>
                  </a:lnTo>
                  <a:lnTo>
                    <a:pt x="366" y="297"/>
                  </a:lnTo>
                  <a:lnTo>
                    <a:pt x="381" y="294"/>
                  </a:lnTo>
                  <a:lnTo>
                    <a:pt x="396" y="288"/>
                  </a:lnTo>
                  <a:lnTo>
                    <a:pt x="411" y="285"/>
                  </a:lnTo>
                  <a:lnTo>
                    <a:pt x="426" y="279"/>
                  </a:lnTo>
                  <a:lnTo>
                    <a:pt x="437" y="274"/>
                  </a:lnTo>
                  <a:lnTo>
                    <a:pt x="452" y="265"/>
                  </a:lnTo>
                  <a:lnTo>
                    <a:pt x="463" y="259"/>
                  </a:lnTo>
                  <a:lnTo>
                    <a:pt x="475" y="250"/>
                  </a:lnTo>
                  <a:lnTo>
                    <a:pt x="487" y="241"/>
                  </a:lnTo>
                  <a:lnTo>
                    <a:pt x="499" y="232"/>
                  </a:lnTo>
                  <a:lnTo>
                    <a:pt x="510" y="225"/>
                  </a:lnTo>
                  <a:lnTo>
                    <a:pt x="522" y="213"/>
                  </a:lnTo>
                  <a:lnTo>
                    <a:pt x="531" y="204"/>
                  </a:lnTo>
                  <a:lnTo>
                    <a:pt x="540" y="192"/>
                  </a:lnTo>
                  <a:lnTo>
                    <a:pt x="552" y="180"/>
                  </a:lnTo>
                  <a:lnTo>
                    <a:pt x="558" y="169"/>
                  </a:lnTo>
                  <a:lnTo>
                    <a:pt x="566" y="157"/>
                  </a:lnTo>
                  <a:lnTo>
                    <a:pt x="575" y="143"/>
                  </a:lnTo>
                  <a:lnTo>
                    <a:pt x="581" y="131"/>
                  </a:lnTo>
                  <a:lnTo>
                    <a:pt x="587" y="117"/>
                  </a:lnTo>
                  <a:lnTo>
                    <a:pt x="593" y="105"/>
                  </a:lnTo>
                  <a:lnTo>
                    <a:pt x="598" y="90"/>
                  </a:lnTo>
                  <a:lnTo>
                    <a:pt x="601" y="76"/>
                  </a:lnTo>
                  <a:lnTo>
                    <a:pt x="604" y="61"/>
                  </a:lnTo>
                  <a:lnTo>
                    <a:pt x="607" y="47"/>
                  </a:lnTo>
                  <a:lnTo>
                    <a:pt x="610" y="29"/>
                  </a:lnTo>
                  <a:lnTo>
                    <a:pt x="610" y="15"/>
                  </a:lnTo>
                  <a:lnTo>
                    <a:pt x="610" y="0"/>
                  </a:lnTo>
                  <a:lnTo>
                    <a:pt x="601" y="0"/>
                  </a:lnTo>
                  <a:lnTo>
                    <a:pt x="601" y="15"/>
                  </a:lnTo>
                  <a:lnTo>
                    <a:pt x="601" y="29"/>
                  </a:lnTo>
                  <a:lnTo>
                    <a:pt x="598" y="44"/>
                  </a:lnTo>
                  <a:lnTo>
                    <a:pt x="595" y="58"/>
                  </a:lnTo>
                  <a:lnTo>
                    <a:pt x="593" y="73"/>
                  </a:lnTo>
                  <a:lnTo>
                    <a:pt x="587" y="87"/>
                  </a:lnTo>
                  <a:lnTo>
                    <a:pt x="584" y="99"/>
                  </a:lnTo>
                  <a:lnTo>
                    <a:pt x="578" y="114"/>
                  </a:lnTo>
                  <a:lnTo>
                    <a:pt x="572" y="128"/>
                  </a:lnTo>
                  <a:lnTo>
                    <a:pt x="566" y="140"/>
                  </a:lnTo>
                  <a:lnTo>
                    <a:pt x="558" y="151"/>
                  </a:lnTo>
                  <a:lnTo>
                    <a:pt x="552" y="163"/>
                  </a:lnTo>
                  <a:lnTo>
                    <a:pt x="543" y="175"/>
                  </a:lnTo>
                  <a:lnTo>
                    <a:pt x="534" y="186"/>
                  </a:lnTo>
                  <a:lnTo>
                    <a:pt x="525" y="198"/>
                  </a:lnTo>
                  <a:lnTo>
                    <a:pt x="513" y="207"/>
                  </a:lnTo>
                  <a:lnTo>
                    <a:pt x="505" y="219"/>
                  </a:lnTo>
                  <a:lnTo>
                    <a:pt x="493" y="227"/>
                  </a:lnTo>
                  <a:lnTo>
                    <a:pt x="481" y="235"/>
                  </a:lnTo>
                  <a:lnTo>
                    <a:pt x="469" y="241"/>
                  </a:lnTo>
                  <a:lnTo>
                    <a:pt x="458" y="250"/>
                  </a:lnTo>
                  <a:lnTo>
                    <a:pt x="446" y="259"/>
                  </a:lnTo>
                  <a:lnTo>
                    <a:pt x="434" y="265"/>
                  </a:lnTo>
                  <a:lnTo>
                    <a:pt x="420" y="271"/>
                  </a:lnTo>
                  <a:lnTo>
                    <a:pt x="408" y="277"/>
                  </a:lnTo>
                  <a:lnTo>
                    <a:pt x="393" y="279"/>
                  </a:lnTo>
                  <a:lnTo>
                    <a:pt x="378" y="285"/>
                  </a:lnTo>
                  <a:lnTo>
                    <a:pt x="363" y="288"/>
                  </a:lnTo>
                  <a:lnTo>
                    <a:pt x="352" y="291"/>
                  </a:lnTo>
                  <a:lnTo>
                    <a:pt x="338" y="291"/>
                  </a:lnTo>
                  <a:lnTo>
                    <a:pt x="320" y="294"/>
                  </a:lnTo>
                  <a:lnTo>
                    <a:pt x="305" y="294"/>
                  </a:lnTo>
                  <a:lnTo>
                    <a:pt x="290" y="294"/>
                  </a:lnTo>
                  <a:lnTo>
                    <a:pt x="275" y="291"/>
                  </a:lnTo>
                  <a:lnTo>
                    <a:pt x="260" y="291"/>
                  </a:lnTo>
                  <a:lnTo>
                    <a:pt x="247" y="288"/>
                  </a:lnTo>
                  <a:lnTo>
                    <a:pt x="232" y="285"/>
                  </a:lnTo>
                  <a:lnTo>
                    <a:pt x="217" y="279"/>
                  </a:lnTo>
                  <a:lnTo>
                    <a:pt x="205" y="277"/>
                  </a:lnTo>
                  <a:lnTo>
                    <a:pt x="190" y="271"/>
                  </a:lnTo>
                  <a:lnTo>
                    <a:pt x="176" y="265"/>
                  </a:lnTo>
                  <a:lnTo>
                    <a:pt x="164" y="259"/>
                  </a:lnTo>
                  <a:lnTo>
                    <a:pt x="153" y="250"/>
                  </a:lnTo>
                  <a:lnTo>
                    <a:pt x="141" y="241"/>
                  </a:lnTo>
                  <a:lnTo>
                    <a:pt x="129" y="235"/>
                  </a:lnTo>
                  <a:lnTo>
                    <a:pt x="117" y="227"/>
                  </a:lnTo>
                  <a:lnTo>
                    <a:pt x="105" y="219"/>
                  </a:lnTo>
                  <a:lnTo>
                    <a:pt x="96" y="207"/>
                  </a:lnTo>
                  <a:lnTo>
                    <a:pt x="88" y="198"/>
                  </a:lnTo>
                  <a:lnTo>
                    <a:pt x="76" y="186"/>
                  </a:lnTo>
                  <a:lnTo>
                    <a:pt x="67" y="175"/>
                  </a:lnTo>
                  <a:lnTo>
                    <a:pt x="61" y="163"/>
                  </a:lnTo>
                  <a:lnTo>
                    <a:pt x="52" y="151"/>
                  </a:lnTo>
                  <a:lnTo>
                    <a:pt x="47" y="140"/>
                  </a:lnTo>
                  <a:lnTo>
                    <a:pt x="38" y="128"/>
                  </a:lnTo>
                  <a:lnTo>
                    <a:pt x="32" y="114"/>
                  </a:lnTo>
                  <a:lnTo>
                    <a:pt x="26" y="99"/>
                  </a:lnTo>
                  <a:lnTo>
                    <a:pt x="23" y="87"/>
                  </a:lnTo>
                  <a:lnTo>
                    <a:pt x="20" y="73"/>
                  </a:lnTo>
                  <a:lnTo>
                    <a:pt x="14" y="58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144">
              <a:extLst>
                <a:ext uri="{FF2B5EF4-FFF2-40B4-BE49-F238E27FC236}">
                  <a16:creationId xmlns:a16="http://schemas.microsoft.com/office/drawing/2014/main" id="{C43FB1D4-90D1-4EE7-BD44-0CD84F3BE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3503"/>
              <a:ext cx="593" cy="294"/>
            </a:xfrm>
            <a:custGeom>
              <a:avLst/>
              <a:gdLst>
                <a:gd name="T0" fmla="*/ 2 w 593"/>
                <a:gd name="T1" fmla="*/ 262 h 294"/>
                <a:gd name="T2" fmla="*/ 11 w 593"/>
                <a:gd name="T3" fmla="*/ 220 h 294"/>
                <a:gd name="T4" fmla="*/ 23 w 593"/>
                <a:gd name="T5" fmla="*/ 179 h 294"/>
                <a:gd name="T6" fmla="*/ 44 w 593"/>
                <a:gd name="T7" fmla="*/ 139 h 294"/>
                <a:gd name="T8" fmla="*/ 67 w 593"/>
                <a:gd name="T9" fmla="*/ 107 h 294"/>
                <a:gd name="T10" fmla="*/ 96 w 593"/>
                <a:gd name="T11" fmla="*/ 75 h 294"/>
                <a:gd name="T12" fmla="*/ 132 w 593"/>
                <a:gd name="T13" fmla="*/ 49 h 294"/>
                <a:gd name="T14" fmla="*/ 167 w 593"/>
                <a:gd name="T15" fmla="*/ 28 h 294"/>
                <a:gd name="T16" fmla="*/ 208 w 593"/>
                <a:gd name="T17" fmla="*/ 11 h 294"/>
                <a:gd name="T18" fmla="*/ 251 w 593"/>
                <a:gd name="T19" fmla="*/ 3 h 294"/>
                <a:gd name="T20" fmla="*/ 296 w 593"/>
                <a:gd name="T21" fmla="*/ 0 h 294"/>
                <a:gd name="T22" fmla="*/ 343 w 593"/>
                <a:gd name="T23" fmla="*/ 3 h 294"/>
                <a:gd name="T24" fmla="*/ 384 w 593"/>
                <a:gd name="T25" fmla="*/ 11 h 294"/>
                <a:gd name="T26" fmla="*/ 425 w 593"/>
                <a:gd name="T27" fmla="*/ 28 h 294"/>
                <a:gd name="T28" fmla="*/ 460 w 593"/>
                <a:gd name="T29" fmla="*/ 49 h 294"/>
                <a:gd name="T30" fmla="*/ 496 w 593"/>
                <a:gd name="T31" fmla="*/ 75 h 294"/>
                <a:gd name="T32" fmla="*/ 525 w 593"/>
                <a:gd name="T33" fmla="*/ 107 h 294"/>
                <a:gd name="T34" fmla="*/ 548 w 593"/>
                <a:gd name="T35" fmla="*/ 139 h 294"/>
                <a:gd name="T36" fmla="*/ 569 w 593"/>
                <a:gd name="T37" fmla="*/ 179 h 294"/>
                <a:gd name="T38" fmla="*/ 584 w 593"/>
                <a:gd name="T39" fmla="*/ 220 h 294"/>
                <a:gd name="T40" fmla="*/ 592 w 593"/>
                <a:gd name="T41" fmla="*/ 262 h 294"/>
                <a:gd name="T42" fmla="*/ 584 w 593"/>
                <a:gd name="T43" fmla="*/ 293 h 294"/>
                <a:gd name="T44" fmla="*/ 581 w 593"/>
                <a:gd name="T45" fmla="*/ 250 h 294"/>
                <a:gd name="T46" fmla="*/ 569 w 593"/>
                <a:gd name="T47" fmla="*/ 209 h 294"/>
                <a:gd name="T48" fmla="*/ 554 w 593"/>
                <a:gd name="T49" fmla="*/ 169 h 294"/>
                <a:gd name="T50" fmla="*/ 534 w 593"/>
                <a:gd name="T51" fmla="*/ 133 h 294"/>
                <a:gd name="T52" fmla="*/ 510 w 593"/>
                <a:gd name="T53" fmla="*/ 101 h 294"/>
                <a:gd name="T54" fmla="*/ 478 w 593"/>
                <a:gd name="T55" fmla="*/ 73 h 294"/>
                <a:gd name="T56" fmla="*/ 445 w 593"/>
                <a:gd name="T57" fmla="*/ 49 h 294"/>
                <a:gd name="T58" fmla="*/ 408 w 593"/>
                <a:gd name="T59" fmla="*/ 31 h 294"/>
                <a:gd name="T60" fmla="*/ 369 w 593"/>
                <a:gd name="T61" fmla="*/ 17 h 294"/>
                <a:gd name="T62" fmla="*/ 326 w 593"/>
                <a:gd name="T63" fmla="*/ 8 h 294"/>
                <a:gd name="T64" fmla="*/ 281 w 593"/>
                <a:gd name="T65" fmla="*/ 8 h 294"/>
                <a:gd name="T66" fmla="*/ 241 w 593"/>
                <a:gd name="T67" fmla="*/ 14 h 294"/>
                <a:gd name="T68" fmla="*/ 199 w 593"/>
                <a:gd name="T69" fmla="*/ 25 h 294"/>
                <a:gd name="T70" fmla="*/ 161 w 593"/>
                <a:gd name="T71" fmla="*/ 43 h 294"/>
                <a:gd name="T72" fmla="*/ 126 w 593"/>
                <a:gd name="T73" fmla="*/ 64 h 294"/>
                <a:gd name="T74" fmla="*/ 93 w 593"/>
                <a:gd name="T75" fmla="*/ 93 h 294"/>
                <a:gd name="T76" fmla="*/ 67 w 593"/>
                <a:gd name="T77" fmla="*/ 122 h 294"/>
                <a:gd name="T78" fmla="*/ 44 w 593"/>
                <a:gd name="T79" fmla="*/ 157 h 294"/>
                <a:gd name="T80" fmla="*/ 26 w 593"/>
                <a:gd name="T81" fmla="*/ 194 h 294"/>
                <a:gd name="T82" fmla="*/ 14 w 593"/>
                <a:gd name="T83" fmla="*/ 235 h 294"/>
                <a:gd name="T84" fmla="*/ 11 w 593"/>
                <a:gd name="T85" fmla="*/ 278 h 29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93"/>
                <a:gd name="T130" fmla="*/ 0 h 294"/>
                <a:gd name="T131" fmla="*/ 593 w 593"/>
                <a:gd name="T132" fmla="*/ 294 h 29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93" h="294">
                  <a:moveTo>
                    <a:pt x="0" y="293"/>
                  </a:moveTo>
                  <a:lnTo>
                    <a:pt x="0" y="278"/>
                  </a:lnTo>
                  <a:lnTo>
                    <a:pt x="2" y="262"/>
                  </a:lnTo>
                  <a:lnTo>
                    <a:pt x="5" y="247"/>
                  </a:lnTo>
                  <a:lnTo>
                    <a:pt x="5" y="232"/>
                  </a:lnTo>
                  <a:lnTo>
                    <a:pt x="11" y="220"/>
                  </a:lnTo>
                  <a:lnTo>
                    <a:pt x="14" y="206"/>
                  </a:lnTo>
                  <a:lnTo>
                    <a:pt x="17" y="191"/>
                  </a:lnTo>
                  <a:lnTo>
                    <a:pt x="23" y="179"/>
                  </a:lnTo>
                  <a:lnTo>
                    <a:pt x="29" y="166"/>
                  </a:lnTo>
                  <a:lnTo>
                    <a:pt x="38" y="154"/>
                  </a:lnTo>
                  <a:lnTo>
                    <a:pt x="44" y="139"/>
                  </a:lnTo>
                  <a:lnTo>
                    <a:pt x="52" y="127"/>
                  </a:lnTo>
                  <a:lnTo>
                    <a:pt x="58" y="116"/>
                  </a:lnTo>
                  <a:lnTo>
                    <a:pt x="67" y="107"/>
                  </a:lnTo>
                  <a:lnTo>
                    <a:pt x="79" y="95"/>
                  </a:lnTo>
                  <a:lnTo>
                    <a:pt x="87" y="84"/>
                  </a:lnTo>
                  <a:lnTo>
                    <a:pt x="96" y="75"/>
                  </a:lnTo>
                  <a:lnTo>
                    <a:pt x="108" y="67"/>
                  </a:lnTo>
                  <a:lnTo>
                    <a:pt x="120" y="58"/>
                  </a:lnTo>
                  <a:lnTo>
                    <a:pt x="132" y="49"/>
                  </a:lnTo>
                  <a:lnTo>
                    <a:pt x="144" y="40"/>
                  </a:lnTo>
                  <a:lnTo>
                    <a:pt x="155" y="34"/>
                  </a:lnTo>
                  <a:lnTo>
                    <a:pt x="167" y="28"/>
                  </a:lnTo>
                  <a:lnTo>
                    <a:pt x="181" y="23"/>
                  </a:lnTo>
                  <a:lnTo>
                    <a:pt x="196" y="17"/>
                  </a:lnTo>
                  <a:lnTo>
                    <a:pt x="208" y="11"/>
                  </a:lnTo>
                  <a:lnTo>
                    <a:pt x="223" y="8"/>
                  </a:lnTo>
                  <a:lnTo>
                    <a:pt x="238" y="6"/>
                  </a:lnTo>
                  <a:lnTo>
                    <a:pt x="251" y="3"/>
                  </a:lnTo>
                  <a:lnTo>
                    <a:pt x="266" y="0"/>
                  </a:lnTo>
                  <a:lnTo>
                    <a:pt x="281" y="0"/>
                  </a:lnTo>
                  <a:lnTo>
                    <a:pt x="296" y="0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43" y="3"/>
                  </a:lnTo>
                  <a:lnTo>
                    <a:pt x="354" y="6"/>
                  </a:lnTo>
                  <a:lnTo>
                    <a:pt x="369" y="8"/>
                  </a:lnTo>
                  <a:lnTo>
                    <a:pt x="384" y="11"/>
                  </a:lnTo>
                  <a:lnTo>
                    <a:pt x="399" y="17"/>
                  </a:lnTo>
                  <a:lnTo>
                    <a:pt x="411" y="23"/>
                  </a:lnTo>
                  <a:lnTo>
                    <a:pt x="425" y="28"/>
                  </a:lnTo>
                  <a:lnTo>
                    <a:pt x="437" y="34"/>
                  </a:lnTo>
                  <a:lnTo>
                    <a:pt x="448" y="40"/>
                  </a:lnTo>
                  <a:lnTo>
                    <a:pt x="460" y="49"/>
                  </a:lnTo>
                  <a:lnTo>
                    <a:pt x="472" y="58"/>
                  </a:lnTo>
                  <a:lnTo>
                    <a:pt x="484" y="67"/>
                  </a:lnTo>
                  <a:lnTo>
                    <a:pt x="496" y="75"/>
                  </a:lnTo>
                  <a:lnTo>
                    <a:pt x="504" y="84"/>
                  </a:lnTo>
                  <a:lnTo>
                    <a:pt x="516" y="95"/>
                  </a:lnTo>
                  <a:lnTo>
                    <a:pt x="525" y="107"/>
                  </a:lnTo>
                  <a:lnTo>
                    <a:pt x="534" y="116"/>
                  </a:lnTo>
                  <a:lnTo>
                    <a:pt x="543" y="127"/>
                  </a:lnTo>
                  <a:lnTo>
                    <a:pt x="548" y="139"/>
                  </a:lnTo>
                  <a:lnTo>
                    <a:pt x="557" y="154"/>
                  </a:lnTo>
                  <a:lnTo>
                    <a:pt x="563" y="166"/>
                  </a:lnTo>
                  <a:lnTo>
                    <a:pt x="569" y="179"/>
                  </a:lnTo>
                  <a:lnTo>
                    <a:pt x="575" y="191"/>
                  </a:lnTo>
                  <a:lnTo>
                    <a:pt x="578" y="206"/>
                  </a:lnTo>
                  <a:lnTo>
                    <a:pt x="584" y="220"/>
                  </a:lnTo>
                  <a:lnTo>
                    <a:pt x="586" y="232"/>
                  </a:lnTo>
                  <a:lnTo>
                    <a:pt x="589" y="247"/>
                  </a:lnTo>
                  <a:lnTo>
                    <a:pt x="592" y="262"/>
                  </a:lnTo>
                  <a:lnTo>
                    <a:pt x="592" y="278"/>
                  </a:lnTo>
                  <a:lnTo>
                    <a:pt x="592" y="293"/>
                  </a:lnTo>
                  <a:lnTo>
                    <a:pt x="584" y="293"/>
                  </a:lnTo>
                  <a:lnTo>
                    <a:pt x="584" y="278"/>
                  </a:lnTo>
                  <a:lnTo>
                    <a:pt x="581" y="265"/>
                  </a:lnTo>
                  <a:lnTo>
                    <a:pt x="581" y="250"/>
                  </a:lnTo>
                  <a:lnTo>
                    <a:pt x="578" y="235"/>
                  </a:lnTo>
                  <a:lnTo>
                    <a:pt x="575" y="220"/>
                  </a:lnTo>
                  <a:lnTo>
                    <a:pt x="569" y="209"/>
                  </a:lnTo>
                  <a:lnTo>
                    <a:pt x="566" y="194"/>
                  </a:lnTo>
                  <a:lnTo>
                    <a:pt x="560" y="182"/>
                  </a:lnTo>
                  <a:lnTo>
                    <a:pt x="554" y="169"/>
                  </a:lnTo>
                  <a:lnTo>
                    <a:pt x="548" y="157"/>
                  </a:lnTo>
                  <a:lnTo>
                    <a:pt x="543" y="145"/>
                  </a:lnTo>
                  <a:lnTo>
                    <a:pt x="534" y="133"/>
                  </a:lnTo>
                  <a:lnTo>
                    <a:pt x="528" y="122"/>
                  </a:lnTo>
                  <a:lnTo>
                    <a:pt x="519" y="113"/>
                  </a:lnTo>
                  <a:lnTo>
                    <a:pt x="510" y="101"/>
                  </a:lnTo>
                  <a:lnTo>
                    <a:pt x="499" y="93"/>
                  </a:lnTo>
                  <a:lnTo>
                    <a:pt x="490" y="81"/>
                  </a:lnTo>
                  <a:lnTo>
                    <a:pt x="478" y="73"/>
                  </a:lnTo>
                  <a:lnTo>
                    <a:pt x="469" y="64"/>
                  </a:lnTo>
                  <a:lnTo>
                    <a:pt x="457" y="58"/>
                  </a:lnTo>
                  <a:lnTo>
                    <a:pt x="445" y="49"/>
                  </a:lnTo>
                  <a:lnTo>
                    <a:pt x="434" y="43"/>
                  </a:lnTo>
                  <a:lnTo>
                    <a:pt x="419" y="37"/>
                  </a:lnTo>
                  <a:lnTo>
                    <a:pt x="408" y="31"/>
                  </a:lnTo>
                  <a:lnTo>
                    <a:pt x="396" y="25"/>
                  </a:lnTo>
                  <a:lnTo>
                    <a:pt x="381" y="20"/>
                  </a:lnTo>
                  <a:lnTo>
                    <a:pt x="369" y="17"/>
                  </a:lnTo>
                  <a:lnTo>
                    <a:pt x="354" y="14"/>
                  </a:lnTo>
                  <a:lnTo>
                    <a:pt x="340" y="11"/>
                  </a:lnTo>
                  <a:lnTo>
                    <a:pt x="326" y="8"/>
                  </a:lnTo>
                  <a:lnTo>
                    <a:pt x="311" y="8"/>
                  </a:lnTo>
                  <a:lnTo>
                    <a:pt x="296" y="8"/>
                  </a:lnTo>
                  <a:lnTo>
                    <a:pt x="281" y="8"/>
                  </a:lnTo>
                  <a:lnTo>
                    <a:pt x="266" y="8"/>
                  </a:lnTo>
                  <a:lnTo>
                    <a:pt x="251" y="11"/>
                  </a:lnTo>
                  <a:lnTo>
                    <a:pt x="241" y="14"/>
                  </a:lnTo>
                  <a:lnTo>
                    <a:pt x="226" y="17"/>
                  </a:lnTo>
                  <a:lnTo>
                    <a:pt x="211" y="20"/>
                  </a:lnTo>
                  <a:lnTo>
                    <a:pt x="199" y="25"/>
                  </a:lnTo>
                  <a:lnTo>
                    <a:pt x="184" y="31"/>
                  </a:lnTo>
                  <a:lnTo>
                    <a:pt x="172" y="37"/>
                  </a:lnTo>
                  <a:lnTo>
                    <a:pt x="161" y="43"/>
                  </a:lnTo>
                  <a:lnTo>
                    <a:pt x="149" y="49"/>
                  </a:lnTo>
                  <a:lnTo>
                    <a:pt x="138" y="58"/>
                  </a:lnTo>
                  <a:lnTo>
                    <a:pt x="126" y="64"/>
                  </a:lnTo>
                  <a:lnTo>
                    <a:pt x="114" y="73"/>
                  </a:lnTo>
                  <a:lnTo>
                    <a:pt x="105" y="81"/>
                  </a:lnTo>
                  <a:lnTo>
                    <a:pt x="93" y="93"/>
                  </a:lnTo>
                  <a:lnTo>
                    <a:pt x="84" y="101"/>
                  </a:lnTo>
                  <a:lnTo>
                    <a:pt x="76" y="113"/>
                  </a:lnTo>
                  <a:lnTo>
                    <a:pt x="67" y="122"/>
                  </a:lnTo>
                  <a:lnTo>
                    <a:pt x="58" y="133"/>
                  </a:lnTo>
                  <a:lnTo>
                    <a:pt x="52" y="145"/>
                  </a:lnTo>
                  <a:lnTo>
                    <a:pt x="44" y="157"/>
                  </a:lnTo>
                  <a:lnTo>
                    <a:pt x="38" y="169"/>
                  </a:lnTo>
                  <a:lnTo>
                    <a:pt x="32" y="182"/>
                  </a:lnTo>
                  <a:lnTo>
                    <a:pt x="26" y="194"/>
                  </a:lnTo>
                  <a:lnTo>
                    <a:pt x="23" y="209"/>
                  </a:lnTo>
                  <a:lnTo>
                    <a:pt x="20" y="220"/>
                  </a:lnTo>
                  <a:lnTo>
                    <a:pt x="14" y="235"/>
                  </a:lnTo>
                  <a:lnTo>
                    <a:pt x="14" y="250"/>
                  </a:lnTo>
                  <a:lnTo>
                    <a:pt x="11" y="265"/>
                  </a:lnTo>
                  <a:lnTo>
                    <a:pt x="11" y="278"/>
                  </a:lnTo>
                  <a:lnTo>
                    <a:pt x="8" y="293"/>
                  </a:lnTo>
                  <a:lnTo>
                    <a:pt x="0" y="293"/>
                  </a:lnTo>
                </a:path>
              </a:pathLst>
            </a:custGeom>
            <a:solidFill>
              <a:srgbClr val="FFA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Freeform 145">
              <a:extLst>
                <a:ext uri="{FF2B5EF4-FFF2-40B4-BE49-F238E27FC236}">
                  <a16:creationId xmlns:a16="http://schemas.microsoft.com/office/drawing/2014/main" id="{52172FE2-81A8-4F23-9A4F-F1564811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3802"/>
              <a:ext cx="593" cy="295"/>
            </a:xfrm>
            <a:custGeom>
              <a:avLst/>
              <a:gdLst>
                <a:gd name="T0" fmla="*/ 0 w 593"/>
                <a:gd name="T1" fmla="*/ 15 h 295"/>
                <a:gd name="T2" fmla="*/ 5 w 593"/>
                <a:gd name="T3" fmla="*/ 58 h 295"/>
                <a:gd name="T4" fmla="*/ 17 w 593"/>
                <a:gd name="T5" fmla="*/ 99 h 295"/>
                <a:gd name="T6" fmla="*/ 38 w 593"/>
                <a:gd name="T7" fmla="*/ 140 h 295"/>
                <a:gd name="T8" fmla="*/ 58 w 593"/>
                <a:gd name="T9" fmla="*/ 174 h 295"/>
                <a:gd name="T10" fmla="*/ 87 w 593"/>
                <a:gd name="T11" fmla="*/ 207 h 295"/>
                <a:gd name="T12" fmla="*/ 120 w 593"/>
                <a:gd name="T13" fmla="*/ 235 h 295"/>
                <a:gd name="T14" fmla="*/ 155 w 593"/>
                <a:gd name="T15" fmla="*/ 259 h 295"/>
                <a:gd name="T16" fmla="*/ 196 w 593"/>
                <a:gd name="T17" fmla="*/ 276 h 295"/>
                <a:gd name="T18" fmla="*/ 238 w 593"/>
                <a:gd name="T19" fmla="*/ 288 h 295"/>
                <a:gd name="T20" fmla="*/ 281 w 593"/>
                <a:gd name="T21" fmla="*/ 294 h 295"/>
                <a:gd name="T22" fmla="*/ 329 w 593"/>
                <a:gd name="T23" fmla="*/ 291 h 295"/>
                <a:gd name="T24" fmla="*/ 369 w 593"/>
                <a:gd name="T25" fmla="*/ 285 h 295"/>
                <a:gd name="T26" fmla="*/ 411 w 593"/>
                <a:gd name="T27" fmla="*/ 270 h 295"/>
                <a:gd name="T28" fmla="*/ 448 w 593"/>
                <a:gd name="T29" fmla="*/ 250 h 295"/>
                <a:gd name="T30" fmla="*/ 484 w 593"/>
                <a:gd name="T31" fmla="*/ 227 h 295"/>
                <a:gd name="T32" fmla="*/ 516 w 593"/>
                <a:gd name="T33" fmla="*/ 198 h 295"/>
                <a:gd name="T34" fmla="*/ 543 w 593"/>
                <a:gd name="T35" fmla="*/ 163 h 295"/>
                <a:gd name="T36" fmla="*/ 563 w 593"/>
                <a:gd name="T37" fmla="*/ 128 h 295"/>
                <a:gd name="T38" fmla="*/ 578 w 593"/>
                <a:gd name="T39" fmla="*/ 87 h 295"/>
                <a:gd name="T40" fmla="*/ 589 w 593"/>
                <a:gd name="T41" fmla="*/ 44 h 295"/>
                <a:gd name="T42" fmla="*/ 592 w 593"/>
                <a:gd name="T43" fmla="*/ 0 h 295"/>
                <a:gd name="T44" fmla="*/ 581 w 593"/>
                <a:gd name="T45" fmla="*/ 29 h 295"/>
                <a:gd name="T46" fmla="*/ 575 w 593"/>
                <a:gd name="T47" fmla="*/ 70 h 295"/>
                <a:gd name="T48" fmla="*/ 560 w 593"/>
                <a:gd name="T49" fmla="*/ 111 h 295"/>
                <a:gd name="T50" fmla="*/ 543 w 593"/>
                <a:gd name="T51" fmla="*/ 148 h 295"/>
                <a:gd name="T52" fmla="*/ 519 w 593"/>
                <a:gd name="T53" fmla="*/ 180 h 295"/>
                <a:gd name="T54" fmla="*/ 490 w 593"/>
                <a:gd name="T55" fmla="*/ 210 h 295"/>
                <a:gd name="T56" fmla="*/ 457 w 593"/>
                <a:gd name="T57" fmla="*/ 235 h 295"/>
                <a:gd name="T58" fmla="*/ 419 w 593"/>
                <a:gd name="T59" fmla="*/ 256 h 295"/>
                <a:gd name="T60" fmla="*/ 381 w 593"/>
                <a:gd name="T61" fmla="*/ 270 h 295"/>
                <a:gd name="T62" fmla="*/ 340 w 593"/>
                <a:gd name="T63" fmla="*/ 282 h 295"/>
                <a:gd name="T64" fmla="*/ 296 w 593"/>
                <a:gd name="T65" fmla="*/ 285 h 295"/>
                <a:gd name="T66" fmla="*/ 251 w 593"/>
                <a:gd name="T67" fmla="*/ 282 h 295"/>
                <a:gd name="T68" fmla="*/ 211 w 593"/>
                <a:gd name="T69" fmla="*/ 270 h 295"/>
                <a:gd name="T70" fmla="*/ 172 w 593"/>
                <a:gd name="T71" fmla="*/ 256 h 295"/>
                <a:gd name="T72" fmla="*/ 138 w 593"/>
                <a:gd name="T73" fmla="*/ 235 h 295"/>
                <a:gd name="T74" fmla="*/ 105 w 593"/>
                <a:gd name="T75" fmla="*/ 210 h 295"/>
                <a:gd name="T76" fmla="*/ 76 w 593"/>
                <a:gd name="T77" fmla="*/ 180 h 295"/>
                <a:gd name="T78" fmla="*/ 52 w 593"/>
                <a:gd name="T79" fmla="*/ 148 h 295"/>
                <a:gd name="T80" fmla="*/ 32 w 593"/>
                <a:gd name="T81" fmla="*/ 111 h 295"/>
                <a:gd name="T82" fmla="*/ 20 w 593"/>
                <a:gd name="T83" fmla="*/ 70 h 295"/>
                <a:gd name="T84" fmla="*/ 11 w 593"/>
                <a:gd name="T85" fmla="*/ 29 h 295"/>
                <a:gd name="T86" fmla="*/ 0 w 593"/>
                <a:gd name="T87" fmla="*/ 0 h 29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93"/>
                <a:gd name="T133" fmla="*/ 0 h 295"/>
                <a:gd name="T134" fmla="*/ 593 w 593"/>
                <a:gd name="T135" fmla="*/ 295 h 29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93" h="295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2" y="29"/>
                  </a:lnTo>
                  <a:lnTo>
                    <a:pt x="5" y="44"/>
                  </a:lnTo>
                  <a:lnTo>
                    <a:pt x="5" y="58"/>
                  </a:lnTo>
                  <a:lnTo>
                    <a:pt x="11" y="73"/>
                  </a:lnTo>
                  <a:lnTo>
                    <a:pt x="14" y="87"/>
                  </a:lnTo>
                  <a:lnTo>
                    <a:pt x="17" y="99"/>
                  </a:lnTo>
                  <a:lnTo>
                    <a:pt x="23" y="114"/>
                  </a:lnTo>
                  <a:lnTo>
                    <a:pt x="29" y="128"/>
                  </a:lnTo>
                  <a:lnTo>
                    <a:pt x="38" y="140"/>
                  </a:lnTo>
                  <a:lnTo>
                    <a:pt x="44" y="151"/>
                  </a:lnTo>
                  <a:lnTo>
                    <a:pt x="52" y="163"/>
                  </a:lnTo>
                  <a:lnTo>
                    <a:pt x="58" y="174"/>
                  </a:lnTo>
                  <a:lnTo>
                    <a:pt x="67" y="186"/>
                  </a:lnTo>
                  <a:lnTo>
                    <a:pt x="79" y="198"/>
                  </a:lnTo>
                  <a:lnTo>
                    <a:pt x="87" y="207"/>
                  </a:lnTo>
                  <a:lnTo>
                    <a:pt x="96" y="219"/>
                  </a:lnTo>
                  <a:lnTo>
                    <a:pt x="108" y="227"/>
                  </a:lnTo>
                  <a:lnTo>
                    <a:pt x="120" y="235"/>
                  </a:lnTo>
                  <a:lnTo>
                    <a:pt x="132" y="241"/>
                  </a:lnTo>
                  <a:lnTo>
                    <a:pt x="144" y="250"/>
                  </a:lnTo>
                  <a:lnTo>
                    <a:pt x="155" y="259"/>
                  </a:lnTo>
                  <a:lnTo>
                    <a:pt x="167" y="265"/>
                  </a:lnTo>
                  <a:lnTo>
                    <a:pt x="181" y="270"/>
                  </a:lnTo>
                  <a:lnTo>
                    <a:pt x="196" y="276"/>
                  </a:lnTo>
                  <a:lnTo>
                    <a:pt x="208" y="279"/>
                  </a:lnTo>
                  <a:lnTo>
                    <a:pt x="223" y="285"/>
                  </a:lnTo>
                  <a:lnTo>
                    <a:pt x="238" y="288"/>
                  </a:lnTo>
                  <a:lnTo>
                    <a:pt x="251" y="291"/>
                  </a:lnTo>
                  <a:lnTo>
                    <a:pt x="266" y="291"/>
                  </a:lnTo>
                  <a:lnTo>
                    <a:pt x="281" y="294"/>
                  </a:lnTo>
                  <a:lnTo>
                    <a:pt x="296" y="294"/>
                  </a:lnTo>
                  <a:lnTo>
                    <a:pt x="311" y="294"/>
                  </a:lnTo>
                  <a:lnTo>
                    <a:pt x="329" y="291"/>
                  </a:lnTo>
                  <a:lnTo>
                    <a:pt x="343" y="291"/>
                  </a:lnTo>
                  <a:lnTo>
                    <a:pt x="354" y="288"/>
                  </a:lnTo>
                  <a:lnTo>
                    <a:pt x="369" y="285"/>
                  </a:lnTo>
                  <a:lnTo>
                    <a:pt x="384" y="279"/>
                  </a:lnTo>
                  <a:lnTo>
                    <a:pt x="399" y="276"/>
                  </a:lnTo>
                  <a:lnTo>
                    <a:pt x="411" y="270"/>
                  </a:lnTo>
                  <a:lnTo>
                    <a:pt x="425" y="265"/>
                  </a:lnTo>
                  <a:lnTo>
                    <a:pt x="437" y="259"/>
                  </a:lnTo>
                  <a:lnTo>
                    <a:pt x="448" y="250"/>
                  </a:lnTo>
                  <a:lnTo>
                    <a:pt x="460" y="241"/>
                  </a:lnTo>
                  <a:lnTo>
                    <a:pt x="472" y="235"/>
                  </a:lnTo>
                  <a:lnTo>
                    <a:pt x="484" y="227"/>
                  </a:lnTo>
                  <a:lnTo>
                    <a:pt x="496" y="219"/>
                  </a:lnTo>
                  <a:lnTo>
                    <a:pt x="504" y="207"/>
                  </a:lnTo>
                  <a:lnTo>
                    <a:pt x="516" y="198"/>
                  </a:lnTo>
                  <a:lnTo>
                    <a:pt x="525" y="186"/>
                  </a:lnTo>
                  <a:lnTo>
                    <a:pt x="534" y="174"/>
                  </a:lnTo>
                  <a:lnTo>
                    <a:pt x="543" y="163"/>
                  </a:lnTo>
                  <a:lnTo>
                    <a:pt x="548" y="151"/>
                  </a:lnTo>
                  <a:lnTo>
                    <a:pt x="557" y="140"/>
                  </a:lnTo>
                  <a:lnTo>
                    <a:pt x="563" y="128"/>
                  </a:lnTo>
                  <a:lnTo>
                    <a:pt x="569" y="114"/>
                  </a:lnTo>
                  <a:lnTo>
                    <a:pt x="575" y="99"/>
                  </a:lnTo>
                  <a:lnTo>
                    <a:pt x="578" y="87"/>
                  </a:lnTo>
                  <a:lnTo>
                    <a:pt x="584" y="73"/>
                  </a:lnTo>
                  <a:lnTo>
                    <a:pt x="586" y="58"/>
                  </a:lnTo>
                  <a:lnTo>
                    <a:pt x="589" y="44"/>
                  </a:lnTo>
                  <a:lnTo>
                    <a:pt x="592" y="29"/>
                  </a:lnTo>
                  <a:lnTo>
                    <a:pt x="592" y="15"/>
                  </a:lnTo>
                  <a:lnTo>
                    <a:pt x="592" y="0"/>
                  </a:lnTo>
                  <a:lnTo>
                    <a:pt x="584" y="0"/>
                  </a:lnTo>
                  <a:lnTo>
                    <a:pt x="584" y="15"/>
                  </a:lnTo>
                  <a:lnTo>
                    <a:pt x="581" y="29"/>
                  </a:lnTo>
                  <a:lnTo>
                    <a:pt x="581" y="44"/>
                  </a:lnTo>
                  <a:lnTo>
                    <a:pt x="578" y="56"/>
                  </a:lnTo>
                  <a:lnTo>
                    <a:pt x="575" y="70"/>
                  </a:lnTo>
                  <a:lnTo>
                    <a:pt x="569" y="84"/>
                  </a:lnTo>
                  <a:lnTo>
                    <a:pt x="566" y="96"/>
                  </a:lnTo>
                  <a:lnTo>
                    <a:pt x="560" y="111"/>
                  </a:lnTo>
                  <a:lnTo>
                    <a:pt x="554" y="123"/>
                  </a:lnTo>
                  <a:lnTo>
                    <a:pt x="548" y="134"/>
                  </a:lnTo>
                  <a:lnTo>
                    <a:pt x="543" y="148"/>
                  </a:lnTo>
                  <a:lnTo>
                    <a:pt x="534" y="157"/>
                  </a:lnTo>
                  <a:lnTo>
                    <a:pt x="528" y="169"/>
                  </a:lnTo>
                  <a:lnTo>
                    <a:pt x="519" y="180"/>
                  </a:lnTo>
                  <a:lnTo>
                    <a:pt x="510" y="192"/>
                  </a:lnTo>
                  <a:lnTo>
                    <a:pt x="499" y="201"/>
                  </a:lnTo>
                  <a:lnTo>
                    <a:pt x="490" y="210"/>
                  </a:lnTo>
                  <a:lnTo>
                    <a:pt x="478" y="219"/>
                  </a:lnTo>
                  <a:lnTo>
                    <a:pt x="469" y="227"/>
                  </a:lnTo>
                  <a:lnTo>
                    <a:pt x="457" y="235"/>
                  </a:lnTo>
                  <a:lnTo>
                    <a:pt x="445" y="241"/>
                  </a:lnTo>
                  <a:lnTo>
                    <a:pt x="434" y="250"/>
                  </a:lnTo>
                  <a:lnTo>
                    <a:pt x="419" y="256"/>
                  </a:lnTo>
                  <a:lnTo>
                    <a:pt x="408" y="262"/>
                  </a:lnTo>
                  <a:lnTo>
                    <a:pt x="396" y="268"/>
                  </a:lnTo>
                  <a:lnTo>
                    <a:pt x="381" y="270"/>
                  </a:lnTo>
                  <a:lnTo>
                    <a:pt x="369" y="276"/>
                  </a:lnTo>
                  <a:lnTo>
                    <a:pt x="354" y="279"/>
                  </a:lnTo>
                  <a:lnTo>
                    <a:pt x="340" y="282"/>
                  </a:lnTo>
                  <a:lnTo>
                    <a:pt x="326" y="282"/>
                  </a:lnTo>
                  <a:lnTo>
                    <a:pt x="311" y="285"/>
                  </a:lnTo>
                  <a:lnTo>
                    <a:pt x="296" y="285"/>
                  </a:lnTo>
                  <a:lnTo>
                    <a:pt x="281" y="285"/>
                  </a:lnTo>
                  <a:lnTo>
                    <a:pt x="266" y="282"/>
                  </a:lnTo>
                  <a:lnTo>
                    <a:pt x="251" y="282"/>
                  </a:lnTo>
                  <a:lnTo>
                    <a:pt x="241" y="279"/>
                  </a:lnTo>
                  <a:lnTo>
                    <a:pt x="226" y="276"/>
                  </a:lnTo>
                  <a:lnTo>
                    <a:pt x="211" y="270"/>
                  </a:lnTo>
                  <a:lnTo>
                    <a:pt x="199" y="268"/>
                  </a:lnTo>
                  <a:lnTo>
                    <a:pt x="184" y="262"/>
                  </a:lnTo>
                  <a:lnTo>
                    <a:pt x="172" y="256"/>
                  </a:lnTo>
                  <a:lnTo>
                    <a:pt x="161" y="250"/>
                  </a:lnTo>
                  <a:lnTo>
                    <a:pt x="149" y="241"/>
                  </a:lnTo>
                  <a:lnTo>
                    <a:pt x="138" y="235"/>
                  </a:lnTo>
                  <a:lnTo>
                    <a:pt x="126" y="227"/>
                  </a:lnTo>
                  <a:lnTo>
                    <a:pt x="114" y="219"/>
                  </a:lnTo>
                  <a:lnTo>
                    <a:pt x="105" y="210"/>
                  </a:lnTo>
                  <a:lnTo>
                    <a:pt x="93" y="201"/>
                  </a:lnTo>
                  <a:lnTo>
                    <a:pt x="84" y="192"/>
                  </a:lnTo>
                  <a:lnTo>
                    <a:pt x="76" y="180"/>
                  </a:lnTo>
                  <a:lnTo>
                    <a:pt x="67" y="169"/>
                  </a:lnTo>
                  <a:lnTo>
                    <a:pt x="58" y="157"/>
                  </a:lnTo>
                  <a:lnTo>
                    <a:pt x="52" y="148"/>
                  </a:lnTo>
                  <a:lnTo>
                    <a:pt x="44" y="134"/>
                  </a:lnTo>
                  <a:lnTo>
                    <a:pt x="38" y="123"/>
                  </a:lnTo>
                  <a:lnTo>
                    <a:pt x="32" y="111"/>
                  </a:lnTo>
                  <a:lnTo>
                    <a:pt x="26" y="96"/>
                  </a:lnTo>
                  <a:lnTo>
                    <a:pt x="23" y="84"/>
                  </a:lnTo>
                  <a:lnTo>
                    <a:pt x="20" y="70"/>
                  </a:lnTo>
                  <a:lnTo>
                    <a:pt x="14" y="56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11" y="1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A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6" name="Freeform 146">
              <a:extLst>
                <a:ext uri="{FF2B5EF4-FFF2-40B4-BE49-F238E27FC236}">
                  <a16:creationId xmlns:a16="http://schemas.microsoft.com/office/drawing/2014/main" id="{0D46EDA3-FCC9-44D2-BD38-87C478506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511"/>
              <a:ext cx="577" cy="286"/>
            </a:xfrm>
            <a:custGeom>
              <a:avLst/>
              <a:gdLst>
                <a:gd name="T0" fmla="*/ 3 w 577"/>
                <a:gd name="T1" fmla="*/ 257 h 286"/>
                <a:gd name="T2" fmla="*/ 12 w 577"/>
                <a:gd name="T3" fmla="*/ 213 h 286"/>
                <a:gd name="T4" fmla="*/ 24 w 577"/>
                <a:gd name="T5" fmla="*/ 174 h 286"/>
                <a:gd name="T6" fmla="*/ 45 w 577"/>
                <a:gd name="T7" fmla="*/ 137 h 286"/>
                <a:gd name="T8" fmla="*/ 68 w 577"/>
                <a:gd name="T9" fmla="*/ 105 h 286"/>
                <a:gd name="T10" fmla="*/ 97 w 577"/>
                <a:gd name="T11" fmla="*/ 73 h 286"/>
                <a:gd name="T12" fmla="*/ 130 w 577"/>
                <a:gd name="T13" fmla="*/ 50 h 286"/>
                <a:gd name="T14" fmla="*/ 164 w 577"/>
                <a:gd name="T15" fmla="*/ 29 h 286"/>
                <a:gd name="T16" fmla="*/ 203 w 577"/>
                <a:gd name="T17" fmla="*/ 12 h 286"/>
                <a:gd name="T18" fmla="*/ 243 w 577"/>
                <a:gd name="T19" fmla="*/ 3 h 286"/>
                <a:gd name="T20" fmla="*/ 288 w 577"/>
                <a:gd name="T21" fmla="*/ 0 h 286"/>
                <a:gd name="T22" fmla="*/ 332 w 577"/>
                <a:gd name="T23" fmla="*/ 3 h 286"/>
                <a:gd name="T24" fmla="*/ 373 w 577"/>
                <a:gd name="T25" fmla="*/ 12 h 286"/>
                <a:gd name="T26" fmla="*/ 411 w 577"/>
                <a:gd name="T27" fmla="*/ 29 h 286"/>
                <a:gd name="T28" fmla="*/ 449 w 577"/>
                <a:gd name="T29" fmla="*/ 50 h 286"/>
                <a:gd name="T30" fmla="*/ 482 w 577"/>
                <a:gd name="T31" fmla="*/ 73 h 286"/>
                <a:gd name="T32" fmla="*/ 511 w 577"/>
                <a:gd name="T33" fmla="*/ 105 h 286"/>
                <a:gd name="T34" fmla="*/ 534 w 577"/>
                <a:gd name="T35" fmla="*/ 137 h 286"/>
                <a:gd name="T36" fmla="*/ 552 w 577"/>
                <a:gd name="T37" fmla="*/ 174 h 286"/>
                <a:gd name="T38" fmla="*/ 567 w 577"/>
                <a:gd name="T39" fmla="*/ 213 h 286"/>
                <a:gd name="T40" fmla="*/ 573 w 577"/>
                <a:gd name="T41" fmla="*/ 257 h 286"/>
                <a:gd name="T42" fmla="*/ 567 w 577"/>
                <a:gd name="T43" fmla="*/ 285 h 286"/>
                <a:gd name="T44" fmla="*/ 564 w 577"/>
                <a:gd name="T45" fmla="*/ 242 h 286"/>
                <a:gd name="T46" fmla="*/ 552 w 577"/>
                <a:gd name="T47" fmla="*/ 204 h 286"/>
                <a:gd name="T48" fmla="*/ 537 w 577"/>
                <a:gd name="T49" fmla="*/ 166 h 286"/>
                <a:gd name="T50" fmla="*/ 520 w 577"/>
                <a:gd name="T51" fmla="*/ 131 h 286"/>
                <a:gd name="T52" fmla="*/ 493 w 577"/>
                <a:gd name="T53" fmla="*/ 99 h 286"/>
                <a:gd name="T54" fmla="*/ 464 w 577"/>
                <a:gd name="T55" fmla="*/ 73 h 286"/>
                <a:gd name="T56" fmla="*/ 432 w 577"/>
                <a:gd name="T57" fmla="*/ 50 h 286"/>
                <a:gd name="T58" fmla="*/ 397 w 577"/>
                <a:gd name="T59" fmla="*/ 29 h 286"/>
                <a:gd name="T60" fmla="*/ 358 w 577"/>
                <a:gd name="T61" fmla="*/ 18 h 286"/>
                <a:gd name="T62" fmla="*/ 318 w 577"/>
                <a:gd name="T63" fmla="*/ 9 h 286"/>
                <a:gd name="T64" fmla="*/ 273 w 577"/>
                <a:gd name="T65" fmla="*/ 9 h 286"/>
                <a:gd name="T66" fmla="*/ 233 w 577"/>
                <a:gd name="T67" fmla="*/ 15 h 286"/>
                <a:gd name="T68" fmla="*/ 194 w 577"/>
                <a:gd name="T69" fmla="*/ 26 h 286"/>
                <a:gd name="T70" fmla="*/ 156 w 577"/>
                <a:gd name="T71" fmla="*/ 41 h 286"/>
                <a:gd name="T72" fmla="*/ 124 w 577"/>
                <a:gd name="T73" fmla="*/ 65 h 286"/>
                <a:gd name="T74" fmla="*/ 91 w 577"/>
                <a:gd name="T75" fmla="*/ 90 h 286"/>
                <a:gd name="T76" fmla="*/ 65 w 577"/>
                <a:gd name="T77" fmla="*/ 119 h 286"/>
                <a:gd name="T78" fmla="*/ 45 w 577"/>
                <a:gd name="T79" fmla="*/ 155 h 286"/>
                <a:gd name="T80" fmla="*/ 27 w 577"/>
                <a:gd name="T81" fmla="*/ 189 h 286"/>
                <a:gd name="T82" fmla="*/ 15 w 577"/>
                <a:gd name="T83" fmla="*/ 230 h 286"/>
                <a:gd name="T84" fmla="*/ 12 w 577"/>
                <a:gd name="T85" fmla="*/ 270 h 28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77"/>
                <a:gd name="T130" fmla="*/ 0 h 286"/>
                <a:gd name="T131" fmla="*/ 577 w 577"/>
                <a:gd name="T132" fmla="*/ 286 h 28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77" h="286">
                  <a:moveTo>
                    <a:pt x="0" y="285"/>
                  </a:moveTo>
                  <a:lnTo>
                    <a:pt x="3" y="270"/>
                  </a:lnTo>
                  <a:lnTo>
                    <a:pt x="3" y="257"/>
                  </a:lnTo>
                  <a:lnTo>
                    <a:pt x="6" y="242"/>
                  </a:lnTo>
                  <a:lnTo>
                    <a:pt x="6" y="227"/>
                  </a:lnTo>
                  <a:lnTo>
                    <a:pt x="12" y="213"/>
                  </a:lnTo>
                  <a:lnTo>
                    <a:pt x="15" y="201"/>
                  </a:lnTo>
                  <a:lnTo>
                    <a:pt x="18" y="186"/>
                  </a:lnTo>
                  <a:lnTo>
                    <a:pt x="24" y="174"/>
                  </a:lnTo>
                  <a:lnTo>
                    <a:pt x="30" y="161"/>
                  </a:lnTo>
                  <a:lnTo>
                    <a:pt x="36" y="149"/>
                  </a:lnTo>
                  <a:lnTo>
                    <a:pt x="45" y="137"/>
                  </a:lnTo>
                  <a:lnTo>
                    <a:pt x="50" y="125"/>
                  </a:lnTo>
                  <a:lnTo>
                    <a:pt x="59" y="114"/>
                  </a:lnTo>
                  <a:lnTo>
                    <a:pt x="68" y="105"/>
                  </a:lnTo>
                  <a:lnTo>
                    <a:pt x="76" y="93"/>
                  </a:lnTo>
                  <a:lnTo>
                    <a:pt x="85" y="85"/>
                  </a:lnTo>
                  <a:lnTo>
                    <a:pt x="97" y="73"/>
                  </a:lnTo>
                  <a:lnTo>
                    <a:pt x="106" y="65"/>
                  </a:lnTo>
                  <a:lnTo>
                    <a:pt x="118" y="56"/>
                  </a:lnTo>
                  <a:lnTo>
                    <a:pt x="130" y="50"/>
                  </a:lnTo>
                  <a:lnTo>
                    <a:pt x="142" y="41"/>
                  </a:lnTo>
                  <a:lnTo>
                    <a:pt x="153" y="35"/>
                  </a:lnTo>
                  <a:lnTo>
                    <a:pt x="164" y="29"/>
                  </a:lnTo>
                  <a:lnTo>
                    <a:pt x="176" y="24"/>
                  </a:lnTo>
                  <a:lnTo>
                    <a:pt x="191" y="18"/>
                  </a:lnTo>
                  <a:lnTo>
                    <a:pt x="203" y="12"/>
                  </a:lnTo>
                  <a:lnTo>
                    <a:pt x="218" y="9"/>
                  </a:lnTo>
                  <a:lnTo>
                    <a:pt x="233" y="6"/>
                  </a:lnTo>
                  <a:lnTo>
                    <a:pt x="243" y="3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8" y="0"/>
                  </a:lnTo>
                  <a:lnTo>
                    <a:pt x="303" y="0"/>
                  </a:lnTo>
                  <a:lnTo>
                    <a:pt x="318" y="0"/>
                  </a:lnTo>
                  <a:lnTo>
                    <a:pt x="332" y="3"/>
                  </a:lnTo>
                  <a:lnTo>
                    <a:pt x="346" y="6"/>
                  </a:lnTo>
                  <a:lnTo>
                    <a:pt x="361" y="9"/>
                  </a:lnTo>
                  <a:lnTo>
                    <a:pt x="373" y="12"/>
                  </a:lnTo>
                  <a:lnTo>
                    <a:pt x="388" y="18"/>
                  </a:lnTo>
                  <a:lnTo>
                    <a:pt x="400" y="24"/>
                  </a:lnTo>
                  <a:lnTo>
                    <a:pt x="411" y="29"/>
                  </a:lnTo>
                  <a:lnTo>
                    <a:pt x="426" y="35"/>
                  </a:lnTo>
                  <a:lnTo>
                    <a:pt x="437" y="41"/>
                  </a:lnTo>
                  <a:lnTo>
                    <a:pt x="449" y="50"/>
                  </a:lnTo>
                  <a:lnTo>
                    <a:pt x="461" y="56"/>
                  </a:lnTo>
                  <a:lnTo>
                    <a:pt x="470" y="65"/>
                  </a:lnTo>
                  <a:lnTo>
                    <a:pt x="482" y="73"/>
                  </a:lnTo>
                  <a:lnTo>
                    <a:pt x="491" y="85"/>
                  </a:lnTo>
                  <a:lnTo>
                    <a:pt x="502" y="93"/>
                  </a:lnTo>
                  <a:lnTo>
                    <a:pt x="511" y="105"/>
                  </a:lnTo>
                  <a:lnTo>
                    <a:pt x="520" y="114"/>
                  </a:lnTo>
                  <a:lnTo>
                    <a:pt x="526" y="125"/>
                  </a:lnTo>
                  <a:lnTo>
                    <a:pt x="534" y="137"/>
                  </a:lnTo>
                  <a:lnTo>
                    <a:pt x="540" y="149"/>
                  </a:lnTo>
                  <a:lnTo>
                    <a:pt x="546" y="161"/>
                  </a:lnTo>
                  <a:lnTo>
                    <a:pt x="552" y="174"/>
                  </a:lnTo>
                  <a:lnTo>
                    <a:pt x="558" y="186"/>
                  </a:lnTo>
                  <a:lnTo>
                    <a:pt x="561" y="201"/>
                  </a:lnTo>
                  <a:lnTo>
                    <a:pt x="567" y="213"/>
                  </a:lnTo>
                  <a:lnTo>
                    <a:pt x="570" y="227"/>
                  </a:lnTo>
                  <a:lnTo>
                    <a:pt x="573" y="242"/>
                  </a:lnTo>
                  <a:lnTo>
                    <a:pt x="573" y="257"/>
                  </a:lnTo>
                  <a:lnTo>
                    <a:pt x="576" y="270"/>
                  </a:lnTo>
                  <a:lnTo>
                    <a:pt x="576" y="285"/>
                  </a:lnTo>
                  <a:lnTo>
                    <a:pt x="567" y="285"/>
                  </a:lnTo>
                  <a:lnTo>
                    <a:pt x="567" y="270"/>
                  </a:lnTo>
                  <a:lnTo>
                    <a:pt x="564" y="257"/>
                  </a:lnTo>
                  <a:lnTo>
                    <a:pt x="564" y="242"/>
                  </a:lnTo>
                  <a:lnTo>
                    <a:pt x="561" y="230"/>
                  </a:lnTo>
                  <a:lnTo>
                    <a:pt x="558" y="215"/>
                  </a:lnTo>
                  <a:lnTo>
                    <a:pt x="552" y="204"/>
                  </a:lnTo>
                  <a:lnTo>
                    <a:pt x="549" y="189"/>
                  </a:lnTo>
                  <a:lnTo>
                    <a:pt x="543" y="177"/>
                  </a:lnTo>
                  <a:lnTo>
                    <a:pt x="537" y="166"/>
                  </a:lnTo>
                  <a:lnTo>
                    <a:pt x="531" y="155"/>
                  </a:lnTo>
                  <a:lnTo>
                    <a:pt x="526" y="143"/>
                  </a:lnTo>
                  <a:lnTo>
                    <a:pt x="520" y="131"/>
                  </a:lnTo>
                  <a:lnTo>
                    <a:pt x="511" y="119"/>
                  </a:lnTo>
                  <a:lnTo>
                    <a:pt x="502" y="111"/>
                  </a:lnTo>
                  <a:lnTo>
                    <a:pt x="493" y="99"/>
                  </a:lnTo>
                  <a:lnTo>
                    <a:pt x="485" y="90"/>
                  </a:lnTo>
                  <a:lnTo>
                    <a:pt x="476" y="82"/>
                  </a:lnTo>
                  <a:lnTo>
                    <a:pt x="464" y="73"/>
                  </a:lnTo>
                  <a:lnTo>
                    <a:pt x="455" y="65"/>
                  </a:lnTo>
                  <a:lnTo>
                    <a:pt x="443" y="56"/>
                  </a:lnTo>
                  <a:lnTo>
                    <a:pt x="432" y="50"/>
                  </a:lnTo>
                  <a:lnTo>
                    <a:pt x="420" y="41"/>
                  </a:lnTo>
                  <a:lnTo>
                    <a:pt x="409" y="35"/>
                  </a:lnTo>
                  <a:lnTo>
                    <a:pt x="397" y="29"/>
                  </a:lnTo>
                  <a:lnTo>
                    <a:pt x="385" y="26"/>
                  </a:lnTo>
                  <a:lnTo>
                    <a:pt x="370" y="21"/>
                  </a:lnTo>
                  <a:lnTo>
                    <a:pt x="358" y="18"/>
                  </a:lnTo>
                  <a:lnTo>
                    <a:pt x="343" y="15"/>
                  </a:lnTo>
                  <a:lnTo>
                    <a:pt x="332" y="12"/>
                  </a:lnTo>
                  <a:lnTo>
                    <a:pt x="318" y="9"/>
                  </a:lnTo>
                  <a:lnTo>
                    <a:pt x="303" y="9"/>
                  </a:lnTo>
                  <a:lnTo>
                    <a:pt x="288" y="9"/>
                  </a:lnTo>
                  <a:lnTo>
                    <a:pt x="273" y="9"/>
                  </a:lnTo>
                  <a:lnTo>
                    <a:pt x="261" y="9"/>
                  </a:lnTo>
                  <a:lnTo>
                    <a:pt x="246" y="12"/>
                  </a:lnTo>
                  <a:lnTo>
                    <a:pt x="233" y="15"/>
                  </a:lnTo>
                  <a:lnTo>
                    <a:pt x="221" y="18"/>
                  </a:lnTo>
                  <a:lnTo>
                    <a:pt x="206" y="21"/>
                  </a:lnTo>
                  <a:lnTo>
                    <a:pt x="194" y="26"/>
                  </a:lnTo>
                  <a:lnTo>
                    <a:pt x="179" y="29"/>
                  </a:lnTo>
                  <a:lnTo>
                    <a:pt x="167" y="35"/>
                  </a:lnTo>
                  <a:lnTo>
                    <a:pt x="156" y="41"/>
                  </a:lnTo>
                  <a:lnTo>
                    <a:pt x="144" y="50"/>
                  </a:lnTo>
                  <a:lnTo>
                    <a:pt x="133" y="56"/>
                  </a:lnTo>
                  <a:lnTo>
                    <a:pt x="124" y="65"/>
                  </a:lnTo>
                  <a:lnTo>
                    <a:pt x="112" y="73"/>
                  </a:lnTo>
                  <a:lnTo>
                    <a:pt x="103" y="82"/>
                  </a:lnTo>
                  <a:lnTo>
                    <a:pt x="91" y="90"/>
                  </a:lnTo>
                  <a:lnTo>
                    <a:pt x="82" y="99"/>
                  </a:lnTo>
                  <a:lnTo>
                    <a:pt x="74" y="111"/>
                  </a:lnTo>
                  <a:lnTo>
                    <a:pt x="65" y="119"/>
                  </a:lnTo>
                  <a:lnTo>
                    <a:pt x="59" y="131"/>
                  </a:lnTo>
                  <a:lnTo>
                    <a:pt x="50" y="143"/>
                  </a:lnTo>
                  <a:lnTo>
                    <a:pt x="45" y="155"/>
                  </a:lnTo>
                  <a:lnTo>
                    <a:pt x="39" y="166"/>
                  </a:lnTo>
                  <a:lnTo>
                    <a:pt x="33" y="177"/>
                  </a:lnTo>
                  <a:lnTo>
                    <a:pt x="27" y="189"/>
                  </a:lnTo>
                  <a:lnTo>
                    <a:pt x="24" y="204"/>
                  </a:lnTo>
                  <a:lnTo>
                    <a:pt x="21" y="215"/>
                  </a:lnTo>
                  <a:lnTo>
                    <a:pt x="15" y="230"/>
                  </a:lnTo>
                  <a:lnTo>
                    <a:pt x="15" y="242"/>
                  </a:lnTo>
                  <a:lnTo>
                    <a:pt x="12" y="257"/>
                  </a:lnTo>
                  <a:lnTo>
                    <a:pt x="12" y="270"/>
                  </a:lnTo>
                  <a:lnTo>
                    <a:pt x="12" y="285"/>
                  </a:lnTo>
                  <a:lnTo>
                    <a:pt x="0" y="285"/>
                  </a:lnTo>
                </a:path>
              </a:pathLst>
            </a:custGeom>
            <a:solidFill>
              <a:srgbClr val="FFA6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Freeform 147">
              <a:extLst>
                <a:ext uri="{FF2B5EF4-FFF2-40B4-BE49-F238E27FC236}">
                  <a16:creationId xmlns:a16="http://schemas.microsoft.com/office/drawing/2014/main" id="{7DA31D7B-FAE0-472E-9CA2-17996CE10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802"/>
              <a:ext cx="577" cy="286"/>
            </a:xfrm>
            <a:custGeom>
              <a:avLst/>
              <a:gdLst>
                <a:gd name="T0" fmla="*/ 3 w 577"/>
                <a:gd name="T1" fmla="*/ 15 h 286"/>
                <a:gd name="T2" fmla="*/ 6 w 577"/>
                <a:gd name="T3" fmla="*/ 56 h 286"/>
                <a:gd name="T4" fmla="*/ 18 w 577"/>
                <a:gd name="T5" fmla="*/ 96 h 286"/>
                <a:gd name="T6" fmla="*/ 36 w 577"/>
                <a:gd name="T7" fmla="*/ 134 h 286"/>
                <a:gd name="T8" fmla="*/ 59 w 577"/>
                <a:gd name="T9" fmla="*/ 168 h 286"/>
                <a:gd name="T10" fmla="*/ 85 w 577"/>
                <a:gd name="T11" fmla="*/ 201 h 286"/>
                <a:gd name="T12" fmla="*/ 118 w 577"/>
                <a:gd name="T13" fmla="*/ 227 h 286"/>
                <a:gd name="T14" fmla="*/ 153 w 577"/>
                <a:gd name="T15" fmla="*/ 250 h 286"/>
                <a:gd name="T16" fmla="*/ 191 w 577"/>
                <a:gd name="T17" fmla="*/ 267 h 286"/>
                <a:gd name="T18" fmla="*/ 233 w 577"/>
                <a:gd name="T19" fmla="*/ 279 h 286"/>
                <a:gd name="T20" fmla="*/ 273 w 577"/>
                <a:gd name="T21" fmla="*/ 285 h 286"/>
                <a:gd name="T22" fmla="*/ 318 w 577"/>
                <a:gd name="T23" fmla="*/ 282 h 286"/>
                <a:gd name="T24" fmla="*/ 361 w 577"/>
                <a:gd name="T25" fmla="*/ 276 h 286"/>
                <a:gd name="T26" fmla="*/ 400 w 577"/>
                <a:gd name="T27" fmla="*/ 261 h 286"/>
                <a:gd name="T28" fmla="*/ 437 w 577"/>
                <a:gd name="T29" fmla="*/ 241 h 286"/>
                <a:gd name="T30" fmla="*/ 470 w 577"/>
                <a:gd name="T31" fmla="*/ 218 h 286"/>
                <a:gd name="T32" fmla="*/ 502 w 577"/>
                <a:gd name="T33" fmla="*/ 192 h 286"/>
                <a:gd name="T34" fmla="*/ 526 w 577"/>
                <a:gd name="T35" fmla="*/ 157 h 286"/>
                <a:gd name="T36" fmla="*/ 546 w 577"/>
                <a:gd name="T37" fmla="*/ 122 h 286"/>
                <a:gd name="T38" fmla="*/ 561 w 577"/>
                <a:gd name="T39" fmla="*/ 84 h 286"/>
                <a:gd name="T40" fmla="*/ 573 w 577"/>
                <a:gd name="T41" fmla="*/ 44 h 286"/>
                <a:gd name="T42" fmla="*/ 576 w 577"/>
                <a:gd name="T43" fmla="*/ 0 h 286"/>
                <a:gd name="T44" fmla="*/ 564 w 577"/>
                <a:gd name="T45" fmla="*/ 26 h 286"/>
                <a:gd name="T46" fmla="*/ 558 w 577"/>
                <a:gd name="T47" fmla="*/ 67 h 286"/>
                <a:gd name="T48" fmla="*/ 543 w 577"/>
                <a:gd name="T49" fmla="*/ 108 h 286"/>
                <a:gd name="T50" fmla="*/ 526 w 577"/>
                <a:gd name="T51" fmla="*/ 143 h 286"/>
                <a:gd name="T52" fmla="*/ 502 w 577"/>
                <a:gd name="T53" fmla="*/ 174 h 286"/>
                <a:gd name="T54" fmla="*/ 476 w 577"/>
                <a:gd name="T55" fmla="*/ 204 h 286"/>
                <a:gd name="T56" fmla="*/ 443 w 577"/>
                <a:gd name="T57" fmla="*/ 227 h 286"/>
                <a:gd name="T58" fmla="*/ 409 w 577"/>
                <a:gd name="T59" fmla="*/ 247 h 286"/>
                <a:gd name="T60" fmla="*/ 370 w 577"/>
                <a:gd name="T61" fmla="*/ 261 h 286"/>
                <a:gd name="T62" fmla="*/ 332 w 577"/>
                <a:gd name="T63" fmla="*/ 270 h 286"/>
                <a:gd name="T64" fmla="*/ 288 w 577"/>
                <a:gd name="T65" fmla="*/ 276 h 286"/>
                <a:gd name="T66" fmla="*/ 246 w 577"/>
                <a:gd name="T67" fmla="*/ 270 h 286"/>
                <a:gd name="T68" fmla="*/ 206 w 577"/>
                <a:gd name="T69" fmla="*/ 261 h 286"/>
                <a:gd name="T70" fmla="*/ 167 w 577"/>
                <a:gd name="T71" fmla="*/ 247 h 286"/>
                <a:gd name="T72" fmla="*/ 133 w 577"/>
                <a:gd name="T73" fmla="*/ 227 h 286"/>
                <a:gd name="T74" fmla="*/ 103 w 577"/>
                <a:gd name="T75" fmla="*/ 204 h 286"/>
                <a:gd name="T76" fmla="*/ 74 w 577"/>
                <a:gd name="T77" fmla="*/ 174 h 286"/>
                <a:gd name="T78" fmla="*/ 50 w 577"/>
                <a:gd name="T79" fmla="*/ 143 h 286"/>
                <a:gd name="T80" fmla="*/ 33 w 577"/>
                <a:gd name="T81" fmla="*/ 108 h 286"/>
                <a:gd name="T82" fmla="*/ 21 w 577"/>
                <a:gd name="T83" fmla="*/ 67 h 286"/>
                <a:gd name="T84" fmla="*/ 12 w 577"/>
                <a:gd name="T85" fmla="*/ 26 h 286"/>
                <a:gd name="T86" fmla="*/ 0 w 577"/>
                <a:gd name="T87" fmla="*/ 0 h 28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77"/>
                <a:gd name="T133" fmla="*/ 0 h 286"/>
                <a:gd name="T134" fmla="*/ 577 w 577"/>
                <a:gd name="T135" fmla="*/ 286 h 28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77" h="286">
                  <a:moveTo>
                    <a:pt x="0" y="0"/>
                  </a:moveTo>
                  <a:lnTo>
                    <a:pt x="0" y="0"/>
                  </a:lnTo>
                  <a:lnTo>
                    <a:pt x="3" y="15"/>
                  </a:lnTo>
                  <a:lnTo>
                    <a:pt x="3" y="29"/>
                  </a:lnTo>
                  <a:lnTo>
                    <a:pt x="6" y="44"/>
                  </a:lnTo>
                  <a:lnTo>
                    <a:pt x="6" y="56"/>
                  </a:lnTo>
                  <a:lnTo>
                    <a:pt x="12" y="70"/>
                  </a:lnTo>
                  <a:lnTo>
                    <a:pt x="15" y="84"/>
                  </a:lnTo>
                  <a:lnTo>
                    <a:pt x="18" y="96"/>
                  </a:lnTo>
                  <a:lnTo>
                    <a:pt x="24" y="111"/>
                  </a:lnTo>
                  <a:lnTo>
                    <a:pt x="30" y="122"/>
                  </a:lnTo>
                  <a:lnTo>
                    <a:pt x="36" y="134"/>
                  </a:lnTo>
                  <a:lnTo>
                    <a:pt x="45" y="148"/>
                  </a:lnTo>
                  <a:lnTo>
                    <a:pt x="50" y="157"/>
                  </a:lnTo>
                  <a:lnTo>
                    <a:pt x="59" y="168"/>
                  </a:lnTo>
                  <a:lnTo>
                    <a:pt x="68" y="180"/>
                  </a:lnTo>
                  <a:lnTo>
                    <a:pt x="76" y="192"/>
                  </a:lnTo>
                  <a:lnTo>
                    <a:pt x="85" y="201"/>
                  </a:lnTo>
                  <a:lnTo>
                    <a:pt x="97" y="210"/>
                  </a:lnTo>
                  <a:lnTo>
                    <a:pt x="106" y="218"/>
                  </a:lnTo>
                  <a:lnTo>
                    <a:pt x="118" y="227"/>
                  </a:lnTo>
                  <a:lnTo>
                    <a:pt x="130" y="235"/>
                  </a:lnTo>
                  <a:lnTo>
                    <a:pt x="142" y="241"/>
                  </a:lnTo>
                  <a:lnTo>
                    <a:pt x="153" y="250"/>
                  </a:lnTo>
                  <a:lnTo>
                    <a:pt x="164" y="256"/>
                  </a:lnTo>
                  <a:lnTo>
                    <a:pt x="176" y="261"/>
                  </a:lnTo>
                  <a:lnTo>
                    <a:pt x="191" y="267"/>
                  </a:lnTo>
                  <a:lnTo>
                    <a:pt x="203" y="270"/>
                  </a:lnTo>
                  <a:lnTo>
                    <a:pt x="218" y="276"/>
                  </a:lnTo>
                  <a:lnTo>
                    <a:pt x="233" y="279"/>
                  </a:lnTo>
                  <a:lnTo>
                    <a:pt x="243" y="282"/>
                  </a:lnTo>
                  <a:lnTo>
                    <a:pt x="258" y="282"/>
                  </a:lnTo>
                  <a:lnTo>
                    <a:pt x="273" y="285"/>
                  </a:lnTo>
                  <a:lnTo>
                    <a:pt x="288" y="285"/>
                  </a:lnTo>
                  <a:lnTo>
                    <a:pt x="303" y="285"/>
                  </a:lnTo>
                  <a:lnTo>
                    <a:pt x="318" y="282"/>
                  </a:lnTo>
                  <a:lnTo>
                    <a:pt x="332" y="282"/>
                  </a:lnTo>
                  <a:lnTo>
                    <a:pt x="346" y="279"/>
                  </a:lnTo>
                  <a:lnTo>
                    <a:pt x="361" y="276"/>
                  </a:lnTo>
                  <a:lnTo>
                    <a:pt x="373" y="270"/>
                  </a:lnTo>
                  <a:lnTo>
                    <a:pt x="388" y="267"/>
                  </a:lnTo>
                  <a:lnTo>
                    <a:pt x="400" y="261"/>
                  </a:lnTo>
                  <a:lnTo>
                    <a:pt x="411" y="256"/>
                  </a:lnTo>
                  <a:lnTo>
                    <a:pt x="426" y="250"/>
                  </a:lnTo>
                  <a:lnTo>
                    <a:pt x="437" y="241"/>
                  </a:lnTo>
                  <a:lnTo>
                    <a:pt x="449" y="235"/>
                  </a:lnTo>
                  <a:lnTo>
                    <a:pt x="461" y="227"/>
                  </a:lnTo>
                  <a:lnTo>
                    <a:pt x="470" y="218"/>
                  </a:lnTo>
                  <a:lnTo>
                    <a:pt x="482" y="210"/>
                  </a:lnTo>
                  <a:lnTo>
                    <a:pt x="491" y="201"/>
                  </a:lnTo>
                  <a:lnTo>
                    <a:pt x="502" y="192"/>
                  </a:lnTo>
                  <a:lnTo>
                    <a:pt x="511" y="180"/>
                  </a:lnTo>
                  <a:lnTo>
                    <a:pt x="520" y="168"/>
                  </a:lnTo>
                  <a:lnTo>
                    <a:pt x="526" y="157"/>
                  </a:lnTo>
                  <a:lnTo>
                    <a:pt x="534" y="148"/>
                  </a:lnTo>
                  <a:lnTo>
                    <a:pt x="540" y="134"/>
                  </a:lnTo>
                  <a:lnTo>
                    <a:pt x="546" y="122"/>
                  </a:lnTo>
                  <a:lnTo>
                    <a:pt x="552" y="111"/>
                  </a:lnTo>
                  <a:lnTo>
                    <a:pt x="558" y="96"/>
                  </a:lnTo>
                  <a:lnTo>
                    <a:pt x="561" y="84"/>
                  </a:lnTo>
                  <a:lnTo>
                    <a:pt x="567" y="70"/>
                  </a:lnTo>
                  <a:lnTo>
                    <a:pt x="570" y="56"/>
                  </a:lnTo>
                  <a:lnTo>
                    <a:pt x="573" y="44"/>
                  </a:lnTo>
                  <a:lnTo>
                    <a:pt x="573" y="29"/>
                  </a:lnTo>
                  <a:lnTo>
                    <a:pt x="576" y="15"/>
                  </a:lnTo>
                  <a:lnTo>
                    <a:pt x="576" y="0"/>
                  </a:lnTo>
                  <a:lnTo>
                    <a:pt x="567" y="0"/>
                  </a:lnTo>
                  <a:lnTo>
                    <a:pt x="567" y="15"/>
                  </a:lnTo>
                  <a:lnTo>
                    <a:pt x="564" y="26"/>
                  </a:lnTo>
                  <a:lnTo>
                    <a:pt x="564" y="41"/>
                  </a:lnTo>
                  <a:lnTo>
                    <a:pt x="561" y="56"/>
                  </a:lnTo>
                  <a:lnTo>
                    <a:pt x="558" y="67"/>
                  </a:lnTo>
                  <a:lnTo>
                    <a:pt x="552" y="81"/>
                  </a:lnTo>
                  <a:lnTo>
                    <a:pt x="549" y="93"/>
                  </a:lnTo>
                  <a:lnTo>
                    <a:pt x="543" y="108"/>
                  </a:lnTo>
                  <a:lnTo>
                    <a:pt x="537" y="119"/>
                  </a:lnTo>
                  <a:lnTo>
                    <a:pt x="531" y="131"/>
                  </a:lnTo>
                  <a:lnTo>
                    <a:pt x="526" y="143"/>
                  </a:lnTo>
                  <a:lnTo>
                    <a:pt x="520" y="154"/>
                  </a:lnTo>
                  <a:lnTo>
                    <a:pt x="511" y="166"/>
                  </a:lnTo>
                  <a:lnTo>
                    <a:pt x="502" y="174"/>
                  </a:lnTo>
                  <a:lnTo>
                    <a:pt x="493" y="183"/>
                  </a:lnTo>
                  <a:lnTo>
                    <a:pt x="485" y="195"/>
                  </a:lnTo>
                  <a:lnTo>
                    <a:pt x="476" y="204"/>
                  </a:lnTo>
                  <a:lnTo>
                    <a:pt x="464" y="213"/>
                  </a:lnTo>
                  <a:lnTo>
                    <a:pt x="455" y="221"/>
                  </a:lnTo>
                  <a:lnTo>
                    <a:pt x="443" y="227"/>
                  </a:lnTo>
                  <a:lnTo>
                    <a:pt x="432" y="235"/>
                  </a:lnTo>
                  <a:lnTo>
                    <a:pt x="420" y="241"/>
                  </a:lnTo>
                  <a:lnTo>
                    <a:pt x="409" y="247"/>
                  </a:lnTo>
                  <a:lnTo>
                    <a:pt x="397" y="253"/>
                  </a:lnTo>
                  <a:lnTo>
                    <a:pt x="385" y="259"/>
                  </a:lnTo>
                  <a:lnTo>
                    <a:pt x="370" y="261"/>
                  </a:lnTo>
                  <a:lnTo>
                    <a:pt x="358" y="267"/>
                  </a:lnTo>
                  <a:lnTo>
                    <a:pt x="343" y="270"/>
                  </a:lnTo>
                  <a:lnTo>
                    <a:pt x="332" y="270"/>
                  </a:lnTo>
                  <a:lnTo>
                    <a:pt x="318" y="273"/>
                  </a:lnTo>
                  <a:lnTo>
                    <a:pt x="303" y="273"/>
                  </a:lnTo>
                  <a:lnTo>
                    <a:pt x="288" y="276"/>
                  </a:lnTo>
                  <a:lnTo>
                    <a:pt x="273" y="273"/>
                  </a:lnTo>
                  <a:lnTo>
                    <a:pt x="261" y="273"/>
                  </a:lnTo>
                  <a:lnTo>
                    <a:pt x="246" y="270"/>
                  </a:lnTo>
                  <a:lnTo>
                    <a:pt x="233" y="270"/>
                  </a:lnTo>
                  <a:lnTo>
                    <a:pt x="221" y="267"/>
                  </a:lnTo>
                  <a:lnTo>
                    <a:pt x="206" y="261"/>
                  </a:lnTo>
                  <a:lnTo>
                    <a:pt x="194" y="259"/>
                  </a:lnTo>
                  <a:lnTo>
                    <a:pt x="179" y="253"/>
                  </a:lnTo>
                  <a:lnTo>
                    <a:pt x="167" y="247"/>
                  </a:lnTo>
                  <a:lnTo>
                    <a:pt x="156" y="241"/>
                  </a:lnTo>
                  <a:lnTo>
                    <a:pt x="144" y="235"/>
                  </a:lnTo>
                  <a:lnTo>
                    <a:pt x="133" y="227"/>
                  </a:lnTo>
                  <a:lnTo>
                    <a:pt x="124" y="221"/>
                  </a:lnTo>
                  <a:lnTo>
                    <a:pt x="112" y="213"/>
                  </a:lnTo>
                  <a:lnTo>
                    <a:pt x="103" y="204"/>
                  </a:lnTo>
                  <a:lnTo>
                    <a:pt x="91" y="195"/>
                  </a:lnTo>
                  <a:lnTo>
                    <a:pt x="82" y="183"/>
                  </a:lnTo>
                  <a:lnTo>
                    <a:pt x="74" y="174"/>
                  </a:lnTo>
                  <a:lnTo>
                    <a:pt x="65" y="166"/>
                  </a:lnTo>
                  <a:lnTo>
                    <a:pt x="59" y="154"/>
                  </a:lnTo>
                  <a:lnTo>
                    <a:pt x="50" y="143"/>
                  </a:lnTo>
                  <a:lnTo>
                    <a:pt x="45" y="131"/>
                  </a:lnTo>
                  <a:lnTo>
                    <a:pt x="39" y="119"/>
                  </a:lnTo>
                  <a:lnTo>
                    <a:pt x="33" y="108"/>
                  </a:lnTo>
                  <a:lnTo>
                    <a:pt x="27" y="93"/>
                  </a:lnTo>
                  <a:lnTo>
                    <a:pt x="24" y="81"/>
                  </a:lnTo>
                  <a:lnTo>
                    <a:pt x="21" y="67"/>
                  </a:lnTo>
                  <a:lnTo>
                    <a:pt x="15" y="56"/>
                  </a:lnTo>
                  <a:lnTo>
                    <a:pt x="15" y="41"/>
                  </a:lnTo>
                  <a:lnTo>
                    <a:pt x="12" y="26"/>
                  </a:lnTo>
                  <a:lnTo>
                    <a:pt x="12" y="1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A6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Freeform 148">
              <a:extLst>
                <a:ext uri="{FF2B5EF4-FFF2-40B4-BE49-F238E27FC236}">
                  <a16:creationId xmlns:a16="http://schemas.microsoft.com/office/drawing/2014/main" id="{C8ABD14D-68C0-4BE4-BA7B-EB3614655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3520"/>
              <a:ext cx="556" cy="277"/>
            </a:xfrm>
            <a:custGeom>
              <a:avLst/>
              <a:gdLst>
                <a:gd name="T0" fmla="*/ 0 w 556"/>
                <a:gd name="T1" fmla="*/ 248 h 277"/>
                <a:gd name="T2" fmla="*/ 9 w 556"/>
                <a:gd name="T3" fmla="*/ 207 h 277"/>
                <a:gd name="T4" fmla="*/ 21 w 556"/>
                <a:gd name="T5" fmla="*/ 168 h 277"/>
                <a:gd name="T6" fmla="*/ 39 w 556"/>
                <a:gd name="T7" fmla="*/ 134 h 277"/>
                <a:gd name="T8" fmla="*/ 62 w 556"/>
                <a:gd name="T9" fmla="*/ 102 h 277"/>
                <a:gd name="T10" fmla="*/ 91 w 556"/>
                <a:gd name="T11" fmla="*/ 73 h 277"/>
                <a:gd name="T12" fmla="*/ 121 w 556"/>
                <a:gd name="T13" fmla="*/ 47 h 277"/>
                <a:gd name="T14" fmla="*/ 155 w 556"/>
                <a:gd name="T15" fmla="*/ 26 h 277"/>
                <a:gd name="T16" fmla="*/ 194 w 556"/>
                <a:gd name="T17" fmla="*/ 12 h 277"/>
                <a:gd name="T18" fmla="*/ 234 w 556"/>
                <a:gd name="T19" fmla="*/ 3 h 277"/>
                <a:gd name="T20" fmla="*/ 276 w 556"/>
                <a:gd name="T21" fmla="*/ 0 h 277"/>
                <a:gd name="T22" fmla="*/ 320 w 556"/>
                <a:gd name="T23" fmla="*/ 3 h 277"/>
                <a:gd name="T24" fmla="*/ 358 w 556"/>
                <a:gd name="T25" fmla="*/ 12 h 277"/>
                <a:gd name="T26" fmla="*/ 397 w 556"/>
                <a:gd name="T27" fmla="*/ 26 h 277"/>
                <a:gd name="T28" fmla="*/ 431 w 556"/>
                <a:gd name="T29" fmla="*/ 47 h 277"/>
                <a:gd name="T30" fmla="*/ 464 w 556"/>
                <a:gd name="T31" fmla="*/ 73 h 277"/>
                <a:gd name="T32" fmla="*/ 490 w 556"/>
                <a:gd name="T33" fmla="*/ 102 h 277"/>
                <a:gd name="T34" fmla="*/ 513 w 556"/>
                <a:gd name="T35" fmla="*/ 134 h 277"/>
                <a:gd name="T36" fmla="*/ 531 w 556"/>
                <a:gd name="T37" fmla="*/ 168 h 277"/>
                <a:gd name="T38" fmla="*/ 546 w 556"/>
                <a:gd name="T39" fmla="*/ 207 h 277"/>
                <a:gd name="T40" fmla="*/ 552 w 556"/>
                <a:gd name="T41" fmla="*/ 248 h 277"/>
                <a:gd name="T42" fmla="*/ 546 w 556"/>
                <a:gd name="T43" fmla="*/ 276 h 277"/>
                <a:gd name="T44" fmla="*/ 540 w 556"/>
                <a:gd name="T45" fmla="*/ 236 h 277"/>
                <a:gd name="T46" fmla="*/ 531 w 556"/>
                <a:gd name="T47" fmla="*/ 198 h 277"/>
                <a:gd name="T48" fmla="*/ 519 w 556"/>
                <a:gd name="T49" fmla="*/ 161 h 277"/>
                <a:gd name="T50" fmla="*/ 499 w 556"/>
                <a:gd name="T51" fmla="*/ 128 h 277"/>
                <a:gd name="T52" fmla="*/ 476 w 556"/>
                <a:gd name="T53" fmla="*/ 96 h 277"/>
                <a:gd name="T54" fmla="*/ 446 w 556"/>
                <a:gd name="T55" fmla="*/ 70 h 277"/>
                <a:gd name="T56" fmla="*/ 414 w 556"/>
                <a:gd name="T57" fmla="*/ 50 h 277"/>
                <a:gd name="T58" fmla="*/ 382 w 556"/>
                <a:gd name="T59" fmla="*/ 29 h 277"/>
                <a:gd name="T60" fmla="*/ 343 w 556"/>
                <a:gd name="T61" fmla="*/ 18 h 277"/>
                <a:gd name="T62" fmla="*/ 306 w 556"/>
                <a:gd name="T63" fmla="*/ 12 h 277"/>
                <a:gd name="T64" fmla="*/ 264 w 556"/>
                <a:gd name="T65" fmla="*/ 9 h 277"/>
                <a:gd name="T66" fmla="*/ 224 w 556"/>
                <a:gd name="T67" fmla="*/ 15 h 277"/>
                <a:gd name="T68" fmla="*/ 185 w 556"/>
                <a:gd name="T69" fmla="*/ 26 h 277"/>
                <a:gd name="T70" fmla="*/ 149 w 556"/>
                <a:gd name="T71" fmla="*/ 41 h 277"/>
                <a:gd name="T72" fmla="*/ 118 w 556"/>
                <a:gd name="T73" fmla="*/ 62 h 277"/>
                <a:gd name="T74" fmla="*/ 88 w 556"/>
                <a:gd name="T75" fmla="*/ 87 h 277"/>
                <a:gd name="T76" fmla="*/ 62 w 556"/>
                <a:gd name="T77" fmla="*/ 116 h 277"/>
                <a:gd name="T78" fmla="*/ 42 w 556"/>
                <a:gd name="T79" fmla="*/ 149 h 277"/>
                <a:gd name="T80" fmla="*/ 24 w 556"/>
                <a:gd name="T81" fmla="*/ 183 h 277"/>
                <a:gd name="T82" fmla="*/ 15 w 556"/>
                <a:gd name="T83" fmla="*/ 221 h 277"/>
                <a:gd name="T84" fmla="*/ 9 w 556"/>
                <a:gd name="T85" fmla="*/ 261 h 2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56"/>
                <a:gd name="T130" fmla="*/ 0 h 277"/>
                <a:gd name="T131" fmla="*/ 556 w 556"/>
                <a:gd name="T132" fmla="*/ 277 h 2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56" h="277">
                  <a:moveTo>
                    <a:pt x="0" y="276"/>
                  </a:moveTo>
                  <a:lnTo>
                    <a:pt x="0" y="261"/>
                  </a:lnTo>
                  <a:lnTo>
                    <a:pt x="0" y="248"/>
                  </a:lnTo>
                  <a:lnTo>
                    <a:pt x="3" y="233"/>
                  </a:lnTo>
                  <a:lnTo>
                    <a:pt x="3" y="221"/>
                  </a:lnTo>
                  <a:lnTo>
                    <a:pt x="9" y="207"/>
                  </a:lnTo>
                  <a:lnTo>
                    <a:pt x="12" y="195"/>
                  </a:lnTo>
                  <a:lnTo>
                    <a:pt x="15" y="180"/>
                  </a:lnTo>
                  <a:lnTo>
                    <a:pt x="21" y="168"/>
                  </a:lnTo>
                  <a:lnTo>
                    <a:pt x="27" y="158"/>
                  </a:lnTo>
                  <a:lnTo>
                    <a:pt x="33" y="146"/>
                  </a:lnTo>
                  <a:lnTo>
                    <a:pt x="39" y="134"/>
                  </a:lnTo>
                  <a:lnTo>
                    <a:pt x="47" y="122"/>
                  </a:lnTo>
                  <a:lnTo>
                    <a:pt x="53" y="111"/>
                  </a:lnTo>
                  <a:lnTo>
                    <a:pt x="62" y="102"/>
                  </a:lnTo>
                  <a:lnTo>
                    <a:pt x="70" y="90"/>
                  </a:lnTo>
                  <a:lnTo>
                    <a:pt x="79" y="81"/>
                  </a:lnTo>
                  <a:lnTo>
                    <a:pt x="91" y="73"/>
                  </a:lnTo>
                  <a:lnTo>
                    <a:pt x="100" y="65"/>
                  </a:lnTo>
                  <a:lnTo>
                    <a:pt x="112" y="56"/>
                  </a:lnTo>
                  <a:lnTo>
                    <a:pt x="121" y="47"/>
                  </a:lnTo>
                  <a:lnTo>
                    <a:pt x="133" y="41"/>
                  </a:lnTo>
                  <a:lnTo>
                    <a:pt x="144" y="32"/>
                  </a:lnTo>
                  <a:lnTo>
                    <a:pt x="155" y="26"/>
                  </a:lnTo>
                  <a:lnTo>
                    <a:pt x="167" y="21"/>
                  </a:lnTo>
                  <a:lnTo>
                    <a:pt x="182" y="18"/>
                  </a:lnTo>
                  <a:lnTo>
                    <a:pt x="194" y="12"/>
                  </a:lnTo>
                  <a:lnTo>
                    <a:pt x="209" y="9"/>
                  </a:lnTo>
                  <a:lnTo>
                    <a:pt x="221" y="6"/>
                  </a:lnTo>
                  <a:lnTo>
                    <a:pt x="234" y="3"/>
                  </a:lnTo>
                  <a:lnTo>
                    <a:pt x="249" y="0"/>
                  </a:lnTo>
                  <a:lnTo>
                    <a:pt x="261" y="0"/>
                  </a:lnTo>
                  <a:lnTo>
                    <a:pt x="276" y="0"/>
                  </a:lnTo>
                  <a:lnTo>
                    <a:pt x="291" y="0"/>
                  </a:lnTo>
                  <a:lnTo>
                    <a:pt x="306" y="0"/>
                  </a:lnTo>
                  <a:lnTo>
                    <a:pt x="320" y="3"/>
                  </a:lnTo>
                  <a:lnTo>
                    <a:pt x="331" y="6"/>
                  </a:lnTo>
                  <a:lnTo>
                    <a:pt x="346" y="9"/>
                  </a:lnTo>
                  <a:lnTo>
                    <a:pt x="358" y="12"/>
                  </a:lnTo>
                  <a:lnTo>
                    <a:pt x="373" y="18"/>
                  </a:lnTo>
                  <a:lnTo>
                    <a:pt x="385" y="21"/>
                  </a:lnTo>
                  <a:lnTo>
                    <a:pt x="397" y="26"/>
                  </a:lnTo>
                  <a:lnTo>
                    <a:pt x="408" y="32"/>
                  </a:lnTo>
                  <a:lnTo>
                    <a:pt x="419" y="41"/>
                  </a:lnTo>
                  <a:lnTo>
                    <a:pt x="431" y="47"/>
                  </a:lnTo>
                  <a:lnTo>
                    <a:pt x="443" y="56"/>
                  </a:lnTo>
                  <a:lnTo>
                    <a:pt x="452" y="65"/>
                  </a:lnTo>
                  <a:lnTo>
                    <a:pt x="464" y="73"/>
                  </a:lnTo>
                  <a:lnTo>
                    <a:pt x="473" y="81"/>
                  </a:lnTo>
                  <a:lnTo>
                    <a:pt x="481" y="90"/>
                  </a:lnTo>
                  <a:lnTo>
                    <a:pt x="490" y="102"/>
                  </a:lnTo>
                  <a:lnTo>
                    <a:pt x="499" y="111"/>
                  </a:lnTo>
                  <a:lnTo>
                    <a:pt x="508" y="122"/>
                  </a:lnTo>
                  <a:lnTo>
                    <a:pt x="513" y="134"/>
                  </a:lnTo>
                  <a:lnTo>
                    <a:pt x="519" y="146"/>
                  </a:lnTo>
                  <a:lnTo>
                    <a:pt x="525" y="158"/>
                  </a:lnTo>
                  <a:lnTo>
                    <a:pt x="531" y="168"/>
                  </a:lnTo>
                  <a:lnTo>
                    <a:pt x="537" y="180"/>
                  </a:lnTo>
                  <a:lnTo>
                    <a:pt x="540" y="195"/>
                  </a:lnTo>
                  <a:lnTo>
                    <a:pt x="546" y="207"/>
                  </a:lnTo>
                  <a:lnTo>
                    <a:pt x="549" y="221"/>
                  </a:lnTo>
                  <a:lnTo>
                    <a:pt x="552" y="233"/>
                  </a:lnTo>
                  <a:lnTo>
                    <a:pt x="552" y="248"/>
                  </a:lnTo>
                  <a:lnTo>
                    <a:pt x="555" y="261"/>
                  </a:lnTo>
                  <a:lnTo>
                    <a:pt x="555" y="276"/>
                  </a:lnTo>
                  <a:lnTo>
                    <a:pt x="546" y="276"/>
                  </a:lnTo>
                  <a:lnTo>
                    <a:pt x="543" y="261"/>
                  </a:lnTo>
                  <a:lnTo>
                    <a:pt x="543" y="248"/>
                  </a:lnTo>
                  <a:lnTo>
                    <a:pt x="540" y="236"/>
                  </a:lnTo>
                  <a:lnTo>
                    <a:pt x="540" y="221"/>
                  </a:lnTo>
                  <a:lnTo>
                    <a:pt x="537" y="209"/>
                  </a:lnTo>
                  <a:lnTo>
                    <a:pt x="531" y="198"/>
                  </a:lnTo>
                  <a:lnTo>
                    <a:pt x="528" y="183"/>
                  </a:lnTo>
                  <a:lnTo>
                    <a:pt x="522" y="171"/>
                  </a:lnTo>
                  <a:lnTo>
                    <a:pt x="519" y="161"/>
                  </a:lnTo>
                  <a:lnTo>
                    <a:pt x="513" y="149"/>
                  </a:lnTo>
                  <a:lnTo>
                    <a:pt x="505" y="137"/>
                  </a:lnTo>
                  <a:lnTo>
                    <a:pt x="499" y="128"/>
                  </a:lnTo>
                  <a:lnTo>
                    <a:pt x="490" y="116"/>
                  </a:lnTo>
                  <a:lnTo>
                    <a:pt x="484" y="108"/>
                  </a:lnTo>
                  <a:lnTo>
                    <a:pt x="476" y="96"/>
                  </a:lnTo>
                  <a:lnTo>
                    <a:pt x="467" y="87"/>
                  </a:lnTo>
                  <a:lnTo>
                    <a:pt x="458" y="78"/>
                  </a:lnTo>
                  <a:lnTo>
                    <a:pt x="446" y="70"/>
                  </a:lnTo>
                  <a:lnTo>
                    <a:pt x="437" y="62"/>
                  </a:lnTo>
                  <a:lnTo>
                    <a:pt x="425" y="56"/>
                  </a:lnTo>
                  <a:lnTo>
                    <a:pt x="414" y="50"/>
                  </a:lnTo>
                  <a:lnTo>
                    <a:pt x="405" y="41"/>
                  </a:lnTo>
                  <a:lnTo>
                    <a:pt x="394" y="35"/>
                  </a:lnTo>
                  <a:lnTo>
                    <a:pt x="382" y="29"/>
                  </a:lnTo>
                  <a:lnTo>
                    <a:pt x="370" y="26"/>
                  </a:lnTo>
                  <a:lnTo>
                    <a:pt x="355" y="21"/>
                  </a:lnTo>
                  <a:lnTo>
                    <a:pt x="343" y="18"/>
                  </a:lnTo>
                  <a:lnTo>
                    <a:pt x="331" y="15"/>
                  </a:lnTo>
                  <a:lnTo>
                    <a:pt x="317" y="12"/>
                  </a:lnTo>
                  <a:lnTo>
                    <a:pt x="306" y="12"/>
                  </a:lnTo>
                  <a:lnTo>
                    <a:pt x="291" y="9"/>
                  </a:lnTo>
                  <a:lnTo>
                    <a:pt x="276" y="9"/>
                  </a:lnTo>
                  <a:lnTo>
                    <a:pt x="264" y="9"/>
                  </a:lnTo>
                  <a:lnTo>
                    <a:pt x="249" y="12"/>
                  </a:lnTo>
                  <a:lnTo>
                    <a:pt x="234" y="12"/>
                  </a:lnTo>
                  <a:lnTo>
                    <a:pt x="224" y="15"/>
                  </a:lnTo>
                  <a:lnTo>
                    <a:pt x="209" y="18"/>
                  </a:lnTo>
                  <a:lnTo>
                    <a:pt x="197" y="21"/>
                  </a:lnTo>
                  <a:lnTo>
                    <a:pt x="185" y="26"/>
                  </a:lnTo>
                  <a:lnTo>
                    <a:pt x="173" y="29"/>
                  </a:lnTo>
                  <a:lnTo>
                    <a:pt x="161" y="35"/>
                  </a:lnTo>
                  <a:lnTo>
                    <a:pt x="149" y="41"/>
                  </a:lnTo>
                  <a:lnTo>
                    <a:pt x="139" y="50"/>
                  </a:lnTo>
                  <a:lnTo>
                    <a:pt x="127" y="56"/>
                  </a:lnTo>
                  <a:lnTo>
                    <a:pt x="118" y="62"/>
                  </a:lnTo>
                  <a:lnTo>
                    <a:pt x="106" y="70"/>
                  </a:lnTo>
                  <a:lnTo>
                    <a:pt x="97" y="78"/>
                  </a:lnTo>
                  <a:lnTo>
                    <a:pt x="88" y="87"/>
                  </a:lnTo>
                  <a:lnTo>
                    <a:pt x="79" y="96"/>
                  </a:lnTo>
                  <a:lnTo>
                    <a:pt x="70" y="108"/>
                  </a:lnTo>
                  <a:lnTo>
                    <a:pt x="62" y="116"/>
                  </a:lnTo>
                  <a:lnTo>
                    <a:pt x="53" y="128"/>
                  </a:lnTo>
                  <a:lnTo>
                    <a:pt x="47" y="137"/>
                  </a:lnTo>
                  <a:lnTo>
                    <a:pt x="42" y="149"/>
                  </a:lnTo>
                  <a:lnTo>
                    <a:pt x="36" y="161"/>
                  </a:lnTo>
                  <a:lnTo>
                    <a:pt x="30" y="171"/>
                  </a:lnTo>
                  <a:lnTo>
                    <a:pt x="24" y="183"/>
                  </a:lnTo>
                  <a:lnTo>
                    <a:pt x="21" y="198"/>
                  </a:lnTo>
                  <a:lnTo>
                    <a:pt x="18" y="209"/>
                  </a:lnTo>
                  <a:lnTo>
                    <a:pt x="15" y="221"/>
                  </a:lnTo>
                  <a:lnTo>
                    <a:pt x="12" y="236"/>
                  </a:lnTo>
                  <a:lnTo>
                    <a:pt x="9" y="248"/>
                  </a:lnTo>
                  <a:lnTo>
                    <a:pt x="9" y="261"/>
                  </a:lnTo>
                  <a:lnTo>
                    <a:pt x="9" y="276"/>
                  </a:lnTo>
                  <a:lnTo>
                    <a:pt x="0" y="276"/>
                  </a:lnTo>
                </a:path>
              </a:pathLst>
            </a:custGeom>
            <a:solidFill>
              <a:srgbClr val="FFA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149">
              <a:extLst>
                <a:ext uri="{FF2B5EF4-FFF2-40B4-BE49-F238E27FC236}">
                  <a16:creationId xmlns:a16="http://schemas.microsoft.com/office/drawing/2014/main" id="{E0D504AA-9C38-417D-84E1-EDB938B70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3802"/>
              <a:ext cx="556" cy="277"/>
            </a:xfrm>
            <a:custGeom>
              <a:avLst/>
              <a:gdLst>
                <a:gd name="T0" fmla="*/ 0 w 556"/>
                <a:gd name="T1" fmla="*/ 15 h 277"/>
                <a:gd name="T2" fmla="*/ 3 w 556"/>
                <a:gd name="T3" fmla="*/ 56 h 277"/>
                <a:gd name="T4" fmla="*/ 15 w 556"/>
                <a:gd name="T5" fmla="*/ 93 h 277"/>
                <a:gd name="T6" fmla="*/ 33 w 556"/>
                <a:gd name="T7" fmla="*/ 131 h 277"/>
                <a:gd name="T8" fmla="*/ 53 w 556"/>
                <a:gd name="T9" fmla="*/ 165 h 277"/>
                <a:gd name="T10" fmla="*/ 79 w 556"/>
                <a:gd name="T11" fmla="*/ 195 h 277"/>
                <a:gd name="T12" fmla="*/ 112 w 556"/>
                <a:gd name="T13" fmla="*/ 221 h 277"/>
                <a:gd name="T14" fmla="*/ 144 w 556"/>
                <a:gd name="T15" fmla="*/ 241 h 277"/>
                <a:gd name="T16" fmla="*/ 182 w 556"/>
                <a:gd name="T17" fmla="*/ 258 h 277"/>
                <a:gd name="T18" fmla="*/ 221 w 556"/>
                <a:gd name="T19" fmla="*/ 270 h 277"/>
                <a:gd name="T20" fmla="*/ 261 w 556"/>
                <a:gd name="T21" fmla="*/ 273 h 277"/>
                <a:gd name="T22" fmla="*/ 306 w 556"/>
                <a:gd name="T23" fmla="*/ 273 h 277"/>
                <a:gd name="T24" fmla="*/ 346 w 556"/>
                <a:gd name="T25" fmla="*/ 267 h 277"/>
                <a:gd name="T26" fmla="*/ 385 w 556"/>
                <a:gd name="T27" fmla="*/ 253 h 277"/>
                <a:gd name="T28" fmla="*/ 419 w 556"/>
                <a:gd name="T29" fmla="*/ 235 h 277"/>
                <a:gd name="T30" fmla="*/ 452 w 556"/>
                <a:gd name="T31" fmla="*/ 212 h 277"/>
                <a:gd name="T32" fmla="*/ 481 w 556"/>
                <a:gd name="T33" fmla="*/ 183 h 277"/>
                <a:gd name="T34" fmla="*/ 508 w 556"/>
                <a:gd name="T35" fmla="*/ 154 h 277"/>
                <a:gd name="T36" fmla="*/ 525 w 556"/>
                <a:gd name="T37" fmla="*/ 119 h 277"/>
                <a:gd name="T38" fmla="*/ 540 w 556"/>
                <a:gd name="T39" fmla="*/ 81 h 277"/>
                <a:gd name="T40" fmla="*/ 552 w 556"/>
                <a:gd name="T41" fmla="*/ 41 h 277"/>
                <a:gd name="T42" fmla="*/ 555 w 556"/>
                <a:gd name="T43" fmla="*/ 0 h 277"/>
                <a:gd name="T44" fmla="*/ 543 w 556"/>
                <a:gd name="T45" fmla="*/ 26 h 277"/>
                <a:gd name="T46" fmla="*/ 537 w 556"/>
                <a:gd name="T47" fmla="*/ 67 h 277"/>
                <a:gd name="T48" fmla="*/ 522 w 556"/>
                <a:gd name="T49" fmla="*/ 102 h 277"/>
                <a:gd name="T50" fmla="*/ 505 w 556"/>
                <a:gd name="T51" fmla="*/ 137 h 277"/>
                <a:gd name="T52" fmla="*/ 484 w 556"/>
                <a:gd name="T53" fmla="*/ 168 h 277"/>
                <a:gd name="T54" fmla="*/ 458 w 556"/>
                <a:gd name="T55" fmla="*/ 198 h 277"/>
                <a:gd name="T56" fmla="*/ 425 w 556"/>
                <a:gd name="T57" fmla="*/ 221 h 277"/>
                <a:gd name="T58" fmla="*/ 394 w 556"/>
                <a:gd name="T59" fmla="*/ 238 h 277"/>
                <a:gd name="T60" fmla="*/ 355 w 556"/>
                <a:gd name="T61" fmla="*/ 253 h 277"/>
                <a:gd name="T62" fmla="*/ 317 w 556"/>
                <a:gd name="T63" fmla="*/ 261 h 277"/>
                <a:gd name="T64" fmla="*/ 276 w 556"/>
                <a:gd name="T65" fmla="*/ 264 h 277"/>
                <a:gd name="T66" fmla="*/ 234 w 556"/>
                <a:gd name="T67" fmla="*/ 261 h 277"/>
                <a:gd name="T68" fmla="*/ 197 w 556"/>
                <a:gd name="T69" fmla="*/ 253 h 277"/>
                <a:gd name="T70" fmla="*/ 161 w 556"/>
                <a:gd name="T71" fmla="*/ 238 h 277"/>
                <a:gd name="T72" fmla="*/ 127 w 556"/>
                <a:gd name="T73" fmla="*/ 221 h 277"/>
                <a:gd name="T74" fmla="*/ 97 w 556"/>
                <a:gd name="T75" fmla="*/ 198 h 277"/>
                <a:gd name="T76" fmla="*/ 70 w 556"/>
                <a:gd name="T77" fmla="*/ 168 h 277"/>
                <a:gd name="T78" fmla="*/ 47 w 556"/>
                <a:gd name="T79" fmla="*/ 137 h 277"/>
                <a:gd name="T80" fmla="*/ 30 w 556"/>
                <a:gd name="T81" fmla="*/ 102 h 277"/>
                <a:gd name="T82" fmla="*/ 18 w 556"/>
                <a:gd name="T83" fmla="*/ 67 h 277"/>
                <a:gd name="T84" fmla="*/ 9 w 556"/>
                <a:gd name="T85" fmla="*/ 26 h 277"/>
                <a:gd name="T86" fmla="*/ 0 w 556"/>
                <a:gd name="T87" fmla="*/ 0 h 2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6"/>
                <a:gd name="T133" fmla="*/ 0 h 277"/>
                <a:gd name="T134" fmla="*/ 556 w 556"/>
                <a:gd name="T135" fmla="*/ 277 h 27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6" h="277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3" y="56"/>
                  </a:lnTo>
                  <a:lnTo>
                    <a:pt x="9" y="67"/>
                  </a:lnTo>
                  <a:lnTo>
                    <a:pt x="12" y="81"/>
                  </a:lnTo>
                  <a:lnTo>
                    <a:pt x="15" y="93"/>
                  </a:lnTo>
                  <a:lnTo>
                    <a:pt x="21" y="108"/>
                  </a:lnTo>
                  <a:lnTo>
                    <a:pt x="27" y="119"/>
                  </a:lnTo>
                  <a:lnTo>
                    <a:pt x="33" y="131"/>
                  </a:lnTo>
                  <a:lnTo>
                    <a:pt x="39" y="143"/>
                  </a:lnTo>
                  <a:lnTo>
                    <a:pt x="47" y="154"/>
                  </a:lnTo>
                  <a:lnTo>
                    <a:pt x="53" y="165"/>
                  </a:lnTo>
                  <a:lnTo>
                    <a:pt x="62" y="174"/>
                  </a:lnTo>
                  <a:lnTo>
                    <a:pt x="70" y="183"/>
                  </a:lnTo>
                  <a:lnTo>
                    <a:pt x="79" y="195"/>
                  </a:lnTo>
                  <a:lnTo>
                    <a:pt x="91" y="204"/>
                  </a:lnTo>
                  <a:lnTo>
                    <a:pt x="100" y="212"/>
                  </a:lnTo>
                  <a:lnTo>
                    <a:pt x="112" y="221"/>
                  </a:lnTo>
                  <a:lnTo>
                    <a:pt x="121" y="227"/>
                  </a:lnTo>
                  <a:lnTo>
                    <a:pt x="133" y="235"/>
                  </a:lnTo>
                  <a:lnTo>
                    <a:pt x="144" y="241"/>
                  </a:lnTo>
                  <a:lnTo>
                    <a:pt x="155" y="247"/>
                  </a:lnTo>
                  <a:lnTo>
                    <a:pt x="167" y="253"/>
                  </a:lnTo>
                  <a:lnTo>
                    <a:pt x="182" y="258"/>
                  </a:lnTo>
                  <a:lnTo>
                    <a:pt x="194" y="261"/>
                  </a:lnTo>
                  <a:lnTo>
                    <a:pt x="209" y="267"/>
                  </a:lnTo>
                  <a:lnTo>
                    <a:pt x="221" y="270"/>
                  </a:lnTo>
                  <a:lnTo>
                    <a:pt x="234" y="270"/>
                  </a:lnTo>
                  <a:lnTo>
                    <a:pt x="249" y="273"/>
                  </a:lnTo>
                  <a:lnTo>
                    <a:pt x="261" y="273"/>
                  </a:lnTo>
                  <a:lnTo>
                    <a:pt x="276" y="276"/>
                  </a:lnTo>
                  <a:lnTo>
                    <a:pt x="291" y="273"/>
                  </a:lnTo>
                  <a:lnTo>
                    <a:pt x="306" y="273"/>
                  </a:lnTo>
                  <a:lnTo>
                    <a:pt x="320" y="270"/>
                  </a:lnTo>
                  <a:lnTo>
                    <a:pt x="331" y="270"/>
                  </a:lnTo>
                  <a:lnTo>
                    <a:pt x="346" y="267"/>
                  </a:lnTo>
                  <a:lnTo>
                    <a:pt x="358" y="261"/>
                  </a:lnTo>
                  <a:lnTo>
                    <a:pt x="373" y="258"/>
                  </a:lnTo>
                  <a:lnTo>
                    <a:pt x="385" y="253"/>
                  </a:lnTo>
                  <a:lnTo>
                    <a:pt x="397" y="247"/>
                  </a:lnTo>
                  <a:lnTo>
                    <a:pt x="408" y="241"/>
                  </a:lnTo>
                  <a:lnTo>
                    <a:pt x="419" y="235"/>
                  </a:lnTo>
                  <a:lnTo>
                    <a:pt x="431" y="227"/>
                  </a:lnTo>
                  <a:lnTo>
                    <a:pt x="443" y="221"/>
                  </a:lnTo>
                  <a:lnTo>
                    <a:pt x="452" y="212"/>
                  </a:lnTo>
                  <a:lnTo>
                    <a:pt x="464" y="204"/>
                  </a:lnTo>
                  <a:lnTo>
                    <a:pt x="473" y="195"/>
                  </a:lnTo>
                  <a:lnTo>
                    <a:pt x="481" y="183"/>
                  </a:lnTo>
                  <a:lnTo>
                    <a:pt x="490" y="174"/>
                  </a:lnTo>
                  <a:lnTo>
                    <a:pt x="499" y="165"/>
                  </a:lnTo>
                  <a:lnTo>
                    <a:pt x="508" y="154"/>
                  </a:lnTo>
                  <a:lnTo>
                    <a:pt x="513" y="143"/>
                  </a:lnTo>
                  <a:lnTo>
                    <a:pt x="519" y="131"/>
                  </a:lnTo>
                  <a:lnTo>
                    <a:pt x="525" y="119"/>
                  </a:lnTo>
                  <a:lnTo>
                    <a:pt x="531" y="108"/>
                  </a:lnTo>
                  <a:lnTo>
                    <a:pt x="537" y="93"/>
                  </a:lnTo>
                  <a:lnTo>
                    <a:pt x="540" y="81"/>
                  </a:lnTo>
                  <a:lnTo>
                    <a:pt x="546" y="67"/>
                  </a:lnTo>
                  <a:lnTo>
                    <a:pt x="549" y="56"/>
                  </a:lnTo>
                  <a:lnTo>
                    <a:pt x="552" y="41"/>
                  </a:lnTo>
                  <a:lnTo>
                    <a:pt x="552" y="26"/>
                  </a:lnTo>
                  <a:lnTo>
                    <a:pt x="555" y="15"/>
                  </a:lnTo>
                  <a:lnTo>
                    <a:pt x="555" y="0"/>
                  </a:lnTo>
                  <a:lnTo>
                    <a:pt x="546" y="0"/>
                  </a:lnTo>
                  <a:lnTo>
                    <a:pt x="543" y="12"/>
                  </a:lnTo>
                  <a:lnTo>
                    <a:pt x="543" y="26"/>
                  </a:lnTo>
                  <a:lnTo>
                    <a:pt x="540" y="41"/>
                  </a:lnTo>
                  <a:lnTo>
                    <a:pt x="540" y="53"/>
                  </a:lnTo>
                  <a:lnTo>
                    <a:pt x="537" y="67"/>
                  </a:lnTo>
                  <a:lnTo>
                    <a:pt x="531" y="78"/>
                  </a:lnTo>
                  <a:lnTo>
                    <a:pt x="528" y="90"/>
                  </a:lnTo>
                  <a:lnTo>
                    <a:pt x="522" y="102"/>
                  </a:lnTo>
                  <a:lnTo>
                    <a:pt x="519" y="114"/>
                  </a:lnTo>
                  <a:lnTo>
                    <a:pt x="513" y="125"/>
                  </a:lnTo>
                  <a:lnTo>
                    <a:pt x="505" y="137"/>
                  </a:lnTo>
                  <a:lnTo>
                    <a:pt x="499" y="148"/>
                  </a:lnTo>
                  <a:lnTo>
                    <a:pt x="490" y="157"/>
                  </a:lnTo>
                  <a:lnTo>
                    <a:pt x="484" y="168"/>
                  </a:lnTo>
                  <a:lnTo>
                    <a:pt x="476" y="177"/>
                  </a:lnTo>
                  <a:lnTo>
                    <a:pt x="467" y="186"/>
                  </a:lnTo>
                  <a:lnTo>
                    <a:pt x="458" y="198"/>
                  </a:lnTo>
                  <a:lnTo>
                    <a:pt x="446" y="204"/>
                  </a:lnTo>
                  <a:lnTo>
                    <a:pt x="437" y="212"/>
                  </a:lnTo>
                  <a:lnTo>
                    <a:pt x="425" y="221"/>
                  </a:lnTo>
                  <a:lnTo>
                    <a:pt x="414" y="227"/>
                  </a:lnTo>
                  <a:lnTo>
                    <a:pt x="405" y="232"/>
                  </a:lnTo>
                  <a:lnTo>
                    <a:pt x="394" y="238"/>
                  </a:lnTo>
                  <a:lnTo>
                    <a:pt x="382" y="244"/>
                  </a:lnTo>
                  <a:lnTo>
                    <a:pt x="370" y="250"/>
                  </a:lnTo>
                  <a:lnTo>
                    <a:pt x="355" y="253"/>
                  </a:lnTo>
                  <a:lnTo>
                    <a:pt x="343" y="255"/>
                  </a:lnTo>
                  <a:lnTo>
                    <a:pt x="331" y="258"/>
                  </a:lnTo>
                  <a:lnTo>
                    <a:pt x="317" y="261"/>
                  </a:lnTo>
                  <a:lnTo>
                    <a:pt x="306" y="264"/>
                  </a:lnTo>
                  <a:lnTo>
                    <a:pt x="291" y="264"/>
                  </a:lnTo>
                  <a:lnTo>
                    <a:pt x="276" y="264"/>
                  </a:lnTo>
                  <a:lnTo>
                    <a:pt x="264" y="264"/>
                  </a:lnTo>
                  <a:lnTo>
                    <a:pt x="249" y="264"/>
                  </a:lnTo>
                  <a:lnTo>
                    <a:pt x="234" y="261"/>
                  </a:lnTo>
                  <a:lnTo>
                    <a:pt x="224" y="258"/>
                  </a:lnTo>
                  <a:lnTo>
                    <a:pt x="209" y="255"/>
                  </a:lnTo>
                  <a:lnTo>
                    <a:pt x="197" y="253"/>
                  </a:lnTo>
                  <a:lnTo>
                    <a:pt x="185" y="250"/>
                  </a:lnTo>
                  <a:lnTo>
                    <a:pt x="173" y="244"/>
                  </a:lnTo>
                  <a:lnTo>
                    <a:pt x="161" y="238"/>
                  </a:lnTo>
                  <a:lnTo>
                    <a:pt x="149" y="232"/>
                  </a:lnTo>
                  <a:lnTo>
                    <a:pt x="139" y="227"/>
                  </a:lnTo>
                  <a:lnTo>
                    <a:pt x="127" y="221"/>
                  </a:lnTo>
                  <a:lnTo>
                    <a:pt x="118" y="212"/>
                  </a:lnTo>
                  <a:lnTo>
                    <a:pt x="106" y="204"/>
                  </a:lnTo>
                  <a:lnTo>
                    <a:pt x="97" y="198"/>
                  </a:lnTo>
                  <a:lnTo>
                    <a:pt x="88" y="186"/>
                  </a:lnTo>
                  <a:lnTo>
                    <a:pt x="79" y="177"/>
                  </a:lnTo>
                  <a:lnTo>
                    <a:pt x="70" y="168"/>
                  </a:lnTo>
                  <a:lnTo>
                    <a:pt x="62" y="157"/>
                  </a:lnTo>
                  <a:lnTo>
                    <a:pt x="53" y="148"/>
                  </a:lnTo>
                  <a:lnTo>
                    <a:pt x="47" y="137"/>
                  </a:lnTo>
                  <a:lnTo>
                    <a:pt x="42" y="125"/>
                  </a:lnTo>
                  <a:lnTo>
                    <a:pt x="36" y="114"/>
                  </a:lnTo>
                  <a:lnTo>
                    <a:pt x="30" y="102"/>
                  </a:lnTo>
                  <a:lnTo>
                    <a:pt x="24" y="90"/>
                  </a:lnTo>
                  <a:lnTo>
                    <a:pt x="21" y="78"/>
                  </a:lnTo>
                  <a:lnTo>
                    <a:pt x="18" y="67"/>
                  </a:lnTo>
                  <a:lnTo>
                    <a:pt x="15" y="53"/>
                  </a:lnTo>
                  <a:lnTo>
                    <a:pt x="12" y="41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Freeform 150">
              <a:extLst>
                <a:ext uri="{FF2B5EF4-FFF2-40B4-BE49-F238E27FC236}">
                  <a16:creationId xmlns:a16="http://schemas.microsoft.com/office/drawing/2014/main" id="{E7DA0F3C-5D41-4BEF-AFDC-EF95A7BB0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529"/>
              <a:ext cx="538" cy="268"/>
            </a:xfrm>
            <a:custGeom>
              <a:avLst/>
              <a:gdLst>
                <a:gd name="T0" fmla="*/ 0 w 538"/>
                <a:gd name="T1" fmla="*/ 239 h 268"/>
                <a:gd name="T2" fmla="*/ 9 w 538"/>
                <a:gd name="T3" fmla="*/ 200 h 268"/>
                <a:gd name="T4" fmla="*/ 21 w 538"/>
                <a:gd name="T5" fmla="*/ 162 h 268"/>
                <a:gd name="T6" fmla="*/ 39 w 538"/>
                <a:gd name="T7" fmla="*/ 128 h 268"/>
                <a:gd name="T8" fmla="*/ 61 w 538"/>
                <a:gd name="T9" fmla="*/ 99 h 268"/>
                <a:gd name="T10" fmla="*/ 88 w 538"/>
                <a:gd name="T11" fmla="*/ 69 h 268"/>
                <a:gd name="T12" fmla="*/ 118 w 538"/>
                <a:gd name="T13" fmla="*/ 47 h 268"/>
                <a:gd name="T14" fmla="*/ 152 w 538"/>
                <a:gd name="T15" fmla="*/ 26 h 268"/>
                <a:gd name="T16" fmla="*/ 188 w 538"/>
                <a:gd name="T17" fmla="*/ 12 h 268"/>
                <a:gd name="T18" fmla="*/ 225 w 538"/>
                <a:gd name="T19" fmla="*/ 3 h 268"/>
                <a:gd name="T20" fmla="*/ 267 w 538"/>
                <a:gd name="T21" fmla="*/ 0 h 268"/>
                <a:gd name="T22" fmla="*/ 308 w 538"/>
                <a:gd name="T23" fmla="*/ 3 h 268"/>
                <a:gd name="T24" fmla="*/ 346 w 538"/>
                <a:gd name="T25" fmla="*/ 12 h 268"/>
                <a:gd name="T26" fmla="*/ 385 w 538"/>
                <a:gd name="T27" fmla="*/ 26 h 268"/>
                <a:gd name="T28" fmla="*/ 416 w 538"/>
                <a:gd name="T29" fmla="*/ 47 h 268"/>
                <a:gd name="T30" fmla="*/ 449 w 538"/>
                <a:gd name="T31" fmla="*/ 69 h 268"/>
                <a:gd name="T32" fmla="*/ 475 w 538"/>
                <a:gd name="T33" fmla="*/ 99 h 268"/>
                <a:gd name="T34" fmla="*/ 495 w 538"/>
                <a:gd name="T35" fmla="*/ 128 h 268"/>
                <a:gd name="T36" fmla="*/ 513 w 538"/>
                <a:gd name="T37" fmla="*/ 162 h 268"/>
                <a:gd name="T38" fmla="*/ 528 w 538"/>
                <a:gd name="T39" fmla="*/ 200 h 268"/>
                <a:gd name="T40" fmla="*/ 534 w 538"/>
                <a:gd name="T41" fmla="*/ 239 h 268"/>
                <a:gd name="T42" fmla="*/ 525 w 538"/>
                <a:gd name="T43" fmla="*/ 267 h 268"/>
                <a:gd name="T44" fmla="*/ 522 w 538"/>
                <a:gd name="T45" fmla="*/ 227 h 268"/>
                <a:gd name="T46" fmla="*/ 513 w 538"/>
                <a:gd name="T47" fmla="*/ 189 h 268"/>
                <a:gd name="T48" fmla="*/ 501 w 538"/>
                <a:gd name="T49" fmla="*/ 154 h 268"/>
                <a:gd name="T50" fmla="*/ 481 w 538"/>
                <a:gd name="T51" fmla="*/ 122 h 268"/>
                <a:gd name="T52" fmla="*/ 461 w 538"/>
                <a:gd name="T53" fmla="*/ 93 h 268"/>
                <a:gd name="T54" fmla="*/ 431 w 538"/>
                <a:gd name="T55" fmla="*/ 69 h 268"/>
                <a:gd name="T56" fmla="*/ 402 w 538"/>
                <a:gd name="T57" fmla="*/ 47 h 268"/>
                <a:gd name="T58" fmla="*/ 370 w 538"/>
                <a:gd name="T59" fmla="*/ 29 h 268"/>
                <a:gd name="T60" fmla="*/ 331 w 538"/>
                <a:gd name="T61" fmla="*/ 18 h 268"/>
                <a:gd name="T62" fmla="*/ 294 w 538"/>
                <a:gd name="T63" fmla="*/ 12 h 268"/>
                <a:gd name="T64" fmla="*/ 255 w 538"/>
                <a:gd name="T65" fmla="*/ 9 h 268"/>
                <a:gd name="T66" fmla="*/ 215 w 538"/>
                <a:gd name="T67" fmla="*/ 15 h 268"/>
                <a:gd name="T68" fmla="*/ 179 w 538"/>
                <a:gd name="T69" fmla="*/ 26 h 268"/>
                <a:gd name="T70" fmla="*/ 143 w 538"/>
                <a:gd name="T71" fmla="*/ 41 h 268"/>
                <a:gd name="T72" fmla="*/ 112 w 538"/>
                <a:gd name="T73" fmla="*/ 62 h 268"/>
                <a:gd name="T74" fmla="*/ 85 w 538"/>
                <a:gd name="T75" fmla="*/ 84 h 268"/>
                <a:gd name="T76" fmla="*/ 58 w 538"/>
                <a:gd name="T77" fmla="*/ 113 h 268"/>
                <a:gd name="T78" fmla="*/ 42 w 538"/>
                <a:gd name="T79" fmla="*/ 146 h 268"/>
                <a:gd name="T80" fmla="*/ 24 w 538"/>
                <a:gd name="T81" fmla="*/ 177 h 268"/>
                <a:gd name="T82" fmla="*/ 15 w 538"/>
                <a:gd name="T83" fmla="*/ 215 h 268"/>
                <a:gd name="T84" fmla="*/ 9 w 538"/>
                <a:gd name="T85" fmla="*/ 252 h 26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38"/>
                <a:gd name="T130" fmla="*/ 0 h 268"/>
                <a:gd name="T131" fmla="*/ 538 w 538"/>
                <a:gd name="T132" fmla="*/ 268 h 26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38" h="268">
                  <a:moveTo>
                    <a:pt x="0" y="267"/>
                  </a:moveTo>
                  <a:lnTo>
                    <a:pt x="0" y="252"/>
                  </a:lnTo>
                  <a:lnTo>
                    <a:pt x="0" y="239"/>
                  </a:lnTo>
                  <a:lnTo>
                    <a:pt x="3" y="227"/>
                  </a:lnTo>
                  <a:lnTo>
                    <a:pt x="6" y="212"/>
                  </a:lnTo>
                  <a:lnTo>
                    <a:pt x="9" y="200"/>
                  </a:lnTo>
                  <a:lnTo>
                    <a:pt x="12" y="189"/>
                  </a:lnTo>
                  <a:lnTo>
                    <a:pt x="15" y="174"/>
                  </a:lnTo>
                  <a:lnTo>
                    <a:pt x="21" y="162"/>
                  </a:lnTo>
                  <a:lnTo>
                    <a:pt x="27" y="152"/>
                  </a:lnTo>
                  <a:lnTo>
                    <a:pt x="33" y="140"/>
                  </a:lnTo>
                  <a:lnTo>
                    <a:pt x="39" y="128"/>
                  </a:lnTo>
                  <a:lnTo>
                    <a:pt x="45" y="119"/>
                  </a:lnTo>
                  <a:lnTo>
                    <a:pt x="53" y="108"/>
                  </a:lnTo>
                  <a:lnTo>
                    <a:pt x="61" y="99"/>
                  </a:lnTo>
                  <a:lnTo>
                    <a:pt x="70" y="87"/>
                  </a:lnTo>
                  <a:lnTo>
                    <a:pt x="79" y="78"/>
                  </a:lnTo>
                  <a:lnTo>
                    <a:pt x="88" y="69"/>
                  </a:lnTo>
                  <a:lnTo>
                    <a:pt x="97" y="62"/>
                  </a:lnTo>
                  <a:lnTo>
                    <a:pt x="109" y="53"/>
                  </a:lnTo>
                  <a:lnTo>
                    <a:pt x="118" y="47"/>
                  </a:lnTo>
                  <a:lnTo>
                    <a:pt x="130" y="41"/>
                  </a:lnTo>
                  <a:lnTo>
                    <a:pt x="140" y="32"/>
                  </a:lnTo>
                  <a:lnTo>
                    <a:pt x="152" y="26"/>
                  </a:lnTo>
                  <a:lnTo>
                    <a:pt x="164" y="21"/>
                  </a:lnTo>
                  <a:lnTo>
                    <a:pt x="176" y="18"/>
                  </a:lnTo>
                  <a:lnTo>
                    <a:pt x="188" y="12"/>
                  </a:lnTo>
                  <a:lnTo>
                    <a:pt x="200" y="9"/>
                  </a:lnTo>
                  <a:lnTo>
                    <a:pt x="215" y="6"/>
                  </a:lnTo>
                  <a:lnTo>
                    <a:pt x="225" y="3"/>
                  </a:lnTo>
                  <a:lnTo>
                    <a:pt x="240" y="3"/>
                  </a:lnTo>
                  <a:lnTo>
                    <a:pt x="255" y="0"/>
                  </a:lnTo>
                  <a:lnTo>
                    <a:pt x="267" y="0"/>
                  </a:lnTo>
                  <a:lnTo>
                    <a:pt x="282" y="0"/>
                  </a:lnTo>
                  <a:lnTo>
                    <a:pt x="297" y="3"/>
                  </a:lnTo>
                  <a:lnTo>
                    <a:pt x="308" y="3"/>
                  </a:lnTo>
                  <a:lnTo>
                    <a:pt x="322" y="6"/>
                  </a:lnTo>
                  <a:lnTo>
                    <a:pt x="334" y="9"/>
                  </a:lnTo>
                  <a:lnTo>
                    <a:pt x="346" y="12"/>
                  </a:lnTo>
                  <a:lnTo>
                    <a:pt x="361" y="18"/>
                  </a:lnTo>
                  <a:lnTo>
                    <a:pt x="373" y="21"/>
                  </a:lnTo>
                  <a:lnTo>
                    <a:pt x="385" y="26"/>
                  </a:lnTo>
                  <a:lnTo>
                    <a:pt x="396" y="32"/>
                  </a:lnTo>
                  <a:lnTo>
                    <a:pt x="404" y="41"/>
                  </a:lnTo>
                  <a:lnTo>
                    <a:pt x="416" y="47"/>
                  </a:lnTo>
                  <a:lnTo>
                    <a:pt x="428" y="53"/>
                  </a:lnTo>
                  <a:lnTo>
                    <a:pt x="437" y="62"/>
                  </a:lnTo>
                  <a:lnTo>
                    <a:pt x="449" y="69"/>
                  </a:lnTo>
                  <a:lnTo>
                    <a:pt x="458" y="78"/>
                  </a:lnTo>
                  <a:lnTo>
                    <a:pt x="467" y="87"/>
                  </a:lnTo>
                  <a:lnTo>
                    <a:pt x="475" y="99"/>
                  </a:lnTo>
                  <a:lnTo>
                    <a:pt x="481" y="108"/>
                  </a:lnTo>
                  <a:lnTo>
                    <a:pt x="490" y="119"/>
                  </a:lnTo>
                  <a:lnTo>
                    <a:pt x="495" y="128"/>
                  </a:lnTo>
                  <a:lnTo>
                    <a:pt x="504" y="140"/>
                  </a:lnTo>
                  <a:lnTo>
                    <a:pt x="510" y="152"/>
                  </a:lnTo>
                  <a:lnTo>
                    <a:pt x="513" y="162"/>
                  </a:lnTo>
                  <a:lnTo>
                    <a:pt x="519" y="174"/>
                  </a:lnTo>
                  <a:lnTo>
                    <a:pt x="522" y="189"/>
                  </a:lnTo>
                  <a:lnTo>
                    <a:pt x="528" y="200"/>
                  </a:lnTo>
                  <a:lnTo>
                    <a:pt x="531" y="212"/>
                  </a:lnTo>
                  <a:lnTo>
                    <a:pt x="531" y="227"/>
                  </a:lnTo>
                  <a:lnTo>
                    <a:pt x="534" y="239"/>
                  </a:lnTo>
                  <a:lnTo>
                    <a:pt x="534" y="252"/>
                  </a:lnTo>
                  <a:lnTo>
                    <a:pt x="537" y="267"/>
                  </a:lnTo>
                  <a:lnTo>
                    <a:pt x="525" y="267"/>
                  </a:lnTo>
                  <a:lnTo>
                    <a:pt x="525" y="252"/>
                  </a:lnTo>
                  <a:lnTo>
                    <a:pt x="525" y="241"/>
                  </a:lnTo>
                  <a:lnTo>
                    <a:pt x="522" y="227"/>
                  </a:lnTo>
                  <a:lnTo>
                    <a:pt x="522" y="215"/>
                  </a:lnTo>
                  <a:lnTo>
                    <a:pt x="519" y="203"/>
                  </a:lnTo>
                  <a:lnTo>
                    <a:pt x="513" y="189"/>
                  </a:lnTo>
                  <a:lnTo>
                    <a:pt x="510" y="177"/>
                  </a:lnTo>
                  <a:lnTo>
                    <a:pt x="504" y="165"/>
                  </a:lnTo>
                  <a:lnTo>
                    <a:pt x="501" y="154"/>
                  </a:lnTo>
                  <a:lnTo>
                    <a:pt x="495" y="146"/>
                  </a:lnTo>
                  <a:lnTo>
                    <a:pt x="490" y="134"/>
                  </a:lnTo>
                  <a:lnTo>
                    <a:pt x="481" y="122"/>
                  </a:lnTo>
                  <a:lnTo>
                    <a:pt x="475" y="113"/>
                  </a:lnTo>
                  <a:lnTo>
                    <a:pt x="467" y="105"/>
                  </a:lnTo>
                  <a:lnTo>
                    <a:pt x="461" y="93"/>
                  </a:lnTo>
                  <a:lnTo>
                    <a:pt x="452" y="84"/>
                  </a:lnTo>
                  <a:lnTo>
                    <a:pt x="443" y="75"/>
                  </a:lnTo>
                  <a:lnTo>
                    <a:pt x="431" y="69"/>
                  </a:lnTo>
                  <a:lnTo>
                    <a:pt x="422" y="62"/>
                  </a:lnTo>
                  <a:lnTo>
                    <a:pt x="410" y="53"/>
                  </a:lnTo>
                  <a:lnTo>
                    <a:pt x="402" y="47"/>
                  </a:lnTo>
                  <a:lnTo>
                    <a:pt x="390" y="41"/>
                  </a:lnTo>
                  <a:lnTo>
                    <a:pt x="382" y="35"/>
                  </a:lnTo>
                  <a:lnTo>
                    <a:pt x="370" y="29"/>
                  </a:lnTo>
                  <a:lnTo>
                    <a:pt x="358" y="26"/>
                  </a:lnTo>
                  <a:lnTo>
                    <a:pt x="343" y="21"/>
                  </a:lnTo>
                  <a:lnTo>
                    <a:pt x="331" y="18"/>
                  </a:lnTo>
                  <a:lnTo>
                    <a:pt x="319" y="15"/>
                  </a:lnTo>
                  <a:lnTo>
                    <a:pt x="308" y="12"/>
                  </a:lnTo>
                  <a:lnTo>
                    <a:pt x="294" y="12"/>
                  </a:lnTo>
                  <a:lnTo>
                    <a:pt x="282" y="9"/>
                  </a:lnTo>
                  <a:lnTo>
                    <a:pt x="267" y="9"/>
                  </a:lnTo>
                  <a:lnTo>
                    <a:pt x="255" y="9"/>
                  </a:lnTo>
                  <a:lnTo>
                    <a:pt x="240" y="12"/>
                  </a:lnTo>
                  <a:lnTo>
                    <a:pt x="228" y="12"/>
                  </a:lnTo>
                  <a:lnTo>
                    <a:pt x="215" y="15"/>
                  </a:lnTo>
                  <a:lnTo>
                    <a:pt x="203" y="18"/>
                  </a:lnTo>
                  <a:lnTo>
                    <a:pt x="191" y="21"/>
                  </a:lnTo>
                  <a:lnTo>
                    <a:pt x="179" y="26"/>
                  </a:lnTo>
                  <a:lnTo>
                    <a:pt x="167" y="29"/>
                  </a:lnTo>
                  <a:lnTo>
                    <a:pt x="155" y="35"/>
                  </a:lnTo>
                  <a:lnTo>
                    <a:pt x="143" y="41"/>
                  </a:lnTo>
                  <a:lnTo>
                    <a:pt x="133" y="47"/>
                  </a:lnTo>
                  <a:lnTo>
                    <a:pt x="124" y="53"/>
                  </a:lnTo>
                  <a:lnTo>
                    <a:pt x="112" y="62"/>
                  </a:lnTo>
                  <a:lnTo>
                    <a:pt x="103" y="69"/>
                  </a:lnTo>
                  <a:lnTo>
                    <a:pt x="94" y="75"/>
                  </a:lnTo>
                  <a:lnTo>
                    <a:pt x="85" y="84"/>
                  </a:lnTo>
                  <a:lnTo>
                    <a:pt x="76" y="93"/>
                  </a:lnTo>
                  <a:lnTo>
                    <a:pt x="67" y="105"/>
                  </a:lnTo>
                  <a:lnTo>
                    <a:pt x="58" y="113"/>
                  </a:lnTo>
                  <a:lnTo>
                    <a:pt x="53" y="122"/>
                  </a:lnTo>
                  <a:lnTo>
                    <a:pt x="47" y="134"/>
                  </a:lnTo>
                  <a:lnTo>
                    <a:pt x="42" y="146"/>
                  </a:lnTo>
                  <a:lnTo>
                    <a:pt x="36" y="154"/>
                  </a:lnTo>
                  <a:lnTo>
                    <a:pt x="30" y="165"/>
                  </a:lnTo>
                  <a:lnTo>
                    <a:pt x="24" y="177"/>
                  </a:lnTo>
                  <a:lnTo>
                    <a:pt x="21" y="189"/>
                  </a:lnTo>
                  <a:lnTo>
                    <a:pt x="18" y="203"/>
                  </a:lnTo>
                  <a:lnTo>
                    <a:pt x="15" y="215"/>
                  </a:lnTo>
                  <a:lnTo>
                    <a:pt x="12" y="227"/>
                  </a:lnTo>
                  <a:lnTo>
                    <a:pt x="9" y="241"/>
                  </a:lnTo>
                  <a:lnTo>
                    <a:pt x="9" y="252"/>
                  </a:lnTo>
                  <a:lnTo>
                    <a:pt x="9" y="267"/>
                  </a:lnTo>
                  <a:lnTo>
                    <a:pt x="0" y="267"/>
                  </a:lnTo>
                </a:path>
              </a:pathLst>
            </a:custGeom>
            <a:solidFill>
              <a:srgbClr val="FFA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Freeform 151">
              <a:extLst>
                <a:ext uri="{FF2B5EF4-FFF2-40B4-BE49-F238E27FC236}">
                  <a16:creationId xmlns:a16="http://schemas.microsoft.com/office/drawing/2014/main" id="{368FF223-D450-4737-9F99-0547732D6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802"/>
              <a:ext cx="538" cy="265"/>
            </a:xfrm>
            <a:custGeom>
              <a:avLst/>
              <a:gdLst>
                <a:gd name="T0" fmla="*/ 0 w 538"/>
                <a:gd name="T1" fmla="*/ 12 h 265"/>
                <a:gd name="T2" fmla="*/ 6 w 538"/>
                <a:gd name="T3" fmla="*/ 53 h 265"/>
                <a:gd name="T4" fmla="*/ 15 w 538"/>
                <a:gd name="T5" fmla="*/ 90 h 265"/>
                <a:gd name="T6" fmla="*/ 33 w 538"/>
                <a:gd name="T7" fmla="*/ 125 h 265"/>
                <a:gd name="T8" fmla="*/ 53 w 538"/>
                <a:gd name="T9" fmla="*/ 156 h 265"/>
                <a:gd name="T10" fmla="*/ 79 w 538"/>
                <a:gd name="T11" fmla="*/ 186 h 265"/>
                <a:gd name="T12" fmla="*/ 109 w 538"/>
                <a:gd name="T13" fmla="*/ 212 h 265"/>
                <a:gd name="T14" fmla="*/ 140 w 538"/>
                <a:gd name="T15" fmla="*/ 232 h 265"/>
                <a:gd name="T16" fmla="*/ 176 w 538"/>
                <a:gd name="T17" fmla="*/ 249 h 265"/>
                <a:gd name="T18" fmla="*/ 215 w 538"/>
                <a:gd name="T19" fmla="*/ 258 h 265"/>
                <a:gd name="T20" fmla="*/ 255 w 538"/>
                <a:gd name="T21" fmla="*/ 264 h 265"/>
                <a:gd name="T22" fmla="*/ 297 w 538"/>
                <a:gd name="T23" fmla="*/ 264 h 265"/>
                <a:gd name="T24" fmla="*/ 334 w 538"/>
                <a:gd name="T25" fmla="*/ 255 h 265"/>
                <a:gd name="T26" fmla="*/ 373 w 538"/>
                <a:gd name="T27" fmla="*/ 243 h 265"/>
                <a:gd name="T28" fmla="*/ 404 w 538"/>
                <a:gd name="T29" fmla="*/ 227 h 265"/>
                <a:gd name="T30" fmla="*/ 437 w 538"/>
                <a:gd name="T31" fmla="*/ 203 h 265"/>
                <a:gd name="T32" fmla="*/ 467 w 538"/>
                <a:gd name="T33" fmla="*/ 177 h 265"/>
                <a:gd name="T34" fmla="*/ 490 w 538"/>
                <a:gd name="T35" fmla="*/ 148 h 265"/>
                <a:gd name="T36" fmla="*/ 510 w 538"/>
                <a:gd name="T37" fmla="*/ 113 h 265"/>
                <a:gd name="T38" fmla="*/ 522 w 538"/>
                <a:gd name="T39" fmla="*/ 78 h 265"/>
                <a:gd name="T40" fmla="*/ 531 w 538"/>
                <a:gd name="T41" fmla="*/ 41 h 265"/>
                <a:gd name="T42" fmla="*/ 537 w 538"/>
                <a:gd name="T43" fmla="*/ 0 h 265"/>
                <a:gd name="T44" fmla="*/ 525 w 538"/>
                <a:gd name="T45" fmla="*/ 26 h 265"/>
                <a:gd name="T46" fmla="*/ 519 w 538"/>
                <a:gd name="T47" fmla="*/ 64 h 265"/>
                <a:gd name="T48" fmla="*/ 504 w 538"/>
                <a:gd name="T49" fmla="*/ 99 h 265"/>
                <a:gd name="T50" fmla="*/ 490 w 538"/>
                <a:gd name="T51" fmla="*/ 134 h 265"/>
                <a:gd name="T52" fmla="*/ 467 w 538"/>
                <a:gd name="T53" fmla="*/ 162 h 265"/>
                <a:gd name="T54" fmla="*/ 443 w 538"/>
                <a:gd name="T55" fmla="*/ 189 h 265"/>
                <a:gd name="T56" fmla="*/ 410 w 538"/>
                <a:gd name="T57" fmla="*/ 212 h 265"/>
                <a:gd name="T58" fmla="*/ 382 w 538"/>
                <a:gd name="T59" fmla="*/ 230 h 265"/>
                <a:gd name="T60" fmla="*/ 343 w 538"/>
                <a:gd name="T61" fmla="*/ 243 h 265"/>
                <a:gd name="T62" fmla="*/ 308 w 538"/>
                <a:gd name="T63" fmla="*/ 252 h 265"/>
                <a:gd name="T64" fmla="*/ 267 w 538"/>
                <a:gd name="T65" fmla="*/ 255 h 265"/>
                <a:gd name="T66" fmla="*/ 228 w 538"/>
                <a:gd name="T67" fmla="*/ 252 h 265"/>
                <a:gd name="T68" fmla="*/ 191 w 538"/>
                <a:gd name="T69" fmla="*/ 243 h 265"/>
                <a:gd name="T70" fmla="*/ 155 w 538"/>
                <a:gd name="T71" fmla="*/ 230 h 265"/>
                <a:gd name="T72" fmla="*/ 124 w 538"/>
                <a:gd name="T73" fmla="*/ 212 h 265"/>
                <a:gd name="T74" fmla="*/ 94 w 538"/>
                <a:gd name="T75" fmla="*/ 189 h 265"/>
                <a:gd name="T76" fmla="*/ 67 w 538"/>
                <a:gd name="T77" fmla="*/ 162 h 265"/>
                <a:gd name="T78" fmla="*/ 47 w 538"/>
                <a:gd name="T79" fmla="*/ 134 h 265"/>
                <a:gd name="T80" fmla="*/ 30 w 538"/>
                <a:gd name="T81" fmla="*/ 99 h 265"/>
                <a:gd name="T82" fmla="*/ 18 w 538"/>
                <a:gd name="T83" fmla="*/ 64 h 265"/>
                <a:gd name="T84" fmla="*/ 9 w 538"/>
                <a:gd name="T85" fmla="*/ 26 h 265"/>
                <a:gd name="T86" fmla="*/ 0 w 538"/>
                <a:gd name="T87" fmla="*/ 0 h 2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38"/>
                <a:gd name="T133" fmla="*/ 0 h 265"/>
                <a:gd name="T134" fmla="*/ 538 w 538"/>
                <a:gd name="T135" fmla="*/ 265 h 26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38" h="265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6" y="53"/>
                  </a:lnTo>
                  <a:lnTo>
                    <a:pt x="9" y="66"/>
                  </a:lnTo>
                  <a:lnTo>
                    <a:pt x="12" y="78"/>
                  </a:lnTo>
                  <a:lnTo>
                    <a:pt x="15" y="90"/>
                  </a:lnTo>
                  <a:lnTo>
                    <a:pt x="21" y="102"/>
                  </a:lnTo>
                  <a:lnTo>
                    <a:pt x="27" y="113"/>
                  </a:lnTo>
                  <a:lnTo>
                    <a:pt x="33" y="125"/>
                  </a:lnTo>
                  <a:lnTo>
                    <a:pt x="39" y="137"/>
                  </a:lnTo>
                  <a:lnTo>
                    <a:pt x="45" y="148"/>
                  </a:lnTo>
                  <a:lnTo>
                    <a:pt x="53" y="156"/>
                  </a:lnTo>
                  <a:lnTo>
                    <a:pt x="61" y="168"/>
                  </a:lnTo>
                  <a:lnTo>
                    <a:pt x="70" y="177"/>
                  </a:lnTo>
                  <a:lnTo>
                    <a:pt x="79" y="186"/>
                  </a:lnTo>
                  <a:lnTo>
                    <a:pt x="88" y="198"/>
                  </a:lnTo>
                  <a:lnTo>
                    <a:pt x="97" y="203"/>
                  </a:lnTo>
                  <a:lnTo>
                    <a:pt x="109" y="212"/>
                  </a:lnTo>
                  <a:lnTo>
                    <a:pt x="118" y="221"/>
                  </a:lnTo>
                  <a:lnTo>
                    <a:pt x="130" y="227"/>
                  </a:lnTo>
                  <a:lnTo>
                    <a:pt x="140" y="232"/>
                  </a:lnTo>
                  <a:lnTo>
                    <a:pt x="152" y="238"/>
                  </a:lnTo>
                  <a:lnTo>
                    <a:pt x="164" y="243"/>
                  </a:lnTo>
                  <a:lnTo>
                    <a:pt x="176" y="249"/>
                  </a:lnTo>
                  <a:lnTo>
                    <a:pt x="188" y="252"/>
                  </a:lnTo>
                  <a:lnTo>
                    <a:pt x="200" y="255"/>
                  </a:lnTo>
                  <a:lnTo>
                    <a:pt x="215" y="258"/>
                  </a:lnTo>
                  <a:lnTo>
                    <a:pt x="225" y="261"/>
                  </a:lnTo>
                  <a:lnTo>
                    <a:pt x="240" y="264"/>
                  </a:lnTo>
                  <a:lnTo>
                    <a:pt x="255" y="264"/>
                  </a:lnTo>
                  <a:lnTo>
                    <a:pt x="267" y="264"/>
                  </a:lnTo>
                  <a:lnTo>
                    <a:pt x="282" y="264"/>
                  </a:lnTo>
                  <a:lnTo>
                    <a:pt x="297" y="264"/>
                  </a:lnTo>
                  <a:lnTo>
                    <a:pt x="308" y="261"/>
                  </a:lnTo>
                  <a:lnTo>
                    <a:pt x="322" y="258"/>
                  </a:lnTo>
                  <a:lnTo>
                    <a:pt x="334" y="255"/>
                  </a:lnTo>
                  <a:lnTo>
                    <a:pt x="346" y="252"/>
                  </a:lnTo>
                  <a:lnTo>
                    <a:pt x="361" y="249"/>
                  </a:lnTo>
                  <a:lnTo>
                    <a:pt x="373" y="243"/>
                  </a:lnTo>
                  <a:lnTo>
                    <a:pt x="385" y="238"/>
                  </a:lnTo>
                  <a:lnTo>
                    <a:pt x="396" y="232"/>
                  </a:lnTo>
                  <a:lnTo>
                    <a:pt x="404" y="227"/>
                  </a:lnTo>
                  <a:lnTo>
                    <a:pt x="416" y="221"/>
                  </a:lnTo>
                  <a:lnTo>
                    <a:pt x="428" y="212"/>
                  </a:lnTo>
                  <a:lnTo>
                    <a:pt x="437" y="203"/>
                  </a:lnTo>
                  <a:lnTo>
                    <a:pt x="449" y="198"/>
                  </a:lnTo>
                  <a:lnTo>
                    <a:pt x="458" y="186"/>
                  </a:lnTo>
                  <a:lnTo>
                    <a:pt x="467" y="177"/>
                  </a:lnTo>
                  <a:lnTo>
                    <a:pt x="475" y="168"/>
                  </a:lnTo>
                  <a:lnTo>
                    <a:pt x="481" y="156"/>
                  </a:lnTo>
                  <a:lnTo>
                    <a:pt x="490" y="148"/>
                  </a:lnTo>
                  <a:lnTo>
                    <a:pt x="495" y="137"/>
                  </a:lnTo>
                  <a:lnTo>
                    <a:pt x="504" y="125"/>
                  </a:lnTo>
                  <a:lnTo>
                    <a:pt x="510" y="113"/>
                  </a:lnTo>
                  <a:lnTo>
                    <a:pt x="513" y="102"/>
                  </a:lnTo>
                  <a:lnTo>
                    <a:pt x="519" y="90"/>
                  </a:lnTo>
                  <a:lnTo>
                    <a:pt x="522" y="78"/>
                  </a:lnTo>
                  <a:lnTo>
                    <a:pt x="528" y="66"/>
                  </a:lnTo>
                  <a:lnTo>
                    <a:pt x="531" y="53"/>
                  </a:lnTo>
                  <a:lnTo>
                    <a:pt x="531" y="41"/>
                  </a:lnTo>
                  <a:lnTo>
                    <a:pt x="534" y="26"/>
                  </a:lnTo>
                  <a:lnTo>
                    <a:pt x="534" y="12"/>
                  </a:lnTo>
                  <a:lnTo>
                    <a:pt x="537" y="0"/>
                  </a:lnTo>
                  <a:lnTo>
                    <a:pt x="525" y="0"/>
                  </a:lnTo>
                  <a:lnTo>
                    <a:pt x="525" y="12"/>
                  </a:lnTo>
                  <a:lnTo>
                    <a:pt x="525" y="26"/>
                  </a:lnTo>
                  <a:lnTo>
                    <a:pt x="522" y="38"/>
                  </a:lnTo>
                  <a:lnTo>
                    <a:pt x="522" y="53"/>
                  </a:lnTo>
                  <a:lnTo>
                    <a:pt x="519" y="64"/>
                  </a:lnTo>
                  <a:lnTo>
                    <a:pt x="513" y="75"/>
                  </a:lnTo>
                  <a:lnTo>
                    <a:pt x="510" y="87"/>
                  </a:lnTo>
                  <a:lnTo>
                    <a:pt x="504" y="99"/>
                  </a:lnTo>
                  <a:lnTo>
                    <a:pt x="501" y="110"/>
                  </a:lnTo>
                  <a:lnTo>
                    <a:pt x="495" y="122"/>
                  </a:lnTo>
                  <a:lnTo>
                    <a:pt x="490" y="134"/>
                  </a:lnTo>
                  <a:lnTo>
                    <a:pt x="481" y="143"/>
                  </a:lnTo>
                  <a:lnTo>
                    <a:pt x="475" y="154"/>
                  </a:lnTo>
                  <a:lnTo>
                    <a:pt x="467" y="162"/>
                  </a:lnTo>
                  <a:lnTo>
                    <a:pt x="461" y="171"/>
                  </a:lnTo>
                  <a:lnTo>
                    <a:pt x="452" y="180"/>
                  </a:lnTo>
                  <a:lnTo>
                    <a:pt x="443" y="189"/>
                  </a:lnTo>
                  <a:lnTo>
                    <a:pt x="431" y="198"/>
                  </a:lnTo>
                  <a:lnTo>
                    <a:pt x="422" y="206"/>
                  </a:lnTo>
                  <a:lnTo>
                    <a:pt x="410" y="212"/>
                  </a:lnTo>
                  <a:lnTo>
                    <a:pt x="402" y="218"/>
                  </a:lnTo>
                  <a:lnTo>
                    <a:pt x="390" y="227"/>
                  </a:lnTo>
                  <a:lnTo>
                    <a:pt x="382" y="230"/>
                  </a:lnTo>
                  <a:lnTo>
                    <a:pt x="370" y="235"/>
                  </a:lnTo>
                  <a:lnTo>
                    <a:pt x="358" y="241"/>
                  </a:lnTo>
                  <a:lnTo>
                    <a:pt x="343" y="243"/>
                  </a:lnTo>
                  <a:lnTo>
                    <a:pt x="331" y="246"/>
                  </a:lnTo>
                  <a:lnTo>
                    <a:pt x="319" y="249"/>
                  </a:lnTo>
                  <a:lnTo>
                    <a:pt x="308" y="252"/>
                  </a:lnTo>
                  <a:lnTo>
                    <a:pt x="294" y="255"/>
                  </a:lnTo>
                  <a:lnTo>
                    <a:pt x="282" y="255"/>
                  </a:lnTo>
                  <a:lnTo>
                    <a:pt x="267" y="255"/>
                  </a:lnTo>
                  <a:lnTo>
                    <a:pt x="255" y="255"/>
                  </a:lnTo>
                  <a:lnTo>
                    <a:pt x="240" y="255"/>
                  </a:lnTo>
                  <a:lnTo>
                    <a:pt x="228" y="252"/>
                  </a:lnTo>
                  <a:lnTo>
                    <a:pt x="215" y="249"/>
                  </a:lnTo>
                  <a:lnTo>
                    <a:pt x="203" y="246"/>
                  </a:lnTo>
                  <a:lnTo>
                    <a:pt x="191" y="243"/>
                  </a:lnTo>
                  <a:lnTo>
                    <a:pt x="179" y="241"/>
                  </a:lnTo>
                  <a:lnTo>
                    <a:pt x="167" y="235"/>
                  </a:lnTo>
                  <a:lnTo>
                    <a:pt x="155" y="230"/>
                  </a:lnTo>
                  <a:lnTo>
                    <a:pt x="143" y="227"/>
                  </a:lnTo>
                  <a:lnTo>
                    <a:pt x="133" y="218"/>
                  </a:lnTo>
                  <a:lnTo>
                    <a:pt x="124" y="212"/>
                  </a:lnTo>
                  <a:lnTo>
                    <a:pt x="112" y="206"/>
                  </a:lnTo>
                  <a:lnTo>
                    <a:pt x="103" y="198"/>
                  </a:lnTo>
                  <a:lnTo>
                    <a:pt x="94" y="189"/>
                  </a:lnTo>
                  <a:lnTo>
                    <a:pt x="85" y="180"/>
                  </a:lnTo>
                  <a:lnTo>
                    <a:pt x="76" y="171"/>
                  </a:lnTo>
                  <a:lnTo>
                    <a:pt x="67" y="162"/>
                  </a:lnTo>
                  <a:lnTo>
                    <a:pt x="58" y="154"/>
                  </a:lnTo>
                  <a:lnTo>
                    <a:pt x="53" y="143"/>
                  </a:lnTo>
                  <a:lnTo>
                    <a:pt x="47" y="134"/>
                  </a:lnTo>
                  <a:lnTo>
                    <a:pt x="42" y="122"/>
                  </a:lnTo>
                  <a:lnTo>
                    <a:pt x="36" y="110"/>
                  </a:lnTo>
                  <a:lnTo>
                    <a:pt x="30" y="99"/>
                  </a:lnTo>
                  <a:lnTo>
                    <a:pt x="24" y="87"/>
                  </a:lnTo>
                  <a:lnTo>
                    <a:pt x="21" y="75"/>
                  </a:lnTo>
                  <a:lnTo>
                    <a:pt x="18" y="64"/>
                  </a:lnTo>
                  <a:lnTo>
                    <a:pt x="15" y="53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Freeform 152">
              <a:extLst>
                <a:ext uri="{FF2B5EF4-FFF2-40B4-BE49-F238E27FC236}">
                  <a16:creationId xmlns:a16="http://schemas.microsoft.com/office/drawing/2014/main" id="{C0498D3F-5883-439A-A80E-6045D0DF5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3538"/>
              <a:ext cx="517" cy="259"/>
            </a:xfrm>
            <a:custGeom>
              <a:avLst/>
              <a:gdLst>
                <a:gd name="T0" fmla="*/ 0 w 517"/>
                <a:gd name="T1" fmla="*/ 232 h 259"/>
                <a:gd name="T2" fmla="*/ 9 w 517"/>
                <a:gd name="T3" fmla="*/ 194 h 259"/>
                <a:gd name="T4" fmla="*/ 21 w 517"/>
                <a:gd name="T5" fmla="*/ 156 h 259"/>
                <a:gd name="T6" fmla="*/ 39 w 517"/>
                <a:gd name="T7" fmla="*/ 125 h 259"/>
                <a:gd name="T8" fmla="*/ 58 w 517"/>
                <a:gd name="T9" fmla="*/ 96 h 259"/>
                <a:gd name="T10" fmla="*/ 85 w 517"/>
                <a:gd name="T11" fmla="*/ 66 h 259"/>
                <a:gd name="T12" fmla="*/ 115 w 517"/>
                <a:gd name="T13" fmla="*/ 44 h 259"/>
                <a:gd name="T14" fmla="*/ 146 w 517"/>
                <a:gd name="T15" fmla="*/ 26 h 259"/>
                <a:gd name="T16" fmla="*/ 182 w 517"/>
                <a:gd name="T17" fmla="*/ 12 h 259"/>
                <a:gd name="T18" fmla="*/ 219 w 517"/>
                <a:gd name="T19" fmla="*/ 3 h 259"/>
                <a:gd name="T20" fmla="*/ 258 w 517"/>
                <a:gd name="T21" fmla="*/ 0 h 259"/>
                <a:gd name="T22" fmla="*/ 299 w 517"/>
                <a:gd name="T23" fmla="*/ 3 h 259"/>
                <a:gd name="T24" fmla="*/ 334 w 517"/>
                <a:gd name="T25" fmla="*/ 12 h 259"/>
                <a:gd name="T26" fmla="*/ 373 w 517"/>
                <a:gd name="T27" fmla="*/ 26 h 259"/>
                <a:gd name="T28" fmla="*/ 401 w 517"/>
                <a:gd name="T29" fmla="*/ 44 h 259"/>
                <a:gd name="T30" fmla="*/ 434 w 517"/>
                <a:gd name="T31" fmla="*/ 66 h 259"/>
                <a:gd name="T32" fmla="*/ 458 w 517"/>
                <a:gd name="T33" fmla="*/ 96 h 259"/>
                <a:gd name="T34" fmla="*/ 480 w 517"/>
                <a:gd name="T35" fmla="*/ 125 h 259"/>
                <a:gd name="T36" fmla="*/ 495 w 517"/>
                <a:gd name="T37" fmla="*/ 156 h 259"/>
                <a:gd name="T38" fmla="*/ 510 w 517"/>
                <a:gd name="T39" fmla="*/ 194 h 259"/>
                <a:gd name="T40" fmla="*/ 516 w 517"/>
                <a:gd name="T41" fmla="*/ 232 h 259"/>
                <a:gd name="T42" fmla="*/ 507 w 517"/>
                <a:gd name="T43" fmla="*/ 258 h 259"/>
                <a:gd name="T44" fmla="*/ 504 w 517"/>
                <a:gd name="T45" fmla="*/ 221 h 259"/>
                <a:gd name="T46" fmla="*/ 495 w 517"/>
                <a:gd name="T47" fmla="*/ 183 h 259"/>
                <a:gd name="T48" fmla="*/ 483 w 517"/>
                <a:gd name="T49" fmla="*/ 151 h 259"/>
                <a:gd name="T50" fmla="*/ 466 w 517"/>
                <a:gd name="T51" fmla="*/ 119 h 259"/>
                <a:gd name="T52" fmla="*/ 443 w 517"/>
                <a:gd name="T53" fmla="*/ 90 h 259"/>
                <a:gd name="T54" fmla="*/ 416 w 517"/>
                <a:gd name="T55" fmla="*/ 66 h 259"/>
                <a:gd name="T56" fmla="*/ 387 w 517"/>
                <a:gd name="T57" fmla="*/ 47 h 259"/>
                <a:gd name="T58" fmla="*/ 355 w 517"/>
                <a:gd name="T59" fmla="*/ 29 h 259"/>
                <a:gd name="T60" fmla="*/ 319 w 517"/>
                <a:gd name="T61" fmla="*/ 18 h 259"/>
                <a:gd name="T62" fmla="*/ 285 w 517"/>
                <a:gd name="T63" fmla="*/ 12 h 259"/>
                <a:gd name="T64" fmla="*/ 246 w 517"/>
                <a:gd name="T65" fmla="*/ 12 h 259"/>
                <a:gd name="T66" fmla="*/ 209 w 517"/>
                <a:gd name="T67" fmla="*/ 15 h 259"/>
                <a:gd name="T68" fmla="*/ 173 w 517"/>
                <a:gd name="T69" fmla="*/ 26 h 259"/>
                <a:gd name="T70" fmla="*/ 140 w 517"/>
                <a:gd name="T71" fmla="*/ 41 h 259"/>
                <a:gd name="T72" fmla="*/ 109 w 517"/>
                <a:gd name="T73" fmla="*/ 59 h 259"/>
                <a:gd name="T74" fmla="*/ 82 w 517"/>
                <a:gd name="T75" fmla="*/ 81 h 259"/>
                <a:gd name="T76" fmla="*/ 58 w 517"/>
                <a:gd name="T77" fmla="*/ 110 h 259"/>
                <a:gd name="T78" fmla="*/ 39 w 517"/>
                <a:gd name="T79" fmla="*/ 140 h 259"/>
                <a:gd name="T80" fmla="*/ 24 w 517"/>
                <a:gd name="T81" fmla="*/ 171 h 259"/>
                <a:gd name="T82" fmla="*/ 15 w 517"/>
                <a:gd name="T83" fmla="*/ 209 h 259"/>
                <a:gd name="T84" fmla="*/ 9 w 517"/>
                <a:gd name="T85" fmla="*/ 243 h 25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17"/>
                <a:gd name="T130" fmla="*/ 0 h 259"/>
                <a:gd name="T131" fmla="*/ 517 w 517"/>
                <a:gd name="T132" fmla="*/ 259 h 25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17" h="259">
                  <a:moveTo>
                    <a:pt x="0" y="258"/>
                  </a:moveTo>
                  <a:lnTo>
                    <a:pt x="0" y="243"/>
                  </a:lnTo>
                  <a:lnTo>
                    <a:pt x="0" y="232"/>
                  </a:lnTo>
                  <a:lnTo>
                    <a:pt x="3" y="218"/>
                  </a:lnTo>
                  <a:lnTo>
                    <a:pt x="6" y="206"/>
                  </a:lnTo>
                  <a:lnTo>
                    <a:pt x="9" y="194"/>
                  </a:lnTo>
                  <a:lnTo>
                    <a:pt x="12" y="180"/>
                  </a:lnTo>
                  <a:lnTo>
                    <a:pt x="15" y="168"/>
                  </a:lnTo>
                  <a:lnTo>
                    <a:pt x="21" y="156"/>
                  </a:lnTo>
                  <a:lnTo>
                    <a:pt x="27" y="145"/>
                  </a:lnTo>
                  <a:lnTo>
                    <a:pt x="33" y="137"/>
                  </a:lnTo>
                  <a:lnTo>
                    <a:pt x="39" y="125"/>
                  </a:lnTo>
                  <a:lnTo>
                    <a:pt x="44" y="113"/>
                  </a:lnTo>
                  <a:lnTo>
                    <a:pt x="49" y="105"/>
                  </a:lnTo>
                  <a:lnTo>
                    <a:pt x="58" y="96"/>
                  </a:lnTo>
                  <a:lnTo>
                    <a:pt x="67" y="84"/>
                  </a:lnTo>
                  <a:lnTo>
                    <a:pt x="76" y="75"/>
                  </a:lnTo>
                  <a:lnTo>
                    <a:pt x="85" y="66"/>
                  </a:lnTo>
                  <a:lnTo>
                    <a:pt x="94" y="61"/>
                  </a:lnTo>
                  <a:lnTo>
                    <a:pt x="103" y="53"/>
                  </a:lnTo>
                  <a:lnTo>
                    <a:pt x="115" y="44"/>
                  </a:lnTo>
                  <a:lnTo>
                    <a:pt x="124" y="38"/>
                  </a:lnTo>
                  <a:lnTo>
                    <a:pt x="134" y="32"/>
                  </a:lnTo>
                  <a:lnTo>
                    <a:pt x="146" y="26"/>
                  </a:lnTo>
                  <a:lnTo>
                    <a:pt x="158" y="21"/>
                  </a:lnTo>
                  <a:lnTo>
                    <a:pt x="170" y="18"/>
                  </a:lnTo>
                  <a:lnTo>
                    <a:pt x="182" y="12"/>
                  </a:lnTo>
                  <a:lnTo>
                    <a:pt x="194" y="9"/>
                  </a:lnTo>
                  <a:lnTo>
                    <a:pt x="206" y="6"/>
                  </a:lnTo>
                  <a:lnTo>
                    <a:pt x="219" y="3"/>
                  </a:lnTo>
                  <a:lnTo>
                    <a:pt x="231" y="3"/>
                  </a:lnTo>
                  <a:lnTo>
                    <a:pt x="246" y="0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5" y="3"/>
                  </a:lnTo>
                  <a:lnTo>
                    <a:pt x="299" y="3"/>
                  </a:lnTo>
                  <a:lnTo>
                    <a:pt x="310" y="6"/>
                  </a:lnTo>
                  <a:lnTo>
                    <a:pt x="322" y="9"/>
                  </a:lnTo>
                  <a:lnTo>
                    <a:pt x="334" y="12"/>
                  </a:lnTo>
                  <a:lnTo>
                    <a:pt x="349" y="18"/>
                  </a:lnTo>
                  <a:lnTo>
                    <a:pt x="361" y="21"/>
                  </a:lnTo>
                  <a:lnTo>
                    <a:pt x="373" y="26"/>
                  </a:lnTo>
                  <a:lnTo>
                    <a:pt x="381" y="32"/>
                  </a:lnTo>
                  <a:lnTo>
                    <a:pt x="392" y="38"/>
                  </a:lnTo>
                  <a:lnTo>
                    <a:pt x="401" y="44"/>
                  </a:lnTo>
                  <a:lnTo>
                    <a:pt x="413" y="53"/>
                  </a:lnTo>
                  <a:lnTo>
                    <a:pt x="422" y="61"/>
                  </a:lnTo>
                  <a:lnTo>
                    <a:pt x="434" y="66"/>
                  </a:lnTo>
                  <a:lnTo>
                    <a:pt x="443" y="75"/>
                  </a:lnTo>
                  <a:lnTo>
                    <a:pt x="452" y="84"/>
                  </a:lnTo>
                  <a:lnTo>
                    <a:pt x="458" y="96"/>
                  </a:lnTo>
                  <a:lnTo>
                    <a:pt x="466" y="105"/>
                  </a:lnTo>
                  <a:lnTo>
                    <a:pt x="472" y="113"/>
                  </a:lnTo>
                  <a:lnTo>
                    <a:pt x="480" y="125"/>
                  </a:lnTo>
                  <a:lnTo>
                    <a:pt x="486" y="137"/>
                  </a:lnTo>
                  <a:lnTo>
                    <a:pt x="492" y="145"/>
                  </a:lnTo>
                  <a:lnTo>
                    <a:pt x="495" y="156"/>
                  </a:lnTo>
                  <a:lnTo>
                    <a:pt x="501" y="168"/>
                  </a:lnTo>
                  <a:lnTo>
                    <a:pt x="504" y="180"/>
                  </a:lnTo>
                  <a:lnTo>
                    <a:pt x="510" y="194"/>
                  </a:lnTo>
                  <a:lnTo>
                    <a:pt x="513" y="206"/>
                  </a:lnTo>
                  <a:lnTo>
                    <a:pt x="513" y="218"/>
                  </a:lnTo>
                  <a:lnTo>
                    <a:pt x="516" y="232"/>
                  </a:lnTo>
                  <a:lnTo>
                    <a:pt x="516" y="243"/>
                  </a:lnTo>
                  <a:lnTo>
                    <a:pt x="516" y="258"/>
                  </a:lnTo>
                  <a:lnTo>
                    <a:pt x="507" y="258"/>
                  </a:lnTo>
                  <a:lnTo>
                    <a:pt x="507" y="243"/>
                  </a:lnTo>
                  <a:lnTo>
                    <a:pt x="507" y="232"/>
                  </a:lnTo>
                  <a:lnTo>
                    <a:pt x="504" y="221"/>
                  </a:lnTo>
                  <a:lnTo>
                    <a:pt x="504" y="209"/>
                  </a:lnTo>
                  <a:lnTo>
                    <a:pt x="501" y="197"/>
                  </a:lnTo>
                  <a:lnTo>
                    <a:pt x="495" y="183"/>
                  </a:lnTo>
                  <a:lnTo>
                    <a:pt x="492" y="171"/>
                  </a:lnTo>
                  <a:lnTo>
                    <a:pt x="489" y="162"/>
                  </a:lnTo>
                  <a:lnTo>
                    <a:pt x="483" y="151"/>
                  </a:lnTo>
                  <a:lnTo>
                    <a:pt x="477" y="140"/>
                  </a:lnTo>
                  <a:lnTo>
                    <a:pt x="472" y="131"/>
                  </a:lnTo>
                  <a:lnTo>
                    <a:pt x="466" y="119"/>
                  </a:lnTo>
                  <a:lnTo>
                    <a:pt x="458" y="110"/>
                  </a:lnTo>
                  <a:lnTo>
                    <a:pt x="452" y="102"/>
                  </a:lnTo>
                  <a:lnTo>
                    <a:pt x="443" y="90"/>
                  </a:lnTo>
                  <a:lnTo>
                    <a:pt x="434" y="81"/>
                  </a:lnTo>
                  <a:lnTo>
                    <a:pt x="425" y="75"/>
                  </a:lnTo>
                  <a:lnTo>
                    <a:pt x="416" y="66"/>
                  </a:lnTo>
                  <a:lnTo>
                    <a:pt x="407" y="59"/>
                  </a:lnTo>
                  <a:lnTo>
                    <a:pt x="398" y="53"/>
                  </a:lnTo>
                  <a:lnTo>
                    <a:pt x="387" y="47"/>
                  </a:lnTo>
                  <a:lnTo>
                    <a:pt x="379" y="41"/>
                  </a:lnTo>
                  <a:lnTo>
                    <a:pt x="367" y="35"/>
                  </a:lnTo>
                  <a:lnTo>
                    <a:pt x="355" y="29"/>
                  </a:lnTo>
                  <a:lnTo>
                    <a:pt x="343" y="26"/>
                  </a:lnTo>
                  <a:lnTo>
                    <a:pt x="334" y="21"/>
                  </a:lnTo>
                  <a:lnTo>
                    <a:pt x="319" y="18"/>
                  </a:lnTo>
                  <a:lnTo>
                    <a:pt x="307" y="15"/>
                  </a:lnTo>
                  <a:lnTo>
                    <a:pt x="297" y="12"/>
                  </a:lnTo>
                  <a:lnTo>
                    <a:pt x="285" y="12"/>
                  </a:lnTo>
                  <a:lnTo>
                    <a:pt x="273" y="12"/>
                  </a:lnTo>
                  <a:lnTo>
                    <a:pt x="258" y="9"/>
                  </a:lnTo>
                  <a:lnTo>
                    <a:pt x="246" y="12"/>
                  </a:lnTo>
                  <a:lnTo>
                    <a:pt x="231" y="12"/>
                  </a:lnTo>
                  <a:lnTo>
                    <a:pt x="219" y="12"/>
                  </a:lnTo>
                  <a:lnTo>
                    <a:pt x="209" y="15"/>
                  </a:lnTo>
                  <a:lnTo>
                    <a:pt x="197" y="18"/>
                  </a:lnTo>
                  <a:lnTo>
                    <a:pt x="185" y="21"/>
                  </a:lnTo>
                  <a:lnTo>
                    <a:pt x="173" y="26"/>
                  </a:lnTo>
                  <a:lnTo>
                    <a:pt x="161" y="29"/>
                  </a:lnTo>
                  <a:lnTo>
                    <a:pt x="149" y="35"/>
                  </a:lnTo>
                  <a:lnTo>
                    <a:pt x="140" y="41"/>
                  </a:lnTo>
                  <a:lnTo>
                    <a:pt x="129" y="47"/>
                  </a:lnTo>
                  <a:lnTo>
                    <a:pt x="121" y="53"/>
                  </a:lnTo>
                  <a:lnTo>
                    <a:pt x="109" y="59"/>
                  </a:lnTo>
                  <a:lnTo>
                    <a:pt x="100" y="66"/>
                  </a:lnTo>
                  <a:lnTo>
                    <a:pt x="91" y="75"/>
                  </a:lnTo>
                  <a:lnTo>
                    <a:pt x="82" y="81"/>
                  </a:lnTo>
                  <a:lnTo>
                    <a:pt x="73" y="90"/>
                  </a:lnTo>
                  <a:lnTo>
                    <a:pt x="67" y="102"/>
                  </a:lnTo>
                  <a:lnTo>
                    <a:pt x="58" y="110"/>
                  </a:lnTo>
                  <a:lnTo>
                    <a:pt x="52" y="119"/>
                  </a:lnTo>
                  <a:lnTo>
                    <a:pt x="44" y="131"/>
                  </a:lnTo>
                  <a:lnTo>
                    <a:pt x="39" y="140"/>
                  </a:lnTo>
                  <a:lnTo>
                    <a:pt x="33" y="151"/>
                  </a:lnTo>
                  <a:lnTo>
                    <a:pt x="30" y="162"/>
                  </a:lnTo>
                  <a:lnTo>
                    <a:pt x="24" y="171"/>
                  </a:lnTo>
                  <a:lnTo>
                    <a:pt x="21" y="183"/>
                  </a:lnTo>
                  <a:lnTo>
                    <a:pt x="18" y="197"/>
                  </a:lnTo>
                  <a:lnTo>
                    <a:pt x="15" y="209"/>
                  </a:lnTo>
                  <a:lnTo>
                    <a:pt x="12" y="221"/>
                  </a:lnTo>
                  <a:lnTo>
                    <a:pt x="9" y="232"/>
                  </a:lnTo>
                  <a:lnTo>
                    <a:pt x="9" y="243"/>
                  </a:lnTo>
                  <a:lnTo>
                    <a:pt x="9" y="258"/>
                  </a:lnTo>
                  <a:lnTo>
                    <a:pt x="0" y="258"/>
                  </a:lnTo>
                </a:path>
              </a:pathLst>
            </a:custGeom>
            <a:solidFill>
              <a:srgbClr val="FFA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Freeform 153">
              <a:extLst>
                <a:ext uri="{FF2B5EF4-FFF2-40B4-BE49-F238E27FC236}">
                  <a16:creationId xmlns:a16="http://schemas.microsoft.com/office/drawing/2014/main" id="{EA4AE9E1-DB9D-46E9-BB34-B37E41F86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3802"/>
              <a:ext cx="517" cy="256"/>
            </a:xfrm>
            <a:custGeom>
              <a:avLst/>
              <a:gdLst>
                <a:gd name="T0" fmla="*/ 0 w 517"/>
                <a:gd name="T1" fmla="*/ 12 h 256"/>
                <a:gd name="T2" fmla="*/ 6 w 517"/>
                <a:gd name="T3" fmla="*/ 53 h 256"/>
                <a:gd name="T4" fmla="*/ 15 w 517"/>
                <a:gd name="T5" fmla="*/ 87 h 256"/>
                <a:gd name="T6" fmla="*/ 33 w 517"/>
                <a:gd name="T7" fmla="*/ 122 h 256"/>
                <a:gd name="T8" fmla="*/ 49 w 517"/>
                <a:gd name="T9" fmla="*/ 153 h 256"/>
                <a:gd name="T10" fmla="*/ 76 w 517"/>
                <a:gd name="T11" fmla="*/ 180 h 256"/>
                <a:gd name="T12" fmla="*/ 103 w 517"/>
                <a:gd name="T13" fmla="*/ 206 h 256"/>
                <a:gd name="T14" fmla="*/ 134 w 517"/>
                <a:gd name="T15" fmla="*/ 227 h 256"/>
                <a:gd name="T16" fmla="*/ 170 w 517"/>
                <a:gd name="T17" fmla="*/ 240 h 256"/>
                <a:gd name="T18" fmla="*/ 206 w 517"/>
                <a:gd name="T19" fmla="*/ 249 h 256"/>
                <a:gd name="T20" fmla="*/ 246 w 517"/>
                <a:gd name="T21" fmla="*/ 255 h 256"/>
                <a:gd name="T22" fmla="*/ 285 w 517"/>
                <a:gd name="T23" fmla="*/ 255 h 256"/>
                <a:gd name="T24" fmla="*/ 322 w 517"/>
                <a:gd name="T25" fmla="*/ 246 h 256"/>
                <a:gd name="T26" fmla="*/ 361 w 517"/>
                <a:gd name="T27" fmla="*/ 234 h 256"/>
                <a:gd name="T28" fmla="*/ 392 w 517"/>
                <a:gd name="T29" fmla="*/ 218 h 256"/>
                <a:gd name="T30" fmla="*/ 422 w 517"/>
                <a:gd name="T31" fmla="*/ 197 h 256"/>
                <a:gd name="T32" fmla="*/ 452 w 517"/>
                <a:gd name="T33" fmla="*/ 171 h 256"/>
                <a:gd name="T34" fmla="*/ 472 w 517"/>
                <a:gd name="T35" fmla="*/ 143 h 256"/>
                <a:gd name="T36" fmla="*/ 492 w 517"/>
                <a:gd name="T37" fmla="*/ 110 h 256"/>
                <a:gd name="T38" fmla="*/ 504 w 517"/>
                <a:gd name="T39" fmla="*/ 75 h 256"/>
                <a:gd name="T40" fmla="*/ 513 w 517"/>
                <a:gd name="T41" fmla="*/ 38 h 256"/>
                <a:gd name="T42" fmla="*/ 516 w 517"/>
                <a:gd name="T43" fmla="*/ 0 h 256"/>
                <a:gd name="T44" fmla="*/ 507 w 517"/>
                <a:gd name="T45" fmla="*/ 26 h 256"/>
                <a:gd name="T46" fmla="*/ 501 w 517"/>
                <a:gd name="T47" fmla="*/ 61 h 256"/>
                <a:gd name="T48" fmla="*/ 489 w 517"/>
                <a:gd name="T49" fmla="*/ 96 h 256"/>
                <a:gd name="T50" fmla="*/ 472 w 517"/>
                <a:gd name="T51" fmla="*/ 128 h 256"/>
                <a:gd name="T52" fmla="*/ 452 w 517"/>
                <a:gd name="T53" fmla="*/ 156 h 256"/>
                <a:gd name="T54" fmla="*/ 425 w 517"/>
                <a:gd name="T55" fmla="*/ 183 h 256"/>
                <a:gd name="T56" fmla="*/ 398 w 517"/>
                <a:gd name="T57" fmla="*/ 203 h 256"/>
                <a:gd name="T58" fmla="*/ 367 w 517"/>
                <a:gd name="T59" fmla="*/ 224 h 256"/>
                <a:gd name="T60" fmla="*/ 334 w 517"/>
                <a:gd name="T61" fmla="*/ 234 h 256"/>
                <a:gd name="T62" fmla="*/ 297 w 517"/>
                <a:gd name="T63" fmla="*/ 243 h 256"/>
                <a:gd name="T64" fmla="*/ 258 w 517"/>
                <a:gd name="T65" fmla="*/ 246 h 256"/>
                <a:gd name="T66" fmla="*/ 219 w 517"/>
                <a:gd name="T67" fmla="*/ 243 h 256"/>
                <a:gd name="T68" fmla="*/ 185 w 517"/>
                <a:gd name="T69" fmla="*/ 234 h 256"/>
                <a:gd name="T70" fmla="*/ 149 w 517"/>
                <a:gd name="T71" fmla="*/ 224 h 256"/>
                <a:gd name="T72" fmla="*/ 121 w 517"/>
                <a:gd name="T73" fmla="*/ 203 h 256"/>
                <a:gd name="T74" fmla="*/ 91 w 517"/>
                <a:gd name="T75" fmla="*/ 183 h 256"/>
                <a:gd name="T76" fmla="*/ 67 w 517"/>
                <a:gd name="T77" fmla="*/ 156 h 256"/>
                <a:gd name="T78" fmla="*/ 44 w 517"/>
                <a:gd name="T79" fmla="*/ 128 h 256"/>
                <a:gd name="T80" fmla="*/ 30 w 517"/>
                <a:gd name="T81" fmla="*/ 96 h 256"/>
                <a:gd name="T82" fmla="*/ 18 w 517"/>
                <a:gd name="T83" fmla="*/ 61 h 256"/>
                <a:gd name="T84" fmla="*/ 9 w 517"/>
                <a:gd name="T85" fmla="*/ 26 h 256"/>
                <a:gd name="T86" fmla="*/ 0 w 517"/>
                <a:gd name="T87" fmla="*/ 0 h 2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17"/>
                <a:gd name="T133" fmla="*/ 0 h 256"/>
                <a:gd name="T134" fmla="*/ 517 w 517"/>
                <a:gd name="T135" fmla="*/ 256 h 2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17" h="2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3"/>
                  </a:lnTo>
                  <a:lnTo>
                    <a:pt x="9" y="64"/>
                  </a:lnTo>
                  <a:lnTo>
                    <a:pt x="12" y="75"/>
                  </a:lnTo>
                  <a:lnTo>
                    <a:pt x="15" y="87"/>
                  </a:lnTo>
                  <a:lnTo>
                    <a:pt x="21" y="99"/>
                  </a:lnTo>
                  <a:lnTo>
                    <a:pt x="27" y="110"/>
                  </a:lnTo>
                  <a:lnTo>
                    <a:pt x="33" y="122"/>
                  </a:lnTo>
                  <a:lnTo>
                    <a:pt x="39" y="134"/>
                  </a:lnTo>
                  <a:lnTo>
                    <a:pt x="44" y="143"/>
                  </a:lnTo>
                  <a:lnTo>
                    <a:pt x="49" y="153"/>
                  </a:lnTo>
                  <a:lnTo>
                    <a:pt x="58" y="162"/>
                  </a:lnTo>
                  <a:lnTo>
                    <a:pt x="67" y="171"/>
                  </a:lnTo>
                  <a:lnTo>
                    <a:pt x="76" y="180"/>
                  </a:lnTo>
                  <a:lnTo>
                    <a:pt x="85" y="189"/>
                  </a:lnTo>
                  <a:lnTo>
                    <a:pt x="94" y="197"/>
                  </a:lnTo>
                  <a:lnTo>
                    <a:pt x="103" y="206"/>
                  </a:lnTo>
                  <a:lnTo>
                    <a:pt x="115" y="212"/>
                  </a:lnTo>
                  <a:lnTo>
                    <a:pt x="124" y="218"/>
                  </a:lnTo>
                  <a:lnTo>
                    <a:pt x="134" y="227"/>
                  </a:lnTo>
                  <a:lnTo>
                    <a:pt x="146" y="230"/>
                  </a:lnTo>
                  <a:lnTo>
                    <a:pt x="158" y="234"/>
                  </a:lnTo>
                  <a:lnTo>
                    <a:pt x="170" y="240"/>
                  </a:lnTo>
                  <a:lnTo>
                    <a:pt x="182" y="243"/>
                  </a:lnTo>
                  <a:lnTo>
                    <a:pt x="194" y="246"/>
                  </a:lnTo>
                  <a:lnTo>
                    <a:pt x="206" y="249"/>
                  </a:lnTo>
                  <a:lnTo>
                    <a:pt x="219" y="252"/>
                  </a:lnTo>
                  <a:lnTo>
                    <a:pt x="231" y="255"/>
                  </a:lnTo>
                  <a:lnTo>
                    <a:pt x="246" y="255"/>
                  </a:lnTo>
                  <a:lnTo>
                    <a:pt x="258" y="255"/>
                  </a:lnTo>
                  <a:lnTo>
                    <a:pt x="273" y="255"/>
                  </a:lnTo>
                  <a:lnTo>
                    <a:pt x="285" y="255"/>
                  </a:lnTo>
                  <a:lnTo>
                    <a:pt x="299" y="252"/>
                  </a:lnTo>
                  <a:lnTo>
                    <a:pt x="310" y="249"/>
                  </a:lnTo>
                  <a:lnTo>
                    <a:pt x="322" y="246"/>
                  </a:lnTo>
                  <a:lnTo>
                    <a:pt x="334" y="243"/>
                  </a:lnTo>
                  <a:lnTo>
                    <a:pt x="349" y="240"/>
                  </a:lnTo>
                  <a:lnTo>
                    <a:pt x="361" y="234"/>
                  </a:lnTo>
                  <a:lnTo>
                    <a:pt x="373" y="230"/>
                  </a:lnTo>
                  <a:lnTo>
                    <a:pt x="381" y="227"/>
                  </a:lnTo>
                  <a:lnTo>
                    <a:pt x="392" y="218"/>
                  </a:lnTo>
                  <a:lnTo>
                    <a:pt x="401" y="212"/>
                  </a:lnTo>
                  <a:lnTo>
                    <a:pt x="413" y="206"/>
                  </a:lnTo>
                  <a:lnTo>
                    <a:pt x="422" y="197"/>
                  </a:lnTo>
                  <a:lnTo>
                    <a:pt x="434" y="189"/>
                  </a:lnTo>
                  <a:lnTo>
                    <a:pt x="443" y="180"/>
                  </a:lnTo>
                  <a:lnTo>
                    <a:pt x="452" y="171"/>
                  </a:lnTo>
                  <a:lnTo>
                    <a:pt x="458" y="162"/>
                  </a:lnTo>
                  <a:lnTo>
                    <a:pt x="466" y="153"/>
                  </a:lnTo>
                  <a:lnTo>
                    <a:pt x="472" y="143"/>
                  </a:lnTo>
                  <a:lnTo>
                    <a:pt x="480" y="134"/>
                  </a:lnTo>
                  <a:lnTo>
                    <a:pt x="486" y="122"/>
                  </a:lnTo>
                  <a:lnTo>
                    <a:pt x="492" y="110"/>
                  </a:lnTo>
                  <a:lnTo>
                    <a:pt x="495" y="99"/>
                  </a:lnTo>
                  <a:lnTo>
                    <a:pt x="501" y="87"/>
                  </a:lnTo>
                  <a:lnTo>
                    <a:pt x="504" y="75"/>
                  </a:lnTo>
                  <a:lnTo>
                    <a:pt x="510" y="64"/>
                  </a:lnTo>
                  <a:lnTo>
                    <a:pt x="513" y="53"/>
                  </a:lnTo>
                  <a:lnTo>
                    <a:pt x="513" y="38"/>
                  </a:lnTo>
                  <a:lnTo>
                    <a:pt x="516" y="26"/>
                  </a:lnTo>
                  <a:lnTo>
                    <a:pt x="516" y="12"/>
                  </a:lnTo>
                  <a:lnTo>
                    <a:pt x="516" y="0"/>
                  </a:lnTo>
                  <a:lnTo>
                    <a:pt x="507" y="0"/>
                  </a:lnTo>
                  <a:lnTo>
                    <a:pt x="507" y="12"/>
                  </a:lnTo>
                  <a:lnTo>
                    <a:pt x="507" y="26"/>
                  </a:lnTo>
                  <a:lnTo>
                    <a:pt x="504" y="38"/>
                  </a:lnTo>
                  <a:lnTo>
                    <a:pt x="504" y="50"/>
                  </a:lnTo>
                  <a:lnTo>
                    <a:pt x="501" y="61"/>
                  </a:lnTo>
                  <a:lnTo>
                    <a:pt x="495" y="72"/>
                  </a:lnTo>
                  <a:lnTo>
                    <a:pt x="492" y="84"/>
                  </a:lnTo>
                  <a:lnTo>
                    <a:pt x="489" y="96"/>
                  </a:lnTo>
                  <a:lnTo>
                    <a:pt x="483" y="107"/>
                  </a:lnTo>
                  <a:lnTo>
                    <a:pt x="477" y="116"/>
                  </a:lnTo>
                  <a:lnTo>
                    <a:pt x="472" y="128"/>
                  </a:lnTo>
                  <a:lnTo>
                    <a:pt x="466" y="137"/>
                  </a:lnTo>
                  <a:lnTo>
                    <a:pt x="458" y="148"/>
                  </a:lnTo>
                  <a:lnTo>
                    <a:pt x="452" y="156"/>
                  </a:lnTo>
                  <a:lnTo>
                    <a:pt x="443" y="165"/>
                  </a:lnTo>
                  <a:lnTo>
                    <a:pt x="434" y="174"/>
                  </a:lnTo>
                  <a:lnTo>
                    <a:pt x="425" y="183"/>
                  </a:lnTo>
                  <a:lnTo>
                    <a:pt x="416" y="191"/>
                  </a:lnTo>
                  <a:lnTo>
                    <a:pt x="407" y="197"/>
                  </a:lnTo>
                  <a:lnTo>
                    <a:pt x="398" y="203"/>
                  </a:lnTo>
                  <a:lnTo>
                    <a:pt x="387" y="212"/>
                  </a:lnTo>
                  <a:lnTo>
                    <a:pt x="379" y="218"/>
                  </a:lnTo>
                  <a:lnTo>
                    <a:pt x="367" y="224"/>
                  </a:lnTo>
                  <a:lnTo>
                    <a:pt x="355" y="227"/>
                  </a:lnTo>
                  <a:lnTo>
                    <a:pt x="343" y="232"/>
                  </a:lnTo>
                  <a:lnTo>
                    <a:pt x="334" y="234"/>
                  </a:lnTo>
                  <a:lnTo>
                    <a:pt x="319" y="237"/>
                  </a:lnTo>
                  <a:lnTo>
                    <a:pt x="307" y="240"/>
                  </a:lnTo>
                  <a:lnTo>
                    <a:pt x="297" y="243"/>
                  </a:lnTo>
                  <a:lnTo>
                    <a:pt x="285" y="246"/>
                  </a:lnTo>
                  <a:lnTo>
                    <a:pt x="273" y="246"/>
                  </a:lnTo>
                  <a:lnTo>
                    <a:pt x="258" y="246"/>
                  </a:lnTo>
                  <a:lnTo>
                    <a:pt x="246" y="246"/>
                  </a:lnTo>
                  <a:lnTo>
                    <a:pt x="231" y="246"/>
                  </a:lnTo>
                  <a:lnTo>
                    <a:pt x="219" y="243"/>
                  </a:lnTo>
                  <a:lnTo>
                    <a:pt x="209" y="240"/>
                  </a:lnTo>
                  <a:lnTo>
                    <a:pt x="197" y="237"/>
                  </a:lnTo>
                  <a:lnTo>
                    <a:pt x="185" y="234"/>
                  </a:lnTo>
                  <a:lnTo>
                    <a:pt x="173" y="232"/>
                  </a:lnTo>
                  <a:lnTo>
                    <a:pt x="161" y="227"/>
                  </a:lnTo>
                  <a:lnTo>
                    <a:pt x="149" y="224"/>
                  </a:lnTo>
                  <a:lnTo>
                    <a:pt x="140" y="218"/>
                  </a:lnTo>
                  <a:lnTo>
                    <a:pt x="129" y="212"/>
                  </a:lnTo>
                  <a:lnTo>
                    <a:pt x="121" y="203"/>
                  </a:lnTo>
                  <a:lnTo>
                    <a:pt x="109" y="197"/>
                  </a:lnTo>
                  <a:lnTo>
                    <a:pt x="100" y="191"/>
                  </a:lnTo>
                  <a:lnTo>
                    <a:pt x="91" y="183"/>
                  </a:lnTo>
                  <a:lnTo>
                    <a:pt x="82" y="174"/>
                  </a:lnTo>
                  <a:lnTo>
                    <a:pt x="73" y="165"/>
                  </a:lnTo>
                  <a:lnTo>
                    <a:pt x="67" y="156"/>
                  </a:lnTo>
                  <a:lnTo>
                    <a:pt x="58" y="148"/>
                  </a:lnTo>
                  <a:lnTo>
                    <a:pt x="52" y="137"/>
                  </a:lnTo>
                  <a:lnTo>
                    <a:pt x="44" y="128"/>
                  </a:lnTo>
                  <a:lnTo>
                    <a:pt x="39" y="116"/>
                  </a:lnTo>
                  <a:lnTo>
                    <a:pt x="33" y="107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21" y="72"/>
                  </a:lnTo>
                  <a:lnTo>
                    <a:pt x="18" y="61"/>
                  </a:lnTo>
                  <a:lnTo>
                    <a:pt x="15" y="50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4" name="Freeform 154">
              <a:extLst>
                <a:ext uri="{FF2B5EF4-FFF2-40B4-BE49-F238E27FC236}">
                  <a16:creationId xmlns:a16="http://schemas.microsoft.com/office/drawing/2014/main" id="{A55452EF-F26A-44B9-AD98-B97B5DC5F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547"/>
              <a:ext cx="499" cy="250"/>
            </a:xfrm>
            <a:custGeom>
              <a:avLst/>
              <a:gdLst>
                <a:gd name="T0" fmla="*/ 0 w 499"/>
                <a:gd name="T1" fmla="*/ 223 h 250"/>
                <a:gd name="T2" fmla="*/ 9 w 499"/>
                <a:gd name="T3" fmla="*/ 188 h 250"/>
                <a:gd name="T4" fmla="*/ 21 w 499"/>
                <a:gd name="T5" fmla="*/ 153 h 250"/>
                <a:gd name="T6" fmla="*/ 36 w 499"/>
                <a:gd name="T7" fmla="*/ 122 h 250"/>
                <a:gd name="T8" fmla="*/ 58 w 499"/>
                <a:gd name="T9" fmla="*/ 93 h 250"/>
                <a:gd name="T10" fmla="*/ 82 w 499"/>
                <a:gd name="T11" fmla="*/ 66 h 250"/>
                <a:gd name="T12" fmla="*/ 112 w 499"/>
                <a:gd name="T13" fmla="*/ 44 h 250"/>
                <a:gd name="T14" fmla="*/ 140 w 499"/>
                <a:gd name="T15" fmla="*/ 26 h 250"/>
                <a:gd name="T16" fmla="*/ 176 w 499"/>
                <a:gd name="T17" fmla="*/ 12 h 250"/>
                <a:gd name="T18" fmla="*/ 210 w 499"/>
                <a:gd name="T19" fmla="*/ 3 h 250"/>
                <a:gd name="T20" fmla="*/ 249 w 499"/>
                <a:gd name="T21" fmla="*/ 0 h 250"/>
                <a:gd name="T22" fmla="*/ 288 w 499"/>
                <a:gd name="T23" fmla="*/ 3 h 250"/>
                <a:gd name="T24" fmla="*/ 325 w 499"/>
                <a:gd name="T25" fmla="*/ 12 h 250"/>
                <a:gd name="T26" fmla="*/ 358 w 499"/>
                <a:gd name="T27" fmla="*/ 26 h 250"/>
                <a:gd name="T28" fmla="*/ 389 w 499"/>
                <a:gd name="T29" fmla="*/ 44 h 250"/>
                <a:gd name="T30" fmla="*/ 416 w 499"/>
                <a:gd name="T31" fmla="*/ 66 h 250"/>
                <a:gd name="T32" fmla="*/ 443 w 499"/>
                <a:gd name="T33" fmla="*/ 93 h 250"/>
                <a:gd name="T34" fmla="*/ 462 w 499"/>
                <a:gd name="T35" fmla="*/ 122 h 250"/>
                <a:gd name="T36" fmla="*/ 480 w 499"/>
                <a:gd name="T37" fmla="*/ 153 h 250"/>
                <a:gd name="T38" fmla="*/ 492 w 499"/>
                <a:gd name="T39" fmla="*/ 188 h 250"/>
                <a:gd name="T40" fmla="*/ 498 w 499"/>
                <a:gd name="T41" fmla="*/ 223 h 250"/>
                <a:gd name="T42" fmla="*/ 489 w 499"/>
                <a:gd name="T43" fmla="*/ 249 h 250"/>
                <a:gd name="T44" fmla="*/ 486 w 499"/>
                <a:gd name="T45" fmla="*/ 212 h 250"/>
                <a:gd name="T46" fmla="*/ 477 w 499"/>
                <a:gd name="T47" fmla="*/ 177 h 250"/>
                <a:gd name="T48" fmla="*/ 465 w 499"/>
                <a:gd name="T49" fmla="*/ 145 h 250"/>
                <a:gd name="T50" fmla="*/ 449 w 499"/>
                <a:gd name="T51" fmla="*/ 116 h 250"/>
                <a:gd name="T52" fmla="*/ 428 w 499"/>
                <a:gd name="T53" fmla="*/ 90 h 250"/>
                <a:gd name="T54" fmla="*/ 401 w 499"/>
                <a:gd name="T55" fmla="*/ 63 h 250"/>
                <a:gd name="T56" fmla="*/ 374 w 499"/>
                <a:gd name="T57" fmla="*/ 47 h 250"/>
                <a:gd name="T58" fmla="*/ 343 w 499"/>
                <a:gd name="T59" fmla="*/ 29 h 250"/>
                <a:gd name="T60" fmla="*/ 310 w 499"/>
                <a:gd name="T61" fmla="*/ 18 h 250"/>
                <a:gd name="T62" fmla="*/ 276 w 499"/>
                <a:gd name="T63" fmla="*/ 12 h 250"/>
                <a:gd name="T64" fmla="*/ 237 w 499"/>
                <a:gd name="T65" fmla="*/ 12 h 250"/>
                <a:gd name="T66" fmla="*/ 203 w 499"/>
                <a:gd name="T67" fmla="*/ 15 h 250"/>
                <a:gd name="T68" fmla="*/ 167 w 499"/>
                <a:gd name="T69" fmla="*/ 26 h 250"/>
                <a:gd name="T70" fmla="*/ 134 w 499"/>
                <a:gd name="T71" fmla="*/ 41 h 250"/>
                <a:gd name="T72" fmla="*/ 106 w 499"/>
                <a:gd name="T73" fmla="*/ 58 h 250"/>
                <a:gd name="T74" fmla="*/ 79 w 499"/>
                <a:gd name="T75" fmla="*/ 81 h 250"/>
                <a:gd name="T76" fmla="*/ 58 w 499"/>
                <a:gd name="T77" fmla="*/ 107 h 250"/>
                <a:gd name="T78" fmla="*/ 38 w 499"/>
                <a:gd name="T79" fmla="*/ 136 h 250"/>
                <a:gd name="T80" fmla="*/ 24 w 499"/>
                <a:gd name="T81" fmla="*/ 168 h 250"/>
                <a:gd name="T82" fmla="*/ 15 w 499"/>
                <a:gd name="T83" fmla="*/ 200 h 250"/>
                <a:gd name="T84" fmla="*/ 9 w 499"/>
                <a:gd name="T85" fmla="*/ 237 h 2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99"/>
                <a:gd name="T130" fmla="*/ 0 h 250"/>
                <a:gd name="T131" fmla="*/ 499 w 499"/>
                <a:gd name="T132" fmla="*/ 250 h 2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99" h="250">
                  <a:moveTo>
                    <a:pt x="0" y="249"/>
                  </a:moveTo>
                  <a:lnTo>
                    <a:pt x="0" y="234"/>
                  </a:lnTo>
                  <a:lnTo>
                    <a:pt x="0" y="223"/>
                  </a:lnTo>
                  <a:lnTo>
                    <a:pt x="3" y="212"/>
                  </a:lnTo>
                  <a:lnTo>
                    <a:pt x="6" y="200"/>
                  </a:lnTo>
                  <a:lnTo>
                    <a:pt x="9" y="188"/>
                  </a:lnTo>
                  <a:lnTo>
                    <a:pt x="12" y="174"/>
                  </a:lnTo>
                  <a:lnTo>
                    <a:pt x="15" y="162"/>
                  </a:lnTo>
                  <a:lnTo>
                    <a:pt x="21" y="153"/>
                  </a:lnTo>
                  <a:lnTo>
                    <a:pt x="24" y="142"/>
                  </a:lnTo>
                  <a:lnTo>
                    <a:pt x="30" y="131"/>
                  </a:lnTo>
                  <a:lnTo>
                    <a:pt x="36" y="122"/>
                  </a:lnTo>
                  <a:lnTo>
                    <a:pt x="43" y="110"/>
                  </a:lnTo>
                  <a:lnTo>
                    <a:pt x="49" y="102"/>
                  </a:lnTo>
                  <a:lnTo>
                    <a:pt x="58" y="93"/>
                  </a:lnTo>
                  <a:lnTo>
                    <a:pt x="64" y="81"/>
                  </a:lnTo>
                  <a:lnTo>
                    <a:pt x="73" y="72"/>
                  </a:lnTo>
                  <a:lnTo>
                    <a:pt x="82" y="66"/>
                  </a:lnTo>
                  <a:lnTo>
                    <a:pt x="91" y="58"/>
                  </a:lnTo>
                  <a:lnTo>
                    <a:pt x="100" y="50"/>
                  </a:lnTo>
                  <a:lnTo>
                    <a:pt x="112" y="44"/>
                  </a:lnTo>
                  <a:lnTo>
                    <a:pt x="121" y="38"/>
                  </a:lnTo>
                  <a:lnTo>
                    <a:pt x="131" y="32"/>
                  </a:lnTo>
                  <a:lnTo>
                    <a:pt x="140" y="26"/>
                  </a:lnTo>
                  <a:lnTo>
                    <a:pt x="152" y="21"/>
                  </a:lnTo>
                  <a:lnTo>
                    <a:pt x="164" y="18"/>
                  </a:lnTo>
                  <a:lnTo>
                    <a:pt x="176" y="12"/>
                  </a:lnTo>
                  <a:lnTo>
                    <a:pt x="188" y="9"/>
                  </a:lnTo>
                  <a:lnTo>
                    <a:pt x="200" y="6"/>
                  </a:lnTo>
                  <a:lnTo>
                    <a:pt x="210" y="3"/>
                  </a:lnTo>
                  <a:lnTo>
                    <a:pt x="222" y="3"/>
                  </a:lnTo>
                  <a:lnTo>
                    <a:pt x="237" y="3"/>
                  </a:lnTo>
                  <a:lnTo>
                    <a:pt x="249" y="0"/>
                  </a:lnTo>
                  <a:lnTo>
                    <a:pt x="264" y="3"/>
                  </a:lnTo>
                  <a:lnTo>
                    <a:pt x="276" y="3"/>
                  </a:lnTo>
                  <a:lnTo>
                    <a:pt x="288" y="3"/>
                  </a:lnTo>
                  <a:lnTo>
                    <a:pt x="298" y="6"/>
                  </a:lnTo>
                  <a:lnTo>
                    <a:pt x="310" y="9"/>
                  </a:lnTo>
                  <a:lnTo>
                    <a:pt x="325" y="12"/>
                  </a:lnTo>
                  <a:lnTo>
                    <a:pt x="334" y="18"/>
                  </a:lnTo>
                  <a:lnTo>
                    <a:pt x="346" y="21"/>
                  </a:lnTo>
                  <a:lnTo>
                    <a:pt x="358" y="26"/>
                  </a:lnTo>
                  <a:lnTo>
                    <a:pt x="370" y="32"/>
                  </a:lnTo>
                  <a:lnTo>
                    <a:pt x="377" y="38"/>
                  </a:lnTo>
                  <a:lnTo>
                    <a:pt x="389" y="44"/>
                  </a:lnTo>
                  <a:lnTo>
                    <a:pt x="398" y="50"/>
                  </a:lnTo>
                  <a:lnTo>
                    <a:pt x="407" y="58"/>
                  </a:lnTo>
                  <a:lnTo>
                    <a:pt x="416" y="66"/>
                  </a:lnTo>
                  <a:lnTo>
                    <a:pt x="425" y="72"/>
                  </a:lnTo>
                  <a:lnTo>
                    <a:pt x="434" y="81"/>
                  </a:lnTo>
                  <a:lnTo>
                    <a:pt x="443" y="93"/>
                  </a:lnTo>
                  <a:lnTo>
                    <a:pt x="449" y="102"/>
                  </a:lnTo>
                  <a:lnTo>
                    <a:pt x="457" y="110"/>
                  </a:lnTo>
                  <a:lnTo>
                    <a:pt x="462" y="122"/>
                  </a:lnTo>
                  <a:lnTo>
                    <a:pt x="468" y="131"/>
                  </a:lnTo>
                  <a:lnTo>
                    <a:pt x="474" y="142"/>
                  </a:lnTo>
                  <a:lnTo>
                    <a:pt x="480" y="153"/>
                  </a:lnTo>
                  <a:lnTo>
                    <a:pt x="483" y="162"/>
                  </a:lnTo>
                  <a:lnTo>
                    <a:pt x="486" y="174"/>
                  </a:lnTo>
                  <a:lnTo>
                    <a:pt x="492" y="188"/>
                  </a:lnTo>
                  <a:lnTo>
                    <a:pt x="495" y="200"/>
                  </a:lnTo>
                  <a:lnTo>
                    <a:pt x="495" y="212"/>
                  </a:lnTo>
                  <a:lnTo>
                    <a:pt x="498" y="223"/>
                  </a:lnTo>
                  <a:lnTo>
                    <a:pt x="498" y="234"/>
                  </a:lnTo>
                  <a:lnTo>
                    <a:pt x="498" y="249"/>
                  </a:lnTo>
                  <a:lnTo>
                    <a:pt x="489" y="249"/>
                  </a:lnTo>
                  <a:lnTo>
                    <a:pt x="489" y="237"/>
                  </a:lnTo>
                  <a:lnTo>
                    <a:pt x="489" y="223"/>
                  </a:lnTo>
                  <a:lnTo>
                    <a:pt x="486" y="212"/>
                  </a:lnTo>
                  <a:lnTo>
                    <a:pt x="483" y="200"/>
                  </a:lnTo>
                  <a:lnTo>
                    <a:pt x="480" y="188"/>
                  </a:lnTo>
                  <a:lnTo>
                    <a:pt x="477" y="177"/>
                  </a:lnTo>
                  <a:lnTo>
                    <a:pt x="474" y="168"/>
                  </a:lnTo>
                  <a:lnTo>
                    <a:pt x="471" y="156"/>
                  </a:lnTo>
                  <a:lnTo>
                    <a:pt x="465" y="145"/>
                  </a:lnTo>
                  <a:lnTo>
                    <a:pt x="459" y="136"/>
                  </a:lnTo>
                  <a:lnTo>
                    <a:pt x="454" y="125"/>
                  </a:lnTo>
                  <a:lnTo>
                    <a:pt x="449" y="116"/>
                  </a:lnTo>
                  <a:lnTo>
                    <a:pt x="443" y="107"/>
                  </a:lnTo>
                  <a:lnTo>
                    <a:pt x="434" y="99"/>
                  </a:lnTo>
                  <a:lnTo>
                    <a:pt x="428" y="90"/>
                  </a:lnTo>
                  <a:lnTo>
                    <a:pt x="419" y="81"/>
                  </a:lnTo>
                  <a:lnTo>
                    <a:pt x="410" y="72"/>
                  </a:lnTo>
                  <a:lnTo>
                    <a:pt x="401" y="63"/>
                  </a:lnTo>
                  <a:lnTo>
                    <a:pt x="392" y="58"/>
                  </a:lnTo>
                  <a:lnTo>
                    <a:pt x="383" y="52"/>
                  </a:lnTo>
                  <a:lnTo>
                    <a:pt x="374" y="47"/>
                  </a:lnTo>
                  <a:lnTo>
                    <a:pt x="364" y="41"/>
                  </a:lnTo>
                  <a:lnTo>
                    <a:pt x="355" y="35"/>
                  </a:lnTo>
                  <a:lnTo>
                    <a:pt x="343" y="29"/>
                  </a:lnTo>
                  <a:lnTo>
                    <a:pt x="331" y="26"/>
                  </a:lnTo>
                  <a:lnTo>
                    <a:pt x="322" y="21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8" y="15"/>
                  </a:lnTo>
                  <a:lnTo>
                    <a:pt x="276" y="12"/>
                  </a:lnTo>
                  <a:lnTo>
                    <a:pt x="261" y="12"/>
                  </a:lnTo>
                  <a:lnTo>
                    <a:pt x="249" y="12"/>
                  </a:lnTo>
                  <a:lnTo>
                    <a:pt x="237" y="12"/>
                  </a:lnTo>
                  <a:lnTo>
                    <a:pt x="225" y="12"/>
                  </a:lnTo>
                  <a:lnTo>
                    <a:pt x="213" y="15"/>
                  </a:lnTo>
                  <a:lnTo>
                    <a:pt x="203" y="15"/>
                  </a:lnTo>
                  <a:lnTo>
                    <a:pt x="191" y="18"/>
                  </a:lnTo>
                  <a:lnTo>
                    <a:pt x="179" y="21"/>
                  </a:lnTo>
                  <a:lnTo>
                    <a:pt x="167" y="26"/>
                  </a:lnTo>
                  <a:lnTo>
                    <a:pt x="155" y="29"/>
                  </a:lnTo>
                  <a:lnTo>
                    <a:pt x="146" y="35"/>
                  </a:lnTo>
                  <a:lnTo>
                    <a:pt x="134" y="41"/>
                  </a:lnTo>
                  <a:lnTo>
                    <a:pt x="125" y="47"/>
                  </a:lnTo>
                  <a:lnTo>
                    <a:pt x="115" y="52"/>
                  </a:lnTo>
                  <a:lnTo>
                    <a:pt x="106" y="58"/>
                  </a:lnTo>
                  <a:lnTo>
                    <a:pt x="97" y="63"/>
                  </a:lnTo>
                  <a:lnTo>
                    <a:pt x="88" y="72"/>
                  </a:lnTo>
                  <a:lnTo>
                    <a:pt x="79" y="81"/>
                  </a:lnTo>
                  <a:lnTo>
                    <a:pt x="73" y="90"/>
                  </a:lnTo>
                  <a:lnTo>
                    <a:pt x="64" y="99"/>
                  </a:lnTo>
                  <a:lnTo>
                    <a:pt x="58" y="107"/>
                  </a:lnTo>
                  <a:lnTo>
                    <a:pt x="49" y="116"/>
                  </a:lnTo>
                  <a:lnTo>
                    <a:pt x="43" y="125"/>
                  </a:lnTo>
                  <a:lnTo>
                    <a:pt x="38" y="136"/>
                  </a:lnTo>
                  <a:lnTo>
                    <a:pt x="33" y="145"/>
                  </a:lnTo>
                  <a:lnTo>
                    <a:pt x="30" y="156"/>
                  </a:lnTo>
                  <a:lnTo>
                    <a:pt x="24" y="168"/>
                  </a:lnTo>
                  <a:lnTo>
                    <a:pt x="21" y="177"/>
                  </a:lnTo>
                  <a:lnTo>
                    <a:pt x="18" y="188"/>
                  </a:lnTo>
                  <a:lnTo>
                    <a:pt x="15" y="200"/>
                  </a:lnTo>
                  <a:lnTo>
                    <a:pt x="12" y="212"/>
                  </a:lnTo>
                  <a:lnTo>
                    <a:pt x="12" y="223"/>
                  </a:lnTo>
                  <a:lnTo>
                    <a:pt x="9" y="237"/>
                  </a:lnTo>
                  <a:lnTo>
                    <a:pt x="9" y="249"/>
                  </a:lnTo>
                  <a:lnTo>
                    <a:pt x="0" y="249"/>
                  </a:lnTo>
                </a:path>
              </a:pathLst>
            </a:custGeom>
            <a:solidFill>
              <a:srgbClr val="FFB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Freeform 155">
              <a:extLst>
                <a:ext uri="{FF2B5EF4-FFF2-40B4-BE49-F238E27FC236}">
                  <a16:creationId xmlns:a16="http://schemas.microsoft.com/office/drawing/2014/main" id="{531DC095-FBBA-41FE-B37D-1F07FE08D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802"/>
              <a:ext cx="499" cy="247"/>
            </a:xfrm>
            <a:custGeom>
              <a:avLst/>
              <a:gdLst>
                <a:gd name="T0" fmla="*/ 0 w 499"/>
                <a:gd name="T1" fmla="*/ 12 h 247"/>
                <a:gd name="T2" fmla="*/ 6 w 499"/>
                <a:gd name="T3" fmla="*/ 50 h 247"/>
                <a:gd name="T4" fmla="*/ 15 w 499"/>
                <a:gd name="T5" fmla="*/ 84 h 247"/>
                <a:gd name="T6" fmla="*/ 30 w 499"/>
                <a:gd name="T7" fmla="*/ 116 h 247"/>
                <a:gd name="T8" fmla="*/ 49 w 499"/>
                <a:gd name="T9" fmla="*/ 147 h 247"/>
                <a:gd name="T10" fmla="*/ 73 w 499"/>
                <a:gd name="T11" fmla="*/ 174 h 247"/>
                <a:gd name="T12" fmla="*/ 100 w 499"/>
                <a:gd name="T13" fmla="*/ 197 h 247"/>
                <a:gd name="T14" fmla="*/ 131 w 499"/>
                <a:gd name="T15" fmla="*/ 218 h 247"/>
                <a:gd name="T16" fmla="*/ 164 w 499"/>
                <a:gd name="T17" fmla="*/ 231 h 247"/>
                <a:gd name="T18" fmla="*/ 200 w 499"/>
                <a:gd name="T19" fmla="*/ 240 h 247"/>
                <a:gd name="T20" fmla="*/ 237 w 499"/>
                <a:gd name="T21" fmla="*/ 246 h 247"/>
                <a:gd name="T22" fmla="*/ 276 w 499"/>
                <a:gd name="T23" fmla="*/ 246 h 247"/>
                <a:gd name="T24" fmla="*/ 310 w 499"/>
                <a:gd name="T25" fmla="*/ 237 h 247"/>
                <a:gd name="T26" fmla="*/ 346 w 499"/>
                <a:gd name="T27" fmla="*/ 226 h 247"/>
                <a:gd name="T28" fmla="*/ 377 w 499"/>
                <a:gd name="T29" fmla="*/ 212 h 247"/>
                <a:gd name="T30" fmla="*/ 407 w 499"/>
                <a:gd name="T31" fmla="*/ 191 h 247"/>
                <a:gd name="T32" fmla="*/ 434 w 499"/>
                <a:gd name="T33" fmla="*/ 165 h 247"/>
                <a:gd name="T34" fmla="*/ 457 w 499"/>
                <a:gd name="T35" fmla="*/ 137 h 247"/>
                <a:gd name="T36" fmla="*/ 474 w 499"/>
                <a:gd name="T37" fmla="*/ 107 h 247"/>
                <a:gd name="T38" fmla="*/ 486 w 499"/>
                <a:gd name="T39" fmla="*/ 72 h 247"/>
                <a:gd name="T40" fmla="*/ 495 w 499"/>
                <a:gd name="T41" fmla="*/ 38 h 247"/>
                <a:gd name="T42" fmla="*/ 498 w 499"/>
                <a:gd name="T43" fmla="*/ 0 h 247"/>
                <a:gd name="T44" fmla="*/ 489 w 499"/>
                <a:gd name="T45" fmla="*/ 23 h 247"/>
                <a:gd name="T46" fmla="*/ 480 w 499"/>
                <a:gd name="T47" fmla="*/ 58 h 247"/>
                <a:gd name="T48" fmla="*/ 471 w 499"/>
                <a:gd name="T49" fmla="*/ 93 h 247"/>
                <a:gd name="T50" fmla="*/ 454 w 499"/>
                <a:gd name="T51" fmla="*/ 122 h 247"/>
                <a:gd name="T52" fmla="*/ 434 w 499"/>
                <a:gd name="T53" fmla="*/ 150 h 247"/>
                <a:gd name="T54" fmla="*/ 410 w 499"/>
                <a:gd name="T55" fmla="*/ 174 h 247"/>
                <a:gd name="T56" fmla="*/ 383 w 499"/>
                <a:gd name="T57" fmla="*/ 197 h 247"/>
                <a:gd name="T58" fmla="*/ 355 w 499"/>
                <a:gd name="T59" fmla="*/ 215 h 247"/>
                <a:gd name="T60" fmla="*/ 322 w 499"/>
                <a:gd name="T61" fmla="*/ 226 h 247"/>
                <a:gd name="T62" fmla="*/ 288 w 499"/>
                <a:gd name="T63" fmla="*/ 234 h 247"/>
                <a:gd name="T64" fmla="*/ 249 w 499"/>
                <a:gd name="T65" fmla="*/ 237 h 247"/>
                <a:gd name="T66" fmla="*/ 213 w 499"/>
                <a:gd name="T67" fmla="*/ 234 h 247"/>
                <a:gd name="T68" fmla="*/ 179 w 499"/>
                <a:gd name="T69" fmla="*/ 226 h 247"/>
                <a:gd name="T70" fmla="*/ 146 w 499"/>
                <a:gd name="T71" fmla="*/ 215 h 247"/>
                <a:gd name="T72" fmla="*/ 115 w 499"/>
                <a:gd name="T73" fmla="*/ 197 h 247"/>
                <a:gd name="T74" fmla="*/ 88 w 499"/>
                <a:gd name="T75" fmla="*/ 174 h 247"/>
                <a:gd name="T76" fmla="*/ 64 w 499"/>
                <a:gd name="T77" fmla="*/ 150 h 247"/>
                <a:gd name="T78" fmla="*/ 43 w 499"/>
                <a:gd name="T79" fmla="*/ 122 h 247"/>
                <a:gd name="T80" fmla="*/ 30 w 499"/>
                <a:gd name="T81" fmla="*/ 93 h 247"/>
                <a:gd name="T82" fmla="*/ 18 w 499"/>
                <a:gd name="T83" fmla="*/ 58 h 247"/>
                <a:gd name="T84" fmla="*/ 12 w 499"/>
                <a:gd name="T85" fmla="*/ 23 h 247"/>
                <a:gd name="T86" fmla="*/ 0 w 499"/>
                <a:gd name="T87" fmla="*/ 0 h 2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99"/>
                <a:gd name="T133" fmla="*/ 0 h 247"/>
                <a:gd name="T134" fmla="*/ 499 w 499"/>
                <a:gd name="T135" fmla="*/ 247 h 2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99" h="247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0"/>
                  </a:lnTo>
                  <a:lnTo>
                    <a:pt x="9" y="61"/>
                  </a:lnTo>
                  <a:lnTo>
                    <a:pt x="12" y="72"/>
                  </a:lnTo>
                  <a:lnTo>
                    <a:pt x="15" y="84"/>
                  </a:lnTo>
                  <a:lnTo>
                    <a:pt x="21" y="96"/>
                  </a:lnTo>
                  <a:lnTo>
                    <a:pt x="24" y="107"/>
                  </a:lnTo>
                  <a:lnTo>
                    <a:pt x="30" y="116"/>
                  </a:lnTo>
                  <a:lnTo>
                    <a:pt x="36" y="128"/>
                  </a:lnTo>
                  <a:lnTo>
                    <a:pt x="43" y="137"/>
                  </a:lnTo>
                  <a:lnTo>
                    <a:pt x="49" y="147"/>
                  </a:lnTo>
                  <a:lnTo>
                    <a:pt x="58" y="156"/>
                  </a:lnTo>
                  <a:lnTo>
                    <a:pt x="64" y="165"/>
                  </a:lnTo>
                  <a:lnTo>
                    <a:pt x="73" y="174"/>
                  </a:lnTo>
                  <a:lnTo>
                    <a:pt x="82" y="183"/>
                  </a:lnTo>
                  <a:lnTo>
                    <a:pt x="91" y="191"/>
                  </a:lnTo>
                  <a:lnTo>
                    <a:pt x="100" y="197"/>
                  </a:lnTo>
                  <a:lnTo>
                    <a:pt x="112" y="203"/>
                  </a:lnTo>
                  <a:lnTo>
                    <a:pt x="121" y="212"/>
                  </a:lnTo>
                  <a:lnTo>
                    <a:pt x="131" y="218"/>
                  </a:lnTo>
                  <a:lnTo>
                    <a:pt x="140" y="224"/>
                  </a:lnTo>
                  <a:lnTo>
                    <a:pt x="152" y="226"/>
                  </a:lnTo>
                  <a:lnTo>
                    <a:pt x="164" y="231"/>
                  </a:lnTo>
                  <a:lnTo>
                    <a:pt x="176" y="234"/>
                  </a:lnTo>
                  <a:lnTo>
                    <a:pt x="188" y="237"/>
                  </a:lnTo>
                  <a:lnTo>
                    <a:pt x="200" y="240"/>
                  </a:lnTo>
                  <a:lnTo>
                    <a:pt x="210" y="243"/>
                  </a:lnTo>
                  <a:lnTo>
                    <a:pt x="222" y="246"/>
                  </a:lnTo>
                  <a:lnTo>
                    <a:pt x="237" y="246"/>
                  </a:lnTo>
                  <a:lnTo>
                    <a:pt x="249" y="246"/>
                  </a:lnTo>
                  <a:lnTo>
                    <a:pt x="264" y="246"/>
                  </a:lnTo>
                  <a:lnTo>
                    <a:pt x="276" y="246"/>
                  </a:lnTo>
                  <a:lnTo>
                    <a:pt x="288" y="243"/>
                  </a:lnTo>
                  <a:lnTo>
                    <a:pt x="298" y="240"/>
                  </a:lnTo>
                  <a:lnTo>
                    <a:pt x="310" y="237"/>
                  </a:lnTo>
                  <a:lnTo>
                    <a:pt x="325" y="234"/>
                  </a:lnTo>
                  <a:lnTo>
                    <a:pt x="334" y="231"/>
                  </a:lnTo>
                  <a:lnTo>
                    <a:pt x="346" y="226"/>
                  </a:lnTo>
                  <a:lnTo>
                    <a:pt x="358" y="224"/>
                  </a:lnTo>
                  <a:lnTo>
                    <a:pt x="370" y="218"/>
                  </a:lnTo>
                  <a:lnTo>
                    <a:pt x="377" y="212"/>
                  </a:lnTo>
                  <a:lnTo>
                    <a:pt x="389" y="203"/>
                  </a:lnTo>
                  <a:lnTo>
                    <a:pt x="398" y="197"/>
                  </a:lnTo>
                  <a:lnTo>
                    <a:pt x="407" y="191"/>
                  </a:lnTo>
                  <a:lnTo>
                    <a:pt x="416" y="183"/>
                  </a:lnTo>
                  <a:lnTo>
                    <a:pt x="425" y="174"/>
                  </a:lnTo>
                  <a:lnTo>
                    <a:pt x="434" y="165"/>
                  </a:lnTo>
                  <a:lnTo>
                    <a:pt x="443" y="156"/>
                  </a:lnTo>
                  <a:lnTo>
                    <a:pt x="449" y="147"/>
                  </a:lnTo>
                  <a:lnTo>
                    <a:pt x="457" y="137"/>
                  </a:lnTo>
                  <a:lnTo>
                    <a:pt x="462" y="128"/>
                  </a:lnTo>
                  <a:lnTo>
                    <a:pt x="468" y="116"/>
                  </a:lnTo>
                  <a:lnTo>
                    <a:pt x="474" y="107"/>
                  </a:lnTo>
                  <a:lnTo>
                    <a:pt x="480" y="96"/>
                  </a:lnTo>
                  <a:lnTo>
                    <a:pt x="483" y="84"/>
                  </a:lnTo>
                  <a:lnTo>
                    <a:pt x="486" y="72"/>
                  </a:lnTo>
                  <a:lnTo>
                    <a:pt x="492" y="61"/>
                  </a:lnTo>
                  <a:lnTo>
                    <a:pt x="495" y="50"/>
                  </a:lnTo>
                  <a:lnTo>
                    <a:pt x="495" y="38"/>
                  </a:lnTo>
                  <a:lnTo>
                    <a:pt x="498" y="26"/>
                  </a:lnTo>
                  <a:lnTo>
                    <a:pt x="498" y="12"/>
                  </a:lnTo>
                  <a:lnTo>
                    <a:pt x="498" y="0"/>
                  </a:lnTo>
                  <a:lnTo>
                    <a:pt x="489" y="0"/>
                  </a:lnTo>
                  <a:lnTo>
                    <a:pt x="489" y="12"/>
                  </a:lnTo>
                  <a:lnTo>
                    <a:pt x="489" y="23"/>
                  </a:lnTo>
                  <a:lnTo>
                    <a:pt x="486" y="35"/>
                  </a:lnTo>
                  <a:lnTo>
                    <a:pt x="483" y="47"/>
                  </a:lnTo>
                  <a:lnTo>
                    <a:pt x="480" y="58"/>
                  </a:lnTo>
                  <a:lnTo>
                    <a:pt x="477" y="69"/>
                  </a:lnTo>
                  <a:lnTo>
                    <a:pt x="474" y="81"/>
                  </a:lnTo>
                  <a:lnTo>
                    <a:pt x="471" y="93"/>
                  </a:lnTo>
                  <a:lnTo>
                    <a:pt x="465" y="102"/>
                  </a:lnTo>
                  <a:lnTo>
                    <a:pt x="459" y="113"/>
                  </a:lnTo>
                  <a:lnTo>
                    <a:pt x="454" y="122"/>
                  </a:lnTo>
                  <a:lnTo>
                    <a:pt x="449" y="134"/>
                  </a:lnTo>
                  <a:lnTo>
                    <a:pt x="443" y="143"/>
                  </a:lnTo>
                  <a:lnTo>
                    <a:pt x="434" y="150"/>
                  </a:lnTo>
                  <a:lnTo>
                    <a:pt x="428" y="159"/>
                  </a:lnTo>
                  <a:lnTo>
                    <a:pt x="419" y="168"/>
                  </a:lnTo>
                  <a:lnTo>
                    <a:pt x="410" y="174"/>
                  </a:lnTo>
                  <a:lnTo>
                    <a:pt x="401" y="183"/>
                  </a:lnTo>
                  <a:lnTo>
                    <a:pt x="392" y="191"/>
                  </a:lnTo>
                  <a:lnTo>
                    <a:pt x="383" y="197"/>
                  </a:lnTo>
                  <a:lnTo>
                    <a:pt x="374" y="203"/>
                  </a:lnTo>
                  <a:lnTo>
                    <a:pt x="364" y="209"/>
                  </a:lnTo>
                  <a:lnTo>
                    <a:pt x="355" y="215"/>
                  </a:lnTo>
                  <a:lnTo>
                    <a:pt x="343" y="218"/>
                  </a:lnTo>
                  <a:lnTo>
                    <a:pt x="331" y="224"/>
                  </a:lnTo>
                  <a:lnTo>
                    <a:pt x="322" y="226"/>
                  </a:lnTo>
                  <a:lnTo>
                    <a:pt x="310" y="229"/>
                  </a:lnTo>
                  <a:lnTo>
                    <a:pt x="298" y="231"/>
                  </a:lnTo>
                  <a:lnTo>
                    <a:pt x="288" y="234"/>
                  </a:lnTo>
                  <a:lnTo>
                    <a:pt x="276" y="234"/>
                  </a:lnTo>
                  <a:lnTo>
                    <a:pt x="261" y="237"/>
                  </a:lnTo>
                  <a:lnTo>
                    <a:pt x="249" y="237"/>
                  </a:lnTo>
                  <a:lnTo>
                    <a:pt x="237" y="237"/>
                  </a:lnTo>
                  <a:lnTo>
                    <a:pt x="225" y="234"/>
                  </a:lnTo>
                  <a:lnTo>
                    <a:pt x="213" y="234"/>
                  </a:lnTo>
                  <a:lnTo>
                    <a:pt x="203" y="231"/>
                  </a:lnTo>
                  <a:lnTo>
                    <a:pt x="191" y="229"/>
                  </a:lnTo>
                  <a:lnTo>
                    <a:pt x="179" y="226"/>
                  </a:lnTo>
                  <a:lnTo>
                    <a:pt x="167" y="224"/>
                  </a:lnTo>
                  <a:lnTo>
                    <a:pt x="155" y="218"/>
                  </a:lnTo>
                  <a:lnTo>
                    <a:pt x="146" y="215"/>
                  </a:lnTo>
                  <a:lnTo>
                    <a:pt x="134" y="209"/>
                  </a:lnTo>
                  <a:lnTo>
                    <a:pt x="125" y="203"/>
                  </a:lnTo>
                  <a:lnTo>
                    <a:pt x="115" y="197"/>
                  </a:lnTo>
                  <a:lnTo>
                    <a:pt x="106" y="191"/>
                  </a:lnTo>
                  <a:lnTo>
                    <a:pt x="97" y="183"/>
                  </a:lnTo>
                  <a:lnTo>
                    <a:pt x="88" y="174"/>
                  </a:lnTo>
                  <a:lnTo>
                    <a:pt x="79" y="168"/>
                  </a:lnTo>
                  <a:lnTo>
                    <a:pt x="73" y="159"/>
                  </a:lnTo>
                  <a:lnTo>
                    <a:pt x="64" y="150"/>
                  </a:lnTo>
                  <a:lnTo>
                    <a:pt x="58" y="143"/>
                  </a:lnTo>
                  <a:lnTo>
                    <a:pt x="49" y="134"/>
                  </a:lnTo>
                  <a:lnTo>
                    <a:pt x="43" y="122"/>
                  </a:lnTo>
                  <a:lnTo>
                    <a:pt x="38" y="113"/>
                  </a:lnTo>
                  <a:lnTo>
                    <a:pt x="33" y="102"/>
                  </a:lnTo>
                  <a:lnTo>
                    <a:pt x="30" y="93"/>
                  </a:lnTo>
                  <a:lnTo>
                    <a:pt x="24" y="81"/>
                  </a:lnTo>
                  <a:lnTo>
                    <a:pt x="21" y="69"/>
                  </a:lnTo>
                  <a:lnTo>
                    <a:pt x="18" y="58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6" name="Freeform 156">
              <a:extLst>
                <a:ext uri="{FF2B5EF4-FFF2-40B4-BE49-F238E27FC236}">
                  <a16:creationId xmlns:a16="http://schemas.microsoft.com/office/drawing/2014/main" id="{4D5EB2F4-C3F6-4310-B016-610F8963C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3559"/>
              <a:ext cx="481" cy="238"/>
            </a:xfrm>
            <a:custGeom>
              <a:avLst/>
              <a:gdLst>
                <a:gd name="T0" fmla="*/ 3 w 481"/>
                <a:gd name="T1" fmla="*/ 211 h 238"/>
                <a:gd name="T2" fmla="*/ 9 w 481"/>
                <a:gd name="T3" fmla="*/ 177 h 238"/>
                <a:gd name="T4" fmla="*/ 21 w 481"/>
                <a:gd name="T5" fmla="*/ 144 h 238"/>
                <a:gd name="T6" fmla="*/ 35 w 481"/>
                <a:gd name="T7" fmla="*/ 113 h 238"/>
                <a:gd name="T8" fmla="*/ 55 w 481"/>
                <a:gd name="T9" fmla="*/ 87 h 238"/>
                <a:gd name="T10" fmla="*/ 79 w 481"/>
                <a:gd name="T11" fmla="*/ 60 h 238"/>
                <a:gd name="T12" fmla="*/ 106 w 481"/>
                <a:gd name="T13" fmla="*/ 40 h 238"/>
                <a:gd name="T14" fmla="*/ 137 w 481"/>
                <a:gd name="T15" fmla="*/ 23 h 238"/>
                <a:gd name="T16" fmla="*/ 170 w 481"/>
                <a:gd name="T17" fmla="*/ 9 h 238"/>
                <a:gd name="T18" fmla="*/ 204 w 481"/>
                <a:gd name="T19" fmla="*/ 3 h 238"/>
                <a:gd name="T20" fmla="*/ 240 w 481"/>
                <a:gd name="T21" fmla="*/ 0 h 238"/>
                <a:gd name="T22" fmla="*/ 279 w 481"/>
                <a:gd name="T23" fmla="*/ 3 h 238"/>
                <a:gd name="T24" fmla="*/ 313 w 481"/>
                <a:gd name="T25" fmla="*/ 9 h 238"/>
                <a:gd name="T26" fmla="*/ 346 w 481"/>
                <a:gd name="T27" fmla="*/ 23 h 238"/>
                <a:gd name="T28" fmla="*/ 374 w 481"/>
                <a:gd name="T29" fmla="*/ 40 h 238"/>
                <a:gd name="T30" fmla="*/ 401 w 481"/>
                <a:gd name="T31" fmla="*/ 60 h 238"/>
                <a:gd name="T32" fmla="*/ 425 w 481"/>
                <a:gd name="T33" fmla="*/ 87 h 238"/>
                <a:gd name="T34" fmla="*/ 444 w 481"/>
                <a:gd name="T35" fmla="*/ 113 h 238"/>
                <a:gd name="T36" fmla="*/ 462 w 481"/>
                <a:gd name="T37" fmla="*/ 144 h 238"/>
                <a:gd name="T38" fmla="*/ 471 w 481"/>
                <a:gd name="T39" fmla="*/ 177 h 238"/>
                <a:gd name="T40" fmla="*/ 480 w 481"/>
                <a:gd name="T41" fmla="*/ 211 h 238"/>
                <a:gd name="T42" fmla="*/ 471 w 481"/>
                <a:gd name="T43" fmla="*/ 237 h 238"/>
                <a:gd name="T44" fmla="*/ 468 w 481"/>
                <a:gd name="T45" fmla="*/ 203 h 238"/>
                <a:gd name="T46" fmla="*/ 459 w 481"/>
                <a:gd name="T47" fmla="*/ 168 h 238"/>
                <a:gd name="T48" fmla="*/ 447 w 481"/>
                <a:gd name="T49" fmla="*/ 138 h 238"/>
                <a:gd name="T50" fmla="*/ 434 w 481"/>
                <a:gd name="T51" fmla="*/ 110 h 238"/>
                <a:gd name="T52" fmla="*/ 410 w 481"/>
                <a:gd name="T53" fmla="*/ 84 h 238"/>
                <a:gd name="T54" fmla="*/ 386 w 481"/>
                <a:gd name="T55" fmla="*/ 60 h 238"/>
                <a:gd name="T56" fmla="*/ 360 w 481"/>
                <a:gd name="T57" fmla="*/ 40 h 238"/>
                <a:gd name="T58" fmla="*/ 331 w 481"/>
                <a:gd name="T59" fmla="*/ 26 h 238"/>
                <a:gd name="T60" fmla="*/ 298 w 481"/>
                <a:gd name="T61" fmla="*/ 15 h 238"/>
                <a:gd name="T62" fmla="*/ 264 w 481"/>
                <a:gd name="T63" fmla="*/ 9 h 238"/>
                <a:gd name="T64" fmla="*/ 228 w 481"/>
                <a:gd name="T65" fmla="*/ 9 h 238"/>
                <a:gd name="T66" fmla="*/ 194 w 481"/>
                <a:gd name="T67" fmla="*/ 12 h 238"/>
                <a:gd name="T68" fmla="*/ 161 w 481"/>
                <a:gd name="T69" fmla="*/ 23 h 238"/>
                <a:gd name="T70" fmla="*/ 131 w 481"/>
                <a:gd name="T71" fmla="*/ 35 h 238"/>
                <a:gd name="T72" fmla="*/ 103 w 481"/>
                <a:gd name="T73" fmla="*/ 55 h 238"/>
                <a:gd name="T74" fmla="*/ 79 w 481"/>
                <a:gd name="T75" fmla="*/ 75 h 238"/>
                <a:gd name="T76" fmla="*/ 55 w 481"/>
                <a:gd name="T77" fmla="*/ 99 h 238"/>
                <a:gd name="T78" fmla="*/ 38 w 481"/>
                <a:gd name="T79" fmla="*/ 127 h 238"/>
                <a:gd name="T80" fmla="*/ 24 w 481"/>
                <a:gd name="T81" fmla="*/ 159 h 238"/>
                <a:gd name="T82" fmla="*/ 15 w 481"/>
                <a:gd name="T83" fmla="*/ 191 h 238"/>
                <a:gd name="T84" fmla="*/ 9 w 481"/>
                <a:gd name="T85" fmla="*/ 225 h 2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1"/>
                <a:gd name="T130" fmla="*/ 0 h 238"/>
                <a:gd name="T131" fmla="*/ 481 w 481"/>
                <a:gd name="T132" fmla="*/ 238 h 2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1" h="238">
                  <a:moveTo>
                    <a:pt x="0" y="237"/>
                  </a:moveTo>
                  <a:lnTo>
                    <a:pt x="0" y="225"/>
                  </a:lnTo>
                  <a:lnTo>
                    <a:pt x="3" y="211"/>
                  </a:lnTo>
                  <a:lnTo>
                    <a:pt x="3" y="200"/>
                  </a:lnTo>
                  <a:lnTo>
                    <a:pt x="6" y="188"/>
                  </a:lnTo>
                  <a:lnTo>
                    <a:pt x="9" y="177"/>
                  </a:lnTo>
                  <a:lnTo>
                    <a:pt x="12" y="165"/>
                  </a:lnTo>
                  <a:lnTo>
                    <a:pt x="15" y="156"/>
                  </a:lnTo>
                  <a:lnTo>
                    <a:pt x="21" y="144"/>
                  </a:lnTo>
                  <a:lnTo>
                    <a:pt x="24" y="133"/>
                  </a:lnTo>
                  <a:lnTo>
                    <a:pt x="29" y="124"/>
                  </a:lnTo>
                  <a:lnTo>
                    <a:pt x="35" y="113"/>
                  </a:lnTo>
                  <a:lnTo>
                    <a:pt x="40" y="104"/>
                  </a:lnTo>
                  <a:lnTo>
                    <a:pt x="49" y="96"/>
                  </a:lnTo>
                  <a:lnTo>
                    <a:pt x="55" y="87"/>
                  </a:lnTo>
                  <a:lnTo>
                    <a:pt x="64" y="78"/>
                  </a:lnTo>
                  <a:lnTo>
                    <a:pt x="70" y="69"/>
                  </a:lnTo>
                  <a:lnTo>
                    <a:pt x="79" y="60"/>
                  </a:lnTo>
                  <a:lnTo>
                    <a:pt x="88" y="52"/>
                  </a:lnTo>
                  <a:lnTo>
                    <a:pt x="97" y="46"/>
                  </a:lnTo>
                  <a:lnTo>
                    <a:pt x="106" y="40"/>
                  </a:lnTo>
                  <a:lnTo>
                    <a:pt x="117" y="35"/>
                  </a:lnTo>
                  <a:lnTo>
                    <a:pt x="125" y="29"/>
                  </a:lnTo>
                  <a:lnTo>
                    <a:pt x="137" y="23"/>
                  </a:lnTo>
                  <a:lnTo>
                    <a:pt x="146" y="18"/>
                  </a:lnTo>
                  <a:lnTo>
                    <a:pt x="158" y="15"/>
                  </a:lnTo>
                  <a:lnTo>
                    <a:pt x="170" y="9"/>
                  </a:lnTo>
                  <a:lnTo>
                    <a:pt x="182" y="6"/>
                  </a:lnTo>
                  <a:lnTo>
                    <a:pt x="194" y="3"/>
                  </a:lnTo>
                  <a:lnTo>
                    <a:pt x="204" y="3"/>
                  </a:lnTo>
                  <a:lnTo>
                    <a:pt x="216" y="0"/>
                  </a:lnTo>
                  <a:lnTo>
                    <a:pt x="228" y="0"/>
                  </a:lnTo>
                  <a:lnTo>
                    <a:pt x="240" y="0"/>
                  </a:lnTo>
                  <a:lnTo>
                    <a:pt x="252" y="0"/>
                  </a:lnTo>
                  <a:lnTo>
                    <a:pt x="267" y="0"/>
                  </a:lnTo>
                  <a:lnTo>
                    <a:pt x="279" y="3"/>
                  </a:lnTo>
                  <a:lnTo>
                    <a:pt x="289" y="3"/>
                  </a:lnTo>
                  <a:lnTo>
                    <a:pt x="301" y="6"/>
                  </a:lnTo>
                  <a:lnTo>
                    <a:pt x="313" y="9"/>
                  </a:lnTo>
                  <a:lnTo>
                    <a:pt x="322" y="15"/>
                  </a:lnTo>
                  <a:lnTo>
                    <a:pt x="334" y="18"/>
                  </a:lnTo>
                  <a:lnTo>
                    <a:pt x="346" y="23"/>
                  </a:lnTo>
                  <a:lnTo>
                    <a:pt x="355" y="29"/>
                  </a:lnTo>
                  <a:lnTo>
                    <a:pt x="365" y="35"/>
                  </a:lnTo>
                  <a:lnTo>
                    <a:pt x="374" y="40"/>
                  </a:lnTo>
                  <a:lnTo>
                    <a:pt x="383" y="46"/>
                  </a:lnTo>
                  <a:lnTo>
                    <a:pt x="392" y="52"/>
                  </a:lnTo>
                  <a:lnTo>
                    <a:pt x="401" y="60"/>
                  </a:lnTo>
                  <a:lnTo>
                    <a:pt x="410" y="69"/>
                  </a:lnTo>
                  <a:lnTo>
                    <a:pt x="419" y="78"/>
                  </a:lnTo>
                  <a:lnTo>
                    <a:pt x="425" y="87"/>
                  </a:lnTo>
                  <a:lnTo>
                    <a:pt x="434" y="96"/>
                  </a:lnTo>
                  <a:lnTo>
                    <a:pt x="440" y="104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6" y="133"/>
                  </a:lnTo>
                  <a:lnTo>
                    <a:pt x="462" y="144"/>
                  </a:lnTo>
                  <a:lnTo>
                    <a:pt x="465" y="156"/>
                  </a:lnTo>
                  <a:lnTo>
                    <a:pt x="468" y="165"/>
                  </a:lnTo>
                  <a:lnTo>
                    <a:pt x="471" y="177"/>
                  </a:lnTo>
                  <a:lnTo>
                    <a:pt x="474" y="188"/>
                  </a:lnTo>
                  <a:lnTo>
                    <a:pt x="477" y="200"/>
                  </a:lnTo>
                  <a:lnTo>
                    <a:pt x="480" y="211"/>
                  </a:lnTo>
                  <a:lnTo>
                    <a:pt x="480" y="225"/>
                  </a:lnTo>
                  <a:lnTo>
                    <a:pt x="480" y="237"/>
                  </a:lnTo>
                  <a:lnTo>
                    <a:pt x="471" y="237"/>
                  </a:lnTo>
                  <a:lnTo>
                    <a:pt x="471" y="225"/>
                  </a:lnTo>
                  <a:lnTo>
                    <a:pt x="471" y="214"/>
                  </a:lnTo>
                  <a:lnTo>
                    <a:pt x="468" y="203"/>
                  </a:lnTo>
                  <a:lnTo>
                    <a:pt x="465" y="191"/>
                  </a:lnTo>
                  <a:lnTo>
                    <a:pt x="462" y="179"/>
                  </a:lnTo>
                  <a:lnTo>
                    <a:pt x="459" y="168"/>
                  </a:lnTo>
                  <a:lnTo>
                    <a:pt x="456" y="159"/>
                  </a:lnTo>
                  <a:lnTo>
                    <a:pt x="453" y="147"/>
                  </a:lnTo>
                  <a:lnTo>
                    <a:pt x="447" y="138"/>
                  </a:lnTo>
                  <a:lnTo>
                    <a:pt x="444" y="127"/>
                  </a:lnTo>
                  <a:lnTo>
                    <a:pt x="440" y="119"/>
                  </a:lnTo>
                  <a:lnTo>
                    <a:pt x="434" y="110"/>
                  </a:lnTo>
                  <a:lnTo>
                    <a:pt x="425" y="99"/>
                  </a:lnTo>
                  <a:lnTo>
                    <a:pt x="419" y="93"/>
                  </a:lnTo>
                  <a:lnTo>
                    <a:pt x="410" y="84"/>
                  </a:lnTo>
                  <a:lnTo>
                    <a:pt x="404" y="75"/>
                  </a:lnTo>
                  <a:lnTo>
                    <a:pt x="395" y="66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8" y="46"/>
                  </a:lnTo>
                  <a:lnTo>
                    <a:pt x="360" y="40"/>
                  </a:lnTo>
                  <a:lnTo>
                    <a:pt x="352" y="35"/>
                  </a:lnTo>
                  <a:lnTo>
                    <a:pt x="340" y="32"/>
                  </a:lnTo>
                  <a:lnTo>
                    <a:pt x="331" y="26"/>
                  </a:lnTo>
                  <a:lnTo>
                    <a:pt x="319" y="23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6" y="12"/>
                  </a:lnTo>
                  <a:lnTo>
                    <a:pt x="276" y="12"/>
                  </a:lnTo>
                  <a:lnTo>
                    <a:pt x="264" y="9"/>
                  </a:lnTo>
                  <a:lnTo>
                    <a:pt x="252" y="9"/>
                  </a:lnTo>
                  <a:lnTo>
                    <a:pt x="240" y="9"/>
                  </a:lnTo>
                  <a:lnTo>
                    <a:pt x="228" y="9"/>
                  </a:lnTo>
                  <a:lnTo>
                    <a:pt x="216" y="9"/>
                  </a:lnTo>
                  <a:lnTo>
                    <a:pt x="204" y="12"/>
                  </a:lnTo>
                  <a:lnTo>
                    <a:pt x="194" y="12"/>
                  </a:lnTo>
                  <a:lnTo>
                    <a:pt x="185" y="15"/>
                  </a:lnTo>
                  <a:lnTo>
                    <a:pt x="173" y="18"/>
                  </a:lnTo>
                  <a:lnTo>
                    <a:pt x="161" y="23"/>
                  </a:lnTo>
                  <a:lnTo>
                    <a:pt x="152" y="26"/>
                  </a:lnTo>
                  <a:lnTo>
                    <a:pt x="140" y="32"/>
                  </a:lnTo>
                  <a:lnTo>
                    <a:pt x="131" y="35"/>
                  </a:lnTo>
                  <a:lnTo>
                    <a:pt x="120" y="40"/>
                  </a:lnTo>
                  <a:lnTo>
                    <a:pt x="112" y="46"/>
                  </a:lnTo>
                  <a:lnTo>
                    <a:pt x="103" y="55"/>
                  </a:lnTo>
                  <a:lnTo>
                    <a:pt x="94" y="60"/>
                  </a:lnTo>
                  <a:lnTo>
                    <a:pt x="85" y="66"/>
                  </a:lnTo>
                  <a:lnTo>
                    <a:pt x="79" y="75"/>
                  </a:lnTo>
                  <a:lnTo>
                    <a:pt x="70" y="84"/>
                  </a:lnTo>
                  <a:lnTo>
                    <a:pt x="61" y="93"/>
                  </a:lnTo>
                  <a:lnTo>
                    <a:pt x="55" y="99"/>
                  </a:lnTo>
                  <a:lnTo>
                    <a:pt x="49" y="110"/>
                  </a:lnTo>
                  <a:lnTo>
                    <a:pt x="43" y="119"/>
                  </a:lnTo>
                  <a:lnTo>
                    <a:pt x="38" y="127"/>
                  </a:lnTo>
                  <a:lnTo>
                    <a:pt x="32" y="138"/>
                  </a:lnTo>
                  <a:lnTo>
                    <a:pt x="29" y="147"/>
                  </a:lnTo>
                  <a:lnTo>
                    <a:pt x="24" y="159"/>
                  </a:lnTo>
                  <a:lnTo>
                    <a:pt x="21" y="168"/>
                  </a:lnTo>
                  <a:lnTo>
                    <a:pt x="18" y="179"/>
                  </a:lnTo>
                  <a:lnTo>
                    <a:pt x="15" y="191"/>
                  </a:lnTo>
                  <a:lnTo>
                    <a:pt x="12" y="203"/>
                  </a:lnTo>
                  <a:lnTo>
                    <a:pt x="12" y="214"/>
                  </a:lnTo>
                  <a:lnTo>
                    <a:pt x="9" y="225"/>
                  </a:lnTo>
                  <a:lnTo>
                    <a:pt x="9" y="237"/>
                  </a:lnTo>
                  <a:lnTo>
                    <a:pt x="0" y="237"/>
                  </a:lnTo>
                </a:path>
              </a:pathLst>
            </a:custGeom>
            <a:solidFill>
              <a:srgbClr val="FFB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Freeform 157">
              <a:extLst>
                <a:ext uri="{FF2B5EF4-FFF2-40B4-BE49-F238E27FC236}">
                  <a16:creationId xmlns:a16="http://schemas.microsoft.com/office/drawing/2014/main" id="{95B71687-E738-4A64-BA27-20C8F85B1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3802"/>
              <a:ext cx="481" cy="238"/>
            </a:xfrm>
            <a:custGeom>
              <a:avLst/>
              <a:gdLst>
                <a:gd name="T0" fmla="*/ 0 w 481"/>
                <a:gd name="T1" fmla="*/ 12 h 238"/>
                <a:gd name="T2" fmla="*/ 6 w 481"/>
                <a:gd name="T3" fmla="*/ 47 h 238"/>
                <a:gd name="T4" fmla="*/ 15 w 481"/>
                <a:gd name="T5" fmla="*/ 81 h 238"/>
                <a:gd name="T6" fmla="*/ 29 w 481"/>
                <a:gd name="T7" fmla="*/ 113 h 238"/>
                <a:gd name="T8" fmla="*/ 49 w 481"/>
                <a:gd name="T9" fmla="*/ 142 h 238"/>
                <a:gd name="T10" fmla="*/ 70 w 481"/>
                <a:gd name="T11" fmla="*/ 168 h 238"/>
                <a:gd name="T12" fmla="*/ 97 w 481"/>
                <a:gd name="T13" fmla="*/ 191 h 238"/>
                <a:gd name="T14" fmla="*/ 125 w 481"/>
                <a:gd name="T15" fmla="*/ 209 h 238"/>
                <a:gd name="T16" fmla="*/ 158 w 481"/>
                <a:gd name="T17" fmla="*/ 223 h 238"/>
                <a:gd name="T18" fmla="*/ 194 w 481"/>
                <a:gd name="T19" fmla="*/ 231 h 238"/>
                <a:gd name="T20" fmla="*/ 228 w 481"/>
                <a:gd name="T21" fmla="*/ 237 h 238"/>
                <a:gd name="T22" fmla="*/ 267 w 481"/>
                <a:gd name="T23" fmla="*/ 234 h 238"/>
                <a:gd name="T24" fmla="*/ 301 w 481"/>
                <a:gd name="T25" fmla="*/ 229 h 238"/>
                <a:gd name="T26" fmla="*/ 334 w 481"/>
                <a:gd name="T27" fmla="*/ 217 h 238"/>
                <a:gd name="T28" fmla="*/ 365 w 481"/>
                <a:gd name="T29" fmla="*/ 203 h 238"/>
                <a:gd name="T30" fmla="*/ 392 w 481"/>
                <a:gd name="T31" fmla="*/ 182 h 238"/>
                <a:gd name="T32" fmla="*/ 419 w 481"/>
                <a:gd name="T33" fmla="*/ 159 h 238"/>
                <a:gd name="T34" fmla="*/ 440 w 481"/>
                <a:gd name="T35" fmla="*/ 134 h 238"/>
                <a:gd name="T36" fmla="*/ 456 w 481"/>
                <a:gd name="T37" fmla="*/ 101 h 238"/>
                <a:gd name="T38" fmla="*/ 468 w 481"/>
                <a:gd name="T39" fmla="*/ 69 h 238"/>
                <a:gd name="T40" fmla="*/ 477 w 481"/>
                <a:gd name="T41" fmla="*/ 35 h 238"/>
                <a:gd name="T42" fmla="*/ 480 w 481"/>
                <a:gd name="T43" fmla="*/ 0 h 238"/>
                <a:gd name="T44" fmla="*/ 471 w 481"/>
                <a:gd name="T45" fmla="*/ 23 h 238"/>
                <a:gd name="T46" fmla="*/ 462 w 481"/>
                <a:gd name="T47" fmla="*/ 56 h 238"/>
                <a:gd name="T48" fmla="*/ 453 w 481"/>
                <a:gd name="T49" fmla="*/ 87 h 238"/>
                <a:gd name="T50" fmla="*/ 440 w 481"/>
                <a:gd name="T51" fmla="*/ 119 h 238"/>
                <a:gd name="T52" fmla="*/ 419 w 481"/>
                <a:gd name="T53" fmla="*/ 144 h 238"/>
                <a:gd name="T54" fmla="*/ 395 w 481"/>
                <a:gd name="T55" fmla="*/ 168 h 238"/>
                <a:gd name="T56" fmla="*/ 368 w 481"/>
                <a:gd name="T57" fmla="*/ 188 h 238"/>
                <a:gd name="T58" fmla="*/ 340 w 481"/>
                <a:gd name="T59" fmla="*/ 206 h 238"/>
                <a:gd name="T60" fmla="*/ 310 w 481"/>
                <a:gd name="T61" fmla="*/ 217 h 238"/>
                <a:gd name="T62" fmla="*/ 276 w 481"/>
                <a:gd name="T63" fmla="*/ 226 h 238"/>
                <a:gd name="T64" fmla="*/ 240 w 481"/>
                <a:gd name="T65" fmla="*/ 229 h 238"/>
                <a:gd name="T66" fmla="*/ 204 w 481"/>
                <a:gd name="T67" fmla="*/ 226 h 238"/>
                <a:gd name="T68" fmla="*/ 173 w 481"/>
                <a:gd name="T69" fmla="*/ 217 h 238"/>
                <a:gd name="T70" fmla="*/ 140 w 481"/>
                <a:gd name="T71" fmla="*/ 206 h 238"/>
                <a:gd name="T72" fmla="*/ 112 w 481"/>
                <a:gd name="T73" fmla="*/ 188 h 238"/>
                <a:gd name="T74" fmla="*/ 85 w 481"/>
                <a:gd name="T75" fmla="*/ 168 h 238"/>
                <a:gd name="T76" fmla="*/ 61 w 481"/>
                <a:gd name="T77" fmla="*/ 144 h 238"/>
                <a:gd name="T78" fmla="*/ 43 w 481"/>
                <a:gd name="T79" fmla="*/ 119 h 238"/>
                <a:gd name="T80" fmla="*/ 29 w 481"/>
                <a:gd name="T81" fmla="*/ 87 h 238"/>
                <a:gd name="T82" fmla="*/ 18 w 481"/>
                <a:gd name="T83" fmla="*/ 56 h 238"/>
                <a:gd name="T84" fmla="*/ 12 w 481"/>
                <a:gd name="T85" fmla="*/ 23 h 238"/>
                <a:gd name="T86" fmla="*/ 0 w 481"/>
                <a:gd name="T87" fmla="*/ 0 h 2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1"/>
                <a:gd name="T133" fmla="*/ 0 h 238"/>
                <a:gd name="T134" fmla="*/ 481 w 481"/>
                <a:gd name="T135" fmla="*/ 238 h 2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1" h="238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8"/>
                  </a:lnTo>
                  <a:lnTo>
                    <a:pt x="12" y="69"/>
                  </a:lnTo>
                  <a:lnTo>
                    <a:pt x="15" y="81"/>
                  </a:lnTo>
                  <a:lnTo>
                    <a:pt x="21" y="93"/>
                  </a:lnTo>
                  <a:lnTo>
                    <a:pt x="24" y="101"/>
                  </a:lnTo>
                  <a:lnTo>
                    <a:pt x="29" y="113"/>
                  </a:lnTo>
                  <a:lnTo>
                    <a:pt x="35" y="122"/>
                  </a:lnTo>
                  <a:lnTo>
                    <a:pt x="40" y="134"/>
                  </a:lnTo>
                  <a:lnTo>
                    <a:pt x="49" y="142"/>
                  </a:lnTo>
                  <a:lnTo>
                    <a:pt x="55" y="150"/>
                  </a:lnTo>
                  <a:lnTo>
                    <a:pt x="64" y="159"/>
                  </a:lnTo>
                  <a:lnTo>
                    <a:pt x="70" y="168"/>
                  </a:lnTo>
                  <a:lnTo>
                    <a:pt x="79" y="174"/>
                  </a:lnTo>
                  <a:lnTo>
                    <a:pt x="88" y="182"/>
                  </a:lnTo>
                  <a:lnTo>
                    <a:pt x="97" y="191"/>
                  </a:lnTo>
                  <a:lnTo>
                    <a:pt x="106" y="197"/>
                  </a:lnTo>
                  <a:lnTo>
                    <a:pt x="117" y="203"/>
                  </a:lnTo>
                  <a:lnTo>
                    <a:pt x="125" y="209"/>
                  </a:lnTo>
                  <a:lnTo>
                    <a:pt x="137" y="215"/>
                  </a:lnTo>
                  <a:lnTo>
                    <a:pt x="146" y="217"/>
                  </a:lnTo>
                  <a:lnTo>
                    <a:pt x="158" y="223"/>
                  </a:lnTo>
                  <a:lnTo>
                    <a:pt x="170" y="226"/>
                  </a:lnTo>
                  <a:lnTo>
                    <a:pt x="182" y="229"/>
                  </a:lnTo>
                  <a:lnTo>
                    <a:pt x="194" y="231"/>
                  </a:lnTo>
                  <a:lnTo>
                    <a:pt x="204" y="234"/>
                  </a:lnTo>
                  <a:lnTo>
                    <a:pt x="216" y="234"/>
                  </a:lnTo>
                  <a:lnTo>
                    <a:pt x="228" y="237"/>
                  </a:lnTo>
                  <a:lnTo>
                    <a:pt x="240" y="237"/>
                  </a:lnTo>
                  <a:lnTo>
                    <a:pt x="252" y="237"/>
                  </a:lnTo>
                  <a:lnTo>
                    <a:pt x="267" y="234"/>
                  </a:lnTo>
                  <a:lnTo>
                    <a:pt x="279" y="234"/>
                  </a:lnTo>
                  <a:lnTo>
                    <a:pt x="289" y="231"/>
                  </a:lnTo>
                  <a:lnTo>
                    <a:pt x="301" y="229"/>
                  </a:lnTo>
                  <a:lnTo>
                    <a:pt x="313" y="226"/>
                  </a:lnTo>
                  <a:lnTo>
                    <a:pt x="322" y="223"/>
                  </a:lnTo>
                  <a:lnTo>
                    <a:pt x="334" y="217"/>
                  </a:lnTo>
                  <a:lnTo>
                    <a:pt x="346" y="215"/>
                  </a:lnTo>
                  <a:lnTo>
                    <a:pt x="355" y="209"/>
                  </a:lnTo>
                  <a:lnTo>
                    <a:pt x="365" y="203"/>
                  </a:lnTo>
                  <a:lnTo>
                    <a:pt x="374" y="197"/>
                  </a:lnTo>
                  <a:lnTo>
                    <a:pt x="383" y="191"/>
                  </a:lnTo>
                  <a:lnTo>
                    <a:pt x="392" y="182"/>
                  </a:lnTo>
                  <a:lnTo>
                    <a:pt x="401" y="174"/>
                  </a:lnTo>
                  <a:lnTo>
                    <a:pt x="410" y="168"/>
                  </a:lnTo>
                  <a:lnTo>
                    <a:pt x="419" y="159"/>
                  </a:lnTo>
                  <a:lnTo>
                    <a:pt x="425" y="150"/>
                  </a:lnTo>
                  <a:lnTo>
                    <a:pt x="434" y="142"/>
                  </a:lnTo>
                  <a:lnTo>
                    <a:pt x="440" y="134"/>
                  </a:lnTo>
                  <a:lnTo>
                    <a:pt x="444" y="122"/>
                  </a:lnTo>
                  <a:lnTo>
                    <a:pt x="450" y="113"/>
                  </a:lnTo>
                  <a:lnTo>
                    <a:pt x="456" y="101"/>
                  </a:lnTo>
                  <a:lnTo>
                    <a:pt x="462" y="93"/>
                  </a:lnTo>
                  <a:lnTo>
                    <a:pt x="465" y="81"/>
                  </a:lnTo>
                  <a:lnTo>
                    <a:pt x="468" y="69"/>
                  </a:lnTo>
                  <a:lnTo>
                    <a:pt x="471" y="58"/>
                  </a:lnTo>
                  <a:lnTo>
                    <a:pt x="474" y="47"/>
                  </a:lnTo>
                  <a:lnTo>
                    <a:pt x="477" y="35"/>
                  </a:lnTo>
                  <a:lnTo>
                    <a:pt x="480" y="23"/>
                  </a:lnTo>
                  <a:lnTo>
                    <a:pt x="480" y="12"/>
                  </a:lnTo>
                  <a:lnTo>
                    <a:pt x="480" y="0"/>
                  </a:lnTo>
                  <a:lnTo>
                    <a:pt x="471" y="0"/>
                  </a:lnTo>
                  <a:lnTo>
                    <a:pt x="471" y="12"/>
                  </a:lnTo>
                  <a:lnTo>
                    <a:pt x="471" y="23"/>
                  </a:lnTo>
                  <a:lnTo>
                    <a:pt x="468" y="35"/>
                  </a:lnTo>
                  <a:lnTo>
                    <a:pt x="465" y="47"/>
                  </a:lnTo>
                  <a:lnTo>
                    <a:pt x="462" y="56"/>
                  </a:lnTo>
                  <a:lnTo>
                    <a:pt x="459" y="66"/>
                  </a:lnTo>
                  <a:lnTo>
                    <a:pt x="456" y="78"/>
                  </a:lnTo>
                  <a:lnTo>
                    <a:pt x="453" y="87"/>
                  </a:lnTo>
                  <a:lnTo>
                    <a:pt x="447" y="99"/>
                  </a:lnTo>
                  <a:lnTo>
                    <a:pt x="444" y="107"/>
                  </a:lnTo>
                  <a:lnTo>
                    <a:pt x="440" y="119"/>
                  </a:lnTo>
                  <a:lnTo>
                    <a:pt x="434" y="128"/>
                  </a:lnTo>
                  <a:lnTo>
                    <a:pt x="425" y="137"/>
                  </a:lnTo>
                  <a:lnTo>
                    <a:pt x="419" y="144"/>
                  </a:lnTo>
                  <a:lnTo>
                    <a:pt x="410" y="153"/>
                  </a:lnTo>
                  <a:lnTo>
                    <a:pt x="404" y="162"/>
                  </a:lnTo>
                  <a:lnTo>
                    <a:pt x="395" y="168"/>
                  </a:lnTo>
                  <a:lnTo>
                    <a:pt x="386" y="177"/>
                  </a:lnTo>
                  <a:lnTo>
                    <a:pt x="377" y="182"/>
                  </a:lnTo>
                  <a:lnTo>
                    <a:pt x="368" y="188"/>
                  </a:lnTo>
                  <a:lnTo>
                    <a:pt x="360" y="194"/>
                  </a:lnTo>
                  <a:lnTo>
                    <a:pt x="352" y="200"/>
                  </a:lnTo>
                  <a:lnTo>
                    <a:pt x="340" y="206"/>
                  </a:lnTo>
                  <a:lnTo>
                    <a:pt x="331" y="209"/>
                  </a:lnTo>
                  <a:lnTo>
                    <a:pt x="319" y="215"/>
                  </a:lnTo>
                  <a:lnTo>
                    <a:pt x="310" y="217"/>
                  </a:lnTo>
                  <a:lnTo>
                    <a:pt x="298" y="220"/>
                  </a:lnTo>
                  <a:lnTo>
                    <a:pt x="286" y="223"/>
                  </a:lnTo>
                  <a:lnTo>
                    <a:pt x="276" y="226"/>
                  </a:lnTo>
                  <a:lnTo>
                    <a:pt x="264" y="226"/>
                  </a:lnTo>
                  <a:lnTo>
                    <a:pt x="252" y="229"/>
                  </a:lnTo>
                  <a:lnTo>
                    <a:pt x="240" y="229"/>
                  </a:lnTo>
                  <a:lnTo>
                    <a:pt x="228" y="229"/>
                  </a:lnTo>
                  <a:lnTo>
                    <a:pt x="216" y="226"/>
                  </a:lnTo>
                  <a:lnTo>
                    <a:pt x="204" y="226"/>
                  </a:lnTo>
                  <a:lnTo>
                    <a:pt x="194" y="223"/>
                  </a:lnTo>
                  <a:lnTo>
                    <a:pt x="185" y="220"/>
                  </a:lnTo>
                  <a:lnTo>
                    <a:pt x="173" y="217"/>
                  </a:lnTo>
                  <a:lnTo>
                    <a:pt x="161" y="215"/>
                  </a:lnTo>
                  <a:lnTo>
                    <a:pt x="152" y="209"/>
                  </a:lnTo>
                  <a:lnTo>
                    <a:pt x="140" y="206"/>
                  </a:lnTo>
                  <a:lnTo>
                    <a:pt x="131" y="200"/>
                  </a:lnTo>
                  <a:lnTo>
                    <a:pt x="120" y="194"/>
                  </a:lnTo>
                  <a:lnTo>
                    <a:pt x="112" y="188"/>
                  </a:lnTo>
                  <a:lnTo>
                    <a:pt x="103" y="182"/>
                  </a:lnTo>
                  <a:lnTo>
                    <a:pt x="94" y="177"/>
                  </a:lnTo>
                  <a:lnTo>
                    <a:pt x="85" y="168"/>
                  </a:lnTo>
                  <a:lnTo>
                    <a:pt x="79" y="162"/>
                  </a:lnTo>
                  <a:lnTo>
                    <a:pt x="70" y="153"/>
                  </a:lnTo>
                  <a:lnTo>
                    <a:pt x="61" y="144"/>
                  </a:lnTo>
                  <a:lnTo>
                    <a:pt x="55" y="137"/>
                  </a:lnTo>
                  <a:lnTo>
                    <a:pt x="49" y="128"/>
                  </a:lnTo>
                  <a:lnTo>
                    <a:pt x="43" y="119"/>
                  </a:lnTo>
                  <a:lnTo>
                    <a:pt x="38" y="107"/>
                  </a:lnTo>
                  <a:lnTo>
                    <a:pt x="32" y="99"/>
                  </a:lnTo>
                  <a:lnTo>
                    <a:pt x="29" y="87"/>
                  </a:lnTo>
                  <a:lnTo>
                    <a:pt x="24" y="78"/>
                  </a:lnTo>
                  <a:lnTo>
                    <a:pt x="21" y="66"/>
                  </a:lnTo>
                  <a:lnTo>
                    <a:pt x="18" y="56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8" name="Freeform 158">
              <a:extLst>
                <a:ext uri="{FF2B5EF4-FFF2-40B4-BE49-F238E27FC236}">
                  <a16:creationId xmlns:a16="http://schemas.microsoft.com/office/drawing/2014/main" id="{7D3FD71C-D068-4EEC-8C0D-8F2A509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3568"/>
              <a:ext cx="463" cy="229"/>
            </a:xfrm>
            <a:custGeom>
              <a:avLst/>
              <a:gdLst>
                <a:gd name="T0" fmla="*/ 0 w 463"/>
                <a:gd name="T1" fmla="*/ 216 h 229"/>
                <a:gd name="T2" fmla="*/ 3 w 463"/>
                <a:gd name="T3" fmla="*/ 194 h 229"/>
                <a:gd name="T4" fmla="*/ 9 w 463"/>
                <a:gd name="T5" fmla="*/ 171 h 229"/>
                <a:gd name="T6" fmla="*/ 15 w 463"/>
                <a:gd name="T7" fmla="*/ 150 h 229"/>
                <a:gd name="T8" fmla="*/ 23 w 463"/>
                <a:gd name="T9" fmla="*/ 130 h 229"/>
                <a:gd name="T10" fmla="*/ 35 w 463"/>
                <a:gd name="T11" fmla="*/ 110 h 229"/>
                <a:gd name="T12" fmla="*/ 46 w 463"/>
                <a:gd name="T13" fmla="*/ 90 h 229"/>
                <a:gd name="T14" fmla="*/ 61 w 463"/>
                <a:gd name="T15" fmla="*/ 75 h 229"/>
                <a:gd name="T16" fmla="*/ 76 w 463"/>
                <a:gd name="T17" fmla="*/ 57 h 229"/>
                <a:gd name="T18" fmla="*/ 94 w 463"/>
                <a:gd name="T19" fmla="*/ 46 h 229"/>
                <a:gd name="T20" fmla="*/ 111 w 463"/>
                <a:gd name="T21" fmla="*/ 31 h 229"/>
                <a:gd name="T22" fmla="*/ 131 w 463"/>
                <a:gd name="T23" fmla="*/ 23 h 229"/>
                <a:gd name="T24" fmla="*/ 152 w 463"/>
                <a:gd name="T25" fmla="*/ 15 h 229"/>
                <a:gd name="T26" fmla="*/ 176 w 463"/>
                <a:gd name="T27" fmla="*/ 6 h 229"/>
                <a:gd name="T28" fmla="*/ 195 w 463"/>
                <a:gd name="T29" fmla="*/ 3 h 229"/>
                <a:gd name="T30" fmla="*/ 219 w 463"/>
                <a:gd name="T31" fmla="*/ 0 h 229"/>
                <a:gd name="T32" fmla="*/ 243 w 463"/>
                <a:gd name="T33" fmla="*/ 0 h 229"/>
                <a:gd name="T34" fmla="*/ 267 w 463"/>
                <a:gd name="T35" fmla="*/ 3 h 229"/>
                <a:gd name="T36" fmla="*/ 289 w 463"/>
                <a:gd name="T37" fmla="*/ 6 h 229"/>
                <a:gd name="T38" fmla="*/ 310 w 463"/>
                <a:gd name="T39" fmla="*/ 15 h 229"/>
                <a:gd name="T40" fmla="*/ 331 w 463"/>
                <a:gd name="T41" fmla="*/ 23 h 229"/>
                <a:gd name="T42" fmla="*/ 351 w 463"/>
                <a:gd name="T43" fmla="*/ 31 h 229"/>
                <a:gd name="T44" fmla="*/ 368 w 463"/>
                <a:gd name="T45" fmla="*/ 46 h 229"/>
                <a:gd name="T46" fmla="*/ 386 w 463"/>
                <a:gd name="T47" fmla="*/ 57 h 229"/>
                <a:gd name="T48" fmla="*/ 401 w 463"/>
                <a:gd name="T49" fmla="*/ 75 h 229"/>
                <a:gd name="T50" fmla="*/ 416 w 463"/>
                <a:gd name="T51" fmla="*/ 90 h 229"/>
                <a:gd name="T52" fmla="*/ 430 w 463"/>
                <a:gd name="T53" fmla="*/ 110 h 229"/>
                <a:gd name="T54" fmla="*/ 438 w 463"/>
                <a:gd name="T55" fmla="*/ 130 h 229"/>
                <a:gd name="T56" fmla="*/ 447 w 463"/>
                <a:gd name="T57" fmla="*/ 150 h 229"/>
                <a:gd name="T58" fmla="*/ 453 w 463"/>
                <a:gd name="T59" fmla="*/ 171 h 229"/>
                <a:gd name="T60" fmla="*/ 459 w 463"/>
                <a:gd name="T61" fmla="*/ 194 h 229"/>
                <a:gd name="T62" fmla="*/ 462 w 463"/>
                <a:gd name="T63" fmla="*/ 216 h 229"/>
                <a:gd name="T64" fmla="*/ 453 w 463"/>
                <a:gd name="T65" fmla="*/ 228 h 229"/>
                <a:gd name="T66" fmla="*/ 447 w 463"/>
                <a:gd name="T67" fmla="*/ 185 h 229"/>
                <a:gd name="T68" fmla="*/ 435 w 463"/>
                <a:gd name="T69" fmla="*/ 141 h 229"/>
                <a:gd name="T70" fmla="*/ 416 w 463"/>
                <a:gd name="T71" fmla="*/ 104 h 229"/>
                <a:gd name="T72" fmla="*/ 389 w 463"/>
                <a:gd name="T73" fmla="*/ 72 h 229"/>
                <a:gd name="T74" fmla="*/ 353 w 463"/>
                <a:gd name="T75" fmla="*/ 46 h 229"/>
                <a:gd name="T76" fmla="*/ 319 w 463"/>
                <a:gd name="T77" fmla="*/ 26 h 229"/>
                <a:gd name="T78" fmla="*/ 274 w 463"/>
                <a:gd name="T79" fmla="*/ 15 h 229"/>
                <a:gd name="T80" fmla="*/ 231 w 463"/>
                <a:gd name="T81" fmla="*/ 9 h 229"/>
                <a:gd name="T82" fmla="*/ 187 w 463"/>
                <a:gd name="T83" fmla="*/ 15 h 229"/>
                <a:gd name="T84" fmla="*/ 146 w 463"/>
                <a:gd name="T85" fmla="*/ 26 h 229"/>
                <a:gd name="T86" fmla="*/ 108 w 463"/>
                <a:gd name="T87" fmla="*/ 46 h 229"/>
                <a:gd name="T88" fmla="*/ 76 w 463"/>
                <a:gd name="T89" fmla="*/ 72 h 229"/>
                <a:gd name="T90" fmla="*/ 46 w 463"/>
                <a:gd name="T91" fmla="*/ 104 h 229"/>
                <a:gd name="T92" fmla="*/ 26 w 463"/>
                <a:gd name="T93" fmla="*/ 141 h 229"/>
                <a:gd name="T94" fmla="*/ 15 w 463"/>
                <a:gd name="T95" fmla="*/ 185 h 229"/>
                <a:gd name="T96" fmla="*/ 9 w 463"/>
                <a:gd name="T97" fmla="*/ 228 h 22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3"/>
                <a:gd name="T148" fmla="*/ 0 h 229"/>
                <a:gd name="T149" fmla="*/ 463 w 463"/>
                <a:gd name="T150" fmla="*/ 229 h 22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3" h="229">
                  <a:moveTo>
                    <a:pt x="0" y="228"/>
                  </a:moveTo>
                  <a:lnTo>
                    <a:pt x="0" y="216"/>
                  </a:lnTo>
                  <a:lnTo>
                    <a:pt x="3" y="205"/>
                  </a:lnTo>
                  <a:lnTo>
                    <a:pt x="3" y="194"/>
                  </a:lnTo>
                  <a:lnTo>
                    <a:pt x="6" y="182"/>
                  </a:lnTo>
                  <a:lnTo>
                    <a:pt x="9" y="171"/>
                  </a:lnTo>
                  <a:lnTo>
                    <a:pt x="12" y="159"/>
                  </a:lnTo>
                  <a:lnTo>
                    <a:pt x="15" y="150"/>
                  </a:lnTo>
                  <a:lnTo>
                    <a:pt x="20" y="138"/>
                  </a:lnTo>
                  <a:lnTo>
                    <a:pt x="23" y="130"/>
                  </a:lnTo>
                  <a:lnTo>
                    <a:pt x="29" y="118"/>
                  </a:lnTo>
                  <a:lnTo>
                    <a:pt x="35" y="110"/>
                  </a:lnTo>
                  <a:lnTo>
                    <a:pt x="40" y="101"/>
                  </a:lnTo>
                  <a:lnTo>
                    <a:pt x="46" y="90"/>
                  </a:lnTo>
                  <a:lnTo>
                    <a:pt x="52" y="84"/>
                  </a:lnTo>
                  <a:lnTo>
                    <a:pt x="61" y="75"/>
                  </a:lnTo>
                  <a:lnTo>
                    <a:pt x="70" y="66"/>
                  </a:lnTo>
                  <a:lnTo>
                    <a:pt x="76" y="57"/>
                  </a:lnTo>
                  <a:lnTo>
                    <a:pt x="85" y="52"/>
                  </a:lnTo>
                  <a:lnTo>
                    <a:pt x="94" y="46"/>
                  </a:lnTo>
                  <a:lnTo>
                    <a:pt x="103" y="37"/>
                  </a:lnTo>
                  <a:lnTo>
                    <a:pt x="111" y="31"/>
                  </a:lnTo>
                  <a:lnTo>
                    <a:pt x="122" y="26"/>
                  </a:lnTo>
                  <a:lnTo>
                    <a:pt x="131" y="23"/>
                  </a:lnTo>
                  <a:lnTo>
                    <a:pt x="143" y="18"/>
                  </a:lnTo>
                  <a:lnTo>
                    <a:pt x="152" y="15"/>
                  </a:lnTo>
                  <a:lnTo>
                    <a:pt x="164" y="9"/>
                  </a:lnTo>
                  <a:lnTo>
                    <a:pt x="176" y="6"/>
                  </a:lnTo>
                  <a:lnTo>
                    <a:pt x="185" y="3"/>
                  </a:lnTo>
                  <a:lnTo>
                    <a:pt x="195" y="3"/>
                  </a:lnTo>
                  <a:lnTo>
                    <a:pt x="207" y="0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43" y="0"/>
                  </a:lnTo>
                  <a:lnTo>
                    <a:pt x="255" y="0"/>
                  </a:lnTo>
                  <a:lnTo>
                    <a:pt x="267" y="3"/>
                  </a:lnTo>
                  <a:lnTo>
                    <a:pt x="277" y="3"/>
                  </a:lnTo>
                  <a:lnTo>
                    <a:pt x="289" y="6"/>
                  </a:lnTo>
                  <a:lnTo>
                    <a:pt x="301" y="9"/>
                  </a:lnTo>
                  <a:lnTo>
                    <a:pt x="310" y="15"/>
                  </a:lnTo>
                  <a:lnTo>
                    <a:pt x="322" y="18"/>
                  </a:lnTo>
                  <a:lnTo>
                    <a:pt x="331" y="23"/>
                  </a:lnTo>
                  <a:lnTo>
                    <a:pt x="343" y="26"/>
                  </a:lnTo>
                  <a:lnTo>
                    <a:pt x="351" y="31"/>
                  </a:lnTo>
                  <a:lnTo>
                    <a:pt x="359" y="37"/>
                  </a:lnTo>
                  <a:lnTo>
                    <a:pt x="368" y="46"/>
                  </a:lnTo>
                  <a:lnTo>
                    <a:pt x="377" y="52"/>
                  </a:lnTo>
                  <a:lnTo>
                    <a:pt x="386" y="57"/>
                  </a:lnTo>
                  <a:lnTo>
                    <a:pt x="395" y="66"/>
                  </a:lnTo>
                  <a:lnTo>
                    <a:pt x="401" y="75"/>
                  </a:lnTo>
                  <a:lnTo>
                    <a:pt x="410" y="84"/>
                  </a:lnTo>
                  <a:lnTo>
                    <a:pt x="416" y="90"/>
                  </a:lnTo>
                  <a:lnTo>
                    <a:pt x="424" y="101"/>
                  </a:lnTo>
                  <a:lnTo>
                    <a:pt x="430" y="110"/>
                  </a:lnTo>
                  <a:lnTo>
                    <a:pt x="435" y="118"/>
                  </a:lnTo>
                  <a:lnTo>
                    <a:pt x="438" y="130"/>
                  </a:lnTo>
                  <a:lnTo>
                    <a:pt x="444" y="138"/>
                  </a:lnTo>
                  <a:lnTo>
                    <a:pt x="447" y="150"/>
                  </a:lnTo>
                  <a:lnTo>
                    <a:pt x="450" y="159"/>
                  </a:lnTo>
                  <a:lnTo>
                    <a:pt x="453" y="171"/>
                  </a:lnTo>
                  <a:lnTo>
                    <a:pt x="456" y="182"/>
                  </a:lnTo>
                  <a:lnTo>
                    <a:pt x="459" y="194"/>
                  </a:lnTo>
                  <a:lnTo>
                    <a:pt x="462" y="205"/>
                  </a:lnTo>
                  <a:lnTo>
                    <a:pt x="462" y="216"/>
                  </a:lnTo>
                  <a:lnTo>
                    <a:pt x="462" y="228"/>
                  </a:lnTo>
                  <a:lnTo>
                    <a:pt x="453" y="228"/>
                  </a:lnTo>
                  <a:lnTo>
                    <a:pt x="453" y="205"/>
                  </a:lnTo>
                  <a:lnTo>
                    <a:pt x="447" y="185"/>
                  </a:lnTo>
                  <a:lnTo>
                    <a:pt x="444" y="162"/>
                  </a:lnTo>
                  <a:lnTo>
                    <a:pt x="435" y="141"/>
                  </a:lnTo>
                  <a:lnTo>
                    <a:pt x="427" y="124"/>
                  </a:lnTo>
                  <a:lnTo>
                    <a:pt x="416" y="104"/>
                  </a:lnTo>
                  <a:lnTo>
                    <a:pt x="404" y="90"/>
                  </a:lnTo>
                  <a:lnTo>
                    <a:pt x="389" y="72"/>
                  </a:lnTo>
                  <a:lnTo>
                    <a:pt x="371" y="57"/>
                  </a:lnTo>
                  <a:lnTo>
                    <a:pt x="353" y="46"/>
                  </a:lnTo>
                  <a:lnTo>
                    <a:pt x="337" y="34"/>
                  </a:lnTo>
                  <a:lnTo>
                    <a:pt x="319" y="26"/>
                  </a:lnTo>
                  <a:lnTo>
                    <a:pt x="298" y="18"/>
                  </a:lnTo>
                  <a:lnTo>
                    <a:pt x="274" y="15"/>
                  </a:lnTo>
                  <a:lnTo>
                    <a:pt x="255" y="9"/>
                  </a:lnTo>
                  <a:lnTo>
                    <a:pt x="231" y="9"/>
                  </a:lnTo>
                  <a:lnTo>
                    <a:pt x="207" y="9"/>
                  </a:lnTo>
                  <a:lnTo>
                    <a:pt x="187" y="15"/>
                  </a:lnTo>
                  <a:lnTo>
                    <a:pt x="167" y="18"/>
                  </a:lnTo>
                  <a:lnTo>
                    <a:pt x="146" y="26"/>
                  </a:lnTo>
                  <a:lnTo>
                    <a:pt x="125" y="34"/>
                  </a:lnTo>
                  <a:lnTo>
                    <a:pt x="108" y="46"/>
                  </a:lnTo>
                  <a:lnTo>
                    <a:pt x="91" y="57"/>
                  </a:lnTo>
                  <a:lnTo>
                    <a:pt x="76" y="72"/>
                  </a:lnTo>
                  <a:lnTo>
                    <a:pt x="61" y="90"/>
                  </a:lnTo>
                  <a:lnTo>
                    <a:pt x="46" y="104"/>
                  </a:lnTo>
                  <a:lnTo>
                    <a:pt x="38" y="124"/>
                  </a:lnTo>
                  <a:lnTo>
                    <a:pt x="26" y="141"/>
                  </a:lnTo>
                  <a:lnTo>
                    <a:pt x="20" y="162"/>
                  </a:lnTo>
                  <a:lnTo>
                    <a:pt x="15" y="185"/>
                  </a:lnTo>
                  <a:lnTo>
                    <a:pt x="12" y="205"/>
                  </a:lnTo>
                  <a:lnTo>
                    <a:pt x="9" y="228"/>
                  </a:lnTo>
                  <a:lnTo>
                    <a:pt x="0" y="228"/>
                  </a:lnTo>
                </a:path>
              </a:pathLst>
            </a:custGeom>
            <a:solidFill>
              <a:srgbClr val="FFB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Freeform 159">
              <a:extLst>
                <a:ext uri="{FF2B5EF4-FFF2-40B4-BE49-F238E27FC236}">
                  <a16:creationId xmlns:a16="http://schemas.microsoft.com/office/drawing/2014/main" id="{064776B1-131B-4B28-BE39-5CA56CFFC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3802"/>
              <a:ext cx="463" cy="230"/>
            </a:xfrm>
            <a:custGeom>
              <a:avLst/>
              <a:gdLst>
                <a:gd name="T0" fmla="*/ 0 w 463"/>
                <a:gd name="T1" fmla="*/ 0 h 230"/>
                <a:gd name="T2" fmla="*/ 3 w 463"/>
                <a:gd name="T3" fmla="*/ 23 h 230"/>
                <a:gd name="T4" fmla="*/ 6 w 463"/>
                <a:gd name="T5" fmla="*/ 47 h 230"/>
                <a:gd name="T6" fmla="*/ 12 w 463"/>
                <a:gd name="T7" fmla="*/ 66 h 230"/>
                <a:gd name="T8" fmla="*/ 20 w 463"/>
                <a:gd name="T9" fmla="*/ 87 h 230"/>
                <a:gd name="T10" fmla="*/ 29 w 463"/>
                <a:gd name="T11" fmla="*/ 107 h 230"/>
                <a:gd name="T12" fmla="*/ 40 w 463"/>
                <a:gd name="T13" fmla="*/ 128 h 230"/>
                <a:gd name="T14" fmla="*/ 52 w 463"/>
                <a:gd name="T15" fmla="*/ 144 h 230"/>
                <a:gd name="T16" fmla="*/ 70 w 463"/>
                <a:gd name="T17" fmla="*/ 162 h 230"/>
                <a:gd name="T18" fmla="*/ 85 w 463"/>
                <a:gd name="T19" fmla="*/ 176 h 230"/>
                <a:gd name="T20" fmla="*/ 103 w 463"/>
                <a:gd name="T21" fmla="*/ 188 h 230"/>
                <a:gd name="T22" fmla="*/ 122 w 463"/>
                <a:gd name="T23" fmla="*/ 200 h 230"/>
                <a:gd name="T24" fmla="*/ 143 w 463"/>
                <a:gd name="T25" fmla="*/ 209 h 230"/>
                <a:gd name="T26" fmla="*/ 164 w 463"/>
                <a:gd name="T27" fmla="*/ 217 h 230"/>
                <a:gd name="T28" fmla="*/ 185 w 463"/>
                <a:gd name="T29" fmla="*/ 223 h 230"/>
                <a:gd name="T30" fmla="*/ 207 w 463"/>
                <a:gd name="T31" fmla="*/ 226 h 230"/>
                <a:gd name="T32" fmla="*/ 231 w 463"/>
                <a:gd name="T33" fmla="*/ 229 h 230"/>
                <a:gd name="T34" fmla="*/ 255 w 463"/>
                <a:gd name="T35" fmla="*/ 226 h 230"/>
                <a:gd name="T36" fmla="*/ 277 w 463"/>
                <a:gd name="T37" fmla="*/ 223 h 230"/>
                <a:gd name="T38" fmla="*/ 301 w 463"/>
                <a:gd name="T39" fmla="*/ 217 h 230"/>
                <a:gd name="T40" fmla="*/ 322 w 463"/>
                <a:gd name="T41" fmla="*/ 209 h 230"/>
                <a:gd name="T42" fmla="*/ 343 w 463"/>
                <a:gd name="T43" fmla="*/ 200 h 230"/>
                <a:gd name="T44" fmla="*/ 359 w 463"/>
                <a:gd name="T45" fmla="*/ 188 h 230"/>
                <a:gd name="T46" fmla="*/ 377 w 463"/>
                <a:gd name="T47" fmla="*/ 176 h 230"/>
                <a:gd name="T48" fmla="*/ 395 w 463"/>
                <a:gd name="T49" fmla="*/ 162 h 230"/>
                <a:gd name="T50" fmla="*/ 410 w 463"/>
                <a:gd name="T51" fmla="*/ 144 h 230"/>
                <a:gd name="T52" fmla="*/ 424 w 463"/>
                <a:gd name="T53" fmla="*/ 128 h 230"/>
                <a:gd name="T54" fmla="*/ 435 w 463"/>
                <a:gd name="T55" fmla="*/ 107 h 230"/>
                <a:gd name="T56" fmla="*/ 444 w 463"/>
                <a:gd name="T57" fmla="*/ 87 h 230"/>
                <a:gd name="T58" fmla="*/ 450 w 463"/>
                <a:gd name="T59" fmla="*/ 66 h 230"/>
                <a:gd name="T60" fmla="*/ 456 w 463"/>
                <a:gd name="T61" fmla="*/ 47 h 230"/>
                <a:gd name="T62" fmla="*/ 462 w 463"/>
                <a:gd name="T63" fmla="*/ 23 h 230"/>
                <a:gd name="T64" fmla="*/ 462 w 463"/>
                <a:gd name="T65" fmla="*/ 0 h 230"/>
                <a:gd name="T66" fmla="*/ 453 w 463"/>
                <a:gd name="T67" fmla="*/ 23 h 230"/>
                <a:gd name="T68" fmla="*/ 444 w 463"/>
                <a:gd name="T69" fmla="*/ 63 h 230"/>
                <a:gd name="T70" fmla="*/ 427 w 463"/>
                <a:gd name="T71" fmla="*/ 104 h 230"/>
                <a:gd name="T72" fmla="*/ 404 w 463"/>
                <a:gd name="T73" fmla="*/ 139 h 230"/>
                <a:gd name="T74" fmla="*/ 371 w 463"/>
                <a:gd name="T75" fmla="*/ 168 h 230"/>
                <a:gd name="T76" fmla="*/ 337 w 463"/>
                <a:gd name="T77" fmla="*/ 191 h 230"/>
                <a:gd name="T78" fmla="*/ 298 w 463"/>
                <a:gd name="T79" fmla="*/ 209 h 230"/>
                <a:gd name="T80" fmla="*/ 255 w 463"/>
                <a:gd name="T81" fmla="*/ 217 h 230"/>
                <a:gd name="T82" fmla="*/ 207 w 463"/>
                <a:gd name="T83" fmla="*/ 217 h 230"/>
                <a:gd name="T84" fmla="*/ 167 w 463"/>
                <a:gd name="T85" fmla="*/ 209 h 230"/>
                <a:gd name="T86" fmla="*/ 125 w 463"/>
                <a:gd name="T87" fmla="*/ 191 h 230"/>
                <a:gd name="T88" fmla="*/ 91 w 463"/>
                <a:gd name="T89" fmla="*/ 168 h 230"/>
                <a:gd name="T90" fmla="*/ 61 w 463"/>
                <a:gd name="T91" fmla="*/ 139 h 230"/>
                <a:gd name="T92" fmla="*/ 38 w 463"/>
                <a:gd name="T93" fmla="*/ 104 h 230"/>
                <a:gd name="T94" fmla="*/ 20 w 463"/>
                <a:gd name="T95" fmla="*/ 63 h 230"/>
                <a:gd name="T96" fmla="*/ 12 w 463"/>
                <a:gd name="T97" fmla="*/ 23 h 230"/>
                <a:gd name="T98" fmla="*/ 0 w 463"/>
                <a:gd name="T99" fmla="*/ 0 h 23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230"/>
                <a:gd name="T152" fmla="*/ 463 w 463"/>
                <a:gd name="T153" fmla="*/ 230 h 23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230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6"/>
                  </a:lnTo>
                  <a:lnTo>
                    <a:pt x="12" y="66"/>
                  </a:lnTo>
                  <a:lnTo>
                    <a:pt x="15" y="78"/>
                  </a:lnTo>
                  <a:lnTo>
                    <a:pt x="20" y="87"/>
                  </a:lnTo>
                  <a:lnTo>
                    <a:pt x="23" y="98"/>
                  </a:lnTo>
                  <a:lnTo>
                    <a:pt x="29" y="107"/>
                  </a:lnTo>
                  <a:lnTo>
                    <a:pt x="35" y="119"/>
                  </a:lnTo>
                  <a:lnTo>
                    <a:pt x="40" y="128"/>
                  </a:lnTo>
                  <a:lnTo>
                    <a:pt x="46" y="136"/>
                  </a:lnTo>
                  <a:lnTo>
                    <a:pt x="52" y="144"/>
                  </a:lnTo>
                  <a:lnTo>
                    <a:pt x="61" y="153"/>
                  </a:lnTo>
                  <a:lnTo>
                    <a:pt x="70" y="162"/>
                  </a:lnTo>
                  <a:lnTo>
                    <a:pt x="76" y="168"/>
                  </a:lnTo>
                  <a:lnTo>
                    <a:pt x="85" y="176"/>
                  </a:lnTo>
                  <a:lnTo>
                    <a:pt x="94" y="182"/>
                  </a:lnTo>
                  <a:lnTo>
                    <a:pt x="103" y="188"/>
                  </a:lnTo>
                  <a:lnTo>
                    <a:pt x="111" y="194"/>
                  </a:lnTo>
                  <a:lnTo>
                    <a:pt x="122" y="200"/>
                  </a:lnTo>
                  <a:lnTo>
                    <a:pt x="131" y="206"/>
                  </a:lnTo>
                  <a:lnTo>
                    <a:pt x="143" y="209"/>
                  </a:lnTo>
                  <a:lnTo>
                    <a:pt x="152" y="214"/>
                  </a:lnTo>
                  <a:lnTo>
                    <a:pt x="164" y="217"/>
                  </a:lnTo>
                  <a:lnTo>
                    <a:pt x="176" y="220"/>
                  </a:lnTo>
                  <a:lnTo>
                    <a:pt x="185" y="223"/>
                  </a:lnTo>
                  <a:lnTo>
                    <a:pt x="195" y="226"/>
                  </a:lnTo>
                  <a:lnTo>
                    <a:pt x="207" y="226"/>
                  </a:lnTo>
                  <a:lnTo>
                    <a:pt x="219" y="229"/>
                  </a:lnTo>
                  <a:lnTo>
                    <a:pt x="231" y="229"/>
                  </a:lnTo>
                  <a:lnTo>
                    <a:pt x="243" y="229"/>
                  </a:lnTo>
                  <a:lnTo>
                    <a:pt x="255" y="226"/>
                  </a:lnTo>
                  <a:lnTo>
                    <a:pt x="267" y="226"/>
                  </a:lnTo>
                  <a:lnTo>
                    <a:pt x="277" y="223"/>
                  </a:lnTo>
                  <a:lnTo>
                    <a:pt x="289" y="220"/>
                  </a:lnTo>
                  <a:lnTo>
                    <a:pt x="301" y="217"/>
                  </a:lnTo>
                  <a:lnTo>
                    <a:pt x="310" y="214"/>
                  </a:lnTo>
                  <a:lnTo>
                    <a:pt x="322" y="209"/>
                  </a:lnTo>
                  <a:lnTo>
                    <a:pt x="331" y="206"/>
                  </a:lnTo>
                  <a:lnTo>
                    <a:pt x="343" y="200"/>
                  </a:lnTo>
                  <a:lnTo>
                    <a:pt x="351" y="194"/>
                  </a:lnTo>
                  <a:lnTo>
                    <a:pt x="359" y="188"/>
                  </a:lnTo>
                  <a:lnTo>
                    <a:pt x="368" y="182"/>
                  </a:lnTo>
                  <a:lnTo>
                    <a:pt x="377" y="176"/>
                  </a:lnTo>
                  <a:lnTo>
                    <a:pt x="386" y="168"/>
                  </a:lnTo>
                  <a:lnTo>
                    <a:pt x="395" y="162"/>
                  </a:lnTo>
                  <a:lnTo>
                    <a:pt x="401" y="153"/>
                  </a:lnTo>
                  <a:lnTo>
                    <a:pt x="410" y="144"/>
                  </a:lnTo>
                  <a:lnTo>
                    <a:pt x="416" y="136"/>
                  </a:lnTo>
                  <a:lnTo>
                    <a:pt x="424" y="128"/>
                  </a:lnTo>
                  <a:lnTo>
                    <a:pt x="430" y="119"/>
                  </a:lnTo>
                  <a:lnTo>
                    <a:pt x="435" y="107"/>
                  </a:lnTo>
                  <a:lnTo>
                    <a:pt x="438" y="98"/>
                  </a:lnTo>
                  <a:lnTo>
                    <a:pt x="444" y="87"/>
                  </a:lnTo>
                  <a:lnTo>
                    <a:pt x="447" y="78"/>
                  </a:lnTo>
                  <a:lnTo>
                    <a:pt x="450" y="66"/>
                  </a:lnTo>
                  <a:lnTo>
                    <a:pt x="453" y="56"/>
                  </a:lnTo>
                  <a:lnTo>
                    <a:pt x="456" y="47"/>
                  </a:lnTo>
                  <a:lnTo>
                    <a:pt x="459" y="35"/>
                  </a:lnTo>
                  <a:lnTo>
                    <a:pt x="462" y="23"/>
                  </a:lnTo>
                  <a:lnTo>
                    <a:pt x="462" y="12"/>
                  </a:lnTo>
                  <a:lnTo>
                    <a:pt x="462" y="0"/>
                  </a:lnTo>
                  <a:lnTo>
                    <a:pt x="453" y="0"/>
                  </a:lnTo>
                  <a:lnTo>
                    <a:pt x="453" y="23"/>
                  </a:lnTo>
                  <a:lnTo>
                    <a:pt x="447" y="44"/>
                  </a:lnTo>
                  <a:lnTo>
                    <a:pt x="444" y="63"/>
                  </a:lnTo>
                  <a:lnTo>
                    <a:pt x="435" y="84"/>
                  </a:lnTo>
                  <a:lnTo>
                    <a:pt x="427" y="104"/>
                  </a:lnTo>
                  <a:lnTo>
                    <a:pt x="416" y="122"/>
                  </a:lnTo>
                  <a:lnTo>
                    <a:pt x="404" y="139"/>
                  </a:lnTo>
                  <a:lnTo>
                    <a:pt x="389" y="153"/>
                  </a:lnTo>
                  <a:lnTo>
                    <a:pt x="371" y="168"/>
                  </a:lnTo>
                  <a:lnTo>
                    <a:pt x="353" y="182"/>
                  </a:lnTo>
                  <a:lnTo>
                    <a:pt x="337" y="191"/>
                  </a:lnTo>
                  <a:lnTo>
                    <a:pt x="319" y="203"/>
                  </a:lnTo>
                  <a:lnTo>
                    <a:pt x="298" y="209"/>
                  </a:lnTo>
                  <a:lnTo>
                    <a:pt x="274" y="214"/>
                  </a:lnTo>
                  <a:lnTo>
                    <a:pt x="255" y="217"/>
                  </a:lnTo>
                  <a:lnTo>
                    <a:pt x="231" y="220"/>
                  </a:lnTo>
                  <a:lnTo>
                    <a:pt x="207" y="217"/>
                  </a:lnTo>
                  <a:lnTo>
                    <a:pt x="187" y="214"/>
                  </a:lnTo>
                  <a:lnTo>
                    <a:pt x="167" y="209"/>
                  </a:lnTo>
                  <a:lnTo>
                    <a:pt x="146" y="203"/>
                  </a:lnTo>
                  <a:lnTo>
                    <a:pt x="125" y="191"/>
                  </a:lnTo>
                  <a:lnTo>
                    <a:pt x="108" y="182"/>
                  </a:lnTo>
                  <a:lnTo>
                    <a:pt x="91" y="168"/>
                  </a:lnTo>
                  <a:lnTo>
                    <a:pt x="76" y="153"/>
                  </a:lnTo>
                  <a:lnTo>
                    <a:pt x="61" y="139"/>
                  </a:lnTo>
                  <a:lnTo>
                    <a:pt x="46" y="122"/>
                  </a:lnTo>
                  <a:lnTo>
                    <a:pt x="38" y="104"/>
                  </a:lnTo>
                  <a:lnTo>
                    <a:pt x="26" y="84"/>
                  </a:lnTo>
                  <a:lnTo>
                    <a:pt x="20" y="63"/>
                  </a:lnTo>
                  <a:lnTo>
                    <a:pt x="15" y="44"/>
                  </a:lnTo>
                  <a:lnTo>
                    <a:pt x="12" y="23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0" name="Freeform 160">
              <a:extLst>
                <a:ext uri="{FF2B5EF4-FFF2-40B4-BE49-F238E27FC236}">
                  <a16:creationId xmlns:a16="http://schemas.microsoft.com/office/drawing/2014/main" id="{336A268F-1AF0-4F07-AD1D-4060A3D50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577"/>
              <a:ext cx="445" cy="220"/>
            </a:xfrm>
            <a:custGeom>
              <a:avLst/>
              <a:gdLst>
                <a:gd name="T0" fmla="*/ 3 w 445"/>
                <a:gd name="T1" fmla="*/ 196 h 220"/>
                <a:gd name="T2" fmla="*/ 11 w 445"/>
                <a:gd name="T3" fmla="*/ 153 h 220"/>
                <a:gd name="T4" fmla="*/ 29 w 445"/>
                <a:gd name="T5" fmla="*/ 115 h 220"/>
                <a:gd name="T6" fmla="*/ 52 w 445"/>
                <a:gd name="T7" fmla="*/ 81 h 220"/>
                <a:gd name="T8" fmla="*/ 82 w 445"/>
                <a:gd name="T9" fmla="*/ 49 h 220"/>
                <a:gd name="T10" fmla="*/ 116 w 445"/>
                <a:gd name="T11" fmla="*/ 25 h 220"/>
                <a:gd name="T12" fmla="*/ 158 w 445"/>
                <a:gd name="T13" fmla="*/ 9 h 220"/>
                <a:gd name="T14" fmla="*/ 198 w 445"/>
                <a:gd name="T15" fmla="*/ 0 h 220"/>
                <a:gd name="T16" fmla="*/ 246 w 445"/>
                <a:gd name="T17" fmla="*/ 0 h 220"/>
                <a:gd name="T18" fmla="*/ 289 w 445"/>
                <a:gd name="T19" fmla="*/ 9 h 220"/>
                <a:gd name="T20" fmla="*/ 328 w 445"/>
                <a:gd name="T21" fmla="*/ 25 h 220"/>
                <a:gd name="T22" fmla="*/ 362 w 445"/>
                <a:gd name="T23" fmla="*/ 49 h 220"/>
                <a:gd name="T24" fmla="*/ 395 w 445"/>
                <a:gd name="T25" fmla="*/ 81 h 220"/>
                <a:gd name="T26" fmla="*/ 418 w 445"/>
                <a:gd name="T27" fmla="*/ 115 h 220"/>
                <a:gd name="T28" fmla="*/ 435 w 445"/>
                <a:gd name="T29" fmla="*/ 153 h 220"/>
                <a:gd name="T30" fmla="*/ 444 w 445"/>
                <a:gd name="T31" fmla="*/ 196 h 220"/>
                <a:gd name="T32" fmla="*/ 435 w 445"/>
                <a:gd name="T33" fmla="*/ 219 h 220"/>
                <a:gd name="T34" fmla="*/ 429 w 445"/>
                <a:gd name="T35" fmla="*/ 176 h 220"/>
                <a:gd name="T36" fmla="*/ 418 w 445"/>
                <a:gd name="T37" fmla="*/ 138 h 220"/>
                <a:gd name="T38" fmla="*/ 398 w 445"/>
                <a:gd name="T39" fmla="*/ 101 h 220"/>
                <a:gd name="T40" fmla="*/ 371 w 445"/>
                <a:gd name="T41" fmla="*/ 69 h 220"/>
                <a:gd name="T42" fmla="*/ 342 w 445"/>
                <a:gd name="T43" fmla="*/ 46 h 220"/>
                <a:gd name="T44" fmla="*/ 304 w 445"/>
                <a:gd name="T45" fmla="*/ 25 h 220"/>
                <a:gd name="T46" fmla="*/ 265 w 445"/>
                <a:gd name="T47" fmla="*/ 15 h 220"/>
                <a:gd name="T48" fmla="*/ 222 w 445"/>
                <a:gd name="T49" fmla="*/ 9 h 220"/>
                <a:gd name="T50" fmla="*/ 181 w 445"/>
                <a:gd name="T51" fmla="*/ 15 h 220"/>
                <a:gd name="T52" fmla="*/ 140 w 445"/>
                <a:gd name="T53" fmla="*/ 25 h 220"/>
                <a:gd name="T54" fmla="*/ 105 w 445"/>
                <a:gd name="T55" fmla="*/ 46 h 220"/>
                <a:gd name="T56" fmla="*/ 73 w 445"/>
                <a:gd name="T57" fmla="*/ 69 h 220"/>
                <a:gd name="T58" fmla="*/ 46 w 445"/>
                <a:gd name="T59" fmla="*/ 101 h 220"/>
                <a:gd name="T60" fmla="*/ 26 w 445"/>
                <a:gd name="T61" fmla="*/ 138 h 220"/>
                <a:gd name="T62" fmla="*/ 14 w 445"/>
                <a:gd name="T63" fmla="*/ 176 h 220"/>
                <a:gd name="T64" fmla="*/ 11 w 445"/>
                <a:gd name="T65" fmla="*/ 219 h 22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45"/>
                <a:gd name="T100" fmla="*/ 0 h 220"/>
                <a:gd name="T101" fmla="*/ 445 w 445"/>
                <a:gd name="T102" fmla="*/ 220 h 22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45" h="220">
                  <a:moveTo>
                    <a:pt x="0" y="219"/>
                  </a:moveTo>
                  <a:lnTo>
                    <a:pt x="3" y="196"/>
                  </a:lnTo>
                  <a:lnTo>
                    <a:pt x="6" y="176"/>
                  </a:lnTo>
                  <a:lnTo>
                    <a:pt x="11" y="153"/>
                  </a:lnTo>
                  <a:lnTo>
                    <a:pt x="17" y="132"/>
                  </a:lnTo>
                  <a:lnTo>
                    <a:pt x="29" y="115"/>
                  </a:lnTo>
                  <a:lnTo>
                    <a:pt x="37" y="95"/>
                  </a:lnTo>
                  <a:lnTo>
                    <a:pt x="52" y="81"/>
                  </a:lnTo>
                  <a:lnTo>
                    <a:pt x="67" y="63"/>
                  </a:lnTo>
                  <a:lnTo>
                    <a:pt x="82" y="49"/>
                  </a:lnTo>
                  <a:lnTo>
                    <a:pt x="99" y="37"/>
                  </a:lnTo>
                  <a:lnTo>
                    <a:pt x="116" y="25"/>
                  </a:lnTo>
                  <a:lnTo>
                    <a:pt x="137" y="18"/>
                  </a:lnTo>
                  <a:lnTo>
                    <a:pt x="158" y="9"/>
                  </a:lnTo>
                  <a:lnTo>
                    <a:pt x="178" y="6"/>
                  </a:lnTo>
                  <a:lnTo>
                    <a:pt x="198" y="0"/>
                  </a:lnTo>
                  <a:lnTo>
                    <a:pt x="222" y="0"/>
                  </a:lnTo>
                  <a:lnTo>
                    <a:pt x="246" y="0"/>
                  </a:lnTo>
                  <a:lnTo>
                    <a:pt x="265" y="6"/>
                  </a:lnTo>
                  <a:lnTo>
                    <a:pt x="289" y="9"/>
                  </a:lnTo>
                  <a:lnTo>
                    <a:pt x="310" y="18"/>
                  </a:lnTo>
                  <a:lnTo>
                    <a:pt x="328" y="25"/>
                  </a:lnTo>
                  <a:lnTo>
                    <a:pt x="344" y="37"/>
                  </a:lnTo>
                  <a:lnTo>
                    <a:pt x="362" y="49"/>
                  </a:lnTo>
                  <a:lnTo>
                    <a:pt x="380" y="63"/>
                  </a:lnTo>
                  <a:lnTo>
                    <a:pt x="395" y="81"/>
                  </a:lnTo>
                  <a:lnTo>
                    <a:pt x="407" y="95"/>
                  </a:lnTo>
                  <a:lnTo>
                    <a:pt x="418" y="115"/>
                  </a:lnTo>
                  <a:lnTo>
                    <a:pt x="426" y="132"/>
                  </a:lnTo>
                  <a:lnTo>
                    <a:pt x="435" y="153"/>
                  </a:lnTo>
                  <a:lnTo>
                    <a:pt x="438" y="176"/>
                  </a:lnTo>
                  <a:lnTo>
                    <a:pt x="444" y="196"/>
                  </a:lnTo>
                  <a:lnTo>
                    <a:pt x="444" y="219"/>
                  </a:lnTo>
                  <a:lnTo>
                    <a:pt x="435" y="219"/>
                  </a:lnTo>
                  <a:lnTo>
                    <a:pt x="432" y="196"/>
                  </a:lnTo>
                  <a:lnTo>
                    <a:pt x="429" y="176"/>
                  </a:lnTo>
                  <a:lnTo>
                    <a:pt x="424" y="156"/>
                  </a:lnTo>
                  <a:lnTo>
                    <a:pt x="418" y="138"/>
                  </a:lnTo>
                  <a:lnTo>
                    <a:pt x="409" y="118"/>
                  </a:lnTo>
                  <a:lnTo>
                    <a:pt x="398" y="101"/>
                  </a:lnTo>
                  <a:lnTo>
                    <a:pt x="386" y="87"/>
                  </a:lnTo>
                  <a:lnTo>
                    <a:pt x="371" y="69"/>
                  </a:lnTo>
                  <a:lnTo>
                    <a:pt x="356" y="57"/>
                  </a:lnTo>
                  <a:lnTo>
                    <a:pt x="342" y="46"/>
                  </a:lnTo>
                  <a:lnTo>
                    <a:pt x="325" y="34"/>
                  </a:lnTo>
                  <a:lnTo>
                    <a:pt x="304" y="25"/>
                  </a:lnTo>
                  <a:lnTo>
                    <a:pt x="286" y="18"/>
                  </a:lnTo>
                  <a:lnTo>
                    <a:pt x="265" y="15"/>
                  </a:lnTo>
                  <a:lnTo>
                    <a:pt x="246" y="12"/>
                  </a:lnTo>
                  <a:lnTo>
                    <a:pt x="222" y="9"/>
                  </a:lnTo>
                  <a:lnTo>
                    <a:pt x="201" y="12"/>
                  </a:lnTo>
                  <a:lnTo>
                    <a:pt x="181" y="15"/>
                  </a:lnTo>
                  <a:lnTo>
                    <a:pt x="161" y="18"/>
                  </a:lnTo>
                  <a:lnTo>
                    <a:pt x="140" y="25"/>
                  </a:lnTo>
                  <a:lnTo>
                    <a:pt x="122" y="34"/>
                  </a:lnTo>
                  <a:lnTo>
                    <a:pt x="105" y="46"/>
                  </a:lnTo>
                  <a:lnTo>
                    <a:pt x="88" y="57"/>
                  </a:lnTo>
                  <a:lnTo>
                    <a:pt x="73" y="69"/>
                  </a:lnTo>
                  <a:lnTo>
                    <a:pt x="58" y="87"/>
                  </a:lnTo>
                  <a:lnTo>
                    <a:pt x="46" y="101"/>
                  </a:lnTo>
                  <a:lnTo>
                    <a:pt x="35" y="118"/>
                  </a:lnTo>
                  <a:lnTo>
                    <a:pt x="26" y="138"/>
                  </a:lnTo>
                  <a:lnTo>
                    <a:pt x="20" y="156"/>
                  </a:lnTo>
                  <a:lnTo>
                    <a:pt x="14" y="176"/>
                  </a:lnTo>
                  <a:lnTo>
                    <a:pt x="11" y="196"/>
                  </a:lnTo>
                  <a:lnTo>
                    <a:pt x="11" y="219"/>
                  </a:lnTo>
                  <a:lnTo>
                    <a:pt x="0" y="219"/>
                  </a:lnTo>
                </a:path>
              </a:pathLst>
            </a:custGeom>
            <a:solidFill>
              <a:srgbClr val="FFB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161">
              <a:extLst>
                <a:ext uri="{FF2B5EF4-FFF2-40B4-BE49-F238E27FC236}">
                  <a16:creationId xmlns:a16="http://schemas.microsoft.com/office/drawing/2014/main" id="{5C401307-79CD-446B-81B4-DC7EA7F63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802"/>
              <a:ext cx="445" cy="221"/>
            </a:xfrm>
            <a:custGeom>
              <a:avLst/>
              <a:gdLst>
                <a:gd name="T0" fmla="*/ 0 w 445"/>
                <a:gd name="T1" fmla="*/ 0 h 221"/>
                <a:gd name="T2" fmla="*/ 6 w 445"/>
                <a:gd name="T3" fmla="*/ 44 h 221"/>
                <a:gd name="T4" fmla="*/ 17 w 445"/>
                <a:gd name="T5" fmla="*/ 84 h 221"/>
                <a:gd name="T6" fmla="*/ 37 w 445"/>
                <a:gd name="T7" fmla="*/ 122 h 221"/>
                <a:gd name="T8" fmla="*/ 67 w 445"/>
                <a:gd name="T9" fmla="*/ 153 h 221"/>
                <a:gd name="T10" fmla="*/ 99 w 445"/>
                <a:gd name="T11" fmla="*/ 182 h 221"/>
                <a:gd name="T12" fmla="*/ 137 w 445"/>
                <a:gd name="T13" fmla="*/ 202 h 221"/>
                <a:gd name="T14" fmla="*/ 178 w 445"/>
                <a:gd name="T15" fmla="*/ 214 h 221"/>
                <a:gd name="T16" fmla="*/ 222 w 445"/>
                <a:gd name="T17" fmla="*/ 220 h 221"/>
                <a:gd name="T18" fmla="*/ 265 w 445"/>
                <a:gd name="T19" fmla="*/ 214 h 221"/>
                <a:gd name="T20" fmla="*/ 310 w 445"/>
                <a:gd name="T21" fmla="*/ 202 h 221"/>
                <a:gd name="T22" fmla="*/ 344 w 445"/>
                <a:gd name="T23" fmla="*/ 182 h 221"/>
                <a:gd name="T24" fmla="*/ 380 w 445"/>
                <a:gd name="T25" fmla="*/ 153 h 221"/>
                <a:gd name="T26" fmla="*/ 407 w 445"/>
                <a:gd name="T27" fmla="*/ 122 h 221"/>
                <a:gd name="T28" fmla="*/ 426 w 445"/>
                <a:gd name="T29" fmla="*/ 84 h 221"/>
                <a:gd name="T30" fmla="*/ 438 w 445"/>
                <a:gd name="T31" fmla="*/ 44 h 221"/>
                <a:gd name="T32" fmla="*/ 444 w 445"/>
                <a:gd name="T33" fmla="*/ 0 h 221"/>
                <a:gd name="T34" fmla="*/ 432 w 445"/>
                <a:gd name="T35" fmla="*/ 20 h 221"/>
                <a:gd name="T36" fmla="*/ 424 w 445"/>
                <a:gd name="T37" fmla="*/ 60 h 221"/>
                <a:gd name="T38" fmla="*/ 409 w 445"/>
                <a:gd name="T39" fmla="*/ 98 h 221"/>
                <a:gd name="T40" fmla="*/ 386 w 445"/>
                <a:gd name="T41" fmla="*/ 133 h 221"/>
                <a:gd name="T42" fmla="*/ 356 w 445"/>
                <a:gd name="T43" fmla="*/ 162 h 221"/>
                <a:gd name="T44" fmla="*/ 325 w 445"/>
                <a:gd name="T45" fmla="*/ 185 h 221"/>
                <a:gd name="T46" fmla="*/ 286 w 445"/>
                <a:gd name="T47" fmla="*/ 200 h 221"/>
                <a:gd name="T48" fmla="*/ 246 w 445"/>
                <a:gd name="T49" fmla="*/ 208 h 221"/>
                <a:gd name="T50" fmla="*/ 201 w 445"/>
                <a:gd name="T51" fmla="*/ 208 h 221"/>
                <a:gd name="T52" fmla="*/ 161 w 445"/>
                <a:gd name="T53" fmla="*/ 200 h 221"/>
                <a:gd name="T54" fmla="*/ 122 w 445"/>
                <a:gd name="T55" fmla="*/ 185 h 221"/>
                <a:gd name="T56" fmla="*/ 88 w 445"/>
                <a:gd name="T57" fmla="*/ 162 h 221"/>
                <a:gd name="T58" fmla="*/ 58 w 445"/>
                <a:gd name="T59" fmla="*/ 133 h 221"/>
                <a:gd name="T60" fmla="*/ 35 w 445"/>
                <a:gd name="T61" fmla="*/ 98 h 221"/>
                <a:gd name="T62" fmla="*/ 20 w 445"/>
                <a:gd name="T63" fmla="*/ 60 h 221"/>
                <a:gd name="T64" fmla="*/ 11 w 445"/>
                <a:gd name="T65" fmla="*/ 20 h 221"/>
                <a:gd name="T66" fmla="*/ 0 w 445"/>
                <a:gd name="T67" fmla="*/ 0 h 22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45"/>
                <a:gd name="T103" fmla="*/ 0 h 221"/>
                <a:gd name="T104" fmla="*/ 445 w 445"/>
                <a:gd name="T105" fmla="*/ 221 h 22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45" h="221">
                  <a:moveTo>
                    <a:pt x="0" y="0"/>
                  </a:moveTo>
                  <a:lnTo>
                    <a:pt x="0" y="0"/>
                  </a:lnTo>
                  <a:lnTo>
                    <a:pt x="3" y="23"/>
                  </a:lnTo>
                  <a:lnTo>
                    <a:pt x="6" y="44"/>
                  </a:lnTo>
                  <a:lnTo>
                    <a:pt x="11" y="63"/>
                  </a:lnTo>
                  <a:lnTo>
                    <a:pt x="17" y="84"/>
                  </a:lnTo>
                  <a:lnTo>
                    <a:pt x="29" y="104"/>
                  </a:lnTo>
                  <a:lnTo>
                    <a:pt x="37" y="122"/>
                  </a:lnTo>
                  <a:lnTo>
                    <a:pt x="52" y="139"/>
                  </a:lnTo>
                  <a:lnTo>
                    <a:pt x="67" y="153"/>
                  </a:lnTo>
                  <a:lnTo>
                    <a:pt x="82" y="167"/>
                  </a:lnTo>
                  <a:lnTo>
                    <a:pt x="99" y="182"/>
                  </a:lnTo>
                  <a:lnTo>
                    <a:pt x="116" y="191"/>
                  </a:lnTo>
                  <a:lnTo>
                    <a:pt x="137" y="202"/>
                  </a:lnTo>
                  <a:lnTo>
                    <a:pt x="158" y="208"/>
                  </a:lnTo>
                  <a:lnTo>
                    <a:pt x="178" y="214"/>
                  </a:lnTo>
                  <a:lnTo>
                    <a:pt x="198" y="217"/>
                  </a:lnTo>
                  <a:lnTo>
                    <a:pt x="222" y="220"/>
                  </a:lnTo>
                  <a:lnTo>
                    <a:pt x="246" y="217"/>
                  </a:lnTo>
                  <a:lnTo>
                    <a:pt x="265" y="214"/>
                  </a:lnTo>
                  <a:lnTo>
                    <a:pt x="289" y="208"/>
                  </a:lnTo>
                  <a:lnTo>
                    <a:pt x="310" y="202"/>
                  </a:lnTo>
                  <a:lnTo>
                    <a:pt x="328" y="191"/>
                  </a:lnTo>
                  <a:lnTo>
                    <a:pt x="344" y="182"/>
                  </a:lnTo>
                  <a:lnTo>
                    <a:pt x="362" y="167"/>
                  </a:lnTo>
                  <a:lnTo>
                    <a:pt x="380" y="153"/>
                  </a:lnTo>
                  <a:lnTo>
                    <a:pt x="395" y="139"/>
                  </a:lnTo>
                  <a:lnTo>
                    <a:pt x="407" y="122"/>
                  </a:lnTo>
                  <a:lnTo>
                    <a:pt x="418" y="104"/>
                  </a:lnTo>
                  <a:lnTo>
                    <a:pt x="426" y="84"/>
                  </a:lnTo>
                  <a:lnTo>
                    <a:pt x="435" y="63"/>
                  </a:lnTo>
                  <a:lnTo>
                    <a:pt x="438" y="44"/>
                  </a:lnTo>
                  <a:lnTo>
                    <a:pt x="444" y="23"/>
                  </a:lnTo>
                  <a:lnTo>
                    <a:pt x="444" y="0"/>
                  </a:lnTo>
                  <a:lnTo>
                    <a:pt x="435" y="0"/>
                  </a:lnTo>
                  <a:lnTo>
                    <a:pt x="432" y="20"/>
                  </a:lnTo>
                  <a:lnTo>
                    <a:pt x="429" y="41"/>
                  </a:lnTo>
                  <a:lnTo>
                    <a:pt x="424" y="60"/>
                  </a:lnTo>
                  <a:lnTo>
                    <a:pt x="418" y="81"/>
                  </a:lnTo>
                  <a:lnTo>
                    <a:pt x="409" y="98"/>
                  </a:lnTo>
                  <a:lnTo>
                    <a:pt x="398" y="116"/>
                  </a:lnTo>
                  <a:lnTo>
                    <a:pt x="386" y="133"/>
                  </a:lnTo>
                  <a:lnTo>
                    <a:pt x="371" y="147"/>
                  </a:lnTo>
                  <a:lnTo>
                    <a:pt x="356" y="162"/>
                  </a:lnTo>
                  <a:lnTo>
                    <a:pt x="342" y="173"/>
                  </a:lnTo>
                  <a:lnTo>
                    <a:pt x="325" y="185"/>
                  </a:lnTo>
                  <a:lnTo>
                    <a:pt x="304" y="194"/>
                  </a:lnTo>
                  <a:lnTo>
                    <a:pt x="286" y="200"/>
                  </a:lnTo>
                  <a:lnTo>
                    <a:pt x="265" y="205"/>
                  </a:lnTo>
                  <a:lnTo>
                    <a:pt x="246" y="208"/>
                  </a:lnTo>
                  <a:lnTo>
                    <a:pt x="222" y="208"/>
                  </a:lnTo>
                  <a:lnTo>
                    <a:pt x="201" y="208"/>
                  </a:lnTo>
                  <a:lnTo>
                    <a:pt x="181" y="205"/>
                  </a:lnTo>
                  <a:lnTo>
                    <a:pt x="161" y="200"/>
                  </a:lnTo>
                  <a:lnTo>
                    <a:pt x="140" y="194"/>
                  </a:lnTo>
                  <a:lnTo>
                    <a:pt x="122" y="185"/>
                  </a:lnTo>
                  <a:lnTo>
                    <a:pt x="105" y="173"/>
                  </a:lnTo>
                  <a:lnTo>
                    <a:pt x="88" y="162"/>
                  </a:lnTo>
                  <a:lnTo>
                    <a:pt x="73" y="147"/>
                  </a:lnTo>
                  <a:lnTo>
                    <a:pt x="58" y="133"/>
                  </a:lnTo>
                  <a:lnTo>
                    <a:pt x="46" y="116"/>
                  </a:lnTo>
                  <a:lnTo>
                    <a:pt x="35" y="98"/>
                  </a:lnTo>
                  <a:lnTo>
                    <a:pt x="26" y="81"/>
                  </a:lnTo>
                  <a:lnTo>
                    <a:pt x="20" y="60"/>
                  </a:lnTo>
                  <a:lnTo>
                    <a:pt x="14" y="41"/>
                  </a:lnTo>
                  <a:lnTo>
                    <a:pt x="11" y="20"/>
                  </a:lnTo>
                  <a:lnTo>
                    <a:pt x="11" y="0"/>
                  </a:lnTo>
                  <a:lnTo>
                    <a:pt x="0" y="0"/>
                  </a:lnTo>
                </a:path>
              </a:pathLst>
            </a:custGeom>
            <a:solidFill>
              <a:srgbClr val="FFB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162">
              <a:extLst>
                <a:ext uri="{FF2B5EF4-FFF2-40B4-BE49-F238E27FC236}">
                  <a16:creationId xmlns:a16="http://schemas.microsoft.com/office/drawing/2014/main" id="{2418F98F-5951-4B31-9517-2FB833D7A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3586"/>
              <a:ext cx="425" cy="211"/>
            </a:xfrm>
            <a:custGeom>
              <a:avLst/>
              <a:gdLst>
                <a:gd name="T0" fmla="*/ 0 w 425"/>
                <a:gd name="T1" fmla="*/ 187 h 211"/>
                <a:gd name="T2" fmla="*/ 9 w 425"/>
                <a:gd name="T3" fmla="*/ 147 h 211"/>
                <a:gd name="T4" fmla="*/ 24 w 425"/>
                <a:gd name="T5" fmla="*/ 109 h 211"/>
                <a:gd name="T6" fmla="*/ 47 w 425"/>
                <a:gd name="T7" fmla="*/ 78 h 211"/>
                <a:gd name="T8" fmla="*/ 77 w 425"/>
                <a:gd name="T9" fmla="*/ 49 h 211"/>
                <a:gd name="T10" fmla="*/ 111 w 425"/>
                <a:gd name="T11" fmla="*/ 25 h 211"/>
                <a:gd name="T12" fmla="*/ 150 w 425"/>
                <a:gd name="T13" fmla="*/ 9 h 211"/>
                <a:gd name="T14" fmla="*/ 190 w 425"/>
                <a:gd name="T15" fmla="*/ 3 h 211"/>
                <a:gd name="T16" fmla="*/ 235 w 425"/>
                <a:gd name="T17" fmla="*/ 3 h 211"/>
                <a:gd name="T18" fmla="*/ 275 w 425"/>
                <a:gd name="T19" fmla="*/ 9 h 211"/>
                <a:gd name="T20" fmla="*/ 314 w 425"/>
                <a:gd name="T21" fmla="*/ 25 h 211"/>
                <a:gd name="T22" fmla="*/ 345 w 425"/>
                <a:gd name="T23" fmla="*/ 49 h 211"/>
                <a:gd name="T24" fmla="*/ 375 w 425"/>
                <a:gd name="T25" fmla="*/ 78 h 211"/>
                <a:gd name="T26" fmla="*/ 398 w 425"/>
                <a:gd name="T27" fmla="*/ 109 h 211"/>
                <a:gd name="T28" fmla="*/ 413 w 425"/>
                <a:gd name="T29" fmla="*/ 147 h 211"/>
                <a:gd name="T30" fmla="*/ 421 w 425"/>
                <a:gd name="T31" fmla="*/ 187 h 211"/>
                <a:gd name="T32" fmla="*/ 415 w 425"/>
                <a:gd name="T33" fmla="*/ 210 h 211"/>
                <a:gd name="T34" fmla="*/ 410 w 425"/>
                <a:gd name="T35" fmla="*/ 170 h 211"/>
                <a:gd name="T36" fmla="*/ 398 w 425"/>
                <a:gd name="T37" fmla="*/ 132 h 211"/>
                <a:gd name="T38" fmla="*/ 381 w 425"/>
                <a:gd name="T39" fmla="*/ 97 h 211"/>
                <a:gd name="T40" fmla="*/ 354 w 425"/>
                <a:gd name="T41" fmla="*/ 69 h 211"/>
                <a:gd name="T42" fmla="*/ 325 w 425"/>
                <a:gd name="T43" fmla="*/ 43 h 211"/>
                <a:gd name="T44" fmla="*/ 290 w 425"/>
                <a:gd name="T45" fmla="*/ 25 h 211"/>
                <a:gd name="T46" fmla="*/ 251 w 425"/>
                <a:gd name="T47" fmla="*/ 14 h 211"/>
                <a:gd name="T48" fmla="*/ 211 w 425"/>
                <a:gd name="T49" fmla="*/ 9 h 211"/>
                <a:gd name="T50" fmla="*/ 170 w 425"/>
                <a:gd name="T51" fmla="*/ 14 h 211"/>
                <a:gd name="T52" fmla="*/ 132 w 425"/>
                <a:gd name="T53" fmla="*/ 25 h 211"/>
                <a:gd name="T54" fmla="*/ 100 w 425"/>
                <a:gd name="T55" fmla="*/ 43 h 211"/>
                <a:gd name="T56" fmla="*/ 68 w 425"/>
                <a:gd name="T57" fmla="*/ 69 h 211"/>
                <a:gd name="T58" fmla="*/ 44 w 425"/>
                <a:gd name="T59" fmla="*/ 97 h 211"/>
                <a:gd name="T60" fmla="*/ 24 w 425"/>
                <a:gd name="T61" fmla="*/ 132 h 211"/>
                <a:gd name="T62" fmla="*/ 12 w 425"/>
                <a:gd name="T63" fmla="*/ 170 h 211"/>
                <a:gd name="T64" fmla="*/ 9 w 425"/>
                <a:gd name="T65" fmla="*/ 210 h 21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25"/>
                <a:gd name="T100" fmla="*/ 0 h 211"/>
                <a:gd name="T101" fmla="*/ 425 w 425"/>
                <a:gd name="T102" fmla="*/ 211 h 21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25" h="211">
                  <a:moveTo>
                    <a:pt x="0" y="210"/>
                  </a:moveTo>
                  <a:lnTo>
                    <a:pt x="0" y="187"/>
                  </a:lnTo>
                  <a:lnTo>
                    <a:pt x="3" y="167"/>
                  </a:lnTo>
                  <a:lnTo>
                    <a:pt x="9" y="147"/>
                  </a:lnTo>
                  <a:lnTo>
                    <a:pt x="15" y="129"/>
                  </a:lnTo>
                  <a:lnTo>
                    <a:pt x="24" y="109"/>
                  </a:lnTo>
                  <a:lnTo>
                    <a:pt x="35" y="92"/>
                  </a:lnTo>
                  <a:lnTo>
                    <a:pt x="47" y="78"/>
                  </a:lnTo>
                  <a:lnTo>
                    <a:pt x="62" y="60"/>
                  </a:lnTo>
                  <a:lnTo>
                    <a:pt x="77" y="49"/>
                  </a:lnTo>
                  <a:lnTo>
                    <a:pt x="94" y="37"/>
                  </a:lnTo>
                  <a:lnTo>
                    <a:pt x="111" y="25"/>
                  </a:lnTo>
                  <a:lnTo>
                    <a:pt x="129" y="17"/>
                  </a:lnTo>
                  <a:lnTo>
                    <a:pt x="150" y="9"/>
                  </a:lnTo>
                  <a:lnTo>
                    <a:pt x="170" y="6"/>
                  </a:lnTo>
                  <a:lnTo>
                    <a:pt x="190" y="3"/>
                  </a:lnTo>
                  <a:lnTo>
                    <a:pt x="211" y="0"/>
                  </a:lnTo>
                  <a:lnTo>
                    <a:pt x="235" y="3"/>
                  </a:lnTo>
                  <a:lnTo>
                    <a:pt x="254" y="6"/>
                  </a:lnTo>
                  <a:lnTo>
                    <a:pt x="275" y="9"/>
                  </a:lnTo>
                  <a:lnTo>
                    <a:pt x="293" y="17"/>
                  </a:lnTo>
                  <a:lnTo>
                    <a:pt x="314" y="25"/>
                  </a:lnTo>
                  <a:lnTo>
                    <a:pt x="331" y="37"/>
                  </a:lnTo>
                  <a:lnTo>
                    <a:pt x="345" y="49"/>
                  </a:lnTo>
                  <a:lnTo>
                    <a:pt x="360" y="60"/>
                  </a:lnTo>
                  <a:lnTo>
                    <a:pt x="375" y="78"/>
                  </a:lnTo>
                  <a:lnTo>
                    <a:pt x="387" y="92"/>
                  </a:lnTo>
                  <a:lnTo>
                    <a:pt x="398" y="109"/>
                  </a:lnTo>
                  <a:lnTo>
                    <a:pt x="407" y="129"/>
                  </a:lnTo>
                  <a:lnTo>
                    <a:pt x="413" y="147"/>
                  </a:lnTo>
                  <a:lnTo>
                    <a:pt x="418" y="167"/>
                  </a:lnTo>
                  <a:lnTo>
                    <a:pt x="421" y="187"/>
                  </a:lnTo>
                  <a:lnTo>
                    <a:pt x="424" y="210"/>
                  </a:lnTo>
                  <a:lnTo>
                    <a:pt x="415" y="210"/>
                  </a:lnTo>
                  <a:lnTo>
                    <a:pt x="413" y="190"/>
                  </a:lnTo>
                  <a:lnTo>
                    <a:pt x="410" y="170"/>
                  </a:lnTo>
                  <a:lnTo>
                    <a:pt x="404" y="150"/>
                  </a:lnTo>
                  <a:lnTo>
                    <a:pt x="398" y="132"/>
                  </a:lnTo>
                  <a:lnTo>
                    <a:pt x="389" y="115"/>
                  </a:lnTo>
                  <a:lnTo>
                    <a:pt x="381" y="97"/>
                  </a:lnTo>
                  <a:lnTo>
                    <a:pt x="369" y="84"/>
                  </a:lnTo>
                  <a:lnTo>
                    <a:pt x="354" y="69"/>
                  </a:lnTo>
                  <a:lnTo>
                    <a:pt x="339" y="54"/>
                  </a:lnTo>
                  <a:lnTo>
                    <a:pt x="325" y="43"/>
                  </a:lnTo>
                  <a:lnTo>
                    <a:pt x="308" y="34"/>
                  </a:lnTo>
                  <a:lnTo>
                    <a:pt x="290" y="25"/>
                  </a:lnTo>
                  <a:lnTo>
                    <a:pt x="272" y="17"/>
                  </a:lnTo>
                  <a:lnTo>
                    <a:pt x="251" y="14"/>
                  </a:lnTo>
                  <a:lnTo>
                    <a:pt x="232" y="12"/>
                  </a:lnTo>
                  <a:lnTo>
                    <a:pt x="211" y="9"/>
                  </a:lnTo>
                  <a:lnTo>
                    <a:pt x="190" y="12"/>
                  </a:lnTo>
                  <a:lnTo>
                    <a:pt x="170" y="14"/>
                  </a:lnTo>
                  <a:lnTo>
                    <a:pt x="153" y="17"/>
                  </a:lnTo>
                  <a:lnTo>
                    <a:pt x="132" y="25"/>
                  </a:lnTo>
                  <a:lnTo>
                    <a:pt x="114" y="34"/>
                  </a:lnTo>
                  <a:lnTo>
                    <a:pt x="100" y="43"/>
                  </a:lnTo>
                  <a:lnTo>
                    <a:pt x="83" y="54"/>
                  </a:lnTo>
                  <a:lnTo>
                    <a:pt x="68" y="69"/>
                  </a:lnTo>
                  <a:lnTo>
                    <a:pt x="56" y="84"/>
                  </a:lnTo>
                  <a:lnTo>
                    <a:pt x="44" y="97"/>
                  </a:lnTo>
                  <a:lnTo>
                    <a:pt x="33" y="115"/>
                  </a:lnTo>
                  <a:lnTo>
                    <a:pt x="24" y="132"/>
                  </a:lnTo>
                  <a:lnTo>
                    <a:pt x="18" y="150"/>
                  </a:lnTo>
                  <a:lnTo>
                    <a:pt x="12" y="170"/>
                  </a:lnTo>
                  <a:lnTo>
                    <a:pt x="9" y="190"/>
                  </a:lnTo>
                  <a:lnTo>
                    <a:pt x="9" y="210"/>
                  </a:lnTo>
                  <a:lnTo>
                    <a:pt x="0" y="21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Freeform 163">
              <a:extLst>
                <a:ext uri="{FF2B5EF4-FFF2-40B4-BE49-F238E27FC236}">
                  <a16:creationId xmlns:a16="http://schemas.microsoft.com/office/drawing/2014/main" id="{C800B449-FC9E-4333-B447-752378C1A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3802"/>
              <a:ext cx="425" cy="209"/>
            </a:xfrm>
            <a:custGeom>
              <a:avLst/>
              <a:gdLst>
                <a:gd name="T0" fmla="*/ 0 w 425"/>
                <a:gd name="T1" fmla="*/ 0 h 209"/>
                <a:gd name="T2" fmla="*/ 3 w 425"/>
                <a:gd name="T3" fmla="*/ 41 h 209"/>
                <a:gd name="T4" fmla="*/ 15 w 425"/>
                <a:gd name="T5" fmla="*/ 81 h 209"/>
                <a:gd name="T6" fmla="*/ 35 w 425"/>
                <a:gd name="T7" fmla="*/ 116 h 209"/>
                <a:gd name="T8" fmla="*/ 62 w 425"/>
                <a:gd name="T9" fmla="*/ 147 h 209"/>
                <a:gd name="T10" fmla="*/ 94 w 425"/>
                <a:gd name="T11" fmla="*/ 173 h 209"/>
                <a:gd name="T12" fmla="*/ 129 w 425"/>
                <a:gd name="T13" fmla="*/ 193 h 209"/>
                <a:gd name="T14" fmla="*/ 170 w 425"/>
                <a:gd name="T15" fmla="*/ 205 h 209"/>
                <a:gd name="T16" fmla="*/ 211 w 425"/>
                <a:gd name="T17" fmla="*/ 208 h 209"/>
                <a:gd name="T18" fmla="*/ 254 w 425"/>
                <a:gd name="T19" fmla="*/ 205 h 209"/>
                <a:gd name="T20" fmla="*/ 293 w 425"/>
                <a:gd name="T21" fmla="*/ 193 h 209"/>
                <a:gd name="T22" fmla="*/ 331 w 425"/>
                <a:gd name="T23" fmla="*/ 173 h 209"/>
                <a:gd name="T24" fmla="*/ 360 w 425"/>
                <a:gd name="T25" fmla="*/ 147 h 209"/>
                <a:gd name="T26" fmla="*/ 387 w 425"/>
                <a:gd name="T27" fmla="*/ 116 h 209"/>
                <a:gd name="T28" fmla="*/ 407 w 425"/>
                <a:gd name="T29" fmla="*/ 81 h 209"/>
                <a:gd name="T30" fmla="*/ 418 w 425"/>
                <a:gd name="T31" fmla="*/ 41 h 209"/>
                <a:gd name="T32" fmla="*/ 424 w 425"/>
                <a:gd name="T33" fmla="*/ 0 h 209"/>
                <a:gd name="T34" fmla="*/ 413 w 425"/>
                <a:gd name="T35" fmla="*/ 20 h 209"/>
                <a:gd name="T36" fmla="*/ 404 w 425"/>
                <a:gd name="T37" fmla="*/ 57 h 209"/>
                <a:gd name="T38" fmla="*/ 389 w 425"/>
                <a:gd name="T39" fmla="*/ 95 h 209"/>
                <a:gd name="T40" fmla="*/ 369 w 425"/>
                <a:gd name="T41" fmla="*/ 127 h 209"/>
                <a:gd name="T42" fmla="*/ 339 w 425"/>
                <a:gd name="T43" fmla="*/ 153 h 209"/>
                <a:gd name="T44" fmla="*/ 308 w 425"/>
                <a:gd name="T45" fmla="*/ 176 h 209"/>
                <a:gd name="T46" fmla="*/ 272 w 425"/>
                <a:gd name="T47" fmla="*/ 191 h 209"/>
                <a:gd name="T48" fmla="*/ 232 w 425"/>
                <a:gd name="T49" fmla="*/ 199 h 209"/>
                <a:gd name="T50" fmla="*/ 190 w 425"/>
                <a:gd name="T51" fmla="*/ 199 h 209"/>
                <a:gd name="T52" fmla="*/ 153 w 425"/>
                <a:gd name="T53" fmla="*/ 191 h 209"/>
                <a:gd name="T54" fmla="*/ 114 w 425"/>
                <a:gd name="T55" fmla="*/ 176 h 209"/>
                <a:gd name="T56" fmla="*/ 83 w 425"/>
                <a:gd name="T57" fmla="*/ 153 h 209"/>
                <a:gd name="T58" fmla="*/ 56 w 425"/>
                <a:gd name="T59" fmla="*/ 127 h 209"/>
                <a:gd name="T60" fmla="*/ 33 w 425"/>
                <a:gd name="T61" fmla="*/ 95 h 209"/>
                <a:gd name="T62" fmla="*/ 18 w 425"/>
                <a:gd name="T63" fmla="*/ 57 h 209"/>
                <a:gd name="T64" fmla="*/ 9 w 425"/>
                <a:gd name="T65" fmla="*/ 20 h 209"/>
                <a:gd name="T66" fmla="*/ 0 w 425"/>
                <a:gd name="T67" fmla="*/ 0 h 20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25"/>
                <a:gd name="T103" fmla="*/ 0 h 209"/>
                <a:gd name="T104" fmla="*/ 425 w 425"/>
                <a:gd name="T105" fmla="*/ 209 h 20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25" h="209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60"/>
                  </a:lnTo>
                  <a:lnTo>
                    <a:pt x="15" y="81"/>
                  </a:lnTo>
                  <a:lnTo>
                    <a:pt x="24" y="98"/>
                  </a:lnTo>
                  <a:lnTo>
                    <a:pt x="35" y="116"/>
                  </a:lnTo>
                  <a:lnTo>
                    <a:pt x="47" y="133"/>
                  </a:lnTo>
                  <a:lnTo>
                    <a:pt x="62" y="147"/>
                  </a:lnTo>
                  <a:lnTo>
                    <a:pt x="77" y="161"/>
                  </a:lnTo>
                  <a:lnTo>
                    <a:pt x="94" y="173"/>
                  </a:lnTo>
                  <a:lnTo>
                    <a:pt x="111" y="185"/>
                  </a:lnTo>
                  <a:lnTo>
                    <a:pt x="129" y="193"/>
                  </a:lnTo>
                  <a:lnTo>
                    <a:pt x="150" y="199"/>
                  </a:lnTo>
                  <a:lnTo>
                    <a:pt x="170" y="205"/>
                  </a:lnTo>
                  <a:lnTo>
                    <a:pt x="190" y="208"/>
                  </a:lnTo>
                  <a:lnTo>
                    <a:pt x="211" y="208"/>
                  </a:lnTo>
                  <a:lnTo>
                    <a:pt x="235" y="208"/>
                  </a:lnTo>
                  <a:lnTo>
                    <a:pt x="254" y="205"/>
                  </a:lnTo>
                  <a:lnTo>
                    <a:pt x="275" y="199"/>
                  </a:lnTo>
                  <a:lnTo>
                    <a:pt x="293" y="193"/>
                  </a:lnTo>
                  <a:lnTo>
                    <a:pt x="314" y="185"/>
                  </a:lnTo>
                  <a:lnTo>
                    <a:pt x="331" y="173"/>
                  </a:lnTo>
                  <a:lnTo>
                    <a:pt x="345" y="161"/>
                  </a:lnTo>
                  <a:lnTo>
                    <a:pt x="360" y="147"/>
                  </a:lnTo>
                  <a:lnTo>
                    <a:pt x="375" y="133"/>
                  </a:lnTo>
                  <a:lnTo>
                    <a:pt x="387" y="116"/>
                  </a:lnTo>
                  <a:lnTo>
                    <a:pt x="398" y="98"/>
                  </a:lnTo>
                  <a:lnTo>
                    <a:pt x="407" y="81"/>
                  </a:lnTo>
                  <a:lnTo>
                    <a:pt x="413" y="60"/>
                  </a:lnTo>
                  <a:lnTo>
                    <a:pt x="418" y="41"/>
                  </a:lnTo>
                  <a:lnTo>
                    <a:pt x="421" y="20"/>
                  </a:lnTo>
                  <a:lnTo>
                    <a:pt x="424" y="0"/>
                  </a:lnTo>
                  <a:lnTo>
                    <a:pt x="415" y="0"/>
                  </a:lnTo>
                  <a:lnTo>
                    <a:pt x="413" y="20"/>
                  </a:lnTo>
                  <a:lnTo>
                    <a:pt x="410" y="41"/>
                  </a:lnTo>
                  <a:lnTo>
                    <a:pt x="404" y="57"/>
                  </a:lnTo>
                  <a:lnTo>
                    <a:pt x="398" y="78"/>
                  </a:lnTo>
                  <a:lnTo>
                    <a:pt x="389" y="95"/>
                  </a:lnTo>
                  <a:lnTo>
                    <a:pt x="381" y="113"/>
                  </a:lnTo>
                  <a:lnTo>
                    <a:pt x="369" y="127"/>
                  </a:lnTo>
                  <a:lnTo>
                    <a:pt x="354" y="142"/>
                  </a:lnTo>
                  <a:lnTo>
                    <a:pt x="339" y="153"/>
                  </a:lnTo>
                  <a:lnTo>
                    <a:pt x="325" y="164"/>
                  </a:lnTo>
                  <a:lnTo>
                    <a:pt x="308" y="176"/>
                  </a:lnTo>
                  <a:lnTo>
                    <a:pt x="290" y="185"/>
                  </a:lnTo>
                  <a:lnTo>
                    <a:pt x="272" y="191"/>
                  </a:lnTo>
                  <a:lnTo>
                    <a:pt x="251" y="196"/>
                  </a:lnTo>
                  <a:lnTo>
                    <a:pt x="232" y="199"/>
                  </a:lnTo>
                  <a:lnTo>
                    <a:pt x="211" y="199"/>
                  </a:lnTo>
                  <a:lnTo>
                    <a:pt x="190" y="199"/>
                  </a:lnTo>
                  <a:lnTo>
                    <a:pt x="170" y="196"/>
                  </a:lnTo>
                  <a:lnTo>
                    <a:pt x="153" y="191"/>
                  </a:lnTo>
                  <a:lnTo>
                    <a:pt x="132" y="185"/>
                  </a:lnTo>
                  <a:lnTo>
                    <a:pt x="114" y="176"/>
                  </a:lnTo>
                  <a:lnTo>
                    <a:pt x="100" y="164"/>
                  </a:lnTo>
                  <a:lnTo>
                    <a:pt x="83" y="153"/>
                  </a:lnTo>
                  <a:lnTo>
                    <a:pt x="68" y="142"/>
                  </a:lnTo>
                  <a:lnTo>
                    <a:pt x="56" y="127"/>
                  </a:lnTo>
                  <a:lnTo>
                    <a:pt x="44" y="113"/>
                  </a:lnTo>
                  <a:lnTo>
                    <a:pt x="33" y="95"/>
                  </a:lnTo>
                  <a:lnTo>
                    <a:pt x="24" y="78"/>
                  </a:lnTo>
                  <a:lnTo>
                    <a:pt x="18" y="57"/>
                  </a:lnTo>
                  <a:lnTo>
                    <a:pt x="12" y="41"/>
                  </a:lnTo>
                  <a:lnTo>
                    <a:pt x="9" y="20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164">
              <a:extLst>
                <a:ext uri="{FF2B5EF4-FFF2-40B4-BE49-F238E27FC236}">
                  <a16:creationId xmlns:a16="http://schemas.microsoft.com/office/drawing/2014/main" id="{5133BE68-08C0-4C5C-96F2-2D2AF0973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595"/>
              <a:ext cx="407" cy="202"/>
            </a:xfrm>
            <a:custGeom>
              <a:avLst/>
              <a:gdLst>
                <a:gd name="T0" fmla="*/ 0 w 407"/>
                <a:gd name="T1" fmla="*/ 181 h 202"/>
                <a:gd name="T2" fmla="*/ 9 w 407"/>
                <a:gd name="T3" fmla="*/ 141 h 202"/>
                <a:gd name="T4" fmla="*/ 24 w 407"/>
                <a:gd name="T5" fmla="*/ 106 h 202"/>
                <a:gd name="T6" fmla="*/ 47 w 407"/>
                <a:gd name="T7" fmla="*/ 75 h 202"/>
                <a:gd name="T8" fmla="*/ 74 w 407"/>
                <a:gd name="T9" fmla="*/ 46 h 202"/>
                <a:gd name="T10" fmla="*/ 105 w 407"/>
                <a:gd name="T11" fmla="*/ 25 h 202"/>
                <a:gd name="T12" fmla="*/ 144 w 407"/>
                <a:gd name="T13" fmla="*/ 8 h 202"/>
                <a:gd name="T14" fmla="*/ 181 w 407"/>
                <a:gd name="T15" fmla="*/ 3 h 202"/>
                <a:gd name="T16" fmla="*/ 223 w 407"/>
                <a:gd name="T17" fmla="*/ 3 h 202"/>
                <a:gd name="T18" fmla="*/ 263 w 407"/>
                <a:gd name="T19" fmla="*/ 8 h 202"/>
                <a:gd name="T20" fmla="*/ 299 w 407"/>
                <a:gd name="T21" fmla="*/ 25 h 202"/>
                <a:gd name="T22" fmla="*/ 330 w 407"/>
                <a:gd name="T23" fmla="*/ 46 h 202"/>
                <a:gd name="T24" fmla="*/ 360 w 407"/>
                <a:gd name="T25" fmla="*/ 75 h 202"/>
                <a:gd name="T26" fmla="*/ 380 w 407"/>
                <a:gd name="T27" fmla="*/ 106 h 202"/>
                <a:gd name="T28" fmla="*/ 395 w 407"/>
                <a:gd name="T29" fmla="*/ 141 h 202"/>
                <a:gd name="T30" fmla="*/ 404 w 407"/>
                <a:gd name="T31" fmla="*/ 181 h 202"/>
                <a:gd name="T32" fmla="*/ 395 w 407"/>
                <a:gd name="T33" fmla="*/ 201 h 202"/>
                <a:gd name="T34" fmla="*/ 392 w 407"/>
                <a:gd name="T35" fmla="*/ 161 h 202"/>
                <a:gd name="T36" fmla="*/ 380 w 407"/>
                <a:gd name="T37" fmla="*/ 126 h 202"/>
                <a:gd name="T38" fmla="*/ 363 w 407"/>
                <a:gd name="T39" fmla="*/ 94 h 202"/>
                <a:gd name="T40" fmla="*/ 339 w 407"/>
                <a:gd name="T41" fmla="*/ 66 h 202"/>
                <a:gd name="T42" fmla="*/ 310 w 407"/>
                <a:gd name="T43" fmla="*/ 43 h 202"/>
                <a:gd name="T44" fmla="*/ 278 w 407"/>
                <a:gd name="T45" fmla="*/ 25 h 202"/>
                <a:gd name="T46" fmla="*/ 242 w 407"/>
                <a:gd name="T47" fmla="*/ 14 h 202"/>
                <a:gd name="T48" fmla="*/ 202 w 407"/>
                <a:gd name="T49" fmla="*/ 8 h 202"/>
                <a:gd name="T50" fmla="*/ 164 w 407"/>
                <a:gd name="T51" fmla="*/ 14 h 202"/>
                <a:gd name="T52" fmla="*/ 126 w 407"/>
                <a:gd name="T53" fmla="*/ 25 h 202"/>
                <a:gd name="T54" fmla="*/ 94 w 407"/>
                <a:gd name="T55" fmla="*/ 43 h 202"/>
                <a:gd name="T56" fmla="*/ 65 w 407"/>
                <a:gd name="T57" fmla="*/ 66 h 202"/>
                <a:gd name="T58" fmla="*/ 41 w 407"/>
                <a:gd name="T59" fmla="*/ 94 h 202"/>
                <a:gd name="T60" fmla="*/ 24 w 407"/>
                <a:gd name="T61" fmla="*/ 126 h 202"/>
                <a:gd name="T62" fmla="*/ 12 w 407"/>
                <a:gd name="T63" fmla="*/ 161 h 202"/>
                <a:gd name="T64" fmla="*/ 9 w 407"/>
                <a:gd name="T65" fmla="*/ 201 h 20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07"/>
                <a:gd name="T100" fmla="*/ 0 h 202"/>
                <a:gd name="T101" fmla="*/ 407 w 407"/>
                <a:gd name="T102" fmla="*/ 202 h 20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07" h="202">
                  <a:moveTo>
                    <a:pt x="0" y="201"/>
                  </a:moveTo>
                  <a:lnTo>
                    <a:pt x="0" y="181"/>
                  </a:lnTo>
                  <a:lnTo>
                    <a:pt x="3" y="161"/>
                  </a:lnTo>
                  <a:lnTo>
                    <a:pt x="9" y="141"/>
                  </a:lnTo>
                  <a:lnTo>
                    <a:pt x="15" y="123"/>
                  </a:lnTo>
                  <a:lnTo>
                    <a:pt x="24" y="106"/>
                  </a:lnTo>
                  <a:lnTo>
                    <a:pt x="35" y="88"/>
                  </a:lnTo>
                  <a:lnTo>
                    <a:pt x="47" y="75"/>
                  </a:lnTo>
                  <a:lnTo>
                    <a:pt x="59" y="60"/>
                  </a:lnTo>
                  <a:lnTo>
                    <a:pt x="74" y="46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23" y="17"/>
                  </a:lnTo>
                  <a:lnTo>
                    <a:pt x="144" y="8"/>
                  </a:lnTo>
                  <a:lnTo>
                    <a:pt x="161" y="5"/>
                  </a:lnTo>
                  <a:lnTo>
                    <a:pt x="181" y="3"/>
                  </a:lnTo>
                  <a:lnTo>
                    <a:pt x="202" y="0"/>
                  </a:lnTo>
                  <a:lnTo>
                    <a:pt x="223" y="3"/>
                  </a:lnTo>
                  <a:lnTo>
                    <a:pt x="242" y="5"/>
                  </a:lnTo>
                  <a:lnTo>
                    <a:pt x="263" y="8"/>
                  </a:lnTo>
                  <a:lnTo>
                    <a:pt x="281" y="17"/>
                  </a:lnTo>
                  <a:lnTo>
                    <a:pt x="299" y="25"/>
                  </a:lnTo>
                  <a:lnTo>
                    <a:pt x="316" y="34"/>
                  </a:lnTo>
                  <a:lnTo>
                    <a:pt x="330" y="46"/>
                  </a:lnTo>
                  <a:lnTo>
                    <a:pt x="345" y="60"/>
                  </a:lnTo>
                  <a:lnTo>
                    <a:pt x="360" y="75"/>
                  </a:lnTo>
                  <a:lnTo>
                    <a:pt x="372" y="88"/>
                  </a:lnTo>
                  <a:lnTo>
                    <a:pt x="380" y="106"/>
                  </a:lnTo>
                  <a:lnTo>
                    <a:pt x="389" y="123"/>
                  </a:lnTo>
                  <a:lnTo>
                    <a:pt x="395" y="141"/>
                  </a:lnTo>
                  <a:lnTo>
                    <a:pt x="401" y="161"/>
                  </a:lnTo>
                  <a:lnTo>
                    <a:pt x="404" y="181"/>
                  </a:lnTo>
                  <a:lnTo>
                    <a:pt x="406" y="201"/>
                  </a:lnTo>
                  <a:lnTo>
                    <a:pt x="395" y="201"/>
                  </a:lnTo>
                  <a:lnTo>
                    <a:pt x="395" y="181"/>
                  </a:lnTo>
                  <a:lnTo>
                    <a:pt x="392" y="161"/>
                  </a:lnTo>
                  <a:lnTo>
                    <a:pt x="386" y="144"/>
                  </a:lnTo>
                  <a:lnTo>
                    <a:pt x="380" y="126"/>
                  </a:lnTo>
                  <a:lnTo>
                    <a:pt x="372" y="109"/>
                  </a:lnTo>
                  <a:lnTo>
                    <a:pt x="363" y="94"/>
                  </a:lnTo>
                  <a:lnTo>
                    <a:pt x="351" y="81"/>
                  </a:lnTo>
                  <a:lnTo>
                    <a:pt x="339" y="66"/>
                  </a:lnTo>
                  <a:lnTo>
                    <a:pt x="324" y="54"/>
                  </a:lnTo>
                  <a:lnTo>
                    <a:pt x="310" y="43"/>
                  </a:lnTo>
                  <a:lnTo>
                    <a:pt x="296" y="31"/>
                  </a:lnTo>
                  <a:lnTo>
                    <a:pt x="278" y="25"/>
                  </a:lnTo>
                  <a:lnTo>
                    <a:pt x="260" y="17"/>
                  </a:lnTo>
                  <a:lnTo>
                    <a:pt x="242" y="14"/>
                  </a:lnTo>
                  <a:lnTo>
                    <a:pt x="223" y="11"/>
                  </a:lnTo>
                  <a:lnTo>
                    <a:pt x="202" y="8"/>
                  </a:lnTo>
                  <a:lnTo>
                    <a:pt x="184" y="11"/>
                  </a:lnTo>
                  <a:lnTo>
                    <a:pt x="164" y="14"/>
                  </a:lnTo>
                  <a:lnTo>
                    <a:pt x="147" y="17"/>
                  </a:lnTo>
                  <a:lnTo>
                    <a:pt x="126" y="25"/>
                  </a:lnTo>
                  <a:lnTo>
                    <a:pt x="111" y="31"/>
                  </a:lnTo>
                  <a:lnTo>
                    <a:pt x="94" y="43"/>
                  </a:lnTo>
                  <a:lnTo>
                    <a:pt x="79" y="54"/>
                  </a:lnTo>
                  <a:lnTo>
                    <a:pt x="65" y="66"/>
                  </a:lnTo>
                  <a:lnTo>
                    <a:pt x="53" y="81"/>
                  </a:lnTo>
                  <a:lnTo>
                    <a:pt x="41" y="94"/>
                  </a:lnTo>
                  <a:lnTo>
                    <a:pt x="33" y="109"/>
                  </a:lnTo>
                  <a:lnTo>
                    <a:pt x="24" y="126"/>
                  </a:lnTo>
                  <a:lnTo>
                    <a:pt x="18" y="144"/>
                  </a:lnTo>
                  <a:lnTo>
                    <a:pt x="12" y="161"/>
                  </a:lnTo>
                  <a:lnTo>
                    <a:pt x="9" y="181"/>
                  </a:lnTo>
                  <a:lnTo>
                    <a:pt x="9" y="201"/>
                  </a:lnTo>
                  <a:lnTo>
                    <a:pt x="0" y="201"/>
                  </a:lnTo>
                </a:path>
              </a:pathLst>
            </a:custGeom>
            <a:solidFill>
              <a:srgbClr val="FF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Freeform 165">
              <a:extLst>
                <a:ext uri="{FF2B5EF4-FFF2-40B4-BE49-F238E27FC236}">
                  <a16:creationId xmlns:a16="http://schemas.microsoft.com/office/drawing/2014/main" id="{EEDA082F-900A-4CF7-A896-7153BF537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802"/>
              <a:ext cx="407" cy="200"/>
            </a:xfrm>
            <a:custGeom>
              <a:avLst/>
              <a:gdLst>
                <a:gd name="T0" fmla="*/ 0 w 407"/>
                <a:gd name="T1" fmla="*/ 0 h 200"/>
                <a:gd name="T2" fmla="*/ 3 w 407"/>
                <a:gd name="T3" fmla="*/ 41 h 200"/>
                <a:gd name="T4" fmla="*/ 15 w 407"/>
                <a:gd name="T5" fmla="*/ 78 h 200"/>
                <a:gd name="T6" fmla="*/ 35 w 407"/>
                <a:gd name="T7" fmla="*/ 113 h 200"/>
                <a:gd name="T8" fmla="*/ 59 w 407"/>
                <a:gd name="T9" fmla="*/ 142 h 200"/>
                <a:gd name="T10" fmla="*/ 91 w 407"/>
                <a:gd name="T11" fmla="*/ 164 h 200"/>
                <a:gd name="T12" fmla="*/ 123 w 407"/>
                <a:gd name="T13" fmla="*/ 184 h 200"/>
                <a:gd name="T14" fmla="*/ 161 w 407"/>
                <a:gd name="T15" fmla="*/ 196 h 200"/>
                <a:gd name="T16" fmla="*/ 202 w 407"/>
                <a:gd name="T17" fmla="*/ 199 h 200"/>
                <a:gd name="T18" fmla="*/ 242 w 407"/>
                <a:gd name="T19" fmla="*/ 196 h 200"/>
                <a:gd name="T20" fmla="*/ 281 w 407"/>
                <a:gd name="T21" fmla="*/ 184 h 200"/>
                <a:gd name="T22" fmla="*/ 316 w 407"/>
                <a:gd name="T23" fmla="*/ 164 h 200"/>
                <a:gd name="T24" fmla="*/ 345 w 407"/>
                <a:gd name="T25" fmla="*/ 142 h 200"/>
                <a:gd name="T26" fmla="*/ 372 w 407"/>
                <a:gd name="T27" fmla="*/ 113 h 200"/>
                <a:gd name="T28" fmla="*/ 389 w 407"/>
                <a:gd name="T29" fmla="*/ 78 h 200"/>
                <a:gd name="T30" fmla="*/ 401 w 407"/>
                <a:gd name="T31" fmla="*/ 41 h 200"/>
                <a:gd name="T32" fmla="*/ 406 w 407"/>
                <a:gd name="T33" fmla="*/ 0 h 200"/>
                <a:gd name="T34" fmla="*/ 395 w 407"/>
                <a:gd name="T35" fmla="*/ 17 h 200"/>
                <a:gd name="T36" fmla="*/ 386 w 407"/>
                <a:gd name="T37" fmla="*/ 55 h 200"/>
                <a:gd name="T38" fmla="*/ 372 w 407"/>
                <a:gd name="T39" fmla="*/ 89 h 200"/>
                <a:gd name="T40" fmla="*/ 351 w 407"/>
                <a:gd name="T41" fmla="*/ 121 h 200"/>
                <a:gd name="T42" fmla="*/ 324 w 407"/>
                <a:gd name="T43" fmla="*/ 147 h 200"/>
                <a:gd name="T44" fmla="*/ 296 w 407"/>
                <a:gd name="T45" fmla="*/ 167 h 200"/>
                <a:gd name="T46" fmla="*/ 260 w 407"/>
                <a:gd name="T47" fmla="*/ 182 h 200"/>
                <a:gd name="T48" fmla="*/ 223 w 407"/>
                <a:gd name="T49" fmla="*/ 190 h 200"/>
                <a:gd name="T50" fmla="*/ 184 w 407"/>
                <a:gd name="T51" fmla="*/ 190 h 200"/>
                <a:gd name="T52" fmla="*/ 147 w 407"/>
                <a:gd name="T53" fmla="*/ 182 h 200"/>
                <a:gd name="T54" fmla="*/ 111 w 407"/>
                <a:gd name="T55" fmla="*/ 167 h 200"/>
                <a:gd name="T56" fmla="*/ 79 w 407"/>
                <a:gd name="T57" fmla="*/ 147 h 200"/>
                <a:gd name="T58" fmla="*/ 53 w 407"/>
                <a:gd name="T59" fmla="*/ 121 h 200"/>
                <a:gd name="T60" fmla="*/ 33 w 407"/>
                <a:gd name="T61" fmla="*/ 89 h 200"/>
                <a:gd name="T62" fmla="*/ 18 w 407"/>
                <a:gd name="T63" fmla="*/ 55 h 200"/>
                <a:gd name="T64" fmla="*/ 9 w 407"/>
                <a:gd name="T65" fmla="*/ 17 h 200"/>
                <a:gd name="T66" fmla="*/ 0 w 407"/>
                <a:gd name="T67" fmla="*/ 0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7"/>
                <a:gd name="T103" fmla="*/ 0 h 200"/>
                <a:gd name="T104" fmla="*/ 407 w 407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7" h="200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57"/>
                  </a:lnTo>
                  <a:lnTo>
                    <a:pt x="15" y="78"/>
                  </a:lnTo>
                  <a:lnTo>
                    <a:pt x="24" y="95"/>
                  </a:lnTo>
                  <a:lnTo>
                    <a:pt x="35" y="113"/>
                  </a:lnTo>
                  <a:lnTo>
                    <a:pt x="47" y="127"/>
                  </a:lnTo>
                  <a:lnTo>
                    <a:pt x="59" y="142"/>
                  </a:lnTo>
                  <a:lnTo>
                    <a:pt x="74" y="152"/>
                  </a:lnTo>
                  <a:lnTo>
                    <a:pt x="91" y="164"/>
                  </a:lnTo>
                  <a:lnTo>
                    <a:pt x="105" y="176"/>
                  </a:lnTo>
                  <a:lnTo>
                    <a:pt x="123" y="184"/>
                  </a:lnTo>
                  <a:lnTo>
                    <a:pt x="144" y="190"/>
                  </a:lnTo>
                  <a:lnTo>
                    <a:pt x="161" y="196"/>
                  </a:lnTo>
                  <a:lnTo>
                    <a:pt x="181" y="199"/>
                  </a:lnTo>
                  <a:lnTo>
                    <a:pt x="202" y="199"/>
                  </a:lnTo>
                  <a:lnTo>
                    <a:pt x="223" y="199"/>
                  </a:lnTo>
                  <a:lnTo>
                    <a:pt x="242" y="196"/>
                  </a:lnTo>
                  <a:lnTo>
                    <a:pt x="263" y="190"/>
                  </a:lnTo>
                  <a:lnTo>
                    <a:pt x="281" y="184"/>
                  </a:lnTo>
                  <a:lnTo>
                    <a:pt x="299" y="176"/>
                  </a:lnTo>
                  <a:lnTo>
                    <a:pt x="316" y="164"/>
                  </a:lnTo>
                  <a:lnTo>
                    <a:pt x="330" y="152"/>
                  </a:lnTo>
                  <a:lnTo>
                    <a:pt x="345" y="142"/>
                  </a:lnTo>
                  <a:lnTo>
                    <a:pt x="360" y="127"/>
                  </a:lnTo>
                  <a:lnTo>
                    <a:pt x="372" y="113"/>
                  </a:lnTo>
                  <a:lnTo>
                    <a:pt x="380" y="95"/>
                  </a:lnTo>
                  <a:lnTo>
                    <a:pt x="389" y="78"/>
                  </a:lnTo>
                  <a:lnTo>
                    <a:pt x="395" y="57"/>
                  </a:lnTo>
                  <a:lnTo>
                    <a:pt x="401" y="41"/>
                  </a:lnTo>
                  <a:lnTo>
                    <a:pt x="404" y="20"/>
                  </a:lnTo>
                  <a:lnTo>
                    <a:pt x="406" y="0"/>
                  </a:lnTo>
                  <a:lnTo>
                    <a:pt x="395" y="0"/>
                  </a:lnTo>
                  <a:lnTo>
                    <a:pt x="395" y="17"/>
                  </a:lnTo>
                  <a:lnTo>
                    <a:pt x="392" y="38"/>
                  </a:lnTo>
                  <a:lnTo>
                    <a:pt x="386" y="55"/>
                  </a:lnTo>
                  <a:lnTo>
                    <a:pt x="380" y="75"/>
                  </a:lnTo>
                  <a:lnTo>
                    <a:pt x="372" y="89"/>
                  </a:lnTo>
                  <a:lnTo>
                    <a:pt x="363" y="107"/>
                  </a:lnTo>
                  <a:lnTo>
                    <a:pt x="351" y="121"/>
                  </a:lnTo>
                  <a:lnTo>
                    <a:pt x="339" y="136"/>
                  </a:lnTo>
                  <a:lnTo>
                    <a:pt x="324" y="147"/>
                  </a:lnTo>
                  <a:lnTo>
                    <a:pt x="310" y="158"/>
                  </a:lnTo>
                  <a:lnTo>
                    <a:pt x="296" y="167"/>
                  </a:lnTo>
                  <a:lnTo>
                    <a:pt x="278" y="176"/>
                  </a:lnTo>
                  <a:lnTo>
                    <a:pt x="260" y="182"/>
                  </a:lnTo>
                  <a:lnTo>
                    <a:pt x="242" y="187"/>
                  </a:lnTo>
                  <a:lnTo>
                    <a:pt x="223" y="190"/>
                  </a:lnTo>
                  <a:lnTo>
                    <a:pt x="202" y="190"/>
                  </a:lnTo>
                  <a:lnTo>
                    <a:pt x="184" y="190"/>
                  </a:lnTo>
                  <a:lnTo>
                    <a:pt x="164" y="187"/>
                  </a:lnTo>
                  <a:lnTo>
                    <a:pt x="147" y="182"/>
                  </a:lnTo>
                  <a:lnTo>
                    <a:pt x="126" y="176"/>
                  </a:lnTo>
                  <a:lnTo>
                    <a:pt x="111" y="167"/>
                  </a:lnTo>
                  <a:lnTo>
                    <a:pt x="94" y="158"/>
                  </a:lnTo>
                  <a:lnTo>
                    <a:pt x="79" y="147"/>
                  </a:lnTo>
                  <a:lnTo>
                    <a:pt x="65" y="136"/>
                  </a:lnTo>
                  <a:lnTo>
                    <a:pt x="53" y="121"/>
                  </a:lnTo>
                  <a:lnTo>
                    <a:pt x="41" y="107"/>
                  </a:lnTo>
                  <a:lnTo>
                    <a:pt x="33" y="89"/>
                  </a:lnTo>
                  <a:lnTo>
                    <a:pt x="24" y="75"/>
                  </a:lnTo>
                  <a:lnTo>
                    <a:pt x="18" y="55"/>
                  </a:lnTo>
                  <a:lnTo>
                    <a:pt x="12" y="38"/>
                  </a:lnTo>
                  <a:lnTo>
                    <a:pt x="9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166">
              <a:extLst>
                <a:ext uri="{FF2B5EF4-FFF2-40B4-BE49-F238E27FC236}">
                  <a16:creationId xmlns:a16="http://schemas.microsoft.com/office/drawing/2014/main" id="{26E3F4D8-AF2E-4FAE-B0BE-7AC9A4395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603"/>
              <a:ext cx="387" cy="194"/>
            </a:xfrm>
            <a:custGeom>
              <a:avLst/>
              <a:gdLst>
                <a:gd name="T0" fmla="*/ 0 w 387"/>
                <a:gd name="T1" fmla="*/ 173 h 194"/>
                <a:gd name="T2" fmla="*/ 9 w 387"/>
                <a:gd name="T3" fmla="*/ 136 h 194"/>
                <a:gd name="T4" fmla="*/ 24 w 387"/>
                <a:gd name="T5" fmla="*/ 101 h 194"/>
                <a:gd name="T6" fmla="*/ 44 w 387"/>
                <a:gd name="T7" fmla="*/ 73 h 194"/>
                <a:gd name="T8" fmla="*/ 70 w 387"/>
                <a:gd name="T9" fmla="*/ 47 h 194"/>
                <a:gd name="T10" fmla="*/ 102 w 387"/>
                <a:gd name="T11" fmla="*/ 23 h 194"/>
                <a:gd name="T12" fmla="*/ 138 w 387"/>
                <a:gd name="T13" fmla="*/ 9 h 194"/>
                <a:gd name="T14" fmla="*/ 175 w 387"/>
                <a:gd name="T15" fmla="*/ 3 h 194"/>
                <a:gd name="T16" fmla="*/ 214 w 387"/>
                <a:gd name="T17" fmla="*/ 3 h 194"/>
                <a:gd name="T18" fmla="*/ 251 w 387"/>
                <a:gd name="T19" fmla="*/ 9 h 194"/>
                <a:gd name="T20" fmla="*/ 287 w 387"/>
                <a:gd name="T21" fmla="*/ 23 h 194"/>
                <a:gd name="T22" fmla="*/ 315 w 387"/>
                <a:gd name="T23" fmla="*/ 47 h 194"/>
                <a:gd name="T24" fmla="*/ 342 w 387"/>
                <a:gd name="T25" fmla="*/ 73 h 194"/>
                <a:gd name="T26" fmla="*/ 362 w 387"/>
                <a:gd name="T27" fmla="*/ 101 h 194"/>
                <a:gd name="T28" fmla="*/ 377 w 387"/>
                <a:gd name="T29" fmla="*/ 136 h 194"/>
                <a:gd name="T30" fmla="*/ 386 w 387"/>
                <a:gd name="T31" fmla="*/ 173 h 194"/>
                <a:gd name="T32" fmla="*/ 377 w 387"/>
                <a:gd name="T33" fmla="*/ 193 h 194"/>
                <a:gd name="T34" fmla="*/ 374 w 387"/>
                <a:gd name="T35" fmla="*/ 156 h 194"/>
                <a:gd name="T36" fmla="*/ 362 w 387"/>
                <a:gd name="T37" fmla="*/ 121 h 194"/>
                <a:gd name="T38" fmla="*/ 345 w 387"/>
                <a:gd name="T39" fmla="*/ 89 h 194"/>
                <a:gd name="T40" fmla="*/ 324 w 387"/>
                <a:gd name="T41" fmla="*/ 64 h 194"/>
                <a:gd name="T42" fmla="*/ 295 w 387"/>
                <a:gd name="T43" fmla="*/ 41 h 194"/>
                <a:gd name="T44" fmla="*/ 266 w 387"/>
                <a:gd name="T45" fmla="*/ 26 h 194"/>
                <a:gd name="T46" fmla="*/ 231 w 387"/>
                <a:gd name="T47" fmla="*/ 15 h 194"/>
                <a:gd name="T48" fmla="*/ 193 w 387"/>
                <a:gd name="T49" fmla="*/ 12 h 194"/>
                <a:gd name="T50" fmla="*/ 158 w 387"/>
                <a:gd name="T51" fmla="*/ 15 h 194"/>
                <a:gd name="T52" fmla="*/ 123 w 387"/>
                <a:gd name="T53" fmla="*/ 26 h 194"/>
                <a:gd name="T54" fmla="*/ 91 w 387"/>
                <a:gd name="T55" fmla="*/ 41 h 194"/>
                <a:gd name="T56" fmla="*/ 65 w 387"/>
                <a:gd name="T57" fmla="*/ 64 h 194"/>
                <a:gd name="T58" fmla="*/ 41 w 387"/>
                <a:gd name="T59" fmla="*/ 89 h 194"/>
                <a:gd name="T60" fmla="*/ 24 w 387"/>
                <a:gd name="T61" fmla="*/ 121 h 194"/>
                <a:gd name="T62" fmla="*/ 15 w 387"/>
                <a:gd name="T63" fmla="*/ 156 h 194"/>
                <a:gd name="T64" fmla="*/ 9 w 387"/>
                <a:gd name="T65" fmla="*/ 193 h 19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87"/>
                <a:gd name="T100" fmla="*/ 0 h 194"/>
                <a:gd name="T101" fmla="*/ 387 w 387"/>
                <a:gd name="T102" fmla="*/ 194 h 19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87" h="194">
                  <a:moveTo>
                    <a:pt x="0" y="193"/>
                  </a:moveTo>
                  <a:lnTo>
                    <a:pt x="0" y="173"/>
                  </a:lnTo>
                  <a:lnTo>
                    <a:pt x="3" y="153"/>
                  </a:lnTo>
                  <a:lnTo>
                    <a:pt x="9" y="136"/>
                  </a:lnTo>
                  <a:lnTo>
                    <a:pt x="15" y="118"/>
                  </a:lnTo>
                  <a:lnTo>
                    <a:pt x="24" y="101"/>
                  </a:lnTo>
                  <a:lnTo>
                    <a:pt x="32" y="86"/>
                  </a:lnTo>
                  <a:lnTo>
                    <a:pt x="44" y="73"/>
                  </a:lnTo>
                  <a:lnTo>
                    <a:pt x="56" y="58"/>
                  </a:lnTo>
                  <a:lnTo>
                    <a:pt x="70" y="47"/>
                  </a:lnTo>
                  <a:lnTo>
                    <a:pt x="85" y="35"/>
                  </a:lnTo>
                  <a:lnTo>
                    <a:pt x="102" y="23"/>
                  </a:lnTo>
                  <a:lnTo>
                    <a:pt x="117" y="17"/>
                  </a:lnTo>
                  <a:lnTo>
                    <a:pt x="138" y="9"/>
                  </a:lnTo>
                  <a:lnTo>
                    <a:pt x="155" y="6"/>
                  </a:lnTo>
                  <a:lnTo>
                    <a:pt x="175" y="3"/>
                  </a:lnTo>
                  <a:lnTo>
                    <a:pt x="193" y="0"/>
                  </a:lnTo>
                  <a:lnTo>
                    <a:pt x="214" y="3"/>
                  </a:lnTo>
                  <a:lnTo>
                    <a:pt x="233" y="6"/>
                  </a:lnTo>
                  <a:lnTo>
                    <a:pt x="251" y="9"/>
                  </a:lnTo>
                  <a:lnTo>
                    <a:pt x="269" y="17"/>
                  </a:lnTo>
                  <a:lnTo>
                    <a:pt x="287" y="23"/>
                  </a:lnTo>
                  <a:lnTo>
                    <a:pt x="301" y="35"/>
                  </a:lnTo>
                  <a:lnTo>
                    <a:pt x="315" y="47"/>
                  </a:lnTo>
                  <a:lnTo>
                    <a:pt x="330" y="58"/>
                  </a:lnTo>
                  <a:lnTo>
                    <a:pt x="342" y="73"/>
                  </a:lnTo>
                  <a:lnTo>
                    <a:pt x="354" y="86"/>
                  </a:lnTo>
                  <a:lnTo>
                    <a:pt x="362" y="101"/>
                  </a:lnTo>
                  <a:lnTo>
                    <a:pt x="371" y="118"/>
                  </a:lnTo>
                  <a:lnTo>
                    <a:pt x="377" y="136"/>
                  </a:lnTo>
                  <a:lnTo>
                    <a:pt x="383" y="153"/>
                  </a:lnTo>
                  <a:lnTo>
                    <a:pt x="386" y="173"/>
                  </a:lnTo>
                  <a:lnTo>
                    <a:pt x="386" y="193"/>
                  </a:lnTo>
                  <a:lnTo>
                    <a:pt x="377" y="193"/>
                  </a:lnTo>
                  <a:lnTo>
                    <a:pt x="377" y="173"/>
                  </a:lnTo>
                  <a:lnTo>
                    <a:pt x="374" y="156"/>
                  </a:lnTo>
                  <a:lnTo>
                    <a:pt x="368" y="139"/>
                  </a:lnTo>
                  <a:lnTo>
                    <a:pt x="362" y="121"/>
                  </a:lnTo>
                  <a:lnTo>
                    <a:pt x="354" y="107"/>
                  </a:lnTo>
                  <a:lnTo>
                    <a:pt x="345" y="89"/>
                  </a:lnTo>
                  <a:lnTo>
                    <a:pt x="336" y="79"/>
                  </a:lnTo>
                  <a:lnTo>
                    <a:pt x="324" y="64"/>
                  </a:lnTo>
                  <a:lnTo>
                    <a:pt x="310" y="52"/>
                  </a:lnTo>
                  <a:lnTo>
                    <a:pt x="295" y="41"/>
                  </a:lnTo>
                  <a:lnTo>
                    <a:pt x="281" y="32"/>
                  </a:lnTo>
                  <a:lnTo>
                    <a:pt x="266" y="26"/>
                  </a:lnTo>
                  <a:lnTo>
                    <a:pt x="248" y="20"/>
                  </a:lnTo>
                  <a:lnTo>
                    <a:pt x="231" y="15"/>
                  </a:lnTo>
                  <a:lnTo>
                    <a:pt x="214" y="12"/>
                  </a:lnTo>
                  <a:lnTo>
                    <a:pt x="193" y="12"/>
                  </a:lnTo>
                  <a:lnTo>
                    <a:pt x="175" y="12"/>
                  </a:lnTo>
                  <a:lnTo>
                    <a:pt x="158" y="15"/>
                  </a:lnTo>
                  <a:lnTo>
                    <a:pt x="141" y="20"/>
                  </a:lnTo>
                  <a:lnTo>
                    <a:pt x="123" y="26"/>
                  </a:lnTo>
                  <a:lnTo>
                    <a:pt x="105" y="32"/>
                  </a:lnTo>
                  <a:lnTo>
                    <a:pt x="91" y="41"/>
                  </a:lnTo>
                  <a:lnTo>
                    <a:pt x="76" y="52"/>
                  </a:lnTo>
                  <a:lnTo>
                    <a:pt x="65" y="64"/>
                  </a:lnTo>
                  <a:lnTo>
                    <a:pt x="53" y="79"/>
                  </a:lnTo>
                  <a:lnTo>
                    <a:pt x="41" y="89"/>
                  </a:lnTo>
                  <a:lnTo>
                    <a:pt x="32" y="107"/>
                  </a:lnTo>
                  <a:lnTo>
                    <a:pt x="24" y="121"/>
                  </a:lnTo>
                  <a:lnTo>
                    <a:pt x="18" y="139"/>
                  </a:lnTo>
                  <a:lnTo>
                    <a:pt x="15" y="156"/>
                  </a:lnTo>
                  <a:lnTo>
                    <a:pt x="12" y="173"/>
                  </a:lnTo>
                  <a:lnTo>
                    <a:pt x="9" y="193"/>
                  </a:lnTo>
                  <a:lnTo>
                    <a:pt x="0" y="193"/>
                  </a:lnTo>
                </a:path>
              </a:pathLst>
            </a:custGeom>
            <a:solidFill>
              <a:srgbClr val="FFC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7" name="Freeform 167">
              <a:extLst>
                <a:ext uri="{FF2B5EF4-FFF2-40B4-BE49-F238E27FC236}">
                  <a16:creationId xmlns:a16="http://schemas.microsoft.com/office/drawing/2014/main" id="{73B4FBA8-23D8-46C6-A14A-9A1382654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3802"/>
              <a:ext cx="387" cy="191"/>
            </a:xfrm>
            <a:custGeom>
              <a:avLst/>
              <a:gdLst>
                <a:gd name="T0" fmla="*/ 0 w 387"/>
                <a:gd name="T1" fmla="*/ 0 h 191"/>
                <a:gd name="T2" fmla="*/ 3 w 387"/>
                <a:gd name="T3" fmla="*/ 38 h 191"/>
                <a:gd name="T4" fmla="*/ 15 w 387"/>
                <a:gd name="T5" fmla="*/ 75 h 191"/>
                <a:gd name="T6" fmla="*/ 32 w 387"/>
                <a:gd name="T7" fmla="*/ 107 h 191"/>
                <a:gd name="T8" fmla="*/ 56 w 387"/>
                <a:gd name="T9" fmla="*/ 136 h 191"/>
                <a:gd name="T10" fmla="*/ 85 w 387"/>
                <a:gd name="T11" fmla="*/ 158 h 191"/>
                <a:gd name="T12" fmla="*/ 117 w 387"/>
                <a:gd name="T13" fmla="*/ 175 h 191"/>
                <a:gd name="T14" fmla="*/ 155 w 387"/>
                <a:gd name="T15" fmla="*/ 187 h 191"/>
                <a:gd name="T16" fmla="*/ 193 w 387"/>
                <a:gd name="T17" fmla="*/ 190 h 191"/>
                <a:gd name="T18" fmla="*/ 233 w 387"/>
                <a:gd name="T19" fmla="*/ 187 h 191"/>
                <a:gd name="T20" fmla="*/ 269 w 387"/>
                <a:gd name="T21" fmla="*/ 175 h 191"/>
                <a:gd name="T22" fmla="*/ 301 w 387"/>
                <a:gd name="T23" fmla="*/ 158 h 191"/>
                <a:gd name="T24" fmla="*/ 330 w 387"/>
                <a:gd name="T25" fmla="*/ 136 h 191"/>
                <a:gd name="T26" fmla="*/ 354 w 387"/>
                <a:gd name="T27" fmla="*/ 107 h 191"/>
                <a:gd name="T28" fmla="*/ 371 w 387"/>
                <a:gd name="T29" fmla="*/ 75 h 191"/>
                <a:gd name="T30" fmla="*/ 383 w 387"/>
                <a:gd name="T31" fmla="*/ 38 h 191"/>
                <a:gd name="T32" fmla="*/ 386 w 387"/>
                <a:gd name="T33" fmla="*/ 0 h 191"/>
                <a:gd name="T34" fmla="*/ 377 w 387"/>
                <a:gd name="T35" fmla="*/ 17 h 191"/>
                <a:gd name="T36" fmla="*/ 368 w 387"/>
                <a:gd name="T37" fmla="*/ 52 h 191"/>
                <a:gd name="T38" fmla="*/ 354 w 387"/>
                <a:gd name="T39" fmla="*/ 86 h 191"/>
                <a:gd name="T40" fmla="*/ 336 w 387"/>
                <a:gd name="T41" fmla="*/ 115 h 191"/>
                <a:gd name="T42" fmla="*/ 310 w 387"/>
                <a:gd name="T43" fmla="*/ 139 h 191"/>
                <a:gd name="T44" fmla="*/ 281 w 387"/>
                <a:gd name="T45" fmla="*/ 158 h 191"/>
                <a:gd name="T46" fmla="*/ 248 w 387"/>
                <a:gd name="T47" fmla="*/ 173 h 191"/>
                <a:gd name="T48" fmla="*/ 214 w 387"/>
                <a:gd name="T49" fmla="*/ 181 h 191"/>
                <a:gd name="T50" fmla="*/ 175 w 387"/>
                <a:gd name="T51" fmla="*/ 181 h 191"/>
                <a:gd name="T52" fmla="*/ 141 w 387"/>
                <a:gd name="T53" fmla="*/ 173 h 191"/>
                <a:gd name="T54" fmla="*/ 105 w 387"/>
                <a:gd name="T55" fmla="*/ 158 h 191"/>
                <a:gd name="T56" fmla="*/ 76 w 387"/>
                <a:gd name="T57" fmla="*/ 139 h 191"/>
                <a:gd name="T58" fmla="*/ 53 w 387"/>
                <a:gd name="T59" fmla="*/ 115 h 191"/>
                <a:gd name="T60" fmla="*/ 32 w 387"/>
                <a:gd name="T61" fmla="*/ 86 h 191"/>
                <a:gd name="T62" fmla="*/ 18 w 387"/>
                <a:gd name="T63" fmla="*/ 52 h 191"/>
                <a:gd name="T64" fmla="*/ 12 w 387"/>
                <a:gd name="T65" fmla="*/ 17 h 191"/>
                <a:gd name="T66" fmla="*/ 0 w 387"/>
                <a:gd name="T67" fmla="*/ 0 h 1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7"/>
                <a:gd name="T103" fmla="*/ 0 h 191"/>
                <a:gd name="T104" fmla="*/ 387 w 387"/>
                <a:gd name="T105" fmla="*/ 191 h 19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7" h="191">
                  <a:moveTo>
                    <a:pt x="0" y="0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3" y="38"/>
                  </a:lnTo>
                  <a:lnTo>
                    <a:pt x="9" y="55"/>
                  </a:lnTo>
                  <a:lnTo>
                    <a:pt x="15" y="75"/>
                  </a:lnTo>
                  <a:lnTo>
                    <a:pt x="24" y="89"/>
                  </a:lnTo>
                  <a:lnTo>
                    <a:pt x="32" y="107"/>
                  </a:lnTo>
                  <a:lnTo>
                    <a:pt x="44" y="121"/>
                  </a:lnTo>
                  <a:lnTo>
                    <a:pt x="56" y="136"/>
                  </a:lnTo>
                  <a:lnTo>
                    <a:pt x="70" y="146"/>
                  </a:lnTo>
                  <a:lnTo>
                    <a:pt x="85" y="158"/>
                  </a:lnTo>
                  <a:lnTo>
                    <a:pt x="102" y="167"/>
                  </a:lnTo>
                  <a:lnTo>
                    <a:pt x="117" y="175"/>
                  </a:lnTo>
                  <a:lnTo>
                    <a:pt x="138" y="181"/>
                  </a:lnTo>
                  <a:lnTo>
                    <a:pt x="155" y="187"/>
                  </a:lnTo>
                  <a:lnTo>
                    <a:pt x="175" y="190"/>
                  </a:lnTo>
                  <a:lnTo>
                    <a:pt x="193" y="190"/>
                  </a:lnTo>
                  <a:lnTo>
                    <a:pt x="214" y="190"/>
                  </a:lnTo>
                  <a:lnTo>
                    <a:pt x="233" y="187"/>
                  </a:lnTo>
                  <a:lnTo>
                    <a:pt x="251" y="181"/>
                  </a:lnTo>
                  <a:lnTo>
                    <a:pt x="269" y="175"/>
                  </a:lnTo>
                  <a:lnTo>
                    <a:pt x="287" y="167"/>
                  </a:lnTo>
                  <a:lnTo>
                    <a:pt x="301" y="158"/>
                  </a:lnTo>
                  <a:lnTo>
                    <a:pt x="315" y="146"/>
                  </a:lnTo>
                  <a:lnTo>
                    <a:pt x="330" y="136"/>
                  </a:lnTo>
                  <a:lnTo>
                    <a:pt x="342" y="121"/>
                  </a:lnTo>
                  <a:lnTo>
                    <a:pt x="354" y="107"/>
                  </a:lnTo>
                  <a:lnTo>
                    <a:pt x="362" y="89"/>
                  </a:lnTo>
                  <a:lnTo>
                    <a:pt x="371" y="75"/>
                  </a:lnTo>
                  <a:lnTo>
                    <a:pt x="377" y="55"/>
                  </a:lnTo>
                  <a:lnTo>
                    <a:pt x="383" y="38"/>
                  </a:lnTo>
                  <a:lnTo>
                    <a:pt x="386" y="17"/>
                  </a:lnTo>
                  <a:lnTo>
                    <a:pt x="386" y="0"/>
                  </a:lnTo>
                  <a:lnTo>
                    <a:pt x="377" y="0"/>
                  </a:lnTo>
                  <a:lnTo>
                    <a:pt x="377" y="17"/>
                  </a:lnTo>
                  <a:lnTo>
                    <a:pt x="374" y="35"/>
                  </a:lnTo>
                  <a:lnTo>
                    <a:pt x="368" y="52"/>
                  </a:lnTo>
                  <a:lnTo>
                    <a:pt x="362" y="69"/>
                  </a:lnTo>
                  <a:lnTo>
                    <a:pt x="354" y="86"/>
                  </a:lnTo>
                  <a:lnTo>
                    <a:pt x="345" y="101"/>
                  </a:lnTo>
                  <a:lnTo>
                    <a:pt x="336" y="115"/>
                  </a:lnTo>
                  <a:lnTo>
                    <a:pt x="324" y="127"/>
                  </a:lnTo>
                  <a:lnTo>
                    <a:pt x="310" y="139"/>
                  </a:lnTo>
                  <a:lnTo>
                    <a:pt x="295" y="149"/>
                  </a:lnTo>
                  <a:lnTo>
                    <a:pt x="281" y="158"/>
                  </a:lnTo>
                  <a:lnTo>
                    <a:pt x="266" y="167"/>
                  </a:lnTo>
                  <a:lnTo>
                    <a:pt x="248" y="173"/>
                  </a:lnTo>
                  <a:lnTo>
                    <a:pt x="231" y="178"/>
                  </a:lnTo>
                  <a:lnTo>
                    <a:pt x="214" y="181"/>
                  </a:lnTo>
                  <a:lnTo>
                    <a:pt x="193" y="181"/>
                  </a:lnTo>
                  <a:lnTo>
                    <a:pt x="175" y="181"/>
                  </a:lnTo>
                  <a:lnTo>
                    <a:pt x="158" y="178"/>
                  </a:lnTo>
                  <a:lnTo>
                    <a:pt x="141" y="173"/>
                  </a:lnTo>
                  <a:lnTo>
                    <a:pt x="123" y="167"/>
                  </a:lnTo>
                  <a:lnTo>
                    <a:pt x="105" y="158"/>
                  </a:lnTo>
                  <a:lnTo>
                    <a:pt x="91" y="149"/>
                  </a:lnTo>
                  <a:lnTo>
                    <a:pt x="76" y="139"/>
                  </a:lnTo>
                  <a:lnTo>
                    <a:pt x="65" y="127"/>
                  </a:lnTo>
                  <a:lnTo>
                    <a:pt x="53" y="115"/>
                  </a:lnTo>
                  <a:lnTo>
                    <a:pt x="41" y="101"/>
                  </a:lnTo>
                  <a:lnTo>
                    <a:pt x="32" y="86"/>
                  </a:lnTo>
                  <a:lnTo>
                    <a:pt x="24" y="69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168">
              <a:extLst>
                <a:ext uri="{FF2B5EF4-FFF2-40B4-BE49-F238E27FC236}">
                  <a16:creationId xmlns:a16="http://schemas.microsoft.com/office/drawing/2014/main" id="{92D9191F-FD35-4245-8595-22819E2A0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615"/>
              <a:ext cx="369" cy="182"/>
            </a:xfrm>
            <a:custGeom>
              <a:avLst/>
              <a:gdLst>
                <a:gd name="T0" fmla="*/ 3 w 369"/>
                <a:gd name="T1" fmla="*/ 161 h 182"/>
                <a:gd name="T2" fmla="*/ 9 w 369"/>
                <a:gd name="T3" fmla="*/ 127 h 182"/>
                <a:gd name="T4" fmla="*/ 24 w 369"/>
                <a:gd name="T5" fmla="*/ 95 h 182"/>
                <a:gd name="T6" fmla="*/ 44 w 369"/>
                <a:gd name="T7" fmla="*/ 67 h 182"/>
                <a:gd name="T8" fmla="*/ 67 w 369"/>
                <a:gd name="T9" fmla="*/ 41 h 182"/>
                <a:gd name="T10" fmla="*/ 96 w 369"/>
                <a:gd name="T11" fmla="*/ 20 h 182"/>
                <a:gd name="T12" fmla="*/ 132 w 369"/>
                <a:gd name="T13" fmla="*/ 9 h 182"/>
                <a:gd name="T14" fmla="*/ 166 w 369"/>
                <a:gd name="T15" fmla="*/ 0 h 182"/>
                <a:gd name="T16" fmla="*/ 205 w 369"/>
                <a:gd name="T17" fmla="*/ 0 h 182"/>
                <a:gd name="T18" fmla="*/ 239 w 369"/>
                <a:gd name="T19" fmla="*/ 9 h 182"/>
                <a:gd name="T20" fmla="*/ 272 w 369"/>
                <a:gd name="T21" fmla="*/ 20 h 182"/>
                <a:gd name="T22" fmla="*/ 301 w 369"/>
                <a:gd name="T23" fmla="*/ 41 h 182"/>
                <a:gd name="T24" fmla="*/ 327 w 369"/>
                <a:gd name="T25" fmla="*/ 67 h 182"/>
                <a:gd name="T26" fmla="*/ 344 w 369"/>
                <a:gd name="T27" fmla="*/ 95 h 182"/>
                <a:gd name="T28" fmla="*/ 359 w 369"/>
                <a:gd name="T29" fmla="*/ 127 h 182"/>
                <a:gd name="T30" fmla="*/ 368 w 369"/>
                <a:gd name="T31" fmla="*/ 161 h 182"/>
                <a:gd name="T32" fmla="*/ 359 w 369"/>
                <a:gd name="T33" fmla="*/ 181 h 182"/>
                <a:gd name="T34" fmla="*/ 356 w 369"/>
                <a:gd name="T35" fmla="*/ 147 h 182"/>
                <a:gd name="T36" fmla="*/ 344 w 369"/>
                <a:gd name="T37" fmla="*/ 112 h 182"/>
                <a:gd name="T38" fmla="*/ 330 w 369"/>
                <a:gd name="T39" fmla="*/ 83 h 182"/>
                <a:gd name="T40" fmla="*/ 309 w 369"/>
                <a:gd name="T41" fmla="*/ 58 h 182"/>
                <a:gd name="T42" fmla="*/ 283 w 369"/>
                <a:gd name="T43" fmla="*/ 38 h 182"/>
                <a:gd name="T44" fmla="*/ 254 w 369"/>
                <a:gd name="T45" fmla="*/ 20 h 182"/>
                <a:gd name="T46" fmla="*/ 219 w 369"/>
                <a:gd name="T47" fmla="*/ 12 h 182"/>
                <a:gd name="T48" fmla="*/ 184 w 369"/>
                <a:gd name="T49" fmla="*/ 9 h 182"/>
                <a:gd name="T50" fmla="*/ 149 w 369"/>
                <a:gd name="T51" fmla="*/ 12 h 182"/>
                <a:gd name="T52" fmla="*/ 117 w 369"/>
                <a:gd name="T53" fmla="*/ 20 h 182"/>
                <a:gd name="T54" fmla="*/ 88 w 369"/>
                <a:gd name="T55" fmla="*/ 38 h 182"/>
                <a:gd name="T56" fmla="*/ 61 w 369"/>
                <a:gd name="T57" fmla="*/ 58 h 182"/>
                <a:gd name="T58" fmla="*/ 38 w 369"/>
                <a:gd name="T59" fmla="*/ 83 h 182"/>
                <a:gd name="T60" fmla="*/ 24 w 369"/>
                <a:gd name="T61" fmla="*/ 112 h 182"/>
                <a:gd name="T62" fmla="*/ 15 w 369"/>
                <a:gd name="T63" fmla="*/ 147 h 182"/>
                <a:gd name="T64" fmla="*/ 9 w 369"/>
                <a:gd name="T65" fmla="*/ 181 h 1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69"/>
                <a:gd name="T100" fmla="*/ 0 h 182"/>
                <a:gd name="T101" fmla="*/ 369 w 369"/>
                <a:gd name="T102" fmla="*/ 182 h 18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69" h="182">
                  <a:moveTo>
                    <a:pt x="0" y="181"/>
                  </a:moveTo>
                  <a:lnTo>
                    <a:pt x="3" y="161"/>
                  </a:lnTo>
                  <a:lnTo>
                    <a:pt x="6" y="144"/>
                  </a:lnTo>
                  <a:lnTo>
                    <a:pt x="9" y="127"/>
                  </a:lnTo>
                  <a:lnTo>
                    <a:pt x="15" y="109"/>
                  </a:lnTo>
                  <a:lnTo>
                    <a:pt x="24" y="95"/>
                  </a:lnTo>
                  <a:lnTo>
                    <a:pt x="32" y="77"/>
                  </a:lnTo>
                  <a:lnTo>
                    <a:pt x="44" y="67"/>
                  </a:lnTo>
                  <a:lnTo>
                    <a:pt x="56" y="52"/>
                  </a:lnTo>
                  <a:lnTo>
                    <a:pt x="67" y="41"/>
                  </a:lnTo>
                  <a:lnTo>
                    <a:pt x="82" y="29"/>
                  </a:lnTo>
                  <a:lnTo>
                    <a:pt x="96" y="20"/>
                  </a:lnTo>
                  <a:lnTo>
                    <a:pt x="114" y="15"/>
                  </a:lnTo>
                  <a:lnTo>
                    <a:pt x="132" y="9"/>
                  </a:lnTo>
                  <a:lnTo>
                    <a:pt x="149" y="3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5" y="0"/>
                  </a:lnTo>
                  <a:lnTo>
                    <a:pt x="222" y="3"/>
                  </a:lnTo>
                  <a:lnTo>
                    <a:pt x="239" y="9"/>
                  </a:lnTo>
                  <a:lnTo>
                    <a:pt x="257" y="15"/>
                  </a:lnTo>
                  <a:lnTo>
                    <a:pt x="272" y="20"/>
                  </a:lnTo>
                  <a:lnTo>
                    <a:pt x="286" y="29"/>
                  </a:lnTo>
                  <a:lnTo>
                    <a:pt x="301" y="41"/>
                  </a:lnTo>
                  <a:lnTo>
                    <a:pt x="315" y="52"/>
                  </a:lnTo>
                  <a:lnTo>
                    <a:pt x="327" y="67"/>
                  </a:lnTo>
                  <a:lnTo>
                    <a:pt x="336" y="77"/>
                  </a:lnTo>
                  <a:lnTo>
                    <a:pt x="344" y="95"/>
                  </a:lnTo>
                  <a:lnTo>
                    <a:pt x="353" y="109"/>
                  </a:lnTo>
                  <a:lnTo>
                    <a:pt x="359" y="127"/>
                  </a:lnTo>
                  <a:lnTo>
                    <a:pt x="365" y="144"/>
                  </a:lnTo>
                  <a:lnTo>
                    <a:pt x="368" y="161"/>
                  </a:lnTo>
                  <a:lnTo>
                    <a:pt x="368" y="181"/>
                  </a:lnTo>
                  <a:lnTo>
                    <a:pt x="359" y="181"/>
                  </a:lnTo>
                  <a:lnTo>
                    <a:pt x="359" y="164"/>
                  </a:lnTo>
                  <a:lnTo>
                    <a:pt x="356" y="147"/>
                  </a:lnTo>
                  <a:lnTo>
                    <a:pt x="350" y="130"/>
                  </a:lnTo>
                  <a:lnTo>
                    <a:pt x="344" y="112"/>
                  </a:lnTo>
                  <a:lnTo>
                    <a:pt x="338" y="98"/>
                  </a:lnTo>
                  <a:lnTo>
                    <a:pt x="330" y="83"/>
                  </a:lnTo>
                  <a:lnTo>
                    <a:pt x="318" y="72"/>
                  </a:lnTo>
                  <a:lnTo>
                    <a:pt x="309" y="58"/>
                  </a:lnTo>
                  <a:lnTo>
                    <a:pt x="295" y="46"/>
                  </a:lnTo>
                  <a:lnTo>
                    <a:pt x="283" y="38"/>
                  </a:lnTo>
                  <a:lnTo>
                    <a:pt x="269" y="29"/>
                  </a:lnTo>
                  <a:lnTo>
                    <a:pt x="254" y="20"/>
                  </a:lnTo>
                  <a:lnTo>
                    <a:pt x="236" y="15"/>
                  </a:lnTo>
                  <a:lnTo>
                    <a:pt x="219" y="12"/>
                  </a:lnTo>
                  <a:lnTo>
                    <a:pt x="202" y="9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49" y="12"/>
                  </a:lnTo>
                  <a:lnTo>
                    <a:pt x="132" y="15"/>
                  </a:lnTo>
                  <a:lnTo>
                    <a:pt x="117" y="20"/>
                  </a:lnTo>
                  <a:lnTo>
                    <a:pt x="102" y="29"/>
                  </a:lnTo>
                  <a:lnTo>
                    <a:pt x="88" y="38"/>
                  </a:lnTo>
                  <a:lnTo>
                    <a:pt x="73" y="46"/>
                  </a:lnTo>
                  <a:lnTo>
                    <a:pt x="61" y="58"/>
                  </a:lnTo>
                  <a:lnTo>
                    <a:pt x="50" y="72"/>
                  </a:lnTo>
                  <a:lnTo>
                    <a:pt x="38" y="83"/>
                  </a:lnTo>
                  <a:lnTo>
                    <a:pt x="30" y="98"/>
                  </a:lnTo>
                  <a:lnTo>
                    <a:pt x="24" y="112"/>
                  </a:lnTo>
                  <a:lnTo>
                    <a:pt x="18" y="130"/>
                  </a:lnTo>
                  <a:lnTo>
                    <a:pt x="15" y="147"/>
                  </a:lnTo>
                  <a:lnTo>
                    <a:pt x="12" y="164"/>
                  </a:lnTo>
                  <a:lnTo>
                    <a:pt x="9" y="181"/>
                  </a:lnTo>
                  <a:lnTo>
                    <a:pt x="0" y="181"/>
                  </a:lnTo>
                </a:path>
              </a:pathLst>
            </a:custGeom>
            <a:solidFill>
              <a:srgbClr val="FFC7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169">
              <a:extLst>
                <a:ext uri="{FF2B5EF4-FFF2-40B4-BE49-F238E27FC236}">
                  <a16:creationId xmlns:a16="http://schemas.microsoft.com/office/drawing/2014/main" id="{4450A9FB-2B0A-4337-85C6-5BF2555A0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802"/>
              <a:ext cx="369" cy="182"/>
            </a:xfrm>
            <a:custGeom>
              <a:avLst/>
              <a:gdLst>
                <a:gd name="T0" fmla="*/ 0 w 369"/>
                <a:gd name="T1" fmla="*/ 0 h 182"/>
                <a:gd name="T2" fmla="*/ 6 w 369"/>
                <a:gd name="T3" fmla="*/ 35 h 182"/>
                <a:gd name="T4" fmla="*/ 15 w 369"/>
                <a:gd name="T5" fmla="*/ 69 h 182"/>
                <a:gd name="T6" fmla="*/ 32 w 369"/>
                <a:gd name="T7" fmla="*/ 101 h 182"/>
                <a:gd name="T8" fmla="*/ 56 w 369"/>
                <a:gd name="T9" fmla="*/ 127 h 182"/>
                <a:gd name="T10" fmla="*/ 82 w 369"/>
                <a:gd name="T11" fmla="*/ 149 h 182"/>
                <a:gd name="T12" fmla="*/ 114 w 369"/>
                <a:gd name="T13" fmla="*/ 166 h 182"/>
                <a:gd name="T14" fmla="*/ 149 w 369"/>
                <a:gd name="T15" fmla="*/ 178 h 182"/>
                <a:gd name="T16" fmla="*/ 184 w 369"/>
                <a:gd name="T17" fmla="*/ 181 h 182"/>
                <a:gd name="T18" fmla="*/ 222 w 369"/>
                <a:gd name="T19" fmla="*/ 178 h 182"/>
                <a:gd name="T20" fmla="*/ 257 w 369"/>
                <a:gd name="T21" fmla="*/ 166 h 182"/>
                <a:gd name="T22" fmla="*/ 286 w 369"/>
                <a:gd name="T23" fmla="*/ 149 h 182"/>
                <a:gd name="T24" fmla="*/ 315 w 369"/>
                <a:gd name="T25" fmla="*/ 127 h 182"/>
                <a:gd name="T26" fmla="*/ 336 w 369"/>
                <a:gd name="T27" fmla="*/ 101 h 182"/>
                <a:gd name="T28" fmla="*/ 353 w 369"/>
                <a:gd name="T29" fmla="*/ 69 h 182"/>
                <a:gd name="T30" fmla="*/ 365 w 369"/>
                <a:gd name="T31" fmla="*/ 35 h 182"/>
                <a:gd name="T32" fmla="*/ 368 w 369"/>
                <a:gd name="T33" fmla="*/ 0 h 182"/>
                <a:gd name="T34" fmla="*/ 359 w 369"/>
                <a:gd name="T35" fmla="*/ 17 h 182"/>
                <a:gd name="T36" fmla="*/ 350 w 369"/>
                <a:gd name="T37" fmla="*/ 52 h 182"/>
                <a:gd name="T38" fmla="*/ 338 w 369"/>
                <a:gd name="T39" fmla="*/ 80 h 182"/>
                <a:gd name="T40" fmla="*/ 318 w 369"/>
                <a:gd name="T41" fmla="*/ 109 h 182"/>
                <a:gd name="T42" fmla="*/ 295 w 369"/>
                <a:gd name="T43" fmla="*/ 133 h 182"/>
                <a:gd name="T44" fmla="*/ 269 w 369"/>
                <a:gd name="T45" fmla="*/ 152 h 182"/>
                <a:gd name="T46" fmla="*/ 236 w 369"/>
                <a:gd name="T47" fmla="*/ 164 h 182"/>
                <a:gd name="T48" fmla="*/ 202 w 369"/>
                <a:gd name="T49" fmla="*/ 169 h 182"/>
                <a:gd name="T50" fmla="*/ 166 w 369"/>
                <a:gd name="T51" fmla="*/ 169 h 182"/>
                <a:gd name="T52" fmla="*/ 132 w 369"/>
                <a:gd name="T53" fmla="*/ 164 h 182"/>
                <a:gd name="T54" fmla="*/ 102 w 369"/>
                <a:gd name="T55" fmla="*/ 152 h 182"/>
                <a:gd name="T56" fmla="*/ 73 w 369"/>
                <a:gd name="T57" fmla="*/ 133 h 182"/>
                <a:gd name="T58" fmla="*/ 50 w 369"/>
                <a:gd name="T59" fmla="*/ 109 h 182"/>
                <a:gd name="T60" fmla="*/ 30 w 369"/>
                <a:gd name="T61" fmla="*/ 80 h 182"/>
                <a:gd name="T62" fmla="*/ 18 w 369"/>
                <a:gd name="T63" fmla="*/ 52 h 182"/>
                <a:gd name="T64" fmla="*/ 12 w 369"/>
                <a:gd name="T65" fmla="*/ 17 h 182"/>
                <a:gd name="T66" fmla="*/ 0 w 369"/>
                <a:gd name="T67" fmla="*/ 0 h 18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69"/>
                <a:gd name="T103" fmla="*/ 0 h 182"/>
                <a:gd name="T104" fmla="*/ 369 w 369"/>
                <a:gd name="T105" fmla="*/ 182 h 18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69" h="182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9"/>
                  </a:lnTo>
                  <a:lnTo>
                    <a:pt x="24" y="86"/>
                  </a:lnTo>
                  <a:lnTo>
                    <a:pt x="32" y="101"/>
                  </a:lnTo>
                  <a:lnTo>
                    <a:pt x="44" y="115"/>
                  </a:lnTo>
                  <a:lnTo>
                    <a:pt x="56" y="127"/>
                  </a:lnTo>
                  <a:lnTo>
                    <a:pt x="67" y="138"/>
                  </a:lnTo>
                  <a:lnTo>
                    <a:pt x="82" y="149"/>
                  </a:lnTo>
                  <a:lnTo>
                    <a:pt x="96" y="158"/>
                  </a:lnTo>
                  <a:lnTo>
                    <a:pt x="114" y="166"/>
                  </a:lnTo>
                  <a:lnTo>
                    <a:pt x="132" y="172"/>
                  </a:lnTo>
                  <a:lnTo>
                    <a:pt x="149" y="178"/>
                  </a:lnTo>
                  <a:lnTo>
                    <a:pt x="166" y="181"/>
                  </a:lnTo>
                  <a:lnTo>
                    <a:pt x="184" y="181"/>
                  </a:lnTo>
                  <a:lnTo>
                    <a:pt x="205" y="181"/>
                  </a:lnTo>
                  <a:lnTo>
                    <a:pt x="222" y="178"/>
                  </a:lnTo>
                  <a:lnTo>
                    <a:pt x="239" y="172"/>
                  </a:lnTo>
                  <a:lnTo>
                    <a:pt x="257" y="166"/>
                  </a:lnTo>
                  <a:lnTo>
                    <a:pt x="272" y="158"/>
                  </a:lnTo>
                  <a:lnTo>
                    <a:pt x="286" y="149"/>
                  </a:lnTo>
                  <a:lnTo>
                    <a:pt x="301" y="138"/>
                  </a:lnTo>
                  <a:lnTo>
                    <a:pt x="315" y="127"/>
                  </a:lnTo>
                  <a:lnTo>
                    <a:pt x="327" y="115"/>
                  </a:lnTo>
                  <a:lnTo>
                    <a:pt x="336" y="101"/>
                  </a:lnTo>
                  <a:lnTo>
                    <a:pt x="344" y="86"/>
                  </a:lnTo>
                  <a:lnTo>
                    <a:pt x="353" y="69"/>
                  </a:lnTo>
                  <a:lnTo>
                    <a:pt x="359" y="52"/>
                  </a:lnTo>
                  <a:lnTo>
                    <a:pt x="365" y="35"/>
                  </a:lnTo>
                  <a:lnTo>
                    <a:pt x="368" y="17"/>
                  </a:lnTo>
                  <a:lnTo>
                    <a:pt x="368" y="0"/>
                  </a:lnTo>
                  <a:lnTo>
                    <a:pt x="359" y="0"/>
                  </a:lnTo>
                  <a:lnTo>
                    <a:pt x="359" y="17"/>
                  </a:lnTo>
                  <a:lnTo>
                    <a:pt x="356" y="35"/>
                  </a:lnTo>
                  <a:lnTo>
                    <a:pt x="350" y="52"/>
                  </a:lnTo>
                  <a:lnTo>
                    <a:pt x="344" y="66"/>
                  </a:lnTo>
                  <a:lnTo>
                    <a:pt x="338" y="80"/>
                  </a:lnTo>
                  <a:lnTo>
                    <a:pt x="330" y="95"/>
                  </a:lnTo>
                  <a:lnTo>
                    <a:pt x="318" y="109"/>
                  </a:lnTo>
                  <a:lnTo>
                    <a:pt x="309" y="121"/>
                  </a:lnTo>
                  <a:lnTo>
                    <a:pt x="295" y="133"/>
                  </a:lnTo>
                  <a:lnTo>
                    <a:pt x="283" y="143"/>
                  </a:lnTo>
                  <a:lnTo>
                    <a:pt x="269" y="152"/>
                  </a:lnTo>
                  <a:lnTo>
                    <a:pt x="254" y="158"/>
                  </a:lnTo>
                  <a:lnTo>
                    <a:pt x="236" y="164"/>
                  </a:lnTo>
                  <a:lnTo>
                    <a:pt x="219" y="169"/>
                  </a:lnTo>
                  <a:lnTo>
                    <a:pt x="202" y="169"/>
                  </a:lnTo>
                  <a:lnTo>
                    <a:pt x="184" y="172"/>
                  </a:lnTo>
                  <a:lnTo>
                    <a:pt x="166" y="169"/>
                  </a:lnTo>
                  <a:lnTo>
                    <a:pt x="149" y="169"/>
                  </a:lnTo>
                  <a:lnTo>
                    <a:pt x="132" y="164"/>
                  </a:lnTo>
                  <a:lnTo>
                    <a:pt x="117" y="158"/>
                  </a:lnTo>
                  <a:lnTo>
                    <a:pt x="102" y="152"/>
                  </a:lnTo>
                  <a:lnTo>
                    <a:pt x="88" y="143"/>
                  </a:lnTo>
                  <a:lnTo>
                    <a:pt x="73" y="133"/>
                  </a:lnTo>
                  <a:lnTo>
                    <a:pt x="61" y="121"/>
                  </a:lnTo>
                  <a:lnTo>
                    <a:pt x="50" y="109"/>
                  </a:lnTo>
                  <a:lnTo>
                    <a:pt x="38" y="95"/>
                  </a:lnTo>
                  <a:lnTo>
                    <a:pt x="30" y="80"/>
                  </a:lnTo>
                  <a:lnTo>
                    <a:pt x="24" y="66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170">
              <a:extLst>
                <a:ext uri="{FF2B5EF4-FFF2-40B4-BE49-F238E27FC236}">
                  <a16:creationId xmlns:a16="http://schemas.microsoft.com/office/drawing/2014/main" id="{E560FC10-4B1A-4B3C-A814-F72417BAD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624"/>
              <a:ext cx="351" cy="173"/>
            </a:xfrm>
            <a:custGeom>
              <a:avLst/>
              <a:gdLst>
                <a:gd name="T0" fmla="*/ 3 w 351"/>
                <a:gd name="T1" fmla="*/ 155 h 173"/>
                <a:gd name="T2" fmla="*/ 9 w 351"/>
                <a:gd name="T3" fmla="*/ 121 h 173"/>
                <a:gd name="T4" fmla="*/ 21 w 351"/>
                <a:gd name="T5" fmla="*/ 89 h 173"/>
                <a:gd name="T6" fmla="*/ 41 w 351"/>
                <a:gd name="T7" fmla="*/ 63 h 173"/>
                <a:gd name="T8" fmla="*/ 64 w 351"/>
                <a:gd name="T9" fmla="*/ 38 h 173"/>
                <a:gd name="T10" fmla="*/ 93 w 351"/>
                <a:gd name="T11" fmla="*/ 20 h 173"/>
                <a:gd name="T12" fmla="*/ 123 w 351"/>
                <a:gd name="T13" fmla="*/ 6 h 173"/>
                <a:gd name="T14" fmla="*/ 157 w 351"/>
                <a:gd name="T15" fmla="*/ 0 h 173"/>
                <a:gd name="T16" fmla="*/ 193 w 351"/>
                <a:gd name="T17" fmla="*/ 0 h 173"/>
                <a:gd name="T18" fmla="*/ 227 w 351"/>
                <a:gd name="T19" fmla="*/ 6 h 173"/>
                <a:gd name="T20" fmla="*/ 260 w 351"/>
                <a:gd name="T21" fmla="*/ 20 h 173"/>
                <a:gd name="T22" fmla="*/ 286 w 351"/>
                <a:gd name="T23" fmla="*/ 38 h 173"/>
                <a:gd name="T24" fmla="*/ 309 w 351"/>
                <a:gd name="T25" fmla="*/ 63 h 173"/>
                <a:gd name="T26" fmla="*/ 329 w 351"/>
                <a:gd name="T27" fmla="*/ 89 h 173"/>
                <a:gd name="T28" fmla="*/ 341 w 351"/>
                <a:gd name="T29" fmla="*/ 121 h 173"/>
                <a:gd name="T30" fmla="*/ 350 w 351"/>
                <a:gd name="T31" fmla="*/ 155 h 173"/>
                <a:gd name="T32" fmla="*/ 341 w 351"/>
                <a:gd name="T33" fmla="*/ 172 h 173"/>
                <a:gd name="T34" fmla="*/ 338 w 351"/>
                <a:gd name="T35" fmla="*/ 138 h 173"/>
                <a:gd name="T36" fmla="*/ 326 w 351"/>
                <a:gd name="T37" fmla="*/ 109 h 173"/>
                <a:gd name="T38" fmla="*/ 312 w 351"/>
                <a:gd name="T39" fmla="*/ 80 h 173"/>
                <a:gd name="T40" fmla="*/ 292 w 351"/>
                <a:gd name="T41" fmla="*/ 58 h 173"/>
                <a:gd name="T42" fmla="*/ 268 w 351"/>
                <a:gd name="T43" fmla="*/ 38 h 173"/>
                <a:gd name="T44" fmla="*/ 239 w 351"/>
                <a:gd name="T45" fmla="*/ 20 h 173"/>
                <a:gd name="T46" fmla="*/ 210 w 351"/>
                <a:gd name="T47" fmla="*/ 12 h 173"/>
                <a:gd name="T48" fmla="*/ 175 w 351"/>
                <a:gd name="T49" fmla="*/ 9 h 173"/>
                <a:gd name="T50" fmla="*/ 143 w 351"/>
                <a:gd name="T51" fmla="*/ 12 h 173"/>
                <a:gd name="T52" fmla="*/ 111 w 351"/>
                <a:gd name="T53" fmla="*/ 20 h 173"/>
                <a:gd name="T54" fmla="*/ 82 w 351"/>
                <a:gd name="T55" fmla="*/ 38 h 173"/>
                <a:gd name="T56" fmla="*/ 58 w 351"/>
                <a:gd name="T57" fmla="*/ 58 h 173"/>
                <a:gd name="T58" fmla="*/ 38 w 351"/>
                <a:gd name="T59" fmla="*/ 80 h 173"/>
                <a:gd name="T60" fmla="*/ 24 w 351"/>
                <a:gd name="T61" fmla="*/ 109 h 173"/>
                <a:gd name="T62" fmla="*/ 15 w 351"/>
                <a:gd name="T63" fmla="*/ 138 h 173"/>
                <a:gd name="T64" fmla="*/ 9 w 351"/>
                <a:gd name="T65" fmla="*/ 172 h 17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1"/>
                <a:gd name="T100" fmla="*/ 0 h 173"/>
                <a:gd name="T101" fmla="*/ 351 w 351"/>
                <a:gd name="T102" fmla="*/ 173 h 17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1" h="173">
                  <a:moveTo>
                    <a:pt x="0" y="172"/>
                  </a:moveTo>
                  <a:lnTo>
                    <a:pt x="3" y="155"/>
                  </a:lnTo>
                  <a:lnTo>
                    <a:pt x="6" y="138"/>
                  </a:lnTo>
                  <a:lnTo>
                    <a:pt x="9" y="121"/>
                  </a:lnTo>
                  <a:lnTo>
                    <a:pt x="15" y="103"/>
                  </a:lnTo>
                  <a:lnTo>
                    <a:pt x="21" y="89"/>
                  </a:lnTo>
                  <a:lnTo>
                    <a:pt x="29" y="74"/>
                  </a:lnTo>
                  <a:lnTo>
                    <a:pt x="41" y="63"/>
                  </a:lnTo>
                  <a:lnTo>
                    <a:pt x="52" y="49"/>
                  </a:lnTo>
                  <a:lnTo>
                    <a:pt x="64" y="38"/>
                  </a:lnTo>
                  <a:lnTo>
                    <a:pt x="79" y="29"/>
                  </a:lnTo>
                  <a:lnTo>
                    <a:pt x="93" y="20"/>
                  </a:lnTo>
                  <a:lnTo>
                    <a:pt x="108" y="12"/>
                  </a:lnTo>
                  <a:lnTo>
                    <a:pt x="123" y="6"/>
                  </a:lnTo>
                  <a:lnTo>
                    <a:pt x="140" y="3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93" y="0"/>
                  </a:lnTo>
                  <a:lnTo>
                    <a:pt x="210" y="3"/>
                  </a:lnTo>
                  <a:lnTo>
                    <a:pt x="227" y="6"/>
                  </a:lnTo>
                  <a:lnTo>
                    <a:pt x="245" y="12"/>
                  </a:lnTo>
                  <a:lnTo>
                    <a:pt x="260" y="20"/>
                  </a:lnTo>
                  <a:lnTo>
                    <a:pt x="274" y="29"/>
                  </a:lnTo>
                  <a:lnTo>
                    <a:pt x="286" y="38"/>
                  </a:lnTo>
                  <a:lnTo>
                    <a:pt x="300" y="49"/>
                  </a:lnTo>
                  <a:lnTo>
                    <a:pt x="309" y="63"/>
                  </a:lnTo>
                  <a:lnTo>
                    <a:pt x="321" y="74"/>
                  </a:lnTo>
                  <a:lnTo>
                    <a:pt x="329" y="89"/>
                  </a:lnTo>
                  <a:lnTo>
                    <a:pt x="335" y="103"/>
                  </a:lnTo>
                  <a:lnTo>
                    <a:pt x="341" y="121"/>
                  </a:lnTo>
                  <a:lnTo>
                    <a:pt x="347" y="138"/>
                  </a:lnTo>
                  <a:lnTo>
                    <a:pt x="350" y="155"/>
                  </a:lnTo>
                  <a:lnTo>
                    <a:pt x="350" y="172"/>
                  </a:lnTo>
                  <a:lnTo>
                    <a:pt x="341" y="172"/>
                  </a:lnTo>
                  <a:lnTo>
                    <a:pt x="341" y="155"/>
                  </a:lnTo>
                  <a:lnTo>
                    <a:pt x="338" y="138"/>
                  </a:lnTo>
                  <a:lnTo>
                    <a:pt x="332" y="124"/>
                  </a:lnTo>
                  <a:lnTo>
                    <a:pt x="326" y="109"/>
                  </a:lnTo>
                  <a:lnTo>
                    <a:pt x="321" y="95"/>
                  </a:lnTo>
                  <a:lnTo>
                    <a:pt x="312" y="80"/>
                  </a:lnTo>
                  <a:lnTo>
                    <a:pt x="303" y="69"/>
                  </a:lnTo>
                  <a:lnTo>
                    <a:pt x="292" y="58"/>
                  </a:lnTo>
                  <a:lnTo>
                    <a:pt x="280" y="46"/>
                  </a:lnTo>
                  <a:lnTo>
                    <a:pt x="268" y="38"/>
                  </a:lnTo>
                  <a:lnTo>
                    <a:pt x="254" y="29"/>
                  </a:lnTo>
                  <a:lnTo>
                    <a:pt x="239" y="20"/>
                  </a:lnTo>
                  <a:lnTo>
                    <a:pt x="224" y="14"/>
                  </a:lnTo>
                  <a:lnTo>
                    <a:pt x="210" y="12"/>
                  </a:lnTo>
                  <a:lnTo>
                    <a:pt x="193" y="9"/>
                  </a:lnTo>
                  <a:lnTo>
                    <a:pt x="175" y="9"/>
                  </a:lnTo>
                  <a:lnTo>
                    <a:pt x="157" y="9"/>
                  </a:lnTo>
                  <a:lnTo>
                    <a:pt x="143" y="12"/>
                  </a:lnTo>
                  <a:lnTo>
                    <a:pt x="126" y="14"/>
                  </a:lnTo>
                  <a:lnTo>
                    <a:pt x="111" y="20"/>
                  </a:lnTo>
                  <a:lnTo>
                    <a:pt x="96" y="29"/>
                  </a:lnTo>
                  <a:lnTo>
                    <a:pt x="82" y="38"/>
                  </a:lnTo>
                  <a:lnTo>
                    <a:pt x="70" y="46"/>
                  </a:lnTo>
                  <a:lnTo>
                    <a:pt x="58" y="58"/>
                  </a:lnTo>
                  <a:lnTo>
                    <a:pt x="47" y="69"/>
                  </a:lnTo>
                  <a:lnTo>
                    <a:pt x="38" y="80"/>
                  </a:lnTo>
                  <a:lnTo>
                    <a:pt x="29" y="95"/>
                  </a:lnTo>
                  <a:lnTo>
                    <a:pt x="24" y="109"/>
                  </a:lnTo>
                  <a:lnTo>
                    <a:pt x="18" y="124"/>
                  </a:lnTo>
                  <a:lnTo>
                    <a:pt x="15" y="138"/>
                  </a:lnTo>
                  <a:lnTo>
                    <a:pt x="12" y="155"/>
                  </a:lnTo>
                  <a:lnTo>
                    <a:pt x="9" y="172"/>
                  </a:lnTo>
                  <a:lnTo>
                    <a:pt x="0" y="172"/>
                  </a:lnTo>
                </a:path>
              </a:pathLst>
            </a:custGeom>
            <a:solidFill>
              <a:srgbClr val="FFC7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1" name="Freeform 171">
              <a:extLst>
                <a:ext uri="{FF2B5EF4-FFF2-40B4-BE49-F238E27FC236}">
                  <a16:creationId xmlns:a16="http://schemas.microsoft.com/office/drawing/2014/main" id="{A186B508-49B9-4224-BACD-B284702EB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3802"/>
              <a:ext cx="351" cy="173"/>
            </a:xfrm>
            <a:custGeom>
              <a:avLst/>
              <a:gdLst>
                <a:gd name="T0" fmla="*/ 0 w 351"/>
                <a:gd name="T1" fmla="*/ 0 h 173"/>
                <a:gd name="T2" fmla="*/ 6 w 351"/>
                <a:gd name="T3" fmla="*/ 35 h 173"/>
                <a:gd name="T4" fmla="*/ 15 w 351"/>
                <a:gd name="T5" fmla="*/ 66 h 173"/>
                <a:gd name="T6" fmla="*/ 29 w 351"/>
                <a:gd name="T7" fmla="*/ 95 h 173"/>
                <a:gd name="T8" fmla="*/ 52 w 351"/>
                <a:gd name="T9" fmla="*/ 121 h 173"/>
                <a:gd name="T10" fmla="*/ 79 w 351"/>
                <a:gd name="T11" fmla="*/ 143 h 173"/>
                <a:gd name="T12" fmla="*/ 108 w 351"/>
                <a:gd name="T13" fmla="*/ 158 h 173"/>
                <a:gd name="T14" fmla="*/ 140 w 351"/>
                <a:gd name="T15" fmla="*/ 169 h 173"/>
                <a:gd name="T16" fmla="*/ 175 w 351"/>
                <a:gd name="T17" fmla="*/ 172 h 173"/>
                <a:gd name="T18" fmla="*/ 210 w 351"/>
                <a:gd name="T19" fmla="*/ 169 h 173"/>
                <a:gd name="T20" fmla="*/ 245 w 351"/>
                <a:gd name="T21" fmla="*/ 158 h 173"/>
                <a:gd name="T22" fmla="*/ 274 w 351"/>
                <a:gd name="T23" fmla="*/ 143 h 173"/>
                <a:gd name="T24" fmla="*/ 300 w 351"/>
                <a:gd name="T25" fmla="*/ 121 h 173"/>
                <a:gd name="T26" fmla="*/ 321 w 351"/>
                <a:gd name="T27" fmla="*/ 95 h 173"/>
                <a:gd name="T28" fmla="*/ 335 w 351"/>
                <a:gd name="T29" fmla="*/ 66 h 173"/>
                <a:gd name="T30" fmla="*/ 347 w 351"/>
                <a:gd name="T31" fmla="*/ 35 h 173"/>
                <a:gd name="T32" fmla="*/ 350 w 351"/>
                <a:gd name="T33" fmla="*/ 0 h 173"/>
                <a:gd name="T34" fmla="*/ 341 w 351"/>
                <a:gd name="T35" fmla="*/ 17 h 173"/>
                <a:gd name="T36" fmla="*/ 332 w 351"/>
                <a:gd name="T37" fmla="*/ 49 h 173"/>
                <a:gd name="T38" fmla="*/ 321 w 351"/>
                <a:gd name="T39" fmla="*/ 77 h 173"/>
                <a:gd name="T40" fmla="*/ 303 w 351"/>
                <a:gd name="T41" fmla="*/ 103 h 173"/>
                <a:gd name="T42" fmla="*/ 280 w 351"/>
                <a:gd name="T43" fmla="*/ 127 h 173"/>
                <a:gd name="T44" fmla="*/ 254 w 351"/>
                <a:gd name="T45" fmla="*/ 143 h 173"/>
                <a:gd name="T46" fmla="*/ 224 w 351"/>
                <a:gd name="T47" fmla="*/ 155 h 173"/>
                <a:gd name="T48" fmla="*/ 193 w 351"/>
                <a:gd name="T49" fmla="*/ 160 h 173"/>
                <a:gd name="T50" fmla="*/ 157 w 351"/>
                <a:gd name="T51" fmla="*/ 160 h 173"/>
                <a:gd name="T52" fmla="*/ 126 w 351"/>
                <a:gd name="T53" fmla="*/ 155 h 173"/>
                <a:gd name="T54" fmla="*/ 96 w 351"/>
                <a:gd name="T55" fmla="*/ 143 h 173"/>
                <a:gd name="T56" fmla="*/ 70 w 351"/>
                <a:gd name="T57" fmla="*/ 127 h 173"/>
                <a:gd name="T58" fmla="*/ 47 w 351"/>
                <a:gd name="T59" fmla="*/ 103 h 173"/>
                <a:gd name="T60" fmla="*/ 29 w 351"/>
                <a:gd name="T61" fmla="*/ 77 h 173"/>
                <a:gd name="T62" fmla="*/ 18 w 351"/>
                <a:gd name="T63" fmla="*/ 49 h 173"/>
                <a:gd name="T64" fmla="*/ 12 w 351"/>
                <a:gd name="T65" fmla="*/ 17 h 173"/>
                <a:gd name="T66" fmla="*/ 0 w 351"/>
                <a:gd name="T67" fmla="*/ 0 h 17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51"/>
                <a:gd name="T103" fmla="*/ 0 h 173"/>
                <a:gd name="T104" fmla="*/ 351 w 351"/>
                <a:gd name="T105" fmla="*/ 173 h 17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51" h="173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6"/>
                  </a:lnTo>
                  <a:lnTo>
                    <a:pt x="21" y="80"/>
                  </a:lnTo>
                  <a:lnTo>
                    <a:pt x="29" y="95"/>
                  </a:lnTo>
                  <a:lnTo>
                    <a:pt x="41" y="109"/>
                  </a:lnTo>
                  <a:lnTo>
                    <a:pt x="52" y="121"/>
                  </a:lnTo>
                  <a:lnTo>
                    <a:pt x="64" y="132"/>
                  </a:lnTo>
                  <a:lnTo>
                    <a:pt x="79" y="143"/>
                  </a:lnTo>
                  <a:lnTo>
                    <a:pt x="93" y="152"/>
                  </a:lnTo>
                  <a:lnTo>
                    <a:pt x="108" y="158"/>
                  </a:lnTo>
                  <a:lnTo>
                    <a:pt x="123" y="163"/>
                  </a:lnTo>
                  <a:lnTo>
                    <a:pt x="140" y="169"/>
                  </a:lnTo>
                  <a:lnTo>
                    <a:pt x="157" y="169"/>
                  </a:lnTo>
                  <a:lnTo>
                    <a:pt x="175" y="172"/>
                  </a:lnTo>
                  <a:lnTo>
                    <a:pt x="193" y="169"/>
                  </a:lnTo>
                  <a:lnTo>
                    <a:pt x="210" y="169"/>
                  </a:lnTo>
                  <a:lnTo>
                    <a:pt x="227" y="163"/>
                  </a:lnTo>
                  <a:lnTo>
                    <a:pt x="245" y="158"/>
                  </a:lnTo>
                  <a:lnTo>
                    <a:pt x="260" y="152"/>
                  </a:lnTo>
                  <a:lnTo>
                    <a:pt x="274" y="143"/>
                  </a:lnTo>
                  <a:lnTo>
                    <a:pt x="286" y="132"/>
                  </a:lnTo>
                  <a:lnTo>
                    <a:pt x="300" y="121"/>
                  </a:lnTo>
                  <a:lnTo>
                    <a:pt x="309" y="109"/>
                  </a:lnTo>
                  <a:lnTo>
                    <a:pt x="321" y="95"/>
                  </a:lnTo>
                  <a:lnTo>
                    <a:pt x="329" y="80"/>
                  </a:lnTo>
                  <a:lnTo>
                    <a:pt x="335" y="66"/>
                  </a:lnTo>
                  <a:lnTo>
                    <a:pt x="341" y="52"/>
                  </a:lnTo>
                  <a:lnTo>
                    <a:pt x="347" y="35"/>
                  </a:lnTo>
                  <a:lnTo>
                    <a:pt x="350" y="17"/>
                  </a:lnTo>
                  <a:lnTo>
                    <a:pt x="350" y="0"/>
                  </a:lnTo>
                  <a:lnTo>
                    <a:pt x="341" y="0"/>
                  </a:lnTo>
                  <a:lnTo>
                    <a:pt x="341" y="17"/>
                  </a:lnTo>
                  <a:lnTo>
                    <a:pt x="338" y="32"/>
                  </a:lnTo>
                  <a:lnTo>
                    <a:pt x="332" y="49"/>
                  </a:lnTo>
                  <a:lnTo>
                    <a:pt x="326" y="63"/>
                  </a:lnTo>
                  <a:lnTo>
                    <a:pt x="321" y="77"/>
                  </a:lnTo>
                  <a:lnTo>
                    <a:pt x="312" y="92"/>
                  </a:lnTo>
                  <a:lnTo>
                    <a:pt x="303" y="103"/>
                  </a:lnTo>
                  <a:lnTo>
                    <a:pt x="292" y="115"/>
                  </a:lnTo>
                  <a:lnTo>
                    <a:pt x="280" y="127"/>
                  </a:lnTo>
                  <a:lnTo>
                    <a:pt x="268" y="135"/>
                  </a:lnTo>
                  <a:lnTo>
                    <a:pt x="254" y="143"/>
                  </a:lnTo>
                  <a:lnTo>
                    <a:pt x="239" y="149"/>
                  </a:lnTo>
                  <a:lnTo>
                    <a:pt x="224" y="155"/>
                  </a:lnTo>
                  <a:lnTo>
                    <a:pt x="210" y="158"/>
                  </a:lnTo>
                  <a:lnTo>
                    <a:pt x="193" y="160"/>
                  </a:lnTo>
                  <a:lnTo>
                    <a:pt x="175" y="163"/>
                  </a:lnTo>
                  <a:lnTo>
                    <a:pt x="157" y="160"/>
                  </a:lnTo>
                  <a:lnTo>
                    <a:pt x="143" y="158"/>
                  </a:lnTo>
                  <a:lnTo>
                    <a:pt x="126" y="155"/>
                  </a:lnTo>
                  <a:lnTo>
                    <a:pt x="111" y="149"/>
                  </a:lnTo>
                  <a:lnTo>
                    <a:pt x="96" y="143"/>
                  </a:lnTo>
                  <a:lnTo>
                    <a:pt x="82" y="135"/>
                  </a:lnTo>
                  <a:lnTo>
                    <a:pt x="70" y="127"/>
                  </a:lnTo>
                  <a:lnTo>
                    <a:pt x="58" y="115"/>
                  </a:lnTo>
                  <a:lnTo>
                    <a:pt x="47" y="103"/>
                  </a:lnTo>
                  <a:lnTo>
                    <a:pt x="38" y="92"/>
                  </a:lnTo>
                  <a:lnTo>
                    <a:pt x="29" y="77"/>
                  </a:lnTo>
                  <a:lnTo>
                    <a:pt x="24" y="63"/>
                  </a:lnTo>
                  <a:lnTo>
                    <a:pt x="18" y="49"/>
                  </a:lnTo>
                  <a:lnTo>
                    <a:pt x="15" y="32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Freeform 172">
              <a:extLst>
                <a:ext uri="{FF2B5EF4-FFF2-40B4-BE49-F238E27FC236}">
                  <a16:creationId xmlns:a16="http://schemas.microsoft.com/office/drawing/2014/main" id="{0A310859-4DE5-481F-8F86-6EF847E11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633"/>
              <a:ext cx="333" cy="164"/>
            </a:xfrm>
            <a:custGeom>
              <a:avLst/>
              <a:gdLst>
                <a:gd name="T0" fmla="*/ 3 w 333"/>
                <a:gd name="T1" fmla="*/ 146 h 164"/>
                <a:gd name="T2" fmla="*/ 9 w 333"/>
                <a:gd name="T3" fmla="*/ 115 h 164"/>
                <a:gd name="T4" fmla="*/ 21 w 333"/>
                <a:gd name="T5" fmla="*/ 86 h 164"/>
                <a:gd name="T6" fmla="*/ 38 w 333"/>
                <a:gd name="T7" fmla="*/ 60 h 164"/>
                <a:gd name="T8" fmla="*/ 61 w 333"/>
                <a:gd name="T9" fmla="*/ 38 h 164"/>
                <a:gd name="T10" fmla="*/ 87 w 333"/>
                <a:gd name="T11" fmla="*/ 20 h 164"/>
                <a:gd name="T12" fmla="*/ 117 w 333"/>
                <a:gd name="T13" fmla="*/ 6 h 164"/>
                <a:gd name="T14" fmla="*/ 148 w 333"/>
                <a:gd name="T15" fmla="*/ 0 h 164"/>
                <a:gd name="T16" fmla="*/ 184 w 333"/>
                <a:gd name="T17" fmla="*/ 0 h 164"/>
                <a:gd name="T18" fmla="*/ 215 w 333"/>
                <a:gd name="T19" fmla="*/ 6 h 164"/>
                <a:gd name="T20" fmla="*/ 245 w 333"/>
                <a:gd name="T21" fmla="*/ 20 h 164"/>
                <a:gd name="T22" fmla="*/ 271 w 333"/>
                <a:gd name="T23" fmla="*/ 38 h 164"/>
                <a:gd name="T24" fmla="*/ 294 w 333"/>
                <a:gd name="T25" fmla="*/ 60 h 164"/>
                <a:gd name="T26" fmla="*/ 311 w 333"/>
                <a:gd name="T27" fmla="*/ 86 h 164"/>
                <a:gd name="T28" fmla="*/ 323 w 333"/>
                <a:gd name="T29" fmla="*/ 115 h 164"/>
                <a:gd name="T30" fmla="*/ 332 w 333"/>
                <a:gd name="T31" fmla="*/ 146 h 164"/>
                <a:gd name="T32" fmla="*/ 323 w 333"/>
                <a:gd name="T33" fmla="*/ 163 h 164"/>
                <a:gd name="T34" fmla="*/ 320 w 333"/>
                <a:gd name="T35" fmla="*/ 132 h 164"/>
                <a:gd name="T36" fmla="*/ 308 w 333"/>
                <a:gd name="T37" fmla="*/ 103 h 164"/>
                <a:gd name="T38" fmla="*/ 294 w 333"/>
                <a:gd name="T39" fmla="*/ 77 h 164"/>
                <a:gd name="T40" fmla="*/ 277 w 333"/>
                <a:gd name="T41" fmla="*/ 54 h 164"/>
                <a:gd name="T42" fmla="*/ 253 w 333"/>
                <a:gd name="T43" fmla="*/ 35 h 164"/>
                <a:gd name="T44" fmla="*/ 227 w 333"/>
                <a:gd name="T45" fmla="*/ 20 h 164"/>
                <a:gd name="T46" fmla="*/ 198 w 333"/>
                <a:gd name="T47" fmla="*/ 12 h 164"/>
                <a:gd name="T48" fmla="*/ 166 w 333"/>
                <a:gd name="T49" fmla="*/ 9 h 164"/>
                <a:gd name="T50" fmla="*/ 134 w 333"/>
                <a:gd name="T51" fmla="*/ 12 h 164"/>
                <a:gd name="T52" fmla="*/ 105 w 333"/>
                <a:gd name="T53" fmla="*/ 20 h 164"/>
                <a:gd name="T54" fmla="*/ 79 w 333"/>
                <a:gd name="T55" fmla="*/ 35 h 164"/>
                <a:gd name="T56" fmla="*/ 55 w 333"/>
                <a:gd name="T57" fmla="*/ 54 h 164"/>
                <a:gd name="T58" fmla="*/ 38 w 333"/>
                <a:gd name="T59" fmla="*/ 77 h 164"/>
                <a:gd name="T60" fmla="*/ 24 w 333"/>
                <a:gd name="T61" fmla="*/ 103 h 164"/>
                <a:gd name="T62" fmla="*/ 15 w 333"/>
                <a:gd name="T63" fmla="*/ 132 h 164"/>
                <a:gd name="T64" fmla="*/ 12 w 333"/>
                <a:gd name="T65" fmla="*/ 163 h 16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33"/>
                <a:gd name="T100" fmla="*/ 0 h 164"/>
                <a:gd name="T101" fmla="*/ 333 w 333"/>
                <a:gd name="T102" fmla="*/ 164 h 16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33" h="164">
                  <a:moveTo>
                    <a:pt x="0" y="163"/>
                  </a:moveTo>
                  <a:lnTo>
                    <a:pt x="3" y="146"/>
                  </a:lnTo>
                  <a:lnTo>
                    <a:pt x="6" y="129"/>
                  </a:lnTo>
                  <a:lnTo>
                    <a:pt x="9" y="115"/>
                  </a:lnTo>
                  <a:lnTo>
                    <a:pt x="15" y="100"/>
                  </a:lnTo>
                  <a:lnTo>
                    <a:pt x="21" y="86"/>
                  </a:lnTo>
                  <a:lnTo>
                    <a:pt x="29" y="71"/>
                  </a:lnTo>
                  <a:lnTo>
                    <a:pt x="38" y="60"/>
                  </a:lnTo>
                  <a:lnTo>
                    <a:pt x="49" y="49"/>
                  </a:lnTo>
                  <a:lnTo>
                    <a:pt x="61" y="38"/>
                  </a:lnTo>
                  <a:lnTo>
                    <a:pt x="73" y="29"/>
                  </a:lnTo>
                  <a:lnTo>
                    <a:pt x="87" y="20"/>
                  </a:lnTo>
                  <a:lnTo>
                    <a:pt x="102" y="12"/>
                  </a:lnTo>
                  <a:lnTo>
                    <a:pt x="117" y="6"/>
                  </a:lnTo>
                  <a:lnTo>
                    <a:pt x="134" y="3"/>
                  </a:lnTo>
                  <a:lnTo>
                    <a:pt x="148" y="0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1" y="3"/>
                  </a:lnTo>
                  <a:lnTo>
                    <a:pt x="215" y="6"/>
                  </a:lnTo>
                  <a:lnTo>
                    <a:pt x="230" y="12"/>
                  </a:lnTo>
                  <a:lnTo>
                    <a:pt x="245" y="20"/>
                  </a:lnTo>
                  <a:lnTo>
                    <a:pt x="259" y="29"/>
                  </a:lnTo>
                  <a:lnTo>
                    <a:pt x="271" y="38"/>
                  </a:lnTo>
                  <a:lnTo>
                    <a:pt x="283" y="49"/>
                  </a:lnTo>
                  <a:lnTo>
                    <a:pt x="294" y="60"/>
                  </a:lnTo>
                  <a:lnTo>
                    <a:pt x="303" y="71"/>
                  </a:lnTo>
                  <a:lnTo>
                    <a:pt x="311" y="86"/>
                  </a:lnTo>
                  <a:lnTo>
                    <a:pt x="317" y="100"/>
                  </a:lnTo>
                  <a:lnTo>
                    <a:pt x="323" y="115"/>
                  </a:lnTo>
                  <a:lnTo>
                    <a:pt x="329" y="129"/>
                  </a:lnTo>
                  <a:lnTo>
                    <a:pt x="332" y="146"/>
                  </a:lnTo>
                  <a:lnTo>
                    <a:pt x="332" y="163"/>
                  </a:lnTo>
                  <a:lnTo>
                    <a:pt x="323" y="163"/>
                  </a:lnTo>
                  <a:lnTo>
                    <a:pt x="320" y="146"/>
                  </a:lnTo>
                  <a:lnTo>
                    <a:pt x="320" y="132"/>
                  </a:lnTo>
                  <a:lnTo>
                    <a:pt x="314" y="118"/>
                  </a:lnTo>
                  <a:lnTo>
                    <a:pt x="308" y="103"/>
                  </a:lnTo>
                  <a:lnTo>
                    <a:pt x="303" y="89"/>
                  </a:lnTo>
                  <a:lnTo>
                    <a:pt x="294" y="77"/>
                  </a:lnTo>
                  <a:lnTo>
                    <a:pt x="286" y="66"/>
                  </a:lnTo>
                  <a:lnTo>
                    <a:pt x="277" y="54"/>
                  </a:lnTo>
                  <a:lnTo>
                    <a:pt x="265" y="43"/>
                  </a:lnTo>
                  <a:lnTo>
                    <a:pt x="253" y="35"/>
                  </a:lnTo>
                  <a:lnTo>
                    <a:pt x="242" y="29"/>
                  </a:lnTo>
                  <a:lnTo>
                    <a:pt x="227" y="20"/>
                  </a:lnTo>
                  <a:lnTo>
                    <a:pt x="212" y="17"/>
                  </a:lnTo>
                  <a:lnTo>
                    <a:pt x="198" y="12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51" y="9"/>
                  </a:lnTo>
                  <a:lnTo>
                    <a:pt x="134" y="12"/>
                  </a:lnTo>
                  <a:lnTo>
                    <a:pt x="120" y="17"/>
                  </a:lnTo>
                  <a:lnTo>
                    <a:pt x="105" y="20"/>
                  </a:lnTo>
                  <a:lnTo>
                    <a:pt x="93" y="29"/>
                  </a:lnTo>
                  <a:lnTo>
                    <a:pt x="79" y="35"/>
                  </a:lnTo>
                  <a:lnTo>
                    <a:pt x="67" y="43"/>
                  </a:lnTo>
                  <a:lnTo>
                    <a:pt x="55" y="54"/>
                  </a:lnTo>
                  <a:lnTo>
                    <a:pt x="46" y="66"/>
                  </a:lnTo>
                  <a:lnTo>
                    <a:pt x="38" y="77"/>
                  </a:lnTo>
                  <a:lnTo>
                    <a:pt x="29" y="89"/>
                  </a:lnTo>
                  <a:lnTo>
                    <a:pt x="24" y="103"/>
                  </a:lnTo>
                  <a:lnTo>
                    <a:pt x="18" y="118"/>
                  </a:lnTo>
                  <a:lnTo>
                    <a:pt x="15" y="132"/>
                  </a:lnTo>
                  <a:lnTo>
                    <a:pt x="12" y="146"/>
                  </a:lnTo>
                  <a:lnTo>
                    <a:pt x="12" y="163"/>
                  </a:lnTo>
                  <a:lnTo>
                    <a:pt x="0" y="163"/>
                  </a:lnTo>
                </a:path>
              </a:pathLst>
            </a:custGeom>
            <a:solidFill>
              <a:srgbClr val="FFCC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173">
              <a:extLst>
                <a:ext uri="{FF2B5EF4-FFF2-40B4-BE49-F238E27FC236}">
                  <a16:creationId xmlns:a16="http://schemas.microsoft.com/office/drawing/2014/main" id="{19CA3B0A-0CD8-4BBE-A923-E5E27916A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802"/>
              <a:ext cx="333" cy="164"/>
            </a:xfrm>
            <a:custGeom>
              <a:avLst/>
              <a:gdLst>
                <a:gd name="T0" fmla="*/ 0 w 333"/>
                <a:gd name="T1" fmla="*/ 0 h 164"/>
                <a:gd name="T2" fmla="*/ 6 w 333"/>
                <a:gd name="T3" fmla="*/ 32 h 164"/>
                <a:gd name="T4" fmla="*/ 15 w 333"/>
                <a:gd name="T5" fmla="*/ 63 h 164"/>
                <a:gd name="T6" fmla="*/ 29 w 333"/>
                <a:gd name="T7" fmla="*/ 92 h 164"/>
                <a:gd name="T8" fmla="*/ 49 w 333"/>
                <a:gd name="T9" fmla="*/ 115 h 164"/>
                <a:gd name="T10" fmla="*/ 73 w 333"/>
                <a:gd name="T11" fmla="*/ 135 h 164"/>
                <a:gd name="T12" fmla="*/ 102 w 333"/>
                <a:gd name="T13" fmla="*/ 149 h 164"/>
                <a:gd name="T14" fmla="*/ 134 w 333"/>
                <a:gd name="T15" fmla="*/ 157 h 164"/>
                <a:gd name="T16" fmla="*/ 166 w 333"/>
                <a:gd name="T17" fmla="*/ 163 h 164"/>
                <a:gd name="T18" fmla="*/ 201 w 333"/>
                <a:gd name="T19" fmla="*/ 157 h 164"/>
                <a:gd name="T20" fmla="*/ 230 w 333"/>
                <a:gd name="T21" fmla="*/ 149 h 164"/>
                <a:gd name="T22" fmla="*/ 259 w 333"/>
                <a:gd name="T23" fmla="*/ 135 h 164"/>
                <a:gd name="T24" fmla="*/ 283 w 333"/>
                <a:gd name="T25" fmla="*/ 115 h 164"/>
                <a:gd name="T26" fmla="*/ 303 w 333"/>
                <a:gd name="T27" fmla="*/ 92 h 164"/>
                <a:gd name="T28" fmla="*/ 317 w 333"/>
                <a:gd name="T29" fmla="*/ 63 h 164"/>
                <a:gd name="T30" fmla="*/ 329 w 333"/>
                <a:gd name="T31" fmla="*/ 32 h 164"/>
                <a:gd name="T32" fmla="*/ 332 w 333"/>
                <a:gd name="T33" fmla="*/ 0 h 164"/>
                <a:gd name="T34" fmla="*/ 320 w 333"/>
                <a:gd name="T35" fmla="*/ 14 h 164"/>
                <a:gd name="T36" fmla="*/ 314 w 333"/>
                <a:gd name="T37" fmla="*/ 46 h 164"/>
                <a:gd name="T38" fmla="*/ 303 w 333"/>
                <a:gd name="T39" fmla="*/ 71 h 164"/>
                <a:gd name="T40" fmla="*/ 286 w 333"/>
                <a:gd name="T41" fmla="*/ 97 h 164"/>
                <a:gd name="T42" fmla="*/ 265 w 333"/>
                <a:gd name="T43" fmla="*/ 118 h 164"/>
                <a:gd name="T44" fmla="*/ 242 w 333"/>
                <a:gd name="T45" fmla="*/ 135 h 164"/>
                <a:gd name="T46" fmla="*/ 212 w 333"/>
                <a:gd name="T47" fmla="*/ 146 h 164"/>
                <a:gd name="T48" fmla="*/ 184 w 333"/>
                <a:gd name="T49" fmla="*/ 151 h 164"/>
                <a:gd name="T50" fmla="*/ 151 w 333"/>
                <a:gd name="T51" fmla="*/ 151 h 164"/>
                <a:gd name="T52" fmla="*/ 120 w 333"/>
                <a:gd name="T53" fmla="*/ 146 h 164"/>
                <a:gd name="T54" fmla="*/ 93 w 333"/>
                <a:gd name="T55" fmla="*/ 135 h 164"/>
                <a:gd name="T56" fmla="*/ 67 w 333"/>
                <a:gd name="T57" fmla="*/ 118 h 164"/>
                <a:gd name="T58" fmla="*/ 46 w 333"/>
                <a:gd name="T59" fmla="*/ 97 h 164"/>
                <a:gd name="T60" fmla="*/ 29 w 333"/>
                <a:gd name="T61" fmla="*/ 71 h 164"/>
                <a:gd name="T62" fmla="*/ 18 w 333"/>
                <a:gd name="T63" fmla="*/ 46 h 164"/>
                <a:gd name="T64" fmla="*/ 12 w 333"/>
                <a:gd name="T65" fmla="*/ 14 h 164"/>
                <a:gd name="T66" fmla="*/ 0 w 333"/>
                <a:gd name="T67" fmla="*/ 0 h 16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33"/>
                <a:gd name="T103" fmla="*/ 0 h 164"/>
                <a:gd name="T104" fmla="*/ 333 w 333"/>
                <a:gd name="T105" fmla="*/ 164 h 16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33" h="164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2"/>
                  </a:lnTo>
                  <a:lnTo>
                    <a:pt x="9" y="49"/>
                  </a:lnTo>
                  <a:lnTo>
                    <a:pt x="15" y="63"/>
                  </a:lnTo>
                  <a:lnTo>
                    <a:pt x="21" y="77"/>
                  </a:lnTo>
                  <a:lnTo>
                    <a:pt x="29" y="92"/>
                  </a:lnTo>
                  <a:lnTo>
                    <a:pt x="38" y="103"/>
                  </a:lnTo>
                  <a:lnTo>
                    <a:pt x="49" y="115"/>
                  </a:lnTo>
                  <a:lnTo>
                    <a:pt x="61" y="126"/>
                  </a:lnTo>
                  <a:lnTo>
                    <a:pt x="73" y="135"/>
                  </a:lnTo>
                  <a:lnTo>
                    <a:pt x="87" y="143"/>
                  </a:lnTo>
                  <a:lnTo>
                    <a:pt x="102" y="149"/>
                  </a:lnTo>
                  <a:lnTo>
                    <a:pt x="117" y="154"/>
                  </a:lnTo>
                  <a:lnTo>
                    <a:pt x="134" y="157"/>
                  </a:lnTo>
                  <a:lnTo>
                    <a:pt x="148" y="160"/>
                  </a:lnTo>
                  <a:lnTo>
                    <a:pt x="166" y="163"/>
                  </a:lnTo>
                  <a:lnTo>
                    <a:pt x="184" y="160"/>
                  </a:lnTo>
                  <a:lnTo>
                    <a:pt x="201" y="157"/>
                  </a:lnTo>
                  <a:lnTo>
                    <a:pt x="215" y="154"/>
                  </a:lnTo>
                  <a:lnTo>
                    <a:pt x="230" y="149"/>
                  </a:lnTo>
                  <a:lnTo>
                    <a:pt x="245" y="143"/>
                  </a:lnTo>
                  <a:lnTo>
                    <a:pt x="259" y="135"/>
                  </a:lnTo>
                  <a:lnTo>
                    <a:pt x="271" y="126"/>
                  </a:lnTo>
                  <a:lnTo>
                    <a:pt x="283" y="115"/>
                  </a:lnTo>
                  <a:lnTo>
                    <a:pt x="294" y="103"/>
                  </a:lnTo>
                  <a:lnTo>
                    <a:pt x="303" y="92"/>
                  </a:lnTo>
                  <a:lnTo>
                    <a:pt x="311" y="77"/>
                  </a:lnTo>
                  <a:lnTo>
                    <a:pt x="317" y="63"/>
                  </a:lnTo>
                  <a:lnTo>
                    <a:pt x="323" y="49"/>
                  </a:lnTo>
                  <a:lnTo>
                    <a:pt x="329" y="32"/>
                  </a:lnTo>
                  <a:lnTo>
                    <a:pt x="332" y="17"/>
                  </a:lnTo>
                  <a:lnTo>
                    <a:pt x="332" y="0"/>
                  </a:lnTo>
                  <a:lnTo>
                    <a:pt x="323" y="0"/>
                  </a:lnTo>
                  <a:lnTo>
                    <a:pt x="320" y="14"/>
                  </a:lnTo>
                  <a:lnTo>
                    <a:pt x="320" y="32"/>
                  </a:lnTo>
                  <a:lnTo>
                    <a:pt x="314" y="46"/>
                  </a:lnTo>
                  <a:lnTo>
                    <a:pt x="308" y="60"/>
                  </a:lnTo>
                  <a:lnTo>
                    <a:pt x="303" y="71"/>
                  </a:lnTo>
                  <a:lnTo>
                    <a:pt x="294" y="86"/>
                  </a:lnTo>
                  <a:lnTo>
                    <a:pt x="286" y="97"/>
                  </a:lnTo>
                  <a:lnTo>
                    <a:pt x="277" y="109"/>
                  </a:lnTo>
                  <a:lnTo>
                    <a:pt x="265" y="118"/>
                  </a:lnTo>
                  <a:lnTo>
                    <a:pt x="253" y="126"/>
                  </a:lnTo>
                  <a:lnTo>
                    <a:pt x="242" y="135"/>
                  </a:lnTo>
                  <a:lnTo>
                    <a:pt x="227" y="141"/>
                  </a:lnTo>
                  <a:lnTo>
                    <a:pt x="212" y="146"/>
                  </a:lnTo>
                  <a:lnTo>
                    <a:pt x="198" y="149"/>
                  </a:lnTo>
                  <a:lnTo>
                    <a:pt x="184" y="151"/>
                  </a:lnTo>
                  <a:lnTo>
                    <a:pt x="166" y="151"/>
                  </a:lnTo>
                  <a:lnTo>
                    <a:pt x="151" y="151"/>
                  </a:lnTo>
                  <a:lnTo>
                    <a:pt x="134" y="149"/>
                  </a:lnTo>
                  <a:lnTo>
                    <a:pt x="120" y="146"/>
                  </a:lnTo>
                  <a:lnTo>
                    <a:pt x="105" y="141"/>
                  </a:lnTo>
                  <a:lnTo>
                    <a:pt x="93" y="135"/>
                  </a:lnTo>
                  <a:lnTo>
                    <a:pt x="79" y="126"/>
                  </a:lnTo>
                  <a:lnTo>
                    <a:pt x="67" y="118"/>
                  </a:lnTo>
                  <a:lnTo>
                    <a:pt x="55" y="109"/>
                  </a:lnTo>
                  <a:lnTo>
                    <a:pt x="46" y="97"/>
                  </a:lnTo>
                  <a:lnTo>
                    <a:pt x="38" y="86"/>
                  </a:lnTo>
                  <a:lnTo>
                    <a:pt x="29" y="71"/>
                  </a:lnTo>
                  <a:lnTo>
                    <a:pt x="24" y="60"/>
                  </a:lnTo>
                  <a:lnTo>
                    <a:pt x="18" y="46"/>
                  </a:lnTo>
                  <a:lnTo>
                    <a:pt x="15" y="32"/>
                  </a:lnTo>
                  <a:lnTo>
                    <a:pt x="12" y="14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CC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174">
              <a:extLst>
                <a:ext uri="{FF2B5EF4-FFF2-40B4-BE49-F238E27FC236}">
                  <a16:creationId xmlns:a16="http://schemas.microsoft.com/office/drawing/2014/main" id="{BE55AD87-5D61-4F7C-BE41-CB47F39D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642"/>
              <a:ext cx="312" cy="155"/>
            </a:xfrm>
            <a:custGeom>
              <a:avLst/>
              <a:gdLst>
                <a:gd name="T0" fmla="*/ 0 w 312"/>
                <a:gd name="T1" fmla="*/ 137 h 155"/>
                <a:gd name="T2" fmla="*/ 6 w 312"/>
                <a:gd name="T3" fmla="*/ 109 h 155"/>
                <a:gd name="T4" fmla="*/ 18 w 312"/>
                <a:gd name="T5" fmla="*/ 80 h 155"/>
                <a:gd name="T6" fmla="*/ 34 w 312"/>
                <a:gd name="T7" fmla="*/ 57 h 155"/>
                <a:gd name="T8" fmla="*/ 55 w 312"/>
                <a:gd name="T9" fmla="*/ 35 h 155"/>
                <a:gd name="T10" fmla="*/ 81 w 312"/>
                <a:gd name="T11" fmla="*/ 20 h 155"/>
                <a:gd name="T12" fmla="*/ 108 w 312"/>
                <a:gd name="T13" fmla="*/ 9 h 155"/>
                <a:gd name="T14" fmla="*/ 139 w 312"/>
                <a:gd name="T15" fmla="*/ 0 h 155"/>
                <a:gd name="T16" fmla="*/ 172 w 312"/>
                <a:gd name="T17" fmla="*/ 0 h 155"/>
                <a:gd name="T18" fmla="*/ 200 w 312"/>
                <a:gd name="T19" fmla="*/ 9 h 155"/>
                <a:gd name="T20" fmla="*/ 230 w 312"/>
                <a:gd name="T21" fmla="*/ 20 h 155"/>
                <a:gd name="T22" fmla="*/ 253 w 312"/>
                <a:gd name="T23" fmla="*/ 35 h 155"/>
                <a:gd name="T24" fmla="*/ 274 w 312"/>
                <a:gd name="T25" fmla="*/ 57 h 155"/>
                <a:gd name="T26" fmla="*/ 290 w 312"/>
                <a:gd name="T27" fmla="*/ 80 h 155"/>
                <a:gd name="T28" fmla="*/ 302 w 312"/>
                <a:gd name="T29" fmla="*/ 109 h 155"/>
                <a:gd name="T30" fmla="*/ 308 w 312"/>
                <a:gd name="T31" fmla="*/ 137 h 155"/>
                <a:gd name="T32" fmla="*/ 302 w 312"/>
                <a:gd name="T33" fmla="*/ 154 h 155"/>
                <a:gd name="T34" fmla="*/ 296 w 312"/>
                <a:gd name="T35" fmla="*/ 126 h 155"/>
                <a:gd name="T36" fmla="*/ 290 w 312"/>
                <a:gd name="T37" fmla="*/ 97 h 155"/>
                <a:gd name="T38" fmla="*/ 276 w 312"/>
                <a:gd name="T39" fmla="*/ 74 h 155"/>
                <a:gd name="T40" fmla="*/ 259 w 312"/>
                <a:gd name="T41" fmla="*/ 51 h 155"/>
                <a:gd name="T42" fmla="*/ 235 w 312"/>
                <a:gd name="T43" fmla="*/ 35 h 155"/>
                <a:gd name="T44" fmla="*/ 212 w 312"/>
                <a:gd name="T45" fmla="*/ 20 h 155"/>
                <a:gd name="T46" fmla="*/ 183 w 312"/>
                <a:gd name="T47" fmla="*/ 12 h 155"/>
                <a:gd name="T48" fmla="*/ 154 w 312"/>
                <a:gd name="T49" fmla="*/ 9 h 155"/>
                <a:gd name="T50" fmla="*/ 125 w 312"/>
                <a:gd name="T51" fmla="*/ 12 h 155"/>
                <a:gd name="T52" fmla="*/ 99 w 312"/>
                <a:gd name="T53" fmla="*/ 20 h 155"/>
                <a:gd name="T54" fmla="*/ 73 w 312"/>
                <a:gd name="T55" fmla="*/ 35 h 155"/>
                <a:gd name="T56" fmla="*/ 52 w 312"/>
                <a:gd name="T57" fmla="*/ 51 h 155"/>
                <a:gd name="T58" fmla="*/ 31 w 312"/>
                <a:gd name="T59" fmla="*/ 74 h 155"/>
                <a:gd name="T60" fmla="*/ 21 w 312"/>
                <a:gd name="T61" fmla="*/ 97 h 155"/>
                <a:gd name="T62" fmla="*/ 12 w 312"/>
                <a:gd name="T63" fmla="*/ 126 h 155"/>
                <a:gd name="T64" fmla="*/ 9 w 312"/>
                <a:gd name="T65" fmla="*/ 154 h 1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2"/>
                <a:gd name="T100" fmla="*/ 0 h 155"/>
                <a:gd name="T101" fmla="*/ 312 w 312"/>
                <a:gd name="T102" fmla="*/ 155 h 15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2" h="155">
                  <a:moveTo>
                    <a:pt x="0" y="154"/>
                  </a:moveTo>
                  <a:lnTo>
                    <a:pt x="0" y="137"/>
                  </a:lnTo>
                  <a:lnTo>
                    <a:pt x="3" y="123"/>
                  </a:lnTo>
                  <a:lnTo>
                    <a:pt x="6" y="109"/>
                  </a:lnTo>
                  <a:lnTo>
                    <a:pt x="12" y="94"/>
                  </a:lnTo>
                  <a:lnTo>
                    <a:pt x="18" y="80"/>
                  </a:lnTo>
                  <a:lnTo>
                    <a:pt x="26" y="68"/>
                  </a:lnTo>
                  <a:lnTo>
                    <a:pt x="34" y="57"/>
                  </a:lnTo>
                  <a:lnTo>
                    <a:pt x="43" y="45"/>
                  </a:lnTo>
                  <a:lnTo>
                    <a:pt x="55" y="35"/>
                  </a:lnTo>
                  <a:lnTo>
                    <a:pt x="67" y="26"/>
                  </a:lnTo>
                  <a:lnTo>
                    <a:pt x="81" y="20"/>
                  </a:lnTo>
                  <a:lnTo>
                    <a:pt x="93" y="12"/>
                  </a:lnTo>
                  <a:lnTo>
                    <a:pt x="108" y="9"/>
                  </a:lnTo>
                  <a:lnTo>
                    <a:pt x="122" y="3"/>
                  </a:lnTo>
                  <a:lnTo>
                    <a:pt x="139" y="0"/>
                  </a:lnTo>
                  <a:lnTo>
                    <a:pt x="154" y="0"/>
                  </a:lnTo>
                  <a:lnTo>
                    <a:pt x="172" y="0"/>
                  </a:lnTo>
                  <a:lnTo>
                    <a:pt x="186" y="3"/>
                  </a:lnTo>
                  <a:lnTo>
                    <a:pt x="200" y="9"/>
                  </a:lnTo>
                  <a:lnTo>
                    <a:pt x="215" y="12"/>
                  </a:lnTo>
                  <a:lnTo>
                    <a:pt x="230" y="20"/>
                  </a:lnTo>
                  <a:lnTo>
                    <a:pt x="241" y="26"/>
                  </a:lnTo>
                  <a:lnTo>
                    <a:pt x="253" y="35"/>
                  </a:lnTo>
                  <a:lnTo>
                    <a:pt x="265" y="45"/>
                  </a:lnTo>
                  <a:lnTo>
                    <a:pt x="274" y="57"/>
                  </a:lnTo>
                  <a:lnTo>
                    <a:pt x="282" y="68"/>
                  </a:lnTo>
                  <a:lnTo>
                    <a:pt x="290" y="80"/>
                  </a:lnTo>
                  <a:lnTo>
                    <a:pt x="296" y="94"/>
                  </a:lnTo>
                  <a:lnTo>
                    <a:pt x="302" y="109"/>
                  </a:lnTo>
                  <a:lnTo>
                    <a:pt x="308" y="123"/>
                  </a:lnTo>
                  <a:lnTo>
                    <a:pt x="308" y="137"/>
                  </a:lnTo>
                  <a:lnTo>
                    <a:pt x="311" y="154"/>
                  </a:lnTo>
                  <a:lnTo>
                    <a:pt x="302" y="154"/>
                  </a:lnTo>
                  <a:lnTo>
                    <a:pt x="299" y="140"/>
                  </a:lnTo>
                  <a:lnTo>
                    <a:pt x="296" y="126"/>
                  </a:lnTo>
                  <a:lnTo>
                    <a:pt x="293" y="112"/>
                  </a:lnTo>
                  <a:lnTo>
                    <a:pt x="290" y="97"/>
                  </a:lnTo>
                  <a:lnTo>
                    <a:pt x="282" y="86"/>
                  </a:lnTo>
                  <a:lnTo>
                    <a:pt x="276" y="74"/>
                  </a:lnTo>
                  <a:lnTo>
                    <a:pt x="268" y="63"/>
                  </a:lnTo>
                  <a:lnTo>
                    <a:pt x="259" y="51"/>
                  </a:lnTo>
                  <a:lnTo>
                    <a:pt x="247" y="42"/>
                  </a:lnTo>
                  <a:lnTo>
                    <a:pt x="235" y="35"/>
                  </a:lnTo>
                  <a:lnTo>
                    <a:pt x="224" y="26"/>
                  </a:lnTo>
                  <a:lnTo>
                    <a:pt x="212" y="20"/>
                  </a:lnTo>
                  <a:lnTo>
                    <a:pt x="197" y="17"/>
                  </a:lnTo>
                  <a:lnTo>
                    <a:pt x="183" y="12"/>
                  </a:lnTo>
                  <a:lnTo>
                    <a:pt x="169" y="12"/>
                  </a:lnTo>
                  <a:lnTo>
                    <a:pt x="154" y="9"/>
                  </a:lnTo>
                  <a:lnTo>
                    <a:pt x="139" y="12"/>
                  </a:lnTo>
                  <a:lnTo>
                    <a:pt x="125" y="12"/>
                  </a:lnTo>
                  <a:lnTo>
                    <a:pt x="110" y="17"/>
                  </a:lnTo>
                  <a:lnTo>
                    <a:pt x="99" y="20"/>
                  </a:lnTo>
                  <a:lnTo>
                    <a:pt x="84" y="26"/>
                  </a:lnTo>
                  <a:lnTo>
                    <a:pt x="73" y="35"/>
                  </a:lnTo>
                  <a:lnTo>
                    <a:pt x="61" y="42"/>
                  </a:lnTo>
                  <a:lnTo>
                    <a:pt x="52" y="51"/>
                  </a:lnTo>
                  <a:lnTo>
                    <a:pt x="40" y="63"/>
                  </a:lnTo>
                  <a:lnTo>
                    <a:pt x="31" y="74"/>
                  </a:lnTo>
                  <a:lnTo>
                    <a:pt x="26" y="86"/>
                  </a:lnTo>
                  <a:lnTo>
                    <a:pt x="21" y="97"/>
                  </a:lnTo>
                  <a:lnTo>
                    <a:pt x="15" y="112"/>
                  </a:lnTo>
                  <a:lnTo>
                    <a:pt x="12" y="126"/>
                  </a:lnTo>
                  <a:lnTo>
                    <a:pt x="9" y="140"/>
                  </a:lnTo>
                  <a:lnTo>
                    <a:pt x="9" y="154"/>
                  </a:lnTo>
                  <a:lnTo>
                    <a:pt x="0" y="154"/>
                  </a:lnTo>
                </a:path>
              </a:pathLst>
            </a:custGeom>
            <a:solidFill>
              <a:srgbClr val="FFD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Freeform 175">
              <a:extLst>
                <a:ext uri="{FF2B5EF4-FFF2-40B4-BE49-F238E27FC236}">
                  <a16:creationId xmlns:a16="http://schemas.microsoft.com/office/drawing/2014/main" id="{5053C05D-7AEC-4277-8A29-16CDF6FA9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802"/>
              <a:ext cx="312" cy="152"/>
            </a:xfrm>
            <a:custGeom>
              <a:avLst/>
              <a:gdLst>
                <a:gd name="T0" fmla="*/ 0 w 312"/>
                <a:gd name="T1" fmla="*/ 0 h 152"/>
                <a:gd name="T2" fmla="*/ 3 w 312"/>
                <a:gd name="T3" fmla="*/ 32 h 152"/>
                <a:gd name="T4" fmla="*/ 12 w 312"/>
                <a:gd name="T5" fmla="*/ 60 h 152"/>
                <a:gd name="T6" fmla="*/ 26 w 312"/>
                <a:gd name="T7" fmla="*/ 86 h 152"/>
                <a:gd name="T8" fmla="*/ 43 w 312"/>
                <a:gd name="T9" fmla="*/ 109 h 152"/>
                <a:gd name="T10" fmla="*/ 67 w 312"/>
                <a:gd name="T11" fmla="*/ 126 h 152"/>
                <a:gd name="T12" fmla="*/ 93 w 312"/>
                <a:gd name="T13" fmla="*/ 140 h 152"/>
                <a:gd name="T14" fmla="*/ 122 w 312"/>
                <a:gd name="T15" fmla="*/ 148 h 152"/>
                <a:gd name="T16" fmla="*/ 154 w 312"/>
                <a:gd name="T17" fmla="*/ 151 h 152"/>
                <a:gd name="T18" fmla="*/ 186 w 312"/>
                <a:gd name="T19" fmla="*/ 148 h 152"/>
                <a:gd name="T20" fmla="*/ 215 w 312"/>
                <a:gd name="T21" fmla="*/ 140 h 152"/>
                <a:gd name="T22" fmla="*/ 241 w 312"/>
                <a:gd name="T23" fmla="*/ 126 h 152"/>
                <a:gd name="T24" fmla="*/ 265 w 312"/>
                <a:gd name="T25" fmla="*/ 109 h 152"/>
                <a:gd name="T26" fmla="*/ 282 w 312"/>
                <a:gd name="T27" fmla="*/ 86 h 152"/>
                <a:gd name="T28" fmla="*/ 296 w 312"/>
                <a:gd name="T29" fmla="*/ 60 h 152"/>
                <a:gd name="T30" fmla="*/ 308 w 312"/>
                <a:gd name="T31" fmla="*/ 32 h 152"/>
                <a:gd name="T32" fmla="*/ 311 w 312"/>
                <a:gd name="T33" fmla="*/ 0 h 152"/>
                <a:gd name="T34" fmla="*/ 299 w 312"/>
                <a:gd name="T35" fmla="*/ 14 h 152"/>
                <a:gd name="T36" fmla="*/ 293 w 312"/>
                <a:gd name="T37" fmla="*/ 43 h 152"/>
                <a:gd name="T38" fmla="*/ 282 w 312"/>
                <a:gd name="T39" fmla="*/ 68 h 152"/>
                <a:gd name="T40" fmla="*/ 268 w 312"/>
                <a:gd name="T41" fmla="*/ 91 h 152"/>
                <a:gd name="T42" fmla="*/ 247 w 312"/>
                <a:gd name="T43" fmla="*/ 112 h 152"/>
                <a:gd name="T44" fmla="*/ 224 w 312"/>
                <a:gd name="T45" fmla="*/ 126 h 152"/>
                <a:gd name="T46" fmla="*/ 197 w 312"/>
                <a:gd name="T47" fmla="*/ 138 h 152"/>
                <a:gd name="T48" fmla="*/ 169 w 312"/>
                <a:gd name="T49" fmla="*/ 142 h 152"/>
                <a:gd name="T50" fmla="*/ 139 w 312"/>
                <a:gd name="T51" fmla="*/ 142 h 152"/>
                <a:gd name="T52" fmla="*/ 110 w 312"/>
                <a:gd name="T53" fmla="*/ 138 h 152"/>
                <a:gd name="T54" fmla="*/ 84 w 312"/>
                <a:gd name="T55" fmla="*/ 126 h 152"/>
                <a:gd name="T56" fmla="*/ 61 w 312"/>
                <a:gd name="T57" fmla="*/ 112 h 152"/>
                <a:gd name="T58" fmla="*/ 40 w 312"/>
                <a:gd name="T59" fmla="*/ 91 h 152"/>
                <a:gd name="T60" fmla="*/ 26 w 312"/>
                <a:gd name="T61" fmla="*/ 68 h 152"/>
                <a:gd name="T62" fmla="*/ 15 w 312"/>
                <a:gd name="T63" fmla="*/ 43 h 152"/>
                <a:gd name="T64" fmla="*/ 9 w 312"/>
                <a:gd name="T65" fmla="*/ 14 h 152"/>
                <a:gd name="T66" fmla="*/ 0 w 312"/>
                <a:gd name="T67" fmla="*/ 0 h 15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12"/>
                <a:gd name="T103" fmla="*/ 0 h 152"/>
                <a:gd name="T104" fmla="*/ 312 w 312"/>
                <a:gd name="T105" fmla="*/ 152 h 15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12" h="152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32"/>
                  </a:lnTo>
                  <a:lnTo>
                    <a:pt x="6" y="46"/>
                  </a:lnTo>
                  <a:lnTo>
                    <a:pt x="12" y="60"/>
                  </a:lnTo>
                  <a:lnTo>
                    <a:pt x="18" y="71"/>
                  </a:lnTo>
                  <a:lnTo>
                    <a:pt x="26" y="86"/>
                  </a:lnTo>
                  <a:lnTo>
                    <a:pt x="34" y="97"/>
                  </a:lnTo>
                  <a:lnTo>
                    <a:pt x="43" y="109"/>
                  </a:lnTo>
                  <a:lnTo>
                    <a:pt x="55" y="117"/>
                  </a:lnTo>
                  <a:lnTo>
                    <a:pt x="67" y="126"/>
                  </a:lnTo>
                  <a:lnTo>
                    <a:pt x="81" y="135"/>
                  </a:lnTo>
                  <a:lnTo>
                    <a:pt x="93" y="140"/>
                  </a:lnTo>
                  <a:lnTo>
                    <a:pt x="108" y="145"/>
                  </a:lnTo>
                  <a:lnTo>
                    <a:pt x="122" y="148"/>
                  </a:lnTo>
                  <a:lnTo>
                    <a:pt x="139" y="151"/>
                  </a:lnTo>
                  <a:lnTo>
                    <a:pt x="154" y="151"/>
                  </a:lnTo>
                  <a:lnTo>
                    <a:pt x="172" y="151"/>
                  </a:lnTo>
                  <a:lnTo>
                    <a:pt x="186" y="148"/>
                  </a:lnTo>
                  <a:lnTo>
                    <a:pt x="200" y="145"/>
                  </a:lnTo>
                  <a:lnTo>
                    <a:pt x="215" y="140"/>
                  </a:lnTo>
                  <a:lnTo>
                    <a:pt x="230" y="135"/>
                  </a:lnTo>
                  <a:lnTo>
                    <a:pt x="241" y="126"/>
                  </a:lnTo>
                  <a:lnTo>
                    <a:pt x="253" y="117"/>
                  </a:lnTo>
                  <a:lnTo>
                    <a:pt x="265" y="109"/>
                  </a:lnTo>
                  <a:lnTo>
                    <a:pt x="274" y="97"/>
                  </a:lnTo>
                  <a:lnTo>
                    <a:pt x="282" y="86"/>
                  </a:lnTo>
                  <a:lnTo>
                    <a:pt x="290" y="71"/>
                  </a:lnTo>
                  <a:lnTo>
                    <a:pt x="296" y="60"/>
                  </a:lnTo>
                  <a:lnTo>
                    <a:pt x="302" y="46"/>
                  </a:lnTo>
                  <a:lnTo>
                    <a:pt x="308" y="32"/>
                  </a:lnTo>
                  <a:lnTo>
                    <a:pt x="308" y="14"/>
                  </a:lnTo>
                  <a:lnTo>
                    <a:pt x="311" y="0"/>
                  </a:lnTo>
                  <a:lnTo>
                    <a:pt x="302" y="0"/>
                  </a:lnTo>
                  <a:lnTo>
                    <a:pt x="299" y="14"/>
                  </a:lnTo>
                  <a:lnTo>
                    <a:pt x="296" y="29"/>
                  </a:lnTo>
                  <a:lnTo>
                    <a:pt x="293" y="43"/>
                  </a:lnTo>
                  <a:lnTo>
                    <a:pt x="290" y="55"/>
                  </a:lnTo>
                  <a:lnTo>
                    <a:pt x="282" y="68"/>
                  </a:lnTo>
                  <a:lnTo>
                    <a:pt x="276" y="80"/>
                  </a:lnTo>
                  <a:lnTo>
                    <a:pt x="268" y="91"/>
                  </a:lnTo>
                  <a:lnTo>
                    <a:pt x="259" y="100"/>
                  </a:lnTo>
                  <a:lnTo>
                    <a:pt x="247" y="112"/>
                  </a:lnTo>
                  <a:lnTo>
                    <a:pt x="235" y="120"/>
                  </a:lnTo>
                  <a:lnTo>
                    <a:pt x="224" y="126"/>
                  </a:lnTo>
                  <a:lnTo>
                    <a:pt x="212" y="132"/>
                  </a:lnTo>
                  <a:lnTo>
                    <a:pt x="197" y="138"/>
                  </a:lnTo>
                  <a:lnTo>
                    <a:pt x="183" y="140"/>
                  </a:lnTo>
                  <a:lnTo>
                    <a:pt x="169" y="142"/>
                  </a:lnTo>
                  <a:lnTo>
                    <a:pt x="154" y="142"/>
                  </a:lnTo>
                  <a:lnTo>
                    <a:pt x="139" y="142"/>
                  </a:lnTo>
                  <a:lnTo>
                    <a:pt x="125" y="140"/>
                  </a:lnTo>
                  <a:lnTo>
                    <a:pt x="110" y="138"/>
                  </a:lnTo>
                  <a:lnTo>
                    <a:pt x="99" y="132"/>
                  </a:lnTo>
                  <a:lnTo>
                    <a:pt x="84" y="126"/>
                  </a:lnTo>
                  <a:lnTo>
                    <a:pt x="73" y="120"/>
                  </a:lnTo>
                  <a:lnTo>
                    <a:pt x="61" y="112"/>
                  </a:lnTo>
                  <a:lnTo>
                    <a:pt x="52" y="100"/>
                  </a:lnTo>
                  <a:lnTo>
                    <a:pt x="40" y="91"/>
                  </a:lnTo>
                  <a:lnTo>
                    <a:pt x="31" y="80"/>
                  </a:lnTo>
                  <a:lnTo>
                    <a:pt x="26" y="68"/>
                  </a:lnTo>
                  <a:lnTo>
                    <a:pt x="21" y="55"/>
                  </a:lnTo>
                  <a:lnTo>
                    <a:pt x="15" y="43"/>
                  </a:lnTo>
                  <a:lnTo>
                    <a:pt x="12" y="29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176">
              <a:extLst>
                <a:ext uri="{FF2B5EF4-FFF2-40B4-BE49-F238E27FC236}">
                  <a16:creationId xmlns:a16="http://schemas.microsoft.com/office/drawing/2014/main" id="{CFD3CAFB-4F03-4618-8B6F-1063A1BEE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651"/>
              <a:ext cx="294" cy="146"/>
            </a:xfrm>
            <a:custGeom>
              <a:avLst/>
              <a:gdLst>
                <a:gd name="T0" fmla="*/ 0 w 294"/>
                <a:gd name="T1" fmla="*/ 131 h 146"/>
                <a:gd name="T2" fmla="*/ 6 w 294"/>
                <a:gd name="T3" fmla="*/ 103 h 146"/>
                <a:gd name="T4" fmla="*/ 18 w 294"/>
                <a:gd name="T5" fmla="*/ 77 h 146"/>
                <a:gd name="T6" fmla="*/ 31 w 294"/>
                <a:gd name="T7" fmla="*/ 54 h 146"/>
                <a:gd name="T8" fmla="*/ 52 w 294"/>
                <a:gd name="T9" fmla="*/ 34 h 146"/>
                <a:gd name="T10" fmla="*/ 75 w 294"/>
                <a:gd name="T11" fmla="*/ 17 h 146"/>
                <a:gd name="T12" fmla="*/ 101 w 294"/>
                <a:gd name="T13" fmla="*/ 9 h 146"/>
                <a:gd name="T14" fmla="*/ 130 w 294"/>
                <a:gd name="T15" fmla="*/ 3 h 146"/>
                <a:gd name="T16" fmla="*/ 160 w 294"/>
                <a:gd name="T17" fmla="*/ 3 h 146"/>
                <a:gd name="T18" fmla="*/ 188 w 294"/>
                <a:gd name="T19" fmla="*/ 9 h 146"/>
                <a:gd name="T20" fmla="*/ 215 w 294"/>
                <a:gd name="T21" fmla="*/ 17 h 146"/>
                <a:gd name="T22" fmla="*/ 238 w 294"/>
                <a:gd name="T23" fmla="*/ 34 h 146"/>
                <a:gd name="T24" fmla="*/ 259 w 294"/>
                <a:gd name="T25" fmla="*/ 54 h 146"/>
                <a:gd name="T26" fmla="*/ 272 w 294"/>
                <a:gd name="T27" fmla="*/ 77 h 146"/>
                <a:gd name="T28" fmla="*/ 284 w 294"/>
                <a:gd name="T29" fmla="*/ 103 h 146"/>
                <a:gd name="T30" fmla="*/ 290 w 294"/>
                <a:gd name="T31" fmla="*/ 131 h 146"/>
                <a:gd name="T32" fmla="*/ 281 w 294"/>
                <a:gd name="T33" fmla="*/ 145 h 146"/>
                <a:gd name="T34" fmla="*/ 281 w 294"/>
                <a:gd name="T35" fmla="*/ 117 h 146"/>
                <a:gd name="T36" fmla="*/ 272 w 294"/>
                <a:gd name="T37" fmla="*/ 91 h 146"/>
                <a:gd name="T38" fmla="*/ 262 w 294"/>
                <a:gd name="T39" fmla="*/ 68 h 146"/>
                <a:gd name="T40" fmla="*/ 244 w 294"/>
                <a:gd name="T41" fmla="*/ 48 h 146"/>
                <a:gd name="T42" fmla="*/ 223 w 294"/>
                <a:gd name="T43" fmla="*/ 32 h 146"/>
                <a:gd name="T44" fmla="*/ 200 w 294"/>
                <a:gd name="T45" fmla="*/ 20 h 146"/>
                <a:gd name="T46" fmla="*/ 174 w 294"/>
                <a:gd name="T47" fmla="*/ 12 h 146"/>
                <a:gd name="T48" fmla="*/ 145 w 294"/>
                <a:gd name="T49" fmla="*/ 9 h 146"/>
                <a:gd name="T50" fmla="*/ 119 w 294"/>
                <a:gd name="T51" fmla="*/ 12 h 146"/>
                <a:gd name="T52" fmla="*/ 93 w 294"/>
                <a:gd name="T53" fmla="*/ 20 h 146"/>
                <a:gd name="T54" fmla="*/ 70 w 294"/>
                <a:gd name="T55" fmla="*/ 32 h 146"/>
                <a:gd name="T56" fmla="*/ 49 w 294"/>
                <a:gd name="T57" fmla="*/ 48 h 146"/>
                <a:gd name="T58" fmla="*/ 31 w 294"/>
                <a:gd name="T59" fmla="*/ 68 h 146"/>
                <a:gd name="T60" fmla="*/ 20 w 294"/>
                <a:gd name="T61" fmla="*/ 91 h 146"/>
                <a:gd name="T62" fmla="*/ 12 w 294"/>
                <a:gd name="T63" fmla="*/ 117 h 146"/>
                <a:gd name="T64" fmla="*/ 9 w 294"/>
                <a:gd name="T65" fmla="*/ 145 h 1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4"/>
                <a:gd name="T100" fmla="*/ 0 h 146"/>
                <a:gd name="T101" fmla="*/ 294 w 294"/>
                <a:gd name="T102" fmla="*/ 146 h 14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4" h="146">
                  <a:moveTo>
                    <a:pt x="0" y="145"/>
                  </a:moveTo>
                  <a:lnTo>
                    <a:pt x="0" y="131"/>
                  </a:lnTo>
                  <a:lnTo>
                    <a:pt x="3" y="117"/>
                  </a:lnTo>
                  <a:lnTo>
                    <a:pt x="6" y="103"/>
                  </a:lnTo>
                  <a:lnTo>
                    <a:pt x="12" y="88"/>
                  </a:lnTo>
                  <a:lnTo>
                    <a:pt x="18" y="77"/>
                  </a:lnTo>
                  <a:lnTo>
                    <a:pt x="23" y="65"/>
                  </a:lnTo>
                  <a:lnTo>
                    <a:pt x="31" y="54"/>
                  </a:lnTo>
                  <a:lnTo>
                    <a:pt x="43" y="42"/>
                  </a:lnTo>
                  <a:lnTo>
                    <a:pt x="52" y="34"/>
                  </a:lnTo>
                  <a:lnTo>
                    <a:pt x="64" y="26"/>
                  </a:lnTo>
                  <a:lnTo>
                    <a:pt x="75" y="17"/>
                  </a:lnTo>
                  <a:lnTo>
                    <a:pt x="90" y="12"/>
                  </a:lnTo>
                  <a:lnTo>
                    <a:pt x="101" y="9"/>
                  </a:lnTo>
                  <a:lnTo>
                    <a:pt x="116" y="3"/>
                  </a:lnTo>
                  <a:lnTo>
                    <a:pt x="130" y="3"/>
                  </a:lnTo>
                  <a:lnTo>
                    <a:pt x="145" y="0"/>
                  </a:lnTo>
                  <a:lnTo>
                    <a:pt x="160" y="3"/>
                  </a:lnTo>
                  <a:lnTo>
                    <a:pt x="174" y="3"/>
                  </a:lnTo>
                  <a:lnTo>
                    <a:pt x="188" y="9"/>
                  </a:lnTo>
                  <a:lnTo>
                    <a:pt x="203" y="12"/>
                  </a:lnTo>
                  <a:lnTo>
                    <a:pt x="215" y="17"/>
                  </a:lnTo>
                  <a:lnTo>
                    <a:pt x="226" y="26"/>
                  </a:lnTo>
                  <a:lnTo>
                    <a:pt x="238" y="34"/>
                  </a:lnTo>
                  <a:lnTo>
                    <a:pt x="250" y="42"/>
                  </a:lnTo>
                  <a:lnTo>
                    <a:pt x="259" y="54"/>
                  </a:lnTo>
                  <a:lnTo>
                    <a:pt x="267" y="65"/>
                  </a:lnTo>
                  <a:lnTo>
                    <a:pt x="272" y="77"/>
                  </a:lnTo>
                  <a:lnTo>
                    <a:pt x="281" y="88"/>
                  </a:lnTo>
                  <a:lnTo>
                    <a:pt x="284" y="103"/>
                  </a:lnTo>
                  <a:lnTo>
                    <a:pt x="287" y="117"/>
                  </a:lnTo>
                  <a:lnTo>
                    <a:pt x="290" y="131"/>
                  </a:lnTo>
                  <a:lnTo>
                    <a:pt x="293" y="145"/>
                  </a:lnTo>
                  <a:lnTo>
                    <a:pt x="281" y="145"/>
                  </a:lnTo>
                  <a:lnTo>
                    <a:pt x="281" y="131"/>
                  </a:lnTo>
                  <a:lnTo>
                    <a:pt x="281" y="117"/>
                  </a:lnTo>
                  <a:lnTo>
                    <a:pt x="275" y="106"/>
                  </a:lnTo>
                  <a:lnTo>
                    <a:pt x="272" y="91"/>
                  </a:lnTo>
                  <a:lnTo>
                    <a:pt x="267" y="80"/>
                  </a:lnTo>
                  <a:lnTo>
                    <a:pt x="262" y="68"/>
                  </a:lnTo>
                  <a:lnTo>
                    <a:pt x="253" y="60"/>
                  </a:lnTo>
                  <a:lnTo>
                    <a:pt x="244" y="48"/>
                  </a:lnTo>
                  <a:lnTo>
                    <a:pt x="232" y="39"/>
                  </a:lnTo>
                  <a:lnTo>
                    <a:pt x="223" y="32"/>
                  </a:lnTo>
                  <a:lnTo>
                    <a:pt x="212" y="26"/>
                  </a:lnTo>
                  <a:lnTo>
                    <a:pt x="200" y="20"/>
                  </a:lnTo>
                  <a:lnTo>
                    <a:pt x="185" y="17"/>
                  </a:lnTo>
                  <a:lnTo>
                    <a:pt x="174" y="12"/>
                  </a:lnTo>
                  <a:lnTo>
                    <a:pt x="160" y="12"/>
                  </a:lnTo>
                  <a:lnTo>
                    <a:pt x="145" y="9"/>
                  </a:lnTo>
                  <a:lnTo>
                    <a:pt x="130" y="12"/>
                  </a:lnTo>
                  <a:lnTo>
                    <a:pt x="119" y="12"/>
                  </a:lnTo>
                  <a:lnTo>
                    <a:pt x="104" y="17"/>
                  </a:lnTo>
                  <a:lnTo>
                    <a:pt x="93" y="20"/>
                  </a:lnTo>
                  <a:lnTo>
                    <a:pt x="81" y="26"/>
                  </a:lnTo>
                  <a:lnTo>
                    <a:pt x="70" y="32"/>
                  </a:lnTo>
                  <a:lnTo>
                    <a:pt x="58" y="39"/>
                  </a:lnTo>
                  <a:lnTo>
                    <a:pt x="49" y="48"/>
                  </a:lnTo>
                  <a:lnTo>
                    <a:pt x="40" y="60"/>
                  </a:lnTo>
                  <a:lnTo>
                    <a:pt x="31" y="68"/>
                  </a:lnTo>
                  <a:lnTo>
                    <a:pt x="25" y="80"/>
                  </a:lnTo>
                  <a:lnTo>
                    <a:pt x="20" y="91"/>
                  </a:lnTo>
                  <a:lnTo>
                    <a:pt x="15" y="106"/>
                  </a:lnTo>
                  <a:lnTo>
                    <a:pt x="12" y="117"/>
                  </a:lnTo>
                  <a:lnTo>
                    <a:pt x="9" y="131"/>
                  </a:lnTo>
                  <a:lnTo>
                    <a:pt x="9" y="145"/>
                  </a:lnTo>
                  <a:lnTo>
                    <a:pt x="0" y="145"/>
                  </a:lnTo>
                </a:path>
              </a:pathLst>
            </a:custGeom>
            <a:solidFill>
              <a:srgbClr val="FFD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177">
              <a:extLst>
                <a:ext uri="{FF2B5EF4-FFF2-40B4-BE49-F238E27FC236}">
                  <a16:creationId xmlns:a16="http://schemas.microsoft.com/office/drawing/2014/main" id="{2849826C-9DDA-4208-B689-E110F766B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3802"/>
              <a:ext cx="294" cy="143"/>
            </a:xfrm>
            <a:custGeom>
              <a:avLst/>
              <a:gdLst>
                <a:gd name="T0" fmla="*/ 0 w 294"/>
                <a:gd name="T1" fmla="*/ 0 h 143"/>
                <a:gd name="T2" fmla="*/ 3 w 294"/>
                <a:gd name="T3" fmla="*/ 29 h 143"/>
                <a:gd name="T4" fmla="*/ 12 w 294"/>
                <a:gd name="T5" fmla="*/ 55 h 143"/>
                <a:gd name="T6" fmla="*/ 23 w 294"/>
                <a:gd name="T7" fmla="*/ 80 h 143"/>
                <a:gd name="T8" fmla="*/ 43 w 294"/>
                <a:gd name="T9" fmla="*/ 100 h 143"/>
                <a:gd name="T10" fmla="*/ 64 w 294"/>
                <a:gd name="T11" fmla="*/ 120 h 143"/>
                <a:gd name="T12" fmla="*/ 90 w 294"/>
                <a:gd name="T13" fmla="*/ 131 h 143"/>
                <a:gd name="T14" fmla="*/ 116 w 294"/>
                <a:gd name="T15" fmla="*/ 140 h 143"/>
                <a:gd name="T16" fmla="*/ 145 w 294"/>
                <a:gd name="T17" fmla="*/ 142 h 143"/>
                <a:gd name="T18" fmla="*/ 174 w 294"/>
                <a:gd name="T19" fmla="*/ 140 h 143"/>
                <a:gd name="T20" fmla="*/ 203 w 294"/>
                <a:gd name="T21" fmla="*/ 131 h 143"/>
                <a:gd name="T22" fmla="*/ 226 w 294"/>
                <a:gd name="T23" fmla="*/ 120 h 143"/>
                <a:gd name="T24" fmla="*/ 250 w 294"/>
                <a:gd name="T25" fmla="*/ 100 h 143"/>
                <a:gd name="T26" fmla="*/ 267 w 294"/>
                <a:gd name="T27" fmla="*/ 80 h 143"/>
                <a:gd name="T28" fmla="*/ 281 w 294"/>
                <a:gd name="T29" fmla="*/ 55 h 143"/>
                <a:gd name="T30" fmla="*/ 287 w 294"/>
                <a:gd name="T31" fmla="*/ 29 h 143"/>
                <a:gd name="T32" fmla="*/ 293 w 294"/>
                <a:gd name="T33" fmla="*/ 0 h 143"/>
                <a:gd name="T34" fmla="*/ 281 w 294"/>
                <a:gd name="T35" fmla="*/ 14 h 143"/>
                <a:gd name="T36" fmla="*/ 275 w 294"/>
                <a:gd name="T37" fmla="*/ 40 h 143"/>
                <a:gd name="T38" fmla="*/ 267 w 294"/>
                <a:gd name="T39" fmla="*/ 62 h 143"/>
                <a:gd name="T40" fmla="*/ 253 w 294"/>
                <a:gd name="T41" fmla="*/ 85 h 143"/>
                <a:gd name="T42" fmla="*/ 232 w 294"/>
                <a:gd name="T43" fmla="*/ 103 h 143"/>
                <a:gd name="T44" fmla="*/ 212 w 294"/>
                <a:gd name="T45" fmla="*/ 117 h 143"/>
                <a:gd name="T46" fmla="*/ 185 w 294"/>
                <a:gd name="T47" fmla="*/ 129 h 143"/>
                <a:gd name="T48" fmla="*/ 160 w 294"/>
                <a:gd name="T49" fmla="*/ 134 h 143"/>
                <a:gd name="T50" fmla="*/ 130 w 294"/>
                <a:gd name="T51" fmla="*/ 134 h 143"/>
                <a:gd name="T52" fmla="*/ 104 w 294"/>
                <a:gd name="T53" fmla="*/ 129 h 143"/>
                <a:gd name="T54" fmla="*/ 81 w 294"/>
                <a:gd name="T55" fmla="*/ 117 h 143"/>
                <a:gd name="T56" fmla="*/ 58 w 294"/>
                <a:gd name="T57" fmla="*/ 103 h 143"/>
                <a:gd name="T58" fmla="*/ 40 w 294"/>
                <a:gd name="T59" fmla="*/ 85 h 143"/>
                <a:gd name="T60" fmla="*/ 25 w 294"/>
                <a:gd name="T61" fmla="*/ 62 h 143"/>
                <a:gd name="T62" fmla="*/ 15 w 294"/>
                <a:gd name="T63" fmla="*/ 40 h 143"/>
                <a:gd name="T64" fmla="*/ 9 w 294"/>
                <a:gd name="T65" fmla="*/ 14 h 143"/>
                <a:gd name="T66" fmla="*/ 0 w 294"/>
                <a:gd name="T67" fmla="*/ 0 h 1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94"/>
                <a:gd name="T103" fmla="*/ 0 h 143"/>
                <a:gd name="T104" fmla="*/ 294 w 294"/>
                <a:gd name="T105" fmla="*/ 143 h 1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94" h="143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9"/>
                  </a:lnTo>
                  <a:lnTo>
                    <a:pt x="6" y="43"/>
                  </a:lnTo>
                  <a:lnTo>
                    <a:pt x="12" y="55"/>
                  </a:lnTo>
                  <a:lnTo>
                    <a:pt x="18" y="68"/>
                  </a:lnTo>
                  <a:lnTo>
                    <a:pt x="23" y="80"/>
                  </a:lnTo>
                  <a:lnTo>
                    <a:pt x="31" y="91"/>
                  </a:lnTo>
                  <a:lnTo>
                    <a:pt x="43" y="100"/>
                  </a:lnTo>
                  <a:lnTo>
                    <a:pt x="52" y="111"/>
                  </a:lnTo>
                  <a:lnTo>
                    <a:pt x="64" y="120"/>
                  </a:lnTo>
                  <a:lnTo>
                    <a:pt x="75" y="126"/>
                  </a:lnTo>
                  <a:lnTo>
                    <a:pt x="90" y="131"/>
                  </a:lnTo>
                  <a:lnTo>
                    <a:pt x="101" y="137"/>
                  </a:lnTo>
                  <a:lnTo>
                    <a:pt x="116" y="140"/>
                  </a:lnTo>
                  <a:lnTo>
                    <a:pt x="130" y="142"/>
                  </a:lnTo>
                  <a:lnTo>
                    <a:pt x="145" y="142"/>
                  </a:lnTo>
                  <a:lnTo>
                    <a:pt x="160" y="142"/>
                  </a:lnTo>
                  <a:lnTo>
                    <a:pt x="174" y="140"/>
                  </a:lnTo>
                  <a:lnTo>
                    <a:pt x="188" y="137"/>
                  </a:lnTo>
                  <a:lnTo>
                    <a:pt x="203" y="131"/>
                  </a:lnTo>
                  <a:lnTo>
                    <a:pt x="215" y="126"/>
                  </a:lnTo>
                  <a:lnTo>
                    <a:pt x="226" y="120"/>
                  </a:lnTo>
                  <a:lnTo>
                    <a:pt x="238" y="111"/>
                  </a:lnTo>
                  <a:lnTo>
                    <a:pt x="250" y="100"/>
                  </a:lnTo>
                  <a:lnTo>
                    <a:pt x="259" y="91"/>
                  </a:lnTo>
                  <a:lnTo>
                    <a:pt x="267" y="80"/>
                  </a:lnTo>
                  <a:lnTo>
                    <a:pt x="272" y="68"/>
                  </a:lnTo>
                  <a:lnTo>
                    <a:pt x="281" y="55"/>
                  </a:lnTo>
                  <a:lnTo>
                    <a:pt x="284" y="43"/>
                  </a:lnTo>
                  <a:lnTo>
                    <a:pt x="287" y="29"/>
                  </a:lnTo>
                  <a:lnTo>
                    <a:pt x="290" y="14"/>
                  </a:lnTo>
                  <a:lnTo>
                    <a:pt x="293" y="0"/>
                  </a:lnTo>
                  <a:lnTo>
                    <a:pt x="281" y="0"/>
                  </a:lnTo>
                  <a:lnTo>
                    <a:pt x="281" y="14"/>
                  </a:lnTo>
                  <a:lnTo>
                    <a:pt x="281" y="26"/>
                  </a:lnTo>
                  <a:lnTo>
                    <a:pt x="275" y="40"/>
                  </a:lnTo>
                  <a:lnTo>
                    <a:pt x="272" y="52"/>
                  </a:lnTo>
                  <a:lnTo>
                    <a:pt x="267" y="62"/>
                  </a:lnTo>
                  <a:lnTo>
                    <a:pt x="262" y="74"/>
                  </a:lnTo>
                  <a:lnTo>
                    <a:pt x="253" y="85"/>
                  </a:lnTo>
                  <a:lnTo>
                    <a:pt x="244" y="94"/>
                  </a:lnTo>
                  <a:lnTo>
                    <a:pt x="232" y="103"/>
                  </a:lnTo>
                  <a:lnTo>
                    <a:pt x="223" y="111"/>
                  </a:lnTo>
                  <a:lnTo>
                    <a:pt x="212" y="117"/>
                  </a:lnTo>
                  <a:lnTo>
                    <a:pt x="200" y="123"/>
                  </a:lnTo>
                  <a:lnTo>
                    <a:pt x="185" y="129"/>
                  </a:lnTo>
                  <a:lnTo>
                    <a:pt x="174" y="131"/>
                  </a:lnTo>
                  <a:lnTo>
                    <a:pt x="160" y="134"/>
                  </a:lnTo>
                  <a:lnTo>
                    <a:pt x="145" y="134"/>
                  </a:lnTo>
                  <a:lnTo>
                    <a:pt x="130" y="134"/>
                  </a:lnTo>
                  <a:lnTo>
                    <a:pt x="119" y="131"/>
                  </a:lnTo>
                  <a:lnTo>
                    <a:pt x="104" y="129"/>
                  </a:lnTo>
                  <a:lnTo>
                    <a:pt x="93" y="123"/>
                  </a:lnTo>
                  <a:lnTo>
                    <a:pt x="81" y="117"/>
                  </a:lnTo>
                  <a:lnTo>
                    <a:pt x="70" y="111"/>
                  </a:lnTo>
                  <a:lnTo>
                    <a:pt x="58" y="103"/>
                  </a:lnTo>
                  <a:lnTo>
                    <a:pt x="49" y="94"/>
                  </a:lnTo>
                  <a:lnTo>
                    <a:pt x="40" y="85"/>
                  </a:lnTo>
                  <a:lnTo>
                    <a:pt x="31" y="74"/>
                  </a:lnTo>
                  <a:lnTo>
                    <a:pt x="25" y="62"/>
                  </a:lnTo>
                  <a:lnTo>
                    <a:pt x="20" y="52"/>
                  </a:lnTo>
                  <a:lnTo>
                    <a:pt x="15" y="40"/>
                  </a:lnTo>
                  <a:lnTo>
                    <a:pt x="12" y="26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4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178">
              <a:extLst>
                <a:ext uri="{FF2B5EF4-FFF2-40B4-BE49-F238E27FC236}">
                  <a16:creationId xmlns:a16="http://schemas.microsoft.com/office/drawing/2014/main" id="{37A8E76D-0161-4362-95EF-AF3EF892F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3660"/>
              <a:ext cx="273" cy="137"/>
            </a:xfrm>
            <a:custGeom>
              <a:avLst/>
              <a:gdLst>
                <a:gd name="T0" fmla="*/ 0 w 273"/>
                <a:gd name="T1" fmla="*/ 122 h 137"/>
                <a:gd name="T2" fmla="*/ 6 w 273"/>
                <a:gd name="T3" fmla="*/ 97 h 137"/>
                <a:gd name="T4" fmla="*/ 17 w 273"/>
                <a:gd name="T5" fmla="*/ 71 h 137"/>
                <a:gd name="T6" fmla="*/ 31 w 273"/>
                <a:gd name="T7" fmla="*/ 51 h 137"/>
                <a:gd name="T8" fmla="*/ 49 w 273"/>
                <a:gd name="T9" fmla="*/ 31 h 137"/>
                <a:gd name="T10" fmla="*/ 72 w 273"/>
                <a:gd name="T11" fmla="*/ 17 h 137"/>
                <a:gd name="T12" fmla="*/ 95 w 273"/>
                <a:gd name="T13" fmla="*/ 9 h 137"/>
                <a:gd name="T14" fmla="*/ 121 w 273"/>
                <a:gd name="T15" fmla="*/ 3 h 137"/>
                <a:gd name="T16" fmla="*/ 151 w 273"/>
                <a:gd name="T17" fmla="*/ 3 h 137"/>
                <a:gd name="T18" fmla="*/ 176 w 273"/>
                <a:gd name="T19" fmla="*/ 9 h 137"/>
                <a:gd name="T20" fmla="*/ 203 w 273"/>
                <a:gd name="T21" fmla="*/ 17 h 137"/>
                <a:gd name="T22" fmla="*/ 223 w 273"/>
                <a:gd name="T23" fmla="*/ 31 h 137"/>
                <a:gd name="T24" fmla="*/ 244 w 273"/>
                <a:gd name="T25" fmla="*/ 51 h 137"/>
                <a:gd name="T26" fmla="*/ 257 w 273"/>
                <a:gd name="T27" fmla="*/ 71 h 137"/>
                <a:gd name="T28" fmla="*/ 266 w 273"/>
                <a:gd name="T29" fmla="*/ 97 h 137"/>
                <a:gd name="T30" fmla="*/ 272 w 273"/>
                <a:gd name="T31" fmla="*/ 122 h 137"/>
                <a:gd name="T32" fmla="*/ 263 w 273"/>
                <a:gd name="T33" fmla="*/ 136 h 137"/>
                <a:gd name="T34" fmla="*/ 260 w 273"/>
                <a:gd name="T35" fmla="*/ 110 h 137"/>
                <a:gd name="T36" fmla="*/ 255 w 273"/>
                <a:gd name="T37" fmla="*/ 88 h 137"/>
                <a:gd name="T38" fmla="*/ 244 w 273"/>
                <a:gd name="T39" fmla="*/ 65 h 137"/>
                <a:gd name="T40" fmla="*/ 226 w 273"/>
                <a:gd name="T41" fmla="*/ 48 h 137"/>
                <a:gd name="T42" fmla="*/ 208 w 273"/>
                <a:gd name="T43" fmla="*/ 31 h 137"/>
                <a:gd name="T44" fmla="*/ 185 w 273"/>
                <a:gd name="T45" fmla="*/ 20 h 137"/>
                <a:gd name="T46" fmla="*/ 162 w 273"/>
                <a:gd name="T47" fmla="*/ 11 h 137"/>
                <a:gd name="T48" fmla="*/ 136 w 273"/>
                <a:gd name="T49" fmla="*/ 11 h 137"/>
                <a:gd name="T50" fmla="*/ 110 w 273"/>
                <a:gd name="T51" fmla="*/ 11 h 137"/>
                <a:gd name="T52" fmla="*/ 87 w 273"/>
                <a:gd name="T53" fmla="*/ 20 h 137"/>
                <a:gd name="T54" fmla="*/ 67 w 273"/>
                <a:gd name="T55" fmla="*/ 31 h 137"/>
                <a:gd name="T56" fmla="*/ 46 w 273"/>
                <a:gd name="T57" fmla="*/ 48 h 137"/>
                <a:gd name="T58" fmla="*/ 31 w 273"/>
                <a:gd name="T59" fmla="*/ 65 h 137"/>
                <a:gd name="T60" fmla="*/ 20 w 273"/>
                <a:gd name="T61" fmla="*/ 88 h 137"/>
                <a:gd name="T62" fmla="*/ 11 w 273"/>
                <a:gd name="T63" fmla="*/ 110 h 137"/>
                <a:gd name="T64" fmla="*/ 9 w 273"/>
                <a:gd name="T65" fmla="*/ 136 h 1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3"/>
                <a:gd name="T100" fmla="*/ 0 h 137"/>
                <a:gd name="T101" fmla="*/ 273 w 273"/>
                <a:gd name="T102" fmla="*/ 137 h 1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3" h="137">
                  <a:moveTo>
                    <a:pt x="0" y="136"/>
                  </a:moveTo>
                  <a:lnTo>
                    <a:pt x="0" y="122"/>
                  </a:lnTo>
                  <a:lnTo>
                    <a:pt x="3" y="108"/>
                  </a:lnTo>
                  <a:lnTo>
                    <a:pt x="6" y="97"/>
                  </a:lnTo>
                  <a:lnTo>
                    <a:pt x="11" y="82"/>
                  </a:lnTo>
                  <a:lnTo>
                    <a:pt x="17" y="71"/>
                  </a:lnTo>
                  <a:lnTo>
                    <a:pt x="23" y="59"/>
                  </a:lnTo>
                  <a:lnTo>
                    <a:pt x="31" y="51"/>
                  </a:lnTo>
                  <a:lnTo>
                    <a:pt x="40" y="39"/>
                  </a:lnTo>
                  <a:lnTo>
                    <a:pt x="49" y="31"/>
                  </a:lnTo>
                  <a:lnTo>
                    <a:pt x="61" y="23"/>
                  </a:lnTo>
                  <a:lnTo>
                    <a:pt x="72" y="17"/>
                  </a:lnTo>
                  <a:lnTo>
                    <a:pt x="84" y="11"/>
                  </a:lnTo>
                  <a:lnTo>
                    <a:pt x="95" y="9"/>
                  </a:lnTo>
                  <a:lnTo>
                    <a:pt x="110" y="3"/>
                  </a:lnTo>
                  <a:lnTo>
                    <a:pt x="121" y="3"/>
                  </a:lnTo>
                  <a:lnTo>
                    <a:pt x="136" y="0"/>
                  </a:lnTo>
                  <a:lnTo>
                    <a:pt x="151" y="3"/>
                  </a:lnTo>
                  <a:lnTo>
                    <a:pt x="165" y="3"/>
                  </a:lnTo>
                  <a:lnTo>
                    <a:pt x="176" y="9"/>
                  </a:lnTo>
                  <a:lnTo>
                    <a:pt x="191" y="11"/>
                  </a:lnTo>
                  <a:lnTo>
                    <a:pt x="203" y="17"/>
                  </a:lnTo>
                  <a:lnTo>
                    <a:pt x="214" y="23"/>
                  </a:lnTo>
                  <a:lnTo>
                    <a:pt x="223" y="31"/>
                  </a:lnTo>
                  <a:lnTo>
                    <a:pt x="235" y="39"/>
                  </a:lnTo>
                  <a:lnTo>
                    <a:pt x="244" y="51"/>
                  </a:lnTo>
                  <a:lnTo>
                    <a:pt x="252" y="59"/>
                  </a:lnTo>
                  <a:lnTo>
                    <a:pt x="257" y="71"/>
                  </a:lnTo>
                  <a:lnTo>
                    <a:pt x="263" y="82"/>
                  </a:lnTo>
                  <a:lnTo>
                    <a:pt x="266" y="97"/>
                  </a:lnTo>
                  <a:lnTo>
                    <a:pt x="272" y="108"/>
                  </a:lnTo>
                  <a:lnTo>
                    <a:pt x="272" y="122"/>
                  </a:lnTo>
                  <a:lnTo>
                    <a:pt x="272" y="136"/>
                  </a:lnTo>
                  <a:lnTo>
                    <a:pt x="263" y="136"/>
                  </a:lnTo>
                  <a:lnTo>
                    <a:pt x="263" y="122"/>
                  </a:lnTo>
                  <a:lnTo>
                    <a:pt x="260" y="110"/>
                  </a:lnTo>
                  <a:lnTo>
                    <a:pt x="257" y="100"/>
                  </a:lnTo>
                  <a:lnTo>
                    <a:pt x="255" y="88"/>
                  </a:lnTo>
                  <a:lnTo>
                    <a:pt x="249" y="77"/>
                  </a:lnTo>
                  <a:lnTo>
                    <a:pt x="244" y="65"/>
                  </a:lnTo>
                  <a:lnTo>
                    <a:pt x="235" y="57"/>
                  </a:lnTo>
                  <a:lnTo>
                    <a:pt x="226" y="48"/>
                  </a:lnTo>
                  <a:lnTo>
                    <a:pt x="217" y="39"/>
                  </a:lnTo>
                  <a:lnTo>
                    <a:pt x="208" y="31"/>
                  </a:lnTo>
                  <a:lnTo>
                    <a:pt x="197" y="25"/>
                  </a:lnTo>
                  <a:lnTo>
                    <a:pt x="185" y="20"/>
                  </a:lnTo>
                  <a:lnTo>
                    <a:pt x="174" y="17"/>
                  </a:lnTo>
                  <a:lnTo>
                    <a:pt x="162" y="11"/>
                  </a:lnTo>
                  <a:lnTo>
                    <a:pt x="151" y="11"/>
                  </a:lnTo>
                  <a:lnTo>
                    <a:pt x="136" y="11"/>
                  </a:lnTo>
                  <a:lnTo>
                    <a:pt x="124" y="11"/>
                  </a:lnTo>
                  <a:lnTo>
                    <a:pt x="110" y="11"/>
                  </a:lnTo>
                  <a:lnTo>
                    <a:pt x="98" y="17"/>
                  </a:lnTo>
                  <a:lnTo>
                    <a:pt x="87" y="20"/>
                  </a:lnTo>
                  <a:lnTo>
                    <a:pt x="75" y="25"/>
                  </a:lnTo>
                  <a:lnTo>
                    <a:pt x="67" y="31"/>
                  </a:lnTo>
                  <a:lnTo>
                    <a:pt x="55" y="39"/>
                  </a:lnTo>
                  <a:lnTo>
                    <a:pt x="46" y="48"/>
                  </a:lnTo>
                  <a:lnTo>
                    <a:pt x="37" y="57"/>
                  </a:lnTo>
                  <a:lnTo>
                    <a:pt x="31" y="65"/>
                  </a:lnTo>
                  <a:lnTo>
                    <a:pt x="23" y="77"/>
                  </a:lnTo>
                  <a:lnTo>
                    <a:pt x="20" y="88"/>
                  </a:lnTo>
                  <a:lnTo>
                    <a:pt x="14" y="100"/>
                  </a:lnTo>
                  <a:lnTo>
                    <a:pt x="11" y="110"/>
                  </a:lnTo>
                  <a:lnTo>
                    <a:pt x="9" y="122"/>
                  </a:lnTo>
                  <a:lnTo>
                    <a:pt x="9" y="136"/>
                  </a:lnTo>
                  <a:lnTo>
                    <a:pt x="0" y="136"/>
                  </a:lnTo>
                </a:path>
              </a:pathLst>
            </a:custGeom>
            <a:solidFill>
              <a:srgbClr val="FFD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Freeform 179">
              <a:extLst>
                <a:ext uri="{FF2B5EF4-FFF2-40B4-BE49-F238E27FC236}">
                  <a16:creationId xmlns:a16="http://schemas.microsoft.com/office/drawing/2014/main" id="{C4BC36A6-9868-41F3-8D8C-0D111A507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3802"/>
              <a:ext cx="273" cy="135"/>
            </a:xfrm>
            <a:custGeom>
              <a:avLst/>
              <a:gdLst>
                <a:gd name="T0" fmla="*/ 0 w 273"/>
                <a:gd name="T1" fmla="*/ 0 h 135"/>
                <a:gd name="T2" fmla="*/ 3 w 273"/>
                <a:gd name="T3" fmla="*/ 26 h 135"/>
                <a:gd name="T4" fmla="*/ 11 w 273"/>
                <a:gd name="T5" fmla="*/ 52 h 135"/>
                <a:gd name="T6" fmla="*/ 23 w 273"/>
                <a:gd name="T7" fmla="*/ 74 h 135"/>
                <a:gd name="T8" fmla="*/ 40 w 273"/>
                <a:gd name="T9" fmla="*/ 94 h 135"/>
                <a:gd name="T10" fmla="*/ 61 w 273"/>
                <a:gd name="T11" fmla="*/ 111 h 135"/>
                <a:gd name="T12" fmla="*/ 84 w 273"/>
                <a:gd name="T13" fmla="*/ 123 h 135"/>
                <a:gd name="T14" fmla="*/ 110 w 273"/>
                <a:gd name="T15" fmla="*/ 131 h 135"/>
                <a:gd name="T16" fmla="*/ 136 w 273"/>
                <a:gd name="T17" fmla="*/ 134 h 135"/>
                <a:gd name="T18" fmla="*/ 165 w 273"/>
                <a:gd name="T19" fmla="*/ 131 h 135"/>
                <a:gd name="T20" fmla="*/ 191 w 273"/>
                <a:gd name="T21" fmla="*/ 123 h 135"/>
                <a:gd name="T22" fmla="*/ 214 w 273"/>
                <a:gd name="T23" fmla="*/ 111 h 135"/>
                <a:gd name="T24" fmla="*/ 235 w 273"/>
                <a:gd name="T25" fmla="*/ 94 h 135"/>
                <a:gd name="T26" fmla="*/ 252 w 273"/>
                <a:gd name="T27" fmla="*/ 74 h 135"/>
                <a:gd name="T28" fmla="*/ 263 w 273"/>
                <a:gd name="T29" fmla="*/ 52 h 135"/>
                <a:gd name="T30" fmla="*/ 272 w 273"/>
                <a:gd name="T31" fmla="*/ 26 h 135"/>
                <a:gd name="T32" fmla="*/ 272 w 273"/>
                <a:gd name="T33" fmla="*/ 0 h 135"/>
                <a:gd name="T34" fmla="*/ 263 w 273"/>
                <a:gd name="T35" fmla="*/ 11 h 135"/>
                <a:gd name="T36" fmla="*/ 257 w 273"/>
                <a:gd name="T37" fmla="*/ 37 h 135"/>
                <a:gd name="T38" fmla="*/ 249 w 273"/>
                <a:gd name="T39" fmla="*/ 59 h 135"/>
                <a:gd name="T40" fmla="*/ 235 w 273"/>
                <a:gd name="T41" fmla="*/ 79 h 135"/>
                <a:gd name="T42" fmla="*/ 217 w 273"/>
                <a:gd name="T43" fmla="*/ 97 h 135"/>
                <a:gd name="T44" fmla="*/ 197 w 273"/>
                <a:gd name="T45" fmla="*/ 111 h 135"/>
                <a:gd name="T46" fmla="*/ 174 w 273"/>
                <a:gd name="T47" fmla="*/ 120 h 135"/>
                <a:gd name="T48" fmla="*/ 151 w 273"/>
                <a:gd name="T49" fmla="*/ 125 h 135"/>
                <a:gd name="T50" fmla="*/ 124 w 273"/>
                <a:gd name="T51" fmla="*/ 125 h 135"/>
                <a:gd name="T52" fmla="*/ 98 w 273"/>
                <a:gd name="T53" fmla="*/ 120 h 135"/>
                <a:gd name="T54" fmla="*/ 75 w 273"/>
                <a:gd name="T55" fmla="*/ 111 h 135"/>
                <a:gd name="T56" fmla="*/ 55 w 273"/>
                <a:gd name="T57" fmla="*/ 97 h 135"/>
                <a:gd name="T58" fmla="*/ 37 w 273"/>
                <a:gd name="T59" fmla="*/ 79 h 135"/>
                <a:gd name="T60" fmla="*/ 23 w 273"/>
                <a:gd name="T61" fmla="*/ 59 h 135"/>
                <a:gd name="T62" fmla="*/ 14 w 273"/>
                <a:gd name="T63" fmla="*/ 37 h 135"/>
                <a:gd name="T64" fmla="*/ 9 w 273"/>
                <a:gd name="T65" fmla="*/ 11 h 135"/>
                <a:gd name="T66" fmla="*/ 0 w 273"/>
                <a:gd name="T67" fmla="*/ 0 h 1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73"/>
                <a:gd name="T103" fmla="*/ 0 h 135"/>
                <a:gd name="T104" fmla="*/ 273 w 273"/>
                <a:gd name="T105" fmla="*/ 135 h 13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73" h="135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6"/>
                  </a:lnTo>
                  <a:lnTo>
                    <a:pt x="6" y="40"/>
                  </a:lnTo>
                  <a:lnTo>
                    <a:pt x="11" y="52"/>
                  </a:lnTo>
                  <a:lnTo>
                    <a:pt x="17" y="62"/>
                  </a:lnTo>
                  <a:lnTo>
                    <a:pt x="23" y="74"/>
                  </a:lnTo>
                  <a:lnTo>
                    <a:pt x="31" y="85"/>
                  </a:lnTo>
                  <a:lnTo>
                    <a:pt x="40" y="94"/>
                  </a:lnTo>
                  <a:lnTo>
                    <a:pt x="49" y="102"/>
                  </a:lnTo>
                  <a:lnTo>
                    <a:pt x="61" y="111"/>
                  </a:lnTo>
                  <a:lnTo>
                    <a:pt x="72" y="117"/>
                  </a:lnTo>
                  <a:lnTo>
                    <a:pt x="84" y="123"/>
                  </a:lnTo>
                  <a:lnTo>
                    <a:pt x="95" y="128"/>
                  </a:lnTo>
                  <a:lnTo>
                    <a:pt x="110" y="131"/>
                  </a:lnTo>
                  <a:lnTo>
                    <a:pt x="121" y="134"/>
                  </a:lnTo>
                  <a:lnTo>
                    <a:pt x="136" y="134"/>
                  </a:lnTo>
                  <a:lnTo>
                    <a:pt x="151" y="134"/>
                  </a:lnTo>
                  <a:lnTo>
                    <a:pt x="165" y="131"/>
                  </a:lnTo>
                  <a:lnTo>
                    <a:pt x="176" y="128"/>
                  </a:lnTo>
                  <a:lnTo>
                    <a:pt x="191" y="123"/>
                  </a:lnTo>
                  <a:lnTo>
                    <a:pt x="203" y="117"/>
                  </a:lnTo>
                  <a:lnTo>
                    <a:pt x="214" y="111"/>
                  </a:lnTo>
                  <a:lnTo>
                    <a:pt x="223" y="102"/>
                  </a:lnTo>
                  <a:lnTo>
                    <a:pt x="235" y="94"/>
                  </a:lnTo>
                  <a:lnTo>
                    <a:pt x="244" y="85"/>
                  </a:lnTo>
                  <a:lnTo>
                    <a:pt x="252" y="74"/>
                  </a:lnTo>
                  <a:lnTo>
                    <a:pt x="257" y="62"/>
                  </a:lnTo>
                  <a:lnTo>
                    <a:pt x="263" y="52"/>
                  </a:lnTo>
                  <a:lnTo>
                    <a:pt x="266" y="40"/>
                  </a:lnTo>
                  <a:lnTo>
                    <a:pt x="272" y="26"/>
                  </a:lnTo>
                  <a:lnTo>
                    <a:pt x="272" y="14"/>
                  </a:lnTo>
                  <a:lnTo>
                    <a:pt x="272" y="0"/>
                  </a:lnTo>
                  <a:lnTo>
                    <a:pt x="263" y="0"/>
                  </a:lnTo>
                  <a:lnTo>
                    <a:pt x="263" y="11"/>
                  </a:lnTo>
                  <a:lnTo>
                    <a:pt x="260" y="26"/>
                  </a:lnTo>
                  <a:lnTo>
                    <a:pt x="257" y="37"/>
                  </a:lnTo>
                  <a:lnTo>
                    <a:pt x="255" y="49"/>
                  </a:lnTo>
                  <a:lnTo>
                    <a:pt x="249" y="59"/>
                  </a:lnTo>
                  <a:lnTo>
                    <a:pt x="244" y="68"/>
                  </a:lnTo>
                  <a:lnTo>
                    <a:pt x="235" y="79"/>
                  </a:lnTo>
                  <a:lnTo>
                    <a:pt x="226" y="88"/>
                  </a:lnTo>
                  <a:lnTo>
                    <a:pt x="217" y="97"/>
                  </a:lnTo>
                  <a:lnTo>
                    <a:pt x="208" y="102"/>
                  </a:lnTo>
                  <a:lnTo>
                    <a:pt x="197" y="111"/>
                  </a:lnTo>
                  <a:lnTo>
                    <a:pt x="185" y="114"/>
                  </a:lnTo>
                  <a:lnTo>
                    <a:pt x="174" y="120"/>
                  </a:lnTo>
                  <a:lnTo>
                    <a:pt x="162" y="123"/>
                  </a:lnTo>
                  <a:lnTo>
                    <a:pt x="151" y="125"/>
                  </a:lnTo>
                  <a:lnTo>
                    <a:pt x="136" y="125"/>
                  </a:lnTo>
                  <a:lnTo>
                    <a:pt x="124" y="125"/>
                  </a:lnTo>
                  <a:lnTo>
                    <a:pt x="110" y="123"/>
                  </a:lnTo>
                  <a:lnTo>
                    <a:pt x="98" y="120"/>
                  </a:lnTo>
                  <a:lnTo>
                    <a:pt x="87" y="114"/>
                  </a:lnTo>
                  <a:lnTo>
                    <a:pt x="75" y="111"/>
                  </a:lnTo>
                  <a:lnTo>
                    <a:pt x="67" y="102"/>
                  </a:lnTo>
                  <a:lnTo>
                    <a:pt x="55" y="97"/>
                  </a:lnTo>
                  <a:lnTo>
                    <a:pt x="46" y="88"/>
                  </a:lnTo>
                  <a:lnTo>
                    <a:pt x="37" y="79"/>
                  </a:lnTo>
                  <a:lnTo>
                    <a:pt x="31" y="68"/>
                  </a:lnTo>
                  <a:lnTo>
                    <a:pt x="23" y="59"/>
                  </a:lnTo>
                  <a:lnTo>
                    <a:pt x="20" y="49"/>
                  </a:lnTo>
                  <a:lnTo>
                    <a:pt x="14" y="37"/>
                  </a:lnTo>
                  <a:lnTo>
                    <a:pt x="11" y="26"/>
                  </a:lnTo>
                  <a:lnTo>
                    <a:pt x="9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0" name="Freeform 180">
              <a:extLst>
                <a:ext uri="{FF2B5EF4-FFF2-40B4-BE49-F238E27FC236}">
                  <a16:creationId xmlns:a16="http://schemas.microsoft.com/office/drawing/2014/main" id="{10056846-2FEF-4941-82C2-F88D10432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672"/>
              <a:ext cx="255" cy="125"/>
            </a:xfrm>
            <a:custGeom>
              <a:avLst/>
              <a:gdLst>
                <a:gd name="T0" fmla="*/ 0 w 255"/>
                <a:gd name="T1" fmla="*/ 110 h 125"/>
                <a:gd name="T2" fmla="*/ 5 w 255"/>
                <a:gd name="T3" fmla="*/ 88 h 125"/>
                <a:gd name="T4" fmla="*/ 14 w 255"/>
                <a:gd name="T5" fmla="*/ 65 h 125"/>
                <a:gd name="T6" fmla="*/ 28 w 255"/>
                <a:gd name="T7" fmla="*/ 45 h 125"/>
                <a:gd name="T8" fmla="*/ 46 w 255"/>
                <a:gd name="T9" fmla="*/ 28 h 125"/>
                <a:gd name="T10" fmla="*/ 66 w 255"/>
                <a:gd name="T11" fmla="*/ 13 h 125"/>
                <a:gd name="T12" fmla="*/ 89 w 255"/>
                <a:gd name="T13" fmla="*/ 6 h 125"/>
                <a:gd name="T14" fmla="*/ 115 w 255"/>
                <a:gd name="T15" fmla="*/ 0 h 125"/>
                <a:gd name="T16" fmla="*/ 142 w 255"/>
                <a:gd name="T17" fmla="*/ 0 h 125"/>
                <a:gd name="T18" fmla="*/ 165 w 255"/>
                <a:gd name="T19" fmla="*/ 6 h 125"/>
                <a:gd name="T20" fmla="*/ 188 w 255"/>
                <a:gd name="T21" fmla="*/ 13 h 125"/>
                <a:gd name="T22" fmla="*/ 208 w 255"/>
                <a:gd name="T23" fmla="*/ 28 h 125"/>
                <a:gd name="T24" fmla="*/ 226 w 255"/>
                <a:gd name="T25" fmla="*/ 45 h 125"/>
                <a:gd name="T26" fmla="*/ 240 w 255"/>
                <a:gd name="T27" fmla="*/ 65 h 125"/>
                <a:gd name="T28" fmla="*/ 248 w 255"/>
                <a:gd name="T29" fmla="*/ 88 h 125"/>
                <a:gd name="T30" fmla="*/ 254 w 255"/>
                <a:gd name="T31" fmla="*/ 110 h 125"/>
                <a:gd name="T32" fmla="*/ 246 w 255"/>
                <a:gd name="T33" fmla="*/ 124 h 125"/>
                <a:gd name="T34" fmla="*/ 243 w 255"/>
                <a:gd name="T35" fmla="*/ 98 h 125"/>
                <a:gd name="T36" fmla="*/ 237 w 255"/>
                <a:gd name="T37" fmla="*/ 79 h 125"/>
                <a:gd name="T38" fmla="*/ 226 w 255"/>
                <a:gd name="T39" fmla="*/ 59 h 125"/>
                <a:gd name="T40" fmla="*/ 211 w 255"/>
                <a:gd name="T41" fmla="*/ 42 h 125"/>
                <a:gd name="T42" fmla="*/ 193 w 255"/>
                <a:gd name="T43" fmla="*/ 28 h 125"/>
                <a:gd name="T44" fmla="*/ 173 w 255"/>
                <a:gd name="T45" fmla="*/ 16 h 125"/>
                <a:gd name="T46" fmla="*/ 153 w 255"/>
                <a:gd name="T47" fmla="*/ 11 h 125"/>
                <a:gd name="T48" fmla="*/ 127 w 255"/>
                <a:gd name="T49" fmla="*/ 9 h 125"/>
                <a:gd name="T50" fmla="*/ 104 w 255"/>
                <a:gd name="T51" fmla="*/ 11 h 125"/>
                <a:gd name="T52" fmla="*/ 81 w 255"/>
                <a:gd name="T53" fmla="*/ 16 h 125"/>
                <a:gd name="T54" fmla="*/ 61 w 255"/>
                <a:gd name="T55" fmla="*/ 28 h 125"/>
                <a:gd name="T56" fmla="*/ 43 w 255"/>
                <a:gd name="T57" fmla="*/ 42 h 125"/>
                <a:gd name="T58" fmla="*/ 28 w 255"/>
                <a:gd name="T59" fmla="*/ 59 h 125"/>
                <a:gd name="T60" fmla="*/ 17 w 255"/>
                <a:gd name="T61" fmla="*/ 79 h 125"/>
                <a:gd name="T62" fmla="*/ 11 w 255"/>
                <a:gd name="T63" fmla="*/ 98 h 125"/>
                <a:gd name="T64" fmla="*/ 8 w 255"/>
                <a:gd name="T65" fmla="*/ 124 h 12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5"/>
                <a:gd name="T100" fmla="*/ 0 h 125"/>
                <a:gd name="T101" fmla="*/ 255 w 255"/>
                <a:gd name="T102" fmla="*/ 125 h 12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5" h="125">
                  <a:moveTo>
                    <a:pt x="0" y="124"/>
                  </a:moveTo>
                  <a:lnTo>
                    <a:pt x="0" y="110"/>
                  </a:lnTo>
                  <a:lnTo>
                    <a:pt x="2" y="98"/>
                  </a:lnTo>
                  <a:lnTo>
                    <a:pt x="5" y="88"/>
                  </a:lnTo>
                  <a:lnTo>
                    <a:pt x="11" y="76"/>
                  </a:lnTo>
                  <a:lnTo>
                    <a:pt x="14" y="65"/>
                  </a:lnTo>
                  <a:lnTo>
                    <a:pt x="22" y="53"/>
                  </a:lnTo>
                  <a:lnTo>
                    <a:pt x="28" y="45"/>
                  </a:lnTo>
                  <a:lnTo>
                    <a:pt x="37" y="36"/>
                  </a:lnTo>
                  <a:lnTo>
                    <a:pt x="46" y="28"/>
                  </a:lnTo>
                  <a:lnTo>
                    <a:pt x="58" y="19"/>
                  </a:lnTo>
                  <a:lnTo>
                    <a:pt x="66" y="13"/>
                  </a:lnTo>
                  <a:lnTo>
                    <a:pt x="78" y="9"/>
                  </a:lnTo>
                  <a:lnTo>
                    <a:pt x="89" y="6"/>
                  </a:lnTo>
                  <a:lnTo>
                    <a:pt x="101" y="0"/>
                  </a:lnTo>
                  <a:lnTo>
                    <a:pt x="115" y="0"/>
                  </a:lnTo>
                  <a:lnTo>
                    <a:pt x="127" y="0"/>
                  </a:lnTo>
                  <a:lnTo>
                    <a:pt x="142" y="0"/>
                  </a:lnTo>
                  <a:lnTo>
                    <a:pt x="153" y="0"/>
                  </a:lnTo>
                  <a:lnTo>
                    <a:pt x="165" y="6"/>
                  </a:lnTo>
                  <a:lnTo>
                    <a:pt x="176" y="9"/>
                  </a:lnTo>
                  <a:lnTo>
                    <a:pt x="188" y="13"/>
                  </a:lnTo>
                  <a:lnTo>
                    <a:pt x="199" y="19"/>
                  </a:lnTo>
                  <a:lnTo>
                    <a:pt x="208" y="28"/>
                  </a:lnTo>
                  <a:lnTo>
                    <a:pt x="217" y="36"/>
                  </a:lnTo>
                  <a:lnTo>
                    <a:pt x="226" y="45"/>
                  </a:lnTo>
                  <a:lnTo>
                    <a:pt x="234" y="53"/>
                  </a:lnTo>
                  <a:lnTo>
                    <a:pt x="240" y="65"/>
                  </a:lnTo>
                  <a:lnTo>
                    <a:pt x="246" y="76"/>
                  </a:lnTo>
                  <a:lnTo>
                    <a:pt x="248" y="88"/>
                  </a:lnTo>
                  <a:lnTo>
                    <a:pt x="251" y="98"/>
                  </a:lnTo>
                  <a:lnTo>
                    <a:pt x="254" y="110"/>
                  </a:lnTo>
                  <a:lnTo>
                    <a:pt x="254" y="124"/>
                  </a:lnTo>
                  <a:lnTo>
                    <a:pt x="246" y="124"/>
                  </a:lnTo>
                  <a:lnTo>
                    <a:pt x="246" y="113"/>
                  </a:lnTo>
                  <a:lnTo>
                    <a:pt x="243" y="98"/>
                  </a:lnTo>
                  <a:lnTo>
                    <a:pt x="240" y="91"/>
                  </a:lnTo>
                  <a:lnTo>
                    <a:pt x="237" y="79"/>
                  </a:lnTo>
                  <a:lnTo>
                    <a:pt x="232" y="68"/>
                  </a:lnTo>
                  <a:lnTo>
                    <a:pt x="226" y="59"/>
                  </a:lnTo>
                  <a:lnTo>
                    <a:pt x="220" y="51"/>
                  </a:lnTo>
                  <a:lnTo>
                    <a:pt x="211" y="42"/>
                  </a:lnTo>
                  <a:lnTo>
                    <a:pt x="202" y="33"/>
                  </a:lnTo>
                  <a:lnTo>
                    <a:pt x="193" y="28"/>
                  </a:lnTo>
                  <a:lnTo>
                    <a:pt x="185" y="22"/>
                  </a:lnTo>
                  <a:lnTo>
                    <a:pt x="173" y="16"/>
                  </a:lnTo>
                  <a:lnTo>
                    <a:pt x="162" y="13"/>
                  </a:lnTo>
                  <a:lnTo>
                    <a:pt x="153" y="11"/>
                  </a:lnTo>
                  <a:lnTo>
                    <a:pt x="139" y="9"/>
                  </a:lnTo>
                  <a:lnTo>
                    <a:pt x="127" y="9"/>
                  </a:lnTo>
                  <a:lnTo>
                    <a:pt x="115" y="9"/>
                  </a:lnTo>
                  <a:lnTo>
                    <a:pt x="104" y="11"/>
                  </a:lnTo>
                  <a:lnTo>
                    <a:pt x="92" y="13"/>
                  </a:lnTo>
                  <a:lnTo>
                    <a:pt x="81" y="16"/>
                  </a:lnTo>
                  <a:lnTo>
                    <a:pt x="72" y="22"/>
                  </a:lnTo>
                  <a:lnTo>
                    <a:pt x="61" y="28"/>
                  </a:lnTo>
                  <a:lnTo>
                    <a:pt x="52" y="33"/>
                  </a:lnTo>
                  <a:lnTo>
                    <a:pt x="43" y="42"/>
                  </a:lnTo>
                  <a:lnTo>
                    <a:pt x="37" y="51"/>
                  </a:lnTo>
                  <a:lnTo>
                    <a:pt x="28" y="59"/>
                  </a:lnTo>
                  <a:lnTo>
                    <a:pt x="22" y="68"/>
                  </a:lnTo>
                  <a:lnTo>
                    <a:pt x="17" y="79"/>
                  </a:lnTo>
                  <a:lnTo>
                    <a:pt x="14" y="91"/>
                  </a:lnTo>
                  <a:lnTo>
                    <a:pt x="11" y="98"/>
                  </a:lnTo>
                  <a:lnTo>
                    <a:pt x="8" y="113"/>
                  </a:lnTo>
                  <a:lnTo>
                    <a:pt x="8" y="124"/>
                  </a:lnTo>
                  <a:lnTo>
                    <a:pt x="0" y="124"/>
                  </a:lnTo>
                </a:path>
              </a:pathLst>
            </a:custGeom>
            <a:solidFill>
              <a:srgbClr val="FFD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181">
              <a:extLst>
                <a:ext uri="{FF2B5EF4-FFF2-40B4-BE49-F238E27FC236}">
                  <a16:creationId xmlns:a16="http://schemas.microsoft.com/office/drawing/2014/main" id="{164D7301-5A04-4F59-BF4D-EFA8991E7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3802"/>
              <a:ext cx="255" cy="126"/>
            </a:xfrm>
            <a:custGeom>
              <a:avLst/>
              <a:gdLst>
                <a:gd name="T0" fmla="*/ 0 w 255"/>
                <a:gd name="T1" fmla="*/ 0 h 126"/>
                <a:gd name="T2" fmla="*/ 2 w 255"/>
                <a:gd name="T3" fmla="*/ 26 h 126"/>
                <a:gd name="T4" fmla="*/ 11 w 255"/>
                <a:gd name="T5" fmla="*/ 49 h 126"/>
                <a:gd name="T6" fmla="*/ 22 w 255"/>
                <a:gd name="T7" fmla="*/ 68 h 126"/>
                <a:gd name="T8" fmla="*/ 37 w 255"/>
                <a:gd name="T9" fmla="*/ 88 h 126"/>
                <a:gd name="T10" fmla="*/ 58 w 255"/>
                <a:gd name="T11" fmla="*/ 102 h 126"/>
                <a:gd name="T12" fmla="*/ 78 w 255"/>
                <a:gd name="T13" fmla="*/ 114 h 126"/>
                <a:gd name="T14" fmla="*/ 101 w 255"/>
                <a:gd name="T15" fmla="*/ 122 h 126"/>
                <a:gd name="T16" fmla="*/ 127 w 255"/>
                <a:gd name="T17" fmla="*/ 125 h 126"/>
                <a:gd name="T18" fmla="*/ 153 w 255"/>
                <a:gd name="T19" fmla="*/ 122 h 126"/>
                <a:gd name="T20" fmla="*/ 176 w 255"/>
                <a:gd name="T21" fmla="*/ 114 h 126"/>
                <a:gd name="T22" fmla="*/ 199 w 255"/>
                <a:gd name="T23" fmla="*/ 102 h 126"/>
                <a:gd name="T24" fmla="*/ 217 w 255"/>
                <a:gd name="T25" fmla="*/ 88 h 126"/>
                <a:gd name="T26" fmla="*/ 234 w 255"/>
                <a:gd name="T27" fmla="*/ 68 h 126"/>
                <a:gd name="T28" fmla="*/ 246 w 255"/>
                <a:gd name="T29" fmla="*/ 49 h 126"/>
                <a:gd name="T30" fmla="*/ 251 w 255"/>
                <a:gd name="T31" fmla="*/ 26 h 126"/>
                <a:gd name="T32" fmla="*/ 254 w 255"/>
                <a:gd name="T33" fmla="*/ 0 h 126"/>
                <a:gd name="T34" fmla="*/ 246 w 255"/>
                <a:gd name="T35" fmla="*/ 11 h 126"/>
                <a:gd name="T36" fmla="*/ 240 w 255"/>
                <a:gd name="T37" fmla="*/ 34 h 126"/>
                <a:gd name="T38" fmla="*/ 232 w 255"/>
                <a:gd name="T39" fmla="*/ 54 h 126"/>
                <a:gd name="T40" fmla="*/ 220 w 255"/>
                <a:gd name="T41" fmla="*/ 73 h 126"/>
                <a:gd name="T42" fmla="*/ 202 w 255"/>
                <a:gd name="T43" fmla="*/ 88 h 126"/>
                <a:gd name="T44" fmla="*/ 185 w 255"/>
                <a:gd name="T45" fmla="*/ 102 h 126"/>
                <a:gd name="T46" fmla="*/ 162 w 255"/>
                <a:gd name="T47" fmla="*/ 111 h 126"/>
                <a:gd name="T48" fmla="*/ 139 w 255"/>
                <a:gd name="T49" fmla="*/ 116 h 126"/>
                <a:gd name="T50" fmla="*/ 115 w 255"/>
                <a:gd name="T51" fmla="*/ 116 h 126"/>
                <a:gd name="T52" fmla="*/ 92 w 255"/>
                <a:gd name="T53" fmla="*/ 111 h 126"/>
                <a:gd name="T54" fmla="*/ 72 w 255"/>
                <a:gd name="T55" fmla="*/ 102 h 126"/>
                <a:gd name="T56" fmla="*/ 52 w 255"/>
                <a:gd name="T57" fmla="*/ 88 h 126"/>
                <a:gd name="T58" fmla="*/ 37 w 255"/>
                <a:gd name="T59" fmla="*/ 73 h 126"/>
                <a:gd name="T60" fmla="*/ 22 w 255"/>
                <a:gd name="T61" fmla="*/ 54 h 126"/>
                <a:gd name="T62" fmla="*/ 14 w 255"/>
                <a:gd name="T63" fmla="*/ 34 h 126"/>
                <a:gd name="T64" fmla="*/ 8 w 255"/>
                <a:gd name="T65" fmla="*/ 11 h 126"/>
                <a:gd name="T66" fmla="*/ 0 w 255"/>
                <a:gd name="T67" fmla="*/ 0 h 1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55"/>
                <a:gd name="T103" fmla="*/ 0 h 126"/>
                <a:gd name="T104" fmla="*/ 255 w 255"/>
                <a:gd name="T105" fmla="*/ 126 h 12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55" h="126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2" y="26"/>
                  </a:lnTo>
                  <a:lnTo>
                    <a:pt x="5" y="37"/>
                  </a:lnTo>
                  <a:lnTo>
                    <a:pt x="11" y="49"/>
                  </a:lnTo>
                  <a:lnTo>
                    <a:pt x="14" y="59"/>
                  </a:lnTo>
                  <a:lnTo>
                    <a:pt x="22" y="68"/>
                  </a:lnTo>
                  <a:lnTo>
                    <a:pt x="28" y="79"/>
                  </a:lnTo>
                  <a:lnTo>
                    <a:pt x="37" y="88"/>
                  </a:lnTo>
                  <a:lnTo>
                    <a:pt x="46" y="96"/>
                  </a:lnTo>
                  <a:lnTo>
                    <a:pt x="58" y="102"/>
                  </a:lnTo>
                  <a:lnTo>
                    <a:pt x="66" y="111"/>
                  </a:lnTo>
                  <a:lnTo>
                    <a:pt x="78" y="114"/>
                  </a:lnTo>
                  <a:lnTo>
                    <a:pt x="89" y="119"/>
                  </a:lnTo>
                  <a:lnTo>
                    <a:pt x="101" y="122"/>
                  </a:lnTo>
                  <a:lnTo>
                    <a:pt x="115" y="125"/>
                  </a:lnTo>
                  <a:lnTo>
                    <a:pt x="127" y="125"/>
                  </a:lnTo>
                  <a:lnTo>
                    <a:pt x="142" y="125"/>
                  </a:lnTo>
                  <a:lnTo>
                    <a:pt x="153" y="122"/>
                  </a:lnTo>
                  <a:lnTo>
                    <a:pt x="165" y="119"/>
                  </a:lnTo>
                  <a:lnTo>
                    <a:pt x="176" y="114"/>
                  </a:lnTo>
                  <a:lnTo>
                    <a:pt x="188" y="111"/>
                  </a:lnTo>
                  <a:lnTo>
                    <a:pt x="199" y="102"/>
                  </a:lnTo>
                  <a:lnTo>
                    <a:pt x="208" y="96"/>
                  </a:lnTo>
                  <a:lnTo>
                    <a:pt x="217" y="88"/>
                  </a:lnTo>
                  <a:lnTo>
                    <a:pt x="226" y="79"/>
                  </a:lnTo>
                  <a:lnTo>
                    <a:pt x="234" y="68"/>
                  </a:lnTo>
                  <a:lnTo>
                    <a:pt x="240" y="59"/>
                  </a:lnTo>
                  <a:lnTo>
                    <a:pt x="246" y="49"/>
                  </a:lnTo>
                  <a:lnTo>
                    <a:pt x="248" y="37"/>
                  </a:lnTo>
                  <a:lnTo>
                    <a:pt x="251" y="26"/>
                  </a:lnTo>
                  <a:lnTo>
                    <a:pt x="254" y="11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6" y="11"/>
                  </a:lnTo>
                  <a:lnTo>
                    <a:pt x="243" y="23"/>
                  </a:lnTo>
                  <a:lnTo>
                    <a:pt x="240" y="34"/>
                  </a:lnTo>
                  <a:lnTo>
                    <a:pt x="237" y="46"/>
                  </a:lnTo>
                  <a:lnTo>
                    <a:pt x="232" y="54"/>
                  </a:lnTo>
                  <a:lnTo>
                    <a:pt x="226" y="65"/>
                  </a:lnTo>
                  <a:lnTo>
                    <a:pt x="220" y="73"/>
                  </a:lnTo>
                  <a:lnTo>
                    <a:pt x="211" y="82"/>
                  </a:lnTo>
                  <a:lnTo>
                    <a:pt x="202" y="88"/>
                  </a:lnTo>
                  <a:lnTo>
                    <a:pt x="193" y="96"/>
                  </a:lnTo>
                  <a:lnTo>
                    <a:pt x="185" y="102"/>
                  </a:lnTo>
                  <a:lnTo>
                    <a:pt x="173" y="108"/>
                  </a:lnTo>
                  <a:lnTo>
                    <a:pt x="162" y="111"/>
                  </a:lnTo>
                  <a:lnTo>
                    <a:pt x="153" y="114"/>
                  </a:lnTo>
                  <a:lnTo>
                    <a:pt x="139" y="116"/>
                  </a:lnTo>
                  <a:lnTo>
                    <a:pt x="127" y="116"/>
                  </a:lnTo>
                  <a:lnTo>
                    <a:pt x="115" y="116"/>
                  </a:lnTo>
                  <a:lnTo>
                    <a:pt x="104" y="114"/>
                  </a:lnTo>
                  <a:lnTo>
                    <a:pt x="92" y="111"/>
                  </a:lnTo>
                  <a:lnTo>
                    <a:pt x="81" y="108"/>
                  </a:lnTo>
                  <a:lnTo>
                    <a:pt x="72" y="102"/>
                  </a:lnTo>
                  <a:lnTo>
                    <a:pt x="61" y="96"/>
                  </a:lnTo>
                  <a:lnTo>
                    <a:pt x="52" y="88"/>
                  </a:lnTo>
                  <a:lnTo>
                    <a:pt x="43" y="82"/>
                  </a:lnTo>
                  <a:lnTo>
                    <a:pt x="37" y="73"/>
                  </a:lnTo>
                  <a:lnTo>
                    <a:pt x="28" y="65"/>
                  </a:lnTo>
                  <a:lnTo>
                    <a:pt x="22" y="54"/>
                  </a:lnTo>
                  <a:lnTo>
                    <a:pt x="17" y="46"/>
                  </a:lnTo>
                  <a:lnTo>
                    <a:pt x="14" y="34"/>
                  </a:lnTo>
                  <a:lnTo>
                    <a:pt x="11" y="23"/>
                  </a:lnTo>
                  <a:lnTo>
                    <a:pt x="8" y="11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D9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182">
              <a:extLst>
                <a:ext uri="{FF2B5EF4-FFF2-40B4-BE49-F238E27FC236}">
                  <a16:creationId xmlns:a16="http://schemas.microsoft.com/office/drawing/2014/main" id="{703E264A-F149-41E7-94B6-784B902B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681"/>
              <a:ext cx="239" cy="116"/>
            </a:xfrm>
            <a:custGeom>
              <a:avLst/>
              <a:gdLst>
                <a:gd name="T0" fmla="*/ 0 w 239"/>
                <a:gd name="T1" fmla="*/ 104 h 116"/>
                <a:gd name="T2" fmla="*/ 6 w 239"/>
                <a:gd name="T3" fmla="*/ 82 h 116"/>
                <a:gd name="T4" fmla="*/ 15 w 239"/>
                <a:gd name="T5" fmla="*/ 59 h 116"/>
                <a:gd name="T6" fmla="*/ 29 w 239"/>
                <a:gd name="T7" fmla="*/ 42 h 116"/>
                <a:gd name="T8" fmla="*/ 44 w 239"/>
                <a:gd name="T9" fmla="*/ 25 h 116"/>
                <a:gd name="T10" fmla="*/ 64 w 239"/>
                <a:gd name="T11" fmla="*/ 13 h 116"/>
                <a:gd name="T12" fmla="*/ 84 w 239"/>
                <a:gd name="T13" fmla="*/ 5 h 116"/>
                <a:gd name="T14" fmla="*/ 107 w 239"/>
                <a:gd name="T15" fmla="*/ 0 h 116"/>
                <a:gd name="T16" fmla="*/ 131 w 239"/>
                <a:gd name="T17" fmla="*/ 0 h 116"/>
                <a:gd name="T18" fmla="*/ 154 w 239"/>
                <a:gd name="T19" fmla="*/ 5 h 116"/>
                <a:gd name="T20" fmla="*/ 177 w 239"/>
                <a:gd name="T21" fmla="*/ 13 h 116"/>
                <a:gd name="T22" fmla="*/ 194 w 239"/>
                <a:gd name="T23" fmla="*/ 25 h 116"/>
                <a:gd name="T24" fmla="*/ 212 w 239"/>
                <a:gd name="T25" fmla="*/ 42 h 116"/>
                <a:gd name="T26" fmla="*/ 223 w 239"/>
                <a:gd name="T27" fmla="*/ 59 h 116"/>
                <a:gd name="T28" fmla="*/ 232 w 239"/>
                <a:gd name="T29" fmla="*/ 82 h 116"/>
                <a:gd name="T30" fmla="*/ 238 w 239"/>
                <a:gd name="T31" fmla="*/ 104 h 116"/>
                <a:gd name="T32" fmla="*/ 229 w 239"/>
                <a:gd name="T33" fmla="*/ 115 h 116"/>
                <a:gd name="T34" fmla="*/ 226 w 239"/>
                <a:gd name="T35" fmla="*/ 92 h 116"/>
                <a:gd name="T36" fmla="*/ 220 w 239"/>
                <a:gd name="T37" fmla="*/ 73 h 116"/>
                <a:gd name="T38" fmla="*/ 212 w 239"/>
                <a:gd name="T39" fmla="*/ 56 h 116"/>
                <a:gd name="T40" fmla="*/ 197 w 239"/>
                <a:gd name="T41" fmla="*/ 39 h 116"/>
                <a:gd name="T42" fmla="*/ 179 w 239"/>
                <a:gd name="T43" fmla="*/ 25 h 116"/>
                <a:gd name="T44" fmla="*/ 162 w 239"/>
                <a:gd name="T45" fmla="*/ 16 h 116"/>
                <a:gd name="T46" fmla="*/ 142 w 239"/>
                <a:gd name="T47" fmla="*/ 10 h 116"/>
                <a:gd name="T48" fmla="*/ 119 w 239"/>
                <a:gd name="T49" fmla="*/ 8 h 116"/>
                <a:gd name="T50" fmla="*/ 99 w 239"/>
                <a:gd name="T51" fmla="*/ 10 h 116"/>
                <a:gd name="T52" fmla="*/ 75 w 239"/>
                <a:gd name="T53" fmla="*/ 16 h 116"/>
                <a:gd name="T54" fmla="*/ 59 w 239"/>
                <a:gd name="T55" fmla="*/ 25 h 116"/>
                <a:gd name="T56" fmla="*/ 44 w 239"/>
                <a:gd name="T57" fmla="*/ 39 h 116"/>
                <a:gd name="T58" fmla="*/ 29 w 239"/>
                <a:gd name="T59" fmla="*/ 56 h 116"/>
                <a:gd name="T60" fmla="*/ 18 w 239"/>
                <a:gd name="T61" fmla="*/ 73 h 116"/>
                <a:gd name="T62" fmla="*/ 12 w 239"/>
                <a:gd name="T63" fmla="*/ 92 h 116"/>
                <a:gd name="T64" fmla="*/ 9 w 239"/>
                <a:gd name="T65" fmla="*/ 115 h 1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116"/>
                <a:gd name="T101" fmla="*/ 239 w 239"/>
                <a:gd name="T102" fmla="*/ 116 h 1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116">
                  <a:moveTo>
                    <a:pt x="0" y="115"/>
                  </a:moveTo>
                  <a:lnTo>
                    <a:pt x="0" y="104"/>
                  </a:lnTo>
                  <a:lnTo>
                    <a:pt x="3" y="89"/>
                  </a:lnTo>
                  <a:lnTo>
                    <a:pt x="6" y="82"/>
                  </a:lnTo>
                  <a:lnTo>
                    <a:pt x="9" y="70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9" y="42"/>
                  </a:lnTo>
                  <a:lnTo>
                    <a:pt x="35" y="33"/>
                  </a:lnTo>
                  <a:lnTo>
                    <a:pt x="44" y="25"/>
                  </a:lnTo>
                  <a:lnTo>
                    <a:pt x="53" y="19"/>
                  </a:lnTo>
                  <a:lnTo>
                    <a:pt x="64" y="13"/>
                  </a:lnTo>
                  <a:lnTo>
                    <a:pt x="73" y="8"/>
                  </a:lnTo>
                  <a:lnTo>
                    <a:pt x="84" y="5"/>
                  </a:lnTo>
                  <a:lnTo>
                    <a:pt x="96" y="3"/>
                  </a:lnTo>
                  <a:lnTo>
                    <a:pt x="107" y="0"/>
                  </a:lnTo>
                  <a:lnTo>
                    <a:pt x="119" y="0"/>
                  </a:lnTo>
                  <a:lnTo>
                    <a:pt x="131" y="0"/>
                  </a:lnTo>
                  <a:lnTo>
                    <a:pt x="145" y="3"/>
                  </a:lnTo>
                  <a:lnTo>
                    <a:pt x="154" y="5"/>
                  </a:lnTo>
                  <a:lnTo>
                    <a:pt x="165" y="8"/>
                  </a:lnTo>
                  <a:lnTo>
                    <a:pt x="177" y="13"/>
                  </a:lnTo>
                  <a:lnTo>
                    <a:pt x="185" y="19"/>
                  </a:lnTo>
                  <a:lnTo>
                    <a:pt x="194" y="25"/>
                  </a:lnTo>
                  <a:lnTo>
                    <a:pt x="203" y="33"/>
                  </a:lnTo>
                  <a:lnTo>
                    <a:pt x="212" y="42"/>
                  </a:lnTo>
                  <a:lnTo>
                    <a:pt x="218" y="50"/>
                  </a:lnTo>
                  <a:lnTo>
                    <a:pt x="223" y="59"/>
                  </a:lnTo>
                  <a:lnTo>
                    <a:pt x="229" y="70"/>
                  </a:lnTo>
                  <a:lnTo>
                    <a:pt x="232" y="82"/>
                  </a:lnTo>
                  <a:lnTo>
                    <a:pt x="235" y="89"/>
                  </a:lnTo>
                  <a:lnTo>
                    <a:pt x="238" y="104"/>
                  </a:lnTo>
                  <a:lnTo>
                    <a:pt x="238" y="115"/>
                  </a:lnTo>
                  <a:lnTo>
                    <a:pt x="229" y="115"/>
                  </a:lnTo>
                  <a:lnTo>
                    <a:pt x="229" y="104"/>
                  </a:lnTo>
                  <a:lnTo>
                    <a:pt x="226" y="92"/>
                  </a:lnTo>
                  <a:lnTo>
                    <a:pt x="223" y="82"/>
                  </a:lnTo>
                  <a:lnTo>
                    <a:pt x="220" y="73"/>
                  </a:lnTo>
                  <a:lnTo>
                    <a:pt x="218" y="65"/>
                  </a:lnTo>
                  <a:lnTo>
                    <a:pt x="212" y="56"/>
                  </a:lnTo>
                  <a:lnTo>
                    <a:pt x="203" y="48"/>
                  </a:lnTo>
                  <a:lnTo>
                    <a:pt x="197" y="39"/>
                  </a:lnTo>
                  <a:lnTo>
                    <a:pt x="188" y="30"/>
                  </a:lnTo>
                  <a:lnTo>
                    <a:pt x="179" y="25"/>
                  </a:lnTo>
                  <a:lnTo>
                    <a:pt x="171" y="19"/>
                  </a:lnTo>
                  <a:lnTo>
                    <a:pt x="162" y="16"/>
                  </a:lnTo>
                  <a:lnTo>
                    <a:pt x="154" y="13"/>
                  </a:lnTo>
                  <a:lnTo>
                    <a:pt x="142" y="10"/>
                  </a:lnTo>
                  <a:lnTo>
                    <a:pt x="131" y="8"/>
                  </a:lnTo>
                  <a:lnTo>
                    <a:pt x="119" y="8"/>
                  </a:lnTo>
                  <a:lnTo>
                    <a:pt x="107" y="8"/>
                  </a:lnTo>
                  <a:lnTo>
                    <a:pt x="99" y="10"/>
                  </a:lnTo>
                  <a:lnTo>
                    <a:pt x="87" y="13"/>
                  </a:lnTo>
                  <a:lnTo>
                    <a:pt x="75" y="16"/>
                  </a:lnTo>
                  <a:lnTo>
                    <a:pt x="67" y="19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4" y="39"/>
                  </a:lnTo>
                  <a:lnTo>
                    <a:pt x="35" y="48"/>
                  </a:lnTo>
                  <a:lnTo>
                    <a:pt x="29" y="56"/>
                  </a:lnTo>
                  <a:lnTo>
                    <a:pt x="23" y="65"/>
                  </a:lnTo>
                  <a:lnTo>
                    <a:pt x="18" y="73"/>
                  </a:lnTo>
                  <a:lnTo>
                    <a:pt x="15" y="82"/>
                  </a:lnTo>
                  <a:lnTo>
                    <a:pt x="12" y="92"/>
                  </a:lnTo>
                  <a:lnTo>
                    <a:pt x="12" y="104"/>
                  </a:lnTo>
                  <a:lnTo>
                    <a:pt x="9" y="115"/>
                  </a:lnTo>
                  <a:lnTo>
                    <a:pt x="0" y="115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Freeform 183">
              <a:extLst>
                <a:ext uri="{FF2B5EF4-FFF2-40B4-BE49-F238E27FC236}">
                  <a16:creationId xmlns:a16="http://schemas.microsoft.com/office/drawing/2014/main" id="{F9242488-177A-4B11-8647-3EA606FD6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802"/>
              <a:ext cx="239" cy="117"/>
            </a:xfrm>
            <a:custGeom>
              <a:avLst/>
              <a:gdLst>
                <a:gd name="T0" fmla="*/ 0 w 239"/>
                <a:gd name="T1" fmla="*/ 0 h 117"/>
                <a:gd name="T2" fmla="*/ 3 w 239"/>
                <a:gd name="T3" fmla="*/ 23 h 117"/>
                <a:gd name="T4" fmla="*/ 9 w 239"/>
                <a:gd name="T5" fmla="*/ 46 h 117"/>
                <a:gd name="T6" fmla="*/ 20 w 239"/>
                <a:gd name="T7" fmla="*/ 65 h 117"/>
                <a:gd name="T8" fmla="*/ 35 w 239"/>
                <a:gd name="T9" fmla="*/ 82 h 117"/>
                <a:gd name="T10" fmla="*/ 53 w 239"/>
                <a:gd name="T11" fmla="*/ 96 h 117"/>
                <a:gd name="T12" fmla="*/ 73 w 239"/>
                <a:gd name="T13" fmla="*/ 107 h 117"/>
                <a:gd name="T14" fmla="*/ 96 w 239"/>
                <a:gd name="T15" fmla="*/ 113 h 117"/>
                <a:gd name="T16" fmla="*/ 119 w 239"/>
                <a:gd name="T17" fmla="*/ 116 h 117"/>
                <a:gd name="T18" fmla="*/ 145 w 239"/>
                <a:gd name="T19" fmla="*/ 113 h 117"/>
                <a:gd name="T20" fmla="*/ 165 w 239"/>
                <a:gd name="T21" fmla="*/ 107 h 117"/>
                <a:gd name="T22" fmla="*/ 185 w 239"/>
                <a:gd name="T23" fmla="*/ 96 h 117"/>
                <a:gd name="T24" fmla="*/ 203 w 239"/>
                <a:gd name="T25" fmla="*/ 82 h 117"/>
                <a:gd name="T26" fmla="*/ 218 w 239"/>
                <a:gd name="T27" fmla="*/ 65 h 117"/>
                <a:gd name="T28" fmla="*/ 229 w 239"/>
                <a:gd name="T29" fmla="*/ 46 h 117"/>
                <a:gd name="T30" fmla="*/ 235 w 239"/>
                <a:gd name="T31" fmla="*/ 23 h 117"/>
                <a:gd name="T32" fmla="*/ 238 w 239"/>
                <a:gd name="T33" fmla="*/ 0 h 117"/>
                <a:gd name="T34" fmla="*/ 229 w 239"/>
                <a:gd name="T35" fmla="*/ 11 h 117"/>
                <a:gd name="T36" fmla="*/ 223 w 239"/>
                <a:gd name="T37" fmla="*/ 31 h 117"/>
                <a:gd name="T38" fmla="*/ 218 w 239"/>
                <a:gd name="T39" fmla="*/ 51 h 117"/>
                <a:gd name="T40" fmla="*/ 203 w 239"/>
                <a:gd name="T41" fmla="*/ 68 h 117"/>
                <a:gd name="T42" fmla="*/ 188 w 239"/>
                <a:gd name="T43" fmla="*/ 82 h 117"/>
                <a:gd name="T44" fmla="*/ 171 w 239"/>
                <a:gd name="T45" fmla="*/ 93 h 117"/>
                <a:gd name="T46" fmla="*/ 154 w 239"/>
                <a:gd name="T47" fmla="*/ 102 h 117"/>
                <a:gd name="T48" fmla="*/ 131 w 239"/>
                <a:gd name="T49" fmla="*/ 105 h 117"/>
                <a:gd name="T50" fmla="*/ 107 w 239"/>
                <a:gd name="T51" fmla="*/ 105 h 117"/>
                <a:gd name="T52" fmla="*/ 87 w 239"/>
                <a:gd name="T53" fmla="*/ 102 h 117"/>
                <a:gd name="T54" fmla="*/ 67 w 239"/>
                <a:gd name="T55" fmla="*/ 93 h 117"/>
                <a:gd name="T56" fmla="*/ 50 w 239"/>
                <a:gd name="T57" fmla="*/ 82 h 117"/>
                <a:gd name="T58" fmla="*/ 35 w 239"/>
                <a:gd name="T59" fmla="*/ 68 h 117"/>
                <a:gd name="T60" fmla="*/ 23 w 239"/>
                <a:gd name="T61" fmla="*/ 51 h 117"/>
                <a:gd name="T62" fmla="*/ 15 w 239"/>
                <a:gd name="T63" fmla="*/ 31 h 117"/>
                <a:gd name="T64" fmla="*/ 12 w 239"/>
                <a:gd name="T65" fmla="*/ 11 h 117"/>
                <a:gd name="T66" fmla="*/ 0 w 239"/>
                <a:gd name="T67" fmla="*/ 0 h 1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39"/>
                <a:gd name="T103" fmla="*/ 0 h 117"/>
                <a:gd name="T104" fmla="*/ 239 w 239"/>
                <a:gd name="T105" fmla="*/ 117 h 11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39" h="117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6"/>
                  </a:lnTo>
                  <a:lnTo>
                    <a:pt x="15" y="54"/>
                  </a:lnTo>
                  <a:lnTo>
                    <a:pt x="20" y="65"/>
                  </a:lnTo>
                  <a:lnTo>
                    <a:pt x="29" y="73"/>
                  </a:lnTo>
                  <a:lnTo>
                    <a:pt x="35" y="82"/>
                  </a:lnTo>
                  <a:lnTo>
                    <a:pt x="44" y="87"/>
                  </a:lnTo>
                  <a:lnTo>
                    <a:pt x="53" y="96"/>
                  </a:lnTo>
                  <a:lnTo>
                    <a:pt x="64" y="102"/>
                  </a:lnTo>
                  <a:lnTo>
                    <a:pt x="73" y="107"/>
                  </a:lnTo>
                  <a:lnTo>
                    <a:pt x="84" y="110"/>
                  </a:lnTo>
                  <a:lnTo>
                    <a:pt x="96" y="113"/>
                  </a:lnTo>
                  <a:lnTo>
                    <a:pt x="107" y="116"/>
                  </a:lnTo>
                  <a:lnTo>
                    <a:pt x="119" y="116"/>
                  </a:lnTo>
                  <a:lnTo>
                    <a:pt x="131" y="116"/>
                  </a:lnTo>
                  <a:lnTo>
                    <a:pt x="145" y="113"/>
                  </a:lnTo>
                  <a:lnTo>
                    <a:pt x="154" y="110"/>
                  </a:lnTo>
                  <a:lnTo>
                    <a:pt x="165" y="107"/>
                  </a:lnTo>
                  <a:lnTo>
                    <a:pt x="177" y="102"/>
                  </a:lnTo>
                  <a:lnTo>
                    <a:pt x="185" y="96"/>
                  </a:lnTo>
                  <a:lnTo>
                    <a:pt x="194" y="87"/>
                  </a:lnTo>
                  <a:lnTo>
                    <a:pt x="203" y="82"/>
                  </a:lnTo>
                  <a:lnTo>
                    <a:pt x="212" y="73"/>
                  </a:lnTo>
                  <a:lnTo>
                    <a:pt x="218" y="65"/>
                  </a:lnTo>
                  <a:lnTo>
                    <a:pt x="223" y="54"/>
                  </a:lnTo>
                  <a:lnTo>
                    <a:pt x="229" y="46"/>
                  </a:lnTo>
                  <a:lnTo>
                    <a:pt x="232" y="34"/>
                  </a:lnTo>
                  <a:lnTo>
                    <a:pt x="235" y="23"/>
                  </a:lnTo>
                  <a:lnTo>
                    <a:pt x="238" y="11"/>
                  </a:lnTo>
                  <a:lnTo>
                    <a:pt x="238" y="0"/>
                  </a:lnTo>
                  <a:lnTo>
                    <a:pt x="229" y="0"/>
                  </a:lnTo>
                  <a:lnTo>
                    <a:pt x="229" y="11"/>
                  </a:lnTo>
                  <a:lnTo>
                    <a:pt x="226" y="20"/>
                  </a:lnTo>
                  <a:lnTo>
                    <a:pt x="223" y="31"/>
                  </a:lnTo>
                  <a:lnTo>
                    <a:pt x="220" y="43"/>
                  </a:lnTo>
                  <a:lnTo>
                    <a:pt x="218" y="51"/>
                  </a:lnTo>
                  <a:lnTo>
                    <a:pt x="212" y="59"/>
                  </a:lnTo>
                  <a:lnTo>
                    <a:pt x="203" y="68"/>
                  </a:lnTo>
                  <a:lnTo>
                    <a:pt x="197" y="76"/>
                  </a:lnTo>
                  <a:lnTo>
                    <a:pt x="188" y="82"/>
                  </a:lnTo>
                  <a:lnTo>
                    <a:pt x="179" y="87"/>
                  </a:lnTo>
                  <a:lnTo>
                    <a:pt x="171" y="93"/>
                  </a:lnTo>
                  <a:lnTo>
                    <a:pt x="162" y="99"/>
                  </a:lnTo>
                  <a:lnTo>
                    <a:pt x="154" y="102"/>
                  </a:lnTo>
                  <a:lnTo>
                    <a:pt x="142" y="105"/>
                  </a:lnTo>
                  <a:lnTo>
                    <a:pt x="131" y="105"/>
                  </a:lnTo>
                  <a:lnTo>
                    <a:pt x="119" y="107"/>
                  </a:lnTo>
                  <a:lnTo>
                    <a:pt x="107" y="105"/>
                  </a:lnTo>
                  <a:lnTo>
                    <a:pt x="99" y="105"/>
                  </a:lnTo>
                  <a:lnTo>
                    <a:pt x="87" y="102"/>
                  </a:lnTo>
                  <a:lnTo>
                    <a:pt x="75" y="99"/>
                  </a:lnTo>
                  <a:lnTo>
                    <a:pt x="67" y="93"/>
                  </a:lnTo>
                  <a:lnTo>
                    <a:pt x="59" y="87"/>
                  </a:lnTo>
                  <a:lnTo>
                    <a:pt x="50" y="82"/>
                  </a:lnTo>
                  <a:lnTo>
                    <a:pt x="44" y="76"/>
                  </a:lnTo>
                  <a:lnTo>
                    <a:pt x="35" y="68"/>
                  </a:lnTo>
                  <a:lnTo>
                    <a:pt x="29" y="59"/>
                  </a:lnTo>
                  <a:lnTo>
                    <a:pt x="23" y="51"/>
                  </a:lnTo>
                  <a:lnTo>
                    <a:pt x="18" y="43"/>
                  </a:lnTo>
                  <a:lnTo>
                    <a:pt x="15" y="31"/>
                  </a:lnTo>
                  <a:lnTo>
                    <a:pt x="12" y="20"/>
                  </a:lnTo>
                  <a:lnTo>
                    <a:pt x="12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4" name="Freeform 184">
              <a:extLst>
                <a:ext uri="{FF2B5EF4-FFF2-40B4-BE49-F238E27FC236}">
                  <a16:creationId xmlns:a16="http://schemas.microsoft.com/office/drawing/2014/main" id="{88244A21-3601-4B16-AE1C-42060CA5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3689"/>
              <a:ext cx="221" cy="108"/>
            </a:xfrm>
            <a:custGeom>
              <a:avLst/>
              <a:gdLst>
                <a:gd name="T0" fmla="*/ 3 w 221"/>
                <a:gd name="T1" fmla="*/ 96 h 108"/>
                <a:gd name="T2" fmla="*/ 6 w 221"/>
                <a:gd name="T3" fmla="*/ 74 h 108"/>
                <a:gd name="T4" fmla="*/ 15 w 221"/>
                <a:gd name="T5" fmla="*/ 57 h 108"/>
                <a:gd name="T6" fmla="*/ 26 w 221"/>
                <a:gd name="T7" fmla="*/ 40 h 108"/>
                <a:gd name="T8" fmla="*/ 41 w 221"/>
                <a:gd name="T9" fmla="*/ 23 h 108"/>
                <a:gd name="T10" fmla="*/ 58 w 221"/>
                <a:gd name="T11" fmla="*/ 11 h 108"/>
                <a:gd name="T12" fmla="*/ 78 w 221"/>
                <a:gd name="T13" fmla="*/ 6 h 108"/>
                <a:gd name="T14" fmla="*/ 98 w 221"/>
                <a:gd name="T15" fmla="*/ 0 h 108"/>
                <a:gd name="T16" fmla="*/ 122 w 221"/>
                <a:gd name="T17" fmla="*/ 0 h 108"/>
                <a:gd name="T18" fmla="*/ 145 w 221"/>
                <a:gd name="T19" fmla="*/ 6 h 108"/>
                <a:gd name="T20" fmla="*/ 162 w 221"/>
                <a:gd name="T21" fmla="*/ 11 h 108"/>
                <a:gd name="T22" fmla="*/ 179 w 221"/>
                <a:gd name="T23" fmla="*/ 23 h 108"/>
                <a:gd name="T24" fmla="*/ 194 w 221"/>
                <a:gd name="T25" fmla="*/ 40 h 108"/>
                <a:gd name="T26" fmla="*/ 208 w 221"/>
                <a:gd name="T27" fmla="*/ 57 h 108"/>
                <a:gd name="T28" fmla="*/ 214 w 221"/>
                <a:gd name="T29" fmla="*/ 74 h 108"/>
                <a:gd name="T30" fmla="*/ 220 w 221"/>
                <a:gd name="T31" fmla="*/ 96 h 108"/>
                <a:gd name="T32" fmla="*/ 211 w 221"/>
                <a:gd name="T33" fmla="*/ 107 h 108"/>
                <a:gd name="T34" fmla="*/ 208 w 221"/>
                <a:gd name="T35" fmla="*/ 87 h 108"/>
                <a:gd name="T36" fmla="*/ 202 w 221"/>
                <a:gd name="T37" fmla="*/ 68 h 108"/>
                <a:gd name="T38" fmla="*/ 194 w 221"/>
                <a:gd name="T39" fmla="*/ 51 h 108"/>
                <a:gd name="T40" fmla="*/ 182 w 221"/>
                <a:gd name="T41" fmla="*/ 37 h 108"/>
                <a:gd name="T42" fmla="*/ 167 w 221"/>
                <a:gd name="T43" fmla="*/ 26 h 108"/>
                <a:gd name="T44" fmla="*/ 150 w 221"/>
                <a:gd name="T45" fmla="*/ 17 h 108"/>
                <a:gd name="T46" fmla="*/ 130 w 221"/>
                <a:gd name="T47" fmla="*/ 11 h 108"/>
                <a:gd name="T48" fmla="*/ 110 w 221"/>
                <a:gd name="T49" fmla="*/ 9 h 108"/>
                <a:gd name="T50" fmla="*/ 90 w 221"/>
                <a:gd name="T51" fmla="*/ 11 h 108"/>
                <a:gd name="T52" fmla="*/ 72 w 221"/>
                <a:gd name="T53" fmla="*/ 17 h 108"/>
                <a:gd name="T54" fmla="*/ 55 w 221"/>
                <a:gd name="T55" fmla="*/ 26 h 108"/>
                <a:gd name="T56" fmla="*/ 41 w 221"/>
                <a:gd name="T57" fmla="*/ 37 h 108"/>
                <a:gd name="T58" fmla="*/ 29 w 221"/>
                <a:gd name="T59" fmla="*/ 51 h 108"/>
                <a:gd name="T60" fmla="*/ 18 w 221"/>
                <a:gd name="T61" fmla="*/ 68 h 108"/>
                <a:gd name="T62" fmla="*/ 12 w 221"/>
                <a:gd name="T63" fmla="*/ 87 h 108"/>
                <a:gd name="T64" fmla="*/ 12 w 221"/>
                <a:gd name="T65" fmla="*/ 107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1"/>
                <a:gd name="T100" fmla="*/ 0 h 108"/>
                <a:gd name="T101" fmla="*/ 221 w 221"/>
                <a:gd name="T102" fmla="*/ 108 h 10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1" h="108">
                  <a:moveTo>
                    <a:pt x="0" y="107"/>
                  </a:moveTo>
                  <a:lnTo>
                    <a:pt x="3" y="96"/>
                  </a:lnTo>
                  <a:lnTo>
                    <a:pt x="3" y="84"/>
                  </a:lnTo>
                  <a:lnTo>
                    <a:pt x="6" y="74"/>
                  </a:lnTo>
                  <a:lnTo>
                    <a:pt x="9" y="65"/>
                  </a:lnTo>
                  <a:lnTo>
                    <a:pt x="15" y="57"/>
                  </a:lnTo>
                  <a:lnTo>
                    <a:pt x="20" y="48"/>
                  </a:lnTo>
                  <a:lnTo>
                    <a:pt x="26" y="40"/>
                  </a:lnTo>
                  <a:lnTo>
                    <a:pt x="35" y="31"/>
                  </a:lnTo>
                  <a:lnTo>
                    <a:pt x="41" y="23"/>
                  </a:lnTo>
                  <a:lnTo>
                    <a:pt x="50" y="17"/>
                  </a:lnTo>
                  <a:lnTo>
                    <a:pt x="58" y="11"/>
                  </a:lnTo>
                  <a:lnTo>
                    <a:pt x="66" y="9"/>
                  </a:lnTo>
                  <a:lnTo>
                    <a:pt x="78" y="6"/>
                  </a:lnTo>
                  <a:lnTo>
                    <a:pt x="90" y="3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33" y="3"/>
                  </a:lnTo>
                  <a:lnTo>
                    <a:pt x="145" y="6"/>
                  </a:lnTo>
                  <a:lnTo>
                    <a:pt x="153" y="9"/>
                  </a:lnTo>
                  <a:lnTo>
                    <a:pt x="162" y="11"/>
                  </a:lnTo>
                  <a:lnTo>
                    <a:pt x="170" y="17"/>
                  </a:lnTo>
                  <a:lnTo>
                    <a:pt x="179" y="23"/>
                  </a:lnTo>
                  <a:lnTo>
                    <a:pt x="188" y="31"/>
                  </a:lnTo>
                  <a:lnTo>
                    <a:pt x="194" y="40"/>
                  </a:lnTo>
                  <a:lnTo>
                    <a:pt x="202" y="48"/>
                  </a:lnTo>
                  <a:lnTo>
                    <a:pt x="208" y="57"/>
                  </a:lnTo>
                  <a:lnTo>
                    <a:pt x="211" y="65"/>
                  </a:lnTo>
                  <a:lnTo>
                    <a:pt x="214" y="74"/>
                  </a:lnTo>
                  <a:lnTo>
                    <a:pt x="217" y="84"/>
                  </a:lnTo>
                  <a:lnTo>
                    <a:pt x="220" y="96"/>
                  </a:lnTo>
                  <a:lnTo>
                    <a:pt x="220" y="107"/>
                  </a:lnTo>
                  <a:lnTo>
                    <a:pt x="211" y="107"/>
                  </a:lnTo>
                  <a:lnTo>
                    <a:pt x="211" y="96"/>
                  </a:lnTo>
                  <a:lnTo>
                    <a:pt x="208" y="87"/>
                  </a:lnTo>
                  <a:lnTo>
                    <a:pt x="205" y="77"/>
                  </a:lnTo>
                  <a:lnTo>
                    <a:pt x="202" y="68"/>
                  </a:lnTo>
                  <a:lnTo>
                    <a:pt x="200" y="60"/>
                  </a:lnTo>
                  <a:lnTo>
                    <a:pt x="194" y="51"/>
                  </a:lnTo>
                  <a:lnTo>
                    <a:pt x="188" y="45"/>
                  </a:lnTo>
                  <a:lnTo>
                    <a:pt x="182" y="37"/>
                  </a:lnTo>
                  <a:lnTo>
                    <a:pt x="173" y="31"/>
                  </a:lnTo>
                  <a:lnTo>
                    <a:pt x="167" y="26"/>
                  </a:lnTo>
                  <a:lnTo>
                    <a:pt x="159" y="20"/>
                  </a:lnTo>
                  <a:lnTo>
                    <a:pt x="150" y="17"/>
                  </a:lnTo>
                  <a:lnTo>
                    <a:pt x="142" y="14"/>
                  </a:lnTo>
                  <a:lnTo>
                    <a:pt x="130" y="11"/>
                  </a:lnTo>
                  <a:lnTo>
                    <a:pt x="122" y="9"/>
                  </a:lnTo>
                  <a:lnTo>
                    <a:pt x="110" y="9"/>
                  </a:lnTo>
                  <a:lnTo>
                    <a:pt x="101" y="9"/>
                  </a:lnTo>
                  <a:lnTo>
                    <a:pt x="90" y="11"/>
                  </a:lnTo>
                  <a:lnTo>
                    <a:pt x="81" y="14"/>
                  </a:lnTo>
                  <a:lnTo>
                    <a:pt x="72" y="17"/>
                  </a:lnTo>
                  <a:lnTo>
                    <a:pt x="64" y="20"/>
                  </a:lnTo>
                  <a:lnTo>
                    <a:pt x="55" y="26"/>
                  </a:lnTo>
                  <a:lnTo>
                    <a:pt x="47" y="31"/>
                  </a:lnTo>
                  <a:lnTo>
                    <a:pt x="41" y="37"/>
                  </a:lnTo>
                  <a:lnTo>
                    <a:pt x="35" y="45"/>
                  </a:lnTo>
                  <a:lnTo>
                    <a:pt x="29" y="51"/>
                  </a:lnTo>
                  <a:lnTo>
                    <a:pt x="23" y="60"/>
                  </a:lnTo>
                  <a:lnTo>
                    <a:pt x="18" y="68"/>
                  </a:lnTo>
                  <a:lnTo>
                    <a:pt x="15" y="77"/>
                  </a:lnTo>
                  <a:lnTo>
                    <a:pt x="12" y="87"/>
                  </a:lnTo>
                  <a:lnTo>
                    <a:pt x="12" y="96"/>
                  </a:lnTo>
                  <a:lnTo>
                    <a:pt x="12" y="107"/>
                  </a:lnTo>
                  <a:lnTo>
                    <a:pt x="0" y="107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5" name="Freeform 185">
              <a:extLst>
                <a:ext uri="{FF2B5EF4-FFF2-40B4-BE49-F238E27FC236}">
                  <a16:creationId xmlns:a16="http://schemas.microsoft.com/office/drawing/2014/main" id="{88766553-0305-4DF2-A2CB-9BF2A85CA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3802"/>
              <a:ext cx="221" cy="108"/>
            </a:xfrm>
            <a:custGeom>
              <a:avLst/>
              <a:gdLst>
                <a:gd name="T0" fmla="*/ 0 w 221"/>
                <a:gd name="T1" fmla="*/ 0 h 108"/>
                <a:gd name="T2" fmla="*/ 3 w 221"/>
                <a:gd name="T3" fmla="*/ 20 h 108"/>
                <a:gd name="T4" fmla="*/ 9 w 221"/>
                <a:gd name="T5" fmla="*/ 43 h 108"/>
                <a:gd name="T6" fmla="*/ 20 w 221"/>
                <a:gd name="T7" fmla="*/ 59 h 108"/>
                <a:gd name="T8" fmla="*/ 35 w 221"/>
                <a:gd name="T9" fmla="*/ 76 h 108"/>
                <a:gd name="T10" fmla="*/ 50 w 221"/>
                <a:gd name="T11" fmla="*/ 87 h 108"/>
                <a:gd name="T12" fmla="*/ 66 w 221"/>
                <a:gd name="T13" fmla="*/ 98 h 108"/>
                <a:gd name="T14" fmla="*/ 90 w 221"/>
                <a:gd name="T15" fmla="*/ 104 h 108"/>
                <a:gd name="T16" fmla="*/ 110 w 221"/>
                <a:gd name="T17" fmla="*/ 107 h 108"/>
                <a:gd name="T18" fmla="*/ 133 w 221"/>
                <a:gd name="T19" fmla="*/ 104 h 108"/>
                <a:gd name="T20" fmla="*/ 153 w 221"/>
                <a:gd name="T21" fmla="*/ 98 h 108"/>
                <a:gd name="T22" fmla="*/ 170 w 221"/>
                <a:gd name="T23" fmla="*/ 87 h 108"/>
                <a:gd name="T24" fmla="*/ 188 w 221"/>
                <a:gd name="T25" fmla="*/ 76 h 108"/>
                <a:gd name="T26" fmla="*/ 202 w 221"/>
                <a:gd name="T27" fmla="*/ 59 h 108"/>
                <a:gd name="T28" fmla="*/ 211 w 221"/>
                <a:gd name="T29" fmla="*/ 43 h 108"/>
                <a:gd name="T30" fmla="*/ 217 w 221"/>
                <a:gd name="T31" fmla="*/ 20 h 108"/>
                <a:gd name="T32" fmla="*/ 220 w 221"/>
                <a:gd name="T33" fmla="*/ 0 h 108"/>
                <a:gd name="T34" fmla="*/ 211 w 221"/>
                <a:gd name="T35" fmla="*/ 9 h 108"/>
                <a:gd name="T36" fmla="*/ 205 w 221"/>
                <a:gd name="T37" fmla="*/ 28 h 108"/>
                <a:gd name="T38" fmla="*/ 200 w 221"/>
                <a:gd name="T39" fmla="*/ 45 h 108"/>
                <a:gd name="T40" fmla="*/ 188 w 221"/>
                <a:gd name="T41" fmla="*/ 62 h 108"/>
                <a:gd name="T42" fmla="*/ 173 w 221"/>
                <a:gd name="T43" fmla="*/ 76 h 108"/>
                <a:gd name="T44" fmla="*/ 159 w 221"/>
                <a:gd name="T45" fmla="*/ 84 h 108"/>
                <a:gd name="T46" fmla="*/ 142 w 221"/>
                <a:gd name="T47" fmla="*/ 93 h 108"/>
                <a:gd name="T48" fmla="*/ 122 w 221"/>
                <a:gd name="T49" fmla="*/ 96 h 108"/>
                <a:gd name="T50" fmla="*/ 101 w 221"/>
                <a:gd name="T51" fmla="*/ 96 h 108"/>
                <a:gd name="T52" fmla="*/ 81 w 221"/>
                <a:gd name="T53" fmla="*/ 93 h 108"/>
                <a:gd name="T54" fmla="*/ 64 w 221"/>
                <a:gd name="T55" fmla="*/ 84 h 108"/>
                <a:gd name="T56" fmla="*/ 47 w 221"/>
                <a:gd name="T57" fmla="*/ 76 h 108"/>
                <a:gd name="T58" fmla="*/ 35 w 221"/>
                <a:gd name="T59" fmla="*/ 62 h 108"/>
                <a:gd name="T60" fmla="*/ 23 w 221"/>
                <a:gd name="T61" fmla="*/ 45 h 108"/>
                <a:gd name="T62" fmla="*/ 15 w 221"/>
                <a:gd name="T63" fmla="*/ 28 h 108"/>
                <a:gd name="T64" fmla="*/ 12 w 221"/>
                <a:gd name="T65" fmla="*/ 9 h 108"/>
                <a:gd name="T66" fmla="*/ 0 w 221"/>
                <a:gd name="T67" fmla="*/ 0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21"/>
                <a:gd name="T103" fmla="*/ 0 h 108"/>
                <a:gd name="T104" fmla="*/ 221 w 221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21" h="108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3" y="20"/>
                  </a:lnTo>
                  <a:lnTo>
                    <a:pt x="6" y="31"/>
                  </a:lnTo>
                  <a:lnTo>
                    <a:pt x="9" y="43"/>
                  </a:lnTo>
                  <a:lnTo>
                    <a:pt x="15" y="51"/>
                  </a:lnTo>
                  <a:lnTo>
                    <a:pt x="20" y="59"/>
                  </a:lnTo>
                  <a:lnTo>
                    <a:pt x="26" y="67"/>
                  </a:lnTo>
                  <a:lnTo>
                    <a:pt x="35" y="76"/>
                  </a:lnTo>
                  <a:lnTo>
                    <a:pt x="41" y="81"/>
                  </a:lnTo>
                  <a:lnTo>
                    <a:pt x="50" y="87"/>
                  </a:lnTo>
                  <a:lnTo>
                    <a:pt x="58" y="93"/>
                  </a:lnTo>
                  <a:lnTo>
                    <a:pt x="66" y="98"/>
                  </a:lnTo>
                  <a:lnTo>
                    <a:pt x="78" y="101"/>
                  </a:lnTo>
                  <a:lnTo>
                    <a:pt x="90" y="104"/>
                  </a:lnTo>
                  <a:lnTo>
                    <a:pt x="98" y="104"/>
                  </a:lnTo>
                  <a:lnTo>
                    <a:pt x="110" y="107"/>
                  </a:lnTo>
                  <a:lnTo>
                    <a:pt x="122" y="104"/>
                  </a:lnTo>
                  <a:lnTo>
                    <a:pt x="133" y="104"/>
                  </a:lnTo>
                  <a:lnTo>
                    <a:pt x="145" y="101"/>
                  </a:lnTo>
                  <a:lnTo>
                    <a:pt x="153" y="98"/>
                  </a:lnTo>
                  <a:lnTo>
                    <a:pt x="162" y="93"/>
                  </a:lnTo>
                  <a:lnTo>
                    <a:pt x="170" y="87"/>
                  </a:lnTo>
                  <a:lnTo>
                    <a:pt x="179" y="81"/>
                  </a:lnTo>
                  <a:lnTo>
                    <a:pt x="188" y="76"/>
                  </a:lnTo>
                  <a:lnTo>
                    <a:pt x="194" y="67"/>
                  </a:lnTo>
                  <a:lnTo>
                    <a:pt x="202" y="59"/>
                  </a:lnTo>
                  <a:lnTo>
                    <a:pt x="208" y="51"/>
                  </a:lnTo>
                  <a:lnTo>
                    <a:pt x="211" y="43"/>
                  </a:lnTo>
                  <a:lnTo>
                    <a:pt x="214" y="31"/>
                  </a:lnTo>
                  <a:lnTo>
                    <a:pt x="217" y="20"/>
                  </a:lnTo>
                  <a:lnTo>
                    <a:pt x="220" y="11"/>
                  </a:lnTo>
                  <a:lnTo>
                    <a:pt x="220" y="0"/>
                  </a:lnTo>
                  <a:lnTo>
                    <a:pt x="211" y="0"/>
                  </a:lnTo>
                  <a:lnTo>
                    <a:pt x="211" y="9"/>
                  </a:lnTo>
                  <a:lnTo>
                    <a:pt x="208" y="20"/>
                  </a:lnTo>
                  <a:lnTo>
                    <a:pt x="205" y="28"/>
                  </a:lnTo>
                  <a:lnTo>
                    <a:pt x="202" y="37"/>
                  </a:lnTo>
                  <a:lnTo>
                    <a:pt x="200" y="45"/>
                  </a:lnTo>
                  <a:lnTo>
                    <a:pt x="194" y="54"/>
                  </a:lnTo>
                  <a:lnTo>
                    <a:pt x="188" y="62"/>
                  </a:lnTo>
                  <a:lnTo>
                    <a:pt x="182" y="67"/>
                  </a:lnTo>
                  <a:lnTo>
                    <a:pt x="173" y="76"/>
                  </a:lnTo>
                  <a:lnTo>
                    <a:pt x="167" y="79"/>
                  </a:lnTo>
                  <a:lnTo>
                    <a:pt x="159" y="84"/>
                  </a:lnTo>
                  <a:lnTo>
                    <a:pt x="150" y="90"/>
                  </a:lnTo>
                  <a:lnTo>
                    <a:pt x="142" y="93"/>
                  </a:lnTo>
                  <a:lnTo>
                    <a:pt x="130" y="96"/>
                  </a:lnTo>
                  <a:lnTo>
                    <a:pt x="122" y="96"/>
                  </a:lnTo>
                  <a:lnTo>
                    <a:pt x="110" y="96"/>
                  </a:lnTo>
                  <a:lnTo>
                    <a:pt x="101" y="96"/>
                  </a:lnTo>
                  <a:lnTo>
                    <a:pt x="90" y="96"/>
                  </a:lnTo>
                  <a:lnTo>
                    <a:pt x="81" y="93"/>
                  </a:lnTo>
                  <a:lnTo>
                    <a:pt x="72" y="90"/>
                  </a:lnTo>
                  <a:lnTo>
                    <a:pt x="64" y="84"/>
                  </a:lnTo>
                  <a:lnTo>
                    <a:pt x="55" y="79"/>
                  </a:lnTo>
                  <a:lnTo>
                    <a:pt x="47" y="76"/>
                  </a:lnTo>
                  <a:lnTo>
                    <a:pt x="41" y="67"/>
                  </a:lnTo>
                  <a:lnTo>
                    <a:pt x="35" y="62"/>
                  </a:lnTo>
                  <a:lnTo>
                    <a:pt x="29" y="54"/>
                  </a:lnTo>
                  <a:lnTo>
                    <a:pt x="23" y="45"/>
                  </a:lnTo>
                  <a:lnTo>
                    <a:pt x="18" y="37"/>
                  </a:lnTo>
                  <a:lnTo>
                    <a:pt x="15" y="28"/>
                  </a:lnTo>
                  <a:lnTo>
                    <a:pt x="12" y="20"/>
                  </a:lnTo>
                  <a:lnTo>
                    <a:pt x="12" y="9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186">
              <a:extLst>
                <a:ext uri="{FF2B5EF4-FFF2-40B4-BE49-F238E27FC236}">
                  <a16:creationId xmlns:a16="http://schemas.microsoft.com/office/drawing/2014/main" id="{D289C645-D12C-4AA1-A334-21D4EA69F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3698"/>
              <a:ext cx="200" cy="99"/>
            </a:xfrm>
            <a:custGeom>
              <a:avLst/>
              <a:gdLst>
                <a:gd name="T0" fmla="*/ 0 w 200"/>
                <a:gd name="T1" fmla="*/ 87 h 99"/>
                <a:gd name="T2" fmla="*/ 3 w 200"/>
                <a:gd name="T3" fmla="*/ 68 h 99"/>
                <a:gd name="T4" fmla="*/ 12 w 200"/>
                <a:gd name="T5" fmla="*/ 51 h 99"/>
                <a:gd name="T6" fmla="*/ 23 w 200"/>
                <a:gd name="T7" fmla="*/ 37 h 99"/>
                <a:gd name="T8" fmla="*/ 35 w 200"/>
                <a:gd name="T9" fmla="*/ 23 h 99"/>
                <a:gd name="T10" fmla="*/ 52 w 200"/>
                <a:gd name="T11" fmla="*/ 11 h 99"/>
                <a:gd name="T12" fmla="*/ 69 w 200"/>
                <a:gd name="T13" fmla="*/ 6 h 99"/>
                <a:gd name="T14" fmla="*/ 89 w 200"/>
                <a:gd name="T15" fmla="*/ 0 h 99"/>
                <a:gd name="T16" fmla="*/ 110 w 200"/>
                <a:gd name="T17" fmla="*/ 0 h 99"/>
                <a:gd name="T18" fmla="*/ 130 w 200"/>
                <a:gd name="T19" fmla="*/ 6 h 99"/>
                <a:gd name="T20" fmla="*/ 147 w 200"/>
                <a:gd name="T21" fmla="*/ 11 h 99"/>
                <a:gd name="T22" fmla="*/ 161 w 200"/>
                <a:gd name="T23" fmla="*/ 23 h 99"/>
                <a:gd name="T24" fmla="*/ 176 w 200"/>
                <a:gd name="T25" fmla="*/ 37 h 99"/>
                <a:gd name="T26" fmla="*/ 187 w 200"/>
                <a:gd name="T27" fmla="*/ 51 h 99"/>
                <a:gd name="T28" fmla="*/ 193 w 200"/>
                <a:gd name="T29" fmla="*/ 68 h 99"/>
                <a:gd name="T30" fmla="*/ 199 w 200"/>
                <a:gd name="T31" fmla="*/ 87 h 99"/>
                <a:gd name="T32" fmla="*/ 190 w 200"/>
                <a:gd name="T33" fmla="*/ 98 h 99"/>
                <a:gd name="T34" fmla="*/ 187 w 200"/>
                <a:gd name="T35" fmla="*/ 78 h 99"/>
                <a:gd name="T36" fmla="*/ 182 w 200"/>
                <a:gd name="T37" fmla="*/ 65 h 99"/>
                <a:gd name="T38" fmla="*/ 173 w 200"/>
                <a:gd name="T39" fmla="*/ 48 h 99"/>
                <a:gd name="T40" fmla="*/ 164 w 200"/>
                <a:gd name="T41" fmla="*/ 34 h 99"/>
                <a:gd name="T42" fmla="*/ 149 w 200"/>
                <a:gd name="T43" fmla="*/ 25 h 99"/>
                <a:gd name="T44" fmla="*/ 133 w 200"/>
                <a:gd name="T45" fmla="*/ 17 h 99"/>
                <a:gd name="T46" fmla="*/ 118 w 200"/>
                <a:gd name="T47" fmla="*/ 11 h 99"/>
                <a:gd name="T48" fmla="*/ 98 w 200"/>
                <a:gd name="T49" fmla="*/ 8 h 99"/>
                <a:gd name="T50" fmla="*/ 81 w 200"/>
                <a:gd name="T51" fmla="*/ 11 h 99"/>
                <a:gd name="T52" fmla="*/ 63 w 200"/>
                <a:gd name="T53" fmla="*/ 17 h 99"/>
                <a:gd name="T54" fmla="*/ 50 w 200"/>
                <a:gd name="T55" fmla="*/ 25 h 99"/>
                <a:gd name="T56" fmla="*/ 35 w 200"/>
                <a:gd name="T57" fmla="*/ 34 h 99"/>
                <a:gd name="T58" fmla="*/ 23 w 200"/>
                <a:gd name="T59" fmla="*/ 48 h 99"/>
                <a:gd name="T60" fmla="*/ 15 w 200"/>
                <a:gd name="T61" fmla="*/ 65 h 99"/>
                <a:gd name="T62" fmla="*/ 9 w 200"/>
                <a:gd name="T63" fmla="*/ 78 h 99"/>
                <a:gd name="T64" fmla="*/ 9 w 200"/>
                <a:gd name="T65" fmla="*/ 98 h 9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0"/>
                <a:gd name="T100" fmla="*/ 0 h 99"/>
                <a:gd name="T101" fmla="*/ 200 w 200"/>
                <a:gd name="T102" fmla="*/ 99 h 9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0" h="99">
                  <a:moveTo>
                    <a:pt x="0" y="98"/>
                  </a:moveTo>
                  <a:lnTo>
                    <a:pt x="0" y="87"/>
                  </a:lnTo>
                  <a:lnTo>
                    <a:pt x="0" y="78"/>
                  </a:lnTo>
                  <a:lnTo>
                    <a:pt x="3" y="68"/>
                  </a:lnTo>
                  <a:lnTo>
                    <a:pt x="6" y="59"/>
                  </a:lnTo>
                  <a:lnTo>
                    <a:pt x="12" y="51"/>
                  </a:lnTo>
                  <a:lnTo>
                    <a:pt x="17" y="42"/>
                  </a:lnTo>
                  <a:lnTo>
                    <a:pt x="23" y="37"/>
                  </a:lnTo>
                  <a:lnTo>
                    <a:pt x="29" y="28"/>
                  </a:lnTo>
                  <a:lnTo>
                    <a:pt x="35" y="23"/>
                  </a:lnTo>
                  <a:lnTo>
                    <a:pt x="44" y="17"/>
                  </a:lnTo>
                  <a:lnTo>
                    <a:pt x="52" y="11"/>
                  </a:lnTo>
                  <a:lnTo>
                    <a:pt x="60" y="8"/>
                  </a:lnTo>
                  <a:lnTo>
                    <a:pt x="69" y="6"/>
                  </a:lnTo>
                  <a:lnTo>
                    <a:pt x="78" y="3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18" y="3"/>
                  </a:lnTo>
                  <a:lnTo>
                    <a:pt x="130" y="6"/>
                  </a:lnTo>
                  <a:lnTo>
                    <a:pt x="138" y="8"/>
                  </a:lnTo>
                  <a:lnTo>
                    <a:pt x="147" y="11"/>
                  </a:lnTo>
                  <a:lnTo>
                    <a:pt x="155" y="17"/>
                  </a:lnTo>
                  <a:lnTo>
                    <a:pt x="161" y="23"/>
                  </a:lnTo>
                  <a:lnTo>
                    <a:pt x="170" y="28"/>
                  </a:lnTo>
                  <a:lnTo>
                    <a:pt x="176" y="37"/>
                  </a:lnTo>
                  <a:lnTo>
                    <a:pt x="182" y="42"/>
                  </a:lnTo>
                  <a:lnTo>
                    <a:pt x="187" y="51"/>
                  </a:lnTo>
                  <a:lnTo>
                    <a:pt x="190" y="59"/>
                  </a:lnTo>
                  <a:lnTo>
                    <a:pt x="193" y="68"/>
                  </a:lnTo>
                  <a:lnTo>
                    <a:pt x="196" y="78"/>
                  </a:lnTo>
                  <a:lnTo>
                    <a:pt x="199" y="87"/>
                  </a:lnTo>
                  <a:lnTo>
                    <a:pt x="199" y="98"/>
                  </a:lnTo>
                  <a:lnTo>
                    <a:pt x="190" y="98"/>
                  </a:lnTo>
                  <a:lnTo>
                    <a:pt x="190" y="90"/>
                  </a:lnTo>
                  <a:lnTo>
                    <a:pt x="187" y="78"/>
                  </a:lnTo>
                  <a:lnTo>
                    <a:pt x="184" y="71"/>
                  </a:lnTo>
                  <a:lnTo>
                    <a:pt x="182" y="65"/>
                  </a:lnTo>
                  <a:lnTo>
                    <a:pt x="179" y="57"/>
                  </a:lnTo>
                  <a:lnTo>
                    <a:pt x="173" y="48"/>
                  </a:lnTo>
                  <a:lnTo>
                    <a:pt x="170" y="42"/>
                  </a:lnTo>
                  <a:lnTo>
                    <a:pt x="164" y="34"/>
                  </a:lnTo>
                  <a:lnTo>
                    <a:pt x="155" y="28"/>
                  </a:lnTo>
                  <a:lnTo>
                    <a:pt x="149" y="25"/>
                  </a:lnTo>
                  <a:lnTo>
                    <a:pt x="141" y="20"/>
                  </a:lnTo>
                  <a:lnTo>
                    <a:pt x="133" y="17"/>
                  </a:lnTo>
                  <a:lnTo>
                    <a:pt x="127" y="14"/>
                  </a:lnTo>
                  <a:lnTo>
                    <a:pt x="118" y="11"/>
                  </a:lnTo>
                  <a:lnTo>
                    <a:pt x="107" y="8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1" y="11"/>
                  </a:lnTo>
                  <a:lnTo>
                    <a:pt x="72" y="14"/>
                  </a:lnTo>
                  <a:lnTo>
                    <a:pt x="63" y="17"/>
                  </a:lnTo>
                  <a:lnTo>
                    <a:pt x="54" y="20"/>
                  </a:lnTo>
                  <a:lnTo>
                    <a:pt x="50" y="25"/>
                  </a:lnTo>
                  <a:lnTo>
                    <a:pt x="41" y="28"/>
                  </a:lnTo>
                  <a:lnTo>
                    <a:pt x="35" y="34"/>
                  </a:lnTo>
                  <a:lnTo>
                    <a:pt x="29" y="42"/>
                  </a:lnTo>
                  <a:lnTo>
                    <a:pt x="23" y="48"/>
                  </a:lnTo>
                  <a:lnTo>
                    <a:pt x="20" y="57"/>
                  </a:lnTo>
                  <a:lnTo>
                    <a:pt x="15" y="65"/>
                  </a:lnTo>
                  <a:lnTo>
                    <a:pt x="12" y="71"/>
                  </a:lnTo>
                  <a:lnTo>
                    <a:pt x="9" y="78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0" y="98"/>
                  </a:lnTo>
                </a:path>
              </a:pathLst>
            </a:custGeom>
            <a:solidFill>
              <a:srgbClr val="FFE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Freeform 187">
              <a:extLst>
                <a:ext uri="{FF2B5EF4-FFF2-40B4-BE49-F238E27FC236}">
                  <a16:creationId xmlns:a16="http://schemas.microsoft.com/office/drawing/2014/main" id="{F1E90A8C-EB08-4960-92BB-2C942E1F9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3802"/>
              <a:ext cx="200" cy="96"/>
            </a:xfrm>
            <a:custGeom>
              <a:avLst/>
              <a:gdLst>
                <a:gd name="T0" fmla="*/ 0 w 200"/>
                <a:gd name="T1" fmla="*/ 0 h 96"/>
                <a:gd name="T2" fmla="*/ 0 w 200"/>
                <a:gd name="T3" fmla="*/ 20 h 96"/>
                <a:gd name="T4" fmla="*/ 6 w 200"/>
                <a:gd name="T5" fmla="*/ 37 h 96"/>
                <a:gd name="T6" fmla="*/ 17 w 200"/>
                <a:gd name="T7" fmla="*/ 54 h 96"/>
                <a:gd name="T8" fmla="*/ 29 w 200"/>
                <a:gd name="T9" fmla="*/ 67 h 96"/>
                <a:gd name="T10" fmla="*/ 44 w 200"/>
                <a:gd name="T11" fmla="*/ 78 h 96"/>
                <a:gd name="T12" fmla="*/ 60 w 200"/>
                <a:gd name="T13" fmla="*/ 89 h 96"/>
                <a:gd name="T14" fmla="*/ 78 w 200"/>
                <a:gd name="T15" fmla="*/ 95 h 96"/>
                <a:gd name="T16" fmla="*/ 98 w 200"/>
                <a:gd name="T17" fmla="*/ 95 h 96"/>
                <a:gd name="T18" fmla="*/ 118 w 200"/>
                <a:gd name="T19" fmla="*/ 95 h 96"/>
                <a:gd name="T20" fmla="*/ 138 w 200"/>
                <a:gd name="T21" fmla="*/ 89 h 96"/>
                <a:gd name="T22" fmla="*/ 155 w 200"/>
                <a:gd name="T23" fmla="*/ 78 h 96"/>
                <a:gd name="T24" fmla="*/ 170 w 200"/>
                <a:gd name="T25" fmla="*/ 67 h 96"/>
                <a:gd name="T26" fmla="*/ 182 w 200"/>
                <a:gd name="T27" fmla="*/ 54 h 96"/>
                <a:gd name="T28" fmla="*/ 190 w 200"/>
                <a:gd name="T29" fmla="*/ 37 h 96"/>
                <a:gd name="T30" fmla="*/ 196 w 200"/>
                <a:gd name="T31" fmla="*/ 20 h 96"/>
                <a:gd name="T32" fmla="*/ 199 w 200"/>
                <a:gd name="T33" fmla="*/ 0 h 96"/>
                <a:gd name="T34" fmla="*/ 190 w 200"/>
                <a:gd name="T35" fmla="*/ 8 h 96"/>
                <a:gd name="T36" fmla="*/ 184 w 200"/>
                <a:gd name="T37" fmla="*/ 25 h 96"/>
                <a:gd name="T38" fmla="*/ 179 w 200"/>
                <a:gd name="T39" fmla="*/ 42 h 96"/>
                <a:gd name="T40" fmla="*/ 170 w 200"/>
                <a:gd name="T41" fmla="*/ 55 h 96"/>
                <a:gd name="T42" fmla="*/ 155 w 200"/>
                <a:gd name="T43" fmla="*/ 67 h 96"/>
                <a:gd name="T44" fmla="*/ 141 w 200"/>
                <a:gd name="T45" fmla="*/ 75 h 96"/>
                <a:gd name="T46" fmla="*/ 127 w 200"/>
                <a:gd name="T47" fmla="*/ 84 h 96"/>
                <a:gd name="T48" fmla="*/ 107 w 200"/>
                <a:gd name="T49" fmla="*/ 87 h 96"/>
                <a:gd name="T50" fmla="*/ 89 w 200"/>
                <a:gd name="T51" fmla="*/ 87 h 96"/>
                <a:gd name="T52" fmla="*/ 72 w 200"/>
                <a:gd name="T53" fmla="*/ 84 h 96"/>
                <a:gd name="T54" fmla="*/ 54 w 200"/>
                <a:gd name="T55" fmla="*/ 75 h 96"/>
                <a:gd name="T56" fmla="*/ 41 w 200"/>
                <a:gd name="T57" fmla="*/ 67 h 96"/>
                <a:gd name="T58" fmla="*/ 29 w 200"/>
                <a:gd name="T59" fmla="*/ 55 h 96"/>
                <a:gd name="T60" fmla="*/ 20 w 200"/>
                <a:gd name="T61" fmla="*/ 42 h 96"/>
                <a:gd name="T62" fmla="*/ 12 w 200"/>
                <a:gd name="T63" fmla="*/ 25 h 96"/>
                <a:gd name="T64" fmla="*/ 9 w 200"/>
                <a:gd name="T65" fmla="*/ 8 h 96"/>
                <a:gd name="T66" fmla="*/ 0 w 200"/>
                <a:gd name="T67" fmla="*/ 0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0"/>
                <a:gd name="T103" fmla="*/ 0 h 96"/>
                <a:gd name="T104" fmla="*/ 200 w 200"/>
                <a:gd name="T105" fmla="*/ 96 h 9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0" h="96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20"/>
                  </a:lnTo>
                  <a:lnTo>
                    <a:pt x="3" y="28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54"/>
                  </a:lnTo>
                  <a:lnTo>
                    <a:pt x="23" y="61"/>
                  </a:lnTo>
                  <a:lnTo>
                    <a:pt x="29" y="67"/>
                  </a:lnTo>
                  <a:lnTo>
                    <a:pt x="35" y="75"/>
                  </a:lnTo>
                  <a:lnTo>
                    <a:pt x="44" y="78"/>
                  </a:lnTo>
                  <a:lnTo>
                    <a:pt x="52" y="84"/>
                  </a:lnTo>
                  <a:lnTo>
                    <a:pt x="60" y="89"/>
                  </a:lnTo>
                  <a:lnTo>
                    <a:pt x="69" y="92"/>
                  </a:lnTo>
                  <a:lnTo>
                    <a:pt x="78" y="95"/>
                  </a:lnTo>
                  <a:lnTo>
                    <a:pt x="89" y="95"/>
                  </a:lnTo>
                  <a:lnTo>
                    <a:pt x="98" y="95"/>
                  </a:lnTo>
                  <a:lnTo>
                    <a:pt x="110" y="95"/>
                  </a:lnTo>
                  <a:lnTo>
                    <a:pt x="118" y="95"/>
                  </a:lnTo>
                  <a:lnTo>
                    <a:pt x="130" y="92"/>
                  </a:lnTo>
                  <a:lnTo>
                    <a:pt x="138" y="89"/>
                  </a:lnTo>
                  <a:lnTo>
                    <a:pt x="147" y="84"/>
                  </a:lnTo>
                  <a:lnTo>
                    <a:pt x="155" y="78"/>
                  </a:lnTo>
                  <a:lnTo>
                    <a:pt x="161" y="75"/>
                  </a:lnTo>
                  <a:lnTo>
                    <a:pt x="170" y="67"/>
                  </a:lnTo>
                  <a:lnTo>
                    <a:pt x="176" y="61"/>
                  </a:lnTo>
                  <a:lnTo>
                    <a:pt x="182" y="54"/>
                  </a:lnTo>
                  <a:lnTo>
                    <a:pt x="187" y="45"/>
                  </a:lnTo>
                  <a:lnTo>
                    <a:pt x="190" y="37"/>
                  </a:lnTo>
                  <a:lnTo>
                    <a:pt x="193" y="28"/>
                  </a:lnTo>
                  <a:lnTo>
                    <a:pt x="196" y="20"/>
                  </a:lnTo>
                  <a:lnTo>
                    <a:pt x="199" y="8"/>
                  </a:lnTo>
                  <a:lnTo>
                    <a:pt x="199" y="0"/>
                  </a:lnTo>
                  <a:lnTo>
                    <a:pt x="190" y="0"/>
                  </a:lnTo>
                  <a:lnTo>
                    <a:pt x="190" y="8"/>
                  </a:lnTo>
                  <a:lnTo>
                    <a:pt x="187" y="17"/>
                  </a:lnTo>
                  <a:lnTo>
                    <a:pt x="184" y="25"/>
                  </a:lnTo>
                  <a:lnTo>
                    <a:pt x="182" y="34"/>
                  </a:lnTo>
                  <a:lnTo>
                    <a:pt x="179" y="42"/>
                  </a:lnTo>
                  <a:lnTo>
                    <a:pt x="173" y="48"/>
                  </a:lnTo>
                  <a:lnTo>
                    <a:pt x="170" y="55"/>
                  </a:lnTo>
                  <a:lnTo>
                    <a:pt x="164" y="61"/>
                  </a:lnTo>
                  <a:lnTo>
                    <a:pt x="155" y="67"/>
                  </a:lnTo>
                  <a:lnTo>
                    <a:pt x="149" y="72"/>
                  </a:lnTo>
                  <a:lnTo>
                    <a:pt x="141" y="75"/>
                  </a:lnTo>
                  <a:lnTo>
                    <a:pt x="133" y="81"/>
                  </a:lnTo>
                  <a:lnTo>
                    <a:pt x="127" y="84"/>
                  </a:lnTo>
                  <a:lnTo>
                    <a:pt x="118" y="87"/>
                  </a:lnTo>
                  <a:lnTo>
                    <a:pt x="107" y="87"/>
                  </a:lnTo>
                  <a:lnTo>
                    <a:pt x="98" y="87"/>
                  </a:lnTo>
                  <a:lnTo>
                    <a:pt x="89" y="87"/>
                  </a:lnTo>
                  <a:lnTo>
                    <a:pt x="81" y="87"/>
                  </a:lnTo>
                  <a:lnTo>
                    <a:pt x="72" y="84"/>
                  </a:lnTo>
                  <a:lnTo>
                    <a:pt x="63" y="81"/>
                  </a:lnTo>
                  <a:lnTo>
                    <a:pt x="54" y="75"/>
                  </a:lnTo>
                  <a:lnTo>
                    <a:pt x="50" y="72"/>
                  </a:lnTo>
                  <a:lnTo>
                    <a:pt x="41" y="67"/>
                  </a:lnTo>
                  <a:lnTo>
                    <a:pt x="35" y="61"/>
                  </a:lnTo>
                  <a:lnTo>
                    <a:pt x="29" y="55"/>
                  </a:lnTo>
                  <a:lnTo>
                    <a:pt x="23" y="48"/>
                  </a:lnTo>
                  <a:lnTo>
                    <a:pt x="20" y="42"/>
                  </a:lnTo>
                  <a:lnTo>
                    <a:pt x="15" y="34"/>
                  </a:lnTo>
                  <a:lnTo>
                    <a:pt x="12" y="25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8" name="Freeform 188">
              <a:extLst>
                <a:ext uri="{FF2B5EF4-FFF2-40B4-BE49-F238E27FC236}">
                  <a16:creationId xmlns:a16="http://schemas.microsoft.com/office/drawing/2014/main" id="{EFECAA82-338B-444C-ACA6-8BD978D9A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707"/>
              <a:ext cx="182" cy="90"/>
            </a:xfrm>
            <a:custGeom>
              <a:avLst/>
              <a:gdLst>
                <a:gd name="T0" fmla="*/ 0 w 182"/>
                <a:gd name="T1" fmla="*/ 81 h 90"/>
                <a:gd name="T2" fmla="*/ 3 w 182"/>
                <a:gd name="T3" fmla="*/ 62 h 90"/>
                <a:gd name="T4" fmla="*/ 12 w 182"/>
                <a:gd name="T5" fmla="*/ 48 h 90"/>
                <a:gd name="T6" fmla="*/ 20 w 182"/>
                <a:gd name="T7" fmla="*/ 34 h 90"/>
                <a:gd name="T8" fmla="*/ 32 w 182"/>
                <a:gd name="T9" fmla="*/ 20 h 90"/>
                <a:gd name="T10" fmla="*/ 45 w 182"/>
                <a:gd name="T11" fmla="*/ 11 h 90"/>
                <a:gd name="T12" fmla="*/ 63 w 182"/>
                <a:gd name="T13" fmla="*/ 6 h 90"/>
                <a:gd name="T14" fmla="*/ 80 w 182"/>
                <a:gd name="T15" fmla="*/ 0 h 90"/>
                <a:gd name="T16" fmla="*/ 98 w 182"/>
                <a:gd name="T17" fmla="*/ 0 h 90"/>
                <a:gd name="T18" fmla="*/ 118 w 182"/>
                <a:gd name="T19" fmla="*/ 6 h 90"/>
                <a:gd name="T20" fmla="*/ 132 w 182"/>
                <a:gd name="T21" fmla="*/ 11 h 90"/>
                <a:gd name="T22" fmla="*/ 146 w 182"/>
                <a:gd name="T23" fmla="*/ 20 h 90"/>
                <a:gd name="T24" fmla="*/ 161 w 182"/>
                <a:gd name="T25" fmla="*/ 34 h 90"/>
                <a:gd name="T26" fmla="*/ 169 w 182"/>
                <a:gd name="T27" fmla="*/ 48 h 90"/>
                <a:gd name="T28" fmla="*/ 175 w 182"/>
                <a:gd name="T29" fmla="*/ 62 h 90"/>
                <a:gd name="T30" fmla="*/ 181 w 182"/>
                <a:gd name="T31" fmla="*/ 81 h 90"/>
                <a:gd name="T32" fmla="*/ 172 w 182"/>
                <a:gd name="T33" fmla="*/ 89 h 90"/>
                <a:gd name="T34" fmla="*/ 169 w 182"/>
                <a:gd name="T35" fmla="*/ 72 h 90"/>
                <a:gd name="T36" fmla="*/ 164 w 182"/>
                <a:gd name="T37" fmla="*/ 59 h 90"/>
                <a:gd name="T38" fmla="*/ 158 w 182"/>
                <a:gd name="T39" fmla="*/ 45 h 90"/>
                <a:gd name="T40" fmla="*/ 146 w 182"/>
                <a:gd name="T41" fmla="*/ 34 h 90"/>
                <a:gd name="T42" fmla="*/ 135 w 182"/>
                <a:gd name="T43" fmla="*/ 22 h 90"/>
                <a:gd name="T44" fmla="*/ 121 w 182"/>
                <a:gd name="T45" fmla="*/ 17 h 90"/>
                <a:gd name="T46" fmla="*/ 106 w 182"/>
                <a:gd name="T47" fmla="*/ 11 h 90"/>
                <a:gd name="T48" fmla="*/ 89 w 182"/>
                <a:gd name="T49" fmla="*/ 8 h 90"/>
                <a:gd name="T50" fmla="*/ 72 w 182"/>
                <a:gd name="T51" fmla="*/ 11 h 90"/>
                <a:gd name="T52" fmla="*/ 57 w 182"/>
                <a:gd name="T53" fmla="*/ 17 h 90"/>
                <a:gd name="T54" fmla="*/ 44 w 182"/>
                <a:gd name="T55" fmla="*/ 22 h 90"/>
                <a:gd name="T56" fmla="*/ 32 w 182"/>
                <a:gd name="T57" fmla="*/ 34 h 90"/>
                <a:gd name="T58" fmla="*/ 23 w 182"/>
                <a:gd name="T59" fmla="*/ 45 h 90"/>
                <a:gd name="T60" fmla="*/ 15 w 182"/>
                <a:gd name="T61" fmla="*/ 59 h 90"/>
                <a:gd name="T62" fmla="*/ 9 w 182"/>
                <a:gd name="T63" fmla="*/ 72 h 90"/>
                <a:gd name="T64" fmla="*/ 9 w 182"/>
                <a:gd name="T65" fmla="*/ 89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2"/>
                <a:gd name="T100" fmla="*/ 0 h 90"/>
                <a:gd name="T101" fmla="*/ 182 w 182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2" h="90">
                  <a:moveTo>
                    <a:pt x="0" y="89"/>
                  </a:moveTo>
                  <a:lnTo>
                    <a:pt x="0" y="81"/>
                  </a:lnTo>
                  <a:lnTo>
                    <a:pt x="0" y="69"/>
                  </a:lnTo>
                  <a:lnTo>
                    <a:pt x="3" y="62"/>
                  </a:lnTo>
                  <a:lnTo>
                    <a:pt x="6" y="56"/>
                  </a:lnTo>
                  <a:lnTo>
                    <a:pt x="12" y="48"/>
                  </a:lnTo>
                  <a:lnTo>
                    <a:pt x="15" y="39"/>
                  </a:lnTo>
                  <a:lnTo>
                    <a:pt x="20" y="34"/>
                  </a:lnTo>
                  <a:lnTo>
                    <a:pt x="26" y="25"/>
                  </a:lnTo>
                  <a:lnTo>
                    <a:pt x="32" y="20"/>
                  </a:lnTo>
                  <a:lnTo>
                    <a:pt x="41" y="17"/>
                  </a:lnTo>
                  <a:lnTo>
                    <a:pt x="45" y="11"/>
                  </a:lnTo>
                  <a:lnTo>
                    <a:pt x="54" y="8"/>
                  </a:lnTo>
                  <a:lnTo>
                    <a:pt x="63" y="6"/>
                  </a:lnTo>
                  <a:lnTo>
                    <a:pt x="72" y="3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9" y="3"/>
                  </a:lnTo>
                  <a:lnTo>
                    <a:pt x="118" y="6"/>
                  </a:lnTo>
                  <a:lnTo>
                    <a:pt x="124" y="8"/>
                  </a:lnTo>
                  <a:lnTo>
                    <a:pt x="132" y="11"/>
                  </a:lnTo>
                  <a:lnTo>
                    <a:pt x="140" y="17"/>
                  </a:lnTo>
                  <a:lnTo>
                    <a:pt x="146" y="20"/>
                  </a:lnTo>
                  <a:lnTo>
                    <a:pt x="155" y="25"/>
                  </a:lnTo>
                  <a:lnTo>
                    <a:pt x="161" y="34"/>
                  </a:lnTo>
                  <a:lnTo>
                    <a:pt x="164" y="39"/>
                  </a:lnTo>
                  <a:lnTo>
                    <a:pt x="169" y="48"/>
                  </a:lnTo>
                  <a:lnTo>
                    <a:pt x="172" y="56"/>
                  </a:lnTo>
                  <a:lnTo>
                    <a:pt x="175" y="62"/>
                  </a:lnTo>
                  <a:lnTo>
                    <a:pt x="178" y="69"/>
                  </a:lnTo>
                  <a:lnTo>
                    <a:pt x="181" y="81"/>
                  </a:lnTo>
                  <a:lnTo>
                    <a:pt x="181" y="89"/>
                  </a:lnTo>
                  <a:lnTo>
                    <a:pt x="172" y="89"/>
                  </a:lnTo>
                  <a:lnTo>
                    <a:pt x="172" y="81"/>
                  </a:lnTo>
                  <a:lnTo>
                    <a:pt x="169" y="72"/>
                  </a:lnTo>
                  <a:lnTo>
                    <a:pt x="166" y="64"/>
                  </a:lnTo>
                  <a:lnTo>
                    <a:pt x="164" y="59"/>
                  </a:lnTo>
                  <a:lnTo>
                    <a:pt x="161" y="51"/>
                  </a:lnTo>
                  <a:lnTo>
                    <a:pt x="158" y="45"/>
                  </a:lnTo>
                  <a:lnTo>
                    <a:pt x="152" y="39"/>
                  </a:lnTo>
                  <a:lnTo>
                    <a:pt x="146" y="34"/>
                  </a:lnTo>
                  <a:lnTo>
                    <a:pt x="140" y="28"/>
                  </a:lnTo>
                  <a:lnTo>
                    <a:pt x="135" y="22"/>
                  </a:lnTo>
                  <a:lnTo>
                    <a:pt x="129" y="20"/>
                  </a:lnTo>
                  <a:lnTo>
                    <a:pt x="121" y="17"/>
                  </a:lnTo>
                  <a:lnTo>
                    <a:pt x="115" y="14"/>
                  </a:lnTo>
                  <a:lnTo>
                    <a:pt x="106" y="11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0" y="8"/>
                  </a:lnTo>
                  <a:lnTo>
                    <a:pt x="72" y="11"/>
                  </a:lnTo>
                  <a:lnTo>
                    <a:pt x="66" y="14"/>
                  </a:lnTo>
                  <a:lnTo>
                    <a:pt x="57" y="17"/>
                  </a:lnTo>
                  <a:lnTo>
                    <a:pt x="51" y="20"/>
                  </a:lnTo>
                  <a:lnTo>
                    <a:pt x="44" y="22"/>
                  </a:lnTo>
                  <a:lnTo>
                    <a:pt x="38" y="28"/>
                  </a:lnTo>
                  <a:lnTo>
                    <a:pt x="32" y="34"/>
                  </a:lnTo>
                  <a:lnTo>
                    <a:pt x="26" y="39"/>
                  </a:lnTo>
                  <a:lnTo>
                    <a:pt x="23" y="45"/>
                  </a:lnTo>
                  <a:lnTo>
                    <a:pt x="17" y="51"/>
                  </a:lnTo>
                  <a:lnTo>
                    <a:pt x="15" y="59"/>
                  </a:lnTo>
                  <a:lnTo>
                    <a:pt x="12" y="64"/>
                  </a:lnTo>
                  <a:lnTo>
                    <a:pt x="9" y="72"/>
                  </a:lnTo>
                  <a:lnTo>
                    <a:pt x="9" y="81"/>
                  </a:lnTo>
                  <a:lnTo>
                    <a:pt x="9" y="89"/>
                  </a:lnTo>
                  <a:lnTo>
                    <a:pt x="0" y="89"/>
                  </a:lnTo>
                </a:path>
              </a:pathLst>
            </a:custGeom>
            <a:solidFill>
              <a:srgbClr val="FFE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9" name="Freeform 189">
              <a:extLst>
                <a:ext uri="{FF2B5EF4-FFF2-40B4-BE49-F238E27FC236}">
                  <a16:creationId xmlns:a16="http://schemas.microsoft.com/office/drawing/2014/main" id="{28F3AE1A-FE65-4E46-B913-E556F6F01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802"/>
              <a:ext cx="182" cy="87"/>
            </a:xfrm>
            <a:custGeom>
              <a:avLst/>
              <a:gdLst>
                <a:gd name="T0" fmla="*/ 0 w 182"/>
                <a:gd name="T1" fmla="*/ 0 h 87"/>
                <a:gd name="T2" fmla="*/ 0 w 182"/>
                <a:gd name="T3" fmla="*/ 17 h 87"/>
                <a:gd name="T4" fmla="*/ 6 w 182"/>
                <a:gd name="T5" fmla="*/ 34 h 87"/>
                <a:gd name="T6" fmla="*/ 15 w 182"/>
                <a:gd name="T7" fmla="*/ 48 h 87"/>
                <a:gd name="T8" fmla="*/ 26 w 182"/>
                <a:gd name="T9" fmla="*/ 61 h 87"/>
                <a:gd name="T10" fmla="*/ 41 w 182"/>
                <a:gd name="T11" fmla="*/ 72 h 87"/>
                <a:gd name="T12" fmla="*/ 54 w 182"/>
                <a:gd name="T13" fmla="*/ 80 h 87"/>
                <a:gd name="T14" fmla="*/ 72 w 182"/>
                <a:gd name="T15" fmla="*/ 86 h 87"/>
                <a:gd name="T16" fmla="*/ 89 w 182"/>
                <a:gd name="T17" fmla="*/ 86 h 87"/>
                <a:gd name="T18" fmla="*/ 109 w 182"/>
                <a:gd name="T19" fmla="*/ 86 h 87"/>
                <a:gd name="T20" fmla="*/ 124 w 182"/>
                <a:gd name="T21" fmla="*/ 80 h 87"/>
                <a:gd name="T22" fmla="*/ 140 w 182"/>
                <a:gd name="T23" fmla="*/ 72 h 87"/>
                <a:gd name="T24" fmla="*/ 155 w 182"/>
                <a:gd name="T25" fmla="*/ 61 h 87"/>
                <a:gd name="T26" fmla="*/ 164 w 182"/>
                <a:gd name="T27" fmla="*/ 48 h 87"/>
                <a:gd name="T28" fmla="*/ 172 w 182"/>
                <a:gd name="T29" fmla="*/ 34 h 87"/>
                <a:gd name="T30" fmla="*/ 178 w 182"/>
                <a:gd name="T31" fmla="*/ 17 h 87"/>
                <a:gd name="T32" fmla="*/ 181 w 182"/>
                <a:gd name="T33" fmla="*/ 0 h 87"/>
                <a:gd name="T34" fmla="*/ 172 w 182"/>
                <a:gd name="T35" fmla="*/ 8 h 87"/>
                <a:gd name="T36" fmla="*/ 166 w 182"/>
                <a:gd name="T37" fmla="*/ 22 h 87"/>
                <a:gd name="T38" fmla="*/ 161 w 182"/>
                <a:gd name="T39" fmla="*/ 36 h 87"/>
                <a:gd name="T40" fmla="*/ 152 w 182"/>
                <a:gd name="T41" fmla="*/ 50 h 87"/>
                <a:gd name="T42" fmla="*/ 140 w 182"/>
                <a:gd name="T43" fmla="*/ 61 h 87"/>
                <a:gd name="T44" fmla="*/ 129 w 182"/>
                <a:gd name="T45" fmla="*/ 69 h 87"/>
                <a:gd name="T46" fmla="*/ 115 w 182"/>
                <a:gd name="T47" fmla="*/ 75 h 87"/>
                <a:gd name="T48" fmla="*/ 98 w 182"/>
                <a:gd name="T49" fmla="*/ 78 h 87"/>
                <a:gd name="T50" fmla="*/ 80 w 182"/>
                <a:gd name="T51" fmla="*/ 78 h 87"/>
                <a:gd name="T52" fmla="*/ 66 w 182"/>
                <a:gd name="T53" fmla="*/ 75 h 87"/>
                <a:gd name="T54" fmla="*/ 51 w 182"/>
                <a:gd name="T55" fmla="*/ 69 h 87"/>
                <a:gd name="T56" fmla="*/ 38 w 182"/>
                <a:gd name="T57" fmla="*/ 61 h 87"/>
                <a:gd name="T58" fmla="*/ 26 w 182"/>
                <a:gd name="T59" fmla="*/ 50 h 87"/>
                <a:gd name="T60" fmla="*/ 17 w 182"/>
                <a:gd name="T61" fmla="*/ 36 h 87"/>
                <a:gd name="T62" fmla="*/ 12 w 182"/>
                <a:gd name="T63" fmla="*/ 22 h 87"/>
                <a:gd name="T64" fmla="*/ 9 w 182"/>
                <a:gd name="T65" fmla="*/ 8 h 87"/>
                <a:gd name="T66" fmla="*/ 0 w 182"/>
                <a:gd name="T67" fmla="*/ 0 h 8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2"/>
                <a:gd name="T103" fmla="*/ 0 h 87"/>
                <a:gd name="T104" fmla="*/ 182 w 182"/>
                <a:gd name="T105" fmla="*/ 87 h 8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2" h="87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5"/>
                  </a:lnTo>
                  <a:lnTo>
                    <a:pt x="6" y="34"/>
                  </a:lnTo>
                  <a:lnTo>
                    <a:pt x="12" y="42"/>
                  </a:lnTo>
                  <a:lnTo>
                    <a:pt x="15" y="48"/>
                  </a:lnTo>
                  <a:lnTo>
                    <a:pt x="20" y="55"/>
                  </a:lnTo>
                  <a:lnTo>
                    <a:pt x="26" y="61"/>
                  </a:lnTo>
                  <a:lnTo>
                    <a:pt x="32" y="66"/>
                  </a:lnTo>
                  <a:lnTo>
                    <a:pt x="41" y="72"/>
                  </a:lnTo>
                  <a:lnTo>
                    <a:pt x="45" y="75"/>
                  </a:lnTo>
                  <a:lnTo>
                    <a:pt x="54" y="80"/>
                  </a:lnTo>
                  <a:lnTo>
                    <a:pt x="63" y="83"/>
                  </a:lnTo>
                  <a:lnTo>
                    <a:pt x="72" y="86"/>
                  </a:lnTo>
                  <a:lnTo>
                    <a:pt x="80" y="86"/>
                  </a:lnTo>
                  <a:lnTo>
                    <a:pt x="89" y="86"/>
                  </a:lnTo>
                  <a:lnTo>
                    <a:pt x="98" y="86"/>
                  </a:lnTo>
                  <a:lnTo>
                    <a:pt x="109" y="86"/>
                  </a:lnTo>
                  <a:lnTo>
                    <a:pt x="118" y="83"/>
                  </a:lnTo>
                  <a:lnTo>
                    <a:pt x="124" y="80"/>
                  </a:lnTo>
                  <a:lnTo>
                    <a:pt x="132" y="75"/>
                  </a:lnTo>
                  <a:lnTo>
                    <a:pt x="140" y="72"/>
                  </a:lnTo>
                  <a:lnTo>
                    <a:pt x="146" y="66"/>
                  </a:lnTo>
                  <a:lnTo>
                    <a:pt x="155" y="61"/>
                  </a:lnTo>
                  <a:lnTo>
                    <a:pt x="161" y="55"/>
                  </a:lnTo>
                  <a:lnTo>
                    <a:pt x="164" y="48"/>
                  </a:lnTo>
                  <a:lnTo>
                    <a:pt x="169" y="42"/>
                  </a:lnTo>
                  <a:lnTo>
                    <a:pt x="172" y="34"/>
                  </a:lnTo>
                  <a:lnTo>
                    <a:pt x="175" y="25"/>
                  </a:lnTo>
                  <a:lnTo>
                    <a:pt x="178" y="17"/>
                  </a:lnTo>
                  <a:lnTo>
                    <a:pt x="181" y="8"/>
                  </a:lnTo>
                  <a:lnTo>
                    <a:pt x="181" y="0"/>
                  </a:lnTo>
                  <a:lnTo>
                    <a:pt x="172" y="0"/>
                  </a:lnTo>
                  <a:lnTo>
                    <a:pt x="172" y="8"/>
                  </a:lnTo>
                  <a:lnTo>
                    <a:pt x="169" y="17"/>
                  </a:lnTo>
                  <a:lnTo>
                    <a:pt x="166" y="22"/>
                  </a:lnTo>
                  <a:lnTo>
                    <a:pt x="164" y="31"/>
                  </a:lnTo>
                  <a:lnTo>
                    <a:pt x="161" y="36"/>
                  </a:lnTo>
                  <a:lnTo>
                    <a:pt x="158" y="45"/>
                  </a:lnTo>
                  <a:lnTo>
                    <a:pt x="152" y="50"/>
                  </a:lnTo>
                  <a:lnTo>
                    <a:pt x="146" y="55"/>
                  </a:lnTo>
                  <a:lnTo>
                    <a:pt x="140" y="61"/>
                  </a:lnTo>
                  <a:lnTo>
                    <a:pt x="135" y="64"/>
                  </a:lnTo>
                  <a:lnTo>
                    <a:pt x="129" y="69"/>
                  </a:lnTo>
                  <a:lnTo>
                    <a:pt x="121" y="72"/>
                  </a:lnTo>
                  <a:lnTo>
                    <a:pt x="115" y="75"/>
                  </a:lnTo>
                  <a:lnTo>
                    <a:pt x="106" y="78"/>
                  </a:lnTo>
                  <a:lnTo>
                    <a:pt x="98" y="78"/>
                  </a:lnTo>
                  <a:lnTo>
                    <a:pt x="89" y="78"/>
                  </a:lnTo>
                  <a:lnTo>
                    <a:pt x="80" y="78"/>
                  </a:lnTo>
                  <a:lnTo>
                    <a:pt x="72" y="78"/>
                  </a:lnTo>
                  <a:lnTo>
                    <a:pt x="66" y="75"/>
                  </a:lnTo>
                  <a:lnTo>
                    <a:pt x="57" y="72"/>
                  </a:lnTo>
                  <a:lnTo>
                    <a:pt x="51" y="69"/>
                  </a:lnTo>
                  <a:lnTo>
                    <a:pt x="44" y="64"/>
                  </a:lnTo>
                  <a:lnTo>
                    <a:pt x="38" y="61"/>
                  </a:lnTo>
                  <a:lnTo>
                    <a:pt x="32" y="55"/>
                  </a:lnTo>
                  <a:lnTo>
                    <a:pt x="26" y="50"/>
                  </a:lnTo>
                  <a:lnTo>
                    <a:pt x="23" y="45"/>
                  </a:lnTo>
                  <a:lnTo>
                    <a:pt x="17" y="36"/>
                  </a:lnTo>
                  <a:lnTo>
                    <a:pt x="15" y="31"/>
                  </a:lnTo>
                  <a:lnTo>
                    <a:pt x="12" y="22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Freeform 190">
              <a:extLst>
                <a:ext uri="{FF2B5EF4-FFF2-40B4-BE49-F238E27FC236}">
                  <a16:creationId xmlns:a16="http://schemas.microsoft.com/office/drawing/2014/main" id="{31F06AD3-0A65-4E92-A07C-F6102B3C9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3716"/>
              <a:ext cx="164" cy="81"/>
            </a:xfrm>
            <a:custGeom>
              <a:avLst/>
              <a:gdLst>
                <a:gd name="T0" fmla="*/ 0 w 164"/>
                <a:gd name="T1" fmla="*/ 72 h 81"/>
                <a:gd name="T2" fmla="*/ 3 w 164"/>
                <a:gd name="T3" fmla="*/ 55 h 81"/>
                <a:gd name="T4" fmla="*/ 9 w 164"/>
                <a:gd name="T5" fmla="*/ 42 h 81"/>
                <a:gd name="T6" fmla="*/ 17 w 164"/>
                <a:gd name="T7" fmla="*/ 31 h 81"/>
                <a:gd name="T8" fmla="*/ 29 w 164"/>
                <a:gd name="T9" fmla="*/ 20 h 81"/>
                <a:gd name="T10" fmla="*/ 42 w 164"/>
                <a:gd name="T11" fmla="*/ 11 h 81"/>
                <a:gd name="T12" fmla="*/ 57 w 164"/>
                <a:gd name="T13" fmla="*/ 6 h 81"/>
                <a:gd name="T14" fmla="*/ 71 w 164"/>
                <a:gd name="T15" fmla="*/ 0 h 81"/>
                <a:gd name="T16" fmla="*/ 89 w 164"/>
                <a:gd name="T17" fmla="*/ 0 h 81"/>
                <a:gd name="T18" fmla="*/ 106 w 164"/>
                <a:gd name="T19" fmla="*/ 6 h 81"/>
                <a:gd name="T20" fmla="*/ 120 w 164"/>
                <a:gd name="T21" fmla="*/ 11 h 81"/>
                <a:gd name="T22" fmla="*/ 131 w 164"/>
                <a:gd name="T23" fmla="*/ 20 h 81"/>
                <a:gd name="T24" fmla="*/ 143 w 164"/>
                <a:gd name="T25" fmla="*/ 31 h 81"/>
                <a:gd name="T26" fmla="*/ 151 w 164"/>
                <a:gd name="T27" fmla="*/ 42 h 81"/>
                <a:gd name="T28" fmla="*/ 157 w 164"/>
                <a:gd name="T29" fmla="*/ 55 h 81"/>
                <a:gd name="T30" fmla="*/ 163 w 164"/>
                <a:gd name="T31" fmla="*/ 72 h 81"/>
                <a:gd name="T32" fmla="*/ 151 w 164"/>
                <a:gd name="T33" fmla="*/ 80 h 81"/>
                <a:gd name="T34" fmla="*/ 151 w 164"/>
                <a:gd name="T35" fmla="*/ 66 h 81"/>
                <a:gd name="T36" fmla="*/ 146 w 164"/>
                <a:gd name="T37" fmla="*/ 53 h 81"/>
                <a:gd name="T38" fmla="*/ 140 w 164"/>
                <a:gd name="T39" fmla="*/ 42 h 81"/>
                <a:gd name="T40" fmla="*/ 131 w 164"/>
                <a:gd name="T41" fmla="*/ 31 h 81"/>
                <a:gd name="T42" fmla="*/ 120 w 164"/>
                <a:gd name="T43" fmla="*/ 22 h 81"/>
                <a:gd name="T44" fmla="*/ 109 w 164"/>
                <a:gd name="T45" fmla="*/ 17 h 81"/>
                <a:gd name="T46" fmla="*/ 95 w 164"/>
                <a:gd name="T47" fmla="*/ 11 h 81"/>
                <a:gd name="T48" fmla="*/ 80 w 164"/>
                <a:gd name="T49" fmla="*/ 11 h 81"/>
                <a:gd name="T50" fmla="*/ 66 w 164"/>
                <a:gd name="T51" fmla="*/ 11 h 81"/>
                <a:gd name="T52" fmla="*/ 54 w 164"/>
                <a:gd name="T53" fmla="*/ 17 h 81"/>
                <a:gd name="T54" fmla="*/ 40 w 164"/>
                <a:gd name="T55" fmla="*/ 22 h 81"/>
                <a:gd name="T56" fmla="*/ 29 w 164"/>
                <a:gd name="T57" fmla="*/ 31 h 81"/>
                <a:gd name="T58" fmla="*/ 20 w 164"/>
                <a:gd name="T59" fmla="*/ 42 h 81"/>
                <a:gd name="T60" fmla="*/ 14 w 164"/>
                <a:gd name="T61" fmla="*/ 53 h 81"/>
                <a:gd name="T62" fmla="*/ 12 w 164"/>
                <a:gd name="T63" fmla="*/ 66 h 81"/>
                <a:gd name="T64" fmla="*/ 9 w 164"/>
                <a:gd name="T65" fmla="*/ 80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4"/>
                <a:gd name="T100" fmla="*/ 0 h 81"/>
                <a:gd name="T101" fmla="*/ 164 w 164"/>
                <a:gd name="T102" fmla="*/ 81 h 8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4" h="81">
                  <a:moveTo>
                    <a:pt x="0" y="80"/>
                  </a:moveTo>
                  <a:lnTo>
                    <a:pt x="0" y="72"/>
                  </a:lnTo>
                  <a:lnTo>
                    <a:pt x="0" y="63"/>
                  </a:lnTo>
                  <a:lnTo>
                    <a:pt x="3" y="55"/>
                  </a:lnTo>
                  <a:lnTo>
                    <a:pt x="6" y="50"/>
                  </a:lnTo>
                  <a:lnTo>
                    <a:pt x="9" y="42"/>
                  </a:lnTo>
                  <a:lnTo>
                    <a:pt x="14" y="36"/>
                  </a:lnTo>
                  <a:lnTo>
                    <a:pt x="17" y="31"/>
                  </a:lnTo>
                  <a:lnTo>
                    <a:pt x="23" y="25"/>
                  </a:lnTo>
                  <a:lnTo>
                    <a:pt x="29" y="20"/>
                  </a:lnTo>
                  <a:lnTo>
                    <a:pt x="35" y="14"/>
                  </a:lnTo>
                  <a:lnTo>
                    <a:pt x="42" y="11"/>
                  </a:lnTo>
                  <a:lnTo>
                    <a:pt x="48" y="8"/>
                  </a:lnTo>
                  <a:lnTo>
                    <a:pt x="57" y="6"/>
                  </a:lnTo>
                  <a:lnTo>
                    <a:pt x="63" y="3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7" y="3"/>
                  </a:lnTo>
                  <a:lnTo>
                    <a:pt x="106" y="6"/>
                  </a:lnTo>
                  <a:lnTo>
                    <a:pt x="112" y="8"/>
                  </a:lnTo>
                  <a:lnTo>
                    <a:pt x="120" y="11"/>
                  </a:lnTo>
                  <a:lnTo>
                    <a:pt x="125" y="14"/>
                  </a:lnTo>
                  <a:lnTo>
                    <a:pt x="131" y="20"/>
                  </a:lnTo>
                  <a:lnTo>
                    <a:pt x="137" y="25"/>
                  </a:lnTo>
                  <a:lnTo>
                    <a:pt x="143" y="31"/>
                  </a:lnTo>
                  <a:lnTo>
                    <a:pt x="149" y="36"/>
                  </a:lnTo>
                  <a:lnTo>
                    <a:pt x="151" y="42"/>
                  </a:lnTo>
                  <a:lnTo>
                    <a:pt x="154" y="50"/>
                  </a:lnTo>
                  <a:lnTo>
                    <a:pt x="157" y="55"/>
                  </a:lnTo>
                  <a:lnTo>
                    <a:pt x="160" y="63"/>
                  </a:lnTo>
                  <a:lnTo>
                    <a:pt x="163" y="72"/>
                  </a:lnTo>
                  <a:lnTo>
                    <a:pt x="163" y="80"/>
                  </a:lnTo>
                  <a:lnTo>
                    <a:pt x="151" y="80"/>
                  </a:lnTo>
                  <a:lnTo>
                    <a:pt x="151" y="72"/>
                  </a:lnTo>
                  <a:lnTo>
                    <a:pt x="151" y="66"/>
                  </a:lnTo>
                  <a:lnTo>
                    <a:pt x="149" y="58"/>
                  </a:lnTo>
                  <a:lnTo>
                    <a:pt x="146" y="53"/>
                  </a:lnTo>
                  <a:lnTo>
                    <a:pt x="143" y="47"/>
                  </a:lnTo>
                  <a:lnTo>
                    <a:pt x="140" y="42"/>
                  </a:lnTo>
                  <a:lnTo>
                    <a:pt x="137" y="36"/>
                  </a:lnTo>
                  <a:lnTo>
                    <a:pt x="131" y="31"/>
                  </a:lnTo>
                  <a:lnTo>
                    <a:pt x="125" y="25"/>
                  </a:lnTo>
                  <a:lnTo>
                    <a:pt x="120" y="22"/>
                  </a:lnTo>
                  <a:lnTo>
                    <a:pt x="115" y="20"/>
                  </a:lnTo>
                  <a:lnTo>
                    <a:pt x="109" y="17"/>
                  </a:lnTo>
                  <a:lnTo>
                    <a:pt x="103" y="14"/>
                  </a:lnTo>
                  <a:lnTo>
                    <a:pt x="95" y="11"/>
                  </a:lnTo>
                  <a:lnTo>
                    <a:pt x="89" y="11"/>
                  </a:lnTo>
                  <a:lnTo>
                    <a:pt x="80" y="11"/>
                  </a:lnTo>
                  <a:lnTo>
                    <a:pt x="74" y="11"/>
                  </a:lnTo>
                  <a:lnTo>
                    <a:pt x="66" y="11"/>
                  </a:lnTo>
                  <a:lnTo>
                    <a:pt x="60" y="14"/>
                  </a:lnTo>
                  <a:lnTo>
                    <a:pt x="54" y="17"/>
                  </a:lnTo>
                  <a:lnTo>
                    <a:pt x="45" y="20"/>
                  </a:lnTo>
                  <a:lnTo>
                    <a:pt x="40" y="22"/>
                  </a:lnTo>
                  <a:lnTo>
                    <a:pt x="35" y="25"/>
                  </a:lnTo>
                  <a:lnTo>
                    <a:pt x="29" y="31"/>
                  </a:lnTo>
                  <a:lnTo>
                    <a:pt x="26" y="36"/>
                  </a:lnTo>
                  <a:lnTo>
                    <a:pt x="20" y="42"/>
                  </a:lnTo>
                  <a:lnTo>
                    <a:pt x="17" y="47"/>
                  </a:lnTo>
                  <a:lnTo>
                    <a:pt x="14" y="53"/>
                  </a:lnTo>
                  <a:lnTo>
                    <a:pt x="12" y="58"/>
                  </a:lnTo>
                  <a:lnTo>
                    <a:pt x="12" y="66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0" y="8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Freeform 191">
              <a:extLst>
                <a:ext uri="{FF2B5EF4-FFF2-40B4-BE49-F238E27FC236}">
                  <a16:creationId xmlns:a16="http://schemas.microsoft.com/office/drawing/2014/main" id="{EE69801D-4253-4A4D-BADC-2AFC49032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3802"/>
              <a:ext cx="164" cy="78"/>
            </a:xfrm>
            <a:custGeom>
              <a:avLst/>
              <a:gdLst>
                <a:gd name="T0" fmla="*/ 0 w 164"/>
                <a:gd name="T1" fmla="*/ 0 h 78"/>
                <a:gd name="T2" fmla="*/ 0 w 164"/>
                <a:gd name="T3" fmla="*/ 17 h 78"/>
                <a:gd name="T4" fmla="*/ 6 w 164"/>
                <a:gd name="T5" fmla="*/ 31 h 78"/>
                <a:gd name="T6" fmla="*/ 14 w 164"/>
                <a:gd name="T7" fmla="*/ 45 h 78"/>
                <a:gd name="T8" fmla="*/ 23 w 164"/>
                <a:gd name="T9" fmla="*/ 55 h 78"/>
                <a:gd name="T10" fmla="*/ 35 w 164"/>
                <a:gd name="T11" fmla="*/ 63 h 78"/>
                <a:gd name="T12" fmla="*/ 48 w 164"/>
                <a:gd name="T13" fmla="*/ 71 h 78"/>
                <a:gd name="T14" fmla="*/ 63 w 164"/>
                <a:gd name="T15" fmla="*/ 77 h 78"/>
                <a:gd name="T16" fmla="*/ 80 w 164"/>
                <a:gd name="T17" fmla="*/ 77 h 78"/>
                <a:gd name="T18" fmla="*/ 97 w 164"/>
                <a:gd name="T19" fmla="*/ 77 h 78"/>
                <a:gd name="T20" fmla="*/ 112 w 164"/>
                <a:gd name="T21" fmla="*/ 71 h 78"/>
                <a:gd name="T22" fmla="*/ 125 w 164"/>
                <a:gd name="T23" fmla="*/ 63 h 78"/>
                <a:gd name="T24" fmla="*/ 137 w 164"/>
                <a:gd name="T25" fmla="*/ 55 h 78"/>
                <a:gd name="T26" fmla="*/ 149 w 164"/>
                <a:gd name="T27" fmla="*/ 45 h 78"/>
                <a:gd name="T28" fmla="*/ 154 w 164"/>
                <a:gd name="T29" fmla="*/ 31 h 78"/>
                <a:gd name="T30" fmla="*/ 160 w 164"/>
                <a:gd name="T31" fmla="*/ 17 h 78"/>
                <a:gd name="T32" fmla="*/ 163 w 164"/>
                <a:gd name="T33" fmla="*/ 0 h 78"/>
                <a:gd name="T34" fmla="*/ 151 w 164"/>
                <a:gd name="T35" fmla="*/ 6 h 78"/>
                <a:gd name="T36" fmla="*/ 149 w 164"/>
                <a:gd name="T37" fmla="*/ 19 h 78"/>
                <a:gd name="T38" fmla="*/ 143 w 164"/>
                <a:gd name="T39" fmla="*/ 33 h 78"/>
                <a:gd name="T40" fmla="*/ 137 w 164"/>
                <a:gd name="T41" fmla="*/ 45 h 78"/>
                <a:gd name="T42" fmla="*/ 125 w 164"/>
                <a:gd name="T43" fmla="*/ 53 h 78"/>
                <a:gd name="T44" fmla="*/ 115 w 164"/>
                <a:gd name="T45" fmla="*/ 60 h 78"/>
                <a:gd name="T46" fmla="*/ 103 w 164"/>
                <a:gd name="T47" fmla="*/ 66 h 78"/>
                <a:gd name="T48" fmla="*/ 89 w 164"/>
                <a:gd name="T49" fmla="*/ 69 h 78"/>
                <a:gd name="T50" fmla="*/ 74 w 164"/>
                <a:gd name="T51" fmla="*/ 69 h 78"/>
                <a:gd name="T52" fmla="*/ 60 w 164"/>
                <a:gd name="T53" fmla="*/ 66 h 78"/>
                <a:gd name="T54" fmla="*/ 45 w 164"/>
                <a:gd name="T55" fmla="*/ 60 h 78"/>
                <a:gd name="T56" fmla="*/ 35 w 164"/>
                <a:gd name="T57" fmla="*/ 53 h 78"/>
                <a:gd name="T58" fmla="*/ 26 w 164"/>
                <a:gd name="T59" fmla="*/ 45 h 78"/>
                <a:gd name="T60" fmla="*/ 17 w 164"/>
                <a:gd name="T61" fmla="*/ 33 h 78"/>
                <a:gd name="T62" fmla="*/ 12 w 164"/>
                <a:gd name="T63" fmla="*/ 19 h 78"/>
                <a:gd name="T64" fmla="*/ 9 w 164"/>
                <a:gd name="T65" fmla="*/ 6 h 78"/>
                <a:gd name="T66" fmla="*/ 0 w 164"/>
                <a:gd name="T67" fmla="*/ 0 h 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4"/>
                <a:gd name="T103" fmla="*/ 0 h 78"/>
                <a:gd name="T104" fmla="*/ 164 w 164"/>
                <a:gd name="T105" fmla="*/ 78 h 7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4" h="7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2"/>
                  </a:lnTo>
                  <a:lnTo>
                    <a:pt x="6" y="31"/>
                  </a:lnTo>
                  <a:lnTo>
                    <a:pt x="9" y="36"/>
                  </a:lnTo>
                  <a:lnTo>
                    <a:pt x="14" y="45"/>
                  </a:lnTo>
                  <a:lnTo>
                    <a:pt x="17" y="50"/>
                  </a:lnTo>
                  <a:lnTo>
                    <a:pt x="23" y="55"/>
                  </a:lnTo>
                  <a:lnTo>
                    <a:pt x="29" y="60"/>
                  </a:lnTo>
                  <a:lnTo>
                    <a:pt x="35" y="63"/>
                  </a:lnTo>
                  <a:lnTo>
                    <a:pt x="42" y="69"/>
                  </a:lnTo>
                  <a:lnTo>
                    <a:pt x="48" y="71"/>
                  </a:lnTo>
                  <a:lnTo>
                    <a:pt x="57" y="74"/>
                  </a:lnTo>
                  <a:lnTo>
                    <a:pt x="63" y="77"/>
                  </a:lnTo>
                  <a:lnTo>
                    <a:pt x="71" y="77"/>
                  </a:lnTo>
                  <a:lnTo>
                    <a:pt x="80" y="77"/>
                  </a:lnTo>
                  <a:lnTo>
                    <a:pt x="89" y="77"/>
                  </a:lnTo>
                  <a:lnTo>
                    <a:pt x="97" y="77"/>
                  </a:lnTo>
                  <a:lnTo>
                    <a:pt x="106" y="74"/>
                  </a:lnTo>
                  <a:lnTo>
                    <a:pt x="112" y="71"/>
                  </a:lnTo>
                  <a:lnTo>
                    <a:pt x="120" y="69"/>
                  </a:lnTo>
                  <a:lnTo>
                    <a:pt x="125" y="63"/>
                  </a:lnTo>
                  <a:lnTo>
                    <a:pt x="131" y="60"/>
                  </a:lnTo>
                  <a:lnTo>
                    <a:pt x="137" y="55"/>
                  </a:lnTo>
                  <a:lnTo>
                    <a:pt x="143" y="50"/>
                  </a:lnTo>
                  <a:lnTo>
                    <a:pt x="149" y="45"/>
                  </a:lnTo>
                  <a:lnTo>
                    <a:pt x="151" y="36"/>
                  </a:lnTo>
                  <a:lnTo>
                    <a:pt x="154" y="31"/>
                  </a:lnTo>
                  <a:lnTo>
                    <a:pt x="157" y="22"/>
                  </a:lnTo>
                  <a:lnTo>
                    <a:pt x="160" y="17"/>
                  </a:lnTo>
                  <a:lnTo>
                    <a:pt x="163" y="8"/>
                  </a:lnTo>
                  <a:lnTo>
                    <a:pt x="163" y="0"/>
                  </a:lnTo>
                  <a:lnTo>
                    <a:pt x="151" y="0"/>
                  </a:lnTo>
                  <a:lnTo>
                    <a:pt x="151" y="6"/>
                  </a:lnTo>
                  <a:lnTo>
                    <a:pt x="151" y="14"/>
                  </a:lnTo>
                  <a:lnTo>
                    <a:pt x="149" y="19"/>
                  </a:lnTo>
                  <a:lnTo>
                    <a:pt x="146" y="25"/>
                  </a:lnTo>
                  <a:lnTo>
                    <a:pt x="143" y="33"/>
                  </a:lnTo>
                  <a:lnTo>
                    <a:pt x="140" y="39"/>
                  </a:lnTo>
                  <a:lnTo>
                    <a:pt x="137" y="45"/>
                  </a:lnTo>
                  <a:lnTo>
                    <a:pt x="131" y="50"/>
                  </a:lnTo>
                  <a:lnTo>
                    <a:pt x="125" y="53"/>
                  </a:lnTo>
                  <a:lnTo>
                    <a:pt x="120" y="58"/>
                  </a:lnTo>
                  <a:lnTo>
                    <a:pt x="115" y="60"/>
                  </a:lnTo>
                  <a:lnTo>
                    <a:pt x="109" y="63"/>
                  </a:lnTo>
                  <a:lnTo>
                    <a:pt x="103" y="66"/>
                  </a:lnTo>
                  <a:lnTo>
                    <a:pt x="95" y="66"/>
                  </a:lnTo>
                  <a:lnTo>
                    <a:pt x="89" y="69"/>
                  </a:lnTo>
                  <a:lnTo>
                    <a:pt x="80" y="69"/>
                  </a:lnTo>
                  <a:lnTo>
                    <a:pt x="74" y="69"/>
                  </a:lnTo>
                  <a:lnTo>
                    <a:pt x="66" y="66"/>
                  </a:lnTo>
                  <a:lnTo>
                    <a:pt x="60" y="66"/>
                  </a:lnTo>
                  <a:lnTo>
                    <a:pt x="54" y="63"/>
                  </a:lnTo>
                  <a:lnTo>
                    <a:pt x="45" y="60"/>
                  </a:lnTo>
                  <a:lnTo>
                    <a:pt x="40" y="58"/>
                  </a:lnTo>
                  <a:lnTo>
                    <a:pt x="35" y="53"/>
                  </a:lnTo>
                  <a:lnTo>
                    <a:pt x="29" y="50"/>
                  </a:lnTo>
                  <a:lnTo>
                    <a:pt x="26" y="45"/>
                  </a:lnTo>
                  <a:lnTo>
                    <a:pt x="20" y="39"/>
                  </a:lnTo>
                  <a:lnTo>
                    <a:pt x="17" y="33"/>
                  </a:lnTo>
                  <a:lnTo>
                    <a:pt x="14" y="25"/>
                  </a:lnTo>
                  <a:lnTo>
                    <a:pt x="12" y="19"/>
                  </a:lnTo>
                  <a:lnTo>
                    <a:pt x="12" y="14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2" name="Freeform 192">
              <a:extLst>
                <a:ext uri="{FF2B5EF4-FFF2-40B4-BE49-F238E27FC236}">
                  <a16:creationId xmlns:a16="http://schemas.microsoft.com/office/drawing/2014/main" id="{287E2896-035F-4A15-B93A-B085542E9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728"/>
              <a:ext cx="143" cy="69"/>
            </a:xfrm>
            <a:custGeom>
              <a:avLst/>
              <a:gdLst>
                <a:gd name="T0" fmla="*/ 0 w 143"/>
                <a:gd name="T1" fmla="*/ 60 h 69"/>
                <a:gd name="T2" fmla="*/ 3 w 143"/>
                <a:gd name="T3" fmla="*/ 46 h 69"/>
                <a:gd name="T4" fmla="*/ 9 w 143"/>
                <a:gd name="T5" fmla="*/ 36 h 69"/>
                <a:gd name="T6" fmla="*/ 17 w 143"/>
                <a:gd name="T7" fmla="*/ 25 h 69"/>
                <a:gd name="T8" fmla="*/ 26 w 143"/>
                <a:gd name="T9" fmla="*/ 14 h 69"/>
                <a:gd name="T10" fmla="*/ 36 w 143"/>
                <a:gd name="T11" fmla="*/ 8 h 69"/>
                <a:gd name="T12" fmla="*/ 51 w 143"/>
                <a:gd name="T13" fmla="*/ 3 h 69"/>
                <a:gd name="T14" fmla="*/ 65 w 143"/>
                <a:gd name="T15" fmla="*/ 0 h 69"/>
                <a:gd name="T16" fmla="*/ 80 w 143"/>
                <a:gd name="T17" fmla="*/ 0 h 69"/>
                <a:gd name="T18" fmla="*/ 94 w 143"/>
                <a:gd name="T19" fmla="*/ 3 h 69"/>
                <a:gd name="T20" fmla="*/ 106 w 143"/>
                <a:gd name="T21" fmla="*/ 8 h 69"/>
                <a:gd name="T22" fmla="*/ 116 w 143"/>
                <a:gd name="T23" fmla="*/ 14 h 69"/>
                <a:gd name="T24" fmla="*/ 128 w 143"/>
                <a:gd name="T25" fmla="*/ 25 h 69"/>
                <a:gd name="T26" fmla="*/ 133 w 143"/>
                <a:gd name="T27" fmla="*/ 36 h 69"/>
                <a:gd name="T28" fmla="*/ 139 w 143"/>
                <a:gd name="T29" fmla="*/ 46 h 69"/>
                <a:gd name="T30" fmla="*/ 142 w 143"/>
                <a:gd name="T31" fmla="*/ 60 h 69"/>
                <a:gd name="T32" fmla="*/ 133 w 143"/>
                <a:gd name="T33" fmla="*/ 68 h 69"/>
                <a:gd name="T34" fmla="*/ 133 w 143"/>
                <a:gd name="T35" fmla="*/ 54 h 69"/>
                <a:gd name="T36" fmla="*/ 128 w 143"/>
                <a:gd name="T37" fmla="*/ 43 h 69"/>
                <a:gd name="T38" fmla="*/ 122 w 143"/>
                <a:gd name="T39" fmla="*/ 33 h 69"/>
                <a:gd name="T40" fmla="*/ 116 w 143"/>
                <a:gd name="T41" fmla="*/ 25 h 69"/>
                <a:gd name="T42" fmla="*/ 108 w 143"/>
                <a:gd name="T43" fmla="*/ 19 h 69"/>
                <a:gd name="T44" fmla="*/ 97 w 143"/>
                <a:gd name="T45" fmla="*/ 11 h 69"/>
                <a:gd name="T46" fmla="*/ 85 w 143"/>
                <a:gd name="T47" fmla="*/ 8 h 69"/>
                <a:gd name="T48" fmla="*/ 71 w 143"/>
                <a:gd name="T49" fmla="*/ 8 h 69"/>
                <a:gd name="T50" fmla="*/ 59 w 143"/>
                <a:gd name="T51" fmla="*/ 8 h 69"/>
                <a:gd name="T52" fmla="*/ 48 w 143"/>
                <a:gd name="T53" fmla="*/ 11 h 69"/>
                <a:gd name="T54" fmla="*/ 36 w 143"/>
                <a:gd name="T55" fmla="*/ 19 h 69"/>
                <a:gd name="T56" fmla="*/ 28 w 143"/>
                <a:gd name="T57" fmla="*/ 25 h 69"/>
                <a:gd name="T58" fmla="*/ 20 w 143"/>
                <a:gd name="T59" fmla="*/ 33 h 69"/>
                <a:gd name="T60" fmla="*/ 14 w 143"/>
                <a:gd name="T61" fmla="*/ 43 h 69"/>
                <a:gd name="T62" fmla="*/ 12 w 143"/>
                <a:gd name="T63" fmla="*/ 54 h 69"/>
                <a:gd name="T64" fmla="*/ 9 w 143"/>
                <a:gd name="T65" fmla="*/ 68 h 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43"/>
                <a:gd name="T100" fmla="*/ 0 h 69"/>
                <a:gd name="T101" fmla="*/ 143 w 143"/>
                <a:gd name="T102" fmla="*/ 69 h 6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43" h="69">
                  <a:moveTo>
                    <a:pt x="0" y="68"/>
                  </a:moveTo>
                  <a:lnTo>
                    <a:pt x="0" y="60"/>
                  </a:lnTo>
                  <a:lnTo>
                    <a:pt x="3" y="54"/>
                  </a:lnTo>
                  <a:lnTo>
                    <a:pt x="3" y="46"/>
                  </a:lnTo>
                  <a:lnTo>
                    <a:pt x="6" y="41"/>
                  </a:lnTo>
                  <a:lnTo>
                    <a:pt x="9" y="36"/>
                  </a:lnTo>
                  <a:lnTo>
                    <a:pt x="12" y="30"/>
                  </a:lnTo>
                  <a:lnTo>
                    <a:pt x="17" y="25"/>
                  </a:lnTo>
                  <a:lnTo>
                    <a:pt x="20" y="19"/>
                  </a:lnTo>
                  <a:lnTo>
                    <a:pt x="26" y="14"/>
                  </a:lnTo>
                  <a:lnTo>
                    <a:pt x="31" y="11"/>
                  </a:lnTo>
                  <a:lnTo>
                    <a:pt x="36" y="8"/>
                  </a:lnTo>
                  <a:lnTo>
                    <a:pt x="45" y="6"/>
                  </a:lnTo>
                  <a:lnTo>
                    <a:pt x="51" y="3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4" y="3"/>
                  </a:lnTo>
                  <a:lnTo>
                    <a:pt x="100" y="6"/>
                  </a:lnTo>
                  <a:lnTo>
                    <a:pt x="106" y="8"/>
                  </a:lnTo>
                  <a:lnTo>
                    <a:pt x="110" y="11"/>
                  </a:lnTo>
                  <a:lnTo>
                    <a:pt x="116" y="14"/>
                  </a:lnTo>
                  <a:lnTo>
                    <a:pt x="122" y="19"/>
                  </a:lnTo>
                  <a:lnTo>
                    <a:pt x="128" y="25"/>
                  </a:lnTo>
                  <a:lnTo>
                    <a:pt x="130" y="30"/>
                  </a:lnTo>
                  <a:lnTo>
                    <a:pt x="133" y="36"/>
                  </a:lnTo>
                  <a:lnTo>
                    <a:pt x="136" y="41"/>
                  </a:lnTo>
                  <a:lnTo>
                    <a:pt x="139" y="46"/>
                  </a:lnTo>
                  <a:lnTo>
                    <a:pt x="142" y="54"/>
                  </a:lnTo>
                  <a:lnTo>
                    <a:pt x="142" y="60"/>
                  </a:lnTo>
                  <a:lnTo>
                    <a:pt x="142" y="68"/>
                  </a:lnTo>
                  <a:lnTo>
                    <a:pt x="133" y="68"/>
                  </a:lnTo>
                  <a:lnTo>
                    <a:pt x="133" y="60"/>
                  </a:lnTo>
                  <a:lnTo>
                    <a:pt x="133" y="54"/>
                  </a:lnTo>
                  <a:lnTo>
                    <a:pt x="130" y="49"/>
                  </a:lnTo>
                  <a:lnTo>
                    <a:pt x="128" y="43"/>
                  </a:lnTo>
                  <a:lnTo>
                    <a:pt x="128" y="39"/>
                  </a:lnTo>
                  <a:lnTo>
                    <a:pt x="122" y="33"/>
                  </a:lnTo>
                  <a:lnTo>
                    <a:pt x="119" y="30"/>
                  </a:lnTo>
                  <a:lnTo>
                    <a:pt x="116" y="25"/>
                  </a:lnTo>
                  <a:lnTo>
                    <a:pt x="110" y="22"/>
                  </a:lnTo>
                  <a:lnTo>
                    <a:pt x="108" y="19"/>
                  </a:lnTo>
                  <a:lnTo>
                    <a:pt x="103" y="14"/>
                  </a:lnTo>
                  <a:lnTo>
                    <a:pt x="97" y="11"/>
                  </a:lnTo>
                  <a:lnTo>
                    <a:pt x="91" y="11"/>
                  </a:lnTo>
                  <a:lnTo>
                    <a:pt x="85" y="8"/>
                  </a:lnTo>
                  <a:lnTo>
                    <a:pt x="80" y="8"/>
                  </a:lnTo>
                  <a:lnTo>
                    <a:pt x="71" y="8"/>
                  </a:lnTo>
                  <a:lnTo>
                    <a:pt x="65" y="8"/>
                  </a:lnTo>
                  <a:lnTo>
                    <a:pt x="59" y="8"/>
                  </a:lnTo>
                  <a:lnTo>
                    <a:pt x="54" y="11"/>
                  </a:lnTo>
                  <a:lnTo>
                    <a:pt x="48" y="11"/>
                  </a:lnTo>
                  <a:lnTo>
                    <a:pt x="42" y="14"/>
                  </a:lnTo>
                  <a:lnTo>
                    <a:pt x="36" y="19"/>
                  </a:lnTo>
                  <a:lnTo>
                    <a:pt x="31" y="22"/>
                  </a:lnTo>
                  <a:lnTo>
                    <a:pt x="28" y="25"/>
                  </a:lnTo>
                  <a:lnTo>
                    <a:pt x="23" y="30"/>
                  </a:lnTo>
                  <a:lnTo>
                    <a:pt x="20" y="33"/>
                  </a:lnTo>
                  <a:lnTo>
                    <a:pt x="17" y="39"/>
                  </a:lnTo>
                  <a:lnTo>
                    <a:pt x="14" y="43"/>
                  </a:lnTo>
                  <a:lnTo>
                    <a:pt x="12" y="49"/>
                  </a:lnTo>
                  <a:lnTo>
                    <a:pt x="12" y="54"/>
                  </a:lnTo>
                  <a:lnTo>
                    <a:pt x="9" y="60"/>
                  </a:lnTo>
                  <a:lnTo>
                    <a:pt x="9" y="68"/>
                  </a:lnTo>
                  <a:lnTo>
                    <a:pt x="0" y="68"/>
                  </a:lnTo>
                </a:path>
              </a:pathLst>
            </a:custGeom>
            <a:solidFill>
              <a:srgbClr val="FFE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3" name="Freeform 193">
              <a:extLst>
                <a:ext uri="{FF2B5EF4-FFF2-40B4-BE49-F238E27FC236}">
                  <a16:creationId xmlns:a16="http://schemas.microsoft.com/office/drawing/2014/main" id="{20C70B7A-302E-4C01-9002-360CDD16C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802"/>
              <a:ext cx="143" cy="69"/>
            </a:xfrm>
            <a:custGeom>
              <a:avLst/>
              <a:gdLst>
                <a:gd name="T0" fmla="*/ 0 w 143"/>
                <a:gd name="T1" fmla="*/ 0 h 69"/>
                <a:gd name="T2" fmla="*/ 3 w 143"/>
                <a:gd name="T3" fmla="*/ 14 h 69"/>
                <a:gd name="T4" fmla="*/ 6 w 143"/>
                <a:gd name="T5" fmla="*/ 25 h 69"/>
                <a:gd name="T6" fmla="*/ 12 w 143"/>
                <a:gd name="T7" fmla="*/ 39 h 69"/>
                <a:gd name="T8" fmla="*/ 20 w 143"/>
                <a:gd name="T9" fmla="*/ 50 h 69"/>
                <a:gd name="T10" fmla="*/ 31 w 143"/>
                <a:gd name="T11" fmla="*/ 57 h 69"/>
                <a:gd name="T12" fmla="*/ 45 w 143"/>
                <a:gd name="T13" fmla="*/ 62 h 69"/>
                <a:gd name="T14" fmla="*/ 57 w 143"/>
                <a:gd name="T15" fmla="*/ 65 h 69"/>
                <a:gd name="T16" fmla="*/ 71 w 143"/>
                <a:gd name="T17" fmla="*/ 68 h 69"/>
                <a:gd name="T18" fmla="*/ 85 w 143"/>
                <a:gd name="T19" fmla="*/ 65 h 69"/>
                <a:gd name="T20" fmla="*/ 100 w 143"/>
                <a:gd name="T21" fmla="*/ 62 h 69"/>
                <a:gd name="T22" fmla="*/ 110 w 143"/>
                <a:gd name="T23" fmla="*/ 57 h 69"/>
                <a:gd name="T24" fmla="*/ 122 w 143"/>
                <a:gd name="T25" fmla="*/ 50 h 69"/>
                <a:gd name="T26" fmla="*/ 130 w 143"/>
                <a:gd name="T27" fmla="*/ 39 h 69"/>
                <a:gd name="T28" fmla="*/ 136 w 143"/>
                <a:gd name="T29" fmla="*/ 25 h 69"/>
                <a:gd name="T30" fmla="*/ 142 w 143"/>
                <a:gd name="T31" fmla="*/ 14 h 69"/>
                <a:gd name="T32" fmla="*/ 142 w 143"/>
                <a:gd name="T33" fmla="*/ 0 h 69"/>
                <a:gd name="T34" fmla="*/ 133 w 143"/>
                <a:gd name="T35" fmla="*/ 6 h 69"/>
                <a:gd name="T36" fmla="*/ 130 w 143"/>
                <a:gd name="T37" fmla="*/ 17 h 69"/>
                <a:gd name="T38" fmla="*/ 128 w 143"/>
                <a:gd name="T39" fmla="*/ 28 h 69"/>
                <a:gd name="T40" fmla="*/ 119 w 143"/>
                <a:gd name="T41" fmla="*/ 39 h 69"/>
                <a:gd name="T42" fmla="*/ 110 w 143"/>
                <a:gd name="T43" fmla="*/ 47 h 69"/>
                <a:gd name="T44" fmla="*/ 103 w 143"/>
                <a:gd name="T45" fmla="*/ 52 h 69"/>
                <a:gd name="T46" fmla="*/ 91 w 143"/>
                <a:gd name="T47" fmla="*/ 57 h 69"/>
                <a:gd name="T48" fmla="*/ 80 w 143"/>
                <a:gd name="T49" fmla="*/ 60 h 69"/>
                <a:gd name="T50" fmla="*/ 65 w 143"/>
                <a:gd name="T51" fmla="*/ 60 h 69"/>
                <a:gd name="T52" fmla="*/ 54 w 143"/>
                <a:gd name="T53" fmla="*/ 57 h 69"/>
                <a:gd name="T54" fmla="*/ 42 w 143"/>
                <a:gd name="T55" fmla="*/ 52 h 69"/>
                <a:gd name="T56" fmla="*/ 31 w 143"/>
                <a:gd name="T57" fmla="*/ 47 h 69"/>
                <a:gd name="T58" fmla="*/ 23 w 143"/>
                <a:gd name="T59" fmla="*/ 39 h 69"/>
                <a:gd name="T60" fmla="*/ 17 w 143"/>
                <a:gd name="T61" fmla="*/ 28 h 69"/>
                <a:gd name="T62" fmla="*/ 12 w 143"/>
                <a:gd name="T63" fmla="*/ 17 h 69"/>
                <a:gd name="T64" fmla="*/ 9 w 143"/>
                <a:gd name="T65" fmla="*/ 6 h 69"/>
                <a:gd name="T66" fmla="*/ 0 w 143"/>
                <a:gd name="T67" fmla="*/ 0 h 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3"/>
                <a:gd name="T103" fmla="*/ 0 h 69"/>
                <a:gd name="T104" fmla="*/ 143 w 143"/>
                <a:gd name="T105" fmla="*/ 69 h 6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3" h="69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14"/>
                  </a:lnTo>
                  <a:lnTo>
                    <a:pt x="3" y="19"/>
                  </a:lnTo>
                  <a:lnTo>
                    <a:pt x="6" y="25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7" y="44"/>
                  </a:lnTo>
                  <a:lnTo>
                    <a:pt x="20" y="50"/>
                  </a:lnTo>
                  <a:lnTo>
                    <a:pt x="26" y="52"/>
                  </a:lnTo>
                  <a:lnTo>
                    <a:pt x="31" y="57"/>
                  </a:lnTo>
                  <a:lnTo>
                    <a:pt x="36" y="60"/>
                  </a:lnTo>
                  <a:lnTo>
                    <a:pt x="45" y="62"/>
                  </a:lnTo>
                  <a:lnTo>
                    <a:pt x="51" y="65"/>
                  </a:lnTo>
                  <a:lnTo>
                    <a:pt x="57" y="65"/>
                  </a:lnTo>
                  <a:lnTo>
                    <a:pt x="65" y="68"/>
                  </a:lnTo>
                  <a:lnTo>
                    <a:pt x="71" y="68"/>
                  </a:lnTo>
                  <a:lnTo>
                    <a:pt x="80" y="68"/>
                  </a:lnTo>
                  <a:lnTo>
                    <a:pt x="85" y="65"/>
                  </a:lnTo>
                  <a:lnTo>
                    <a:pt x="94" y="65"/>
                  </a:lnTo>
                  <a:lnTo>
                    <a:pt x="100" y="62"/>
                  </a:lnTo>
                  <a:lnTo>
                    <a:pt x="106" y="60"/>
                  </a:lnTo>
                  <a:lnTo>
                    <a:pt x="110" y="57"/>
                  </a:lnTo>
                  <a:lnTo>
                    <a:pt x="116" y="52"/>
                  </a:lnTo>
                  <a:lnTo>
                    <a:pt x="122" y="50"/>
                  </a:lnTo>
                  <a:lnTo>
                    <a:pt x="128" y="44"/>
                  </a:lnTo>
                  <a:lnTo>
                    <a:pt x="130" y="39"/>
                  </a:lnTo>
                  <a:lnTo>
                    <a:pt x="133" y="33"/>
                  </a:lnTo>
                  <a:lnTo>
                    <a:pt x="136" y="25"/>
                  </a:lnTo>
                  <a:lnTo>
                    <a:pt x="139" y="19"/>
                  </a:lnTo>
                  <a:lnTo>
                    <a:pt x="142" y="14"/>
                  </a:lnTo>
                  <a:lnTo>
                    <a:pt x="142" y="6"/>
                  </a:lnTo>
                  <a:lnTo>
                    <a:pt x="142" y="0"/>
                  </a:lnTo>
                  <a:lnTo>
                    <a:pt x="133" y="0"/>
                  </a:lnTo>
                  <a:lnTo>
                    <a:pt x="133" y="6"/>
                  </a:lnTo>
                  <a:lnTo>
                    <a:pt x="133" y="11"/>
                  </a:lnTo>
                  <a:lnTo>
                    <a:pt x="130" y="17"/>
                  </a:lnTo>
                  <a:lnTo>
                    <a:pt x="128" y="22"/>
                  </a:lnTo>
                  <a:lnTo>
                    <a:pt x="128" y="28"/>
                  </a:lnTo>
                  <a:lnTo>
                    <a:pt x="122" y="33"/>
                  </a:lnTo>
                  <a:lnTo>
                    <a:pt x="119" y="39"/>
                  </a:lnTo>
                  <a:lnTo>
                    <a:pt x="116" y="41"/>
                  </a:lnTo>
                  <a:lnTo>
                    <a:pt x="110" y="47"/>
                  </a:lnTo>
                  <a:lnTo>
                    <a:pt x="108" y="50"/>
                  </a:lnTo>
                  <a:lnTo>
                    <a:pt x="103" y="52"/>
                  </a:lnTo>
                  <a:lnTo>
                    <a:pt x="97" y="54"/>
                  </a:lnTo>
                  <a:lnTo>
                    <a:pt x="91" y="57"/>
                  </a:lnTo>
                  <a:lnTo>
                    <a:pt x="85" y="57"/>
                  </a:lnTo>
                  <a:lnTo>
                    <a:pt x="80" y="60"/>
                  </a:lnTo>
                  <a:lnTo>
                    <a:pt x="71" y="60"/>
                  </a:lnTo>
                  <a:lnTo>
                    <a:pt x="65" y="60"/>
                  </a:lnTo>
                  <a:lnTo>
                    <a:pt x="59" y="57"/>
                  </a:lnTo>
                  <a:lnTo>
                    <a:pt x="54" y="57"/>
                  </a:lnTo>
                  <a:lnTo>
                    <a:pt x="48" y="54"/>
                  </a:lnTo>
                  <a:lnTo>
                    <a:pt x="42" y="52"/>
                  </a:lnTo>
                  <a:lnTo>
                    <a:pt x="36" y="50"/>
                  </a:lnTo>
                  <a:lnTo>
                    <a:pt x="31" y="47"/>
                  </a:lnTo>
                  <a:lnTo>
                    <a:pt x="28" y="41"/>
                  </a:lnTo>
                  <a:lnTo>
                    <a:pt x="23" y="39"/>
                  </a:lnTo>
                  <a:lnTo>
                    <a:pt x="20" y="33"/>
                  </a:lnTo>
                  <a:lnTo>
                    <a:pt x="17" y="28"/>
                  </a:lnTo>
                  <a:lnTo>
                    <a:pt x="14" y="22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D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194">
              <a:extLst>
                <a:ext uri="{FF2B5EF4-FFF2-40B4-BE49-F238E27FC236}">
                  <a16:creationId xmlns:a16="http://schemas.microsoft.com/office/drawing/2014/main" id="{613F6D90-1F68-4326-AFDD-1335F78A3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3737"/>
              <a:ext cx="125" cy="60"/>
            </a:xfrm>
            <a:custGeom>
              <a:avLst/>
              <a:gdLst>
                <a:gd name="T0" fmla="*/ 0 w 125"/>
                <a:gd name="T1" fmla="*/ 59 h 60"/>
                <a:gd name="T2" fmla="*/ 0 w 125"/>
                <a:gd name="T3" fmla="*/ 51 h 60"/>
                <a:gd name="T4" fmla="*/ 3 w 125"/>
                <a:gd name="T5" fmla="*/ 45 h 60"/>
                <a:gd name="T6" fmla="*/ 3 w 125"/>
                <a:gd name="T7" fmla="*/ 40 h 60"/>
                <a:gd name="T8" fmla="*/ 6 w 125"/>
                <a:gd name="T9" fmla="*/ 34 h 60"/>
                <a:gd name="T10" fmla="*/ 9 w 125"/>
                <a:gd name="T11" fmla="*/ 30 h 60"/>
                <a:gd name="T12" fmla="*/ 11 w 125"/>
                <a:gd name="T13" fmla="*/ 25 h 60"/>
                <a:gd name="T14" fmla="*/ 14 w 125"/>
                <a:gd name="T15" fmla="*/ 22 h 60"/>
                <a:gd name="T16" fmla="*/ 19 w 125"/>
                <a:gd name="T17" fmla="*/ 16 h 60"/>
                <a:gd name="T18" fmla="*/ 22 w 125"/>
                <a:gd name="T19" fmla="*/ 14 h 60"/>
                <a:gd name="T20" fmla="*/ 28 w 125"/>
                <a:gd name="T21" fmla="*/ 11 h 60"/>
                <a:gd name="T22" fmla="*/ 33 w 125"/>
                <a:gd name="T23" fmla="*/ 5 h 60"/>
                <a:gd name="T24" fmla="*/ 39 w 125"/>
                <a:gd name="T25" fmla="*/ 3 h 60"/>
                <a:gd name="T26" fmla="*/ 45 w 125"/>
                <a:gd name="T27" fmla="*/ 3 h 60"/>
                <a:gd name="T28" fmla="*/ 51 w 125"/>
                <a:gd name="T29" fmla="*/ 0 h 60"/>
                <a:gd name="T30" fmla="*/ 56 w 125"/>
                <a:gd name="T31" fmla="*/ 0 h 60"/>
                <a:gd name="T32" fmla="*/ 62 w 125"/>
                <a:gd name="T33" fmla="*/ 0 h 60"/>
                <a:gd name="T34" fmla="*/ 71 w 125"/>
                <a:gd name="T35" fmla="*/ 0 h 60"/>
                <a:gd name="T36" fmla="*/ 76 w 125"/>
                <a:gd name="T37" fmla="*/ 0 h 60"/>
                <a:gd name="T38" fmla="*/ 82 w 125"/>
                <a:gd name="T39" fmla="*/ 3 h 60"/>
                <a:gd name="T40" fmla="*/ 88 w 125"/>
                <a:gd name="T41" fmla="*/ 3 h 60"/>
                <a:gd name="T42" fmla="*/ 93 w 125"/>
                <a:gd name="T43" fmla="*/ 5 h 60"/>
                <a:gd name="T44" fmla="*/ 99 w 125"/>
                <a:gd name="T45" fmla="*/ 11 h 60"/>
                <a:gd name="T46" fmla="*/ 101 w 125"/>
                <a:gd name="T47" fmla="*/ 14 h 60"/>
                <a:gd name="T48" fmla="*/ 107 w 125"/>
                <a:gd name="T49" fmla="*/ 16 h 60"/>
                <a:gd name="T50" fmla="*/ 110 w 125"/>
                <a:gd name="T51" fmla="*/ 22 h 60"/>
                <a:gd name="T52" fmla="*/ 113 w 125"/>
                <a:gd name="T53" fmla="*/ 25 h 60"/>
                <a:gd name="T54" fmla="*/ 118 w 125"/>
                <a:gd name="T55" fmla="*/ 30 h 60"/>
                <a:gd name="T56" fmla="*/ 118 w 125"/>
                <a:gd name="T57" fmla="*/ 34 h 60"/>
                <a:gd name="T58" fmla="*/ 121 w 125"/>
                <a:gd name="T59" fmla="*/ 40 h 60"/>
                <a:gd name="T60" fmla="*/ 124 w 125"/>
                <a:gd name="T61" fmla="*/ 45 h 60"/>
                <a:gd name="T62" fmla="*/ 124 w 125"/>
                <a:gd name="T63" fmla="*/ 51 h 60"/>
                <a:gd name="T64" fmla="*/ 124 w 125"/>
                <a:gd name="T65" fmla="*/ 59 h 60"/>
                <a:gd name="T66" fmla="*/ 115 w 125"/>
                <a:gd name="T67" fmla="*/ 59 h 60"/>
                <a:gd name="T68" fmla="*/ 115 w 125"/>
                <a:gd name="T69" fmla="*/ 48 h 60"/>
                <a:gd name="T70" fmla="*/ 113 w 125"/>
                <a:gd name="T71" fmla="*/ 37 h 60"/>
                <a:gd name="T72" fmla="*/ 107 w 125"/>
                <a:gd name="T73" fmla="*/ 30 h 60"/>
                <a:gd name="T74" fmla="*/ 101 w 125"/>
                <a:gd name="T75" fmla="*/ 22 h 60"/>
                <a:gd name="T76" fmla="*/ 93 w 125"/>
                <a:gd name="T77" fmla="*/ 16 h 60"/>
                <a:gd name="T78" fmla="*/ 85 w 125"/>
                <a:gd name="T79" fmla="*/ 11 h 60"/>
                <a:gd name="T80" fmla="*/ 73 w 125"/>
                <a:gd name="T81" fmla="*/ 8 h 60"/>
                <a:gd name="T82" fmla="*/ 62 w 125"/>
                <a:gd name="T83" fmla="*/ 8 h 60"/>
                <a:gd name="T84" fmla="*/ 51 w 125"/>
                <a:gd name="T85" fmla="*/ 8 h 60"/>
                <a:gd name="T86" fmla="*/ 42 w 125"/>
                <a:gd name="T87" fmla="*/ 11 h 60"/>
                <a:gd name="T88" fmla="*/ 33 w 125"/>
                <a:gd name="T89" fmla="*/ 16 h 60"/>
                <a:gd name="T90" fmla="*/ 25 w 125"/>
                <a:gd name="T91" fmla="*/ 22 h 60"/>
                <a:gd name="T92" fmla="*/ 19 w 125"/>
                <a:gd name="T93" fmla="*/ 30 h 60"/>
                <a:gd name="T94" fmla="*/ 14 w 125"/>
                <a:gd name="T95" fmla="*/ 37 h 60"/>
                <a:gd name="T96" fmla="*/ 11 w 125"/>
                <a:gd name="T97" fmla="*/ 48 h 60"/>
                <a:gd name="T98" fmla="*/ 9 w 125"/>
                <a:gd name="T99" fmla="*/ 59 h 60"/>
                <a:gd name="T100" fmla="*/ 0 w 125"/>
                <a:gd name="T101" fmla="*/ 59 h 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5"/>
                <a:gd name="T154" fmla="*/ 0 h 60"/>
                <a:gd name="T155" fmla="*/ 125 w 125"/>
                <a:gd name="T156" fmla="*/ 60 h 6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5" h="60">
                  <a:moveTo>
                    <a:pt x="0" y="59"/>
                  </a:moveTo>
                  <a:lnTo>
                    <a:pt x="0" y="51"/>
                  </a:lnTo>
                  <a:lnTo>
                    <a:pt x="3" y="45"/>
                  </a:lnTo>
                  <a:lnTo>
                    <a:pt x="3" y="40"/>
                  </a:lnTo>
                  <a:lnTo>
                    <a:pt x="6" y="34"/>
                  </a:lnTo>
                  <a:lnTo>
                    <a:pt x="9" y="30"/>
                  </a:lnTo>
                  <a:lnTo>
                    <a:pt x="11" y="25"/>
                  </a:lnTo>
                  <a:lnTo>
                    <a:pt x="14" y="22"/>
                  </a:lnTo>
                  <a:lnTo>
                    <a:pt x="19" y="16"/>
                  </a:lnTo>
                  <a:lnTo>
                    <a:pt x="22" y="14"/>
                  </a:lnTo>
                  <a:lnTo>
                    <a:pt x="28" y="11"/>
                  </a:lnTo>
                  <a:lnTo>
                    <a:pt x="33" y="5"/>
                  </a:lnTo>
                  <a:lnTo>
                    <a:pt x="39" y="3"/>
                  </a:lnTo>
                  <a:lnTo>
                    <a:pt x="45" y="3"/>
                  </a:lnTo>
                  <a:lnTo>
                    <a:pt x="51" y="0"/>
                  </a:lnTo>
                  <a:lnTo>
                    <a:pt x="56" y="0"/>
                  </a:lnTo>
                  <a:lnTo>
                    <a:pt x="62" y="0"/>
                  </a:lnTo>
                  <a:lnTo>
                    <a:pt x="71" y="0"/>
                  </a:lnTo>
                  <a:lnTo>
                    <a:pt x="76" y="0"/>
                  </a:lnTo>
                  <a:lnTo>
                    <a:pt x="82" y="3"/>
                  </a:lnTo>
                  <a:lnTo>
                    <a:pt x="88" y="3"/>
                  </a:lnTo>
                  <a:lnTo>
                    <a:pt x="93" y="5"/>
                  </a:lnTo>
                  <a:lnTo>
                    <a:pt x="99" y="11"/>
                  </a:lnTo>
                  <a:lnTo>
                    <a:pt x="101" y="14"/>
                  </a:lnTo>
                  <a:lnTo>
                    <a:pt x="107" y="16"/>
                  </a:lnTo>
                  <a:lnTo>
                    <a:pt x="110" y="22"/>
                  </a:lnTo>
                  <a:lnTo>
                    <a:pt x="113" y="25"/>
                  </a:lnTo>
                  <a:lnTo>
                    <a:pt x="118" y="30"/>
                  </a:lnTo>
                  <a:lnTo>
                    <a:pt x="118" y="34"/>
                  </a:lnTo>
                  <a:lnTo>
                    <a:pt x="121" y="40"/>
                  </a:lnTo>
                  <a:lnTo>
                    <a:pt x="124" y="45"/>
                  </a:lnTo>
                  <a:lnTo>
                    <a:pt x="124" y="51"/>
                  </a:lnTo>
                  <a:lnTo>
                    <a:pt x="124" y="59"/>
                  </a:lnTo>
                  <a:lnTo>
                    <a:pt x="115" y="59"/>
                  </a:lnTo>
                  <a:lnTo>
                    <a:pt x="115" y="48"/>
                  </a:lnTo>
                  <a:lnTo>
                    <a:pt x="113" y="37"/>
                  </a:lnTo>
                  <a:lnTo>
                    <a:pt x="107" y="30"/>
                  </a:lnTo>
                  <a:lnTo>
                    <a:pt x="101" y="22"/>
                  </a:lnTo>
                  <a:lnTo>
                    <a:pt x="93" y="16"/>
                  </a:lnTo>
                  <a:lnTo>
                    <a:pt x="85" y="11"/>
                  </a:lnTo>
                  <a:lnTo>
                    <a:pt x="73" y="8"/>
                  </a:lnTo>
                  <a:lnTo>
                    <a:pt x="62" y="8"/>
                  </a:lnTo>
                  <a:lnTo>
                    <a:pt x="51" y="8"/>
                  </a:lnTo>
                  <a:lnTo>
                    <a:pt x="42" y="11"/>
                  </a:lnTo>
                  <a:lnTo>
                    <a:pt x="33" y="16"/>
                  </a:lnTo>
                  <a:lnTo>
                    <a:pt x="25" y="22"/>
                  </a:lnTo>
                  <a:lnTo>
                    <a:pt x="19" y="30"/>
                  </a:lnTo>
                  <a:lnTo>
                    <a:pt x="14" y="37"/>
                  </a:lnTo>
                  <a:lnTo>
                    <a:pt x="11" y="48"/>
                  </a:lnTo>
                  <a:lnTo>
                    <a:pt x="9" y="59"/>
                  </a:lnTo>
                  <a:lnTo>
                    <a:pt x="0" y="59"/>
                  </a:lnTo>
                </a:path>
              </a:pathLst>
            </a:custGeom>
            <a:solidFill>
              <a:srgbClr val="FFF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195">
              <a:extLst>
                <a:ext uri="{FF2B5EF4-FFF2-40B4-BE49-F238E27FC236}">
                  <a16:creationId xmlns:a16="http://schemas.microsoft.com/office/drawing/2014/main" id="{96CE58EB-433C-4DD5-92A9-99C0A94DA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3802"/>
              <a:ext cx="125" cy="60"/>
            </a:xfrm>
            <a:custGeom>
              <a:avLst/>
              <a:gdLst>
                <a:gd name="T0" fmla="*/ 0 w 125"/>
                <a:gd name="T1" fmla="*/ 0 h 60"/>
                <a:gd name="T2" fmla="*/ 0 w 125"/>
                <a:gd name="T3" fmla="*/ 0 h 60"/>
                <a:gd name="T4" fmla="*/ 0 w 125"/>
                <a:gd name="T5" fmla="*/ 5 h 60"/>
                <a:gd name="T6" fmla="*/ 3 w 125"/>
                <a:gd name="T7" fmla="*/ 11 h 60"/>
                <a:gd name="T8" fmla="*/ 3 w 125"/>
                <a:gd name="T9" fmla="*/ 16 h 60"/>
                <a:gd name="T10" fmla="*/ 6 w 125"/>
                <a:gd name="T11" fmla="*/ 22 h 60"/>
                <a:gd name="T12" fmla="*/ 9 w 125"/>
                <a:gd name="T13" fmla="*/ 27 h 60"/>
                <a:gd name="T14" fmla="*/ 11 w 125"/>
                <a:gd name="T15" fmla="*/ 33 h 60"/>
                <a:gd name="T16" fmla="*/ 14 w 125"/>
                <a:gd name="T17" fmla="*/ 38 h 60"/>
                <a:gd name="T18" fmla="*/ 19 w 125"/>
                <a:gd name="T19" fmla="*/ 41 h 60"/>
                <a:gd name="T20" fmla="*/ 22 w 125"/>
                <a:gd name="T21" fmla="*/ 46 h 60"/>
                <a:gd name="T22" fmla="*/ 28 w 125"/>
                <a:gd name="T23" fmla="*/ 49 h 60"/>
                <a:gd name="T24" fmla="*/ 33 w 125"/>
                <a:gd name="T25" fmla="*/ 52 h 60"/>
                <a:gd name="T26" fmla="*/ 39 w 125"/>
                <a:gd name="T27" fmla="*/ 54 h 60"/>
                <a:gd name="T28" fmla="*/ 45 w 125"/>
                <a:gd name="T29" fmla="*/ 56 h 60"/>
                <a:gd name="T30" fmla="*/ 51 w 125"/>
                <a:gd name="T31" fmla="*/ 56 h 60"/>
                <a:gd name="T32" fmla="*/ 56 w 125"/>
                <a:gd name="T33" fmla="*/ 59 h 60"/>
                <a:gd name="T34" fmla="*/ 62 w 125"/>
                <a:gd name="T35" fmla="*/ 59 h 60"/>
                <a:gd name="T36" fmla="*/ 71 w 125"/>
                <a:gd name="T37" fmla="*/ 59 h 60"/>
                <a:gd name="T38" fmla="*/ 76 w 125"/>
                <a:gd name="T39" fmla="*/ 56 h 60"/>
                <a:gd name="T40" fmla="*/ 82 w 125"/>
                <a:gd name="T41" fmla="*/ 56 h 60"/>
                <a:gd name="T42" fmla="*/ 88 w 125"/>
                <a:gd name="T43" fmla="*/ 54 h 60"/>
                <a:gd name="T44" fmla="*/ 93 w 125"/>
                <a:gd name="T45" fmla="*/ 52 h 60"/>
                <a:gd name="T46" fmla="*/ 99 w 125"/>
                <a:gd name="T47" fmla="*/ 49 h 60"/>
                <a:gd name="T48" fmla="*/ 101 w 125"/>
                <a:gd name="T49" fmla="*/ 46 h 60"/>
                <a:gd name="T50" fmla="*/ 107 w 125"/>
                <a:gd name="T51" fmla="*/ 41 h 60"/>
                <a:gd name="T52" fmla="*/ 110 w 125"/>
                <a:gd name="T53" fmla="*/ 38 h 60"/>
                <a:gd name="T54" fmla="*/ 113 w 125"/>
                <a:gd name="T55" fmla="*/ 33 h 60"/>
                <a:gd name="T56" fmla="*/ 118 w 125"/>
                <a:gd name="T57" fmla="*/ 27 h 60"/>
                <a:gd name="T58" fmla="*/ 118 w 125"/>
                <a:gd name="T59" fmla="*/ 22 h 60"/>
                <a:gd name="T60" fmla="*/ 121 w 125"/>
                <a:gd name="T61" fmla="*/ 16 h 60"/>
                <a:gd name="T62" fmla="*/ 124 w 125"/>
                <a:gd name="T63" fmla="*/ 11 h 60"/>
                <a:gd name="T64" fmla="*/ 124 w 125"/>
                <a:gd name="T65" fmla="*/ 5 h 60"/>
                <a:gd name="T66" fmla="*/ 124 w 125"/>
                <a:gd name="T67" fmla="*/ 0 h 60"/>
                <a:gd name="T68" fmla="*/ 115 w 125"/>
                <a:gd name="T69" fmla="*/ 0 h 60"/>
                <a:gd name="T70" fmla="*/ 115 w 125"/>
                <a:gd name="T71" fmla="*/ 11 h 60"/>
                <a:gd name="T72" fmla="*/ 113 w 125"/>
                <a:gd name="T73" fmla="*/ 19 h 60"/>
                <a:gd name="T74" fmla="*/ 107 w 125"/>
                <a:gd name="T75" fmla="*/ 27 h 60"/>
                <a:gd name="T76" fmla="*/ 101 w 125"/>
                <a:gd name="T77" fmla="*/ 35 h 60"/>
                <a:gd name="T78" fmla="*/ 93 w 125"/>
                <a:gd name="T79" fmla="*/ 41 h 60"/>
                <a:gd name="T80" fmla="*/ 85 w 125"/>
                <a:gd name="T81" fmla="*/ 46 h 60"/>
                <a:gd name="T82" fmla="*/ 73 w 125"/>
                <a:gd name="T83" fmla="*/ 49 h 60"/>
                <a:gd name="T84" fmla="*/ 62 w 125"/>
                <a:gd name="T85" fmla="*/ 52 h 60"/>
                <a:gd name="T86" fmla="*/ 51 w 125"/>
                <a:gd name="T87" fmla="*/ 49 h 60"/>
                <a:gd name="T88" fmla="*/ 42 w 125"/>
                <a:gd name="T89" fmla="*/ 46 h 60"/>
                <a:gd name="T90" fmla="*/ 33 w 125"/>
                <a:gd name="T91" fmla="*/ 41 h 60"/>
                <a:gd name="T92" fmla="*/ 25 w 125"/>
                <a:gd name="T93" fmla="*/ 35 h 60"/>
                <a:gd name="T94" fmla="*/ 19 w 125"/>
                <a:gd name="T95" fmla="*/ 27 h 60"/>
                <a:gd name="T96" fmla="*/ 14 w 125"/>
                <a:gd name="T97" fmla="*/ 19 h 60"/>
                <a:gd name="T98" fmla="*/ 11 w 125"/>
                <a:gd name="T99" fmla="*/ 11 h 60"/>
                <a:gd name="T100" fmla="*/ 9 w 125"/>
                <a:gd name="T101" fmla="*/ 0 h 60"/>
                <a:gd name="T102" fmla="*/ 0 w 125"/>
                <a:gd name="T103" fmla="*/ 0 h 6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5"/>
                <a:gd name="T157" fmla="*/ 0 h 60"/>
                <a:gd name="T158" fmla="*/ 125 w 125"/>
                <a:gd name="T159" fmla="*/ 60 h 6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5" h="6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6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4" y="38"/>
                  </a:lnTo>
                  <a:lnTo>
                    <a:pt x="19" y="41"/>
                  </a:lnTo>
                  <a:lnTo>
                    <a:pt x="22" y="46"/>
                  </a:lnTo>
                  <a:lnTo>
                    <a:pt x="28" y="49"/>
                  </a:lnTo>
                  <a:lnTo>
                    <a:pt x="33" y="52"/>
                  </a:lnTo>
                  <a:lnTo>
                    <a:pt x="39" y="54"/>
                  </a:lnTo>
                  <a:lnTo>
                    <a:pt x="45" y="56"/>
                  </a:lnTo>
                  <a:lnTo>
                    <a:pt x="51" y="56"/>
                  </a:lnTo>
                  <a:lnTo>
                    <a:pt x="56" y="59"/>
                  </a:lnTo>
                  <a:lnTo>
                    <a:pt x="62" y="59"/>
                  </a:lnTo>
                  <a:lnTo>
                    <a:pt x="71" y="59"/>
                  </a:lnTo>
                  <a:lnTo>
                    <a:pt x="76" y="56"/>
                  </a:lnTo>
                  <a:lnTo>
                    <a:pt x="82" y="56"/>
                  </a:lnTo>
                  <a:lnTo>
                    <a:pt x="88" y="54"/>
                  </a:lnTo>
                  <a:lnTo>
                    <a:pt x="93" y="52"/>
                  </a:lnTo>
                  <a:lnTo>
                    <a:pt x="99" y="49"/>
                  </a:lnTo>
                  <a:lnTo>
                    <a:pt x="101" y="46"/>
                  </a:lnTo>
                  <a:lnTo>
                    <a:pt x="107" y="41"/>
                  </a:lnTo>
                  <a:lnTo>
                    <a:pt x="110" y="38"/>
                  </a:lnTo>
                  <a:lnTo>
                    <a:pt x="113" y="33"/>
                  </a:lnTo>
                  <a:lnTo>
                    <a:pt x="118" y="27"/>
                  </a:lnTo>
                  <a:lnTo>
                    <a:pt x="118" y="22"/>
                  </a:lnTo>
                  <a:lnTo>
                    <a:pt x="121" y="16"/>
                  </a:lnTo>
                  <a:lnTo>
                    <a:pt x="124" y="11"/>
                  </a:lnTo>
                  <a:lnTo>
                    <a:pt x="124" y="5"/>
                  </a:lnTo>
                  <a:lnTo>
                    <a:pt x="124" y="0"/>
                  </a:lnTo>
                  <a:lnTo>
                    <a:pt x="115" y="0"/>
                  </a:lnTo>
                  <a:lnTo>
                    <a:pt x="115" y="11"/>
                  </a:lnTo>
                  <a:lnTo>
                    <a:pt x="113" y="19"/>
                  </a:lnTo>
                  <a:lnTo>
                    <a:pt x="107" y="27"/>
                  </a:lnTo>
                  <a:lnTo>
                    <a:pt x="101" y="35"/>
                  </a:lnTo>
                  <a:lnTo>
                    <a:pt x="93" y="41"/>
                  </a:lnTo>
                  <a:lnTo>
                    <a:pt x="85" y="46"/>
                  </a:lnTo>
                  <a:lnTo>
                    <a:pt x="73" y="49"/>
                  </a:lnTo>
                  <a:lnTo>
                    <a:pt x="62" y="52"/>
                  </a:lnTo>
                  <a:lnTo>
                    <a:pt x="51" y="49"/>
                  </a:lnTo>
                  <a:lnTo>
                    <a:pt x="42" y="46"/>
                  </a:lnTo>
                  <a:lnTo>
                    <a:pt x="33" y="41"/>
                  </a:lnTo>
                  <a:lnTo>
                    <a:pt x="25" y="35"/>
                  </a:lnTo>
                  <a:lnTo>
                    <a:pt x="19" y="27"/>
                  </a:lnTo>
                  <a:lnTo>
                    <a:pt x="14" y="19"/>
                  </a:lnTo>
                  <a:lnTo>
                    <a:pt x="11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F0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Freeform 196">
              <a:extLst>
                <a:ext uri="{FF2B5EF4-FFF2-40B4-BE49-F238E27FC236}">
                  <a16:creationId xmlns:a16="http://schemas.microsoft.com/office/drawing/2014/main" id="{B916CB6A-5434-4351-9BF3-BC242EDE0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3746"/>
              <a:ext cx="107" cy="51"/>
            </a:xfrm>
            <a:custGeom>
              <a:avLst/>
              <a:gdLst>
                <a:gd name="T0" fmla="*/ 0 w 107"/>
                <a:gd name="T1" fmla="*/ 50 h 51"/>
                <a:gd name="T2" fmla="*/ 3 w 107"/>
                <a:gd name="T3" fmla="*/ 39 h 51"/>
                <a:gd name="T4" fmla="*/ 6 w 107"/>
                <a:gd name="T5" fmla="*/ 29 h 51"/>
                <a:gd name="T6" fmla="*/ 10 w 107"/>
                <a:gd name="T7" fmla="*/ 21 h 51"/>
                <a:gd name="T8" fmla="*/ 16 w 107"/>
                <a:gd name="T9" fmla="*/ 13 h 51"/>
                <a:gd name="T10" fmla="*/ 25 w 107"/>
                <a:gd name="T11" fmla="*/ 8 h 51"/>
                <a:gd name="T12" fmla="*/ 33 w 107"/>
                <a:gd name="T13" fmla="*/ 3 h 51"/>
                <a:gd name="T14" fmla="*/ 42 w 107"/>
                <a:gd name="T15" fmla="*/ 0 h 51"/>
                <a:gd name="T16" fmla="*/ 53 w 107"/>
                <a:gd name="T17" fmla="*/ 0 h 51"/>
                <a:gd name="T18" fmla="*/ 64 w 107"/>
                <a:gd name="T19" fmla="*/ 0 h 51"/>
                <a:gd name="T20" fmla="*/ 76 w 107"/>
                <a:gd name="T21" fmla="*/ 3 h 51"/>
                <a:gd name="T22" fmla="*/ 84 w 107"/>
                <a:gd name="T23" fmla="*/ 8 h 51"/>
                <a:gd name="T24" fmla="*/ 92 w 107"/>
                <a:gd name="T25" fmla="*/ 13 h 51"/>
                <a:gd name="T26" fmla="*/ 97 w 107"/>
                <a:gd name="T27" fmla="*/ 21 h 51"/>
                <a:gd name="T28" fmla="*/ 103 w 107"/>
                <a:gd name="T29" fmla="*/ 29 h 51"/>
                <a:gd name="T30" fmla="*/ 106 w 107"/>
                <a:gd name="T31" fmla="*/ 39 h 51"/>
                <a:gd name="T32" fmla="*/ 106 w 107"/>
                <a:gd name="T33" fmla="*/ 50 h 51"/>
                <a:gd name="T34" fmla="*/ 97 w 107"/>
                <a:gd name="T35" fmla="*/ 50 h 51"/>
                <a:gd name="T36" fmla="*/ 97 w 107"/>
                <a:gd name="T37" fmla="*/ 42 h 51"/>
                <a:gd name="T38" fmla="*/ 95 w 107"/>
                <a:gd name="T39" fmla="*/ 34 h 51"/>
                <a:gd name="T40" fmla="*/ 90 w 107"/>
                <a:gd name="T41" fmla="*/ 26 h 51"/>
                <a:gd name="T42" fmla="*/ 84 w 107"/>
                <a:gd name="T43" fmla="*/ 21 h 51"/>
                <a:gd name="T44" fmla="*/ 79 w 107"/>
                <a:gd name="T45" fmla="*/ 16 h 51"/>
                <a:gd name="T46" fmla="*/ 70 w 107"/>
                <a:gd name="T47" fmla="*/ 11 h 51"/>
                <a:gd name="T48" fmla="*/ 62 w 107"/>
                <a:gd name="T49" fmla="*/ 8 h 51"/>
                <a:gd name="T50" fmla="*/ 53 w 107"/>
                <a:gd name="T51" fmla="*/ 8 h 51"/>
                <a:gd name="T52" fmla="*/ 44 w 107"/>
                <a:gd name="T53" fmla="*/ 8 h 51"/>
                <a:gd name="T54" fmla="*/ 36 w 107"/>
                <a:gd name="T55" fmla="*/ 11 h 51"/>
                <a:gd name="T56" fmla="*/ 27 w 107"/>
                <a:gd name="T57" fmla="*/ 16 h 51"/>
                <a:gd name="T58" fmla="*/ 22 w 107"/>
                <a:gd name="T59" fmla="*/ 21 h 51"/>
                <a:gd name="T60" fmla="*/ 16 w 107"/>
                <a:gd name="T61" fmla="*/ 26 h 51"/>
                <a:gd name="T62" fmla="*/ 13 w 107"/>
                <a:gd name="T63" fmla="*/ 34 h 51"/>
                <a:gd name="T64" fmla="*/ 10 w 107"/>
                <a:gd name="T65" fmla="*/ 42 h 51"/>
                <a:gd name="T66" fmla="*/ 10 w 107"/>
                <a:gd name="T67" fmla="*/ 50 h 51"/>
                <a:gd name="T68" fmla="*/ 0 w 107"/>
                <a:gd name="T69" fmla="*/ 50 h 5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7"/>
                <a:gd name="T106" fmla="*/ 0 h 51"/>
                <a:gd name="T107" fmla="*/ 107 w 107"/>
                <a:gd name="T108" fmla="*/ 51 h 5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7" h="51">
                  <a:moveTo>
                    <a:pt x="0" y="50"/>
                  </a:moveTo>
                  <a:lnTo>
                    <a:pt x="3" y="39"/>
                  </a:lnTo>
                  <a:lnTo>
                    <a:pt x="6" y="29"/>
                  </a:lnTo>
                  <a:lnTo>
                    <a:pt x="10" y="21"/>
                  </a:lnTo>
                  <a:lnTo>
                    <a:pt x="16" y="13"/>
                  </a:lnTo>
                  <a:lnTo>
                    <a:pt x="25" y="8"/>
                  </a:lnTo>
                  <a:lnTo>
                    <a:pt x="33" y="3"/>
                  </a:lnTo>
                  <a:lnTo>
                    <a:pt x="42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6" y="3"/>
                  </a:lnTo>
                  <a:lnTo>
                    <a:pt x="84" y="8"/>
                  </a:lnTo>
                  <a:lnTo>
                    <a:pt x="92" y="13"/>
                  </a:lnTo>
                  <a:lnTo>
                    <a:pt x="97" y="21"/>
                  </a:lnTo>
                  <a:lnTo>
                    <a:pt x="103" y="29"/>
                  </a:lnTo>
                  <a:lnTo>
                    <a:pt x="106" y="39"/>
                  </a:lnTo>
                  <a:lnTo>
                    <a:pt x="106" y="50"/>
                  </a:lnTo>
                  <a:lnTo>
                    <a:pt x="97" y="50"/>
                  </a:lnTo>
                  <a:lnTo>
                    <a:pt x="97" y="42"/>
                  </a:lnTo>
                  <a:lnTo>
                    <a:pt x="95" y="34"/>
                  </a:lnTo>
                  <a:lnTo>
                    <a:pt x="90" y="26"/>
                  </a:lnTo>
                  <a:lnTo>
                    <a:pt x="84" y="21"/>
                  </a:lnTo>
                  <a:lnTo>
                    <a:pt x="79" y="16"/>
                  </a:lnTo>
                  <a:lnTo>
                    <a:pt x="70" y="11"/>
                  </a:lnTo>
                  <a:lnTo>
                    <a:pt x="62" y="8"/>
                  </a:lnTo>
                  <a:lnTo>
                    <a:pt x="53" y="8"/>
                  </a:lnTo>
                  <a:lnTo>
                    <a:pt x="44" y="8"/>
                  </a:lnTo>
                  <a:lnTo>
                    <a:pt x="36" y="11"/>
                  </a:lnTo>
                  <a:lnTo>
                    <a:pt x="27" y="16"/>
                  </a:lnTo>
                  <a:lnTo>
                    <a:pt x="22" y="21"/>
                  </a:lnTo>
                  <a:lnTo>
                    <a:pt x="16" y="26"/>
                  </a:lnTo>
                  <a:lnTo>
                    <a:pt x="13" y="34"/>
                  </a:lnTo>
                  <a:lnTo>
                    <a:pt x="10" y="42"/>
                  </a:lnTo>
                  <a:lnTo>
                    <a:pt x="10" y="50"/>
                  </a:lnTo>
                  <a:lnTo>
                    <a:pt x="0" y="5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7" name="Freeform 197">
              <a:extLst>
                <a:ext uri="{FF2B5EF4-FFF2-40B4-BE49-F238E27FC236}">
                  <a16:creationId xmlns:a16="http://schemas.microsoft.com/office/drawing/2014/main" id="{AE04AC51-31CD-4E20-A5F9-6497EBEC3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" y="3802"/>
              <a:ext cx="107" cy="52"/>
            </a:xfrm>
            <a:custGeom>
              <a:avLst/>
              <a:gdLst>
                <a:gd name="T0" fmla="*/ 0 w 107"/>
                <a:gd name="T1" fmla="*/ 0 h 52"/>
                <a:gd name="T2" fmla="*/ 0 w 107"/>
                <a:gd name="T3" fmla="*/ 0 h 52"/>
                <a:gd name="T4" fmla="*/ 3 w 107"/>
                <a:gd name="T5" fmla="*/ 11 h 52"/>
                <a:gd name="T6" fmla="*/ 6 w 107"/>
                <a:gd name="T7" fmla="*/ 19 h 52"/>
                <a:gd name="T8" fmla="*/ 10 w 107"/>
                <a:gd name="T9" fmla="*/ 27 h 52"/>
                <a:gd name="T10" fmla="*/ 16 w 107"/>
                <a:gd name="T11" fmla="*/ 35 h 52"/>
                <a:gd name="T12" fmla="*/ 25 w 107"/>
                <a:gd name="T13" fmla="*/ 40 h 52"/>
                <a:gd name="T14" fmla="*/ 33 w 107"/>
                <a:gd name="T15" fmla="*/ 46 h 52"/>
                <a:gd name="T16" fmla="*/ 42 w 107"/>
                <a:gd name="T17" fmla="*/ 48 h 52"/>
                <a:gd name="T18" fmla="*/ 53 w 107"/>
                <a:gd name="T19" fmla="*/ 51 h 52"/>
                <a:gd name="T20" fmla="*/ 64 w 107"/>
                <a:gd name="T21" fmla="*/ 48 h 52"/>
                <a:gd name="T22" fmla="*/ 76 w 107"/>
                <a:gd name="T23" fmla="*/ 46 h 52"/>
                <a:gd name="T24" fmla="*/ 84 w 107"/>
                <a:gd name="T25" fmla="*/ 40 h 52"/>
                <a:gd name="T26" fmla="*/ 92 w 107"/>
                <a:gd name="T27" fmla="*/ 35 h 52"/>
                <a:gd name="T28" fmla="*/ 97 w 107"/>
                <a:gd name="T29" fmla="*/ 27 h 52"/>
                <a:gd name="T30" fmla="*/ 103 w 107"/>
                <a:gd name="T31" fmla="*/ 19 h 52"/>
                <a:gd name="T32" fmla="*/ 106 w 107"/>
                <a:gd name="T33" fmla="*/ 11 h 52"/>
                <a:gd name="T34" fmla="*/ 106 w 107"/>
                <a:gd name="T35" fmla="*/ 0 h 52"/>
                <a:gd name="T36" fmla="*/ 97 w 107"/>
                <a:gd name="T37" fmla="*/ 0 h 52"/>
                <a:gd name="T38" fmla="*/ 97 w 107"/>
                <a:gd name="T39" fmla="*/ 8 h 52"/>
                <a:gd name="T40" fmla="*/ 95 w 107"/>
                <a:gd name="T41" fmla="*/ 16 h 52"/>
                <a:gd name="T42" fmla="*/ 90 w 107"/>
                <a:gd name="T43" fmla="*/ 24 h 52"/>
                <a:gd name="T44" fmla="*/ 84 w 107"/>
                <a:gd name="T45" fmla="*/ 30 h 52"/>
                <a:gd name="T46" fmla="*/ 79 w 107"/>
                <a:gd name="T47" fmla="*/ 35 h 52"/>
                <a:gd name="T48" fmla="*/ 70 w 107"/>
                <a:gd name="T49" fmla="*/ 38 h 52"/>
                <a:gd name="T50" fmla="*/ 62 w 107"/>
                <a:gd name="T51" fmla="*/ 40 h 52"/>
                <a:gd name="T52" fmla="*/ 53 w 107"/>
                <a:gd name="T53" fmla="*/ 40 h 52"/>
                <a:gd name="T54" fmla="*/ 44 w 107"/>
                <a:gd name="T55" fmla="*/ 40 h 52"/>
                <a:gd name="T56" fmla="*/ 36 w 107"/>
                <a:gd name="T57" fmla="*/ 38 h 52"/>
                <a:gd name="T58" fmla="*/ 27 w 107"/>
                <a:gd name="T59" fmla="*/ 35 h 52"/>
                <a:gd name="T60" fmla="*/ 22 w 107"/>
                <a:gd name="T61" fmla="*/ 30 h 52"/>
                <a:gd name="T62" fmla="*/ 16 w 107"/>
                <a:gd name="T63" fmla="*/ 24 h 52"/>
                <a:gd name="T64" fmla="*/ 13 w 107"/>
                <a:gd name="T65" fmla="*/ 16 h 52"/>
                <a:gd name="T66" fmla="*/ 10 w 107"/>
                <a:gd name="T67" fmla="*/ 8 h 52"/>
                <a:gd name="T68" fmla="*/ 10 w 107"/>
                <a:gd name="T69" fmla="*/ 0 h 52"/>
                <a:gd name="T70" fmla="*/ 0 w 107"/>
                <a:gd name="T71" fmla="*/ 0 h 5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7"/>
                <a:gd name="T109" fmla="*/ 0 h 52"/>
                <a:gd name="T110" fmla="*/ 107 w 107"/>
                <a:gd name="T111" fmla="*/ 52 h 5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7" h="52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6" y="19"/>
                  </a:lnTo>
                  <a:lnTo>
                    <a:pt x="10" y="27"/>
                  </a:lnTo>
                  <a:lnTo>
                    <a:pt x="16" y="35"/>
                  </a:lnTo>
                  <a:lnTo>
                    <a:pt x="25" y="40"/>
                  </a:lnTo>
                  <a:lnTo>
                    <a:pt x="33" y="46"/>
                  </a:lnTo>
                  <a:lnTo>
                    <a:pt x="42" y="48"/>
                  </a:lnTo>
                  <a:lnTo>
                    <a:pt x="53" y="51"/>
                  </a:lnTo>
                  <a:lnTo>
                    <a:pt x="64" y="48"/>
                  </a:lnTo>
                  <a:lnTo>
                    <a:pt x="76" y="46"/>
                  </a:lnTo>
                  <a:lnTo>
                    <a:pt x="84" y="40"/>
                  </a:lnTo>
                  <a:lnTo>
                    <a:pt x="92" y="35"/>
                  </a:lnTo>
                  <a:lnTo>
                    <a:pt x="97" y="27"/>
                  </a:lnTo>
                  <a:lnTo>
                    <a:pt x="103" y="19"/>
                  </a:lnTo>
                  <a:lnTo>
                    <a:pt x="106" y="11"/>
                  </a:lnTo>
                  <a:lnTo>
                    <a:pt x="106" y="0"/>
                  </a:lnTo>
                  <a:lnTo>
                    <a:pt x="97" y="0"/>
                  </a:lnTo>
                  <a:lnTo>
                    <a:pt x="97" y="8"/>
                  </a:lnTo>
                  <a:lnTo>
                    <a:pt x="95" y="16"/>
                  </a:lnTo>
                  <a:lnTo>
                    <a:pt x="90" y="24"/>
                  </a:lnTo>
                  <a:lnTo>
                    <a:pt x="84" y="30"/>
                  </a:lnTo>
                  <a:lnTo>
                    <a:pt x="79" y="35"/>
                  </a:lnTo>
                  <a:lnTo>
                    <a:pt x="70" y="38"/>
                  </a:lnTo>
                  <a:lnTo>
                    <a:pt x="62" y="40"/>
                  </a:lnTo>
                  <a:lnTo>
                    <a:pt x="53" y="40"/>
                  </a:lnTo>
                  <a:lnTo>
                    <a:pt x="44" y="40"/>
                  </a:lnTo>
                  <a:lnTo>
                    <a:pt x="36" y="38"/>
                  </a:lnTo>
                  <a:lnTo>
                    <a:pt x="27" y="35"/>
                  </a:lnTo>
                  <a:lnTo>
                    <a:pt x="22" y="30"/>
                  </a:lnTo>
                  <a:lnTo>
                    <a:pt x="16" y="24"/>
                  </a:lnTo>
                  <a:lnTo>
                    <a:pt x="13" y="16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0" y="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198">
              <a:extLst>
                <a:ext uri="{FF2B5EF4-FFF2-40B4-BE49-F238E27FC236}">
                  <a16:creationId xmlns:a16="http://schemas.microsoft.com/office/drawing/2014/main" id="{2A93A3F5-D23E-473F-B0C8-26ECE138F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755"/>
              <a:ext cx="87" cy="42"/>
            </a:xfrm>
            <a:custGeom>
              <a:avLst/>
              <a:gdLst>
                <a:gd name="T0" fmla="*/ 0 w 87"/>
                <a:gd name="T1" fmla="*/ 41 h 42"/>
                <a:gd name="T2" fmla="*/ 0 w 87"/>
                <a:gd name="T3" fmla="*/ 33 h 42"/>
                <a:gd name="T4" fmla="*/ 3 w 87"/>
                <a:gd name="T5" fmla="*/ 25 h 42"/>
                <a:gd name="T6" fmla="*/ 6 w 87"/>
                <a:gd name="T7" fmla="*/ 17 h 42"/>
                <a:gd name="T8" fmla="*/ 11 w 87"/>
                <a:gd name="T9" fmla="*/ 13 h 42"/>
                <a:gd name="T10" fmla="*/ 17 w 87"/>
                <a:gd name="T11" fmla="*/ 8 h 42"/>
                <a:gd name="T12" fmla="*/ 25 w 87"/>
                <a:gd name="T13" fmla="*/ 3 h 42"/>
                <a:gd name="T14" fmla="*/ 34 w 87"/>
                <a:gd name="T15" fmla="*/ 0 h 42"/>
                <a:gd name="T16" fmla="*/ 42 w 87"/>
                <a:gd name="T17" fmla="*/ 0 h 42"/>
                <a:gd name="T18" fmla="*/ 50 w 87"/>
                <a:gd name="T19" fmla="*/ 0 h 42"/>
                <a:gd name="T20" fmla="*/ 59 w 87"/>
                <a:gd name="T21" fmla="*/ 3 h 42"/>
                <a:gd name="T22" fmla="*/ 67 w 87"/>
                <a:gd name="T23" fmla="*/ 8 h 42"/>
                <a:gd name="T24" fmla="*/ 73 w 87"/>
                <a:gd name="T25" fmla="*/ 13 h 42"/>
                <a:gd name="T26" fmla="*/ 79 w 87"/>
                <a:gd name="T27" fmla="*/ 17 h 42"/>
                <a:gd name="T28" fmla="*/ 83 w 87"/>
                <a:gd name="T29" fmla="*/ 25 h 42"/>
                <a:gd name="T30" fmla="*/ 86 w 87"/>
                <a:gd name="T31" fmla="*/ 33 h 42"/>
                <a:gd name="T32" fmla="*/ 86 w 87"/>
                <a:gd name="T33" fmla="*/ 41 h 42"/>
                <a:gd name="T34" fmla="*/ 79 w 87"/>
                <a:gd name="T35" fmla="*/ 41 h 42"/>
                <a:gd name="T36" fmla="*/ 79 w 87"/>
                <a:gd name="T37" fmla="*/ 33 h 42"/>
                <a:gd name="T38" fmla="*/ 76 w 87"/>
                <a:gd name="T39" fmla="*/ 28 h 42"/>
                <a:gd name="T40" fmla="*/ 73 w 87"/>
                <a:gd name="T41" fmla="*/ 23 h 42"/>
                <a:gd name="T42" fmla="*/ 67 w 87"/>
                <a:gd name="T43" fmla="*/ 17 h 42"/>
                <a:gd name="T44" fmla="*/ 62 w 87"/>
                <a:gd name="T45" fmla="*/ 13 h 42"/>
                <a:gd name="T46" fmla="*/ 56 w 87"/>
                <a:gd name="T47" fmla="*/ 10 h 42"/>
                <a:gd name="T48" fmla="*/ 50 w 87"/>
                <a:gd name="T49" fmla="*/ 8 h 42"/>
                <a:gd name="T50" fmla="*/ 42 w 87"/>
                <a:gd name="T51" fmla="*/ 8 h 42"/>
                <a:gd name="T52" fmla="*/ 36 w 87"/>
                <a:gd name="T53" fmla="*/ 8 h 42"/>
                <a:gd name="T54" fmla="*/ 28 w 87"/>
                <a:gd name="T55" fmla="*/ 10 h 42"/>
                <a:gd name="T56" fmla="*/ 22 w 87"/>
                <a:gd name="T57" fmla="*/ 13 h 42"/>
                <a:gd name="T58" fmla="*/ 17 w 87"/>
                <a:gd name="T59" fmla="*/ 17 h 42"/>
                <a:gd name="T60" fmla="*/ 14 w 87"/>
                <a:gd name="T61" fmla="*/ 23 h 42"/>
                <a:gd name="T62" fmla="*/ 11 w 87"/>
                <a:gd name="T63" fmla="*/ 28 h 42"/>
                <a:gd name="T64" fmla="*/ 8 w 87"/>
                <a:gd name="T65" fmla="*/ 33 h 42"/>
                <a:gd name="T66" fmla="*/ 8 w 87"/>
                <a:gd name="T67" fmla="*/ 41 h 42"/>
                <a:gd name="T68" fmla="*/ 0 w 87"/>
                <a:gd name="T69" fmla="*/ 41 h 4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87"/>
                <a:gd name="T106" fmla="*/ 0 h 42"/>
                <a:gd name="T107" fmla="*/ 87 w 87"/>
                <a:gd name="T108" fmla="*/ 42 h 4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87" h="42">
                  <a:moveTo>
                    <a:pt x="0" y="41"/>
                  </a:moveTo>
                  <a:lnTo>
                    <a:pt x="0" y="33"/>
                  </a:lnTo>
                  <a:lnTo>
                    <a:pt x="3" y="25"/>
                  </a:lnTo>
                  <a:lnTo>
                    <a:pt x="6" y="17"/>
                  </a:lnTo>
                  <a:lnTo>
                    <a:pt x="11" y="13"/>
                  </a:lnTo>
                  <a:lnTo>
                    <a:pt x="17" y="8"/>
                  </a:lnTo>
                  <a:lnTo>
                    <a:pt x="25" y="3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0"/>
                  </a:lnTo>
                  <a:lnTo>
                    <a:pt x="59" y="3"/>
                  </a:lnTo>
                  <a:lnTo>
                    <a:pt x="67" y="8"/>
                  </a:lnTo>
                  <a:lnTo>
                    <a:pt x="73" y="13"/>
                  </a:lnTo>
                  <a:lnTo>
                    <a:pt x="79" y="17"/>
                  </a:lnTo>
                  <a:lnTo>
                    <a:pt x="83" y="25"/>
                  </a:lnTo>
                  <a:lnTo>
                    <a:pt x="86" y="33"/>
                  </a:lnTo>
                  <a:lnTo>
                    <a:pt x="86" y="41"/>
                  </a:lnTo>
                  <a:lnTo>
                    <a:pt x="79" y="41"/>
                  </a:lnTo>
                  <a:lnTo>
                    <a:pt x="79" y="33"/>
                  </a:lnTo>
                  <a:lnTo>
                    <a:pt x="76" y="28"/>
                  </a:lnTo>
                  <a:lnTo>
                    <a:pt x="73" y="23"/>
                  </a:lnTo>
                  <a:lnTo>
                    <a:pt x="67" y="17"/>
                  </a:lnTo>
                  <a:lnTo>
                    <a:pt x="62" y="13"/>
                  </a:lnTo>
                  <a:lnTo>
                    <a:pt x="56" y="10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6" y="8"/>
                  </a:lnTo>
                  <a:lnTo>
                    <a:pt x="28" y="10"/>
                  </a:lnTo>
                  <a:lnTo>
                    <a:pt x="22" y="13"/>
                  </a:lnTo>
                  <a:lnTo>
                    <a:pt x="17" y="17"/>
                  </a:lnTo>
                  <a:lnTo>
                    <a:pt x="14" y="23"/>
                  </a:lnTo>
                  <a:lnTo>
                    <a:pt x="11" y="28"/>
                  </a:lnTo>
                  <a:lnTo>
                    <a:pt x="8" y="33"/>
                  </a:lnTo>
                  <a:lnTo>
                    <a:pt x="8" y="41"/>
                  </a:lnTo>
                  <a:lnTo>
                    <a:pt x="0" y="41"/>
                  </a:lnTo>
                </a:path>
              </a:pathLst>
            </a:custGeom>
            <a:solidFill>
              <a:srgbClr val="FFF5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199">
              <a:extLst>
                <a:ext uri="{FF2B5EF4-FFF2-40B4-BE49-F238E27FC236}">
                  <a16:creationId xmlns:a16="http://schemas.microsoft.com/office/drawing/2014/main" id="{1A92CCCB-7755-4D73-87DD-3DDEA4C5C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802"/>
              <a:ext cx="87" cy="40"/>
            </a:xfrm>
            <a:custGeom>
              <a:avLst/>
              <a:gdLst>
                <a:gd name="T0" fmla="*/ 0 w 87"/>
                <a:gd name="T1" fmla="*/ 0 h 40"/>
                <a:gd name="T2" fmla="*/ 0 w 87"/>
                <a:gd name="T3" fmla="*/ 0 h 40"/>
                <a:gd name="T4" fmla="*/ 0 w 87"/>
                <a:gd name="T5" fmla="*/ 8 h 40"/>
                <a:gd name="T6" fmla="*/ 3 w 87"/>
                <a:gd name="T7" fmla="*/ 16 h 40"/>
                <a:gd name="T8" fmla="*/ 6 w 87"/>
                <a:gd name="T9" fmla="*/ 23 h 40"/>
                <a:gd name="T10" fmla="*/ 11 w 87"/>
                <a:gd name="T11" fmla="*/ 29 h 40"/>
                <a:gd name="T12" fmla="*/ 17 w 87"/>
                <a:gd name="T13" fmla="*/ 34 h 40"/>
                <a:gd name="T14" fmla="*/ 25 w 87"/>
                <a:gd name="T15" fmla="*/ 36 h 40"/>
                <a:gd name="T16" fmla="*/ 34 w 87"/>
                <a:gd name="T17" fmla="*/ 39 h 40"/>
                <a:gd name="T18" fmla="*/ 42 w 87"/>
                <a:gd name="T19" fmla="*/ 39 h 40"/>
                <a:gd name="T20" fmla="*/ 50 w 87"/>
                <a:gd name="T21" fmla="*/ 39 h 40"/>
                <a:gd name="T22" fmla="*/ 59 w 87"/>
                <a:gd name="T23" fmla="*/ 36 h 40"/>
                <a:gd name="T24" fmla="*/ 67 w 87"/>
                <a:gd name="T25" fmla="*/ 34 h 40"/>
                <a:gd name="T26" fmla="*/ 73 w 87"/>
                <a:gd name="T27" fmla="*/ 29 h 40"/>
                <a:gd name="T28" fmla="*/ 79 w 87"/>
                <a:gd name="T29" fmla="*/ 23 h 40"/>
                <a:gd name="T30" fmla="*/ 83 w 87"/>
                <a:gd name="T31" fmla="*/ 16 h 40"/>
                <a:gd name="T32" fmla="*/ 86 w 87"/>
                <a:gd name="T33" fmla="*/ 8 h 40"/>
                <a:gd name="T34" fmla="*/ 86 w 87"/>
                <a:gd name="T35" fmla="*/ 0 h 40"/>
                <a:gd name="T36" fmla="*/ 79 w 87"/>
                <a:gd name="T37" fmla="*/ 0 h 40"/>
                <a:gd name="T38" fmla="*/ 79 w 87"/>
                <a:gd name="T39" fmla="*/ 5 h 40"/>
                <a:gd name="T40" fmla="*/ 76 w 87"/>
                <a:gd name="T41" fmla="*/ 13 h 40"/>
                <a:gd name="T42" fmla="*/ 73 w 87"/>
                <a:gd name="T43" fmla="*/ 18 h 40"/>
                <a:gd name="T44" fmla="*/ 67 w 87"/>
                <a:gd name="T45" fmla="*/ 23 h 40"/>
                <a:gd name="T46" fmla="*/ 62 w 87"/>
                <a:gd name="T47" fmla="*/ 26 h 40"/>
                <a:gd name="T48" fmla="*/ 56 w 87"/>
                <a:gd name="T49" fmla="*/ 29 h 40"/>
                <a:gd name="T50" fmla="*/ 50 w 87"/>
                <a:gd name="T51" fmla="*/ 31 h 40"/>
                <a:gd name="T52" fmla="*/ 42 w 87"/>
                <a:gd name="T53" fmla="*/ 31 h 40"/>
                <a:gd name="T54" fmla="*/ 36 w 87"/>
                <a:gd name="T55" fmla="*/ 31 h 40"/>
                <a:gd name="T56" fmla="*/ 28 w 87"/>
                <a:gd name="T57" fmla="*/ 29 h 40"/>
                <a:gd name="T58" fmla="*/ 22 w 87"/>
                <a:gd name="T59" fmla="*/ 26 h 40"/>
                <a:gd name="T60" fmla="*/ 17 w 87"/>
                <a:gd name="T61" fmla="*/ 23 h 40"/>
                <a:gd name="T62" fmla="*/ 14 w 87"/>
                <a:gd name="T63" fmla="*/ 18 h 40"/>
                <a:gd name="T64" fmla="*/ 11 w 87"/>
                <a:gd name="T65" fmla="*/ 13 h 40"/>
                <a:gd name="T66" fmla="*/ 8 w 87"/>
                <a:gd name="T67" fmla="*/ 5 h 40"/>
                <a:gd name="T68" fmla="*/ 8 w 87"/>
                <a:gd name="T69" fmla="*/ 0 h 40"/>
                <a:gd name="T70" fmla="*/ 0 w 87"/>
                <a:gd name="T71" fmla="*/ 0 h 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7"/>
                <a:gd name="T109" fmla="*/ 0 h 40"/>
                <a:gd name="T110" fmla="*/ 87 w 87"/>
                <a:gd name="T111" fmla="*/ 40 h 4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7" h="40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3" y="16"/>
                  </a:lnTo>
                  <a:lnTo>
                    <a:pt x="6" y="23"/>
                  </a:lnTo>
                  <a:lnTo>
                    <a:pt x="11" y="29"/>
                  </a:lnTo>
                  <a:lnTo>
                    <a:pt x="17" y="34"/>
                  </a:lnTo>
                  <a:lnTo>
                    <a:pt x="25" y="36"/>
                  </a:lnTo>
                  <a:lnTo>
                    <a:pt x="34" y="39"/>
                  </a:lnTo>
                  <a:lnTo>
                    <a:pt x="42" y="39"/>
                  </a:lnTo>
                  <a:lnTo>
                    <a:pt x="50" y="39"/>
                  </a:lnTo>
                  <a:lnTo>
                    <a:pt x="59" y="36"/>
                  </a:lnTo>
                  <a:lnTo>
                    <a:pt x="67" y="34"/>
                  </a:lnTo>
                  <a:lnTo>
                    <a:pt x="73" y="29"/>
                  </a:lnTo>
                  <a:lnTo>
                    <a:pt x="79" y="23"/>
                  </a:lnTo>
                  <a:lnTo>
                    <a:pt x="83" y="16"/>
                  </a:lnTo>
                  <a:lnTo>
                    <a:pt x="86" y="8"/>
                  </a:lnTo>
                  <a:lnTo>
                    <a:pt x="86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6" y="13"/>
                  </a:lnTo>
                  <a:lnTo>
                    <a:pt x="73" y="18"/>
                  </a:lnTo>
                  <a:lnTo>
                    <a:pt x="67" y="23"/>
                  </a:lnTo>
                  <a:lnTo>
                    <a:pt x="62" y="26"/>
                  </a:lnTo>
                  <a:lnTo>
                    <a:pt x="56" y="29"/>
                  </a:lnTo>
                  <a:lnTo>
                    <a:pt x="50" y="31"/>
                  </a:lnTo>
                  <a:lnTo>
                    <a:pt x="42" y="31"/>
                  </a:lnTo>
                  <a:lnTo>
                    <a:pt x="36" y="31"/>
                  </a:lnTo>
                  <a:lnTo>
                    <a:pt x="28" y="29"/>
                  </a:lnTo>
                  <a:lnTo>
                    <a:pt x="22" y="26"/>
                  </a:lnTo>
                  <a:lnTo>
                    <a:pt x="17" y="23"/>
                  </a:lnTo>
                  <a:lnTo>
                    <a:pt x="14" y="18"/>
                  </a:lnTo>
                  <a:lnTo>
                    <a:pt x="11" y="13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5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200">
              <a:extLst>
                <a:ext uri="{FF2B5EF4-FFF2-40B4-BE49-F238E27FC236}">
                  <a16:creationId xmlns:a16="http://schemas.microsoft.com/office/drawing/2014/main" id="{8BF1D92B-E2D7-4FA6-A1A2-8F311B9AD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3764"/>
              <a:ext cx="70" cy="33"/>
            </a:xfrm>
            <a:custGeom>
              <a:avLst/>
              <a:gdLst>
                <a:gd name="T0" fmla="*/ 0 w 70"/>
                <a:gd name="T1" fmla="*/ 32 h 33"/>
                <a:gd name="T2" fmla="*/ 0 w 70"/>
                <a:gd name="T3" fmla="*/ 24 h 33"/>
                <a:gd name="T4" fmla="*/ 3 w 70"/>
                <a:gd name="T5" fmla="*/ 19 h 33"/>
                <a:gd name="T6" fmla="*/ 6 w 70"/>
                <a:gd name="T7" fmla="*/ 14 h 33"/>
                <a:gd name="T8" fmla="*/ 8 w 70"/>
                <a:gd name="T9" fmla="*/ 9 h 33"/>
                <a:gd name="T10" fmla="*/ 14 w 70"/>
                <a:gd name="T11" fmla="*/ 5 h 33"/>
                <a:gd name="T12" fmla="*/ 19 w 70"/>
                <a:gd name="T13" fmla="*/ 3 h 33"/>
                <a:gd name="T14" fmla="*/ 28 w 70"/>
                <a:gd name="T15" fmla="*/ 0 h 33"/>
                <a:gd name="T16" fmla="*/ 33 w 70"/>
                <a:gd name="T17" fmla="*/ 0 h 33"/>
                <a:gd name="T18" fmla="*/ 41 w 70"/>
                <a:gd name="T19" fmla="*/ 0 h 33"/>
                <a:gd name="T20" fmla="*/ 47 w 70"/>
                <a:gd name="T21" fmla="*/ 3 h 33"/>
                <a:gd name="T22" fmla="*/ 52 w 70"/>
                <a:gd name="T23" fmla="*/ 5 h 33"/>
                <a:gd name="T24" fmla="*/ 58 w 70"/>
                <a:gd name="T25" fmla="*/ 9 h 33"/>
                <a:gd name="T26" fmla="*/ 63 w 70"/>
                <a:gd name="T27" fmla="*/ 14 h 33"/>
                <a:gd name="T28" fmla="*/ 66 w 70"/>
                <a:gd name="T29" fmla="*/ 19 h 33"/>
                <a:gd name="T30" fmla="*/ 69 w 70"/>
                <a:gd name="T31" fmla="*/ 24 h 33"/>
                <a:gd name="T32" fmla="*/ 69 w 70"/>
                <a:gd name="T33" fmla="*/ 32 h 33"/>
                <a:gd name="T34" fmla="*/ 61 w 70"/>
                <a:gd name="T35" fmla="*/ 32 h 33"/>
                <a:gd name="T36" fmla="*/ 58 w 70"/>
                <a:gd name="T37" fmla="*/ 27 h 33"/>
                <a:gd name="T38" fmla="*/ 58 w 70"/>
                <a:gd name="T39" fmla="*/ 22 h 33"/>
                <a:gd name="T40" fmla="*/ 55 w 70"/>
                <a:gd name="T41" fmla="*/ 17 h 33"/>
                <a:gd name="T42" fmla="*/ 52 w 70"/>
                <a:gd name="T43" fmla="*/ 14 h 33"/>
                <a:gd name="T44" fmla="*/ 50 w 70"/>
                <a:gd name="T45" fmla="*/ 12 h 33"/>
                <a:gd name="T46" fmla="*/ 44 w 70"/>
                <a:gd name="T47" fmla="*/ 9 h 33"/>
                <a:gd name="T48" fmla="*/ 39 w 70"/>
                <a:gd name="T49" fmla="*/ 9 h 33"/>
                <a:gd name="T50" fmla="*/ 33 w 70"/>
                <a:gd name="T51" fmla="*/ 8 h 33"/>
                <a:gd name="T52" fmla="*/ 28 w 70"/>
                <a:gd name="T53" fmla="*/ 9 h 33"/>
                <a:gd name="T54" fmla="*/ 25 w 70"/>
                <a:gd name="T55" fmla="*/ 9 h 33"/>
                <a:gd name="T56" fmla="*/ 19 w 70"/>
                <a:gd name="T57" fmla="*/ 12 h 33"/>
                <a:gd name="T58" fmla="*/ 17 w 70"/>
                <a:gd name="T59" fmla="*/ 14 h 33"/>
                <a:gd name="T60" fmla="*/ 11 w 70"/>
                <a:gd name="T61" fmla="*/ 17 h 33"/>
                <a:gd name="T62" fmla="*/ 8 w 70"/>
                <a:gd name="T63" fmla="*/ 22 h 33"/>
                <a:gd name="T64" fmla="*/ 8 w 70"/>
                <a:gd name="T65" fmla="*/ 27 h 33"/>
                <a:gd name="T66" fmla="*/ 8 w 70"/>
                <a:gd name="T67" fmla="*/ 32 h 33"/>
                <a:gd name="T68" fmla="*/ 0 w 70"/>
                <a:gd name="T69" fmla="*/ 32 h 3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0"/>
                <a:gd name="T106" fmla="*/ 0 h 33"/>
                <a:gd name="T107" fmla="*/ 70 w 70"/>
                <a:gd name="T108" fmla="*/ 33 h 3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0" h="33">
                  <a:moveTo>
                    <a:pt x="0" y="32"/>
                  </a:moveTo>
                  <a:lnTo>
                    <a:pt x="0" y="24"/>
                  </a:lnTo>
                  <a:lnTo>
                    <a:pt x="3" y="19"/>
                  </a:lnTo>
                  <a:lnTo>
                    <a:pt x="6" y="14"/>
                  </a:lnTo>
                  <a:lnTo>
                    <a:pt x="8" y="9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41" y="0"/>
                  </a:lnTo>
                  <a:lnTo>
                    <a:pt x="47" y="3"/>
                  </a:lnTo>
                  <a:lnTo>
                    <a:pt x="52" y="5"/>
                  </a:lnTo>
                  <a:lnTo>
                    <a:pt x="58" y="9"/>
                  </a:lnTo>
                  <a:lnTo>
                    <a:pt x="63" y="14"/>
                  </a:lnTo>
                  <a:lnTo>
                    <a:pt x="66" y="19"/>
                  </a:lnTo>
                  <a:lnTo>
                    <a:pt x="69" y="24"/>
                  </a:lnTo>
                  <a:lnTo>
                    <a:pt x="69" y="32"/>
                  </a:lnTo>
                  <a:lnTo>
                    <a:pt x="61" y="32"/>
                  </a:lnTo>
                  <a:lnTo>
                    <a:pt x="58" y="27"/>
                  </a:lnTo>
                  <a:lnTo>
                    <a:pt x="58" y="22"/>
                  </a:lnTo>
                  <a:lnTo>
                    <a:pt x="55" y="17"/>
                  </a:lnTo>
                  <a:lnTo>
                    <a:pt x="52" y="14"/>
                  </a:lnTo>
                  <a:lnTo>
                    <a:pt x="50" y="12"/>
                  </a:lnTo>
                  <a:lnTo>
                    <a:pt x="44" y="9"/>
                  </a:lnTo>
                  <a:lnTo>
                    <a:pt x="39" y="9"/>
                  </a:lnTo>
                  <a:lnTo>
                    <a:pt x="33" y="8"/>
                  </a:lnTo>
                  <a:lnTo>
                    <a:pt x="28" y="9"/>
                  </a:lnTo>
                  <a:lnTo>
                    <a:pt x="25" y="9"/>
                  </a:lnTo>
                  <a:lnTo>
                    <a:pt x="19" y="12"/>
                  </a:lnTo>
                  <a:lnTo>
                    <a:pt x="17" y="14"/>
                  </a:lnTo>
                  <a:lnTo>
                    <a:pt x="11" y="17"/>
                  </a:lnTo>
                  <a:lnTo>
                    <a:pt x="8" y="22"/>
                  </a:lnTo>
                  <a:lnTo>
                    <a:pt x="8" y="27"/>
                  </a:lnTo>
                  <a:lnTo>
                    <a:pt x="8" y="32"/>
                  </a:lnTo>
                  <a:lnTo>
                    <a:pt x="0" y="32"/>
                  </a:lnTo>
                </a:path>
              </a:pathLst>
            </a:custGeom>
            <a:solidFill>
              <a:srgbClr val="FFF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1" name="Freeform 201">
              <a:extLst>
                <a:ext uri="{FF2B5EF4-FFF2-40B4-BE49-F238E27FC236}">
                  <a16:creationId xmlns:a16="http://schemas.microsoft.com/office/drawing/2014/main" id="{5BA3BA44-BAF8-45E7-B469-BCD16D1BD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" y="3802"/>
              <a:ext cx="70" cy="31"/>
            </a:xfrm>
            <a:custGeom>
              <a:avLst/>
              <a:gdLst>
                <a:gd name="T0" fmla="*/ 0 w 70"/>
                <a:gd name="T1" fmla="*/ 0 h 31"/>
                <a:gd name="T2" fmla="*/ 0 w 70"/>
                <a:gd name="T3" fmla="*/ 0 h 31"/>
                <a:gd name="T4" fmla="*/ 0 w 70"/>
                <a:gd name="T5" fmla="*/ 5 h 31"/>
                <a:gd name="T6" fmla="*/ 3 w 70"/>
                <a:gd name="T7" fmla="*/ 13 h 31"/>
                <a:gd name="T8" fmla="*/ 6 w 70"/>
                <a:gd name="T9" fmla="*/ 18 h 31"/>
                <a:gd name="T10" fmla="*/ 8 w 70"/>
                <a:gd name="T11" fmla="*/ 23 h 31"/>
                <a:gd name="T12" fmla="*/ 14 w 70"/>
                <a:gd name="T13" fmla="*/ 25 h 31"/>
                <a:gd name="T14" fmla="*/ 19 w 70"/>
                <a:gd name="T15" fmla="*/ 28 h 31"/>
                <a:gd name="T16" fmla="*/ 28 w 70"/>
                <a:gd name="T17" fmla="*/ 30 h 31"/>
                <a:gd name="T18" fmla="*/ 33 w 70"/>
                <a:gd name="T19" fmla="*/ 30 h 31"/>
                <a:gd name="T20" fmla="*/ 41 w 70"/>
                <a:gd name="T21" fmla="*/ 30 h 31"/>
                <a:gd name="T22" fmla="*/ 47 w 70"/>
                <a:gd name="T23" fmla="*/ 28 h 31"/>
                <a:gd name="T24" fmla="*/ 52 w 70"/>
                <a:gd name="T25" fmla="*/ 25 h 31"/>
                <a:gd name="T26" fmla="*/ 58 w 70"/>
                <a:gd name="T27" fmla="*/ 23 h 31"/>
                <a:gd name="T28" fmla="*/ 63 w 70"/>
                <a:gd name="T29" fmla="*/ 18 h 31"/>
                <a:gd name="T30" fmla="*/ 66 w 70"/>
                <a:gd name="T31" fmla="*/ 13 h 31"/>
                <a:gd name="T32" fmla="*/ 69 w 70"/>
                <a:gd name="T33" fmla="*/ 5 h 31"/>
                <a:gd name="T34" fmla="*/ 69 w 70"/>
                <a:gd name="T35" fmla="*/ 0 h 31"/>
                <a:gd name="T36" fmla="*/ 61 w 70"/>
                <a:gd name="T37" fmla="*/ 0 h 31"/>
                <a:gd name="T38" fmla="*/ 58 w 70"/>
                <a:gd name="T39" fmla="*/ 5 h 31"/>
                <a:gd name="T40" fmla="*/ 58 w 70"/>
                <a:gd name="T41" fmla="*/ 8 h 31"/>
                <a:gd name="T42" fmla="*/ 55 w 70"/>
                <a:gd name="T43" fmla="*/ 13 h 31"/>
                <a:gd name="T44" fmla="*/ 52 w 70"/>
                <a:gd name="T45" fmla="*/ 15 h 31"/>
                <a:gd name="T46" fmla="*/ 50 w 70"/>
                <a:gd name="T47" fmla="*/ 20 h 31"/>
                <a:gd name="T48" fmla="*/ 44 w 70"/>
                <a:gd name="T49" fmla="*/ 23 h 31"/>
                <a:gd name="T50" fmla="*/ 39 w 70"/>
                <a:gd name="T51" fmla="*/ 23 h 31"/>
                <a:gd name="T52" fmla="*/ 33 w 70"/>
                <a:gd name="T53" fmla="*/ 23 h 31"/>
                <a:gd name="T54" fmla="*/ 28 w 70"/>
                <a:gd name="T55" fmla="*/ 23 h 31"/>
                <a:gd name="T56" fmla="*/ 25 w 70"/>
                <a:gd name="T57" fmla="*/ 23 h 31"/>
                <a:gd name="T58" fmla="*/ 19 w 70"/>
                <a:gd name="T59" fmla="*/ 20 h 31"/>
                <a:gd name="T60" fmla="*/ 17 w 70"/>
                <a:gd name="T61" fmla="*/ 15 h 31"/>
                <a:gd name="T62" fmla="*/ 11 w 70"/>
                <a:gd name="T63" fmla="*/ 13 h 31"/>
                <a:gd name="T64" fmla="*/ 8 w 70"/>
                <a:gd name="T65" fmla="*/ 8 h 31"/>
                <a:gd name="T66" fmla="*/ 8 w 70"/>
                <a:gd name="T67" fmla="*/ 5 h 31"/>
                <a:gd name="T68" fmla="*/ 8 w 70"/>
                <a:gd name="T69" fmla="*/ 0 h 31"/>
                <a:gd name="T70" fmla="*/ 0 w 70"/>
                <a:gd name="T71" fmla="*/ 0 h 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0"/>
                <a:gd name="T109" fmla="*/ 0 h 31"/>
                <a:gd name="T110" fmla="*/ 70 w 70"/>
                <a:gd name="T111" fmla="*/ 31 h 3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0" h="31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3"/>
                  </a:lnTo>
                  <a:lnTo>
                    <a:pt x="6" y="18"/>
                  </a:lnTo>
                  <a:lnTo>
                    <a:pt x="8" y="23"/>
                  </a:lnTo>
                  <a:lnTo>
                    <a:pt x="14" y="25"/>
                  </a:lnTo>
                  <a:lnTo>
                    <a:pt x="19" y="28"/>
                  </a:lnTo>
                  <a:lnTo>
                    <a:pt x="28" y="30"/>
                  </a:lnTo>
                  <a:lnTo>
                    <a:pt x="33" y="30"/>
                  </a:lnTo>
                  <a:lnTo>
                    <a:pt x="41" y="30"/>
                  </a:lnTo>
                  <a:lnTo>
                    <a:pt x="47" y="28"/>
                  </a:lnTo>
                  <a:lnTo>
                    <a:pt x="52" y="25"/>
                  </a:lnTo>
                  <a:lnTo>
                    <a:pt x="58" y="23"/>
                  </a:lnTo>
                  <a:lnTo>
                    <a:pt x="63" y="18"/>
                  </a:lnTo>
                  <a:lnTo>
                    <a:pt x="66" y="13"/>
                  </a:lnTo>
                  <a:lnTo>
                    <a:pt x="69" y="5"/>
                  </a:lnTo>
                  <a:lnTo>
                    <a:pt x="69" y="0"/>
                  </a:lnTo>
                  <a:lnTo>
                    <a:pt x="61" y="0"/>
                  </a:lnTo>
                  <a:lnTo>
                    <a:pt x="58" y="5"/>
                  </a:lnTo>
                  <a:lnTo>
                    <a:pt x="58" y="8"/>
                  </a:lnTo>
                  <a:lnTo>
                    <a:pt x="55" y="13"/>
                  </a:lnTo>
                  <a:lnTo>
                    <a:pt x="52" y="15"/>
                  </a:lnTo>
                  <a:lnTo>
                    <a:pt x="50" y="20"/>
                  </a:lnTo>
                  <a:lnTo>
                    <a:pt x="44" y="23"/>
                  </a:lnTo>
                  <a:lnTo>
                    <a:pt x="39" y="23"/>
                  </a:lnTo>
                  <a:lnTo>
                    <a:pt x="33" y="23"/>
                  </a:lnTo>
                  <a:lnTo>
                    <a:pt x="28" y="23"/>
                  </a:lnTo>
                  <a:lnTo>
                    <a:pt x="25" y="23"/>
                  </a:lnTo>
                  <a:lnTo>
                    <a:pt x="19" y="20"/>
                  </a:lnTo>
                  <a:lnTo>
                    <a:pt x="17" y="15"/>
                  </a:lnTo>
                  <a:lnTo>
                    <a:pt x="11" y="13"/>
                  </a:lnTo>
                  <a:lnTo>
                    <a:pt x="8" y="8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Freeform 202">
              <a:extLst>
                <a:ext uri="{FF2B5EF4-FFF2-40B4-BE49-F238E27FC236}">
                  <a16:creationId xmlns:a16="http://schemas.microsoft.com/office/drawing/2014/main" id="{A7F30F86-0BD2-46CA-85E0-DDB474232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773"/>
              <a:ext cx="52" cy="24"/>
            </a:xfrm>
            <a:custGeom>
              <a:avLst/>
              <a:gdLst>
                <a:gd name="T0" fmla="*/ 0 w 52"/>
                <a:gd name="T1" fmla="*/ 23 h 24"/>
                <a:gd name="T2" fmla="*/ 0 w 52"/>
                <a:gd name="T3" fmla="*/ 18 h 24"/>
                <a:gd name="T4" fmla="*/ 0 w 52"/>
                <a:gd name="T5" fmla="*/ 13 h 24"/>
                <a:gd name="T6" fmla="*/ 3 w 52"/>
                <a:gd name="T7" fmla="*/ 9 h 24"/>
                <a:gd name="T8" fmla="*/ 8 w 52"/>
                <a:gd name="T9" fmla="*/ 6 h 24"/>
                <a:gd name="T10" fmla="*/ 11 w 52"/>
                <a:gd name="T11" fmla="*/ 4 h 24"/>
                <a:gd name="T12" fmla="*/ 16 w 52"/>
                <a:gd name="T13" fmla="*/ 2 h 24"/>
                <a:gd name="T14" fmla="*/ 19 w 52"/>
                <a:gd name="T15" fmla="*/ 2 h 24"/>
                <a:gd name="T16" fmla="*/ 24 w 52"/>
                <a:gd name="T17" fmla="*/ 0 h 24"/>
                <a:gd name="T18" fmla="*/ 30 w 52"/>
                <a:gd name="T19" fmla="*/ 2 h 24"/>
                <a:gd name="T20" fmla="*/ 35 w 52"/>
                <a:gd name="T21" fmla="*/ 2 h 24"/>
                <a:gd name="T22" fmla="*/ 40 w 52"/>
                <a:gd name="T23" fmla="*/ 4 h 24"/>
                <a:gd name="T24" fmla="*/ 43 w 52"/>
                <a:gd name="T25" fmla="*/ 6 h 24"/>
                <a:gd name="T26" fmla="*/ 46 w 52"/>
                <a:gd name="T27" fmla="*/ 9 h 24"/>
                <a:gd name="T28" fmla="*/ 48 w 52"/>
                <a:gd name="T29" fmla="*/ 13 h 24"/>
                <a:gd name="T30" fmla="*/ 48 w 52"/>
                <a:gd name="T31" fmla="*/ 18 h 24"/>
                <a:gd name="T32" fmla="*/ 51 w 52"/>
                <a:gd name="T33" fmla="*/ 23 h 24"/>
                <a:gd name="T34" fmla="*/ 40 w 52"/>
                <a:gd name="T35" fmla="*/ 23 h 24"/>
                <a:gd name="T36" fmla="*/ 40 w 52"/>
                <a:gd name="T37" fmla="*/ 21 h 24"/>
                <a:gd name="T38" fmla="*/ 40 w 52"/>
                <a:gd name="T39" fmla="*/ 16 h 24"/>
                <a:gd name="T40" fmla="*/ 38 w 52"/>
                <a:gd name="T41" fmla="*/ 13 h 24"/>
                <a:gd name="T42" fmla="*/ 38 w 52"/>
                <a:gd name="T43" fmla="*/ 11 h 24"/>
                <a:gd name="T44" fmla="*/ 35 w 52"/>
                <a:gd name="T45" fmla="*/ 11 h 24"/>
                <a:gd name="T46" fmla="*/ 32 w 52"/>
                <a:gd name="T47" fmla="*/ 9 h 24"/>
                <a:gd name="T48" fmla="*/ 27 w 52"/>
                <a:gd name="T49" fmla="*/ 9 h 24"/>
                <a:gd name="T50" fmla="*/ 24 w 52"/>
                <a:gd name="T51" fmla="*/ 9 h 24"/>
                <a:gd name="T52" fmla="*/ 21 w 52"/>
                <a:gd name="T53" fmla="*/ 9 h 24"/>
                <a:gd name="T54" fmla="*/ 19 w 52"/>
                <a:gd name="T55" fmla="*/ 9 h 24"/>
                <a:gd name="T56" fmla="*/ 16 w 52"/>
                <a:gd name="T57" fmla="*/ 11 h 24"/>
                <a:gd name="T58" fmla="*/ 13 w 52"/>
                <a:gd name="T59" fmla="*/ 11 h 24"/>
                <a:gd name="T60" fmla="*/ 11 w 52"/>
                <a:gd name="T61" fmla="*/ 13 h 24"/>
                <a:gd name="T62" fmla="*/ 8 w 52"/>
                <a:gd name="T63" fmla="*/ 16 h 24"/>
                <a:gd name="T64" fmla="*/ 8 w 52"/>
                <a:gd name="T65" fmla="*/ 21 h 24"/>
                <a:gd name="T66" fmla="*/ 8 w 52"/>
                <a:gd name="T67" fmla="*/ 23 h 24"/>
                <a:gd name="T68" fmla="*/ 0 w 52"/>
                <a:gd name="T69" fmla="*/ 23 h 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"/>
                <a:gd name="T106" fmla="*/ 0 h 24"/>
                <a:gd name="T107" fmla="*/ 52 w 52"/>
                <a:gd name="T108" fmla="*/ 24 h 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" h="24">
                  <a:moveTo>
                    <a:pt x="0" y="23"/>
                  </a:moveTo>
                  <a:lnTo>
                    <a:pt x="0" y="18"/>
                  </a:lnTo>
                  <a:lnTo>
                    <a:pt x="0" y="13"/>
                  </a:lnTo>
                  <a:lnTo>
                    <a:pt x="3" y="9"/>
                  </a:lnTo>
                  <a:lnTo>
                    <a:pt x="8" y="6"/>
                  </a:lnTo>
                  <a:lnTo>
                    <a:pt x="11" y="4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4" y="0"/>
                  </a:lnTo>
                  <a:lnTo>
                    <a:pt x="30" y="2"/>
                  </a:lnTo>
                  <a:lnTo>
                    <a:pt x="35" y="2"/>
                  </a:lnTo>
                  <a:lnTo>
                    <a:pt x="40" y="4"/>
                  </a:lnTo>
                  <a:lnTo>
                    <a:pt x="43" y="6"/>
                  </a:lnTo>
                  <a:lnTo>
                    <a:pt x="46" y="9"/>
                  </a:lnTo>
                  <a:lnTo>
                    <a:pt x="48" y="13"/>
                  </a:lnTo>
                  <a:lnTo>
                    <a:pt x="48" y="18"/>
                  </a:lnTo>
                  <a:lnTo>
                    <a:pt x="51" y="23"/>
                  </a:lnTo>
                  <a:lnTo>
                    <a:pt x="40" y="23"/>
                  </a:lnTo>
                  <a:lnTo>
                    <a:pt x="40" y="21"/>
                  </a:lnTo>
                  <a:lnTo>
                    <a:pt x="40" y="16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5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4" y="9"/>
                  </a:lnTo>
                  <a:lnTo>
                    <a:pt x="21" y="9"/>
                  </a:lnTo>
                  <a:lnTo>
                    <a:pt x="19" y="9"/>
                  </a:lnTo>
                  <a:lnTo>
                    <a:pt x="16" y="11"/>
                  </a:lnTo>
                  <a:lnTo>
                    <a:pt x="13" y="11"/>
                  </a:lnTo>
                  <a:lnTo>
                    <a:pt x="11" y="13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0" y="23"/>
                  </a:lnTo>
                </a:path>
              </a:pathLst>
            </a:custGeom>
            <a:solidFill>
              <a:srgbClr val="FFF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3" name="Freeform 203">
              <a:extLst>
                <a:ext uri="{FF2B5EF4-FFF2-40B4-BE49-F238E27FC236}">
                  <a16:creationId xmlns:a16="http://schemas.microsoft.com/office/drawing/2014/main" id="{D184B0DC-9713-42B3-AC8A-8A11E372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802"/>
              <a:ext cx="52" cy="22"/>
            </a:xfrm>
            <a:custGeom>
              <a:avLst/>
              <a:gdLst>
                <a:gd name="T0" fmla="*/ 0 w 52"/>
                <a:gd name="T1" fmla="*/ 0 h 22"/>
                <a:gd name="T2" fmla="*/ 0 w 52"/>
                <a:gd name="T3" fmla="*/ 0 h 22"/>
                <a:gd name="T4" fmla="*/ 0 w 52"/>
                <a:gd name="T5" fmla="*/ 5 h 22"/>
                <a:gd name="T6" fmla="*/ 0 w 52"/>
                <a:gd name="T7" fmla="*/ 7 h 22"/>
                <a:gd name="T8" fmla="*/ 3 w 52"/>
                <a:gd name="T9" fmla="*/ 12 h 22"/>
                <a:gd name="T10" fmla="*/ 8 w 52"/>
                <a:gd name="T11" fmla="*/ 14 h 22"/>
                <a:gd name="T12" fmla="*/ 11 w 52"/>
                <a:gd name="T13" fmla="*/ 19 h 22"/>
                <a:gd name="T14" fmla="*/ 16 w 52"/>
                <a:gd name="T15" fmla="*/ 21 h 22"/>
                <a:gd name="T16" fmla="*/ 19 w 52"/>
                <a:gd name="T17" fmla="*/ 21 h 22"/>
                <a:gd name="T18" fmla="*/ 24 w 52"/>
                <a:gd name="T19" fmla="*/ 21 h 22"/>
                <a:gd name="T20" fmla="*/ 30 w 52"/>
                <a:gd name="T21" fmla="*/ 21 h 22"/>
                <a:gd name="T22" fmla="*/ 35 w 52"/>
                <a:gd name="T23" fmla="*/ 21 h 22"/>
                <a:gd name="T24" fmla="*/ 40 w 52"/>
                <a:gd name="T25" fmla="*/ 19 h 22"/>
                <a:gd name="T26" fmla="*/ 43 w 52"/>
                <a:gd name="T27" fmla="*/ 14 h 22"/>
                <a:gd name="T28" fmla="*/ 46 w 52"/>
                <a:gd name="T29" fmla="*/ 12 h 22"/>
                <a:gd name="T30" fmla="*/ 48 w 52"/>
                <a:gd name="T31" fmla="*/ 7 h 22"/>
                <a:gd name="T32" fmla="*/ 48 w 52"/>
                <a:gd name="T33" fmla="*/ 5 h 22"/>
                <a:gd name="T34" fmla="*/ 51 w 52"/>
                <a:gd name="T35" fmla="*/ 0 h 22"/>
                <a:gd name="T36" fmla="*/ 40 w 52"/>
                <a:gd name="T37" fmla="*/ 0 h 22"/>
                <a:gd name="T38" fmla="*/ 40 w 52"/>
                <a:gd name="T39" fmla="*/ 2 h 22"/>
                <a:gd name="T40" fmla="*/ 40 w 52"/>
                <a:gd name="T41" fmla="*/ 5 h 22"/>
                <a:gd name="T42" fmla="*/ 38 w 52"/>
                <a:gd name="T43" fmla="*/ 7 h 22"/>
                <a:gd name="T44" fmla="*/ 38 w 52"/>
                <a:gd name="T45" fmla="*/ 9 h 22"/>
                <a:gd name="T46" fmla="*/ 35 w 52"/>
                <a:gd name="T47" fmla="*/ 12 h 22"/>
                <a:gd name="T48" fmla="*/ 32 w 52"/>
                <a:gd name="T49" fmla="*/ 14 h 22"/>
                <a:gd name="T50" fmla="*/ 27 w 52"/>
                <a:gd name="T51" fmla="*/ 14 h 22"/>
                <a:gd name="T52" fmla="*/ 24 w 52"/>
                <a:gd name="T53" fmla="*/ 14 h 22"/>
                <a:gd name="T54" fmla="*/ 21 w 52"/>
                <a:gd name="T55" fmla="*/ 14 h 22"/>
                <a:gd name="T56" fmla="*/ 19 w 52"/>
                <a:gd name="T57" fmla="*/ 14 h 22"/>
                <a:gd name="T58" fmla="*/ 16 w 52"/>
                <a:gd name="T59" fmla="*/ 12 h 22"/>
                <a:gd name="T60" fmla="*/ 13 w 52"/>
                <a:gd name="T61" fmla="*/ 9 h 22"/>
                <a:gd name="T62" fmla="*/ 11 w 52"/>
                <a:gd name="T63" fmla="*/ 7 h 22"/>
                <a:gd name="T64" fmla="*/ 8 w 52"/>
                <a:gd name="T65" fmla="*/ 5 h 22"/>
                <a:gd name="T66" fmla="*/ 8 w 52"/>
                <a:gd name="T67" fmla="*/ 2 h 22"/>
                <a:gd name="T68" fmla="*/ 8 w 52"/>
                <a:gd name="T69" fmla="*/ 0 h 22"/>
                <a:gd name="T70" fmla="*/ 0 w 52"/>
                <a:gd name="T71" fmla="*/ 0 h 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2"/>
                <a:gd name="T109" fmla="*/ 0 h 22"/>
                <a:gd name="T110" fmla="*/ 52 w 52"/>
                <a:gd name="T111" fmla="*/ 22 h 2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2" h="2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12"/>
                  </a:lnTo>
                  <a:lnTo>
                    <a:pt x="8" y="14"/>
                  </a:lnTo>
                  <a:lnTo>
                    <a:pt x="11" y="19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30" y="21"/>
                  </a:lnTo>
                  <a:lnTo>
                    <a:pt x="35" y="21"/>
                  </a:lnTo>
                  <a:lnTo>
                    <a:pt x="40" y="19"/>
                  </a:lnTo>
                  <a:lnTo>
                    <a:pt x="43" y="14"/>
                  </a:lnTo>
                  <a:lnTo>
                    <a:pt x="46" y="12"/>
                  </a:lnTo>
                  <a:lnTo>
                    <a:pt x="48" y="7"/>
                  </a:lnTo>
                  <a:lnTo>
                    <a:pt x="48" y="5"/>
                  </a:lnTo>
                  <a:lnTo>
                    <a:pt x="5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38" y="7"/>
                  </a:lnTo>
                  <a:lnTo>
                    <a:pt x="38" y="9"/>
                  </a:lnTo>
                  <a:lnTo>
                    <a:pt x="35" y="12"/>
                  </a:lnTo>
                  <a:lnTo>
                    <a:pt x="32" y="14"/>
                  </a:lnTo>
                  <a:lnTo>
                    <a:pt x="27" y="14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19" y="14"/>
                  </a:lnTo>
                  <a:lnTo>
                    <a:pt x="16" y="12"/>
                  </a:lnTo>
                  <a:lnTo>
                    <a:pt x="13" y="9"/>
                  </a:lnTo>
                  <a:lnTo>
                    <a:pt x="11" y="7"/>
                  </a:lnTo>
                  <a:lnTo>
                    <a:pt x="8" y="5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4" name="Freeform 204">
              <a:extLst>
                <a:ext uri="{FF2B5EF4-FFF2-40B4-BE49-F238E27FC236}">
                  <a16:creationId xmlns:a16="http://schemas.microsoft.com/office/drawing/2014/main" id="{07B0D487-0E4D-43A9-97DE-DB19E1C1C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784"/>
              <a:ext cx="31" cy="13"/>
            </a:xfrm>
            <a:custGeom>
              <a:avLst/>
              <a:gdLst>
                <a:gd name="T0" fmla="*/ 0 w 31"/>
                <a:gd name="T1" fmla="*/ 12 h 13"/>
                <a:gd name="T2" fmla="*/ 0 w 31"/>
                <a:gd name="T3" fmla="*/ 10 h 13"/>
                <a:gd name="T4" fmla="*/ 0 w 31"/>
                <a:gd name="T5" fmla="*/ 6 h 13"/>
                <a:gd name="T6" fmla="*/ 3 w 31"/>
                <a:gd name="T7" fmla="*/ 4 h 13"/>
                <a:gd name="T8" fmla="*/ 5 w 31"/>
                <a:gd name="T9" fmla="*/ 2 h 13"/>
                <a:gd name="T10" fmla="*/ 8 w 31"/>
                <a:gd name="T11" fmla="*/ 2 h 13"/>
                <a:gd name="T12" fmla="*/ 10 w 31"/>
                <a:gd name="T13" fmla="*/ 0 h 13"/>
                <a:gd name="T14" fmla="*/ 13 w 31"/>
                <a:gd name="T15" fmla="*/ 0 h 13"/>
                <a:gd name="T16" fmla="*/ 15 w 31"/>
                <a:gd name="T17" fmla="*/ 0 h 13"/>
                <a:gd name="T18" fmla="*/ 18 w 31"/>
                <a:gd name="T19" fmla="*/ 0 h 13"/>
                <a:gd name="T20" fmla="*/ 23 w 31"/>
                <a:gd name="T21" fmla="*/ 0 h 13"/>
                <a:gd name="T22" fmla="*/ 25 w 31"/>
                <a:gd name="T23" fmla="*/ 2 h 13"/>
                <a:gd name="T24" fmla="*/ 28 w 31"/>
                <a:gd name="T25" fmla="*/ 2 h 13"/>
                <a:gd name="T26" fmla="*/ 28 w 31"/>
                <a:gd name="T27" fmla="*/ 4 h 13"/>
                <a:gd name="T28" fmla="*/ 30 w 31"/>
                <a:gd name="T29" fmla="*/ 6 h 13"/>
                <a:gd name="T30" fmla="*/ 30 w 31"/>
                <a:gd name="T31" fmla="*/ 10 h 13"/>
                <a:gd name="T32" fmla="*/ 30 w 31"/>
                <a:gd name="T33" fmla="*/ 12 h 13"/>
                <a:gd name="T34" fmla="*/ 23 w 31"/>
                <a:gd name="T35" fmla="*/ 12 h 13"/>
                <a:gd name="T36" fmla="*/ 23 w 31"/>
                <a:gd name="T37" fmla="*/ 10 h 13"/>
                <a:gd name="T38" fmla="*/ 20 w 31"/>
                <a:gd name="T39" fmla="*/ 8 h 13"/>
                <a:gd name="T40" fmla="*/ 18 w 31"/>
                <a:gd name="T41" fmla="*/ 6 h 13"/>
                <a:gd name="T42" fmla="*/ 15 w 31"/>
                <a:gd name="T43" fmla="*/ 6 h 13"/>
                <a:gd name="T44" fmla="*/ 13 w 31"/>
                <a:gd name="T45" fmla="*/ 6 h 13"/>
                <a:gd name="T46" fmla="*/ 10 w 31"/>
                <a:gd name="T47" fmla="*/ 8 h 13"/>
                <a:gd name="T48" fmla="*/ 8 w 31"/>
                <a:gd name="T49" fmla="*/ 10 h 13"/>
                <a:gd name="T50" fmla="*/ 8 w 31"/>
                <a:gd name="T51" fmla="*/ 12 h 13"/>
                <a:gd name="T52" fmla="*/ 0 w 31"/>
                <a:gd name="T53" fmla="*/ 12 h 1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1"/>
                <a:gd name="T82" fmla="*/ 0 h 13"/>
                <a:gd name="T83" fmla="*/ 31 w 31"/>
                <a:gd name="T84" fmla="*/ 13 h 13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1" h="13">
                  <a:moveTo>
                    <a:pt x="0" y="12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3" y="4"/>
                  </a:lnTo>
                  <a:lnTo>
                    <a:pt x="5" y="2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0" y="12"/>
                  </a:lnTo>
                </a:path>
              </a:pathLst>
            </a:custGeom>
            <a:solidFill>
              <a:srgbClr val="FFFF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5" name="Freeform 205">
              <a:extLst>
                <a:ext uri="{FF2B5EF4-FFF2-40B4-BE49-F238E27FC236}">
                  <a16:creationId xmlns:a16="http://schemas.microsoft.com/office/drawing/2014/main" id="{E95A9248-4BCC-44A6-B3DC-20FBB0488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802"/>
              <a:ext cx="31" cy="13"/>
            </a:xfrm>
            <a:custGeom>
              <a:avLst/>
              <a:gdLst>
                <a:gd name="T0" fmla="*/ 0 w 31"/>
                <a:gd name="T1" fmla="*/ 0 h 13"/>
                <a:gd name="T2" fmla="*/ 0 w 31"/>
                <a:gd name="T3" fmla="*/ 0 h 13"/>
                <a:gd name="T4" fmla="*/ 0 w 31"/>
                <a:gd name="T5" fmla="*/ 2 h 13"/>
                <a:gd name="T6" fmla="*/ 0 w 31"/>
                <a:gd name="T7" fmla="*/ 4 h 13"/>
                <a:gd name="T8" fmla="*/ 3 w 31"/>
                <a:gd name="T9" fmla="*/ 6 h 13"/>
                <a:gd name="T10" fmla="*/ 5 w 31"/>
                <a:gd name="T11" fmla="*/ 8 h 13"/>
                <a:gd name="T12" fmla="*/ 8 w 31"/>
                <a:gd name="T13" fmla="*/ 10 h 13"/>
                <a:gd name="T14" fmla="*/ 10 w 31"/>
                <a:gd name="T15" fmla="*/ 12 h 13"/>
                <a:gd name="T16" fmla="*/ 13 w 31"/>
                <a:gd name="T17" fmla="*/ 12 h 13"/>
                <a:gd name="T18" fmla="*/ 15 w 31"/>
                <a:gd name="T19" fmla="*/ 12 h 13"/>
                <a:gd name="T20" fmla="*/ 18 w 31"/>
                <a:gd name="T21" fmla="*/ 12 h 13"/>
                <a:gd name="T22" fmla="*/ 23 w 31"/>
                <a:gd name="T23" fmla="*/ 12 h 13"/>
                <a:gd name="T24" fmla="*/ 25 w 31"/>
                <a:gd name="T25" fmla="*/ 10 h 13"/>
                <a:gd name="T26" fmla="*/ 28 w 31"/>
                <a:gd name="T27" fmla="*/ 8 h 13"/>
                <a:gd name="T28" fmla="*/ 28 w 31"/>
                <a:gd name="T29" fmla="*/ 6 h 13"/>
                <a:gd name="T30" fmla="*/ 30 w 31"/>
                <a:gd name="T31" fmla="*/ 4 h 13"/>
                <a:gd name="T32" fmla="*/ 30 w 31"/>
                <a:gd name="T33" fmla="*/ 2 h 13"/>
                <a:gd name="T34" fmla="*/ 30 w 31"/>
                <a:gd name="T35" fmla="*/ 0 h 13"/>
                <a:gd name="T36" fmla="*/ 23 w 31"/>
                <a:gd name="T37" fmla="*/ 0 h 13"/>
                <a:gd name="T38" fmla="*/ 23 w 31"/>
                <a:gd name="T39" fmla="*/ 2 h 13"/>
                <a:gd name="T40" fmla="*/ 20 w 31"/>
                <a:gd name="T41" fmla="*/ 4 h 13"/>
                <a:gd name="T42" fmla="*/ 18 w 31"/>
                <a:gd name="T43" fmla="*/ 6 h 13"/>
                <a:gd name="T44" fmla="*/ 15 w 31"/>
                <a:gd name="T45" fmla="*/ 6 h 13"/>
                <a:gd name="T46" fmla="*/ 13 w 31"/>
                <a:gd name="T47" fmla="*/ 6 h 13"/>
                <a:gd name="T48" fmla="*/ 10 w 31"/>
                <a:gd name="T49" fmla="*/ 4 h 13"/>
                <a:gd name="T50" fmla="*/ 8 w 31"/>
                <a:gd name="T51" fmla="*/ 2 h 13"/>
                <a:gd name="T52" fmla="*/ 8 w 31"/>
                <a:gd name="T53" fmla="*/ 0 h 13"/>
                <a:gd name="T54" fmla="*/ 0 w 31"/>
                <a:gd name="T55" fmla="*/ 0 h 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31"/>
                <a:gd name="T85" fmla="*/ 0 h 13"/>
                <a:gd name="T86" fmla="*/ 31 w 31"/>
                <a:gd name="T87" fmla="*/ 13 h 1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31" h="1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6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0" y="12"/>
                  </a:lnTo>
                  <a:lnTo>
                    <a:pt x="13" y="12"/>
                  </a:lnTo>
                  <a:lnTo>
                    <a:pt x="15" y="12"/>
                  </a:lnTo>
                  <a:lnTo>
                    <a:pt x="18" y="12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30" y="4"/>
                  </a:lnTo>
                  <a:lnTo>
                    <a:pt x="30" y="2"/>
                  </a:lnTo>
                  <a:lnTo>
                    <a:pt x="30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F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6" name="Freeform 206">
              <a:extLst>
                <a:ext uri="{FF2B5EF4-FFF2-40B4-BE49-F238E27FC236}">
                  <a16:creationId xmlns:a16="http://schemas.microsoft.com/office/drawing/2014/main" id="{595E630B-D81F-45DA-87CB-BA4DE9D8D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3793"/>
              <a:ext cx="13" cy="13"/>
            </a:xfrm>
            <a:custGeom>
              <a:avLst/>
              <a:gdLst>
                <a:gd name="T0" fmla="*/ 12 w 13"/>
                <a:gd name="T1" fmla="*/ 6 h 13"/>
                <a:gd name="T2" fmla="*/ 12 w 13"/>
                <a:gd name="T3" fmla="*/ 4 h 13"/>
                <a:gd name="T4" fmla="*/ 10 w 13"/>
                <a:gd name="T5" fmla="*/ 2 h 13"/>
                <a:gd name="T6" fmla="*/ 8 w 13"/>
                <a:gd name="T7" fmla="*/ 0 h 13"/>
                <a:gd name="T8" fmla="*/ 6 w 13"/>
                <a:gd name="T9" fmla="*/ 0 h 13"/>
                <a:gd name="T10" fmla="*/ 4 w 13"/>
                <a:gd name="T11" fmla="*/ 0 h 13"/>
                <a:gd name="T12" fmla="*/ 2 w 13"/>
                <a:gd name="T13" fmla="*/ 2 h 13"/>
                <a:gd name="T14" fmla="*/ 0 w 13"/>
                <a:gd name="T15" fmla="*/ 4 h 13"/>
                <a:gd name="T16" fmla="*/ 0 w 13"/>
                <a:gd name="T17" fmla="*/ 6 h 13"/>
                <a:gd name="T18" fmla="*/ 0 w 13"/>
                <a:gd name="T19" fmla="*/ 8 h 13"/>
                <a:gd name="T20" fmla="*/ 2 w 13"/>
                <a:gd name="T21" fmla="*/ 10 h 13"/>
                <a:gd name="T22" fmla="*/ 4 w 13"/>
                <a:gd name="T23" fmla="*/ 12 h 13"/>
                <a:gd name="T24" fmla="*/ 6 w 13"/>
                <a:gd name="T25" fmla="*/ 12 h 13"/>
                <a:gd name="T26" fmla="*/ 8 w 13"/>
                <a:gd name="T27" fmla="*/ 12 h 13"/>
                <a:gd name="T28" fmla="*/ 10 w 13"/>
                <a:gd name="T29" fmla="*/ 10 h 13"/>
                <a:gd name="T30" fmla="*/ 12 w 13"/>
                <a:gd name="T31" fmla="*/ 8 h 13"/>
                <a:gd name="T32" fmla="*/ 12 w 13"/>
                <a:gd name="T33" fmla="*/ 6 h 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"/>
                <a:gd name="T52" fmla="*/ 0 h 13"/>
                <a:gd name="T53" fmla="*/ 13 w 13"/>
                <a:gd name="T54" fmla="*/ 13 h 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" h="13">
                  <a:moveTo>
                    <a:pt x="12" y="6"/>
                  </a:moveTo>
                  <a:lnTo>
                    <a:pt x="12" y="4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8" y="12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2" y="6"/>
                  </a:lnTo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7" name="Freeform 207">
              <a:extLst>
                <a:ext uri="{FF2B5EF4-FFF2-40B4-BE49-F238E27FC236}">
                  <a16:creationId xmlns:a16="http://schemas.microsoft.com/office/drawing/2014/main" id="{E7183187-44EE-41A5-88E6-06CF1F7B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60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Freeform 208">
              <a:extLst>
                <a:ext uri="{FF2B5EF4-FFF2-40B4-BE49-F238E27FC236}">
                  <a16:creationId xmlns:a16="http://schemas.microsoft.com/office/drawing/2014/main" id="{1ACBCF3C-3EB9-4330-A6A2-527109E3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9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9" name="Freeform 209">
              <a:extLst>
                <a:ext uri="{FF2B5EF4-FFF2-40B4-BE49-F238E27FC236}">
                  <a16:creationId xmlns:a16="http://schemas.microsoft.com/office/drawing/2014/main" id="{3C96652B-6BE5-4456-BFCC-09B03961D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8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C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210">
              <a:extLst>
                <a:ext uri="{FF2B5EF4-FFF2-40B4-BE49-F238E27FC236}">
                  <a16:creationId xmlns:a16="http://schemas.microsoft.com/office/drawing/2014/main" id="{3537B190-7AB8-4A20-9483-375B773DF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7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Freeform 211">
              <a:extLst>
                <a:ext uri="{FF2B5EF4-FFF2-40B4-BE49-F238E27FC236}">
                  <a16:creationId xmlns:a16="http://schemas.microsoft.com/office/drawing/2014/main" id="{CEC27F2B-0022-484C-B36E-4BD3F63E6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7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B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2" name="Freeform 212">
              <a:extLst>
                <a:ext uri="{FF2B5EF4-FFF2-40B4-BE49-F238E27FC236}">
                  <a16:creationId xmlns:a16="http://schemas.microsoft.com/office/drawing/2014/main" id="{C6F1E82C-651A-46DE-A599-1C3474060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6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3" name="Freeform 213">
              <a:extLst>
                <a:ext uri="{FF2B5EF4-FFF2-40B4-BE49-F238E27FC236}">
                  <a16:creationId xmlns:a16="http://schemas.microsoft.com/office/drawing/2014/main" id="{E79C1854-645E-4A0F-9D8E-625E5474F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59"/>
              <a:ext cx="1092" cy="3"/>
            </a:xfrm>
            <a:custGeom>
              <a:avLst/>
              <a:gdLst>
                <a:gd name="T0" fmla="*/ 0 w 1092"/>
                <a:gd name="T1" fmla="*/ 2 h 3"/>
                <a:gd name="T2" fmla="*/ 0 w 1092"/>
                <a:gd name="T3" fmla="*/ 0 h 3"/>
                <a:gd name="T4" fmla="*/ 1091 w 1092"/>
                <a:gd name="T5" fmla="*/ 0 h 3"/>
                <a:gd name="T6" fmla="*/ 1091 w 1092"/>
                <a:gd name="T7" fmla="*/ 2 h 3"/>
                <a:gd name="T8" fmla="*/ 0 w 1092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3"/>
                <a:gd name="T17" fmla="*/ 1092 w 109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3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3B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4" name="Freeform 214">
              <a:extLst>
                <a:ext uri="{FF2B5EF4-FFF2-40B4-BE49-F238E27FC236}">
                  <a16:creationId xmlns:a16="http://schemas.microsoft.com/office/drawing/2014/main" id="{EA52A251-CC57-4C49-B63E-106E1CADE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5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B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215">
              <a:extLst>
                <a:ext uri="{FF2B5EF4-FFF2-40B4-BE49-F238E27FC236}">
                  <a16:creationId xmlns:a16="http://schemas.microsoft.com/office/drawing/2014/main" id="{362D66A8-CBF9-4249-9773-ECA90179B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4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216">
              <a:extLst>
                <a:ext uri="{FF2B5EF4-FFF2-40B4-BE49-F238E27FC236}">
                  <a16:creationId xmlns:a16="http://schemas.microsoft.com/office/drawing/2014/main" id="{24224232-B617-4C61-9FD0-B22A1F019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41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AB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217">
              <a:extLst>
                <a:ext uri="{FF2B5EF4-FFF2-40B4-BE49-F238E27FC236}">
                  <a16:creationId xmlns:a16="http://schemas.microsoft.com/office/drawing/2014/main" id="{E9FE2BEC-6352-4E21-82FB-34F5ACE15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32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A6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218">
              <a:extLst>
                <a:ext uri="{FF2B5EF4-FFF2-40B4-BE49-F238E27FC236}">
                  <a16:creationId xmlns:a16="http://schemas.microsoft.com/office/drawing/2014/main" id="{A8AF4280-8E91-4357-93B6-DF6825308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2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A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219">
              <a:extLst>
                <a:ext uri="{FF2B5EF4-FFF2-40B4-BE49-F238E27FC236}">
                  <a16:creationId xmlns:a16="http://schemas.microsoft.com/office/drawing/2014/main" id="{FEF0F65B-AC3C-47CC-9182-1D566DD4F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2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220">
              <a:extLst>
                <a:ext uri="{FF2B5EF4-FFF2-40B4-BE49-F238E27FC236}">
                  <a16:creationId xmlns:a16="http://schemas.microsoft.com/office/drawing/2014/main" id="{069655C0-B64F-4C90-BF58-4A523A00F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1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9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1" name="Freeform 221">
              <a:extLst>
                <a:ext uri="{FF2B5EF4-FFF2-40B4-BE49-F238E27FC236}">
                  <a16:creationId xmlns:a16="http://schemas.microsoft.com/office/drawing/2014/main" id="{463E8C18-4BF8-4420-9BCB-B5B98824A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50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9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2" name="Freeform 222">
              <a:extLst>
                <a:ext uri="{FF2B5EF4-FFF2-40B4-BE49-F238E27FC236}">
                  <a16:creationId xmlns:a16="http://schemas.microsoft.com/office/drawing/2014/main" id="{501A48F0-E5CD-4BC3-A873-04CDB870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9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223">
              <a:extLst>
                <a:ext uri="{FF2B5EF4-FFF2-40B4-BE49-F238E27FC236}">
                  <a16:creationId xmlns:a16="http://schemas.microsoft.com/office/drawing/2014/main" id="{42E9FABA-FDB5-45B0-A8FE-14C617F59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9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8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224">
              <a:extLst>
                <a:ext uri="{FF2B5EF4-FFF2-40B4-BE49-F238E27FC236}">
                  <a16:creationId xmlns:a16="http://schemas.microsoft.com/office/drawing/2014/main" id="{556B5A33-CCC1-486E-B708-D8B6B7B4A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8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8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225">
              <a:extLst>
                <a:ext uri="{FF2B5EF4-FFF2-40B4-BE49-F238E27FC236}">
                  <a16:creationId xmlns:a16="http://schemas.microsoft.com/office/drawing/2014/main" id="{4DB19F47-6DA8-45DE-80E3-87783556B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7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85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226">
              <a:extLst>
                <a:ext uri="{FF2B5EF4-FFF2-40B4-BE49-F238E27FC236}">
                  <a16:creationId xmlns:a16="http://schemas.microsoft.com/office/drawing/2014/main" id="{80CDCDD3-7D34-47BB-8E50-6B4DA8BFE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72"/>
              <a:ext cx="1092" cy="2"/>
            </a:xfrm>
            <a:custGeom>
              <a:avLst/>
              <a:gdLst>
                <a:gd name="T0" fmla="*/ 0 w 1092"/>
                <a:gd name="T1" fmla="*/ 0 h 2"/>
                <a:gd name="T2" fmla="*/ 0 w 1092"/>
                <a:gd name="T3" fmla="*/ 1 h 2"/>
                <a:gd name="T4" fmla="*/ 1091 w 1092"/>
                <a:gd name="T5" fmla="*/ 1 h 2"/>
                <a:gd name="T6" fmla="*/ 1091 w 1092"/>
                <a:gd name="T7" fmla="*/ 0 h 2"/>
                <a:gd name="T8" fmla="*/ 0 w 109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2"/>
                <a:gd name="T17" fmla="*/ 1092 w 1092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8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227">
              <a:extLst>
                <a:ext uri="{FF2B5EF4-FFF2-40B4-BE49-F238E27FC236}">
                  <a16:creationId xmlns:a16="http://schemas.microsoft.com/office/drawing/2014/main" id="{5E086140-2F85-415B-88B5-23577F19F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6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7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228">
              <a:extLst>
                <a:ext uri="{FF2B5EF4-FFF2-40B4-BE49-F238E27FC236}">
                  <a16:creationId xmlns:a16="http://schemas.microsoft.com/office/drawing/2014/main" id="{E14A656B-BC93-441D-AF4D-7601BBB50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61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229">
              <a:extLst>
                <a:ext uri="{FF2B5EF4-FFF2-40B4-BE49-F238E27FC236}">
                  <a16:creationId xmlns:a16="http://schemas.microsoft.com/office/drawing/2014/main" id="{2BE15BE3-64DD-4D75-8A9B-E3D16FD4B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52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75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230">
              <a:extLst>
                <a:ext uri="{FF2B5EF4-FFF2-40B4-BE49-F238E27FC236}">
                  <a16:creationId xmlns:a16="http://schemas.microsoft.com/office/drawing/2014/main" id="{E1152677-FD77-41DA-ACCE-490EB315A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4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231">
              <a:extLst>
                <a:ext uri="{FF2B5EF4-FFF2-40B4-BE49-F238E27FC236}">
                  <a16:creationId xmlns:a16="http://schemas.microsoft.com/office/drawing/2014/main" id="{284D20D6-03DC-4980-9218-0E1EAED8C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4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232">
              <a:extLst>
                <a:ext uri="{FF2B5EF4-FFF2-40B4-BE49-F238E27FC236}">
                  <a16:creationId xmlns:a16="http://schemas.microsoft.com/office/drawing/2014/main" id="{5D75F60A-8740-46C6-B7A1-82EA6C29E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34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68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Freeform 233">
              <a:extLst>
                <a:ext uri="{FF2B5EF4-FFF2-40B4-BE49-F238E27FC236}">
                  <a16:creationId xmlns:a16="http://schemas.microsoft.com/office/drawing/2014/main" id="{49F477F9-421B-4726-A857-C0CE302BF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25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6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4" name="Freeform 234">
              <a:extLst>
                <a:ext uri="{FF2B5EF4-FFF2-40B4-BE49-F238E27FC236}">
                  <a16:creationId xmlns:a16="http://schemas.microsoft.com/office/drawing/2014/main" id="{01609A5A-2081-4611-AD2E-F6EFCDBC4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1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5" name="Freeform 235">
              <a:extLst>
                <a:ext uri="{FF2B5EF4-FFF2-40B4-BE49-F238E27FC236}">
                  <a16:creationId xmlns:a16="http://schemas.microsoft.com/office/drawing/2014/main" id="{FEA699ED-DDE2-4186-BF23-391E65E03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1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5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6" name="Freeform 236">
              <a:extLst>
                <a:ext uri="{FF2B5EF4-FFF2-40B4-BE49-F238E27FC236}">
                  <a16:creationId xmlns:a16="http://schemas.microsoft.com/office/drawing/2014/main" id="{8B414D5B-92E1-4862-9F79-9A8F54E4B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407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5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237">
              <a:extLst>
                <a:ext uri="{FF2B5EF4-FFF2-40B4-BE49-F238E27FC236}">
                  <a16:creationId xmlns:a16="http://schemas.microsoft.com/office/drawing/2014/main" id="{20011D27-A8AC-4313-9399-8BB82DD45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9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5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238">
              <a:extLst>
                <a:ext uri="{FF2B5EF4-FFF2-40B4-BE49-F238E27FC236}">
                  <a16:creationId xmlns:a16="http://schemas.microsoft.com/office/drawing/2014/main" id="{412F38A6-EA55-4F48-B1E5-849ABE43C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9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4F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239">
              <a:extLst>
                <a:ext uri="{FF2B5EF4-FFF2-40B4-BE49-F238E27FC236}">
                  <a16:creationId xmlns:a16="http://schemas.microsoft.com/office/drawing/2014/main" id="{89381C42-8C5B-465F-ABA5-D95C87CBD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86"/>
              <a:ext cx="1092" cy="2"/>
            </a:xfrm>
            <a:custGeom>
              <a:avLst/>
              <a:gdLst>
                <a:gd name="T0" fmla="*/ 0 w 1092"/>
                <a:gd name="T1" fmla="*/ 0 h 2"/>
                <a:gd name="T2" fmla="*/ 0 w 1092"/>
                <a:gd name="T3" fmla="*/ 1 h 2"/>
                <a:gd name="T4" fmla="*/ 1091 w 1092"/>
                <a:gd name="T5" fmla="*/ 1 h 2"/>
                <a:gd name="T6" fmla="*/ 1091 w 1092"/>
                <a:gd name="T7" fmla="*/ 0 h 2"/>
                <a:gd name="T8" fmla="*/ 0 w 109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2"/>
                <a:gd name="T17" fmla="*/ 1092 w 1092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A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240">
              <a:extLst>
                <a:ext uri="{FF2B5EF4-FFF2-40B4-BE49-F238E27FC236}">
                  <a16:creationId xmlns:a16="http://schemas.microsoft.com/office/drawing/2014/main" id="{4E74DA9E-0D95-42CE-8BDB-BE60A7E7A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78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4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241">
              <a:extLst>
                <a:ext uri="{FF2B5EF4-FFF2-40B4-BE49-F238E27FC236}">
                  <a16:creationId xmlns:a16="http://schemas.microsoft.com/office/drawing/2014/main" id="{BAB96996-5CED-4ED5-B1DD-4D6572349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7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242">
              <a:extLst>
                <a:ext uri="{FF2B5EF4-FFF2-40B4-BE49-F238E27FC236}">
                  <a16:creationId xmlns:a16="http://schemas.microsoft.com/office/drawing/2014/main" id="{5F06C7F2-953C-45FC-8FBC-1BDDC02AB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6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3D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243">
              <a:extLst>
                <a:ext uri="{FF2B5EF4-FFF2-40B4-BE49-F238E27FC236}">
                  <a16:creationId xmlns:a16="http://schemas.microsoft.com/office/drawing/2014/main" id="{BFC84CF8-0DA2-4358-B54E-A90DF2EBD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6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3B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4" name="Freeform 244">
              <a:extLst>
                <a:ext uri="{FF2B5EF4-FFF2-40B4-BE49-F238E27FC236}">
                  <a16:creationId xmlns:a16="http://schemas.microsoft.com/office/drawing/2014/main" id="{83EA9BCC-B746-4B18-9C40-DC767C3F1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51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3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5" name="Freeform 245">
              <a:extLst>
                <a:ext uri="{FF2B5EF4-FFF2-40B4-BE49-F238E27FC236}">
                  <a16:creationId xmlns:a16="http://schemas.microsoft.com/office/drawing/2014/main" id="{A903061F-C793-4AF9-BA2B-12D0E34F8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45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33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246">
              <a:extLst>
                <a:ext uri="{FF2B5EF4-FFF2-40B4-BE49-F238E27FC236}">
                  <a16:creationId xmlns:a16="http://schemas.microsoft.com/office/drawing/2014/main" id="{82FA4D74-C201-463E-BDA9-350D9B278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39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2E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247">
              <a:extLst>
                <a:ext uri="{FF2B5EF4-FFF2-40B4-BE49-F238E27FC236}">
                  <a16:creationId xmlns:a16="http://schemas.microsoft.com/office/drawing/2014/main" id="{3290EDC3-528F-46B5-9E44-827D8D5FF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33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29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248">
              <a:extLst>
                <a:ext uri="{FF2B5EF4-FFF2-40B4-BE49-F238E27FC236}">
                  <a16:creationId xmlns:a16="http://schemas.microsoft.com/office/drawing/2014/main" id="{F0101116-D56D-4ECC-8375-13FDE9FD5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24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26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249">
              <a:extLst>
                <a:ext uri="{FF2B5EF4-FFF2-40B4-BE49-F238E27FC236}">
                  <a16:creationId xmlns:a16="http://schemas.microsoft.com/office/drawing/2014/main" id="{85BCEC69-69D6-400E-B3E3-DC8494BC8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18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250">
              <a:extLst>
                <a:ext uri="{FF2B5EF4-FFF2-40B4-BE49-F238E27FC236}">
                  <a16:creationId xmlns:a16="http://schemas.microsoft.com/office/drawing/2014/main" id="{87EA67E9-BBF7-4C9D-B530-485D57A9E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1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C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1" name="Freeform 251">
              <a:extLst>
                <a:ext uri="{FF2B5EF4-FFF2-40B4-BE49-F238E27FC236}">
                  <a16:creationId xmlns:a16="http://schemas.microsoft.com/office/drawing/2014/main" id="{0824CC9B-4FF9-485B-8722-F50D62613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30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7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2" name="Freeform 252">
              <a:extLst>
                <a:ext uri="{FF2B5EF4-FFF2-40B4-BE49-F238E27FC236}">
                  <a16:creationId xmlns:a16="http://schemas.microsoft.com/office/drawing/2014/main" id="{E14B5910-863C-46F3-BB50-BFA87931E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98"/>
              <a:ext cx="1092" cy="3"/>
            </a:xfrm>
            <a:custGeom>
              <a:avLst/>
              <a:gdLst>
                <a:gd name="T0" fmla="*/ 0 w 1092"/>
                <a:gd name="T1" fmla="*/ 2 h 3"/>
                <a:gd name="T2" fmla="*/ 0 w 1092"/>
                <a:gd name="T3" fmla="*/ 0 h 3"/>
                <a:gd name="T4" fmla="*/ 1091 w 1092"/>
                <a:gd name="T5" fmla="*/ 0 h 3"/>
                <a:gd name="T6" fmla="*/ 1091 w 1092"/>
                <a:gd name="T7" fmla="*/ 2 h 3"/>
                <a:gd name="T8" fmla="*/ 0 w 1092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3"/>
                <a:gd name="T17" fmla="*/ 1092 w 109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3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01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3" name="Freeform 253">
              <a:extLst>
                <a:ext uri="{FF2B5EF4-FFF2-40B4-BE49-F238E27FC236}">
                  <a16:creationId xmlns:a16="http://schemas.microsoft.com/office/drawing/2014/main" id="{492F1988-3C28-4C32-A9A1-D5C6A28E9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92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4" name="Freeform 254">
              <a:extLst>
                <a:ext uri="{FF2B5EF4-FFF2-40B4-BE49-F238E27FC236}">
                  <a16:creationId xmlns:a16="http://schemas.microsoft.com/office/drawing/2014/main" id="{65E2A44D-BC57-4069-A058-B848690FA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86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B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5" name="Freeform 255">
              <a:extLst>
                <a:ext uri="{FF2B5EF4-FFF2-40B4-BE49-F238E27FC236}">
                  <a16:creationId xmlns:a16="http://schemas.microsoft.com/office/drawing/2014/main" id="{7BE67D16-4256-4A74-BF8B-7219CF746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80"/>
              <a:ext cx="1092" cy="1"/>
            </a:xfrm>
            <a:custGeom>
              <a:avLst/>
              <a:gdLst>
                <a:gd name="T0" fmla="*/ 0 w 1092"/>
                <a:gd name="T1" fmla="*/ 0 h 1"/>
                <a:gd name="T2" fmla="*/ 0 w 1092"/>
                <a:gd name="T3" fmla="*/ 0 h 1"/>
                <a:gd name="T4" fmla="*/ 1091 w 1092"/>
                <a:gd name="T5" fmla="*/ 0 h 1"/>
                <a:gd name="T6" fmla="*/ 1091 w 1092"/>
                <a:gd name="T7" fmla="*/ 0 h 1"/>
                <a:gd name="T8" fmla="*/ 0 w 109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1"/>
                <a:gd name="T17" fmla="*/ 1092 w 1092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1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5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6" name="Freeform 256">
              <a:extLst>
                <a:ext uri="{FF2B5EF4-FFF2-40B4-BE49-F238E27FC236}">
                  <a16:creationId xmlns:a16="http://schemas.microsoft.com/office/drawing/2014/main" id="{99CBD3B8-8873-45F3-ABD3-3A2248F21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4271"/>
              <a:ext cx="1092" cy="4"/>
            </a:xfrm>
            <a:custGeom>
              <a:avLst/>
              <a:gdLst>
                <a:gd name="T0" fmla="*/ 0 w 1092"/>
                <a:gd name="T1" fmla="*/ 3 h 4"/>
                <a:gd name="T2" fmla="*/ 0 w 1092"/>
                <a:gd name="T3" fmla="*/ 0 h 4"/>
                <a:gd name="T4" fmla="*/ 1091 w 1092"/>
                <a:gd name="T5" fmla="*/ 0 h 4"/>
                <a:gd name="T6" fmla="*/ 1091 w 1092"/>
                <a:gd name="T7" fmla="*/ 3 h 4"/>
                <a:gd name="T8" fmla="*/ 0 w 1092"/>
                <a:gd name="T9" fmla="*/ 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2"/>
                <a:gd name="T16" fmla="*/ 0 h 4"/>
                <a:gd name="T17" fmla="*/ 1092 w 1092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2" h="4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7" name="Freeform 257">
              <a:extLst>
                <a:ext uri="{FF2B5EF4-FFF2-40B4-BE49-F238E27FC236}">
                  <a16:creationId xmlns:a16="http://schemas.microsoft.com/office/drawing/2014/main" id="{4DF9D19E-7C63-4029-9B5D-802C25820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4336"/>
              <a:ext cx="1056" cy="253"/>
            </a:xfrm>
            <a:custGeom>
              <a:avLst/>
              <a:gdLst>
                <a:gd name="T0" fmla="*/ 50 w 1056"/>
                <a:gd name="T1" fmla="*/ 107 h 253"/>
                <a:gd name="T2" fmla="*/ 123 w 1056"/>
                <a:gd name="T3" fmla="*/ 81 h 253"/>
                <a:gd name="T4" fmla="*/ 203 w 1056"/>
                <a:gd name="T5" fmla="*/ 58 h 253"/>
                <a:gd name="T6" fmla="*/ 279 w 1056"/>
                <a:gd name="T7" fmla="*/ 35 h 253"/>
                <a:gd name="T8" fmla="*/ 359 w 1056"/>
                <a:gd name="T9" fmla="*/ 21 h 253"/>
                <a:gd name="T10" fmla="*/ 439 w 1056"/>
                <a:gd name="T11" fmla="*/ 9 h 253"/>
                <a:gd name="T12" fmla="*/ 518 w 1056"/>
                <a:gd name="T13" fmla="*/ 3 h 253"/>
                <a:gd name="T14" fmla="*/ 599 w 1056"/>
                <a:gd name="T15" fmla="*/ 3 h 253"/>
                <a:gd name="T16" fmla="*/ 678 w 1056"/>
                <a:gd name="T17" fmla="*/ 9 h 253"/>
                <a:gd name="T18" fmla="*/ 758 w 1056"/>
                <a:gd name="T19" fmla="*/ 26 h 253"/>
                <a:gd name="T20" fmla="*/ 837 w 1056"/>
                <a:gd name="T21" fmla="*/ 50 h 253"/>
                <a:gd name="T22" fmla="*/ 875 w 1056"/>
                <a:gd name="T23" fmla="*/ 61 h 253"/>
                <a:gd name="T24" fmla="*/ 920 w 1056"/>
                <a:gd name="T25" fmla="*/ 72 h 253"/>
                <a:gd name="T26" fmla="*/ 964 w 1056"/>
                <a:gd name="T27" fmla="*/ 84 h 253"/>
                <a:gd name="T28" fmla="*/ 1008 w 1056"/>
                <a:gd name="T29" fmla="*/ 99 h 253"/>
                <a:gd name="T30" fmla="*/ 1043 w 1056"/>
                <a:gd name="T31" fmla="*/ 116 h 253"/>
                <a:gd name="T32" fmla="*/ 1046 w 1056"/>
                <a:gd name="T33" fmla="*/ 128 h 253"/>
                <a:gd name="T34" fmla="*/ 1028 w 1056"/>
                <a:gd name="T35" fmla="*/ 139 h 253"/>
                <a:gd name="T36" fmla="*/ 1008 w 1056"/>
                <a:gd name="T37" fmla="*/ 145 h 253"/>
                <a:gd name="T38" fmla="*/ 984 w 1056"/>
                <a:gd name="T39" fmla="*/ 150 h 253"/>
                <a:gd name="T40" fmla="*/ 961 w 1056"/>
                <a:gd name="T41" fmla="*/ 153 h 253"/>
                <a:gd name="T42" fmla="*/ 935 w 1056"/>
                <a:gd name="T43" fmla="*/ 156 h 253"/>
                <a:gd name="T44" fmla="*/ 911 w 1056"/>
                <a:gd name="T45" fmla="*/ 159 h 253"/>
                <a:gd name="T46" fmla="*/ 884 w 1056"/>
                <a:gd name="T47" fmla="*/ 159 h 253"/>
                <a:gd name="T48" fmla="*/ 860 w 1056"/>
                <a:gd name="T49" fmla="*/ 162 h 253"/>
                <a:gd name="T50" fmla="*/ 840 w 1056"/>
                <a:gd name="T51" fmla="*/ 165 h 253"/>
                <a:gd name="T52" fmla="*/ 822 w 1056"/>
                <a:gd name="T53" fmla="*/ 168 h 253"/>
                <a:gd name="T54" fmla="*/ 828 w 1056"/>
                <a:gd name="T55" fmla="*/ 183 h 253"/>
                <a:gd name="T56" fmla="*/ 840 w 1056"/>
                <a:gd name="T57" fmla="*/ 203 h 253"/>
                <a:gd name="T58" fmla="*/ 834 w 1056"/>
                <a:gd name="T59" fmla="*/ 215 h 253"/>
                <a:gd name="T60" fmla="*/ 801 w 1056"/>
                <a:gd name="T61" fmla="*/ 223 h 253"/>
                <a:gd name="T62" fmla="*/ 769 w 1056"/>
                <a:gd name="T63" fmla="*/ 229 h 253"/>
                <a:gd name="T64" fmla="*/ 737 w 1056"/>
                <a:gd name="T65" fmla="*/ 234 h 253"/>
                <a:gd name="T66" fmla="*/ 701 w 1056"/>
                <a:gd name="T67" fmla="*/ 240 h 253"/>
                <a:gd name="T68" fmla="*/ 672 w 1056"/>
                <a:gd name="T69" fmla="*/ 243 h 253"/>
                <a:gd name="T70" fmla="*/ 651 w 1056"/>
                <a:gd name="T71" fmla="*/ 246 h 253"/>
                <a:gd name="T72" fmla="*/ 627 w 1056"/>
                <a:gd name="T73" fmla="*/ 249 h 253"/>
                <a:gd name="T74" fmla="*/ 604 w 1056"/>
                <a:gd name="T75" fmla="*/ 252 h 253"/>
                <a:gd name="T76" fmla="*/ 578 w 1056"/>
                <a:gd name="T77" fmla="*/ 252 h 253"/>
                <a:gd name="T78" fmla="*/ 554 w 1056"/>
                <a:gd name="T79" fmla="*/ 252 h 253"/>
                <a:gd name="T80" fmla="*/ 527 w 1056"/>
                <a:gd name="T81" fmla="*/ 249 h 253"/>
                <a:gd name="T82" fmla="*/ 504 w 1056"/>
                <a:gd name="T83" fmla="*/ 249 h 253"/>
                <a:gd name="T84" fmla="*/ 480 w 1056"/>
                <a:gd name="T85" fmla="*/ 246 h 253"/>
                <a:gd name="T86" fmla="*/ 456 w 1056"/>
                <a:gd name="T87" fmla="*/ 243 h 253"/>
                <a:gd name="T88" fmla="*/ 436 w 1056"/>
                <a:gd name="T89" fmla="*/ 240 h 253"/>
                <a:gd name="T90" fmla="*/ 413 w 1056"/>
                <a:gd name="T91" fmla="*/ 237 h 253"/>
                <a:gd name="T92" fmla="*/ 389 w 1056"/>
                <a:gd name="T93" fmla="*/ 234 h 253"/>
                <a:gd name="T94" fmla="*/ 362 w 1056"/>
                <a:gd name="T95" fmla="*/ 234 h 253"/>
                <a:gd name="T96" fmla="*/ 336 w 1056"/>
                <a:gd name="T97" fmla="*/ 231 h 253"/>
                <a:gd name="T98" fmla="*/ 309 w 1056"/>
                <a:gd name="T99" fmla="*/ 229 h 253"/>
                <a:gd name="T100" fmla="*/ 282 w 1056"/>
                <a:gd name="T101" fmla="*/ 226 h 253"/>
                <a:gd name="T102" fmla="*/ 257 w 1056"/>
                <a:gd name="T103" fmla="*/ 223 h 253"/>
                <a:gd name="T104" fmla="*/ 230 w 1056"/>
                <a:gd name="T105" fmla="*/ 221 h 253"/>
                <a:gd name="T106" fmla="*/ 203 w 1056"/>
                <a:gd name="T107" fmla="*/ 212 h 253"/>
                <a:gd name="T108" fmla="*/ 180 w 1056"/>
                <a:gd name="T109" fmla="*/ 206 h 253"/>
                <a:gd name="T110" fmla="*/ 156 w 1056"/>
                <a:gd name="T111" fmla="*/ 197 h 253"/>
                <a:gd name="T112" fmla="*/ 153 w 1056"/>
                <a:gd name="T113" fmla="*/ 180 h 253"/>
                <a:gd name="T114" fmla="*/ 147 w 1056"/>
                <a:gd name="T115" fmla="*/ 159 h 253"/>
                <a:gd name="T116" fmla="*/ 123 w 1056"/>
                <a:gd name="T117" fmla="*/ 147 h 253"/>
                <a:gd name="T118" fmla="*/ 91 w 1056"/>
                <a:gd name="T119" fmla="*/ 142 h 253"/>
                <a:gd name="T120" fmla="*/ 59 w 1056"/>
                <a:gd name="T121" fmla="*/ 139 h 253"/>
                <a:gd name="T122" fmla="*/ 26 w 1056"/>
                <a:gd name="T123" fmla="*/ 134 h 253"/>
                <a:gd name="T124" fmla="*/ 0 w 1056"/>
                <a:gd name="T125" fmla="*/ 125 h 25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056"/>
                <a:gd name="T190" fmla="*/ 0 h 253"/>
                <a:gd name="T191" fmla="*/ 1056 w 1056"/>
                <a:gd name="T192" fmla="*/ 253 h 253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056" h="253">
                  <a:moveTo>
                    <a:pt x="0" y="125"/>
                  </a:moveTo>
                  <a:lnTo>
                    <a:pt x="23" y="116"/>
                  </a:lnTo>
                  <a:lnTo>
                    <a:pt x="50" y="107"/>
                  </a:lnTo>
                  <a:lnTo>
                    <a:pt x="74" y="99"/>
                  </a:lnTo>
                  <a:lnTo>
                    <a:pt x="99" y="90"/>
                  </a:lnTo>
                  <a:lnTo>
                    <a:pt x="123" y="81"/>
                  </a:lnTo>
                  <a:lnTo>
                    <a:pt x="150" y="72"/>
                  </a:lnTo>
                  <a:lnTo>
                    <a:pt x="177" y="63"/>
                  </a:lnTo>
                  <a:lnTo>
                    <a:pt x="203" y="58"/>
                  </a:lnTo>
                  <a:lnTo>
                    <a:pt x="227" y="50"/>
                  </a:lnTo>
                  <a:lnTo>
                    <a:pt x="254" y="44"/>
                  </a:lnTo>
                  <a:lnTo>
                    <a:pt x="279" y="35"/>
                  </a:lnTo>
                  <a:lnTo>
                    <a:pt x="306" y="29"/>
                  </a:lnTo>
                  <a:lnTo>
                    <a:pt x="333" y="23"/>
                  </a:lnTo>
                  <a:lnTo>
                    <a:pt x="359" y="21"/>
                  </a:lnTo>
                  <a:lnTo>
                    <a:pt x="386" y="15"/>
                  </a:lnTo>
                  <a:lnTo>
                    <a:pt x="413" y="12"/>
                  </a:lnTo>
                  <a:lnTo>
                    <a:pt x="439" y="9"/>
                  </a:lnTo>
                  <a:lnTo>
                    <a:pt x="465" y="6"/>
                  </a:lnTo>
                  <a:lnTo>
                    <a:pt x="492" y="3"/>
                  </a:lnTo>
                  <a:lnTo>
                    <a:pt x="518" y="3"/>
                  </a:lnTo>
                  <a:lnTo>
                    <a:pt x="545" y="0"/>
                  </a:lnTo>
                  <a:lnTo>
                    <a:pt x="572" y="0"/>
                  </a:lnTo>
                  <a:lnTo>
                    <a:pt x="599" y="3"/>
                  </a:lnTo>
                  <a:lnTo>
                    <a:pt x="624" y="3"/>
                  </a:lnTo>
                  <a:lnTo>
                    <a:pt x="651" y="6"/>
                  </a:lnTo>
                  <a:lnTo>
                    <a:pt x="678" y="9"/>
                  </a:lnTo>
                  <a:lnTo>
                    <a:pt x="704" y="15"/>
                  </a:lnTo>
                  <a:lnTo>
                    <a:pt x="731" y="21"/>
                  </a:lnTo>
                  <a:lnTo>
                    <a:pt x="758" y="26"/>
                  </a:lnTo>
                  <a:lnTo>
                    <a:pt x="784" y="32"/>
                  </a:lnTo>
                  <a:lnTo>
                    <a:pt x="810" y="41"/>
                  </a:lnTo>
                  <a:lnTo>
                    <a:pt x="837" y="50"/>
                  </a:lnTo>
                  <a:lnTo>
                    <a:pt x="849" y="52"/>
                  </a:lnTo>
                  <a:lnTo>
                    <a:pt x="860" y="58"/>
                  </a:lnTo>
                  <a:lnTo>
                    <a:pt x="875" y="61"/>
                  </a:lnTo>
                  <a:lnTo>
                    <a:pt x="890" y="63"/>
                  </a:lnTo>
                  <a:lnTo>
                    <a:pt x="905" y="66"/>
                  </a:lnTo>
                  <a:lnTo>
                    <a:pt x="920" y="72"/>
                  </a:lnTo>
                  <a:lnTo>
                    <a:pt x="935" y="75"/>
                  </a:lnTo>
                  <a:lnTo>
                    <a:pt x="949" y="78"/>
                  </a:lnTo>
                  <a:lnTo>
                    <a:pt x="964" y="84"/>
                  </a:lnTo>
                  <a:lnTo>
                    <a:pt x="978" y="87"/>
                  </a:lnTo>
                  <a:lnTo>
                    <a:pt x="993" y="93"/>
                  </a:lnTo>
                  <a:lnTo>
                    <a:pt x="1008" y="99"/>
                  </a:lnTo>
                  <a:lnTo>
                    <a:pt x="1019" y="102"/>
                  </a:lnTo>
                  <a:lnTo>
                    <a:pt x="1031" y="107"/>
                  </a:lnTo>
                  <a:lnTo>
                    <a:pt x="1043" y="116"/>
                  </a:lnTo>
                  <a:lnTo>
                    <a:pt x="1055" y="122"/>
                  </a:lnTo>
                  <a:lnTo>
                    <a:pt x="1052" y="125"/>
                  </a:lnTo>
                  <a:lnTo>
                    <a:pt x="1046" y="128"/>
                  </a:lnTo>
                  <a:lnTo>
                    <a:pt x="1040" y="134"/>
                  </a:lnTo>
                  <a:lnTo>
                    <a:pt x="1034" y="136"/>
                  </a:lnTo>
                  <a:lnTo>
                    <a:pt x="1028" y="139"/>
                  </a:lnTo>
                  <a:lnTo>
                    <a:pt x="1022" y="139"/>
                  </a:lnTo>
                  <a:lnTo>
                    <a:pt x="1017" y="142"/>
                  </a:lnTo>
                  <a:lnTo>
                    <a:pt x="1008" y="145"/>
                  </a:lnTo>
                  <a:lnTo>
                    <a:pt x="1002" y="147"/>
                  </a:lnTo>
                  <a:lnTo>
                    <a:pt x="993" y="147"/>
                  </a:lnTo>
                  <a:lnTo>
                    <a:pt x="984" y="150"/>
                  </a:lnTo>
                  <a:lnTo>
                    <a:pt x="978" y="150"/>
                  </a:lnTo>
                  <a:lnTo>
                    <a:pt x="969" y="153"/>
                  </a:lnTo>
                  <a:lnTo>
                    <a:pt x="961" y="153"/>
                  </a:lnTo>
                  <a:lnTo>
                    <a:pt x="952" y="153"/>
                  </a:lnTo>
                  <a:lnTo>
                    <a:pt x="943" y="156"/>
                  </a:lnTo>
                  <a:lnTo>
                    <a:pt x="935" y="156"/>
                  </a:lnTo>
                  <a:lnTo>
                    <a:pt x="926" y="156"/>
                  </a:lnTo>
                  <a:lnTo>
                    <a:pt x="920" y="159"/>
                  </a:lnTo>
                  <a:lnTo>
                    <a:pt x="911" y="159"/>
                  </a:lnTo>
                  <a:lnTo>
                    <a:pt x="902" y="159"/>
                  </a:lnTo>
                  <a:lnTo>
                    <a:pt x="893" y="159"/>
                  </a:lnTo>
                  <a:lnTo>
                    <a:pt x="884" y="159"/>
                  </a:lnTo>
                  <a:lnTo>
                    <a:pt x="875" y="162"/>
                  </a:lnTo>
                  <a:lnTo>
                    <a:pt x="869" y="162"/>
                  </a:lnTo>
                  <a:lnTo>
                    <a:pt x="860" y="162"/>
                  </a:lnTo>
                  <a:lnTo>
                    <a:pt x="854" y="162"/>
                  </a:lnTo>
                  <a:lnTo>
                    <a:pt x="846" y="165"/>
                  </a:lnTo>
                  <a:lnTo>
                    <a:pt x="840" y="165"/>
                  </a:lnTo>
                  <a:lnTo>
                    <a:pt x="834" y="165"/>
                  </a:lnTo>
                  <a:lnTo>
                    <a:pt x="828" y="168"/>
                  </a:lnTo>
                  <a:lnTo>
                    <a:pt x="822" y="168"/>
                  </a:lnTo>
                  <a:lnTo>
                    <a:pt x="822" y="171"/>
                  </a:lnTo>
                  <a:lnTo>
                    <a:pt x="825" y="177"/>
                  </a:lnTo>
                  <a:lnTo>
                    <a:pt x="828" y="183"/>
                  </a:lnTo>
                  <a:lnTo>
                    <a:pt x="831" y="189"/>
                  </a:lnTo>
                  <a:lnTo>
                    <a:pt x="834" y="197"/>
                  </a:lnTo>
                  <a:lnTo>
                    <a:pt x="840" y="203"/>
                  </a:lnTo>
                  <a:lnTo>
                    <a:pt x="843" y="206"/>
                  </a:lnTo>
                  <a:lnTo>
                    <a:pt x="843" y="212"/>
                  </a:lnTo>
                  <a:lnTo>
                    <a:pt x="834" y="215"/>
                  </a:lnTo>
                  <a:lnTo>
                    <a:pt x="825" y="218"/>
                  </a:lnTo>
                  <a:lnTo>
                    <a:pt x="813" y="221"/>
                  </a:lnTo>
                  <a:lnTo>
                    <a:pt x="801" y="223"/>
                  </a:lnTo>
                  <a:lnTo>
                    <a:pt x="792" y="223"/>
                  </a:lnTo>
                  <a:lnTo>
                    <a:pt x="781" y="226"/>
                  </a:lnTo>
                  <a:lnTo>
                    <a:pt x="769" y="229"/>
                  </a:lnTo>
                  <a:lnTo>
                    <a:pt x="758" y="231"/>
                  </a:lnTo>
                  <a:lnTo>
                    <a:pt x="746" y="231"/>
                  </a:lnTo>
                  <a:lnTo>
                    <a:pt x="737" y="234"/>
                  </a:lnTo>
                  <a:lnTo>
                    <a:pt x="725" y="237"/>
                  </a:lnTo>
                  <a:lnTo>
                    <a:pt x="713" y="237"/>
                  </a:lnTo>
                  <a:lnTo>
                    <a:pt x="701" y="240"/>
                  </a:lnTo>
                  <a:lnTo>
                    <a:pt x="692" y="240"/>
                  </a:lnTo>
                  <a:lnTo>
                    <a:pt x="681" y="243"/>
                  </a:lnTo>
                  <a:lnTo>
                    <a:pt x="672" y="243"/>
                  </a:lnTo>
                  <a:lnTo>
                    <a:pt x="666" y="246"/>
                  </a:lnTo>
                  <a:lnTo>
                    <a:pt x="657" y="246"/>
                  </a:lnTo>
                  <a:lnTo>
                    <a:pt x="651" y="246"/>
                  </a:lnTo>
                  <a:lnTo>
                    <a:pt x="642" y="249"/>
                  </a:lnTo>
                  <a:lnTo>
                    <a:pt x="636" y="249"/>
                  </a:lnTo>
                  <a:lnTo>
                    <a:pt x="627" y="249"/>
                  </a:lnTo>
                  <a:lnTo>
                    <a:pt x="618" y="249"/>
                  </a:lnTo>
                  <a:lnTo>
                    <a:pt x="610" y="249"/>
                  </a:lnTo>
                  <a:lnTo>
                    <a:pt x="604" y="252"/>
                  </a:lnTo>
                  <a:lnTo>
                    <a:pt x="596" y="252"/>
                  </a:lnTo>
                  <a:lnTo>
                    <a:pt x="587" y="252"/>
                  </a:lnTo>
                  <a:lnTo>
                    <a:pt x="578" y="252"/>
                  </a:lnTo>
                  <a:lnTo>
                    <a:pt x="572" y="252"/>
                  </a:lnTo>
                  <a:lnTo>
                    <a:pt x="563" y="252"/>
                  </a:lnTo>
                  <a:lnTo>
                    <a:pt x="554" y="252"/>
                  </a:lnTo>
                  <a:lnTo>
                    <a:pt x="545" y="249"/>
                  </a:lnTo>
                  <a:lnTo>
                    <a:pt x="536" y="249"/>
                  </a:lnTo>
                  <a:lnTo>
                    <a:pt x="527" y="249"/>
                  </a:lnTo>
                  <a:lnTo>
                    <a:pt x="521" y="249"/>
                  </a:lnTo>
                  <a:lnTo>
                    <a:pt x="513" y="249"/>
                  </a:lnTo>
                  <a:lnTo>
                    <a:pt x="504" y="249"/>
                  </a:lnTo>
                  <a:lnTo>
                    <a:pt x="495" y="246"/>
                  </a:lnTo>
                  <a:lnTo>
                    <a:pt x="486" y="246"/>
                  </a:lnTo>
                  <a:lnTo>
                    <a:pt x="480" y="246"/>
                  </a:lnTo>
                  <a:lnTo>
                    <a:pt x="471" y="246"/>
                  </a:lnTo>
                  <a:lnTo>
                    <a:pt x="465" y="246"/>
                  </a:lnTo>
                  <a:lnTo>
                    <a:pt x="456" y="243"/>
                  </a:lnTo>
                  <a:lnTo>
                    <a:pt x="450" y="243"/>
                  </a:lnTo>
                  <a:lnTo>
                    <a:pt x="441" y="243"/>
                  </a:lnTo>
                  <a:lnTo>
                    <a:pt x="436" y="240"/>
                  </a:lnTo>
                  <a:lnTo>
                    <a:pt x="428" y="240"/>
                  </a:lnTo>
                  <a:lnTo>
                    <a:pt x="422" y="240"/>
                  </a:lnTo>
                  <a:lnTo>
                    <a:pt x="413" y="237"/>
                  </a:lnTo>
                  <a:lnTo>
                    <a:pt x="407" y="237"/>
                  </a:lnTo>
                  <a:lnTo>
                    <a:pt x="398" y="237"/>
                  </a:lnTo>
                  <a:lnTo>
                    <a:pt x="389" y="234"/>
                  </a:lnTo>
                  <a:lnTo>
                    <a:pt x="380" y="234"/>
                  </a:lnTo>
                  <a:lnTo>
                    <a:pt x="371" y="234"/>
                  </a:lnTo>
                  <a:lnTo>
                    <a:pt x="362" y="234"/>
                  </a:lnTo>
                  <a:lnTo>
                    <a:pt x="353" y="231"/>
                  </a:lnTo>
                  <a:lnTo>
                    <a:pt x="345" y="231"/>
                  </a:lnTo>
                  <a:lnTo>
                    <a:pt x="336" y="231"/>
                  </a:lnTo>
                  <a:lnTo>
                    <a:pt x="327" y="231"/>
                  </a:lnTo>
                  <a:lnTo>
                    <a:pt x="318" y="229"/>
                  </a:lnTo>
                  <a:lnTo>
                    <a:pt x="309" y="229"/>
                  </a:lnTo>
                  <a:lnTo>
                    <a:pt x="300" y="229"/>
                  </a:lnTo>
                  <a:lnTo>
                    <a:pt x="291" y="229"/>
                  </a:lnTo>
                  <a:lnTo>
                    <a:pt x="282" y="226"/>
                  </a:lnTo>
                  <a:lnTo>
                    <a:pt x="273" y="226"/>
                  </a:lnTo>
                  <a:lnTo>
                    <a:pt x="264" y="223"/>
                  </a:lnTo>
                  <a:lnTo>
                    <a:pt x="257" y="223"/>
                  </a:lnTo>
                  <a:lnTo>
                    <a:pt x="248" y="221"/>
                  </a:lnTo>
                  <a:lnTo>
                    <a:pt x="239" y="221"/>
                  </a:lnTo>
                  <a:lnTo>
                    <a:pt x="230" y="221"/>
                  </a:lnTo>
                  <a:lnTo>
                    <a:pt x="221" y="218"/>
                  </a:lnTo>
                  <a:lnTo>
                    <a:pt x="212" y="215"/>
                  </a:lnTo>
                  <a:lnTo>
                    <a:pt x="203" y="212"/>
                  </a:lnTo>
                  <a:lnTo>
                    <a:pt x="197" y="212"/>
                  </a:lnTo>
                  <a:lnTo>
                    <a:pt x="188" y="209"/>
                  </a:lnTo>
                  <a:lnTo>
                    <a:pt x="180" y="206"/>
                  </a:lnTo>
                  <a:lnTo>
                    <a:pt x="174" y="203"/>
                  </a:lnTo>
                  <a:lnTo>
                    <a:pt x="165" y="200"/>
                  </a:lnTo>
                  <a:lnTo>
                    <a:pt x="156" y="197"/>
                  </a:lnTo>
                  <a:lnTo>
                    <a:pt x="150" y="194"/>
                  </a:lnTo>
                  <a:lnTo>
                    <a:pt x="150" y="186"/>
                  </a:lnTo>
                  <a:lnTo>
                    <a:pt x="153" y="180"/>
                  </a:lnTo>
                  <a:lnTo>
                    <a:pt x="153" y="171"/>
                  </a:lnTo>
                  <a:lnTo>
                    <a:pt x="153" y="162"/>
                  </a:lnTo>
                  <a:lnTo>
                    <a:pt x="147" y="159"/>
                  </a:lnTo>
                  <a:lnTo>
                    <a:pt x="141" y="153"/>
                  </a:lnTo>
                  <a:lnTo>
                    <a:pt x="132" y="150"/>
                  </a:lnTo>
                  <a:lnTo>
                    <a:pt x="123" y="147"/>
                  </a:lnTo>
                  <a:lnTo>
                    <a:pt x="114" y="145"/>
                  </a:lnTo>
                  <a:lnTo>
                    <a:pt x="102" y="145"/>
                  </a:lnTo>
                  <a:lnTo>
                    <a:pt x="91" y="142"/>
                  </a:lnTo>
                  <a:lnTo>
                    <a:pt x="83" y="142"/>
                  </a:lnTo>
                  <a:lnTo>
                    <a:pt x="71" y="142"/>
                  </a:lnTo>
                  <a:lnTo>
                    <a:pt x="59" y="139"/>
                  </a:lnTo>
                  <a:lnTo>
                    <a:pt x="47" y="139"/>
                  </a:lnTo>
                  <a:lnTo>
                    <a:pt x="38" y="136"/>
                  </a:lnTo>
                  <a:lnTo>
                    <a:pt x="26" y="134"/>
                  </a:lnTo>
                  <a:lnTo>
                    <a:pt x="17" y="134"/>
                  </a:lnTo>
                  <a:lnTo>
                    <a:pt x="9" y="131"/>
                  </a:lnTo>
                  <a:lnTo>
                    <a:pt x="0" y="125"/>
                  </a:lnTo>
                </a:path>
              </a:pathLst>
            </a:custGeom>
            <a:solidFill>
              <a:srgbClr val="F5B8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8" name="Freeform 258">
              <a:extLst>
                <a:ext uri="{FF2B5EF4-FFF2-40B4-BE49-F238E27FC236}">
                  <a16:creationId xmlns:a16="http://schemas.microsoft.com/office/drawing/2014/main" id="{B9552580-6F69-43CF-98B4-54D14C979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" y="3755"/>
              <a:ext cx="268" cy="597"/>
            </a:xfrm>
            <a:custGeom>
              <a:avLst/>
              <a:gdLst>
                <a:gd name="T0" fmla="*/ 244 w 268"/>
                <a:gd name="T1" fmla="*/ 9 h 597"/>
                <a:gd name="T2" fmla="*/ 267 w 268"/>
                <a:gd name="T3" fmla="*/ 0 h 597"/>
                <a:gd name="T4" fmla="*/ 255 w 268"/>
                <a:gd name="T5" fmla="*/ 29 h 597"/>
                <a:gd name="T6" fmla="*/ 241 w 268"/>
                <a:gd name="T7" fmla="*/ 64 h 597"/>
                <a:gd name="T8" fmla="*/ 226 w 268"/>
                <a:gd name="T9" fmla="*/ 97 h 597"/>
                <a:gd name="T10" fmla="*/ 214 w 268"/>
                <a:gd name="T11" fmla="*/ 135 h 597"/>
                <a:gd name="T12" fmla="*/ 200 w 268"/>
                <a:gd name="T13" fmla="*/ 170 h 597"/>
                <a:gd name="T14" fmla="*/ 186 w 268"/>
                <a:gd name="T15" fmla="*/ 208 h 597"/>
                <a:gd name="T16" fmla="*/ 174 w 268"/>
                <a:gd name="T17" fmla="*/ 249 h 597"/>
                <a:gd name="T18" fmla="*/ 162 w 268"/>
                <a:gd name="T19" fmla="*/ 287 h 597"/>
                <a:gd name="T20" fmla="*/ 151 w 268"/>
                <a:gd name="T21" fmla="*/ 326 h 597"/>
                <a:gd name="T22" fmla="*/ 142 w 268"/>
                <a:gd name="T23" fmla="*/ 366 h 597"/>
                <a:gd name="T24" fmla="*/ 130 w 268"/>
                <a:gd name="T25" fmla="*/ 405 h 597"/>
                <a:gd name="T26" fmla="*/ 125 w 268"/>
                <a:gd name="T27" fmla="*/ 447 h 597"/>
                <a:gd name="T28" fmla="*/ 119 w 268"/>
                <a:gd name="T29" fmla="*/ 484 h 597"/>
                <a:gd name="T30" fmla="*/ 113 w 268"/>
                <a:gd name="T31" fmla="*/ 523 h 597"/>
                <a:gd name="T32" fmla="*/ 111 w 268"/>
                <a:gd name="T33" fmla="*/ 560 h 597"/>
                <a:gd name="T34" fmla="*/ 111 w 268"/>
                <a:gd name="T35" fmla="*/ 596 h 597"/>
                <a:gd name="T36" fmla="*/ 0 w 268"/>
                <a:gd name="T37" fmla="*/ 575 h 597"/>
                <a:gd name="T38" fmla="*/ 6 w 268"/>
                <a:gd name="T39" fmla="*/ 560 h 597"/>
                <a:gd name="T40" fmla="*/ 12 w 268"/>
                <a:gd name="T41" fmla="*/ 543 h 597"/>
                <a:gd name="T42" fmla="*/ 18 w 268"/>
                <a:gd name="T43" fmla="*/ 529 h 597"/>
                <a:gd name="T44" fmla="*/ 23 w 268"/>
                <a:gd name="T45" fmla="*/ 511 h 597"/>
                <a:gd name="T46" fmla="*/ 29 w 268"/>
                <a:gd name="T47" fmla="*/ 493 h 597"/>
                <a:gd name="T48" fmla="*/ 35 w 268"/>
                <a:gd name="T49" fmla="*/ 475 h 597"/>
                <a:gd name="T50" fmla="*/ 44 w 268"/>
                <a:gd name="T51" fmla="*/ 457 h 597"/>
                <a:gd name="T52" fmla="*/ 49 w 268"/>
                <a:gd name="T53" fmla="*/ 441 h 597"/>
                <a:gd name="T54" fmla="*/ 58 w 268"/>
                <a:gd name="T55" fmla="*/ 423 h 597"/>
                <a:gd name="T56" fmla="*/ 67 w 268"/>
                <a:gd name="T57" fmla="*/ 405 h 597"/>
                <a:gd name="T58" fmla="*/ 72 w 268"/>
                <a:gd name="T59" fmla="*/ 387 h 597"/>
                <a:gd name="T60" fmla="*/ 81 w 268"/>
                <a:gd name="T61" fmla="*/ 366 h 597"/>
                <a:gd name="T62" fmla="*/ 90 w 268"/>
                <a:gd name="T63" fmla="*/ 349 h 597"/>
                <a:gd name="T64" fmla="*/ 96 w 268"/>
                <a:gd name="T65" fmla="*/ 332 h 597"/>
                <a:gd name="T66" fmla="*/ 105 w 268"/>
                <a:gd name="T67" fmla="*/ 311 h 597"/>
                <a:gd name="T68" fmla="*/ 113 w 268"/>
                <a:gd name="T69" fmla="*/ 293 h 597"/>
                <a:gd name="T70" fmla="*/ 122 w 268"/>
                <a:gd name="T71" fmla="*/ 276 h 597"/>
                <a:gd name="T72" fmla="*/ 130 w 268"/>
                <a:gd name="T73" fmla="*/ 258 h 597"/>
                <a:gd name="T74" fmla="*/ 139 w 268"/>
                <a:gd name="T75" fmla="*/ 238 h 597"/>
                <a:gd name="T76" fmla="*/ 148 w 268"/>
                <a:gd name="T77" fmla="*/ 220 h 597"/>
                <a:gd name="T78" fmla="*/ 154 w 268"/>
                <a:gd name="T79" fmla="*/ 202 h 597"/>
                <a:gd name="T80" fmla="*/ 162 w 268"/>
                <a:gd name="T81" fmla="*/ 182 h 597"/>
                <a:gd name="T82" fmla="*/ 171 w 268"/>
                <a:gd name="T83" fmla="*/ 164 h 597"/>
                <a:gd name="T84" fmla="*/ 180 w 268"/>
                <a:gd name="T85" fmla="*/ 147 h 597"/>
                <a:gd name="T86" fmla="*/ 189 w 268"/>
                <a:gd name="T87" fmla="*/ 129 h 597"/>
                <a:gd name="T88" fmla="*/ 198 w 268"/>
                <a:gd name="T89" fmla="*/ 111 h 597"/>
                <a:gd name="T90" fmla="*/ 203 w 268"/>
                <a:gd name="T91" fmla="*/ 94 h 597"/>
                <a:gd name="T92" fmla="*/ 211 w 268"/>
                <a:gd name="T93" fmla="*/ 76 h 597"/>
                <a:gd name="T94" fmla="*/ 220 w 268"/>
                <a:gd name="T95" fmla="*/ 58 h 597"/>
                <a:gd name="T96" fmla="*/ 229 w 268"/>
                <a:gd name="T97" fmla="*/ 41 h 597"/>
                <a:gd name="T98" fmla="*/ 235 w 268"/>
                <a:gd name="T99" fmla="*/ 26 h 597"/>
                <a:gd name="T100" fmla="*/ 244 w 268"/>
                <a:gd name="T101" fmla="*/ 9 h 5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68"/>
                <a:gd name="T154" fmla="*/ 0 h 597"/>
                <a:gd name="T155" fmla="*/ 268 w 268"/>
                <a:gd name="T156" fmla="*/ 597 h 5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68" h="597">
                  <a:moveTo>
                    <a:pt x="244" y="9"/>
                  </a:moveTo>
                  <a:lnTo>
                    <a:pt x="267" y="0"/>
                  </a:lnTo>
                  <a:lnTo>
                    <a:pt x="255" y="29"/>
                  </a:lnTo>
                  <a:lnTo>
                    <a:pt x="241" y="64"/>
                  </a:lnTo>
                  <a:lnTo>
                    <a:pt x="226" y="97"/>
                  </a:lnTo>
                  <a:lnTo>
                    <a:pt x="214" y="135"/>
                  </a:lnTo>
                  <a:lnTo>
                    <a:pt x="200" y="170"/>
                  </a:lnTo>
                  <a:lnTo>
                    <a:pt x="186" y="208"/>
                  </a:lnTo>
                  <a:lnTo>
                    <a:pt x="174" y="249"/>
                  </a:lnTo>
                  <a:lnTo>
                    <a:pt x="162" y="287"/>
                  </a:lnTo>
                  <a:lnTo>
                    <a:pt x="151" y="326"/>
                  </a:lnTo>
                  <a:lnTo>
                    <a:pt x="142" y="366"/>
                  </a:lnTo>
                  <a:lnTo>
                    <a:pt x="130" y="405"/>
                  </a:lnTo>
                  <a:lnTo>
                    <a:pt x="125" y="447"/>
                  </a:lnTo>
                  <a:lnTo>
                    <a:pt x="119" y="484"/>
                  </a:lnTo>
                  <a:lnTo>
                    <a:pt x="113" y="523"/>
                  </a:lnTo>
                  <a:lnTo>
                    <a:pt x="111" y="560"/>
                  </a:lnTo>
                  <a:lnTo>
                    <a:pt x="111" y="596"/>
                  </a:lnTo>
                  <a:lnTo>
                    <a:pt x="0" y="575"/>
                  </a:lnTo>
                  <a:lnTo>
                    <a:pt x="6" y="560"/>
                  </a:lnTo>
                  <a:lnTo>
                    <a:pt x="12" y="543"/>
                  </a:lnTo>
                  <a:lnTo>
                    <a:pt x="18" y="529"/>
                  </a:lnTo>
                  <a:lnTo>
                    <a:pt x="23" y="511"/>
                  </a:lnTo>
                  <a:lnTo>
                    <a:pt x="29" y="493"/>
                  </a:lnTo>
                  <a:lnTo>
                    <a:pt x="35" y="475"/>
                  </a:lnTo>
                  <a:lnTo>
                    <a:pt x="44" y="457"/>
                  </a:lnTo>
                  <a:lnTo>
                    <a:pt x="49" y="441"/>
                  </a:lnTo>
                  <a:lnTo>
                    <a:pt x="58" y="423"/>
                  </a:lnTo>
                  <a:lnTo>
                    <a:pt x="67" y="405"/>
                  </a:lnTo>
                  <a:lnTo>
                    <a:pt x="72" y="387"/>
                  </a:lnTo>
                  <a:lnTo>
                    <a:pt x="81" y="366"/>
                  </a:lnTo>
                  <a:lnTo>
                    <a:pt x="90" y="349"/>
                  </a:lnTo>
                  <a:lnTo>
                    <a:pt x="96" y="332"/>
                  </a:lnTo>
                  <a:lnTo>
                    <a:pt x="105" y="311"/>
                  </a:lnTo>
                  <a:lnTo>
                    <a:pt x="113" y="293"/>
                  </a:lnTo>
                  <a:lnTo>
                    <a:pt x="122" y="276"/>
                  </a:lnTo>
                  <a:lnTo>
                    <a:pt x="130" y="258"/>
                  </a:lnTo>
                  <a:lnTo>
                    <a:pt x="139" y="238"/>
                  </a:lnTo>
                  <a:lnTo>
                    <a:pt x="148" y="220"/>
                  </a:lnTo>
                  <a:lnTo>
                    <a:pt x="154" y="202"/>
                  </a:lnTo>
                  <a:lnTo>
                    <a:pt x="162" y="182"/>
                  </a:lnTo>
                  <a:lnTo>
                    <a:pt x="171" y="164"/>
                  </a:lnTo>
                  <a:lnTo>
                    <a:pt x="180" y="147"/>
                  </a:lnTo>
                  <a:lnTo>
                    <a:pt x="189" y="129"/>
                  </a:lnTo>
                  <a:lnTo>
                    <a:pt x="198" y="111"/>
                  </a:lnTo>
                  <a:lnTo>
                    <a:pt x="203" y="94"/>
                  </a:lnTo>
                  <a:lnTo>
                    <a:pt x="211" y="76"/>
                  </a:lnTo>
                  <a:lnTo>
                    <a:pt x="220" y="58"/>
                  </a:lnTo>
                  <a:lnTo>
                    <a:pt x="229" y="41"/>
                  </a:lnTo>
                  <a:lnTo>
                    <a:pt x="235" y="26"/>
                  </a:lnTo>
                  <a:lnTo>
                    <a:pt x="244" y="9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9" name="Freeform 259">
              <a:extLst>
                <a:ext uri="{FF2B5EF4-FFF2-40B4-BE49-F238E27FC236}">
                  <a16:creationId xmlns:a16="http://schemas.microsoft.com/office/drawing/2014/main" id="{8247DA0A-CD70-4B83-9EDC-FBB95289C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3669"/>
              <a:ext cx="304" cy="134"/>
            </a:xfrm>
            <a:custGeom>
              <a:avLst/>
              <a:gdLst>
                <a:gd name="T0" fmla="*/ 294 w 304"/>
                <a:gd name="T1" fmla="*/ 39 h 134"/>
                <a:gd name="T2" fmla="*/ 230 w 304"/>
                <a:gd name="T3" fmla="*/ 0 h 134"/>
                <a:gd name="T4" fmla="*/ 0 w 304"/>
                <a:gd name="T5" fmla="*/ 133 h 134"/>
                <a:gd name="T6" fmla="*/ 111 w 304"/>
                <a:gd name="T7" fmla="*/ 127 h 134"/>
                <a:gd name="T8" fmla="*/ 137 w 304"/>
                <a:gd name="T9" fmla="*/ 94 h 134"/>
                <a:gd name="T10" fmla="*/ 131 w 304"/>
                <a:gd name="T11" fmla="*/ 130 h 134"/>
                <a:gd name="T12" fmla="*/ 277 w 304"/>
                <a:gd name="T13" fmla="*/ 97 h 134"/>
                <a:gd name="T14" fmla="*/ 303 w 304"/>
                <a:gd name="T15" fmla="*/ 82 h 134"/>
                <a:gd name="T16" fmla="*/ 294 w 304"/>
                <a:gd name="T17" fmla="*/ 39 h 1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4"/>
                <a:gd name="T28" fmla="*/ 0 h 134"/>
                <a:gd name="T29" fmla="*/ 304 w 304"/>
                <a:gd name="T30" fmla="*/ 134 h 13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4" h="134">
                  <a:moveTo>
                    <a:pt x="294" y="39"/>
                  </a:moveTo>
                  <a:lnTo>
                    <a:pt x="230" y="0"/>
                  </a:lnTo>
                  <a:lnTo>
                    <a:pt x="0" y="133"/>
                  </a:lnTo>
                  <a:lnTo>
                    <a:pt x="111" y="127"/>
                  </a:lnTo>
                  <a:lnTo>
                    <a:pt x="137" y="94"/>
                  </a:lnTo>
                  <a:lnTo>
                    <a:pt x="131" y="130"/>
                  </a:lnTo>
                  <a:lnTo>
                    <a:pt x="277" y="97"/>
                  </a:lnTo>
                  <a:lnTo>
                    <a:pt x="303" y="82"/>
                  </a:lnTo>
                  <a:lnTo>
                    <a:pt x="294" y="39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0" name="Freeform 260">
              <a:extLst>
                <a:ext uri="{FF2B5EF4-FFF2-40B4-BE49-F238E27FC236}">
                  <a16:creationId xmlns:a16="http://schemas.microsoft.com/office/drawing/2014/main" id="{24504D81-2322-434B-A470-9F6E14065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" y="3695"/>
              <a:ext cx="182" cy="233"/>
            </a:xfrm>
            <a:custGeom>
              <a:avLst/>
              <a:gdLst>
                <a:gd name="T0" fmla="*/ 0 w 182"/>
                <a:gd name="T1" fmla="*/ 23 h 233"/>
                <a:gd name="T2" fmla="*/ 34 w 182"/>
                <a:gd name="T3" fmla="*/ 0 h 233"/>
                <a:gd name="T4" fmla="*/ 181 w 182"/>
                <a:gd name="T5" fmla="*/ 232 h 233"/>
                <a:gd name="T6" fmla="*/ 89 w 182"/>
                <a:gd name="T7" fmla="*/ 174 h 233"/>
                <a:gd name="T8" fmla="*/ 77 w 182"/>
                <a:gd name="T9" fmla="*/ 131 h 233"/>
                <a:gd name="T10" fmla="*/ 69 w 182"/>
                <a:gd name="T11" fmla="*/ 168 h 233"/>
                <a:gd name="T12" fmla="*/ 22 w 182"/>
                <a:gd name="T13" fmla="*/ 107 h 233"/>
                <a:gd name="T14" fmla="*/ 0 w 182"/>
                <a:gd name="T15" fmla="*/ 23 h 2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2"/>
                <a:gd name="T25" fmla="*/ 0 h 233"/>
                <a:gd name="T26" fmla="*/ 182 w 182"/>
                <a:gd name="T27" fmla="*/ 233 h 2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2" h="233">
                  <a:moveTo>
                    <a:pt x="0" y="23"/>
                  </a:moveTo>
                  <a:lnTo>
                    <a:pt x="34" y="0"/>
                  </a:lnTo>
                  <a:lnTo>
                    <a:pt x="181" y="232"/>
                  </a:lnTo>
                  <a:lnTo>
                    <a:pt x="89" y="174"/>
                  </a:lnTo>
                  <a:lnTo>
                    <a:pt x="77" y="131"/>
                  </a:lnTo>
                  <a:lnTo>
                    <a:pt x="69" y="168"/>
                  </a:lnTo>
                  <a:lnTo>
                    <a:pt x="22" y="107"/>
                  </a:lnTo>
                  <a:lnTo>
                    <a:pt x="0" y="23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1" name="Freeform 261">
              <a:extLst>
                <a:ext uri="{FF2B5EF4-FFF2-40B4-BE49-F238E27FC236}">
                  <a16:creationId xmlns:a16="http://schemas.microsoft.com/office/drawing/2014/main" id="{87D7457D-906F-4080-853D-B7E4EC807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8" y="3651"/>
              <a:ext cx="137" cy="297"/>
            </a:xfrm>
            <a:custGeom>
              <a:avLst/>
              <a:gdLst>
                <a:gd name="T0" fmla="*/ 42 w 137"/>
                <a:gd name="T1" fmla="*/ 0 h 297"/>
                <a:gd name="T2" fmla="*/ 0 w 137"/>
                <a:gd name="T3" fmla="*/ 58 h 297"/>
                <a:gd name="T4" fmla="*/ 6 w 137"/>
                <a:gd name="T5" fmla="*/ 102 h 297"/>
                <a:gd name="T6" fmla="*/ 34 w 137"/>
                <a:gd name="T7" fmla="*/ 163 h 297"/>
                <a:gd name="T8" fmla="*/ 54 w 137"/>
                <a:gd name="T9" fmla="*/ 127 h 297"/>
                <a:gd name="T10" fmla="*/ 39 w 137"/>
                <a:gd name="T11" fmla="*/ 177 h 297"/>
                <a:gd name="T12" fmla="*/ 108 w 137"/>
                <a:gd name="T13" fmla="*/ 296 h 297"/>
                <a:gd name="T14" fmla="*/ 136 w 137"/>
                <a:gd name="T15" fmla="*/ 218 h 297"/>
                <a:gd name="T16" fmla="*/ 88 w 137"/>
                <a:gd name="T17" fmla="*/ 40 h 297"/>
                <a:gd name="T18" fmla="*/ 42 w 137"/>
                <a:gd name="T19" fmla="*/ 0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37"/>
                <a:gd name="T31" fmla="*/ 0 h 297"/>
                <a:gd name="T32" fmla="*/ 137 w 137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37" h="297">
                  <a:moveTo>
                    <a:pt x="42" y="0"/>
                  </a:moveTo>
                  <a:lnTo>
                    <a:pt x="0" y="58"/>
                  </a:lnTo>
                  <a:lnTo>
                    <a:pt x="6" y="102"/>
                  </a:lnTo>
                  <a:lnTo>
                    <a:pt x="34" y="163"/>
                  </a:lnTo>
                  <a:lnTo>
                    <a:pt x="54" y="127"/>
                  </a:lnTo>
                  <a:lnTo>
                    <a:pt x="39" y="177"/>
                  </a:lnTo>
                  <a:lnTo>
                    <a:pt x="108" y="296"/>
                  </a:lnTo>
                  <a:lnTo>
                    <a:pt x="136" y="218"/>
                  </a:lnTo>
                  <a:lnTo>
                    <a:pt x="88" y="40"/>
                  </a:lnTo>
                  <a:lnTo>
                    <a:pt x="42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262">
              <a:extLst>
                <a:ext uri="{FF2B5EF4-FFF2-40B4-BE49-F238E27FC236}">
                  <a16:creationId xmlns:a16="http://schemas.microsoft.com/office/drawing/2014/main" id="{E62EFFB5-93DC-4836-80E6-791927B13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3770"/>
              <a:ext cx="134" cy="113"/>
            </a:xfrm>
            <a:custGeom>
              <a:avLst/>
              <a:gdLst>
                <a:gd name="T0" fmla="*/ 100 w 134"/>
                <a:gd name="T1" fmla="*/ 5 h 113"/>
                <a:gd name="T2" fmla="*/ 133 w 134"/>
                <a:gd name="T3" fmla="*/ 0 h 113"/>
                <a:gd name="T4" fmla="*/ 113 w 134"/>
                <a:gd name="T5" fmla="*/ 42 h 113"/>
                <a:gd name="T6" fmla="*/ 62 w 134"/>
                <a:gd name="T7" fmla="*/ 84 h 113"/>
                <a:gd name="T8" fmla="*/ 45 w 134"/>
                <a:gd name="T9" fmla="*/ 67 h 113"/>
                <a:gd name="T10" fmla="*/ 39 w 134"/>
                <a:gd name="T11" fmla="*/ 95 h 113"/>
                <a:gd name="T12" fmla="*/ 0 w 134"/>
                <a:gd name="T13" fmla="*/ 112 h 113"/>
                <a:gd name="T14" fmla="*/ 39 w 134"/>
                <a:gd name="T15" fmla="*/ 22 h 113"/>
                <a:gd name="T16" fmla="*/ 100 w 134"/>
                <a:gd name="T17" fmla="*/ 5 h 1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"/>
                <a:gd name="T28" fmla="*/ 0 h 113"/>
                <a:gd name="T29" fmla="*/ 134 w 134"/>
                <a:gd name="T30" fmla="*/ 113 h 1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" h="113">
                  <a:moveTo>
                    <a:pt x="100" y="5"/>
                  </a:moveTo>
                  <a:lnTo>
                    <a:pt x="133" y="0"/>
                  </a:lnTo>
                  <a:lnTo>
                    <a:pt x="113" y="42"/>
                  </a:lnTo>
                  <a:lnTo>
                    <a:pt x="62" y="84"/>
                  </a:lnTo>
                  <a:lnTo>
                    <a:pt x="45" y="67"/>
                  </a:lnTo>
                  <a:lnTo>
                    <a:pt x="39" y="95"/>
                  </a:lnTo>
                  <a:lnTo>
                    <a:pt x="0" y="112"/>
                  </a:lnTo>
                  <a:lnTo>
                    <a:pt x="39" y="22"/>
                  </a:lnTo>
                  <a:lnTo>
                    <a:pt x="100" y="5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263">
              <a:extLst>
                <a:ext uri="{FF2B5EF4-FFF2-40B4-BE49-F238E27FC236}">
                  <a16:creationId xmlns:a16="http://schemas.microsoft.com/office/drawing/2014/main" id="{4A406141-DC5B-438B-8117-ADCAF1105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" y="3755"/>
              <a:ext cx="43" cy="134"/>
            </a:xfrm>
            <a:custGeom>
              <a:avLst/>
              <a:gdLst>
                <a:gd name="T0" fmla="*/ 24 w 43"/>
                <a:gd name="T1" fmla="*/ 0 h 134"/>
                <a:gd name="T2" fmla="*/ 42 w 43"/>
                <a:gd name="T3" fmla="*/ 54 h 134"/>
                <a:gd name="T4" fmla="*/ 32 w 43"/>
                <a:gd name="T5" fmla="*/ 133 h 134"/>
                <a:gd name="T6" fmla="*/ 0 w 43"/>
                <a:gd name="T7" fmla="*/ 59 h 134"/>
                <a:gd name="T8" fmla="*/ 24 w 43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34"/>
                <a:gd name="T17" fmla="*/ 43 w 43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34">
                  <a:moveTo>
                    <a:pt x="24" y="0"/>
                  </a:moveTo>
                  <a:lnTo>
                    <a:pt x="42" y="54"/>
                  </a:lnTo>
                  <a:lnTo>
                    <a:pt x="32" y="133"/>
                  </a:lnTo>
                  <a:lnTo>
                    <a:pt x="0" y="59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264">
              <a:extLst>
                <a:ext uri="{FF2B5EF4-FFF2-40B4-BE49-F238E27FC236}">
                  <a16:creationId xmlns:a16="http://schemas.microsoft.com/office/drawing/2014/main" id="{1F06D3A0-1F71-41F6-BD20-78BC57CBB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598"/>
              <a:ext cx="226" cy="763"/>
            </a:xfrm>
            <a:custGeom>
              <a:avLst/>
              <a:gdLst>
                <a:gd name="T0" fmla="*/ 22 w 226"/>
                <a:gd name="T1" fmla="*/ 14 h 763"/>
                <a:gd name="T2" fmla="*/ 0 w 226"/>
                <a:gd name="T3" fmla="*/ 0 h 763"/>
                <a:gd name="T4" fmla="*/ 12 w 226"/>
                <a:gd name="T5" fmla="*/ 41 h 763"/>
                <a:gd name="T6" fmla="*/ 19 w 226"/>
                <a:gd name="T7" fmla="*/ 82 h 763"/>
                <a:gd name="T8" fmla="*/ 31 w 226"/>
                <a:gd name="T9" fmla="*/ 129 h 763"/>
                <a:gd name="T10" fmla="*/ 43 w 226"/>
                <a:gd name="T11" fmla="*/ 174 h 763"/>
                <a:gd name="T12" fmla="*/ 55 w 226"/>
                <a:gd name="T13" fmla="*/ 220 h 763"/>
                <a:gd name="T14" fmla="*/ 63 w 226"/>
                <a:gd name="T15" fmla="*/ 270 h 763"/>
                <a:gd name="T16" fmla="*/ 75 w 226"/>
                <a:gd name="T17" fmla="*/ 320 h 763"/>
                <a:gd name="T18" fmla="*/ 84 w 226"/>
                <a:gd name="T19" fmla="*/ 370 h 763"/>
                <a:gd name="T20" fmla="*/ 93 w 226"/>
                <a:gd name="T21" fmla="*/ 421 h 763"/>
                <a:gd name="T22" fmla="*/ 97 w 226"/>
                <a:gd name="T23" fmla="*/ 470 h 763"/>
                <a:gd name="T24" fmla="*/ 103 w 226"/>
                <a:gd name="T25" fmla="*/ 521 h 763"/>
                <a:gd name="T26" fmla="*/ 109 w 226"/>
                <a:gd name="T27" fmla="*/ 571 h 763"/>
                <a:gd name="T28" fmla="*/ 112 w 226"/>
                <a:gd name="T29" fmla="*/ 620 h 763"/>
                <a:gd name="T30" fmla="*/ 115 w 226"/>
                <a:gd name="T31" fmla="*/ 668 h 763"/>
                <a:gd name="T32" fmla="*/ 115 w 226"/>
                <a:gd name="T33" fmla="*/ 714 h 763"/>
                <a:gd name="T34" fmla="*/ 112 w 226"/>
                <a:gd name="T35" fmla="*/ 762 h 763"/>
                <a:gd name="T36" fmla="*/ 225 w 226"/>
                <a:gd name="T37" fmla="*/ 741 h 763"/>
                <a:gd name="T38" fmla="*/ 216 w 226"/>
                <a:gd name="T39" fmla="*/ 699 h 763"/>
                <a:gd name="T40" fmla="*/ 205 w 226"/>
                <a:gd name="T41" fmla="*/ 659 h 763"/>
                <a:gd name="T42" fmla="*/ 196 w 226"/>
                <a:gd name="T43" fmla="*/ 614 h 763"/>
                <a:gd name="T44" fmla="*/ 184 w 226"/>
                <a:gd name="T45" fmla="*/ 571 h 763"/>
                <a:gd name="T46" fmla="*/ 173 w 226"/>
                <a:gd name="T47" fmla="*/ 523 h 763"/>
                <a:gd name="T48" fmla="*/ 159 w 226"/>
                <a:gd name="T49" fmla="*/ 476 h 763"/>
                <a:gd name="T50" fmla="*/ 144 w 226"/>
                <a:gd name="T51" fmla="*/ 430 h 763"/>
                <a:gd name="T52" fmla="*/ 132 w 226"/>
                <a:gd name="T53" fmla="*/ 379 h 763"/>
                <a:gd name="T54" fmla="*/ 118 w 226"/>
                <a:gd name="T55" fmla="*/ 332 h 763"/>
                <a:gd name="T56" fmla="*/ 103 w 226"/>
                <a:gd name="T57" fmla="*/ 285 h 763"/>
                <a:gd name="T58" fmla="*/ 90 w 226"/>
                <a:gd name="T59" fmla="*/ 238 h 763"/>
                <a:gd name="T60" fmla="*/ 75 w 226"/>
                <a:gd name="T61" fmla="*/ 191 h 763"/>
                <a:gd name="T62" fmla="*/ 60 w 226"/>
                <a:gd name="T63" fmla="*/ 147 h 763"/>
                <a:gd name="T64" fmla="*/ 49 w 226"/>
                <a:gd name="T65" fmla="*/ 99 h 763"/>
                <a:gd name="T66" fmla="*/ 34 w 226"/>
                <a:gd name="T67" fmla="*/ 59 h 763"/>
                <a:gd name="T68" fmla="*/ 22 w 226"/>
                <a:gd name="T69" fmla="*/ 14 h 76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6"/>
                <a:gd name="T106" fmla="*/ 0 h 763"/>
                <a:gd name="T107" fmla="*/ 226 w 226"/>
                <a:gd name="T108" fmla="*/ 763 h 76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6" h="763">
                  <a:moveTo>
                    <a:pt x="22" y="14"/>
                  </a:moveTo>
                  <a:lnTo>
                    <a:pt x="0" y="0"/>
                  </a:lnTo>
                  <a:lnTo>
                    <a:pt x="12" y="41"/>
                  </a:lnTo>
                  <a:lnTo>
                    <a:pt x="19" y="82"/>
                  </a:lnTo>
                  <a:lnTo>
                    <a:pt x="31" y="129"/>
                  </a:lnTo>
                  <a:lnTo>
                    <a:pt x="43" y="174"/>
                  </a:lnTo>
                  <a:lnTo>
                    <a:pt x="55" y="220"/>
                  </a:lnTo>
                  <a:lnTo>
                    <a:pt x="63" y="270"/>
                  </a:lnTo>
                  <a:lnTo>
                    <a:pt x="75" y="320"/>
                  </a:lnTo>
                  <a:lnTo>
                    <a:pt x="84" y="370"/>
                  </a:lnTo>
                  <a:lnTo>
                    <a:pt x="93" y="421"/>
                  </a:lnTo>
                  <a:lnTo>
                    <a:pt x="97" y="470"/>
                  </a:lnTo>
                  <a:lnTo>
                    <a:pt x="103" y="521"/>
                  </a:lnTo>
                  <a:lnTo>
                    <a:pt x="109" y="571"/>
                  </a:lnTo>
                  <a:lnTo>
                    <a:pt x="112" y="620"/>
                  </a:lnTo>
                  <a:lnTo>
                    <a:pt x="115" y="668"/>
                  </a:lnTo>
                  <a:lnTo>
                    <a:pt x="115" y="714"/>
                  </a:lnTo>
                  <a:lnTo>
                    <a:pt x="112" y="762"/>
                  </a:lnTo>
                  <a:lnTo>
                    <a:pt x="225" y="741"/>
                  </a:lnTo>
                  <a:lnTo>
                    <a:pt x="216" y="699"/>
                  </a:lnTo>
                  <a:lnTo>
                    <a:pt x="205" y="659"/>
                  </a:lnTo>
                  <a:lnTo>
                    <a:pt x="196" y="614"/>
                  </a:lnTo>
                  <a:lnTo>
                    <a:pt x="184" y="571"/>
                  </a:lnTo>
                  <a:lnTo>
                    <a:pt x="173" y="523"/>
                  </a:lnTo>
                  <a:lnTo>
                    <a:pt x="159" y="476"/>
                  </a:lnTo>
                  <a:lnTo>
                    <a:pt x="144" y="430"/>
                  </a:lnTo>
                  <a:lnTo>
                    <a:pt x="132" y="379"/>
                  </a:lnTo>
                  <a:lnTo>
                    <a:pt x="118" y="332"/>
                  </a:lnTo>
                  <a:lnTo>
                    <a:pt x="103" y="285"/>
                  </a:lnTo>
                  <a:lnTo>
                    <a:pt x="90" y="238"/>
                  </a:lnTo>
                  <a:lnTo>
                    <a:pt x="75" y="191"/>
                  </a:lnTo>
                  <a:lnTo>
                    <a:pt x="60" y="147"/>
                  </a:lnTo>
                  <a:lnTo>
                    <a:pt x="49" y="99"/>
                  </a:lnTo>
                  <a:lnTo>
                    <a:pt x="34" y="59"/>
                  </a:lnTo>
                  <a:lnTo>
                    <a:pt x="22" y="14"/>
                  </a:lnTo>
                </a:path>
              </a:pathLst>
            </a:cu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265">
              <a:extLst>
                <a:ext uri="{FF2B5EF4-FFF2-40B4-BE49-F238E27FC236}">
                  <a16:creationId xmlns:a16="http://schemas.microsoft.com/office/drawing/2014/main" id="{E40EC303-7969-4404-B9C7-62B40DE61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3497"/>
              <a:ext cx="297" cy="184"/>
            </a:xfrm>
            <a:custGeom>
              <a:avLst/>
              <a:gdLst>
                <a:gd name="T0" fmla="*/ 12 w 297"/>
                <a:gd name="T1" fmla="*/ 46 h 184"/>
                <a:gd name="T2" fmla="*/ 78 w 297"/>
                <a:gd name="T3" fmla="*/ 0 h 184"/>
                <a:gd name="T4" fmla="*/ 296 w 297"/>
                <a:gd name="T5" fmla="*/ 183 h 184"/>
                <a:gd name="T6" fmla="*/ 188 w 297"/>
                <a:gd name="T7" fmla="*/ 169 h 184"/>
                <a:gd name="T8" fmla="*/ 166 w 297"/>
                <a:gd name="T9" fmla="*/ 123 h 184"/>
                <a:gd name="T10" fmla="*/ 169 w 297"/>
                <a:gd name="T11" fmla="*/ 172 h 184"/>
                <a:gd name="T12" fmla="*/ 23 w 297"/>
                <a:gd name="T13" fmla="*/ 120 h 184"/>
                <a:gd name="T14" fmla="*/ 0 w 297"/>
                <a:gd name="T15" fmla="*/ 100 h 184"/>
                <a:gd name="T16" fmla="*/ 12 w 297"/>
                <a:gd name="T17" fmla="*/ 46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7"/>
                <a:gd name="T28" fmla="*/ 0 h 184"/>
                <a:gd name="T29" fmla="*/ 297 w 297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7" h="184">
                  <a:moveTo>
                    <a:pt x="12" y="46"/>
                  </a:moveTo>
                  <a:lnTo>
                    <a:pt x="78" y="0"/>
                  </a:lnTo>
                  <a:lnTo>
                    <a:pt x="296" y="183"/>
                  </a:lnTo>
                  <a:lnTo>
                    <a:pt x="188" y="169"/>
                  </a:lnTo>
                  <a:lnTo>
                    <a:pt x="166" y="123"/>
                  </a:lnTo>
                  <a:lnTo>
                    <a:pt x="169" y="172"/>
                  </a:lnTo>
                  <a:lnTo>
                    <a:pt x="23" y="120"/>
                  </a:lnTo>
                  <a:lnTo>
                    <a:pt x="0" y="100"/>
                  </a:lnTo>
                  <a:lnTo>
                    <a:pt x="12" y="4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266">
              <a:extLst>
                <a:ext uri="{FF2B5EF4-FFF2-40B4-BE49-F238E27FC236}">
                  <a16:creationId xmlns:a16="http://schemas.microsoft.com/office/drawing/2014/main" id="{D5139F41-429F-4020-9249-702761D8F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3520"/>
              <a:ext cx="197" cy="280"/>
            </a:xfrm>
            <a:custGeom>
              <a:avLst/>
              <a:gdLst>
                <a:gd name="T0" fmla="*/ 196 w 197"/>
                <a:gd name="T1" fmla="*/ 26 h 280"/>
                <a:gd name="T2" fmla="*/ 161 w 197"/>
                <a:gd name="T3" fmla="*/ 0 h 280"/>
                <a:gd name="T4" fmla="*/ 0 w 197"/>
                <a:gd name="T5" fmla="*/ 279 h 280"/>
                <a:gd name="T6" fmla="*/ 95 w 197"/>
                <a:gd name="T7" fmla="*/ 215 h 280"/>
                <a:gd name="T8" fmla="*/ 110 w 197"/>
                <a:gd name="T9" fmla="*/ 158 h 280"/>
                <a:gd name="T10" fmla="*/ 115 w 197"/>
                <a:gd name="T11" fmla="*/ 207 h 280"/>
                <a:gd name="T12" fmla="*/ 167 w 197"/>
                <a:gd name="T13" fmla="*/ 134 h 280"/>
                <a:gd name="T14" fmla="*/ 196 w 197"/>
                <a:gd name="T15" fmla="*/ 26 h 2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7"/>
                <a:gd name="T25" fmla="*/ 0 h 280"/>
                <a:gd name="T26" fmla="*/ 197 w 197"/>
                <a:gd name="T27" fmla="*/ 280 h 2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7" h="280">
                  <a:moveTo>
                    <a:pt x="196" y="26"/>
                  </a:moveTo>
                  <a:lnTo>
                    <a:pt x="161" y="0"/>
                  </a:lnTo>
                  <a:lnTo>
                    <a:pt x="0" y="279"/>
                  </a:lnTo>
                  <a:lnTo>
                    <a:pt x="95" y="215"/>
                  </a:lnTo>
                  <a:lnTo>
                    <a:pt x="110" y="158"/>
                  </a:lnTo>
                  <a:lnTo>
                    <a:pt x="115" y="207"/>
                  </a:lnTo>
                  <a:lnTo>
                    <a:pt x="167" y="134"/>
                  </a:lnTo>
                  <a:lnTo>
                    <a:pt x="196" y="2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267">
              <a:extLst>
                <a:ext uri="{FF2B5EF4-FFF2-40B4-BE49-F238E27FC236}">
                  <a16:creationId xmlns:a16="http://schemas.microsoft.com/office/drawing/2014/main" id="{14B40A2C-88CE-4AB2-8D71-4ED24A4F0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467"/>
              <a:ext cx="150" cy="369"/>
            </a:xfrm>
            <a:custGeom>
              <a:avLst/>
              <a:gdLst>
                <a:gd name="T0" fmla="*/ 109 w 150"/>
                <a:gd name="T1" fmla="*/ 0 h 369"/>
                <a:gd name="T2" fmla="*/ 149 w 150"/>
                <a:gd name="T3" fmla="*/ 76 h 369"/>
                <a:gd name="T4" fmla="*/ 140 w 150"/>
                <a:gd name="T5" fmla="*/ 131 h 369"/>
                <a:gd name="T6" fmla="*/ 106 w 150"/>
                <a:gd name="T7" fmla="*/ 208 h 369"/>
                <a:gd name="T8" fmla="*/ 91 w 150"/>
                <a:gd name="T9" fmla="*/ 160 h 369"/>
                <a:gd name="T10" fmla="*/ 100 w 150"/>
                <a:gd name="T11" fmla="*/ 224 h 369"/>
                <a:gd name="T12" fmla="*/ 23 w 150"/>
                <a:gd name="T13" fmla="*/ 368 h 369"/>
                <a:gd name="T14" fmla="*/ 0 w 150"/>
                <a:gd name="T15" fmla="*/ 269 h 369"/>
                <a:gd name="T16" fmla="*/ 63 w 150"/>
                <a:gd name="T17" fmla="*/ 49 h 369"/>
                <a:gd name="T18" fmla="*/ 109 w 150"/>
                <a:gd name="T19" fmla="*/ 0 h 3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0"/>
                <a:gd name="T31" fmla="*/ 0 h 369"/>
                <a:gd name="T32" fmla="*/ 150 w 150"/>
                <a:gd name="T33" fmla="*/ 369 h 3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0" h="369">
                  <a:moveTo>
                    <a:pt x="109" y="0"/>
                  </a:moveTo>
                  <a:lnTo>
                    <a:pt x="149" y="76"/>
                  </a:lnTo>
                  <a:lnTo>
                    <a:pt x="140" y="131"/>
                  </a:lnTo>
                  <a:lnTo>
                    <a:pt x="106" y="208"/>
                  </a:lnTo>
                  <a:lnTo>
                    <a:pt x="91" y="160"/>
                  </a:lnTo>
                  <a:lnTo>
                    <a:pt x="100" y="224"/>
                  </a:lnTo>
                  <a:lnTo>
                    <a:pt x="23" y="368"/>
                  </a:lnTo>
                  <a:lnTo>
                    <a:pt x="0" y="269"/>
                  </a:lnTo>
                  <a:lnTo>
                    <a:pt x="63" y="49"/>
                  </a:lnTo>
                  <a:lnTo>
                    <a:pt x="109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268">
              <a:extLst>
                <a:ext uri="{FF2B5EF4-FFF2-40B4-BE49-F238E27FC236}">
                  <a16:creationId xmlns:a16="http://schemas.microsoft.com/office/drawing/2014/main" id="{3D84324C-75A1-4E10-AC6A-FF33309B6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3618"/>
              <a:ext cx="126" cy="155"/>
            </a:xfrm>
            <a:custGeom>
              <a:avLst/>
              <a:gdLst>
                <a:gd name="T0" fmla="*/ 34 w 126"/>
                <a:gd name="T1" fmla="*/ 12 h 155"/>
                <a:gd name="T2" fmla="*/ 0 w 126"/>
                <a:gd name="T3" fmla="*/ 0 h 155"/>
                <a:gd name="T4" fmla="*/ 17 w 126"/>
                <a:gd name="T5" fmla="*/ 58 h 155"/>
                <a:gd name="T6" fmla="*/ 63 w 126"/>
                <a:gd name="T7" fmla="*/ 115 h 155"/>
                <a:gd name="T8" fmla="*/ 79 w 126"/>
                <a:gd name="T9" fmla="*/ 94 h 155"/>
                <a:gd name="T10" fmla="*/ 85 w 126"/>
                <a:gd name="T11" fmla="*/ 132 h 155"/>
                <a:gd name="T12" fmla="*/ 125 w 126"/>
                <a:gd name="T13" fmla="*/ 154 h 155"/>
                <a:gd name="T14" fmla="*/ 91 w 126"/>
                <a:gd name="T15" fmla="*/ 38 h 155"/>
                <a:gd name="T16" fmla="*/ 34 w 126"/>
                <a:gd name="T17" fmla="*/ 12 h 1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6"/>
                <a:gd name="T28" fmla="*/ 0 h 155"/>
                <a:gd name="T29" fmla="*/ 126 w 126"/>
                <a:gd name="T30" fmla="*/ 155 h 1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6" h="155">
                  <a:moveTo>
                    <a:pt x="34" y="12"/>
                  </a:moveTo>
                  <a:lnTo>
                    <a:pt x="0" y="0"/>
                  </a:lnTo>
                  <a:lnTo>
                    <a:pt x="17" y="58"/>
                  </a:lnTo>
                  <a:lnTo>
                    <a:pt x="63" y="115"/>
                  </a:lnTo>
                  <a:lnTo>
                    <a:pt x="79" y="94"/>
                  </a:lnTo>
                  <a:lnTo>
                    <a:pt x="85" y="132"/>
                  </a:lnTo>
                  <a:lnTo>
                    <a:pt x="125" y="154"/>
                  </a:lnTo>
                  <a:lnTo>
                    <a:pt x="91" y="38"/>
                  </a:lnTo>
                  <a:lnTo>
                    <a:pt x="34" y="12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269">
              <a:extLst>
                <a:ext uri="{FF2B5EF4-FFF2-40B4-BE49-F238E27FC236}">
                  <a16:creationId xmlns:a16="http://schemas.microsoft.com/office/drawing/2014/main" id="{44985C1C-0FB0-4A88-9C5C-7B03A9C2E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600"/>
              <a:ext cx="42" cy="170"/>
            </a:xfrm>
            <a:custGeom>
              <a:avLst/>
              <a:gdLst>
                <a:gd name="T0" fmla="*/ 24 w 42"/>
                <a:gd name="T1" fmla="*/ 0 h 170"/>
                <a:gd name="T2" fmla="*/ 0 w 42"/>
                <a:gd name="T3" fmla="*/ 67 h 170"/>
                <a:gd name="T4" fmla="*/ 8 w 42"/>
                <a:gd name="T5" fmla="*/ 169 h 170"/>
                <a:gd name="T6" fmla="*/ 41 w 42"/>
                <a:gd name="T7" fmla="*/ 78 h 170"/>
                <a:gd name="T8" fmla="*/ 24 w 42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170"/>
                <a:gd name="T17" fmla="*/ 42 w 42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170">
                  <a:moveTo>
                    <a:pt x="24" y="0"/>
                  </a:moveTo>
                  <a:lnTo>
                    <a:pt x="0" y="67"/>
                  </a:lnTo>
                  <a:lnTo>
                    <a:pt x="8" y="169"/>
                  </a:lnTo>
                  <a:lnTo>
                    <a:pt x="41" y="78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4583" name="Picture 270">
            <a:extLst>
              <a:ext uri="{FF2B5EF4-FFF2-40B4-BE49-F238E27FC236}">
                <a16:creationId xmlns:a16="http://schemas.microsoft.com/office/drawing/2014/main" id="{EFEBE8BB-0E6B-48A0-88F3-F8273C3F685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5784850"/>
            <a:ext cx="720725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4" name="Line 271">
            <a:extLst>
              <a:ext uri="{FF2B5EF4-FFF2-40B4-BE49-F238E27FC236}">
                <a16:creationId xmlns:a16="http://schemas.microsoft.com/office/drawing/2014/main" id="{23D20D1B-8C83-4A20-B089-682148957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538" y="3536950"/>
            <a:ext cx="0" cy="603250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585" name="Group 272">
            <a:extLst>
              <a:ext uri="{FF2B5EF4-FFF2-40B4-BE49-F238E27FC236}">
                <a16:creationId xmlns:a16="http://schemas.microsoft.com/office/drawing/2014/main" id="{B7B797CE-94DB-4911-A162-EFB75C7D601B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251325"/>
            <a:ext cx="863600" cy="809625"/>
            <a:chOff x="966" y="2856"/>
            <a:chExt cx="571" cy="545"/>
          </a:xfrm>
        </p:grpSpPr>
        <p:sp>
          <p:nvSpPr>
            <p:cNvPr id="24609" name="Freeform 273">
              <a:extLst>
                <a:ext uri="{FF2B5EF4-FFF2-40B4-BE49-F238E27FC236}">
                  <a16:creationId xmlns:a16="http://schemas.microsoft.com/office/drawing/2014/main" id="{035BB6B8-6FE3-45B5-B999-7C5CF529E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957"/>
              <a:ext cx="371" cy="411"/>
            </a:xfrm>
            <a:custGeom>
              <a:avLst/>
              <a:gdLst>
                <a:gd name="T0" fmla="*/ 299 w 371"/>
                <a:gd name="T1" fmla="*/ 0 h 411"/>
                <a:gd name="T2" fmla="*/ 300 w 371"/>
                <a:gd name="T3" fmla="*/ 14 h 411"/>
                <a:gd name="T4" fmla="*/ 299 w 371"/>
                <a:gd name="T5" fmla="*/ 108 h 411"/>
                <a:gd name="T6" fmla="*/ 284 w 371"/>
                <a:gd name="T7" fmla="*/ 110 h 411"/>
                <a:gd name="T8" fmla="*/ 263 w 371"/>
                <a:gd name="T9" fmla="*/ 82 h 411"/>
                <a:gd name="T10" fmla="*/ 256 w 371"/>
                <a:gd name="T11" fmla="*/ 75 h 411"/>
                <a:gd name="T12" fmla="*/ 249 w 371"/>
                <a:gd name="T13" fmla="*/ 69 h 411"/>
                <a:gd name="T14" fmla="*/ 242 w 371"/>
                <a:gd name="T15" fmla="*/ 62 h 411"/>
                <a:gd name="T16" fmla="*/ 235 w 371"/>
                <a:gd name="T17" fmla="*/ 57 h 411"/>
                <a:gd name="T18" fmla="*/ 227 w 371"/>
                <a:gd name="T19" fmla="*/ 51 h 411"/>
                <a:gd name="T20" fmla="*/ 219 w 371"/>
                <a:gd name="T21" fmla="*/ 46 h 411"/>
                <a:gd name="T22" fmla="*/ 208 w 371"/>
                <a:gd name="T23" fmla="*/ 40 h 411"/>
                <a:gd name="T24" fmla="*/ 199 w 371"/>
                <a:gd name="T25" fmla="*/ 36 h 411"/>
                <a:gd name="T26" fmla="*/ 185 w 371"/>
                <a:gd name="T27" fmla="*/ 32 h 411"/>
                <a:gd name="T28" fmla="*/ 176 w 371"/>
                <a:gd name="T29" fmla="*/ 30 h 411"/>
                <a:gd name="T30" fmla="*/ 176 w 371"/>
                <a:gd name="T31" fmla="*/ 103 h 411"/>
                <a:gd name="T32" fmla="*/ 299 w 371"/>
                <a:gd name="T33" fmla="*/ 160 h 411"/>
                <a:gd name="T34" fmla="*/ 306 w 371"/>
                <a:gd name="T35" fmla="*/ 166 h 411"/>
                <a:gd name="T36" fmla="*/ 319 w 371"/>
                <a:gd name="T37" fmla="*/ 182 h 411"/>
                <a:gd name="T38" fmla="*/ 331 w 371"/>
                <a:gd name="T39" fmla="*/ 206 h 411"/>
                <a:gd name="T40" fmla="*/ 332 w 371"/>
                <a:gd name="T41" fmla="*/ 224 h 411"/>
                <a:gd name="T42" fmla="*/ 328 w 371"/>
                <a:gd name="T43" fmla="*/ 244 h 411"/>
                <a:gd name="T44" fmla="*/ 317 w 371"/>
                <a:gd name="T45" fmla="*/ 268 h 411"/>
                <a:gd name="T46" fmla="*/ 301 w 371"/>
                <a:gd name="T47" fmla="*/ 283 h 411"/>
                <a:gd name="T48" fmla="*/ 286 w 371"/>
                <a:gd name="T49" fmla="*/ 293 h 411"/>
                <a:gd name="T50" fmla="*/ 258 w 371"/>
                <a:gd name="T51" fmla="*/ 305 h 411"/>
                <a:gd name="T52" fmla="*/ 210 w 371"/>
                <a:gd name="T53" fmla="*/ 317 h 411"/>
                <a:gd name="T54" fmla="*/ 176 w 371"/>
                <a:gd name="T55" fmla="*/ 319 h 411"/>
                <a:gd name="T56" fmla="*/ 176 w 371"/>
                <a:gd name="T57" fmla="*/ 375 h 411"/>
                <a:gd name="T58" fmla="*/ 157 w 371"/>
                <a:gd name="T59" fmla="*/ 375 h 411"/>
                <a:gd name="T60" fmla="*/ 157 w 371"/>
                <a:gd name="T61" fmla="*/ 319 h 411"/>
                <a:gd name="T62" fmla="*/ 141 w 371"/>
                <a:gd name="T63" fmla="*/ 317 h 411"/>
                <a:gd name="T64" fmla="*/ 124 w 371"/>
                <a:gd name="T65" fmla="*/ 314 h 411"/>
                <a:gd name="T66" fmla="*/ 107 w 371"/>
                <a:gd name="T67" fmla="*/ 310 h 411"/>
                <a:gd name="T68" fmla="*/ 85 w 371"/>
                <a:gd name="T69" fmla="*/ 301 h 411"/>
                <a:gd name="T70" fmla="*/ 67 w 371"/>
                <a:gd name="T71" fmla="*/ 291 h 411"/>
                <a:gd name="T72" fmla="*/ 38 w 371"/>
                <a:gd name="T73" fmla="*/ 267 h 411"/>
                <a:gd name="T74" fmla="*/ 18 w 371"/>
                <a:gd name="T75" fmla="*/ 314 h 411"/>
                <a:gd name="T76" fmla="*/ 0 w 371"/>
                <a:gd name="T77" fmla="*/ 314 h 411"/>
                <a:gd name="T78" fmla="*/ 0 w 371"/>
                <a:gd name="T79" fmla="*/ 330 h 411"/>
                <a:gd name="T80" fmla="*/ 16 w 371"/>
                <a:gd name="T81" fmla="*/ 347 h 411"/>
                <a:gd name="T82" fmla="*/ 65 w 371"/>
                <a:gd name="T83" fmla="*/ 386 h 411"/>
                <a:gd name="T84" fmla="*/ 86 w 371"/>
                <a:gd name="T85" fmla="*/ 395 h 411"/>
                <a:gd name="T86" fmla="*/ 119 w 371"/>
                <a:gd name="T87" fmla="*/ 405 h 411"/>
                <a:gd name="T88" fmla="*/ 149 w 371"/>
                <a:gd name="T89" fmla="*/ 410 h 411"/>
                <a:gd name="T90" fmla="*/ 186 w 371"/>
                <a:gd name="T91" fmla="*/ 408 h 411"/>
                <a:gd name="T92" fmla="*/ 222 w 371"/>
                <a:gd name="T93" fmla="*/ 399 h 411"/>
                <a:gd name="T94" fmla="*/ 256 w 371"/>
                <a:gd name="T95" fmla="*/ 383 h 411"/>
                <a:gd name="T96" fmla="*/ 298 w 371"/>
                <a:gd name="T97" fmla="*/ 352 h 411"/>
                <a:gd name="T98" fmla="*/ 325 w 371"/>
                <a:gd name="T99" fmla="*/ 321 h 411"/>
                <a:gd name="T100" fmla="*/ 336 w 371"/>
                <a:gd name="T101" fmla="*/ 303 h 411"/>
                <a:gd name="T102" fmla="*/ 347 w 371"/>
                <a:gd name="T103" fmla="*/ 281 h 411"/>
                <a:gd name="T104" fmla="*/ 355 w 371"/>
                <a:gd name="T105" fmla="*/ 263 h 411"/>
                <a:gd name="T106" fmla="*/ 365 w 371"/>
                <a:gd name="T107" fmla="*/ 224 h 411"/>
                <a:gd name="T108" fmla="*/ 369 w 371"/>
                <a:gd name="T109" fmla="*/ 205 h 411"/>
                <a:gd name="T110" fmla="*/ 370 w 371"/>
                <a:gd name="T111" fmla="*/ 180 h 411"/>
                <a:gd name="T112" fmla="*/ 368 w 371"/>
                <a:gd name="T113" fmla="*/ 136 h 411"/>
                <a:gd name="T114" fmla="*/ 363 w 371"/>
                <a:gd name="T115" fmla="*/ 111 h 411"/>
                <a:gd name="T116" fmla="*/ 358 w 371"/>
                <a:gd name="T117" fmla="*/ 94 h 411"/>
                <a:gd name="T118" fmla="*/ 346 w 371"/>
                <a:gd name="T119" fmla="*/ 64 h 411"/>
                <a:gd name="T120" fmla="*/ 337 w 371"/>
                <a:gd name="T121" fmla="*/ 49 h 411"/>
                <a:gd name="T122" fmla="*/ 322 w 371"/>
                <a:gd name="T123" fmla="*/ 27 h 411"/>
                <a:gd name="T124" fmla="*/ 299 w 371"/>
                <a:gd name="T125" fmla="*/ 0 h 41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71"/>
                <a:gd name="T190" fmla="*/ 0 h 411"/>
                <a:gd name="T191" fmla="*/ 371 w 371"/>
                <a:gd name="T192" fmla="*/ 411 h 41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71" h="41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Freeform 274">
              <a:extLst>
                <a:ext uri="{FF2B5EF4-FFF2-40B4-BE49-F238E27FC236}">
                  <a16:creationId xmlns:a16="http://schemas.microsoft.com/office/drawing/2014/main" id="{BC603319-2335-4718-A7D9-D805BE2E5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878"/>
              <a:ext cx="232" cy="504"/>
            </a:xfrm>
            <a:custGeom>
              <a:avLst/>
              <a:gdLst>
                <a:gd name="T0" fmla="*/ 231 w 232"/>
                <a:gd name="T1" fmla="*/ 0 h 504"/>
                <a:gd name="T2" fmla="*/ 45 w 232"/>
                <a:gd name="T3" fmla="*/ 0 h 504"/>
                <a:gd name="T4" fmla="*/ 63 w 232"/>
                <a:gd name="T5" fmla="*/ 14 h 504"/>
                <a:gd name="T6" fmla="*/ 71 w 232"/>
                <a:gd name="T7" fmla="*/ 36 h 504"/>
                <a:gd name="T8" fmla="*/ 71 w 232"/>
                <a:gd name="T9" fmla="*/ 60 h 504"/>
                <a:gd name="T10" fmla="*/ 47 w 232"/>
                <a:gd name="T11" fmla="*/ 97 h 504"/>
                <a:gd name="T12" fmla="*/ 29 w 232"/>
                <a:gd name="T13" fmla="*/ 126 h 504"/>
                <a:gd name="T14" fmla="*/ 13 w 232"/>
                <a:gd name="T15" fmla="*/ 166 h 504"/>
                <a:gd name="T16" fmla="*/ 5 w 232"/>
                <a:gd name="T17" fmla="*/ 207 h 504"/>
                <a:gd name="T18" fmla="*/ 1 w 232"/>
                <a:gd name="T19" fmla="*/ 237 h 504"/>
                <a:gd name="T20" fmla="*/ 0 w 232"/>
                <a:gd name="T21" fmla="*/ 261 h 504"/>
                <a:gd name="T22" fmla="*/ 2 w 232"/>
                <a:gd name="T23" fmla="*/ 294 h 504"/>
                <a:gd name="T24" fmla="*/ 5 w 232"/>
                <a:gd name="T25" fmla="*/ 308 h 504"/>
                <a:gd name="T26" fmla="*/ 9 w 232"/>
                <a:gd name="T27" fmla="*/ 329 h 504"/>
                <a:gd name="T28" fmla="*/ 16 w 232"/>
                <a:gd name="T29" fmla="*/ 349 h 504"/>
                <a:gd name="T30" fmla="*/ 23 w 232"/>
                <a:gd name="T31" fmla="*/ 367 h 504"/>
                <a:gd name="T32" fmla="*/ 31 w 232"/>
                <a:gd name="T33" fmla="*/ 382 h 504"/>
                <a:gd name="T34" fmla="*/ 39 w 232"/>
                <a:gd name="T35" fmla="*/ 396 h 504"/>
                <a:gd name="T36" fmla="*/ 49 w 232"/>
                <a:gd name="T37" fmla="*/ 410 h 504"/>
                <a:gd name="T38" fmla="*/ 65 w 232"/>
                <a:gd name="T39" fmla="*/ 429 h 504"/>
                <a:gd name="T40" fmla="*/ 83 w 232"/>
                <a:gd name="T41" fmla="*/ 447 h 504"/>
                <a:gd name="T42" fmla="*/ 102 w 232"/>
                <a:gd name="T43" fmla="*/ 462 h 504"/>
                <a:gd name="T44" fmla="*/ 120 w 232"/>
                <a:gd name="T45" fmla="*/ 476 h 504"/>
                <a:gd name="T46" fmla="*/ 115 w 232"/>
                <a:gd name="T47" fmla="*/ 503 h 504"/>
                <a:gd name="T48" fmla="*/ 223 w 232"/>
                <a:gd name="T49" fmla="*/ 503 h 504"/>
                <a:gd name="T50" fmla="*/ 223 w 232"/>
                <a:gd name="T51" fmla="*/ 490 h 504"/>
                <a:gd name="T52" fmla="*/ 193 w 232"/>
                <a:gd name="T53" fmla="*/ 485 h 504"/>
                <a:gd name="T54" fmla="*/ 160 w 232"/>
                <a:gd name="T55" fmla="*/ 475 h 504"/>
                <a:gd name="T56" fmla="*/ 139 w 232"/>
                <a:gd name="T57" fmla="*/ 465 h 504"/>
                <a:gd name="T58" fmla="*/ 90 w 232"/>
                <a:gd name="T59" fmla="*/ 427 h 504"/>
                <a:gd name="T60" fmla="*/ 74 w 232"/>
                <a:gd name="T61" fmla="*/ 410 h 504"/>
                <a:gd name="T62" fmla="*/ 54 w 232"/>
                <a:gd name="T63" fmla="*/ 378 h 504"/>
                <a:gd name="T64" fmla="*/ 45 w 232"/>
                <a:gd name="T65" fmla="*/ 361 h 504"/>
                <a:gd name="T66" fmla="*/ 38 w 232"/>
                <a:gd name="T67" fmla="*/ 343 h 504"/>
                <a:gd name="T68" fmla="*/ 32 w 232"/>
                <a:gd name="T69" fmla="*/ 326 h 504"/>
                <a:gd name="T70" fmla="*/ 28 w 232"/>
                <a:gd name="T71" fmla="*/ 310 h 504"/>
                <a:gd name="T72" fmla="*/ 25 w 232"/>
                <a:gd name="T73" fmla="*/ 293 h 504"/>
                <a:gd name="T74" fmla="*/ 22 w 232"/>
                <a:gd name="T75" fmla="*/ 263 h 504"/>
                <a:gd name="T76" fmla="*/ 23 w 232"/>
                <a:gd name="T77" fmla="*/ 228 h 504"/>
                <a:gd name="T78" fmla="*/ 28 w 232"/>
                <a:gd name="T79" fmla="*/ 197 h 504"/>
                <a:gd name="T80" fmla="*/ 36 w 232"/>
                <a:gd name="T81" fmla="*/ 167 h 504"/>
                <a:gd name="T82" fmla="*/ 41 w 232"/>
                <a:gd name="T83" fmla="*/ 154 h 504"/>
                <a:gd name="T84" fmla="*/ 52 w 232"/>
                <a:gd name="T85" fmla="*/ 130 h 504"/>
                <a:gd name="T86" fmla="*/ 70 w 232"/>
                <a:gd name="T87" fmla="*/ 105 h 504"/>
                <a:gd name="T88" fmla="*/ 86 w 232"/>
                <a:gd name="T89" fmla="*/ 84 h 504"/>
                <a:gd name="T90" fmla="*/ 122 w 232"/>
                <a:gd name="T91" fmla="*/ 52 h 504"/>
                <a:gd name="T92" fmla="*/ 153 w 232"/>
                <a:gd name="T93" fmla="*/ 34 h 504"/>
                <a:gd name="T94" fmla="*/ 186 w 232"/>
                <a:gd name="T95" fmla="*/ 23 h 504"/>
                <a:gd name="T96" fmla="*/ 231 w 232"/>
                <a:gd name="T97" fmla="*/ 16 h 504"/>
                <a:gd name="T98" fmla="*/ 231 w 232"/>
                <a:gd name="T99" fmla="*/ 0 h 5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2"/>
                <a:gd name="T151" fmla="*/ 0 h 504"/>
                <a:gd name="T152" fmla="*/ 232 w 232"/>
                <a:gd name="T153" fmla="*/ 504 h 50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2" h="504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A9A56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275">
              <a:extLst>
                <a:ext uri="{FF2B5EF4-FFF2-40B4-BE49-F238E27FC236}">
                  <a16:creationId xmlns:a16="http://schemas.microsoft.com/office/drawing/2014/main" id="{EC4E66E9-3B3E-42E0-BD0A-5268371AF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878"/>
              <a:ext cx="244" cy="504"/>
            </a:xfrm>
            <a:custGeom>
              <a:avLst/>
              <a:gdLst>
                <a:gd name="T0" fmla="*/ 8 w 244"/>
                <a:gd name="T1" fmla="*/ 0 h 504"/>
                <a:gd name="T2" fmla="*/ 8 w 244"/>
                <a:gd name="T3" fmla="*/ 16 h 504"/>
                <a:gd name="T4" fmla="*/ 29 w 244"/>
                <a:gd name="T5" fmla="*/ 18 h 504"/>
                <a:gd name="T6" fmla="*/ 64 w 244"/>
                <a:gd name="T7" fmla="*/ 25 h 504"/>
                <a:gd name="T8" fmla="*/ 90 w 244"/>
                <a:gd name="T9" fmla="*/ 36 h 504"/>
                <a:gd name="T10" fmla="*/ 111 w 244"/>
                <a:gd name="T11" fmla="*/ 47 h 504"/>
                <a:gd name="T12" fmla="*/ 129 w 244"/>
                <a:gd name="T13" fmla="*/ 60 h 504"/>
                <a:gd name="T14" fmla="*/ 145 w 244"/>
                <a:gd name="T15" fmla="*/ 72 h 504"/>
                <a:gd name="T16" fmla="*/ 151 w 244"/>
                <a:gd name="T17" fmla="*/ 78 h 504"/>
                <a:gd name="T18" fmla="*/ 173 w 244"/>
                <a:gd name="T19" fmla="*/ 106 h 504"/>
                <a:gd name="T20" fmla="*/ 188 w 244"/>
                <a:gd name="T21" fmla="*/ 128 h 504"/>
                <a:gd name="T22" fmla="*/ 197 w 244"/>
                <a:gd name="T23" fmla="*/ 143 h 504"/>
                <a:gd name="T24" fmla="*/ 209 w 244"/>
                <a:gd name="T25" fmla="*/ 172 h 504"/>
                <a:gd name="T26" fmla="*/ 214 w 244"/>
                <a:gd name="T27" fmla="*/ 190 h 504"/>
                <a:gd name="T28" fmla="*/ 219 w 244"/>
                <a:gd name="T29" fmla="*/ 215 h 504"/>
                <a:gd name="T30" fmla="*/ 221 w 244"/>
                <a:gd name="T31" fmla="*/ 259 h 504"/>
                <a:gd name="T32" fmla="*/ 220 w 244"/>
                <a:gd name="T33" fmla="*/ 284 h 504"/>
                <a:gd name="T34" fmla="*/ 216 w 244"/>
                <a:gd name="T35" fmla="*/ 303 h 504"/>
                <a:gd name="T36" fmla="*/ 206 w 244"/>
                <a:gd name="T37" fmla="*/ 342 h 504"/>
                <a:gd name="T38" fmla="*/ 199 w 244"/>
                <a:gd name="T39" fmla="*/ 360 h 504"/>
                <a:gd name="T40" fmla="*/ 187 w 244"/>
                <a:gd name="T41" fmla="*/ 382 h 504"/>
                <a:gd name="T42" fmla="*/ 176 w 244"/>
                <a:gd name="T43" fmla="*/ 400 h 504"/>
                <a:gd name="T44" fmla="*/ 149 w 244"/>
                <a:gd name="T45" fmla="*/ 432 h 504"/>
                <a:gd name="T46" fmla="*/ 108 w 244"/>
                <a:gd name="T47" fmla="*/ 462 h 504"/>
                <a:gd name="T48" fmla="*/ 74 w 244"/>
                <a:gd name="T49" fmla="*/ 479 h 504"/>
                <a:gd name="T50" fmla="*/ 37 w 244"/>
                <a:gd name="T51" fmla="*/ 488 h 504"/>
                <a:gd name="T52" fmla="*/ 0 w 244"/>
                <a:gd name="T53" fmla="*/ 490 h 504"/>
                <a:gd name="T54" fmla="*/ 0 w 244"/>
                <a:gd name="T55" fmla="*/ 503 h 504"/>
                <a:gd name="T56" fmla="*/ 137 w 244"/>
                <a:gd name="T57" fmla="*/ 503 h 504"/>
                <a:gd name="T58" fmla="*/ 132 w 244"/>
                <a:gd name="T59" fmla="*/ 483 h 504"/>
                <a:gd name="T60" fmla="*/ 152 w 244"/>
                <a:gd name="T61" fmla="*/ 467 h 504"/>
                <a:gd name="T62" fmla="*/ 164 w 244"/>
                <a:gd name="T63" fmla="*/ 455 h 504"/>
                <a:gd name="T64" fmla="*/ 183 w 244"/>
                <a:gd name="T65" fmla="*/ 436 h 504"/>
                <a:gd name="T66" fmla="*/ 206 w 244"/>
                <a:gd name="T67" fmla="*/ 404 h 504"/>
                <a:gd name="T68" fmla="*/ 219 w 244"/>
                <a:gd name="T69" fmla="*/ 380 h 504"/>
                <a:gd name="T70" fmla="*/ 228 w 244"/>
                <a:gd name="T71" fmla="*/ 354 h 504"/>
                <a:gd name="T72" fmla="*/ 239 w 244"/>
                <a:gd name="T73" fmla="*/ 314 h 504"/>
                <a:gd name="T74" fmla="*/ 243 w 244"/>
                <a:gd name="T75" fmla="*/ 268 h 504"/>
                <a:gd name="T76" fmla="*/ 243 w 244"/>
                <a:gd name="T77" fmla="*/ 226 h 504"/>
                <a:gd name="T78" fmla="*/ 239 w 244"/>
                <a:gd name="T79" fmla="*/ 198 h 504"/>
                <a:gd name="T80" fmla="*/ 235 w 244"/>
                <a:gd name="T81" fmla="*/ 176 h 504"/>
                <a:gd name="T82" fmla="*/ 229 w 244"/>
                <a:gd name="T83" fmla="*/ 158 h 504"/>
                <a:gd name="T84" fmla="*/ 221 w 244"/>
                <a:gd name="T85" fmla="*/ 138 h 504"/>
                <a:gd name="T86" fmla="*/ 205 w 244"/>
                <a:gd name="T87" fmla="*/ 104 h 504"/>
                <a:gd name="T88" fmla="*/ 197 w 244"/>
                <a:gd name="T89" fmla="*/ 91 h 504"/>
                <a:gd name="T90" fmla="*/ 188 w 244"/>
                <a:gd name="T91" fmla="*/ 76 h 504"/>
                <a:gd name="T92" fmla="*/ 182 w 244"/>
                <a:gd name="T93" fmla="*/ 67 h 504"/>
                <a:gd name="T94" fmla="*/ 178 w 244"/>
                <a:gd name="T95" fmla="*/ 60 h 504"/>
                <a:gd name="T96" fmla="*/ 172 w 244"/>
                <a:gd name="T97" fmla="*/ 46 h 504"/>
                <a:gd name="T98" fmla="*/ 172 w 244"/>
                <a:gd name="T99" fmla="*/ 32 h 504"/>
                <a:gd name="T100" fmla="*/ 175 w 244"/>
                <a:gd name="T101" fmla="*/ 20 h 504"/>
                <a:gd name="T102" fmla="*/ 180 w 244"/>
                <a:gd name="T103" fmla="*/ 10 h 504"/>
                <a:gd name="T104" fmla="*/ 186 w 244"/>
                <a:gd name="T105" fmla="*/ 4 h 504"/>
                <a:gd name="T106" fmla="*/ 193 w 244"/>
                <a:gd name="T107" fmla="*/ 0 h 504"/>
                <a:gd name="T108" fmla="*/ 8 w 244"/>
                <a:gd name="T109" fmla="*/ 0 h 50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44"/>
                <a:gd name="T166" fmla="*/ 0 h 504"/>
                <a:gd name="T167" fmla="*/ 244 w 244"/>
                <a:gd name="T168" fmla="*/ 504 h 50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44" h="50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A9A56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276">
              <a:extLst>
                <a:ext uri="{FF2B5EF4-FFF2-40B4-BE49-F238E27FC236}">
                  <a16:creationId xmlns:a16="http://schemas.microsoft.com/office/drawing/2014/main" id="{3D720C01-FAD5-4449-9B7A-29681CF52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2894"/>
              <a:ext cx="352" cy="393"/>
            </a:xfrm>
            <a:custGeom>
              <a:avLst/>
              <a:gdLst>
                <a:gd name="T0" fmla="*/ 164 w 352"/>
                <a:gd name="T1" fmla="*/ 7 h 393"/>
                <a:gd name="T2" fmla="*/ 100 w 352"/>
                <a:gd name="T3" fmla="*/ 36 h 393"/>
                <a:gd name="T4" fmla="*/ 47 w 352"/>
                <a:gd name="T5" fmla="*/ 88 h 393"/>
                <a:gd name="T6" fmla="*/ 19 w 352"/>
                <a:gd name="T7" fmla="*/ 138 h 393"/>
                <a:gd name="T8" fmla="*/ 6 w 352"/>
                <a:gd name="T9" fmla="*/ 180 h 393"/>
                <a:gd name="T10" fmla="*/ 0 w 352"/>
                <a:gd name="T11" fmla="*/ 246 h 393"/>
                <a:gd name="T12" fmla="*/ 6 w 352"/>
                <a:gd name="T13" fmla="*/ 292 h 393"/>
                <a:gd name="T14" fmla="*/ 16 w 352"/>
                <a:gd name="T15" fmla="*/ 325 h 393"/>
                <a:gd name="T16" fmla="*/ 32 w 352"/>
                <a:gd name="T17" fmla="*/ 360 h 393"/>
                <a:gd name="T18" fmla="*/ 52 w 352"/>
                <a:gd name="T19" fmla="*/ 376 h 393"/>
                <a:gd name="T20" fmla="*/ 70 w 352"/>
                <a:gd name="T21" fmla="*/ 278 h 393"/>
                <a:gd name="T22" fmla="*/ 91 w 352"/>
                <a:gd name="T23" fmla="*/ 306 h 393"/>
                <a:gd name="T24" fmla="*/ 117 w 352"/>
                <a:gd name="T25" fmla="*/ 331 h 393"/>
                <a:gd name="T26" fmla="*/ 155 w 352"/>
                <a:gd name="T27" fmla="*/ 353 h 393"/>
                <a:gd name="T28" fmla="*/ 190 w 352"/>
                <a:gd name="T29" fmla="*/ 365 h 393"/>
                <a:gd name="T30" fmla="*/ 208 w 352"/>
                <a:gd name="T31" fmla="*/ 295 h 393"/>
                <a:gd name="T32" fmla="*/ 110 w 352"/>
                <a:gd name="T33" fmla="*/ 251 h 393"/>
                <a:gd name="T34" fmla="*/ 77 w 352"/>
                <a:gd name="T35" fmla="*/ 225 h 393"/>
                <a:gd name="T36" fmla="*/ 56 w 352"/>
                <a:gd name="T37" fmla="*/ 182 h 393"/>
                <a:gd name="T38" fmla="*/ 60 w 352"/>
                <a:gd name="T39" fmla="*/ 143 h 393"/>
                <a:gd name="T40" fmla="*/ 88 w 352"/>
                <a:gd name="T41" fmla="*/ 108 h 393"/>
                <a:gd name="T42" fmla="*/ 143 w 352"/>
                <a:gd name="T43" fmla="*/ 83 h 393"/>
                <a:gd name="T44" fmla="*/ 190 w 352"/>
                <a:gd name="T45" fmla="*/ 78 h 393"/>
                <a:gd name="T46" fmla="*/ 208 w 352"/>
                <a:gd name="T47" fmla="*/ 35 h 393"/>
                <a:gd name="T48" fmla="*/ 227 w 352"/>
                <a:gd name="T49" fmla="*/ 80 h 393"/>
                <a:gd name="T50" fmla="*/ 248 w 352"/>
                <a:gd name="T51" fmla="*/ 84 h 393"/>
                <a:gd name="T52" fmla="*/ 273 w 352"/>
                <a:gd name="T53" fmla="*/ 92 h 393"/>
                <a:gd name="T54" fmla="*/ 308 w 352"/>
                <a:gd name="T55" fmla="*/ 114 h 393"/>
                <a:gd name="T56" fmla="*/ 335 w 352"/>
                <a:gd name="T57" fmla="*/ 74 h 393"/>
                <a:gd name="T58" fmla="*/ 351 w 352"/>
                <a:gd name="T59" fmla="*/ 62 h 393"/>
                <a:gd name="T60" fmla="*/ 329 w 352"/>
                <a:gd name="T61" fmla="*/ 43 h 393"/>
                <a:gd name="T62" fmla="*/ 290 w 352"/>
                <a:gd name="T63" fmla="*/ 20 h 393"/>
                <a:gd name="T64" fmla="*/ 229 w 352"/>
                <a:gd name="T65" fmla="*/ 2 h 3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2"/>
                <a:gd name="T100" fmla="*/ 0 h 393"/>
                <a:gd name="T101" fmla="*/ 352 w 352"/>
                <a:gd name="T102" fmla="*/ 393 h 39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2" h="393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Freeform 277">
              <a:extLst>
                <a:ext uri="{FF2B5EF4-FFF2-40B4-BE49-F238E27FC236}">
                  <a16:creationId xmlns:a16="http://schemas.microsoft.com/office/drawing/2014/main" id="{C3D14A1C-9A51-4B5B-8E51-5FB36B3B8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3385"/>
              <a:ext cx="298" cy="16"/>
            </a:xfrm>
            <a:custGeom>
              <a:avLst/>
              <a:gdLst>
                <a:gd name="T0" fmla="*/ 297 w 298"/>
                <a:gd name="T1" fmla="*/ 15 h 16"/>
                <a:gd name="T2" fmla="*/ 274 w 298"/>
                <a:gd name="T3" fmla="*/ 0 h 16"/>
                <a:gd name="T4" fmla="*/ 19 w 298"/>
                <a:gd name="T5" fmla="*/ 0 h 16"/>
                <a:gd name="T6" fmla="*/ 0 w 298"/>
                <a:gd name="T7" fmla="*/ 15 h 16"/>
                <a:gd name="T8" fmla="*/ 297 w 298"/>
                <a:gd name="T9" fmla="*/ 15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"/>
                <a:gd name="T16" fmla="*/ 0 h 16"/>
                <a:gd name="T17" fmla="*/ 298 w 29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" h="16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278">
              <a:extLst>
                <a:ext uri="{FF2B5EF4-FFF2-40B4-BE49-F238E27FC236}">
                  <a16:creationId xmlns:a16="http://schemas.microsoft.com/office/drawing/2014/main" id="{8B89124B-1A8B-4AA7-A480-EE8C3834A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972"/>
              <a:ext cx="153" cy="217"/>
            </a:xfrm>
            <a:custGeom>
              <a:avLst/>
              <a:gdLst>
                <a:gd name="T0" fmla="*/ 152 w 153"/>
                <a:gd name="T1" fmla="*/ 216 h 217"/>
                <a:gd name="T2" fmla="*/ 152 w 153"/>
                <a:gd name="T3" fmla="*/ 77 h 217"/>
                <a:gd name="T4" fmla="*/ 121 w 153"/>
                <a:gd name="T5" fmla="*/ 68 h 217"/>
                <a:gd name="T6" fmla="*/ 100 w 153"/>
                <a:gd name="T7" fmla="*/ 56 h 217"/>
                <a:gd name="T8" fmla="*/ 91 w 153"/>
                <a:gd name="T9" fmla="*/ 46 h 217"/>
                <a:gd name="T10" fmla="*/ 90 w 153"/>
                <a:gd name="T11" fmla="*/ 39 h 217"/>
                <a:gd name="T12" fmla="*/ 90 w 153"/>
                <a:gd name="T13" fmla="*/ 34 h 217"/>
                <a:gd name="T14" fmla="*/ 95 w 153"/>
                <a:gd name="T15" fmla="*/ 27 h 217"/>
                <a:gd name="T16" fmla="*/ 105 w 153"/>
                <a:gd name="T17" fmla="*/ 19 h 217"/>
                <a:gd name="T18" fmla="*/ 129 w 153"/>
                <a:gd name="T19" fmla="*/ 13 h 217"/>
                <a:gd name="T20" fmla="*/ 152 w 153"/>
                <a:gd name="T21" fmla="*/ 11 h 217"/>
                <a:gd name="T22" fmla="*/ 152 w 153"/>
                <a:gd name="T23" fmla="*/ 0 h 217"/>
                <a:gd name="T24" fmla="*/ 133 w 153"/>
                <a:gd name="T25" fmla="*/ 0 h 217"/>
                <a:gd name="T26" fmla="*/ 102 w 153"/>
                <a:gd name="T27" fmla="*/ 2 h 217"/>
                <a:gd name="T28" fmla="*/ 87 w 153"/>
                <a:gd name="T29" fmla="*/ 5 h 217"/>
                <a:gd name="T30" fmla="*/ 57 w 153"/>
                <a:gd name="T31" fmla="*/ 16 h 217"/>
                <a:gd name="T32" fmla="*/ 32 w 153"/>
                <a:gd name="T33" fmla="*/ 30 h 217"/>
                <a:gd name="T34" fmla="*/ 17 w 153"/>
                <a:gd name="T35" fmla="*/ 43 h 217"/>
                <a:gd name="T36" fmla="*/ 4 w 153"/>
                <a:gd name="T37" fmla="*/ 65 h 217"/>
                <a:gd name="T38" fmla="*/ 0 w 153"/>
                <a:gd name="T39" fmla="*/ 89 h 217"/>
                <a:gd name="T40" fmla="*/ 0 w 153"/>
                <a:gd name="T41" fmla="*/ 103 h 217"/>
                <a:gd name="T42" fmla="*/ 7 w 153"/>
                <a:gd name="T43" fmla="*/ 125 h 217"/>
                <a:gd name="T44" fmla="*/ 22 w 153"/>
                <a:gd name="T45" fmla="*/ 146 h 217"/>
                <a:gd name="T46" fmla="*/ 38 w 153"/>
                <a:gd name="T47" fmla="*/ 160 h 217"/>
                <a:gd name="T48" fmla="*/ 54 w 153"/>
                <a:gd name="T49" fmla="*/ 173 h 217"/>
                <a:gd name="T50" fmla="*/ 141 w 153"/>
                <a:gd name="T51" fmla="*/ 212 h 217"/>
                <a:gd name="T52" fmla="*/ 152 w 153"/>
                <a:gd name="T53" fmla="*/ 216 h 2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217"/>
                <a:gd name="T83" fmla="*/ 153 w 153"/>
                <a:gd name="T84" fmla="*/ 217 h 2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217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279">
              <a:extLst>
                <a:ext uri="{FF2B5EF4-FFF2-40B4-BE49-F238E27FC236}">
                  <a16:creationId xmlns:a16="http://schemas.microsoft.com/office/drawing/2014/main" id="{8EF9A056-FEF9-4D95-B934-7247D7034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2969"/>
              <a:ext cx="124" cy="96"/>
            </a:xfrm>
            <a:custGeom>
              <a:avLst/>
              <a:gdLst>
                <a:gd name="T0" fmla="*/ 0 w 124"/>
                <a:gd name="T1" fmla="*/ 6 h 96"/>
                <a:gd name="T2" fmla="*/ 0 w 124"/>
                <a:gd name="T3" fmla="*/ 18 h 96"/>
                <a:gd name="T4" fmla="*/ 9 w 124"/>
                <a:gd name="T5" fmla="*/ 19 h 96"/>
                <a:gd name="T6" fmla="*/ 23 w 124"/>
                <a:gd name="T7" fmla="*/ 23 h 96"/>
                <a:gd name="T8" fmla="*/ 32 w 124"/>
                <a:gd name="T9" fmla="*/ 27 h 96"/>
                <a:gd name="T10" fmla="*/ 43 w 124"/>
                <a:gd name="T11" fmla="*/ 33 h 96"/>
                <a:gd name="T12" fmla="*/ 51 w 124"/>
                <a:gd name="T13" fmla="*/ 38 h 96"/>
                <a:gd name="T14" fmla="*/ 59 w 124"/>
                <a:gd name="T15" fmla="*/ 43 h 96"/>
                <a:gd name="T16" fmla="*/ 66 w 124"/>
                <a:gd name="T17" fmla="*/ 48 h 96"/>
                <a:gd name="T18" fmla="*/ 73 w 124"/>
                <a:gd name="T19" fmla="*/ 55 h 96"/>
                <a:gd name="T20" fmla="*/ 79 w 124"/>
                <a:gd name="T21" fmla="*/ 61 h 96"/>
                <a:gd name="T22" fmla="*/ 87 w 124"/>
                <a:gd name="T23" fmla="*/ 68 h 96"/>
                <a:gd name="T24" fmla="*/ 107 w 124"/>
                <a:gd name="T25" fmla="*/ 95 h 96"/>
                <a:gd name="T26" fmla="*/ 123 w 124"/>
                <a:gd name="T27" fmla="*/ 93 h 96"/>
                <a:gd name="T28" fmla="*/ 123 w 124"/>
                <a:gd name="T29" fmla="*/ 1 h 96"/>
                <a:gd name="T30" fmla="*/ 107 w 124"/>
                <a:gd name="T31" fmla="*/ 0 h 96"/>
                <a:gd name="T32" fmla="*/ 93 w 124"/>
                <a:gd name="T33" fmla="*/ 44 h 96"/>
                <a:gd name="T34" fmla="*/ 80 w 124"/>
                <a:gd name="T35" fmla="*/ 38 h 96"/>
                <a:gd name="T36" fmla="*/ 61 w 124"/>
                <a:gd name="T37" fmla="*/ 27 h 96"/>
                <a:gd name="T38" fmla="*/ 46 w 124"/>
                <a:gd name="T39" fmla="*/ 18 h 96"/>
                <a:gd name="T40" fmla="*/ 34 w 124"/>
                <a:gd name="T41" fmla="*/ 13 h 96"/>
                <a:gd name="T42" fmla="*/ 21 w 124"/>
                <a:gd name="T43" fmla="*/ 9 h 96"/>
                <a:gd name="T44" fmla="*/ 9 w 124"/>
                <a:gd name="T45" fmla="*/ 7 h 96"/>
                <a:gd name="T46" fmla="*/ 0 w 124"/>
                <a:gd name="T47" fmla="*/ 6 h 9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4"/>
                <a:gd name="T73" fmla="*/ 0 h 96"/>
                <a:gd name="T74" fmla="*/ 124 w 124"/>
                <a:gd name="T75" fmla="*/ 96 h 9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4" h="96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Freeform 280">
              <a:extLst>
                <a:ext uri="{FF2B5EF4-FFF2-40B4-BE49-F238E27FC236}">
                  <a16:creationId xmlns:a16="http://schemas.microsoft.com/office/drawing/2014/main" id="{A9EF8CAC-8030-492C-B491-1BCA2CB22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2984"/>
              <a:ext cx="63" cy="67"/>
            </a:xfrm>
            <a:custGeom>
              <a:avLst/>
              <a:gdLst>
                <a:gd name="T0" fmla="*/ 62 w 63"/>
                <a:gd name="T1" fmla="*/ 0 h 67"/>
                <a:gd name="T2" fmla="*/ 39 w 63"/>
                <a:gd name="T3" fmla="*/ 2 h 67"/>
                <a:gd name="T4" fmla="*/ 15 w 63"/>
                <a:gd name="T5" fmla="*/ 8 h 67"/>
                <a:gd name="T6" fmla="*/ 4 w 63"/>
                <a:gd name="T7" fmla="*/ 16 h 67"/>
                <a:gd name="T8" fmla="*/ 0 w 63"/>
                <a:gd name="T9" fmla="*/ 23 h 67"/>
                <a:gd name="T10" fmla="*/ 0 w 63"/>
                <a:gd name="T11" fmla="*/ 28 h 67"/>
                <a:gd name="T12" fmla="*/ 1 w 63"/>
                <a:gd name="T13" fmla="*/ 35 h 67"/>
                <a:gd name="T14" fmla="*/ 9 w 63"/>
                <a:gd name="T15" fmla="*/ 45 h 67"/>
                <a:gd name="T16" fmla="*/ 31 w 63"/>
                <a:gd name="T17" fmla="*/ 57 h 67"/>
                <a:gd name="T18" fmla="*/ 62 w 63"/>
                <a:gd name="T19" fmla="*/ 66 h 67"/>
                <a:gd name="T20" fmla="*/ 62 w 63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"/>
                <a:gd name="T34" fmla="*/ 0 h 67"/>
                <a:gd name="T35" fmla="*/ 63 w 63"/>
                <a:gd name="T36" fmla="*/ 67 h 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" h="67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Freeform 281">
              <a:extLst>
                <a:ext uri="{FF2B5EF4-FFF2-40B4-BE49-F238E27FC236}">
                  <a16:creationId xmlns:a16="http://schemas.microsoft.com/office/drawing/2014/main" id="{27B44426-6037-4B96-80DF-F424EC1F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197"/>
              <a:ext cx="55" cy="67"/>
            </a:xfrm>
            <a:custGeom>
              <a:avLst/>
              <a:gdLst>
                <a:gd name="T0" fmla="*/ 0 w 55"/>
                <a:gd name="T1" fmla="*/ 0 h 67"/>
                <a:gd name="T2" fmla="*/ 0 w 55"/>
                <a:gd name="T3" fmla="*/ 66 h 67"/>
                <a:gd name="T4" fmla="*/ 26 w 55"/>
                <a:gd name="T5" fmla="*/ 61 h 67"/>
                <a:gd name="T6" fmla="*/ 35 w 55"/>
                <a:gd name="T7" fmla="*/ 58 h 67"/>
                <a:gd name="T8" fmla="*/ 42 w 55"/>
                <a:gd name="T9" fmla="*/ 54 h 67"/>
                <a:gd name="T10" fmla="*/ 49 w 55"/>
                <a:gd name="T11" fmla="*/ 50 h 67"/>
                <a:gd name="T12" fmla="*/ 53 w 55"/>
                <a:gd name="T13" fmla="*/ 44 h 67"/>
                <a:gd name="T14" fmla="*/ 54 w 55"/>
                <a:gd name="T15" fmla="*/ 36 h 67"/>
                <a:gd name="T16" fmla="*/ 52 w 55"/>
                <a:gd name="T17" fmla="*/ 30 h 67"/>
                <a:gd name="T18" fmla="*/ 44 w 55"/>
                <a:gd name="T19" fmla="*/ 21 h 67"/>
                <a:gd name="T20" fmla="*/ 34 w 55"/>
                <a:gd name="T21" fmla="*/ 13 h 67"/>
                <a:gd name="T22" fmla="*/ 13 w 55"/>
                <a:gd name="T23" fmla="*/ 4 h 67"/>
                <a:gd name="T24" fmla="*/ 0 w 55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"/>
                <a:gd name="T40" fmla="*/ 0 h 67"/>
                <a:gd name="T41" fmla="*/ 55 w 55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" h="67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Freeform 282">
              <a:extLst>
                <a:ext uri="{FF2B5EF4-FFF2-40B4-BE49-F238E27FC236}">
                  <a16:creationId xmlns:a16="http://schemas.microsoft.com/office/drawing/2014/main" id="{F6208F70-DBE0-48E0-AB96-73E14E7D1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876"/>
              <a:ext cx="37" cy="15"/>
            </a:xfrm>
            <a:custGeom>
              <a:avLst/>
              <a:gdLst>
                <a:gd name="T0" fmla="*/ 36 w 37"/>
                <a:gd name="T1" fmla="*/ 0 h 15"/>
                <a:gd name="T2" fmla="*/ 9 w 37"/>
                <a:gd name="T3" fmla="*/ 14 h 15"/>
                <a:gd name="T4" fmla="*/ 0 w 37"/>
                <a:gd name="T5" fmla="*/ 12 h 15"/>
                <a:gd name="T6" fmla="*/ 0 w 37"/>
                <a:gd name="T7" fmla="*/ 0 h 15"/>
                <a:gd name="T8" fmla="*/ 36 w 37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5"/>
                <a:gd name="T17" fmla="*/ 37 w 37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5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283">
              <a:extLst>
                <a:ext uri="{FF2B5EF4-FFF2-40B4-BE49-F238E27FC236}">
                  <a16:creationId xmlns:a16="http://schemas.microsoft.com/office/drawing/2014/main" id="{D5E0D5D8-9D9D-448C-9B3B-3A2423FE1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877"/>
              <a:ext cx="35" cy="16"/>
            </a:xfrm>
            <a:custGeom>
              <a:avLst/>
              <a:gdLst>
                <a:gd name="T0" fmla="*/ 0 w 35"/>
                <a:gd name="T1" fmla="*/ 0 h 16"/>
                <a:gd name="T2" fmla="*/ 34 w 35"/>
                <a:gd name="T3" fmla="*/ 0 h 16"/>
                <a:gd name="T4" fmla="*/ 34 w 35"/>
                <a:gd name="T5" fmla="*/ 13 h 16"/>
                <a:gd name="T6" fmla="*/ 28 w 35"/>
                <a:gd name="T7" fmla="*/ 15 h 16"/>
                <a:gd name="T8" fmla="*/ 0 w 35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16"/>
                <a:gd name="T17" fmla="*/ 35 w 35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16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284">
              <a:extLst>
                <a:ext uri="{FF2B5EF4-FFF2-40B4-BE49-F238E27FC236}">
                  <a16:creationId xmlns:a16="http://schemas.microsoft.com/office/drawing/2014/main" id="{8C8C84A7-A3D0-4FC8-82C4-B9D8ED7D1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3381"/>
              <a:ext cx="256" cy="5"/>
            </a:xfrm>
            <a:custGeom>
              <a:avLst/>
              <a:gdLst>
                <a:gd name="T0" fmla="*/ 255 w 256"/>
                <a:gd name="T1" fmla="*/ 4 h 5"/>
                <a:gd name="T2" fmla="*/ 251 w 256"/>
                <a:gd name="T3" fmla="*/ 0 h 5"/>
                <a:gd name="T4" fmla="*/ 6 w 256"/>
                <a:gd name="T5" fmla="*/ 0 h 5"/>
                <a:gd name="T6" fmla="*/ 0 w 256"/>
                <a:gd name="T7" fmla="*/ 4 h 5"/>
                <a:gd name="T8" fmla="*/ 255 w 25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5"/>
                <a:gd name="T17" fmla="*/ 256 w 256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5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Freeform 285">
              <a:extLst>
                <a:ext uri="{FF2B5EF4-FFF2-40B4-BE49-F238E27FC236}">
                  <a16:creationId xmlns:a16="http://schemas.microsoft.com/office/drawing/2014/main" id="{39C1CDCB-6899-4799-80CB-038B98717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856"/>
              <a:ext cx="571" cy="545"/>
            </a:xfrm>
            <a:custGeom>
              <a:avLst/>
              <a:gdLst>
                <a:gd name="T0" fmla="*/ 430 w 571"/>
                <a:gd name="T1" fmla="*/ 520 h 545"/>
                <a:gd name="T2" fmla="*/ 488 w 571"/>
                <a:gd name="T3" fmla="*/ 452 h 545"/>
                <a:gd name="T4" fmla="*/ 515 w 571"/>
                <a:gd name="T5" fmla="*/ 399 h 545"/>
                <a:gd name="T6" fmla="*/ 536 w 571"/>
                <a:gd name="T7" fmla="*/ 311 h 545"/>
                <a:gd name="T8" fmla="*/ 531 w 571"/>
                <a:gd name="T9" fmla="*/ 206 h 545"/>
                <a:gd name="T10" fmla="*/ 488 w 571"/>
                <a:gd name="T11" fmla="*/ 103 h 545"/>
                <a:gd name="T12" fmla="*/ 470 w 571"/>
                <a:gd name="T13" fmla="*/ 66 h 545"/>
                <a:gd name="T14" fmla="*/ 481 w 571"/>
                <a:gd name="T15" fmla="*/ 41 h 545"/>
                <a:gd name="T16" fmla="*/ 548 w 571"/>
                <a:gd name="T17" fmla="*/ 61 h 545"/>
                <a:gd name="T18" fmla="*/ 570 w 571"/>
                <a:gd name="T19" fmla="*/ 0 h 545"/>
                <a:gd name="T20" fmla="*/ 0 w 571"/>
                <a:gd name="T21" fmla="*/ 50 h 545"/>
                <a:gd name="T22" fmla="*/ 59 w 571"/>
                <a:gd name="T23" fmla="*/ 41 h 545"/>
                <a:gd name="T24" fmla="*/ 83 w 571"/>
                <a:gd name="T25" fmla="*/ 39 h 545"/>
                <a:gd name="T26" fmla="*/ 98 w 571"/>
                <a:gd name="T27" fmla="*/ 58 h 545"/>
                <a:gd name="T28" fmla="*/ 85 w 571"/>
                <a:gd name="T29" fmla="*/ 98 h 545"/>
                <a:gd name="T30" fmla="*/ 59 w 571"/>
                <a:gd name="T31" fmla="*/ 143 h 545"/>
                <a:gd name="T32" fmla="*/ 40 w 571"/>
                <a:gd name="T33" fmla="*/ 206 h 545"/>
                <a:gd name="T34" fmla="*/ 33 w 571"/>
                <a:gd name="T35" fmla="*/ 275 h 545"/>
                <a:gd name="T36" fmla="*/ 35 w 571"/>
                <a:gd name="T37" fmla="*/ 320 h 545"/>
                <a:gd name="T38" fmla="*/ 49 w 571"/>
                <a:gd name="T39" fmla="*/ 381 h 545"/>
                <a:gd name="T40" fmla="*/ 77 w 571"/>
                <a:gd name="T41" fmla="*/ 440 h 545"/>
                <a:gd name="T42" fmla="*/ 145 w 571"/>
                <a:gd name="T43" fmla="*/ 518 h 545"/>
                <a:gd name="T44" fmla="*/ 159 w 571"/>
                <a:gd name="T45" fmla="*/ 529 h 545"/>
                <a:gd name="T46" fmla="*/ 141 w 571"/>
                <a:gd name="T47" fmla="*/ 481 h 545"/>
                <a:gd name="T48" fmla="*/ 108 w 571"/>
                <a:gd name="T49" fmla="*/ 451 h 545"/>
                <a:gd name="T50" fmla="*/ 79 w 571"/>
                <a:gd name="T51" fmla="*/ 410 h 545"/>
                <a:gd name="T52" fmla="*/ 61 w 571"/>
                <a:gd name="T53" fmla="*/ 370 h 545"/>
                <a:gd name="T54" fmla="*/ 50 w 571"/>
                <a:gd name="T55" fmla="*/ 327 h 545"/>
                <a:gd name="T56" fmla="*/ 47 w 571"/>
                <a:gd name="T57" fmla="*/ 265 h 545"/>
                <a:gd name="T58" fmla="*/ 54 w 571"/>
                <a:gd name="T59" fmla="*/ 214 h 545"/>
                <a:gd name="T60" fmla="*/ 68 w 571"/>
                <a:gd name="T61" fmla="*/ 167 h 545"/>
                <a:gd name="T62" fmla="*/ 100 w 571"/>
                <a:gd name="T63" fmla="*/ 106 h 545"/>
                <a:gd name="T64" fmla="*/ 117 w 571"/>
                <a:gd name="T65" fmla="*/ 58 h 545"/>
                <a:gd name="T66" fmla="*/ 90 w 571"/>
                <a:gd name="T67" fmla="*/ 20 h 545"/>
                <a:gd name="T68" fmla="*/ 22 w 571"/>
                <a:gd name="T69" fmla="*/ 38 h 545"/>
                <a:gd name="T70" fmla="*/ 11 w 571"/>
                <a:gd name="T71" fmla="*/ 18 h 545"/>
                <a:gd name="T72" fmla="*/ 556 w 571"/>
                <a:gd name="T73" fmla="*/ 38 h 545"/>
                <a:gd name="T74" fmla="*/ 512 w 571"/>
                <a:gd name="T75" fmla="*/ 21 h 545"/>
                <a:gd name="T76" fmla="*/ 463 w 571"/>
                <a:gd name="T77" fmla="*/ 29 h 545"/>
                <a:gd name="T78" fmla="*/ 452 w 571"/>
                <a:gd name="T79" fmla="*/ 46 h 545"/>
                <a:gd name="T80" fmla="*/ 452 w 571"/>
                <a:gd name="T81" fmla="*/ 72 h 545"/>
                <a:gd name="T82" fmla="*/ 469 w 571"/>
                <a:gd name="T83" fmla="*/ 102 h 545"/>
                <a:gd name="T84" fmla="*/ 492 w 571"/>
                <a:gd name="T85" fmla="*/ 145 h 545"/>
                <a:gd name="T86" fmla="*/ 511 w 571"/>
                <a:gd name="T87" fmla="*/ 193 h 545"/>
                <a:gd name="T88" fmla="*/ 520 w 571"/>
                <a:gd name="T89" fmla="*/ 248 h 545"/>
                <a:gd name="T90" fmla="*/ 520 w 571"/>
                <a:gd name="T91" fmla="*/ 300 h 545"/>
                <a:gd name="T92" fmla="*/ 516 w 571"/>
                <a:gd name="T93" fmla="*/ 334 h 545"/>
                <a:gd name="T94" fmla="*/ 511 w 571"/>
                <a:gd name="T95" fmla="*/ 359 h 545"/>
                <a:gd name="T96" fmla="*/ 501 w 571"/>
                <a:gd name="T97" fmla="*/ 389 h 545"/>
                <a:gd name="T98" fmla="*/ 482 w 571"/>
                <a:gd name="T99" fmla="*/ 432 h 545"/>
                <a:gd name="T100" fmla="*/ 461 w 571"/>
                <a:gd name="T101" fmla="*/ 459 h 545"/>
                <a:gd name="T102" fmla="*/ 446 w 571"/>
                <a:gd name="T103" fmla="*/ 476 h 545"/>
                <a:gd name="T104" fmla="*/ 431 w 571"/>
                <a:gd name="T105" fmla="*/ 491 h 545"/>
                <a:gd name="T106" fmla="*/ 414 w 571"/>
                <a:gd name="T107" fmla="*/ 529 h 5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71"/>
                <a:gd name="T163" fmla="*/ 0 h 545"/>
                <a:gd name="T164" fmla="*/ 571 w 571"/>
                <a:gd name="T165" fmla="*/ 545 h 54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71" h="545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A9A562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286">
              <a:extLst>
                <a:ext uri="{FF2B5EF4-FFF2-40B4-BE49-F238E27FC236}">
                  <a16:creationId xmlns:a16="http://schemas.microsoft.com/office/drawing/2014/main" id="{91D2EDB3-910D-47D4-A27D-E84D38F22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3172"/>
              <a:ext cx="157" cy="103"/>
            </a:xfrm>
            <a:custGeom>
              <a:avLst/>
              <a:gdLst>
                <a:gd name="T0" fmla="*/ 156 w 157"/>
                <a:gd name="T1" fmla="*/ 87 h 103"/>
                <a:gd name="T2" fmla="*/ 137 w 157"/>
                <a:gd name="T3" fmla="*/ 87 h 103"/>
                <a:gd name="T4" fmla="*/ 118 w 157"/>
                <a:gd name="T5" fmla="*/ 81 h 103"/>
                <a:gd name="T6" fmla="*/ 103 w 157"/>
                <a:gd name="T7" fmla="*/ 75 h 103"/>
                <a:gd name="T8" fmla="*/ 83 w 157"/>
                <a:gd name="T9" fmla="*/ 65 h 103"/>
                <a:gd name="T10" fmla="*/ 65 w 157"/>
                <a:gd name="T11" fmla="*/ 54 h 103"/>
                <a:gd name="T12" fmla="*/ 50 w 157"/>
                <a:gd name="T13" fmla="*/ 41 h 103"/>
                <a:gd name="T14" fmla="*/ 39 w 157"/>
                <a:gd name="T15" fmla="*/ 29 h 103"/>
                <a:gd name="T16" fmla="*/ 28 w 157"/>
                <a:gd name="T17" fmla="*/ 15 h 103"/>
                <a:gd name="T18" fmla="*/ 17 w 157"/>
                <a:gd name="T19" fmla="*/ 1 h 103"/>
                <a:gd name="T20" fmla="*/ 0 w 157"/>
                <a:gd name="T21" fmla="*/ 0 h 103"/>
                <a:gd name="T22" fmla="*/ 0 w 157"/>
                <a:gd name="T23" fmla="*/ 98 h 103"/>
                <a:gd name="T24" fmla="*/ 17 w 157"/>
                <a:gd name="T25" fmla="*/ 98 h 103"/>
                <a:gd name="T26" fmla="*/ 37 w 157"/>
                <a:gd name="T27" fmla="*/ 51 h 103"/>
                <a:gd name="T28" fmla="*/ 66 w 157"/>
                <a:gd name="T29" fmla="*/ 75 h 103"/>
                <a:gd name="T30" fmla="*/ 84 w 157"/>
                <a:gd name="T31" fmla="*/ 84 h 103"/>
                <a:gd name="T32" fmla="*/ 106 w 157"/>
                <a:gd name="T33" fmla="*/ 94 h 103"/>
                <a:gd name="T34" fmla="*/ 124 w 157"/>
                <a:gd name="T35" fmla="*/ 98 h 103"/>
                <a:gd name="T36" fmla="*/ 141 w 157"/>
                <a:gd name="T37" fmla="*/ 100 h 103"/>
                <a:gd name="T38" fmla="*/ 156 w 157"/>
                <a:gd name="T39" fmla="*/ 102 h 103"/>
                <a:gd name="T40" fmla="*/ 156 w 157"/>
                <a:gd name="T41" fmla="*/ 87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7"/>
                <a:gd name="T64" fmla="*/ 0 h 103"/>
                <a:gd name="T65" fmla="*/ 157 w 157"/>
                <a:gd name="T66" fmla="*/ 103 h 10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7" h="103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Freeform 287">
              <a:extLst>
                <a:ext uri="{FF2B5EF4-FFF2-40B4-BE49-F238E27FC236}">
                  <a16:creationId xmlns:a16="http://schemas.microsoft.com/office/drawing/2014/main" id="{9785BC09-95E5-4788-A013-EBC8F37FE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873"/>
              <a:ext cx="547" cy="513"/>
            </a:xfrm>
            <a:custGeom>
              <a:avLst/>
              <a:gdLst>
                <a:gd name="T0" fmla="*/ 399 w 547"/>
                <a:gd name="T1" fmla="*/ 490 h 513"/>
                <a:gd name="T2" fmla="*/ 428 w 547"/>
                <a:gd name="T3" fmla="*/ 466 h 513"/>
                <a:gd name="T4" fmla="*/ 443 w 547"/>
                <a:gd name="T5" fmla="*/ 451 h 513"/>
                <a:gd name="T6" fmla="*/ 460 w 547"/>
                <a:gd name="T7" fmla="*/ 432 h 513"/>
                <a:gd name="T8" fmla="*/ 480 w 547"/>
                <a:gd name="T9" fmla="*/ 397 h 513"/>
                <a:gd name="T10" fmla="*/ 498 w 547"/>
                <a:gd name="T11" fmla="*/ 352 h 513"/>
                <a:gd name="T12" fmla="*/ 504 w 547"/>
                <a:gd name="T13" fmla="*/ 330 h 513"/>
                <a:gd name="T14" fmla="*/ 507 w 547"/>
                <a:gd name="T15" fmla="*/ 298 h 513"/>
                <a:gd name="T16" fmla="*/ 510 w 547"/>
                <a:gd name="T17" fmla="*/ 260 h 513"/>
                <a:gd name="T18" fmla="*/ 506 w 547"/>
                <a:gd name="T19" fmla="*/ 202 h 513"/>
                <a:gd name="T20" fmla="*/ 491 w 547"/>
                <a:gd name="T21" fmla="*/ 151 h 513"/>
                <a:gd name="T22" fmla="*/ 470 w 547"/>
                <a:gd name="T23" fmla="*/ 107 h 513"/>
                <a:gd name="T24" fmla="*/ 445 w 547"/>
                <a:gd name="T25" fmla="*/ 64 h 513"/>
                <a:gd name="T26" fmla="*/ 439 w 547"/>
                <a:gd name="T27" fmla="*/ 42 h 513"/>
                <a:gd name="T28" fmla="*/ 445 w 547"/>
                <a:gd name="T29" fmla="*/ 20 h 513"/>
                <a:gd name="T30" fmla="*/ 462 w 547"/>
                <a:gd name="T31" fmla="*/ 4 h 513"/>
                <a:gd name="T32" fmla="*/ 543 w 547"/>
                <a:gd name="T33" fmla="*/ 16 h 513"/>
                <a:gd name="T34" fmla="*/ 509 w 547"/>
                <a:gd name="T35" fmla="*/ 4 h 513"/>
                <a:gd name="T36" fmla="*/ 538 w 547"/>
                <a:gd name="T37" fmla="*/ 23 h 513"/>
                <a:gd name="T38" fmla="*/ 546 w 547"/>
                <a:gd name="T39" fmla="*/ 1 h 513"/>
                <a:gd name="T40" fmla="*/ 0 w 547"/>
                <a:gd name="T41" fmla="*/ 19 h 513"/>
                <a:gd name="T42" fmla="*/ 43 w 547"/>
                <a:gd name="T43" fmla="*/ 3 h 513"/>
                <a:gd name="T44" fmla="*/ 11 w 547"/>
                <a:gd name="T45" fmla="*/ 17 h 513"/>
                <a:gd name="T46" fmla="*/ 3 w 547"/>
                <a:gd name="T47" fmla="*/ 3 h 513"/>
                <a:gd name="T48" fmla="*/ 100 w 547"/>
                <a:gd name="T49" fmla="*/ 22 h 513"/>
                <a:gd name="T50" fmla="*/ 107 w 547"/>
                <a:gd name="T51" fmla="*/ 61 h 513"/>
                <a:gd name="T52" fmla="*/ 66 w 547"/>
                <a:gd name="T53" fmla="*/ 128 h 513"/>
                <a:gd name="T54" fmla="*/ 48 w 547"/>
                <a:gd name="T55" fmla="*/ 174 h 513"/>
                <a:gd name="T56" fmla="*/ 39 w 547"/>
                <a:gd name="T57" fmla="*/ 220 h 513"/>
                <a:gd name="T58" fmla="*/ 36 w 547"/>
                <a:gd name="T59" fmla="*/ 279 h 513"/>
                <a:gd name="T60" fmla="*/ 44 w 547"/>
                <a:gd name="T61" fmla="*/ 334 h 513"/>
                <a:gd name="T62" fmla="*/ 57 w 547"/>
                <a:gd name="T63" fmla="*/ 370 h 513"/>
                <a:gd name="T64" fmla="*/ 80 w 547"/>
                <a:gd name="T65" fmla="*/ 411 h 513"/>
                <a:gd name="T66" fmla="*/ 111 w 547"/>
                <a:gd name="T67" fmla="*/ 448 h 513"/>
                <a:gd name="T68" fmla="*/ 155 w 547"/>
                <a:gd name="T69" fmla="*/ 484 h 513"/>
                <a:gd name="T70" fmla="*/ 155 w 547"/>
                <a:gd name="T71" fmla="*/ 508 h 513"/>
                <a:gd name="T72" fmla="*/ 141 w 547"/>
                <a:gd name="T73" fmla="*/ 467 h 513"/>
                <a:gd name="T74" fmla="*/ 104 w 547"/>
                <a:gd name="T75" fmla="*/ 434 h 513"/>
                <a:gd name="T76" fmla="*/ 78 w 547"/>
                <a:gd name="T77" fmla="*/ 400 h 513"/>
                <a:gd name="T78" fmla="*/ 62 w 547"/>
                <a:gd name="T79" fmla="*/ 371 h 513"/>
                <a:gd name="T80" fmla="*/ 48 w 547"/>
                <a:gd name="T81" fmla="*/ 334 h 513"/>
                <a:gd name="T82" fmla="*/ 41 w 547"/>
                <a:gd name="T83" fmla="*/ 299 h 513"/>
                <a:gd name="T84" fmla="*/ 40 w 547"/>
                <a:gd name="T85" fmla="*/ 242 h 513"/>
                <a:gd name="T86" fmla="*/ 52 w 547"/>
                <a:gd name="T87" fmla="*/ 171 h 513"/>
                <a:gd name="T88" fmla="*/ 86 w 547"/>
                <a:gd name="T89" fmla="*/ 101 h 513"/>
                <a:gd name="T90" fmla="*/ 110 w 547"/>
                <a:gd name="T91" fmla="*/ 41 h 513"/>
                <a:gd name="T92" fmla="*/ 84 w 547"/>
                <a:gd name="T93" fmla="*/ 5 h 513"/>
                <a:gd name="T94" fmla="*/ 448 w 547"/>
                <a:gd name="T95" fmla="*/ 9 h 513"/>
                <a:gd name="T96" fmla="*/ 438 w 547"/>
                <a:gd name="T97" fmla="*/ 25 h 513"/>
                <a:gd name="T98" fmla="*/ 435 w 547"/>
                <a:gd name="T99" fmla="*/ 50 h 513"/>
                <a:gd name="T100" fmla="*/ 445 w 547"/>
                <a:gd name="T101" fmla="*/ 71 h 513"/>
                <a:gd name="T102" fmla="*/ 460 w 547"/>
                <a:gd name="T103" fmla="*/ 96 h 513"/>
                <a:gd name="T104" fmla="*/ 484 w 547"/>
                <a:gd name="T105" fmla="*/ 143 h 513"/>
                <a:gd name="T106" fmla="*/ 498 w 547"/>
                <a:gd name="T107" fmla="*/ 181 h 513"/>
                <a:gd name="T108" fmla="*/ 506 w 547"/>
                <a:gd name="T109" fmla="*/ 231 h 513"/>
                <a:gd name="T110" fmla="*/ 501 w 547"/>
                <a:gd name="T111" fmla="*/ 319 h 513"/>
                <a:gd name="T112" fmla="*/ 482 w 547"/>
                <a:gd name="T113" fmla="*/ 385 h 513"/>
                <a:gd name="T114" fmla="*/ 445 w 547"/>
                <a:gd name="T115" fmla="*/ 441 h 513"/>
                <a:gd name="T116" fmla="*/ 415 w 547"/>
                <a:gd name="T117" fmla="*/ 472 h 513"/>
                <a:gd name="T118" fmla="*/ 399 w 547"/>
                <a:gd name="T119" fmla="*/ 508 h 5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7"/>
                <a:gd name="T181" fmla="*/ 0 h 513"/>
                <a:gd name="T182" fmla="*/ 547 w 547"/>
                <a:gd name="T183" fmla="*/ 513 h 5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7" h="513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288">
              <a:extLst>
                <a:ext uri="{FF2B5EF4-FFF2-40B4-BE49-F238E27FC236}">
                  <a16:creationId xmlns:a16="http://schemas.microsoft.com/office/drawing/2014/main" id="{1ED9EE5C-34D1-43CC-B76E-6090DE125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060"/>
              <a:ext cx="156" cy="216"/>
            </a:xfrm>
            <a:custGeom>
              <a:avLst/>
              <a:gdLst>
                <a:gd name="T0" fmla="*/ 0 w 156"/>
                <a:gd name="T1" fmla="*/ 0 h 216"/>
                <a:gd name="T2" fmla="*/ 0 w 156"/>
                <a:gd name="T3" fmla="*/ 137 h 216"/>
                <a:gd name="T4" fmla="*/ 13 w 156"/>
                <a:gd name="T5" fmla="*/ 141 h 216"/>
                <a:gd name="T6" fmla="*/ 34 w 156"/>
                <a:gd name="T7" fmla="*/ 149 h 216"/>
                <a:gd name="T8" fmla="*/ 44 w 156"/>
                <a:gd name="T9" fmla="*/ 157 h 216"/>
                <a:gd name="T10" fmla="*/ 51 w 156"/>
                <a:gd name="T11" fmla="*/ 166 h 216"/>
                <a:gd name="T12" fmla="*/ 54 w 156"/>
                <a:gd name="T13" fmla="*/ 172 h 216"/>
                <a:gd name="T14" fmla="*/ 53 w 156"/>
                <a:gd name="T15" fmla="*/ 179 h 216"/>
                <a:gd name="T16" fmla="*/ 49 w 156"/>
                <a:gd name="T17" fmla="*/ 186 h 216"/>
                <a:gd name="T18" fmla="*/ 42 w 156"/>
                <a:gd name="T19" fmla="*/ 189 h 216"/>
                <a:gd name="T20" fmla="*/ 35 w 156"/>
                <a:gd name="T21" fmla="*/ 193 h 216"/>
                <a:gd name="T22" fmla="*/ 26 w 156"/>
                <a:gd name="T23" fmla="*/ 196 h 216"/>
                <a:gd name="T24" fmla="*/ 0 w 156"/>
                <a:gd name="T25" fmla="*/ 201 h 216"/>
                <a:gd name="T26" fmla="*/ 0 w 156"/>
                <a:gd name="T27" fmla="*/ 215 h 216"/>
                <a:gd name="T28" fmla="*/ 34 w 156"/>
                <a:gd name="T29" fmla="*/ 212 h 216"/>
                <a:gd name="T30" fmla="*/ 80 w 156"/>
                <a:gd name="T31" fmla="*/ 201 h 216"/>
                <a:gd name="T32" fmla="*/ 109 w 156"/>
                <a:gd name="T33" fmla="*/ 189 h 216"/>
                <a:gd name="T34" fmla="*/ 126 w 156"/>
                <a:gd name="T35" fmla="*/ 178 h 216"/>
                <a:gd name="T36" fmla="*/ 141 w 156"/>
                <a:gd name="T37" fmla="*/ 161 h 216"/>
                <a:gd name="T38" fmla="*/ 151 w 156"/>
                <a:gd name="T39" fmla="*/ 141 h 216"/>
                <a:gd name="T40" fmla="*/ 155 w 156"/>
                <a:gd name="T41" fmla="*/ 120 h 216"/>
                <a:gd name="T42" fmla="*/ 153 w 156"/>
                <a:gd name="T43" fmla="*/ 103 h 216"/>
                <a:gd name="T44" fmla="*/ 142 w 156"/>
                <a:gd name="T45" fmla="*/ 79 h 216"/>
                <a:gd name="T46" fmla="*/ 129 w 156"/>
                <a:gd name="T47" fmla="*/ 63 h 216"/>
                <a:gd name="T48" fmla="*/ 122 w 156"/>
                <a:gd name="T49" fmla="*/ 57 h 216"/>
                <a:gd name="T50" fmla="*/ 0 w 156"/>
                <a:gd name="T51" fmla="*/ 0 h 21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6"/>
                <a:gd name="T79" fmla="*/ 0 h 216"/>
                <a:gd name="T80" fmla="*/ 156 w 156"/>
                <a:gd name="T81" fmla="*/ 216 h 21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6" h="21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Freeform 289">
              <a:extLst>
                <a:ext uri="{FF2B5EF4-FFF2-40B4-BE49-F238E27FC236}">
                  <a16:creationId xmlns:a16="http://schemas.microsoft.com/office/drawing/2014/main" id="{8086D7E8-44EF-415F-BDF8-5A38DF5A1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929"/>
              <a:ext cx="18" cy="403"/>
            </a:xfrm>
            <a:custGeom>
              <a:avLst/>
              <a:gdLst>
                <a:gd name="T0" fmla="*/ 0 w 18"/>
                <a:gd name="T1" fmla="*/ 331 h 403"/>
                <a:gd name="T2" fmla="*/ 0 w 18"/>
                <a:gd name="T3" fmla="*/ 402 h 403"/>
                <a:gd name="T4" fmla="*/ 17 w 18"/>
                <a:gd name="T5" fmla="*/ 402 h 403"/>
                <a:gd name="T6" fmla="*/ 17 w 18"/>
                <a:gd name="T7" fmla="*/ 0 h 403"/>
                <a:gd name="T8" fmla="*/ 0 w 18"/>
                <a:gd name="T9" fmla="*/ 0 h 403"/>
                <a:gd name="T10" fmla="*/ 0 w 18"/>
                <a:gd name="T11" fmla="*/ 331 h 4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03"/>
                <a:gd name="T20" fmla="*/ 18 w 18"/>
                <a:gd name="T21" fmla="*/ 403 h 4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03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6" name="Rectangle 290">
            <a:extLst>
              <a:ext uri="{FF2B5EF4-FFF2-40B4-BE49-F238E27FC236}">
                <a16:creationId xmlns:a16="http://schemas.microsoft.com/office/drawing/2014/main" id="{3A272388-0A9A-46CF-96B1-10817EE5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5108575"/>
            <a:ext cx="209867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100" b="1">
                <a:solidFill>
                  <a:srgbClr val="CF0E30"/>
                </a:solidFill>
              </a:rPr>
              <a:t>Contributions</a:t>
            </a:r>
          </a:p>
        </p:txBody>
      </p:sp>
      <p:sp>
        <p:nvSpPr>
          <p:cNvPr id="24587" name="Line 291">
            <a:extLst>
              <a:ext uri="{FF2B5EF4-FFF2-40B4-BE49-F238E27FC236}">
                <a16:creationId xmlns:a16="http://schemas.microsoft.com/office/drawing/2014/main" id="{10958BFB-3A98-469D-8398-E32401BFD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4703763"/>
            <a:ext cx="1057275" cy="0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Line 292">
            <a:extLst>
              <a:ext uri="{FF2B5EF4-FFF2-40B4-BE49-F238E27FC236}">
                <a16:creationId xmlns:a16="http://schemas.microsoft.com/office/drawing/2014/main" id="{BA2CBEC5-67C7-4966-B3D9-520FC462D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5" y="3846513"/>
            <a:ext cx="1381125" cy="1587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Line 293">
            <a:extLst>
              <a:ext uri="{FF2B5EF4-FFF2-40B4-BE49-F238E27FC236}">
                <a16:creationId xmlns:a16="http://schemas.microsoft.com/office/drawing/2014/main" id="{CFC124C0-5F95-469C-9428-06A5650A0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4322763"/>
            <a:ext cx="0" cy="388937"/>
          </a:xfrm>
          <a:prstGeom prst="line">
            <a:avLst/>
          </a:prstGeom>
          <a:noFill/>
          <a:ln w="76200">
            <a:solidFill>
              <a:srgbClr val="CF0E30"/>
            </a:solidFill>
            <a:round/>
            <a:headEnd/>
            <a:tailEnd type="triangle" w="med" len="med"/>
          </a:ln>
          <a:effectLst>
            <a:prstShdw prst="shdw17" dist="17961" dir="2700000">
              <a:srgbClr val="7C081D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590" name="Group 294">
            <a:extLst>
              <a:ext uri="{FF2B5EF4-FFF2-40B4-BE49-F238E27FC236}">
                <a16:creationId xmlns:a16="http://schemas.microsoft.com/office/drawing/2014/main" id="{BB47E63B-8576-4D29-A167-313AA151DC81}"/>
              </a:ext>
            </a:extLst>
          </p:cNvPr>
          <p:cNvGrpSpPr>
            <a:grpSpLocks/>
          </p:cNvGrpSpPr>
          <p:nvPr/>
        </p:nvGrpSpPr>
        <p:grpSpPr bwMode="auto">
          <a:xfrm>
            <a:off x="7048500" y="3446463"/>
            <a:ext cx="863600" cy="811212"/>
            <a:chOff x="4662" y="2316"/>
            <a:chExt cx="571" cy="545"/>
          </a:xfrm>
        </p:grpSpPr>
        <p:sp>
          <p:nvSpPr>
            <p:cNvPr id="24592" name="Freeform 295">
              <a:extLst>
                <a:ext uri="{FF2B5EF4-FFF2-40B4-BE49-F238E27FC236}">
                  <a16:creationId xmlns:a16="http://schemas.microsoft.com/office/drawing/2014/main" id="{8FE59668-FFFD-4220-93CC-43FD49C3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417"/>
              <a:ext cx="371" cy="411"/>
            </a:xfrm>
            <a:custGeom>
              <a:avLst/>
              <a:gdLst>
                <a:gd name="T0" fmla="*/ 299 w 371"/>
                <a:gd name="T1" fmla="*/ 0 h 411"/>
                <a:gd name="T2" fmla="*/ 300 w 371"/>
                <a:gd name="T3" fmla="*/ 14 h 411"/>
                <a:gd name="T4" fmla="*/ 299 w 371"/>
                <a:gd name="T5" fmla="*/ 108 h 411"/>
                <a:gd name="T6" fmla="*/ 284 w 371"/>
                <a:gd name="T7" fmla="*/ 110 h 411"/>
                <a:gd name="T8" fmla="*/ 263 w 371"/>
                <a:gd name="T9" fmla="*/ 82 h 411"/>
                <a:gd name="T10" fmla="*/ 256 w 371"/>
                <a:gd name="T11" fmla="*/ 75 h 411"/>
                <a:gd name="T12" fmla="*/ 249 w 371"/>
                <a:gd name="T13" fmla="*/ 69 h 411"/>
                <a:gd name="T14" fmla="*/ 242 w 371"/>
                <a:gd name="T15" fmla="*/ 62 h 411"/>
                <a:gd name="T16" fmla="*/ 235 w 371"/>
                <a:gd name="T17" fmla="*/ 57 h 411"/>
                <a:gd name="T18" fmla="*/ 227 w 371"/>
                <a:gd name="T19" fmla="*/ 51 h 411"/>
                <a:gd name="T20" fmla="*/ 219 w 371"/>
                <a:gd name="T21" fmla="*/ 46 h 411"/>
                <a:gd name="T22" fmla="*/ 208 w 371"/>
                <a:gd name="T23" fmla="*/ 40 h 411"/>
                <a:gd name="T24" fmla="*/ 199 w 371"/>
                <a:gd name="T25" fmla="*/ 36 h 411"/>
                <a:gd name="T26" fmla="*/ 185 w 371"/>
                <a:gd name="T27" fmla="*/ 32 h 411"/>
                <a:gd name="T28" fmla="*/ 176 w 371"/>
                <a:gd name="T29" fmla="*/ 30 h 411"/>
                <a:gd name="T30" fmla="*/ 176 w 371"/>
                <a:gd name="T31" fmla="*/ 103 h 411"/>
                <a:gd name="T32" fmla="*/ 299 w 371"/>
                <a:gd name="T33" fmla="*/ 160 h 411"/>
                <a:gd name="T34" fmla="*/ 306 w 371"/>
                <a:gd name="T35" fmla="*/ 166 h 411"/>
                <a:gd name="T36" fmla="*/ 319 w 371"/>
                <a:gd name="T37" fmla="*/ 182 h 411"/>
                <a:gd name="T38" fmla="*/ 331 w 371"/>
                <a:gd name="T39" fmla="*/ 206 h 411"/>
                <a:gd name="T40" fmla="*/ 332 w 371"/>
                <a:gd name="T41" fmla="*/ 224 h 411"/>
                <a:gd name="T42" fmla="*/ 328 w 371"/>
                <a:gd name="T43" fmla="*/ 244 h 411"/>
                <a:gd name="T44" fmla="*/ 317 w 371"/>
                <a:gd name="T45" fmla="*/ 268 h 411"/>
                <a:gd name="T46" fmla="*/ 301 w 371"/>
                <a:gd name="T47" fmla="*/ 283 h 411"/>
                <a:gd name="T48" fmla="*/ 286 w 371"/>
                <a:gd name="T49" fmla="*/ 293 h 411"/>
                <a:gd name="T50" fmla="*/ 258 w 371"/>
                <a:gd name="T51" fmla="*/ 305 h 411"/>
                <a:gd name="T52" fmla="*/ 210 w 371"/>
                <a:gd name="T53" fmla="*/ 317 h 411"/>
                <a:gd name="T54" fmla="*/ 176 w 371"/>
                <a:gd name="T55" fmla="*/ 319 h 411"/>
                <a:gd name="T56" fmla="*/ 176 w 371"/>
                <a:gd name="T57" fmla="*/ 375 h 411"/>
                <a:gd name="T58" fmla="*/ 157 w 371"/>
                <a:gd name="T59" fmla="*/ 375 h 411"/>
                <a:gd name="T60" fmla="*/ 157 w 371"/>
                <a:gd name="T61" fmla="*/ 319 h 411"/>
                <a:gd name="T62" fmla="*/ 141 w 371"/>
                <a:gd name="T63" fmla="*/ 317 h 411"/>
                <a:gd name="T64" fmla="*/ 124 w 371"/>
                <a:gd name="T65" fmla="*/ 314 h 411"/>
                <a:gd name="T66" fmla="*/ 107 w 371"/>
                <a:gd name="T67" fmla="*/ 310 h 411"/>
                <a:gd name="T68" fmla="*/ 85 w 371"/>
                <a:gd name="T69" fmla="*/ 301 h 411"/>
                <a:gd name="T70" fmla="*/ 67 w 371"/>
                <a:gd name="T71" fmla="*/ 291 h 411"/>
                <a:gd name="T72" fmla="*/ 38 w 371"/>
                <a:gd name="T73" fmla="*/ 267 h 411"/>
                <a:gd name="T74" fmla="*/ 18 w 371"/>
                <a:gd name="T75" fmla="*/ 314 h 411"/>
                <a:gd name="T76" fmla="*/ 0 w 371"/>
                <a:gd name="T77" fmla="*/ 314 h 411"/>
                <a:gd name="T78" fmla="*/ 0 w 371"/>
                <a:gd name="T79" fmla="*/ 330 h 411"/>
                <a:gd name="T80" fmla="*/ 16 w 371"/>
                <a:gd name="T81" fmla="*/ 347 h 411"/>
                <a:gd name="T82" fmla="*/ 65 w 371"/>
                <a:gd name="T83" fmla="*/ 386 h 411"/>
                <a:gd name="T84" fmla="*/ 86 w 371"/>
                <a:gd name="T85" fmla="*/ 395 h 411"/>
                <a:gd name="T86" fmla="*/ 119 w 371"/>
                <a:gd name="T87" fmla="*/ 405 h 411"/>
                <a:gd name="T88" fmla="*/ 149 w 371"/>
                <a:gd name="T89" fmla="*/ 410 h 411"/>
                <a:gd name="T90" fmla="*/ 186 w 371"/>
                <a:gd name="T91" fmla="*/ 408 h 411"/>
                <a:gd name="T92" fmla="*/ 222 w 371"/>
                <a:gd name="T93" fmla="*/ 399 h 411"/>
                <a:gd name="T94" fmla="*/ 256 w 371"/>
                <a:gd name="T95" fmla="*/ 383 h 411"/>
                <a:gd name="T96" fmla="*/ 298 w 371"/>
                <a:gd name="T97" fmla="*/ 352 h 411"/>
                <a:gd name="T98" fmla="*/ 325 w 371"/>
                <a:gd name="T99" fmla="*/ 321 h 411"/>
                <a:gd name="T100" fmla="*/ 336 w 371"/>
                <a:gd name="T101" fmla="*/ 303 h 411"/>
                <a:gd name="T102" fmla="*/ 347 w 371"/>
                <a:gd name="T103" fmla="*/ 281 h 411"/>
                <a:gd name="T104" fmla="*/ 355 w 371"/>
                <a:gd name="T105" fmla="*/ 263 h 411"/>
                <a:gd name="T106" fmla="*/ 365 w 371"/>
                <a:gd name="T107" fmla="*/ 224 h 411"/>
                <a:gd name="T108" fmla="*/ 369 w 371"/>
                <a:gd name="T109" fmla="*/ 205 h 411"/>
                <a:gd name="T110" fmla="*/ 370 w 371"/>
                <a:gd name="T111" fmla="*/ 180 h 411"/>
                <a:gd name="T112" fmla="*/ 368 w 371"/>
                <a:gd name="T113" fmla="*/ 136 h 411"/>
                <a:gd name="T114" fmla="*/ 363 w 371"/>
                <a:gd name="T115" fmla="*/ 111 h 411"/>
                <a:gd name="T116" fmla="*/ 358 w 371"/>
                <a:gd name="T117" fmla="*/ 94 h 411"/>
                <a:gd name="T118" fmla="*/ 346 w 371"/>
                <a:gd name="T119" fmla="*/ 64 h 411"/>
                <a:gd name="T120" fmla="*/ 337 w 371"/>
                <a:gd name="T121" fmla="*/ 49 h 411"/>
                <a:gd name="T122" fmla="*/ 322 w 371"/>
                <a:gd name="T123" fmla="*/ 27 h 411"/>
                <a:gd name="T124" fmla="*/ 299 w 371"/>
                <a:gd name="T125" fmla="*/ 0 h 41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71"/>
                <a:gd name="T190" fmla="*/ 0 h 411"/>
                <a:gd name="T191" fmla="*/ 371 w 371"/>
                <a:gd name="T192" fmla="*/ 411 h 41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71" h="41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296">
              <a:extLst>
                <a:ext uri="{FF2B5EF4-FFF2-40B4-BE49-F238E27FC236}">
                  <a16:creationId xmlns:a16="http://schemas.microsoft.com/office/drawing/2014/main" id="{C1F38667-9346-462E-8E86-3A11E54D6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" y="2338"/>
              <a:ext cx="232" cy="504"/>
            </a:xfrm>
            <a:custGeom>
              <a:avLst/>
              <a:gdLst>
                <a:gd name="T0" fmla="*/ 231 w 232"/>
                <a:gd name="T1" fmla="*/ 0 h 504"/>
                <a:gd name="T2" fmla="*/ 45 w 232"/>
                <a:gd name="T3" fmla="*/ 0 h 504"/>
                <a:gd name="T4" fmla="*/ 63 w 232"/>
                <a:gd name="T5" fmla="*/ 14 h 504"/>
                <a:gd name="T6" fmla="*/ 71 w 232"/>
                <a:gd name="T7" fmla="*/ 36 h 504"/>
                <a:gd name="T8" fmla="*/ 71 w 232"/>
                <a:gd name="T9" fmla="*/ 60 h 504"/>
                <a:gd name="T10" fmla="*/ 47 w 232"/>
                <a:gd name="T11" fmla="*/ 97 h 504"/>
                <a:gd name="T12" fmla="*/ 29 w 232"/>
                <a:gd name="T13" fmla="*/ 126 h 504"/>
                <a:gd name="T14" fmla="*/ 13 w 232"/>
                <a:gd name="T15" fmla="*/ 166 h 504"/>
                <a:gd name="T16" fmla="*/ 5 w 232"/>
                <a:gd name="T17" fmla="*/ 207 h 504"/>
                <a:gd name="T18" fmla="*/ 1 w 232"/>
                <a:gd name="T19" fmla="*/ 237 h 504"/>
                <a:gd name="T20" fmla="*/ 0 w 232"/>
                <a:gd name="T21" fmla="*/ 261 h 504"/>
                <a:gd name="T22" fmla="*/ 2 w 232"/>
                <a:gd name="T23" fmla="*/ 294 h 504"/>
                <a:gd name="T24" fmla="*/ 5 w 232"/>
                <a:gd name="T25" fmla="*/ 308 h 504"/>
                <a:gd name="T26" fmla="*/ 9 w 232"/>
                <a:gd name="T27" fmla="*/ 329 h 504"/>
                <a:gd name="T28" fmla="*/ 16 w 232"/>
                <a:gd name="T29" fmla="*/ 349 h 504"/>
                <a:gd name="T30" fmla="*/ 23 w 232"/>
                <a:gd name="T31" fmla="*/ 367 h 504"/>
                <a:gd name="T32" fmla="*/ 31 w 232"/>
                <a:gd name="T33" fmla="*/ 382 h 504"/>
                <a:gd name="T34" fmla="*/ 39 w 232"/>
                <a:gd name="T35" fmla="*/ 396 h 504"/>
                <a:gd name="T36" fmla="*/ 49 w 232"/>
                <a:gd name="T37" fmla="*/ 410 h 504"/>
                <a:gd name="T38" fmla="*/ 65 w 232"/>
                <a:gd name="T39" fmla="*/ 429 h 504"/>
                <a:gd name="T40" fmla="*/ 83 w 232"/>
                <a:gd name="T41" fmla="*/ 447 h 504"/>
                <a:gd name="T42" fmla="*/ 102 w 232"/>
                <a:gd name="T43" fmla="*/ 462 h 504"/>
                <a:gd name="T44" fmla="*/ 120 w 232"/>
                <a:gd name="T45" fmla="*/ 476 h 504"/>
                <a:gd name="T46" fmla="*/ 115 w 232"/>
                <a:gd name="T47" fmla="*/ 503 h 504"/>
                <a:gd name="T48" fmla="*/ 223 w 232"/>
                <a:gd name="T49" fmla="*/ 503 h 504"/>
                <a:gd name="T50" fmla="*/ 223 w 232"/>
                <a:gd name="T51" fmla="*/ 490 h 504"/>
                <a:gd name="T52" fmla="*/ 193 w 232"/>
                <a:gd name="T53" fmla="*/ 485 h 504"/>
                <a:gd name="T54" fmla="*/ 160 w 232"/>
                <a:gd name="T55" fmla="*/ 475 h 504"/>
                <a:gd name="T56" fmla="*/ 139 w 232"/>
                <a:gd name="T57" fmla="*/ 465 h 504"/>
                <a:gd name="T58" fmla="*/ 90 w 232"/>
                <a:gd name="T59" fmla="*/ 427 h 504"/>
                <a:gd name="T60" fmla="*/ 74 w 232"/>
                <a:gd name="T61" fmla="*/ 410 h 504"/>
                <a:gd name="T62" fmla="*/ 54 w 232"/>
                <a:gd name="T63" fmla="*/ 378 h 504"/>
                <a:gd name="T64" fmla="*/ 45 w 232"/>
                <a:gd name="T65" fmla="*/ 361 h 504"/>
                <a:gd name="T66" fmla="*/ 38 w 232"/>
                <a:gd name="T67" fmla="*/ 343 h 504"/>
                <a:gd name="T68" fmla="*/ 32 w 232"/>
                <a:gd name="T69" fmla="*/ 326 h 504"/>
                <a:gd name="T70" fmla="*/ 28 w 232"/>
                <a:gd name="T71" fmla="*/ 310 h 504"/>
                <a:gd name="T72" fmla="*/ 25 w 232"/>
                <a:gd name="T73" fmla="*/ 293 h 504"/>
                <a:gd name="T74" fmla="*/ 22 w 232"/>
                <a:gd name="T75" fmla="*/ 263 h 504"/>
                <a:gd name="T76" fmla="*/ 23 w 232"/>
                <a:gd name="T77" fmla="*/ 228 h 504"/>
                <a:gd name="T78" fmla="*/ 28 w 232"/>
                <a:gd name="T79" fmla="*/ 197 h 504"/>
                <a:gd name="T80" fmla="*/ 36 w 232"/>
                <a:gd name="T81" fmla="*/ 167 h 504"/>
                <a:gd name="T82" fmla="*/ 41 w 232"/>
                <a:gd name="T83" fmla="*/ 154 h 504"/>
                <a:gd name="T84" fmla="*/ 52 w 232"/>
                <a:gd name="T85" fmla="*/ 130 h 504"/>
                <a:gd name="T86" fmla="*/ 70 w 232"/>
                <a:gd name="T87" fmla="*/ 105 h 504"/>
                <a:gd name="T88" fmla="*/ 86 w 232"/>
                <a:gd name="T89" fmla="*/ 84 h 504"/>
                <a:gd name="T90" fmla="*/ 122 w 232"/>
                <a:gd name="T91" fmla="*/ 52 h 504"/>
                <a:gd name="T92" fmla="*/ 153 w 232"/>
                <a:gd name="T93" fmla="*/ 34 h 504"/>
                <a:gd name="T94" fmla="*/ 186 w 232"/>
                <a:gd name="T95" fmla="*/ 23 h 504"/>
                <a:gd name="T96" fmla="*/ 231 w 232"/>
                <a:gd name="T97" fmla="*/ 16 h 504"/>
                <a:gd name="T98" fmla="*/ 231 w 232"/>
                <a:gd name="T99" fmla="*/ 0 h 50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32"/>
                <a:gd name="T151" fmla="*/ 0 h 504"/>
                <a:gd name="T152" fmla="*/ 232 w 232"/>
                <a:gd name="T153" fmla="*/ 504 h 50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32" h="504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297">
              <a:extLst>
                <a:ext uri="{FF2B5EF4-FFF2-40B4-BE49-F238E27FC236}">
                  <a16:creationId xmlns:a16="http://schemas.microsoft.com/office/drawing/2014/main" id="{F8F8CD8C-5104-4676-847A-E2D41AAB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" y="2338"/>
              <a:ext cx="244" cy="504"/>
            </a:xfrm>
            <a:custGeom>
              <a:avLst/>
              <a:gdLst>
                <a:gd name="T0" fmla="*/ 8 w 244"/>
                <a:gd name="T1" fmla="*/ 0 h 504"/>
                <a:gd name="T2" fmla="*/ 8 w 244"/>
                <a:gd name="T3" fmla="*/ 16 h 504"/>
                <a:gd name="T4" fmla="*/ 29 w 244"/>
                <a:gd name="T5" fmla="*/ 18 h 504"/>
                <a:gd name="T6" fmla="*/ 64 w 244"/>
                <a:gd name="T7" fmla="*/ 25 h 504"/>
                <a:gd name="T8" fmla="*/ 90 w 244"/>
                <a:gd name="T9" fmla="*/ 36 h 504"/>
                <a:gd name="T10" fmla="*/ 111 w 244"/>
                <a:gd name="T11" fmla="*/ 47 h 504"/>
                <a:gd name="T12" fmla="*/ 129 w 244"/>
                <a:gd name="T13" fmla="*/ 60 h 504"/>
                <a:gd name="T14" fmla="*/ 145 w 244"/>
                <a:gd name="T15" fmla="*/ 72 h 504"/>
                <a:gd name="T16" fmla="*/ 151 w 244"/>
                <a:gd name="T17" fmla="*/ 78 h 504"/>
                <a:gd name="T18" fmla="*/ 173 w 244"/>
                <a:gd name="T19" fmla="*/ 106 h 504"/>
                <a:gd name="T20" fmla="*/ 188 w 244"/>
                <a:gd name="T21" fmla="*/ 128 h 504"/>
                <a:gd name="T22" fmla="*/ 197 w 244"/>
                <a:gd name="T23" fmla="*/ 143 h 504"/>
                <a:gd name="T24" fmla="*/ 209 w 244"/>
                <a:gd name="T25" fmla="*/ 172 h 504"/>
                <a:gd name="T26" fmla="*/ 214 w 244"/>
                <a:gd name="T27" fmla="*/ 190 h 504"/>
                <a:gd name="T28" fmla="*/ 219 w 244"/>
                <a:gd name="T29" fmla="*/ 215 h 504"/>
                <a:gd name="T30" fmla="*/ 221 w 244"/>
                <a:gd name="T31" fmla="*/ 259 h 504"/>
                <a:gd name="T32" fmla="*/ 220 w 244"/>
                <a:gd name="T33" fmla="*/ 284 h 504"/>
                <a:gd name="T34" fmla="*/ 216 w 244"/>
                <a:gd name="T35" fmla="*/ 303 h 504"/>
                <a:gd name="T36" fmla="*/ 206 w 244"/>
                <a:gd name="T37" fmla="*/ 342 h 504"/>
                <a:gd name="T38" fmla="*/ 199 w 244"/>
                <a:gd name="T39" fmla="*/ 360 h 504"/>
                <a:gd name="T40" fmla="*/ 187 w 244"/>
                <a:gd name="T41" fmla="*/ 382 h 504"/>
                <a:gd name="T42" fmla="*/ 176 w 244"/>
                <a:gd name="T43" fmla="*/ 400 h 504"/>
                <a:gd name="T44" fmla="*/ 149 w 244"/>
                <a:gd name="T45" fmla="*/ 432 h 504"/>
                <a:gd name="T46" fmla="*/ 108 w 244"/>
                <a:gd name="T47" fmla="*/ 462 h 504"/>
                <a:gd name="T48" fmla="*/ 74 w 244"/>
                <a:gd name="T49" fmla="*/ 479 h 504"/>
                <a:gd name="T50" fmla="*/ 37 w 244"/>
                <a:gd name="T51" fmla="*/ 488 h 504"/>
                <a:gd name="T52" fmla="*/ 0 w 244"/>
                <a:gd name="T53" fmla="*/ 490 h 504"/>
                <a:gd name="T54" fmla="*/ 0 w 244"/>
                <a:gd name="T55" fmla="*/ 503 h 504"/>
                <a:gd name="T56" fmla="*/ 137 w 244"/>
                <a:gd name="T57" fmla="*/ 503 h 504"/>
                <a:gd name="T58" fmla="*/ 132 w 244"/>
                <a:gd name="T59" fmla="*/ 483 h 504"/>
                <a:gd name="T60" fmla="*/ 152 w 244"/>
                <a:gd name="T61" fmla="*/ 467 h 504"/>
                <a:gd name="T62" fmla="*/ 164 w 244"/>
                <a:gd name="T63" fmla="*/ 455 h 504"/>
                <a:gd name="T64" fmla="*/ 183 w 244"/>
                <a:gd name="T65" fmla="*/ 436 h 504"/>
                <a:gd name="T66" fmla="*/ 206 w 244"/>
                <a:gd name="T67" fmla="*/ 404 h 504"/>
                <a:gd name="T68" fmla="*/ 219 w 244"/>
                <a:gd name="T69" fmla="*/ 380 h 504"/>
                <a:gd name="T70" fmla="*/ 228 w 244"/>
                <a:gd name="T71" fmla="*/ 354 h 504"/>
                <a:gd name="T72" fmla="*/ 239 w 244"/>
                <a:gd name="T73" fmla="*/ 314 h 504"/>
                <a:gd name="T74" fmla="*/ 243 w 244"/>
                <a:gd name="T75" fmla="*/ 268 h 504"/>
                <a:gd name="T76" fmla="*/ 243 w 244"/>
                <a:gd name="T77" fmla="*/ 226 h 504"/>
                <a:gd name="T78" fmla="*/ 239 w 244"/>
                <a:gd name="T79" fmla="*/ 198 h 504"/>
                <a:gd name="T80" fmla="*/ 235 w 244"/>
                <a:gd name="T81" fmla="*/ 176 h 504"/>
                <a:gd name="T82" fmla="*/ 229 w 244"/>
                <a:gd name="T83" fmla="*/ 158 h 504"/>
                <a:gd name="T84" fmla="*/ 221 w 244"/>
                <a:gd name="T85" fmla="*/ 138 h 504"/>
                <a:gd name="T86" fmla="*/ 205 w 244"/>
                <a:gd name="T87" fmla="*/ 104 h 504"/>
                <a:gd name="T88" fmla="*/ 197 w 244"/>
                <a:gd name="T89" fmla="*/ 91 h 504"/>
                <a:gd name="T90" fmla="*/ 188 w 244"/>
                <a:gd name="T91" fmla="*/ 76 h 504"/>
                <a:gd name="T92" fmla="*/ 182 w 244"/>
                <a:gd name="T93" fmla="*/ 67 h 504"/>
                <a:gd name="T94" fmla="*/ 178 w 244"/>
                <a:gd name="T95" fmla="*/ 60 h 504"/>
                <a:gd name="T96" fmla="*/ 172 w 244"/>
                <a:gd name="T97" fmla="*/ 46 h 504"/>
                <a:gd name="T98" fmla="*/ 172 w 244"/>
                <a:gd name="T99" fmla="*/ 32 h 504"/>
                <a:gd name="T100" fmla="*/ 175 w 244"/>
                <a:gd name="T101" fmla="*/ 20 h 504"/>
                <a:gd name="T102" fmla="*/ 180 w 244"/>
                <a:gd name="T103" fmla="*/ 10 h 504"/>
                <a:gd name="T104" fmla="*/ 186 w 244"/>
                <a:gd name="T105" fmla="*/ 4 h 504"/>
                <a:gd name="T106" fmla="*/ 193 w 244"/>
                <a:gd name="T107" fmla="*/ 0 h 504"/>
                <a:gd name="T108" fmla="*/ 8 w 244"/>
                <a:gd name="T109" fmla="*/ 0 h 50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44"/>
                <a:gd name="T166" fmla="*/ 0 h 504"/>
                <a:gd name="T167" fmla="*/ 244 w 244"/>
                <a:gd name="T168" fmla="*/ 504 h 50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44" h="50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298">
              <a:extLst>
                <a:ext uri="{FF2B5EF4-FFF2-40B4-BE49-F238E27FC236}">
                  <a16:creationId xmlns:a16="http://schemas.microsoft.com/office/drawing/2014/main" id="{E0A1853A-12C1-42BE-8145-56353E316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354"/>
              <a:ext cx="352" cy="393"/>
            </a:xfrm>
            <a:custGeom>
              <a:avLst/>
              <a:gdLst>
                <a:gd name="T0" fmla="*/ 164 w 352"/>
                <a:gd name="T1" fmla="*/ 7 h 393"/>
                <a:gd name="T2" fmla="*/ 100 w 352"/>
                <a:gd name="T3" fmla="*/ 36 h 393"/>
                <a:gd name="T4" fmla="*/ 47 w 352"/>
                <a:gd name="T5" fmla="*/ 88 h 393"/>
                <a:gd name="T6" fmla="*/ 19 w 352"/>
                <a:gd name="T7" fmla="*/ 138 h 393"/>
                <a:gd name="T8" fmla="*/ 6 w 352"/>
                <a:gd name="T9" fmla="*/ 180 h 393"/>
                <a:gd name="T10" fmla="*/ 0 w 352"/>
                <a:gd name="T11" fmla="*/ 246 h 393"/>
                <a:gd name="T12" fmla="*/ 6 w 352"/>
                <a:gd name="T13" fmla="*/ 292 h 393"/>
                <a:gd name="T14" fmla="*/ 16 w 352"/>
                <a:gd name="T15" fmla="*/ 325 h 393"/>
                <a:gd name="T16" fmla="*/ 32 w 352"/>
                <a:gd name="T17" fmla="*/ 360 h 393"/>
                <a:gd name="T18" fmla="*/ 52 w 352"/>
                <a:gd name="T19" fmla="*/ 376 h 393"/>
                <a:gd name="T20" fmla="*/ 70 w 352"/>
                <a:gd name="T21" fmla="*/ 278 h 393"/>
                <a:gd name="T22" fmla="*/ 91 w 352"/>
                <a:gd name="T23" fmla="*/ 306 h 393"/>
                <a:gd name="T24" fmla="*/ 117 w 352"/>
                <a:gd name="T25" fmla="*/ 331 h 393"/>
                <a:gd name="T26" fmla="*/ 155 w 352"/>
                <a:gd name="T27" fmla="*/ 353 h 393"/>
                <a:gd name="T28" fmla="*/ 190 w 352"/>
                <a:gd name="T29" fmla="*/ 365 h 393"/>
                <a:gd name="T30" fmla="*/ 208 w 352"/>
                <a:gd name="T31" fmla="*/ 295 h 393"/>
                <a:gd name="T32" fmla="*/ 110 w 352"/>
                <a:gd name="T33" fmla="*/ 251 h 393"/>
                <a:gd name="T34" fmla="*/ 77 w 352"/>
                <a:gd name="T35" fmla="*/ 225 h 393"/>
                <a:gd name="T36" fmla="*/ 56 w 352"/>
                <a:gd name="T37" fmla="*/ 182 h 393"/>
                <a:gd name="T38" fmla="*/ 60 w 352"/>
                <a:gd name="T39" fmla="*/ 143 h 393"/>
                <a:gd name="T40" fmla="*/ 88 w 352"/>
                <a:gd name="T41" fmla="*/ 108 h 393"/>
                <a:gd name="T42" fmla="*/ 143 w 352"/>
                <a:gd name="T43" fmla="*/ 83 h 393"/>
                <a:gd name="T44" fmla="*/ 190 w 352"/>
                <a:gd name="T45" fmla="*/ 78 h 393"/>
                <a:gd name="T46" fmla="*/ 208 w 352"/>
                <a:gd name="T47" fmla="*/ 35 h 393"/>
                <a:gd name="T48" fmla="*/ 227 w 352"/>
                <a:gd name="T49" fmla="*/ 80 h 393"/>
                <a:gd name="T50" fmla="*/ 248 w 352"/>
                <a:gd name="T51" fmla="*/ 84 h 393"/>
                <a:gd name="T52" fmla="*/ 273 w 352"/>
                <a:gd name="T53" fmla="*/ 92 h 393"/>
                <a:gd name="T54" fmla="*/ 308 w 352"/>
                <a:gd name="T55" fmla="*/ 114 h 393"/>
                <a:gd name="T56" fmla="*/ 335 w 352"/>
                <a:gd name="T57" fmla="*/ 74 h 393"/>
                <a:gd name="T58" fmla="*/ 351 w 352"/>
                <a:gd name="T59" fmla="*/ 62 h 393"/>
                <a:gd name="T60" fmla="*/ 329 w 352"/>
                <a:gd name="T61" fmla="*/ 43 h 393"/>
                <a:gd name="T62" fmla="*/ 290 w 352"/>
                <a:gd name="T63" fmla="*/ 20 h 393"/>
                <a:gd name="T64" fmla="*/ 229 w 352"/>
                <a:gd name="T65" fmla="*/ 2 h 3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2"/>
                <a:gd name="T100" fmla="*/ 0 h 393"/>
                <a:gd name="T101" fmla="*/ 352 w 352"/>
                <a:gd name="T102" fmla="*/ 393 h 39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2" h="393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rgbClr val="DADADA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299">
              <a:extLst>
                <a:ext uri="{FF2B5EF4-FFF2-40B4-BE49-F238E27FC236}">
                  <a16:creationId xmlns:a16="http://schemas.microsoft.com/office/drawing/2014/main" id="{12EE4633-168C-4C3B-8212-2E9C36359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2" y="2845"/>
              <a:ext cx="298" cy="16"/>
            </a:xfrm>
            <a:custGeom>
              <a:avLst/>
              <a:gdLst>
                <a:gd name="T0" fmla="*/ 297 w 298"/>
                <a:gd name="T1" fmla="*/ 15 h 16"/>
                <a:gd name="T2" fmla="*/ 274 w 298"/>
                <a:gd name="T3" fmla="*/ 0 h 16"/>
                <a:gd name="T4" fmla="*/ 19 w 298"/>
                <a:gd name="T5" fmla="*/ 0 h 16"/>
                <a:gd name="T6" fmla="*/ 0 w 298"/>
                <a:gd name="T7" fmla="*/ 15 h 16"/>
                <a:gd name="T8" fmla="*/ 297 w 298"/>
                <a:gd name="T9" fmla="*/ 15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"/>
                <a:gd name="T16" fmla="*/ 0 h 16"/>
                <a:gd name="T17" fmla="*/ 298 w 29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" h="16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300">
              <a:extLst>
                <a:ext uri="{FF2B5EF4-FFF2-40B4-BE49-F238E27FC236}">
                  <a16:creationId xmlns:a16="http://schemas.microsoft.com/office/drawing/2014/main" id="{07533C97-D779-4EA1-9B59-86C1013D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2432"/>
              <a:ext cx="153" cy="217"/>
            </a:xfrm>
            <a:custGeom>
              <a:avLst/>
              <a:gdLst>
                <a:gd name="T0" fmla="*/ 152 w 153"/>
                <a:gd name="T1" fmla="*/ 216 h 217"/>
                <a:gd name="T2" fmla="*/ 152 w 153"/>
                <a:gd name="T3" fmla="*/ 77 h 217"/>
                <a:gd name="T4" fmla="*/ 121 w 153"/>
                <a:gd name="T5" fmla="*/ 68 h 217"/>
                <a:gd name="T6" fmla="*/ 100 w 153"/>
                <a:gd name="T7" fmla="*/ 56 h 217"/>
                <a:gd name="T8" fmla="*/ 91 w 153"/>
                <a:gd name="T9" fmla="*/ 46 h 217"/>
                <a:gd name="T10" fmla="*/ 90 w 153"/>
                <a:gd name="T11" fmla="*/ 39 h 217"/>
                <a:gd name="T12" fmla="*/ 90 w 153"/>
                <a:gd name="T13" fmla="*/ 34 h 217"/>
                <a:gd name="T14" fmla="*/ 95 w 153"/>
                <a:gd name="T15" fmla="*/ 27 h 217"/>
                <a:gd name="T16" fmla="*/ 105 w 153"/>
                <a:gd name="T17" fmla="*/ 19 h 217"/>
                <a:gd name="T18" fmla="*/ 129 w 153"/>
                <a:gd name="T19" fmla="*/ 13 h 217"/>
                <a:gd name="T20" fmla="*/ 152 w 153"/>
                <a:gd name="T21" fmla="*/ 11 h 217"/>
                <a:gd name="T22" fmla="*/ 152 w 153"/>
                <a:gd name="T23" fmla="*/ 0 h 217"/>
                <a:gd name="T24" fmla="*/ 133 w 153"/>
                <a:gd name="T25" fmla="*/ 0 h 217"/>
                <a:gd name="T26" fmla="*/ 102 w 153"/>
                <a:gd name="T27" fmla="*/ 2 h 217"/>
                <a:gd name="T28" fmla="*/ 87 w 153"/>
                <a:gd name="T29" fmla="*/ 5 h 217"/>
                <a:gd name="T30" fmla="*/ 57 w 153"/>
                <a:gd name="T31" fmla="*/ 16 h 217"/>
                <a:gd name="T32" fmla="*/ 32 w 153"/>
                <a:gd name="T33" fmla="*/ 30 h 217"/>
                <a:gd name="T34" fmla="*/ 17 w 153"/>
                <a:gd name="T35" fmla="*/ 43 h 217"/>
                <a:gd name="T36" fmla="*/ 4 w 153"/>
                <a:gd name="T37" fmla="*/ 65 h 217"/>
                <a:gd name="T38" fmla="*/ 0 w 153"/>
                <a:gd name="T39" fmla="*/ 89 h 217"/>
                <a:gd name="T40" fmla="*/ 0 w 153"/>
                <a:gd name="T41" fmla="*/ 103 h 217"/>
                <a:gd name="T42" fmla="*/ 7 w 153"/>
                <a:gd name="T43" fmla="*/ 125 h 217"/>
                <a:gd name="T44" fmla="*/ 22 w 153"/>
                <a:gd name="T45" fmla="*/ 146 h 217"/>
                <a:gd name="T46" fmla="*/ 38 w 153"/>
                <a:gd name="T47" fmla="*/ 160 h 217"/>
                <a:gd name="T48" fmla="*/ 54 w 153"/>
                <a:gd name="T49" fmla="*/ 173 h 217"/>
                <a:gd name="T50" fmla="*/ 141 w 153"/>
                <a:gd name="T51" fmla="*/ 212 h 217"/>
                <a:gd name="T52" fmla="*/ 152 w 153"/>
                <a:gd name="T53" fmla="*/ 216 h 21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217"/>
                <a:gd name="T83" fmla="*/ 153 w 153"/>
                <a:gd name="T84" fmla="*/ 217 h 21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217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301">
              <a:extLst>
                <a:ext uri="{FF2B5EF4-FFF2-40B4-BE49-F238E27FC236}">
                  <a16:creationId xmlns:a16="http://schemas.microsoft.com/office/drawing/2014/main" id="{B6558007-FB76-48B0-A9C5-5061DBBC9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429"/>
              <a:ext cx="124" cy="96"/>
            </a:xfrm>
            <a:custGeom>
              <a:avLst/>
              <a:gdLst>
                <a:gd name="T0" fmla="*/ 0 w 124"/>
                <a:gd name="T1" fmla="*/ 6 h 96"/>
                <a:gd name="T2" fmla="*/ 0 w 124"/>
                <a:gd name="T3" fmla="*/ 18 h 96"/>
                <a:gd name="T4" fmla="*/ 9 w 124"/>
                <a:gd name="T5" fmla="*/ 19 h 96"/>
                <a:gd name="T6" fmla="*/ 23 w 124"/>
                <a:gd name="T7" fmla="*/ 23 h 96"/>
                <a:gd name="T8" fmla="*/ 32 w 124"/>
                <a:gd name="T9" fmla="*/ 27 h 96"/>
                <a:gd name="T10" fmla="*/ 43 w 124"/>
                <a:gd name="T11" fmla="*/ 33 h 96"/>
                <a:gd name="T12" fmla="*/ 51 w 124"/>
                <a:gd name="T13" fmla="*/ 38 h 96"/>
                <a:gd name="T14" fmla="*/ 59 w 124"/>
                <a:gd name="T15" fmla="*/ 43 h 96"/>
                <a:gd name="T16" fmla="*/ 66 w 124"/>
                <a:gd name="T17" fmla="*/ 48 h 96"/>
                <a:gd name="T18" fmla="*/ 73 w 124"/>
                <a:gd name="T19" fmla="*/ 55 h 96"/>
                <a:gd name="T20" fmla="*/ 79 w 124"/>
                <a:gd name="T21" fmla="*/ 61 h 96"/>
                <a:gd name="T22" fmla="*/ 87 w 124"/>
                <a:gd name="T23" fmla="*/ 68 h 96"/>
                <a:gd name="T24" fmla="*/ 107 w 124"/>
                <a:gd name="T25" fmla="*/ 95 h 96"/>
                <a:gd name="T26" fmla="*/ 123 w 124"/>
                <a:gd name="T27" fmla="*/ 93 h 96"/>
                <a:gd name="T28" fmla="*/ 123 w 124"/>
                <a:gd name="T29" fmla="*/ 1 h 96"/>
                <a:gd name="T30" fmla="*/ 107 w 124"/>
                <a:gd name="T31" fmla="*/ 0 h 96"/>
                <a:gd name="T32" fmla="*/ 93 w 124"/>
                <a:gd name="T33" fmla="*/ 44 h 96"/>
                <a:gd name="T34" fmla="*/ 80 w 124"/>
                <a:gd name="T35" fmla="*/ 38 h 96"/>
                <a:gd name="T36" fmla="*/ 61 w 124"/>
                <a:gd name="T37" fmla="*/ 27 h 96"/>
                <a:gd name="T38" fmla="*/ 46 w 124"/>
                <a:gd name="T39" fmla="*/ 18 h 96"/>
                <a:gd name="T40" fmla="*/ 34 w 124"/>
                <a:gd name="T41" fmla="*/ 13 h 96"/>
                <a:gd name="T42" fmla="*/ 21 w 124"/>
                <a:gd name="T43" fmla="*/ 9 h 96"/>
                <a:gd name="T44" fmla="*/ 9 w 124"/>
                <a:gd name="T45" fmla="*/ 7 h 96"/>
                <a:gd name="T46" fmla="*/ 0 w 124"/>
                <a:gd name="T47" fmla="*/ 6 h 9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4"/>
                <a:gd name="T73" fmla="*/ 0 h 96"/>
                <a:gd name="T74" fmla="*/ 124 w 124"/>
                <a:gd name="T75" fmla="*/ 96 h 9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4" h="96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302">
              <a:extLst>
                <a:ext uri="{FF2B5EF4-FFF2-40B4-BE49-F238E27FC236}">
                  <a16:creationId xmlns:a16="http://schemas.microsoft.com/office/drawing/2014/main" id="{993BDBE3-0A83-435C-87C8-D31B3B42D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" y="2444"/>
              <a:ext cx="63" cy="67"/>
            </a:xfrm>
            <a:custGeom>
              <a:avLst/>
              <a:gdLst>
                <a:gd name="T0" fmla="*/ 62 w 63"/>
                <a:gd name="T1" fmla="*/ 0 h 67"/>
                <a:gd name="T2" fmla="*/ 39 w 63"/>
                <a:gd name="T3" fmla="*/ 2 h 67"/>
                <a:gd name="T4" fmla="*/ 15 w 63"/>
                <a:gd name="T5" fmla="*/ 8 h 67"/>
                <a:gd name="T6" fmla="*/ 4 w 63"/>
                <a:gd name="T7" fmla="*/ 16 h 67"/>
                <a:gd name="T8" fmla="*/ 0 w 63"/>
                <a:gd name="T9" fmla="*/ 23 h 67"/>
                <a:gd name="T10" fmla="*/ 0 w 63"/>
                <a:gd name="T11" fmla="*/ 28 h 67"/>
                <a:gd name="T12" fmla="*/ 1 w 63"/>
                <a:gd name="T13" fmla="*/ 35 h 67"/>
                <a:gd name="T14" fmla="*/ 9 w 63"/>
                <a:gd name="T15" fmla="*/ 45 h 67"/>
                <a:gd name="T16" fmla="*/ 31 w 63"/>
                <a:gd name="T17" fmla="*/ 57 h 67"/>
                <a:gd name="T18" fmla="*/ 62 w 63"/>
                <a:gd name="T19" fmla="*/ 66 h 67"/>
                <a:gd name="T20" fmla="*/ 62 w 63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"/>
                <a:gd name="T34" fmla="*/ 0 h 67"/>
                <a:gd name="T35" fmla="*/ 63 w 63"/>
                <a:gd name="T36" fmla="*/ 67 h 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" h="67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303">
              <a:extLst>
                <a:ext uri="{FF2B5EF4-FFF2-40B4-BE49-F238E27FC236}">
                  <a16:creationId xmlns:a16="http://schemas.microsoft.com/office/drawing/2014/main" id="{92ED191E-71B8-46E2-9618-A8A67406B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657"/>
              <a:ext cx="55" cy="67"/>
            </a:xfrm>
            <a:custGeom>
              <a:avLst/>
              <a:gdLst>
                <a:gd name="T0" fmla="*/ 0 w 55"/>
                <a:gd name="T1" fmla="*/ 0 h 67"/>
                <a:gd name="T2" fmla="*/ 0 w 55"/>
                <a:gd name="T3" fmla="*/ 66 h 67"/>
                <a:gd name="T4" fmla="*/ 26 w 55"/>
                <a:gd name="T5" fmla="*/ 61 h 67"/>
                <a:gd name="T6" fmla="*/ 35 w 55"/>
                <a:gd name="T7" fmla="*/ 58 h 67"/>
                <a:gd name="T8" fmla="*/ 42 w 55"/>
                <a:gd name="T9" fmla="*/ 54 h 67"/>
                <a:gd name="T10" fmla="*/ 49 w 55"/>
                <a:gd name="T11" fmla="*/ 50 h 67"/>
                <a:gd name="T12" fmla="*/ 53 w 55"/>
                <a:gd name="T13" fmla="*/ 44 h 67"/>
                <a:gd name="T14" fmla="*/ 54 w 55"/>
                <a:gd name="T15" fmla="*/ 36 h 67"/>
                <a:gd name="T16" fmla="*/ 52 w 55"/>
                <a:gd name="T17" fmla="*/ 30 h 67"/>
                <a:gd name="T18" fmla="*/ 44 w 55"/>
                <a:gd name="T19" fmla="*/ 21 h 67"/>
                <a:gd name="T20" fmla="*/ 34 w 55"/>
                <a:gd name="T21" fmla="*/ 13 h 67"/>
                <a:gd name="T22" fmla="*/ 13 w 55"/>
                <a:gd name="T23" fmla="*/ 4 h 67"/>
                <a:gd name="T24" fmla="*/ 0 w 55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"/>
                <a:gd name="T40" fmla="*/ 0 h 67"/>
                <a:gd name="T41" fmla="*/ 55 w 55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" h="67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304">
              <a:extLst>
                <a:ext uri="{FF2B5EF4-FFF2-40B4-BE49-F238E27FC236}">
                  <a16:creationId xmlns:a16="http://schemas.microsoft.com/office/drawing/2014/main" id="{3A29E102-4779-4F85-9851-A48D08709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2336"/>
              <a:ext cx="37" cy="15"/>
            </a:xfrm>
            <a:custGeom>
              <a:avLst/>
              <a:gdLst>
                <a:gd name="T0" fmla="*/ 36 w 37"/>
                <a:gd name="T1" fmla="*/ 0 h 15"/>
                <a:gd name="T2" fmla="*/ 9 w 37"/>
                <a:gd name="T3" fmla="*/ 14 h 15"/>
                <a:gd name="T4" fmla="*/ 0 w 37"/>
                <a:gd name="T5" fmla="*/ 12 h 15"/>
                <a:gd name="T6" fmla="*/ 0 w 37"/>
                <a:gd name="T7" fmla="*/ 0 h 15"/>
                <a:gd name="T8" fmla="*/ 36 w 37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15"/>
                <a:gd name="T17" fmla="*/ 37 w 37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15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305">
              <a:extLst>
                <a:ext uri="{FF2B5EF4-FFF2-40B4-BE49-F238E27FC236}">
                  <a16:creationId xmlns:a16="http://schemas.microsoft.com/office/drawing/2014/main" id="{44843B06-1E30-4D3B-8261-7C8648A19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2" y="2337"/>
              <a:ext cx="35" cy="16"/>
            </a:xfrm>
            <a:custGeom>
              <a:avLst/>
              <a:gdLst>
                <a:gd name="T0" fmla="*/ 0 w 35"/>
                <a:gd name="T1" fmla="*/ 0 h 16"/>
                <a:gd name="T2" fmla="*/ 34 w 35"/>
                <a:gd name="T3" fmla="*/ 0 h 16"/>
                <a:gd name="T4" fmla="*/ 34 w 35"/>
                <a:gd name="T5" fmla="*/ 13 h 16"/>
                <a:gd name="T6" fmla="*/ 28 w 35"/>
                <a:gd name="T7" fmla="*/ 15 h 16"/>
                <a:gd name="T8" fmla="*/ 0 w 35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16"/>
                <a:gd name="T17" fmla="*/ 35 w 35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16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306">
              <a:extLst>
                <a:ext uri="{FF2B5EF4-FFF2-40B4-BE49-F238E27FC236}">
                  <a16:creationId xmlns:a16="http://schemas.microsoft.com/office/drawing/2014/main" id="{215F702A-4C6E-4947-BC5D-6F0AB4C28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841"/>
              <a:ext cx="256" cy="5"/>
            </a:xfrm>
            <a:custGeom>
              <a:avLst/>
              <a:gdLst>
                <a:gd name="T0" fmla="*/ 255 w 256"/>
                <a:gd name="T1" fmla="*/ 4 h 5"/>
                <a:gd name="T2" fmla="*/ 251 w 256"/>
                <a:gd name="T3" fmla="*/ 0 h 5"/>
                <a:gd name="T4" fmla="*/ 6 w 256"/>
                <a:gd name="T5" fmla="*/ 0 h 5"/>
                <a:gd name="T6" fmla="*/ 0 w 256"/>
                <a:gd name="T7" fmla="*/ 4 h 5"/>
                <a:gd name="T8" fmla="*/ 255 w 25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5"/>
                <a:gd name="T17" fmla="*/ 256 w 256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5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Freeform 307">
              <a:extLst>
                <a:ext uri="{FF2B5EF4-FFF2-40B4-BE49-F238E27FC236}">
                  <a16:creationId xmlns:a16="http://schemas.microsoft.com/office/drawing/2014/main" id="{15C8E330-4EF5-4E2E-B306-659587AE1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316"/>
              <a:ext cx="571" cy="545"/>
            </a:xfrm>
            <a:custGeom>
              <a:avLst/>
              <a:gdLst>
                <a:gd name="T0" fmla="*/ 430 w 571"/>
                <a:gd name="T1" fmla="*/ 520 h 545"/>
                <a:gd name="T2" fmla="*/ 488 w 571"/>
                <a:gd name="T3" fmla="*/ 452 h 545"/>
                <a:gd name="T4" fmla="*/ 515 w 571"/>
                <a:gd name="T5" fmla="*/ 399 h 545"/>
                <a:gd name="T6" fmla="*/ 536 w 571"/>
                <a:gd name="T7" fmla="*/ 311 h 545"/>
                <a:gd name="T8" fmla="*/ 531 w 571"/>
                <a:gd name="T9" fmla="*/ 206 h 545"/>
                <a:gd name="T10" fmla="*/ 488 w 571"/>
                <a:gd name="T11" fmla="*/ 103 h 545"/>
                <a:gd name="T12" fmla="*/ 470 w 571"/>
                <a:gd name="T13" fmla="*/ 66 h 545"/>
                <a:gd name="T14" fmla="*/ 481 w 571"/>
                <a:gd name="T15" fmla="*/ 41 h 545"/>
                <a:gd name="T16" fmla="*/ 548 w 571"/>
                <a:gd name="T17" fmla="*/ 61 h 545"/>
                <a:gd name="T18" fmla="*/ 570 w 571"/>
                <a:gd name="T19" fmla="*/ 0 h 545"/>
                <a:gd name="T20" fmla="*/ 0 w 571"/>
                <a:gd name="T21" fmla="*/ 50 h 545"/>
                <a:gd name="T22" fmla="*/ 59 w 571"/>
                <a:gd name="T23" fmla="*/ 41 h 545"/>
                <a:gd name="T24" fmla="*/ 83 w 571"/>
                <a:gd name="T25" fmla="*/ 39 h 545"/>
                <a:gd name="T26" fmla="*/ 98 w 571"/>
                <a:gd name="T27" fmla="*/ 58 h 545"/>
                <a:gd name="T28" fmla="*/ 85 w 571"/>
                <a:gd name="T29" fmla="*/ 98 h 545"/>
                <a:gd name="T30" fmla="*/ 59 w 571"/>
                <a:gd name="T31" fmla="*/ 143 h 545"/>
                <a:gd name="T32" fmla="*/ 40 w 571"/>
                <a:gd name="T33" fmla="*/ 206 h 545"/>
                <a:gd name="T34" fmla="*/ 33 w 571"/>
                <a:gd name="T35" fmla="*/ 275 h 545"/>
                <a:gd name="T36" fmla="*/ 35 w 571"/>
                <a:gd name="T37" fmla="*/ 320 h 545"/>
                <a:gd name="T38" fmla="*/ 49 w 571"/>
                <a:gd name="T39" fmla="*/ 381 h 545"/>
                <a:gd name="T40" fmla="*/ 77 w 571"/>
                <a:gd name="T41" fmla="*/ 440 h 545"/>
                <a:gd name="T42" fmla="*/ 145 w 571"/>
                <a:gd name="T43" fmla="*/ 518 h 545"/>
                <a:gd name="T44" fmla="*/ 159 w 571"/>
                <a:gd name="T45" fmla="*/ 529 h 545"/>
                <a:gd name="T46" fmla="*/ 141 w 571"/>
                <a:gd name="T47" fmla="*/ 481 h 545"/>
                <a:gd name="T48" fmla="*/ 108 w 571"/>
                <a:gd name="T49" fmla="*/ 451 h 545"/>
                <a:gd name="T50" fmla="*/ 79 w 571"/>
                <a:gd name="T51" fmla="*/ 410 h 545"/>
                <a:gd name="T52" fmla="*/ 61 w 571"/>
                <a:gd name="T53" fmla="*/ 370 h 545"/>
                <a:gd name="T54" fmla="*/ 50 w 571"/>
                <a:gd name="T55" fmla="*/ 327 h 545"/>
                <a:gd name="T56" fmla="*/ 47 w 571"/>
                <a:gd name="T57" fmla="*/ 265 h 545"/>
                <a:gd name="T58" fmla="*/ 54 w 571"/>
                <a:gd name="T59" fmla="*/ 214 h 545"/>
                <a:gd name="T60" fmla="*/ 68 w 571"/>
                <a:gd name="T61" fmla="*/ 167 h 545"/>
                <a:gd name="T62" fmla="*/ 100 w 571"/>
                <a:gd name="T63" fmla="*/ 106 h 545"/>
                <a:gd name="T64" fmla="*/ 117 w 571"/>
                <a:gd name="T65" fmla="*/ 58 h 545"/>
                <a:gd name="T66" fmla="*/ 90 w 571"/>
                <a:gd name="T67" fmla="*/ 20 h 545"/>
                <a:gd name="T68" fmla="*/ 22 w 571"/>
                <a:gd name="T69" fmla="*/ 38 h 545"/>
                <a:gd name="T70" fmla="*/ 11 w 571"/>
                <a:gd name="T71" fmla="*/ 18 h 545"/>
                <a:gd name="T72" fmla="*/ 556 w 571"/>
                <a:gd name="T73" fmla="*/ 38 h 545"/>
                <a:gd name="T74" fmla="*/ 512 w 571"/>
                <a:gd name="T75" fmla="*/ 21 h 545"/>
                <a:gd name="T76" fmla="*/ 463 w 571"/>
                <a:gd name="T77" fmla="*/ 29 h 545"/>
                <a:gd name="T78" fmla="*/ 452 w 571"/>
                <a:gd name="T79" fmla="*/ 46 h 545"/>
                <a:gd name="T80" fmla="*/ 452 w 571"/>
                <a:gd name="T81" fmla="*/ 72 h 545"/>
                <a:gd name="T82" fmla="*/ 469 w 571"/>
                <a:gd name="T83" fmla="*/ 102 h 545"/>
                <a:gd name="T84" fmla="*/ 492 w 571"/>
                <a:gd name="T85" fmla="*/ 145 h 545"/>
                <a:gd name="T86" fmla="*/ 511 w 571"/>
                <a:gd name="T87" fmla="*/ 193 h 545"/>
                <a:gd name="T88" fmla="*/ 520 w 571"/>
                <a:gd name="T89" fmla="*/ 248 h 545"/>
                <a:gd name="T90" fmla="*/ 520 w 571"/>
                <a:gd name="T91" fmla="*/ 300 h 545"/>
                <a:gd name="T92" fmla="*/ 516 w 571"/>
                <a:gd name="T93" fmla="*/ 334 h 545"/>
                <a:gd name="T94" fmla="*/ 511 w 571"/>
                <a:gd name="T95" fmla="*/ 359 h 545"/>
                <a:gd name="T96" fmla="*/ 501 w 571"/>
                <a:gd name="T97" fmla="*/ 389 h 545"/>
                <a:gd name="T98" fmla="*/ 482 w 571"/>
                <a:gd name="T99" fmla="*/ 432 h 545"/>
                <a:gd name="T100" fmla="*/ 461 w 571"/>
                <a:gd name="T101" fmla="*/ 459 h 545"/>
                <a:gd name="T102" fmla="*/ 446 w 571"/>
                <a:gd name="T103" fmla="*/ 476 h 545"/>
                <a:gd name="T104" fmla="*/ 431 w 571"/>
                <a:gd name="T105" fmla="*/ 491 h 545"/>
                <a:gd name="T106" fmla="*/ 414 w 571"/>
                <a:gd name="T107" fmla="*/ 529 h 5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71"/>
                <a:gd name="T163" fmla="*/ 0 h 545"/>
                <a:gd name="T164" fmla="*/ 571 w 571"/>
                <a:gd name="T165" fmla="*/ 545 h 54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71" h="545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C6D0D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308">
              <a:extLst>
                <a:ext uri="{FF2B5EF4-FFF2-40B4-BE49-F238E27FC236}">
                  <a16:creationId xmlns:a16="http://schemas.microsoft.com/office/drawing/2014/main" id="{34B83A95-6B5B-4E7B-A8C0-8B258A39A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" y="2632"/>
              <a:ext cx="157" cy="103"/>
            </a:xfrm>
            <a:custGeom>
              <a:avLst/>
              <a:gdLst>
                <a:gd name="T0" fmla="*/ 156 w 157"/>
                <a:gd name="T1" fmla="*/ 87 h 103"/>
                <a:gd name="T2" fmla="*/ 137 w 157"/>
                <a:gd name="T3" fmla="*/ 87 h 103"/>
                <a:gd name="T4" fmla="*/ 118 w 157"/>
                <a:gd name="T5" fmla="*/ 81 h 103"/>
                <a:gd name="T6" fmla="*/ 103 w 157"/>
                <a:gd name="T7" fmla="*/ 75 h 103"/>
                <a:gd name="T8" fmla="*/ 83 w 157"/>
                <a:gd name="T9" fmla="*/ 65 h 103"/>
                <a:gd name="T10" fmla="*/ 65 w 157"/>
                <a:gd name="T11" fmla="*/ 54 h 103"/>
                <a:gd name="T12" fmla="*/ 50 w 157"/>
                <a:gd name="T13" fmla="*/ 41 h 103"/>
                <a:gd name="T14" fmla="*/ 39 w 157"/>
                <a:gd name="T15" fmla="*/ 29 h 103"/>
                <a:gd name="T16" fmla="*/ 28 w 157"/>
                <a:gd name="T17" fmla="*/ 15 h 103"/>
                <a:gd name="T18" fmla="*/ 17 w 157"/>
                <a:gd name="T19" fmla="*/ 1 h 103"/>
                <a:gd name="T20" fmla="*/ 0 w 157"/>
                <a:gd name="T21" fmla="*/ 0 h 103"/>
                <a:gd name="T22" fmla="*/ 0 w 157"/>
                <a:gd name="T23" fmla="*/ 98 h 103"/>
                <a:gd name="T24" fmla="*/ 17 w 157"/>
                <a:gd name="T25" fmla="*/ 98 h 103"/>
                <a:gd name="T26" fmla="*/ 37 w 157"/>
                <a:gd name="T27" fmla="*/ 51 h 103"/>
                <a:gd name="T28" fmla="*/ 66 w 157"/>
                <a:gd name="T29" fmla="*/ 75 h 103"/>
                <a:gd name="T30" fmla="*/ 84 w 157"/>
                <a:gd name="T31" fmla="*/ 84 h 103"/>
                <a:gd name="T32" fmla="*/ 106 w 157"/>
                <a:gd name="T33" fmla="*/ 94 h 103"/>
                <a:gd name="T34" fmla="*/ 124 w 157"/>
                <a:gd name="T35" fmla="*/ 98 h 103"/>
                <a:gd name="T36" fmla="*/ 141 w 157"/>
                <a:gd name="T37" fmla="*/ 100 h 103"/>
                <a:gd name="T38" fmla="*/ 156 w 157"/>
                <a:gd name="T39" fmla="*/ 102 h 103"/>
                <a:gd name="T40" fmla="*/ 156 w 157"/>
                <a:gd name="T41" fmla="*/ 87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7"/>
                <a:gd name="T64" fmla="*/ 0 h 103"/>
                <a:gd name="T65" fmla="*/ 157 w 157"/>
                <a:gd name="T66" fmla="*/ 103 h 10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7" h="103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Freeform 309">
              <a:extLst>
                <a:ext uri="{FF2B5EF4-FFF2-40B4-BE49-F238E27FC236}">
                  <a16:creationId xmlns:a16="http://schemas.microsoft.com/office/drawing/2014/main" id="{DB4A4357-1505-4A98-9126-87694F162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" y="2333"/>
              <a:ext cx="547" cy="513"/>
            </a:xfrm>
            <a:custGeom>
              <a:avLst/>
              <a:gdLst>
                <a:gd name="T0" fmla="*/ 399 w 547"/>
                <a:gd name="T1" fmla="*/ 490 h 513"/>
                <a:gd name="T2" fmla="*/ 428 w 547"/>
                <a:gd name="T3" fmla="*/ 466 h 513"/>
                <a:gd name="T4" fmla="*/ 443 w 547"/>
                <a:gd name="T5" fmla="*/ 451 h 513"/>
                <a:gd name="T6" fmla="*/ 460 w 547"/>
                <a:gd name="T7" fmla="*/ 432 h 513"/>
                <a:gd name="T8" fmla="*/ 480 w 547"/>
                <a:gd name="T9" fmla="*/ 397 h 513"/>
                <a:gd name="T10" fmla="*/ 498 w 547"/>
                <a:gd name="T11" fmla="*/ 352 h 513"/>
                <a:gd name="T12" fmla="*/ 504 w 547"/>
                <a:gd name="T13" fmla="*/ 330 h 513"/>
                <a:gd name="T14" fmla="*/ 507 w 547"/>
                <a:gd name="T15" fmla="*/ 298 h 513"/>
                <a:gd name="T16" fmla="*/ 510 w 547"/>
                <a:gd name="T17" fmla="*/ 260 h 513"/>
                <a:gd name="T18" fmla="*/ 506 w 547"/>
                <a:gd name="T19" fmla="*/ 202 h 513"/>
                <a:gd name="T20" fmla="*/ 491 w 547"/>
                <a:gd name="T21" fmla="*/ 151 h 513"/>
                <a:gd name="T22" fmla="*/ 470 w 547"/>
                <a:gd name="T23" fmla="*/ 107 h 513"/>
                <a:gd name="T24" fmla="*/ 445 w 547"/>
                <a:gd name="T25" fmla="*/ 64 h 513"/>
                <a:gd name="T26" fmla="*/ 439 w 547"/>
                <a:gd name="T27" fmla="*/ 42 h 513"/>
                <a:gd name="T28" fmla="*/ 445 w 547"/>
                <a:gd name="T29" fmla="*/ 20 h 513"/>
                <a:gd name="T30" fmla="*/ 462 w 547"/>
                <a:gd name="T31" fmla="*/ 4 h 513"/>
                <a:gd name="T32" fmla="*/ 543 w 547"/>
                <a:gd name="T33" fmla="*/ 16 h 513"/>
                <a:gd name="T34" fmla="*/ 509 w 547"/>
                <a:gd name="T35" fmla="*/ 4 h 513"/>
                <a:gd name="T36" fmla="*/ 538 w 547"/>
                <a:gd name="T37" fmla="*/ 23 h 513"/>
                <a:gd name="T38" fmla="*/ 546 w 547"/>
                <a:gd name="T39" fmla="*/ 1 h 513"/>
                <a:gd name="T40" fmla="*/ 0 w 547"/>
                <a:gd name="T41" fmla="*/ 19 h 513"/>
                <a:gd name="T42" fmla="*/ 43 w 547"/>
                <a:gd name="T43" fmla="*/ 3 h 513"/>
                <a:gd name="T44" fmla="*/ 11 w 547"/>
                <a:gd name="T45" fmla="*/ 17 h 513"/>
                <a:gd name="T46" fmla="*/ 3 w 547"/>
                <a:gd name="T47" fmla="*/ 3 h 513"/>
                <a:gd name="T48" fmla="*/ 100 w 547"/>
                <a:gd name="T49" fmla="*/ 22 h 513"/>
                <a:gd name="T50" fmla="*/ 107 w 547"/>
                <a:gd name="T51" fmla="*/ 61 h 513"/>
                <a:gd name="T52" fmla="*/ 66 w 547"/>
                <a:gd name="T53" fmla="*/ 128 h 513"/>
                <a:gd name="T54" fmla="*/ 48 w 547"/>
                <a:gd name="T55" fmla="*/ 174 h 513"/>
                <a:gd name="T56" fmla="*/ 39 w 547"/>
                <a:gd name="T57" fmla="*/ 220 h 513"/>
                <a:gd name="T58" fmla="*/ 36 w 547"/>
                <a:gd name="T59" fmla="*/ 279 h 513"/>
                <a:gd name="T60" fmla="*/ 44 w 547"/>
                <a:gd name="T61" fmla="*/ 334 h 513"/>
                <a:gd name="T62" fmla="*/ 57 w 547"/>
                <a:gd name="T63" fmla="*/ 370 h 513"/>
                <a:gd name="T64" fmla="*/ 80 w 547"/>
                <a:gd name="T65" fmla="*/ 411 h 513"/>
                <a:gd name="T66" fmla="*/ 111 w 547"/>
                <a:gd name="T67" fmla="*/ 448 h 513"/>
                <a:gd name="T68" fmla="*/ 155 w 547"/>
                <a:gd name="T69" fmla="*/ 484 h 513"/>
                <a:gd name="T70" fmla="*/ 155 w 547"/>
                <a:gd name="T71" fmla="*/ 508 h 513"/>
                <a:gd name="T72" fmla="*/ 141 w 547"/>
                <a:gd name="T73" fmla="*/ 467 h 513"/>
                <a:gd name="T74" fmla="*/ 104 w 547"/>
                <a:gd name="T75" fmla="*/ 434 h 513"/>
                <a:gd name="T76" fmla="*/ 78 w 547"/>
                <a:gd name="T77" fmla="*/ 400 h 513"/>
                <a:gd name="T78" fmla="*/ 62 w 547"/>
                <a:gd name="T79" fmla="*/ 371 h 513"/>
                <a:gd name="T80" fmla="*/ 48 w 547"/>
                <a:gd name="T81" fmla="*/ 334 h 513"/>
                <a:gd name="T82" fmla="*/ 41 w 547"/>
                <a:gd name="T83" fmla="*/ 299 h 513"/>
                <a:gd name="T84" fmla="*/ 40 w 547"/>
                <a:gd name="T85" fmla="*/ 242 h 513"/>
                <a:gd name="T86" fmla="*/ 52 w 547"/>
                <a:gd name="T87" fmla="*/ 171 h 513"/>
                <a:gd name="T88" fmla="*/ 86 w 547"/>
                <a:gd name="T89" fmla="*/ 101 h 513"/>
                <a:gd name="T90" fmla="*/ 110 w 547"/>
                <a:gd name="T91" fmla="*/ 41 h 513"/>
                <a:gd name="T92" fmla="*/ 84 w 547"/>
                <a:gd name="T93" fmla="*/ 5 h 513"/>
                <a:gd name="T94" fmla="*/ 448 w 547"/>
                <a:gd name="T95" fmla="*/ 9 h 513"/>
                <a:gd name="T96" fmla="*/ 438 w 547"/>
                <a:gd name="T97" fmla="*/ 25 h 513"/>
                <a:gd name="T98" fmla="*/ 435 w 547"/>
                <a:gd name="T99" fmla="*/ 50 h 513"/>
                <a:gd name="T100" fmla="*/ 445 w 547"/>
                <a:gd name="T101" fmla="*/ 71 h 513"/>
                <a:gd name="T102" fmla="*/ 460 w 547"/>
                <a:gd name="T103" fmla="*/ 96 h 513"/>
                <a:gd name="T104" fmla="*/ 484 w 547"/>
                <a:gd name="T105" fmla="*/ 143 h 513"/>
                <a:gd name="T106" fmla="*/ 498 w 547"/>
                <a:gd name="T107" fmla="*/ 181 h 513"/>
                <a:gd name="T108" fmla="*/ 506 w 547"/>
                <a:gd name="T109" fmla="*/ 231 h 513"/>
                <a:gd name="T110" fmla="*/ 501 w 547"/>
                <a:gd name="T111" fmla="*/ 319 h 513"/>
                <a:gd name="T112" fmla="*/ 482 w 547"/>
                <a:gd name="T113" fmla="*/ 385 h 513"/>
                <a:gd name="T114" fmla="*/ 445 w 547"/>
                <a:gd name="T115" fmla="*/ 441 h 513"/>
                <a:gd name="T116" fmla="*/ 415 w 547"/>
                <a:gd name="T117" fmla="*/ 472 h 513"/>
                <a:gd name="T118" fmla="*/ 399 w 547"/>
                <a:gd name="T119" fmla="*/ 508 h 5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7"/>
                <a:gd name="T181" fmla="*/ 0 h 513"/>
                <a:gd name="T182" fmla="*/ 547 w 547"/>
                <a:gd name="T183" fmla="*/ 513 h 5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7" h="513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310">
              <a:extLst>
                <a:ext uri="{FF2B5EF4-FFF2-40B4-BE49-F238E27FC236}">
                  <a16:creationId xmlns:a16="http://schemas.microsoft.com/office/drawing/2014/main" id="{249309F0-8B28-4F95-9C13-BAC85C211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520"/>
              <a:ext cx="156" cy="216"/>
            </a:xfrm>
            <a:custGeom>
              <a:avLst/>
              <a:gdLst>
                <a:gd name="T0" fmla="*/ 0 w 156"/>
                <a:gd name="T1" fmla="*/ 0 h 216"/>
                <a:gd name="T2" fmla="*/ 0 w 156"/>
                <a:gd name="T3" fmla="*/ 137 h 216"/>
                <a:gd name="T4" fmla="*/ 13 w 156"/>
                <a:gd name="T5" fmla="*/ 141 h 216"/>
                <a:gd name="T6" fmla="*/ 34 w 156"/>
                <a:gd name="T7" fmla="*/ 149 h 216"/>
                <a:gd name="T8" fmla="*/ 44 w 156"/>
                <a:gd name="T9" fmla="*/ 157 h 216"/>
                <a:gd name="T10" fmla="*/ 51 w 156"/>
                <a:gd name="T11" fmla="*/ 166 h 216"/>
                <a:gd name="T12" fmla="*/ 54 w 156"/>
                <a:gd name="T13" fmla="*/ 172 h 216"/>
                <a:gd name="T14" fmla="*/ 53 w 156"/>
                <a:gd name="T15" fmla="*/ 179 h 216"/>
                <a:gd name="T16" fmla="*/ 49 w 156"/>
                <a:gd name="T17" fmla="*/ 186 h 216"/>
                <a:gd name="T18" fmla="*/ 42 w 156"/>
                <a:gd name="T19" fmla="*/ 189 h 216"/>
                <a:gd name="T20" fmla="*/ 35 w 156"/>
                <a:gd name="T21" fmla="*/ 193 h 216"/>
                <a:gd name="T22" fmla="*/ 26 w 156"/>
                <a:gd name="T23" fmla="*/ 196 h 216"/>
                <a:gd name="T24" fmla="*/ 0 w 156"/>
                <a:gd name="T25" fmla="*/ 201 h 216"/>
                <a:gd name="T26" fmla="*/ 0 w 156"/>
                <a:gd name="T27" fmla="*/ 215 h 216"/>
                <a:gd name="T28" fmla="*/ 34 w 156"/>
                <a:gd name="T29" fmla="*/ 212 h 216"/>
                <a:gd name="T30" fmla="*/ 80 w 156"/>
                <a:gd name="T31" fmla="*/ 201 h 216"/>
                <a:gd name="T32" fmla="*/ 109 w 156"/>
                <a:gd name="T33" fmla="*/ 189 h 216"/>
                <a:gd name="T34" fmla="*/ 126 w 156"/>
                <a:gd name="T35" fmla="*/ 178 h 216"/>
                <a:gd name="T36" fmla="*/ 141 w 156"/>
                <a:gd name="T37" fmla="*/ 161 h 216"/>
                <a:gd name="T38" fmla="*/ 151 w 156"/>
                <a:gd name="T39" fmla="*/ 141 h 216"/>
                <a:gd name="T40" fmla="*/ 155 w 156"/>
                <a:gd name="T41" fmla="*/ 120 h 216"/>
                <a:gd name="T42" fmla="*/ 153 w 156"/>
                <a:gd name="T43" fmla="*/ 103 h 216"/>
                <a:gd name="T44" fmla="*/ 142 w 156"/>
                <a:gd name="T45" fmla="*/ 79 h 216"/>
                <a:gd name="T46" fmla="*/ 129 w 156"/>
                <a:gd name="T47" fmla="*/ 63 h 216"/>
                <a:gd name="T48" fmla="*/ 122 w 156"/>
                <a:gd name="T49" fmla="*/ 57 h 216"/>
                <a:gd name="T50" fmla="*/ 0 w 156"/>
                <a:gd name="T51" fmla="*/ 0 h 21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6"/>
                <a:gd name="T79" fmla="*/ 0 h 216"/>
                <a:gd name="T80" fmla="*/ 156 w 156"/>
                <a:gd name="T81" fmla="*/ 216 h 21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6" h="21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311">
              <a:extLst>
                <a:ext uri="{FF2B5EF4-FFF2-40B4-BE49-F238E27FC236}">
                  <a16:creationId xmlns:a16="http://schemas.microsoft.com/office/drawing/2014/main" id="{DA06F781-0543-4AA1-B834-30AC2E18D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389"/>
              <a:ext cx="18" cy="403"/>
            </a:xfrm>
            <a:custGeom>
              <a:avLst/>
              <a:gdLst>
                <a:gd name="T0" fmla="*/ 0 w 18"/>
                <a:gd name="T1" fmla="*/ 331 h 403"/>
                <a:gd name="T2" fmla="*/ 0 w 18"/>
                <a:gd name="T3" fmla="*/ 402 h 403"/>
                <a:gd name="T4" fmla="*/ 17 w 18"/>
                <a:gd name="T5" fmla="*/ 402 h 403"/>
                <a:gd name="T6" fmla="*/ 17 w 18"/>
                <a:gd name="T7" fmla="*/ 0 h 403"/>
                <a:gd name="T8" fmla="*/ 0 w 18"/>
                <a:gd name="T9" fmla="*/ 0 h 403"/>
                <a:gd name="T10" fmla="*/ 0 w 18"/>
                <a:gd name="T11" fmla="*/ 331 h 4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03"/>
                <a:gd name="T20" fmla="*/ 18 w 18"/>
                <a:gd name="T21" fmla="*/ 403 h 4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03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91" name="Rectangle 312">
            <a:extLst>
              <a:ext uri="{FF2B5EF4-FFF2-40B4-BE49-F238E27FC236}">
                <a16:creationId xmlns:a16="http://schemas.microsoft.com/office/drawing/2014/main" id="{4C9D1A63-805C-4229-A8B1-1B9CC50A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2836863"/>
            <a:ext cx="1390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77" tIns="42038" rIns="85577" bIns="42038">
            <a:spAutoFit/>
          </a:bodyPr>
          <a:lstStyle>
            <a:lvl1pPr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51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900" b="1">
                <a:solidFill>
                  <a:srgbClr val="CF0E30"/>
                </a:solidFill>
              </a:rPr>
              <a:t>Benefits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976</Words>
  <Application>Microsoft Office PowerPoint</Application>
  <PresentationFormat>On-screen Show (4:3)</PresentationFormat>
  <Paragraphs>152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Times New Roman</vt:lpstr>
      <vt:lpstr>Arial Black</vt:lpstr>
      <vt:lpstr>Default Design</vt:lpstr>
      <vt:lpstr>Micrografx Windows Draw 5.0 Drawing</vt:lpstr>
      <vt:lpstr>Microsoft Word Document</vt:lpstr>
      <vt:lpstr>Document</vt:lpstr>
      <vt:lpstr>Microsoft Excel Worksheet</vt:lpstr>
      <vt:lpstr> Payroll Accounting And Pension Plan.</vt:lpstr>
      <vt:lpstr>PAYROLL ACCOUNTING  </vt:lpstr>
      <vt:lpstr>INTERNAL CONTROLS FOR PAYROLL</vt:lpstr>
      <vt:lpstr>HIRING EMPLOYEES</vt:lpstr>
      <vt:lpstr>TIMEKEEPING</vt:lpstr>
      <vt:lpstr>PREPARING THE PAYROLL</vt:lpstr>
      <vt:lpstr>DETERMINING AND PAYING THE PAYROLL  </vt:lpstr>
      <vt:lpstr>PowerPoint Presentation</vt:lpstr>
      <vt:lpstr>PAYROLL DEDUCTIONS</vt:lpstr>
      <vt:lpstr>PowerPoint Presentation</vt:lpstr>
      <vt:lpstr>INCOME TAXES </vt:lpstr>
      <vt:lpstr>VOLUNTARY DEDUCTIONS </vt:lpstr>
      <vt:lpstr>PowerPoint Presentation</vt:lpstr>
      <vt:lpstr>RECORDING THE PAYROLL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POSTRETIREMENT BENEFITS</vt:lpstr>
      <vt:lpstr> PENSION PLANS </vt:lpstr>
      <vt:lpstr>PowerPoint Presentation</vt:lpstr>
    </vt:vector>
  </TitlesOfParts>
  <Company>Diablo Valley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Payroll Accounting</dc:title>
  <dc:creator>Diablo Valley College</dc:creator>
  <cp:lastModifiedBy>Adedeji-ace Oyetunji</cp:lastModifiedBy>
  <cp:revision>9</cp:revision>
  <cp:lastPrinted>2016-04-26T15:43:25Z</cp:lastPrinted>
  <dcterms:created xsi:type="dcterms:W3CDTF">2006-05-20T14:43:47Z</dcterms:created>
  <dcterms:modified xsi:type="dcterms:W3CDTF">2026-04-01T12:30:41Z</dcterms:modified>
</cp:coreProperties>
</file>