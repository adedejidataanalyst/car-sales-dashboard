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7" r:id="rId19"/>
    <p:sldId id="278" r:id="rId20"/>
    <p:sldId id="279" r:id="rId21"/>
    <p:sldId id="280" r:id="rId22"/>
    <p:sldId id="281" r:id="rId23"/>
    <p:sldId id="282" r:id="rId24"/>
  </p:sldIdLst>
  <p:sldSz cx="9144000" cy="6858000" type="screen4x3"/>
  <p:notesSz cx="9290050" cy="7004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26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F5CEF-F3BD-450C-B199-FB90FD96B6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BB66A-168D-4B02-B405-EDC183ED48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2563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D0EEE21B-D6E4-44AB-8B1E-B195AA3A204E}" type="datetimeFigureOut">
              <a:rPr lang="en-GB"/>
              <a:pPr>
                <a:defRPr/>
              </a:pPr>
              <a:t>25/03/2026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416DE-EC9B-4A71-941B-38ACAC8FE1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1625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6D631-0677-419B-9FE3-8617BE8DB9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2563" y="6651625"/>
            <a:ext cx="4025900" cy="3508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97BC896-8794-4681-90B7-E9522F7164C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EEAF6D-C59C-4720-BFAD-0BAFEB66B55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7BE31B-794B-4425-AD74-F4B30B5302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2563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1CACD29-466F-4949-93C6-CFC5B6756D1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894013" y="525463"/>
            <a:ext cx="3502025" cy="2625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F1A97C8-5D3B-482C-9B53-51E9C918D4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3327400"/>
            <a:ext cx="7432675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3A2B177-047A-41BB-8117-BFDAE73A90B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9991E4E-B2A7-4EA3-BF2D-71B0E66D18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2563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8E2ECAA-2FDB-4A69-A277-FB05378C5D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144F7556-B013-4646-BB45-7291F7D024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CDBBF486-F9F0-4826-99C2-965819DFE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17B66F73-9921-4F9A-9891-B0907115B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61BB31-B27B-4093-9D51-314B707B43B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FFD4170-BD65-4F32-A6F8-785D6D6283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8D2BB1-8809-449F-B4B2-40692E92FBC9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473CF36-71DE-463D-833E-A00E3047D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D6FF473-F4D6-461D-AFAA-5E7F9447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D2F36F70-3EA4-41FF-8FC0-1BF8A0ECF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8D26AA7A-A659-47B2-982A-69BC42A2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19DFB6DA-FDCA-4D4A-85DD-A2CF692C85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670D7035-2205-4748-A17E-3FD250DEE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1A95AD78-194E-42BE-AEAB-228A530F0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C33DD4-AB34-4F86-8018-A9CB24DF4B40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0CD733C-08AC-4E20-B32D-80FFC6C47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8893BC3-E3AA-4348-91A2-80BB809D7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6D6F685F-259D-48BE-A8BC-932EE5055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4F164215-BDCB-4748-9D52-D6EF69760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9929D719-3BEB-4C76-95C5-0935641A7E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479F03A7-F2F6-4926-902E-488E0B08D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7AE466A0-3DA6-404D-B967-7320B61FC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F47971-D35F-4192-9B08-872744511363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FBFBC0C-D765-4708-A994-029D6ABFA7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17792A6-4616-419A-856D-2D0930307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6611A6E3-80BB-4211-8346-A36A7AB5FA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511493-E830-404A-8FF1-8D1FB51B279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DAE0E36-6C27-43B7-8810-98B12C89C9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AC07596-B1FF-4158-94F0-2297A38DA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D979D22-175D-47F1-8CEB-D21AEB728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6EEF13-C838-42C5-AE1E-08211AB00049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7B3F571-41DD-4AA5-A77B-1C9CC20A16B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467195-23D3-452E-9408-28AB35925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01F02A81-A02C-4BE1-9BA9-C9F2EE61B0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FA238A-A700-4C42-8D78-2098EBFC0388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E44B5BE-4AB4-423E-89AB-810E7802DF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5F89AA0-2A9C-455A-8900-E890FDE8A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AACF566-4F04-4E1A-84C0-AF121A1D1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132147-0944-4F07-832D-7D24123E47A2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1EAA822-BDBA-4D2C-B035-8368B4696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3B5E874-BE41-429B-A99E-78D706FE6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35646D26-1FBC-46F7-A890-EAFD54EF4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49EB9D3A-70A4-49C4-B9BF-0D29B51C6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CE85470D-687E-4611-8811-39E2953C96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7919AD5C-0E68-4C2D-AA7F-149756121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5F1E8EA-3506-454F-9AB7-00E94721B3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1A0BBE-E4A5-4EF3-9706-9BD9ACC33EE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E3FB46F-14FE-4048-8B29-2EAF1A00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FEF04FF-C1F7-43D5-8950-E4EAFC0D5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398327FA-16DC-4271-8092-4A939801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EE82ED0F-95AF-49BE-A673-CA9F8A149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E5B7D4AB-BD1B-4C24-9DC5-5F3B84F73A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A34619B0-329F-48C6-8A8E-BB00EC968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9D81E2-39B7-4B51-AD38-8651D1C29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6A23A5-A144-4A8B-87B8-FDDC4D97000C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10567FC-3281-4114-A073-8C39F50977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BD6BC87-73F5-47B0-92CA-1901004D6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50BE3A6-DA85-47BA-A443-4F96F3D1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058C6A-6BFD-4B10-B6F3-6F7611EAA004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4F15A93-207A-4DB8-8117-57778F9B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48C2272-6BD2-496A-8432-7EC109FBE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22</a:t>
            </a: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EA53C096-E8C9-4006-A33A-6F45492A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7A08A158-DC2F-43BF-87F8-E0887EB14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E2EB1DE3-AE05-4EBC-8B61-EC586CAA4B8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02CE3634-79E6-4F45-A1D6-D34E52B18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8FB2AB9-0376-42D1-BC80-79A258B52D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72B3E1-ED01-4AE2-93C4-70FC147C93F5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2CCB379-B868-4D58-8C49-8D95BD94A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6C479DC-3F15-48D3-8064-98934CB2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12887ADC-7C9C-4F5C-A7ED-031E125A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A8A8D15F-D05F-4418-A986-6D699D3C1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2FE86819-6968-4419-948C-BF0693EB82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E492EBEA-8675-4E12-9E07-0EFAAFD32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432267D-0AF6-47C9-B8F0-E189196204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B0DFF4-8CEB-4955-80BD-90AADBBF716A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6C20E25-DE79-4C1B-A237-D6529DFE0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56735D3-0CE7-4C2E-A257-2EACF188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508F3C81-BD46-4605-8FCE-FECAEB9C4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1F88DB99-ED4B-4B3C-B999-CF0268A2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EEFA1E4E-ADF0-48E9-9B97-3B94F154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94BAE75F-75DE-485A-8F44-943E6D13FE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FB7DB96-1E6A-4134-AFF2-008B6CA36C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FA986E-16B0-4187-94CB-00FC5CCD5BC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6D3D639-958F-4951-80E0-8B30729B2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C55F6BA-B2E7-4295-8690-5FAC8DCF6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25</a:t>
            </a: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5E3755B3-9FEC-41E9-A253-FC53964A3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0093482C-19AC-481C-85CD-28A90E131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87039C7F-CB10-457A-A350-5FAE1CC121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75BE57A5-B368-4F69-B270-14F5C90F1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F753DEF-78D4-41D5-B29C-06CF188179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E318F0-62A2-447F-AC16-7C73F9BE4241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2B8496D-6F6D-4B50-8A1E-672EB8E109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43813A5-8D3A-4C14-BBDC-4DFE0F119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59BE40A-6578-466D-A987-68A6D72D9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49B035-BE7B-4A21-ACFE-E44863BEC04D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C96303C-18AC-4829-89E8-DC5EF8E72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E813A74-6576-4E1E-A5C5-C89D7E5E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27</a:t>
            </a: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E58D7AE9-FE9F-4C13-A47C-0F8828AB7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23A0F38A-461D-4DFD-B3E8-0223D5EF2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C5BCCF11-05A4-4DD2-8305-52D658280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F33278D4-741B-4A5E-A125-5769812B19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75DB114-B5B4-45DD-97B3-FBAFE59CF5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46B779-F916-4CE0-B335-AF8038D65FB0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9FAD380-CC7F-4697-9604-61B1F6AFCE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5F28EFF-85CB-48D1-8D62-93AF826A4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28A4968-5F97-4A37-AF67-704D5E99BE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594AFB-7760-4573-BBF6-919CE80A9FC5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2774405-A8CC-4039-8C05-30FF7D651F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D8C5013-6EA3-41EB-91DE-293A085B2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C9A1BE0-4967-40E4-BAC5-D91E861AFA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7499F9-198F-4AF0-A54D-F65E1AC888EA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26386769-090F-4814-97C6-61B1B5D383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70C5211-248C-4A27-B90F-5A6402786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3624035-5209-4549-9910-D41076370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1A7102-A043-4586-83A6-2AFB019FEF70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862E8AE-5280-4597-98F4-CB38CAB231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E34C2CF-D9DD-4331-80DD-F128BF464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C0E9A03-B9DC-4A40-ADF8-9529E2BA5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B45D54-31B4-4CC5-8067-D00D440FA38A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64E79AA-768A-476F-AF96-1FC5BD0A9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53FD15B-7C24-4EC7-88A0-2F21EAAED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47933091-9C0B-4538-9E3E-320121CF3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B950C2A5-E246-448B-9DA9-7794B674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5250E692-D028-4644-9A0C-9D4C5A6E96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DBE8050C-DF92-49D1-8645-725D7E6AD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D5BAABE2-9F94-4E14-8341-F11E455A2E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5A8861-0220-4938-BEAE-5D583D0E196D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EA37A0D-2DF8-4766-8349-162A84F8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1D32611-F61D-4319-A3CF-AA5DD481D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42D327BB-A5F5-4B58-AFF6-48F2D6B59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00E02351-729E-4492-A0B4-59F5E001F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48135" name="Rectangle 6">
            <a:extLst>
              <a:ext uri="{FF2B5EF4-FFF2-40B4-BE49-F238E27FC236}">
                <a16:creationId xmlns:a16="http://schemas.microsoft.com/office/drawing/2014/main" id="{C8CDDEB1-B66D-468C-83AD-3C052DB201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8136" name="Rectangle 7">
            <a:extLst>
              <a:ext uri="{FF2B5EF4-FFF2-40B4-BE49-F238E27FC236}">
                <a16:creationId xmlns:a16="http://schemas.microsoft.com/office/drawing/2014/main" id="{690FAE04-62B4-4858-9C7D-F884C25BA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97FC7A5-57A6-49F8-8108-3961B66A7D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2114B6-3512-4ABF-9420-85272DE3A2B4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4A61D50-5EBB-4B2A-9FA5-2CC87A798E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1814F174-D133-4D7B-B60E-54D25CECC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5F36CF-8ED7-4DD9-A3F8-D83B86A1A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9EC0E1-F959-4201-8549-89A73D58F0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9CFB29-1091-4351-8FDE-E930C179B9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18556-C34A-4665-9913-29F82EE2E5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69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7A76EE-6457-4915-956D-490C6195E6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FC4001-393E-4B19-B148-02F0F077A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881E8C-3D6A-4617-83B8-62DA092D4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10D50-866E-4E93-8B41-E8D8A732E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96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49B498-7018-4EEF-9FF5-B04C329424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1367EC-082C-42C2-9F06-0344EC7BFC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94BB72-0CB3-4F54-9216-152691EBCE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B1CBB-F538-4ABF-9219-088781238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8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658E1-09F1-44F8-9249-F1C5024016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B0C3B-D009-409C-AB08-60AF0A5B8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CB0BA-FE63-4B38-9F19-6E20DB22E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2316C-C6C6-44A7-A39D-94C1116726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373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8EC020-A12C-46FF-9420-446169CF44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2DFBCEE-8851-4A0B-80F3-7EC4FE97AE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4B1A91-17D6-4C79-971F-8CEF56DA4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7ED9D-A897-46EC-9586-D69B132E11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56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E7475B-D180-4B0C-A088-1553146032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5ACEFF-A129-484C-AFFC-84CE50D80D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2139A4-E42C-4950-91B6-030645DD0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69983-DAB8-4E28-877D-B4BB9728F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3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8F3E75-2A77-425B-B92C-643AB2FD82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1FAFFD6-3502-4E52-99FC-491EA6030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753A89D-4BBF-4C40-8C35-80B99C0EAE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7CCDF-9B4D-426F-A936-0BC11B6F9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13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65B454-0290-4C04-8DEA-7BAAEAB246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DE826D-1034-44CD-982B-E7B6E6FCC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FD852-A29C-4889-BB11-DDD1D1F6F6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0CF92-5198-465C-AB04-70BC8F523A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52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0DDF9-DAA0-4C3F-88AA-C566E473F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76370-2C5C-416C-864A-71B7B04FFE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8B88C7-65CA-46B7-BCDE-07251D2DB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A45EA-D99C-4CB5-882C-506BDB9DB8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85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C84664-77CD-4480-87F9-C23E1EBDF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ADB8F-50CE-44C8-BB2A-5DEC8C4152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253DC2-944D-4133-A736-ADC3922515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8F1E8-23E2-4943-8FD2-DE08300CE2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77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AF81E3-E81A-4423-93D9-D49953B4E9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D7F068-2281-49EA-A86F-9A0999BB0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74C9E1-D0A3-48CE-88B0-265288371D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93D3B-DBF7-44F4-BF13-76DBB6638E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73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F2CD32-46C2-4887-B43E-8CD025F3B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5439F0-CB96-4BC2-9E02-BEB658C80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478B9F-76C2-436F-814C-4490B2BAD0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DF340D-2EC2-43C6-8E83-76B07CD8D6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5DDF47-3E1E-4207-96BF-C9164755C0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DF9DEADF-58AF-47FA-8D77-2B9F0DB327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FB4AB6E7-71BF-4DA1-AE81-4D537B8AA6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 Payroll Accounting And Pension Plan.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58C2A17-6F4C-48DB-891D-38EF9B023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99488" cy="4495800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Payroll</a:t>
            </a:r>
            <a:r>
              <a:rPr lang="en-US" altLang="en-US" sz="2400" b="1">
                <a:latin typeface="Times New Roman" panose="02020603050405020304" pitchFamily="18" charset="0"/>
              </a:rPr>
              <a:t> pertains to both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</a:t>
            </a:r>
            <a:r>
              <a:rPr lang="en-US" altLang="en-US" sz="2400" b="1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Managerial, administrative, and sales personnel are generally paid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>
                <a:latin typeface="Times New Roman" panose="02020603050405020304" pitchFamily="18" charset="0"/>
              </a:rPr>
              <a:t>. Salaries are often expressed in terms of 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specified amount per month or year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Store clerks, factory employees and manual laborers are normally paid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wages-</a:t>
            </a:r>
            <a:r>
              <a:rPr lang="en-US" altLang="en-US" sz="2400" b="1">
                <a:latin typeface="Times New Roman" panose="02020603050405020304" pitchFamily="18" charset="0"/>
              </a:rPr>
              <a:t>based on 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rate per hour</a:t>
            </a:r>
            <a:r>
              <a:rPr lang="en-US" altLang="en-US" sz="2400" b="1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Payments made to professional individuals who are independent contractors are called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fees</a:t>
            </a:r>
            <a:r>
              <a:rPr lang="en-US" altLang="en-US" sz="2400" b="1">
                <a:latin typeface="Times New Roman" panose="02020603050405020304" pitchFamily="18" charset="0"/>
              </a:rPr>
              <a:t>.  </a:t>
            </a:r>
          </a:p>
          <a:p>
            <a:pPr marL="361950" indent="-361950" algn="just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Government regulations relating to the payment and reporting of payroll taxes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apply only to employees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B252BD4-1541-4884-BD99-5CBE8164A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18450" cy="86518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PAYROLL ACCOUNTING</a:t>
            </a:r>
            <a:endParaRPr lang="en-US" altLang="en-US" sz="2100" b="1">
              <a:solidFill>
                <a:srgbClr val="CF0E3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9513B6E-BDEB-4DE4-A41B-B0EF95C8B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365125"/>
            <a:ext cx="6470650" cy="8413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INTERNAL CONTROLS FOR PAYROLL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D14CFDF-3741-4150-A7BF-7AC8AA9D3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6550"/>
            <a:ext cx="8686800" cy="5022850"/>
          </a:xfrm>
          <a:noFill/>
        </p:spPr>
        <p:txBody>
          <a:bodyPr lIns="91583" tIns="45040" rIns="91583" bIns="45040"/>
          <a:lstStyle/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>
                <a:latin typeface="Times New Roman" panose="02020603050405020304" pitchFamily="18" charset="0"/>
              </a:rPr>
              <a:t>The objectives of internal accounting control concerning payroll are: 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300" b="1">
                <a:solidFill>
                  <a:srgbClr val="006B61"/>
                </a:solidFill>
              </a:rPr>
              <a:t>1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To safeguard company assets from unauthorized  payments of payrolls</a:t>
            </a:r>
            <a:r>
              <a:rPr lang="en-US" altLang="en-US" sz="2800" b="1">
                <a:latin typeface="Times New Roman" panose="02020603050405020304" pitchFamily="18" charset="0"/>
              </a:rPr>
              <a:t> and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2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To ensure the accuracy and reliability of the      	accounting records pertaining to payrolls</a:t>
            </a:r>
            <a:r>
              <a:rPr lang="en-US" altLang="en-US" sz="2800" b="1">
                <a:latin typeface="Times New Roman" panose="02020603050405020304" pitchFamily="18" charset="0"/>
              </a:rPr>
              <a:t>.</a:t>
            </a:r>
            <a:endParaRPr lang="en-US" altLang="en-US" sz="2800" b="1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Payroll activities involve four functions</a:t>
            </a:r>
            <a:r>
              <a:rPr lang="en-US" altLang="en-US" sz="2800" b="1">
                <a:latin typeface="Times New Roman" panose="02020603050405020304" pitchFamily="18" charset="0"/>
              </a:rPr>
              <a:t>: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1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Hiring employees</a:t>
            </a:r>
            <a:r>
              <a:rPr lang="en-US" altLang="en-US" sz="2800" b="1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2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Timekeeping</a:t>
            </a:r>
            <a:r>
              <a:rPr lang="en-US" altLang="en-US" sz="2800" b="1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3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Preparing the payroll</a:t>
            </a:r>
            <a:r>
              <a:rPr lang="en-US" altLang="en-US" sz="2800" b="1">
                <a:latin typeface="Times New Roman" panose="02020603050405020304" pitchFamily="18" charset="0"/>
              </a:rPr>
              <a:t>, and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4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Paying the payroll</a:t>
            </a:r>
            <a:r>
              <a:rPr lang="en-US" altLang="en-US" sz="2800" b="1">
                <a:latin typeface="Times New Roman" panose="02020603050405020304" pitchFamily="18" charset="0"/>
              </a:rPr>
              <a:t>.</a:t>
            </a:r>
            <a:endParaRPr lang="en-US" altLang="en-US" sz="2800" b="1">
              <a:solidFill>
                <a:srgbClr val="CF0E3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4795299-F017-4424-A92F-08058656C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0338" y="460375"/>
            <a:ext cx="62738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HIRING EMPLOYEES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8E68FE8-A361-4470-B68D-7198DC67E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197850" cy="2563813"/>
          </a:xfrm>
          <a:noFill/>
        </p:spPr>
        <p:txBody>
          <a:bodyPr lIns="91583" tIns="45040" rIns="91583" bIns="45040"/>
          <a:lstStyle/>
          <a:p>
            <a:pPr marL="361950" indent="-361950" algn="just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human resources department </a:t>
            </a:r>
            <a:r>
              <a:rPr lang="en-US" altLang="en-US" sz="2400" b="1">
                <a:latin typeface="Times New Roman" panose="02020603050405020304" pitchFamily="18" charset="0"/>
              </a:rPr>
              <a:t>is responsible for ensuring the accuracy of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personnel authorization form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algn="just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human resources department is also responsible for authorizing changes in employment status:</a:t>
            </a:r>
          </a:p>
          <a:p>
            <a:pPr marL="361950" indent="-361950" algn="just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	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Changes in pay rates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algn="just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Termination of employment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244" name="Object 4">
            <a:hlinkClick r:id="" action="ppaction://ole?verb=0"/>
            <a:extLst>
              <a:ext uri="{FF2B5EF4-FFF2-40B4-BE49-F238E27FC236}">
                <a16:creationId xmlns:a16="http://schemas.microsoft.com/office/drawing/2014/main" id="{82135D33-AA0B-4352-9DC0-97D20CB1097B}"/>
              </a:ext>
            </a:extLst>
          </p:cNvPr>
          <p:cNvGraphicFramePr>
            <a:graphicFrameLocks/>
          </p:cNvGraphicFramePr>
          <p:nvPr/>
        </p:nvGraphicFramePr>
        <p:xfrm>
          <a:off x="5921375" y="4648200"/>
          <a:ext cx="24098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Micrografx Windows Draw 5.0 Drawing" r:id="rId4" imgW="2647950" imgH="2657475" progId="Draw.Document.5">
                  <p:embed/>
                </p:oleObj>
              </mc:Choice>
              <mc:Fallback>
                <p:oleObj name="Micrografx Windows Draw 5.0 Drawing" r:id="rId4" imgW="2647950" imgH="2657475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4648200"/>
                        <a:ext cx="2409825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C04F14C-7611-4CE7-9DDB-6AFBF23E4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2038" y="473075"/>
            <a:ext cx="44704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TIMEKEEPING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921A93E-832D-4A85-931A-F94805FDE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4749800"/>
          </a:xfrm>
          <a:noFill/>
        </p:spPr>
        <p:txBody>
          <a:bodyPr lIns="91583" tIns="45040" rIns="91583" bIns="45040"/>
          <a:lstStyle/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Hourly employees are usually required to record time worked by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“punching” a time clock</a:t>
            </a:r>
            <a:r>
              <a:rPr lang="en-US" altLang="en-US" sz="2400" b="1">
                <a:latin typeface="Times New Roman" panose="02020603050405020304" pitchFamily="18" charset="0"/>
              </a:rPr>
              <a:t>. Times of arrival and departure are automatically recorded by the employee by inserting a time card into the clock.</a:t>
            </a:r>
          </a:p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In large companies time clock procedures are often monitored by a supervisor or security guard to make sure an employee punches only one card.</a:t>
            </a:r>
          </a:p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employee’s supervisor:</a:t>
            </a:r>
          </a:p>
          <a:p>
            <a:pPr marL="361950" indent="-361950" algn="just" defTabSz="62865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Approves the hours shown by signing the time card at the 	end of the pay period</a:t>
            </a:r>
            <a:r>
              <a:rPr lang="en-US" altLang="en-US" sz="2400" b="1">
                <a:latin typeface="Times New Roman" panose="02020603050405020304" pitchFamily="18" charset="0"/>
              </a:rPr>
              <a:t> and</a:t>
            </a:r>
          </a:p>
          <a:p>
            <a:pPr marL="361950" indent="-361950" algn="just" defTabSz="62865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Authorizes any overtime hours for an employee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E5F7299-A906-44E8-9424-F976AF9D7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473075"/>
            <a:ext cx="78232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PREPARING THE PAYROLL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593994F-05C6-4604-B7CC-E26122141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21713" cy="2157413"/>
          </a:xfrm>
          <a:noFill/>
        </p:spPr>
        <p:txBody>
          <a:bodyPr lIns="91583" tIns="45040" rIns="91583" bIns="45040"/>
          <a:lstStyle/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latin typeface="Times New Roman" panose="02020603050405020304" pitchFamily="18" charset="0"/>
              </a:rPr>
              <a:t>The 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payroll is </a:t>
            </a:r>
            <a:r>
              <a:rPr lang="en-US" altLang="en-US" sz="3000" b="1">
                <a:latin typeface="Times New Roman" panose="02020603050405020304" pitchFamily="18" charset="0"/>
              </a:rPr>
              <a:t>prepared in the payroll department on the basis of </a:t>
            </a:r>
            <a:r>
              <a:rPr lang="en-US" altLang="en-US" sz="3000" b="1">
                <a:solidFill>
                  <a:srgbClr val="CF0E30"/>
                </a:solidFill>
              </a:rPr>
              <a:t>two </a:t>
            </a:r>
            <a:r>
              <a:rPr lang="en-US" altLang="en-US" sz="3000" b="1">
                <a:latin typeface="Times New Roman" panose="02020603050405020304" pitchFamily="18" charset="0"/>
              </a:rPr>
              <a:t>inputs: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solidFill>
                  <a:srgbClr val="006B61"/>
                </a:solidFill>
              </a:rPr>
              <a:t>1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Human resources department authorizations</a:t>
            </a:r>
            <a:r>
              <a:rPr lang="en-US" altLang="en-US" sz="3000" b="1">
                <a:latin typeface="Times New Roman" panose="02020603050405020304" pitchFamily="18" charset="0"/>
              </a:rPr>
              <a:t> 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solidFill>
                  <a:srgbClr val="006B61"/>
                </a:solidFill>
              </a:rPr>
              <a:t>2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Approved time cards</a:t>
            </a:r>
            <a:r>
              <a:rPr lang="en-US" altLang="en-US" sz="30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340" name="Object 4">
            <a:hlinkClick r:id="" action="ppaction://ole?verb=0"/>
            <a:extLst>
              <a:ext uri="{FF2B5EF4-FFF2-40B4-BE49-F238E27FC236}">
                <a16:creationId xmlns:a16="http://schemas.microsoft.com/office/drawing/2014/main" id="{74226B7A-C18E-41C9-BCFF-9AF44EE36633}"/>
              </a:ext>
            </a:extLst>
          </p:cNvPr>
          <p:cNvGraphicFramePr>
            <a:graphicFrameLocks/>
          </p:cNvGraphicFramePr>
          <p:nvPr/>
        </p:nvGraphicFramePr>
        <p:xfrm>
          <a:off x="6459538" y="4038600"/>
          <a:ext cx="188595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Micrografx Windows Draw 5.0 Drawing" r:id="rId4" imgW="2400300" imgH="2971800" progId="Draw.Document.5">
                  <p:embed/>
                </p:oleObj>
              </mc:Choice>
              <mc:Fallback>
                <p:oleObj name="Micrografx Windows Draw 5.0 Drawing" r:id="rId4" imgW="2400300" imgH="2971800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4038600"/>
                        <a:ext cx="1885950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09AEC2F-6BEE-46D7-BF43-FF37C53AA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95288"/>
            <a:ext cx="8077200" cy="79692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3900" b="1"/>
              <a:t>DETERMINING AND PAYING THE PAYROLL</a:t>
            </a:r>
            <a:endParaRPr lang="en-US" altLang="en-US" sz="1900" b="1">
              <a:solidFill>
                <a:srgbClr val="CF0E30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4A1A01E-75C7-4082-A42F-8B05557CD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925" y="1636713"/>
            <a:ext cx="8474075" cy="3524250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Determining the payroll involves computing three amounts: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3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payroll is paid by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treasurer’s department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Payment by check minimizes the risk of loss from theft.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The endorsed check provides proof of payment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0C48EC95-1D0E-4A02-BE5F-5C19232F82B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143500"/>
            <a:ext cx="7673975" cy="1503363"/>
            <a:chOff x="496" y="3532"/>
            <a:chExt cx="5076" cy="1010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8AC2FD25-4555-484E-AD33-96DC602D7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3532"/>
              <a:ext cx="5076" cy="101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graphicFrame>
          <p:nvGraphicFramePr>
            <p:cNvPr id="18438" name="Object 4">
              <a:hlinkClick r:id="" action="ppaction://ole?verb=0"/>
              <a:extLst>
                <a:ext uri="{FF2B5EF4-FFF2-40B4-BE49-F238E27FC236}">
                  <a16:creationId xmlns:a16="http://schemas.microsoft.com/office/drawing/2014/main" id="{DC932ED5-8F53-4383-BE26-FD3448EDEB2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08" y="3549"/>
            <a:ext cx="4085" cy="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1" name="Document" r:id="rId4" imgW="10308336" imgH="2075688" progId="Word.Document.8">
                    <p:embed/>
                  </p:oleObj>
                </mc:Choice>
                <mc:Fallback>
                  <p:oleObj name="Document" r:id="rId4" imgW="10308336" imgH="2075688" progId="Word.Document.8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66435" b="59541"/>
                        <a:stretch>
                          <a:fillRect/>
                        </a:stretch>
                      </p:blipFill>
                      <p:spPr bwMode="auto">
                        <a:xfrm>
                          <a:off x="1008" y="3549"/>
                          <a:ext cx="4085" cy="98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9" name="Rectangle 5">
            <a:extLst>
              <a:ext uri="{FF2B5EF4-FFF2-40B4-BE49-F238E27FC236}">
                <a16:creationId xmlns:a16="http://schemas.microsoft.com/office/drawing/2014/main" id="{7C41A01E-F574-493B-AA84-DF5BA1B52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1630363"/>
            <a:ext cx="7788275" cy="3398837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 </a:t>
            </a:r>
            <a:r>
              <a:rPr lang="en-US" altLang="en-US" sz="2400" b="1">
                <a:latin typeface="Times New Roman" panose="02020603050405020304" pitchFamily="18" charset="0"/>
              </a:rPr>
              <a:t>is the total compensation earned by an employee.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It consists of 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wages</a:t>
            </a:r>
            <a:r>
              <a:rPr lang="en-US" altLang="en-US" sz="2400" b="1">
                <a:latin typeface="Times New Roman" panose="02020603050405020304" pitchFamily="18" charset="0"/>
              </a:rPr>
              <a:t> or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>
                <a:latin typeface="Times New Roman" panose="02020603050405020304" pitchFamily="18" charset="0"/>
              </a:rPr>
              <a:t>, plus any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bonuses and commissions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Total wages are determined by multiplying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hours worked</a:t>
            </a:r>
            <a:r>
              <a:rPr lang="en-US" altLang="en-US" sz="2400" b="1">
                <a:latin typeface="Times New Roman" panose="02020603050405020304" pitchFamily="18" charset="0"/>
              </a:rPr>
              <a:t> by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hourly rate of pay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Most companies are required to pay a minimum of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1 1/2 </a:t>
            </a:r>
            <a:r>
              <a:rPr lang="en-US" altLang="en-US" sz="2400" b="1">
                <a:latin typeface="Times New Roman" panose="02020603050405020304" pitchFamily="18" charset="0"/>
              </a:rPr>
              <a:t>the regular hourly rate for overtime work.</a:t>
            </a: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E5373EFD-4A41-49E1-9B79-30281832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63538"/>
            <a:ext cx="7508875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400" b="1">
                <a:solidFill>
                  <a:srgbClr val="000099"/>
                </a:solidFill>
                <a:latin typeface="Arial Black" panose="020B0A04020102020204" pitchFamily="34" charset="0"/>
              </a:rPr>
              <a:t>COMPUTATION OF TOTAL WAGES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2BBDA03-D74D-45E8-9A9D-A038BFB43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20675"/>
            <a:ext cx="8112125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PAYROLL DEDUCTIONS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493D223-8E54-4333-9EDE-96615958F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945063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>
                <a:latin typeface="Times New Roman" panose="02020603050405020304" pitchFamily="18" charset="0"/>
              </a:rPr>
              <a:t>The difference between gross pay and the amount </a:t>
            </a:r>
            <a:r>
              <a:rPr lang="en-US" altLang="en-US" b="1">
                <a:solidFill>
                  <a:srgbClr val="CF0E30"/>
                </a:solidFill>
                <a:latin typeface="Times New Roman" panose="02020603050405020304" pitchFamily="18" charset="0"/>
              </a:rPr>
              <a:t>actually received </a:t>
            </a:r>
            <a:r>
              <a:rPr lang="en-US" altLang="en-US" b="1">
                <a:latin typeface="Times New Roman" panose="02020603050405020304" pitchFamily="18" charset="0"/>
              </a:rPr>
              <a:t>is attributable to </a:t>
            </a:r>
            <a:r>
              <a:rPr lang="en-US" altLang="en-US" b="1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deductions.</a:t>
            </a:r>
            <a:endParaRPr lang="en-US" altLang="en-US" b="1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>
                <a:latin typeface="Times New Roman" panose="02020603050405020304" pitchFamily="18" charset="0"/>
              </a:rPr>
              <a:t>Mandatory</a:t>
            </a:r>
            <a:r>
              <a:rPr lang="en-US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 deductions </a:t>
            </a:r>
            <a:r>
              <a:rPr lang="en-US" altLang="en-US" b="1">
                <a:latin typeface="Times New Roman" panose="02020603050405020304" pitchFamily="18" charset="0"/>
              </a:rPr>
              <a:t>consist of </a:t>
            </a:r>
            <a:r>
              <a:rPr lang="en-US" altLang="en-US" b="1">
                <a:solidFill>
                  <a:srgbClr val="CF0E30"/>
                </a:solidFill>
                <a:latin typeface="Times New Roman" panose="02020603050405020304" pitchFamily="18" charset="0"/>
              </a:rPr>
              <a:t>income taxes.</a:t>
            </a: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>
                <a:latin typeface="Times New Roman" panose="02020603050405020304" pitchFamily="18" charset="0"/>
              </a:rPr>
              <a:t>The employer is merely a collection agent and subsequently transfers the amounts deducted to the government and designated recipients.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66F27B0-959F-4968-930C-CEC9D23A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255588"/>
            <a:ext cx="750887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PAYROLL DEDUCTIONS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A4AB35FD-1D74-4186-BD7D-56D5E1107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44000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D441292-3129-4FA7-BB37-82C957DC1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28750"/>
            <a:ext cx="8458200" cy="5076825"/>
          </a:xfrm>
          <a:noFill/>
        </p:spPr>
        <p:txBody>
          <a:bodyPr lIns="91583" tIns="45040" rIns="91583" bIns="45040"/>
          <a:lstStyle/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Income Taxes </a:t>
            </a:r>
            <a:r>
              <a:rPr lang="en-US" altLang="en-US" sz="2400" b="1">
                <a:latin typeface="Times New Roman" panose="02020603050405020304" pitchFamily="18" charset="0"/>
              </a:rPr>
              <a:t>are required to be withheld  from employees each pay period </a:t>
            </a:r>
          </a:p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>
                <a:latin typeface="Times New Roman" panose="02020603050405020304" pitchFamily="18" charset="0"/>
              </a:rPr>
              <a:t>Amount is determined by </a:t>
            </a:r>
            <a:r>
              <a:rPr lang="en-US" altLang="en-US" sz="2600" b="1">
                <a:solidFill>
                  <a:srgbClr val="CF0E30"/>
                </a:solidFill>
              </a:rPr>
              <a:t>3</a:t>
            </a:r>
            <a:r>
              <a:rPr lang="en-US" altLang="en-US" sz="2600" b="1">
                <a:latin typeface="Times New Roman" panose="02020603050405020304" pitchFamily="18" charset="0"/>
              </a:rPr>
              <a:t> variables: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1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employee’s gross earnings</a:t>
            </a:r>
            <a:endParaRPr lang="en-US" altLang="en-US" sz="2600" b="1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2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number of allowances claimed by                       	the employee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3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length of the pay period</a:t>
            </a:r>
            <a:endParaRPr lang="en-US" altLang="en-US" sz="2600" b="1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120000"/>
              </a:lnSpc>
              <a:buClr>
                <a:srgbClr val="006B61"/>
              </a:buClr>
            </a:pPr>
            <a:r>
              <a:rPr lang="en-US" altLang="en-US" sz="2600" b="1">
                <a:latin typeface="Times New Roman" panose="02020603050405020304" pitchFamily="18" charset="0"/>
              </a:rPr>
              <a:t>To indicate to the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Internal Revenue Service</a:t>
            </a:r>
            <a:r>
              <a:rPr lang="en-US" altLang="en-US" sz="2600" b="1">
                <a:latin typeface="Times New Roman" panose="02020603050405020304" pitchFamily="18" charset="0"/>
              </a:rPr>
              <a:t> the number of allowances claimed, the employee must complete an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Employee’s Withholding Certificate</a:t>
            </a:r>
            <a:r>
              <a:rPr lang="en-US" altLang="en-US" sz="26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9FF0176-143C-49D2-80CA-1FAF3BD3F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9913" y="522288"/>
            <a:ext cx="5449887" cy="519112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INCOME TAXES 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D43058CC-9E5E-48DA-905F-3019F420A8C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2143125"/>
            <a:ext cx="21050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B91F5DC-9FA5-4D37-9702-AF00764DA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946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VOLUNTARY DEDUCTIONS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2F90D80-B138-45B7-8D76-E13447CBD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1851025"/>
            <a:ext cx="7240588" cy="4829175"/>
          </a:xfrm>
          <a:noFill/>
        </p:spPr>
        <p:txBody>
          <a:bodyPr lIns="91583" tIns="45040" rIns="91583" bIns="45040"/>
          <a:lstStyle/>
          <a:p>
            <a:pPr marL="457200" indent="-457200" defTabSz="966788" eaLnBrk="1" hangingPunct="1">
              <a:buClr>
                <a:srgbClr val="006B61"/>
              </a:buClr>
            </a:pP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Voluntary Deductions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>
                <a:latin typeface="Times New Roman" panose="02020603050405020304" pitchFamily="18" charset="0"/>
              </a:rPr>
              <a:t>pertain to withholdings for charitable, retirement, and other purposes 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>
                <a:latin typeface="Times New Roman" panose="02020603050405020304" pitchFamily="18" charset="0"/>
              </a:rPr>
              <a:t>authorized in  writing by the employee.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5090F1AB-7D71-4F97-8FE4-70109AF455B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2714625"/>
            <a:ext cx="16859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CDFDA8C-C057-4C76-AFAB-353EF6814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561263" cy="34559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graphicFrame>
        <p:nvGraphicFramePr>
          <p:cNvPr id="28675" name="Object 3">
            <a:hlinkClick r:id="" action="ppaction://ole?verb=0"/>
            <a:extLst>
              <a:ext uri="{FF2B5EF4-FFF2-40B4-BE49-F238E27FC236}">
                <a16:creationId xmlns:a16="http://schemas.microsoft.com/office/drawing/2014/main" id="{FD33C000-4E11-4B22-9C86-9B45DDDF913D}"/>
              </a:ext>
            </a:extLst>
          </p:cNvPr>
          <p:cNvGraphicFramePr>
            <a:graphicFrameLocks/>
          </p:cNvGraphicFramePr>
          <p:nvPr/>
        </p:nvGraphicFramePr>
        <p:xfrm>
          <a:off x="838200" y="1828800"/>
          <a:ext cx="74422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Document" r:id="rId4" imgW="8973312" imgH="2865120" progId="Word.Document.8">
                  <p:embed/>
                </p:oleObj>
              </mc:Choice>
              <mc:Fallback>
                <p:oleObj name="Document" r:id="rId4" imgW="8973312" imgH="286512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12" r="36496" b="13326"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7442200" cy="3352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4">
            <a:extLst>
              <a:ext uri="{FF2B5EF4-FFF2-40B4-BE49-F238E27FC236}">
                <a16:creationId xmlns:a16="http://schemas.microsoft.com/office/drawing/2014/main" id="{6A8D9181-DF73-4D43-AFFF-DE272972C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5392738"/>
            <a:ext cx="7485063" cy="1331912"/>
          </a:xfrm>
          <a:solidFill>
            <a:srgbClr val="DADADA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lIns="91583" tIns="45040" rIns="91583" bIns="45040"/>
          <a:lstStyle/>
          <a:p>
            <a:pPr marL="0" indent="0" algn="just" defTabSz="966788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r>
              <a:rPr lang="en-US" altLang="en-US" sz="2000" b="1">
                <a:latin typeface="Times New Roman" panose="02020603050405020304" pitchFamily="18" charset="0"/>
              </a:rPr>
              <a:t> (or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take-home pay</a:t>
            </a:r>
            <a:r>
              <a:rPr lang="en-US" altLang="en-US" sz="2000" b="1">
                <a:latin typeface="Times New Roman" panose="02020603050405020304" pitchFamily="18" charset="0"/>
              </a:rPr>
              <a:t>) is determined by subtracting payroll deductions from gross earnings.  Assuming an employee’s wages are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₦552</a:t>
            </a:r>
            <a:r>
              <a:rPr lang="en-US" altLang="en-US" sz="2000" b="1">
                <a:latin typeface="Times New Roman" panose="02020603050405020304" pitchFamily="18" charset="0"/>
              </a:rPr>
              <a:t> each week, the employee will earn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₦28,704</a:t>
            </a:r>
            <a:r>
              <a:rPr lang="en-US" altLang="en-US" sz="2000" b="1">
                <a:latin typeface="Times New Roman" panose="02020603050405020304" pitchFamily="18" charset="0"/>
              </a:rPr>
              <a:t> for the year (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52 weeks X ₦552</a:t>
            </a:r>
            <a:r>
              <a:rPr lang="en-US" altLang="en-US" sz="2000" b="1">
                <a:latin typeface="Times New Roman" panose="02020603050405020304" pitchFamily="18" charset="0"/>
              </a:rPr>
              <a:t>).  Thus, all earnings are subject to FICA taxes.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BE0CD82-ACB5-4E6C-A78F-48F29A492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09563"/>
            <a:ext cx="7508875" cy="6556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</a:rPr>
              <a:t>COMPUTATION OF NET PAY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FB08E3D-9864-451C-942C-106372E8B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33513"/>
            <a:ext cx="8686800" cy="3443287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Employee earnings record 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File state and federal payroll tax returns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B05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Provides each employee with a statement of gross 	earnings and tax withholdings for the year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800" b="1">
                <a:latin typeface="Times New Roman" panose="02020603050405020304" pitchFamily="18" charset="0"/>
              </a:rPr>
              <a:t>Many companies use a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payroll register </a:t>
            </a:r>
            <a:r>
              <a:rPr lang="en-US" altLang="en-US" sz="2800" b="1">
                <a:latin typeface="Times New Roman" panose="02020603050405020304" pitchFamily="18" charset="0"/>
              </a:rPr>
              <a:t>to accumulate the gross earnings, deductions, and net pay by employee for each period.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C795352-D12F-4B0B-8271-D41D623F8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142875"/>
            <a:ext cx="7546975" cy="1357313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RECORDING THE PAYROLL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A076A0D-B42E-46EA-9221-ED1FDFD18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638"/>
            <a:ext cx="9144000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RECOGNIZING PAYROLL EXPENSES AND LIABILITIES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4EB407E-AB7A-4FA2-A336-131FD67AC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086350"/>
            <a:ext cx="8964613" cy="161925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95000"/>
              </a:lnSpc>
              <a:buFontTx/>
              <a:buNone/>
            </a:pPr>
            <a:r>
              <a:rPr lang="en-US" altLang="en-US" sz="2100" b="1">
                <a:latin typeface="Times New Roman" panose="02020603050405020304" pitchFamily="18" charset="0"/>
              </a:rPr>
              <a:t>Academy Company records its payroll for the week ending January 14, 2005 with the journal entry above. 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Office Salaries Expense</a:t>
            </a:r>
            <a:r>
              <a:rPr lang="en-US" altLang="en-US" sz="2100" b="1">
                <a:latin typeface="Times New Roman" panose="02020603050405020304" pitchFamily="18" charset="0"/>
              </a:rPr>
              <a:t> (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₦5,200</a:t>
            </a:r>
            <a:r>
              <a:rPr lang="en-US" altLang="en-US" sz="2100" b="1">
                <a:latin typeface="Times New Roman" panose="02020603050405020304" pitchFamily="18" charset="0"/>
              </a:rPr>
              <a:t>) and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Wages Payable</a:t>
            </a:r>
            <a:r>
              <a:rPr lang="en-US" altLang="en-US" sz="2100" b="1">
                <a:latin typeface="Times New Roman" panose="02020603050405020304" pitchFamily="18" charset="0"/>
              </a:rPr>
              <a:t> (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₦12,010</a:t>
            </a:r>
            <a:r>
              <a:rPr lang="en-US" altLang="en-US" sz="2100" b="1">
                <a:latin typeface="Times New Roman" panose="02020603050405020304" pitchFamily="18" charset="0"/>
              </a:rPr>
              <a:t>) are debited in total for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</a:t>
            </a:r>
            <a:r>
              <a:rPr lang="en-US" altLang="en-US" sz="2100" b="1">
                <a:latin typeface="Times New Roman" panose="02020603050405020304" pitchFamily="18" charset="0"/>
              </a:rPr>
              <a:t> in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  <a:r>
              <a:rPr lang="en-US" altLang="en-US" sz="2100" b="1">
                <a:latin typeface="Times New Roman" panose="02020603050405020304" pitchFamily="18" charset="0"/>
              </a:rPr>
              <a:t>.  Specific liability accounts are credited for the deductions made during the pay period. 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100" b="1">
                <a:latin typeface="Times New Roman" panose="02020603050405020304" pitchFamily="18" charset="0"/>
              </a:rPr>
              <a:t>is credited for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₦11,462.50 </a:t>
            </a:r>
            <a:r>
              <a:rPr lang="en-US" altLang="en-US" sz="2100" b="1">
                <a:latin typeface="Times New Roman" panose="02020603050405020304" pitchFamily="18" charset="0"/>
              </a:rPr>
              <a:t>in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1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2772" name="Group 1">
            <a:extLst>
              <a:ext uri="{FF2B5EF4-FFF2-40B4-BE49-F238E27FC236}">
                <a16:creationId xmlns:a16="http://schemas.microsoft.com/office/drawing/2014/main" id="{7133CB39-28FA-47AF-9E7E-DF61CD2BB20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47800"/>
            <a:ext cx="8077200" cy="3443288"/>
            <a:chOff x="457200" y="1571625"/>
            <a:chExt cx="8077200" cy="3443288"/>
          </a:xfrm>
        </p:grpSpPr>
        <p:graphicFrame>
          <p:nvGraphicFramePr>
            <p:cNvPr id="32773" name="Object 4">
              <a:extLst>
                <a:ext uri="{FF2B5EF4-FFF2-40B4-BE49-F238E27FC236}">
                  <a16:creationId xmlns:a16="http://schemas.microsoft.com/office/drawing/2014/main" id="{A791BB7A-8334-44F7-9E9D-4E94E7D327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200" y="1571625"/>
            <a:ext cx="8077200" cy="3443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7" name="Worksheet" r:id="rId4" imgW="3324463" imgH="1790938" progId="Excel.Sheet.8">
                    <p:embed/>
                  </p:oleObj>
                </mc:Choice>
                <mc:Fallback>
                  <p:oleObj name="Worksheet" r:id="rId4" imgW="3324463" imgH="1790938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" y="1571625"/>
                          <a:ext cx="8077200" cy="3443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4" name="Text Box 5">
              <a:extLst>
                <a:ext uri="{FF2B5EF4-FFF2-40B4-BE49-F238E27FC236}">
                  <a16:creationId xmlns:a16="http://schemas.microsoft.com/office/drawing/2014/main" id="{458BA8E7-9C23-47E8-8F0D-4662AC77B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024" y="2143125"/>
              <a:ext cx="7292976" cy="2637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478" tIns="43239" rIns="86478" bIns="43239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Jan 14        Office Salaries Expense                     5,200.00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                  Wages Expense                                 12,010.00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FICA                                                               1,376.80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Federal Income Taxes Pay.                             3,490.00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State Income Taxes Pay.                                    344.20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United Fund Pay.                                               421.50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Union Dues Pay.                                                115.00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		Salaries and Wages Pay.                                11,462.50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0852E48-4011-4295-960D-00F786AC2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383CD85-E6FE-4AE4-83B0-D58F5932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EF866374-7D27-4414-9D9A-804AA98A4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610100"/>
            <a:ext cx="7473950" cy="1931988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The entry to record payment of the Academy Company payroll is a debit to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400" b="1">
                <a:latin typeface="Times New Roman" panose="02020603050405020304" pitchFamily="18" charset="0"/>
              </a:rPr>
              <a:t>and a credit to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Cash</a:t>
            </a:r>
            <a:r>
              <a:rPr lang="en-US" altLang="en-US" sz="2400" b="1">
                <a:latin typeface="Times New Roman" panose="02020603050405020304" pitchFamily="18" charset="0"/>
              </a:rPr>
              <a:t>. When currency is used in payment, one check is prepared for the amount of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400" b="1">
                <a:latin typeface="Times New Roman" panose="02020603050405020304" pitchFamily="18" charset="0"/>
              </a:rPr>
              <a:t> (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₦11,462.50</a:t>
            </a:r>
            <a:r>
              <a:rPr lang="en-US" altLang="en-US" sz="2400" b="1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F6D8F48D-C820-4061-9C8F-0A3B4E65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74638"/>
            <a:ext cx="5667375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RECORDING PAYMENT OF THE PAYROLL</a:t>
            </a:r>
          </a:p>
        </p:txBody>
      </p:sp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26515AC8-36C3-4381-9696-B86644BFB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538" y="1785938"/>
          <a:ext cx="747395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785938"/>
                        <a:ext cx="7473950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Text Box 7">
            <a:extLst>
              <a:ext uri="{FF2B5EF4-FFF2-40B4-BE49-F238E27FC236}">
                <a16:creationId xmlns:a16="http://schemas.microsoft.com/office/drawing/2014/main" id="{2FB1A517-A79A-45DD-BDFC-B5A2A6FD0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150" y="2466975"/>
            <a:ext cx="74898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latin typeface="Times New Roman" panose="02020603050405020304" pitchFamily="18" charset="0"/>
              </a:rPr>
              <a:t>Jan. 14      Salaries and Wages Pay.       11,462.50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latin typeface="Times New Roman" panose="02020603050405020304" pitchFamily="18" charset="0"/>
              </a:rPr>
              <a:t>		Cash				         11,462.50			</a:t>
            </a:r>
          </a:p>
        </p:txBody>
      </p: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0B54836-AE72-4D9D-99AD-43A15A39C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322263"/>
            <a:ext cx="6794500" cy="11144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RECORDING EMPLOYER PAYROLL TAXES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85BD70B-39F7-422A-93F4-796CC7685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1771650"/>
            <a:ext cx="7554912" cy="2208213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300" b="1">
                <a:latin typeface="Times New Roman" panose="02020603050405020304" pitchFamily="18" charset="0"/>
              </a:rPr>
              <a:t>The entry to record the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 </a:t>
            </a:r>
            <a:r>
              <a:rPr lang="en-US" altLang="en-US" sz="2300" b="1">
                <a:latin typeface="Times New Roman" panose="02020603050405020304" pitchFamily="18" charset="0"/>
              </a:rPr>
              <a:t>associated with the Academy Company payroll results in a debit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₦2,443.82</a:t>
            </a:r>
            <a:r>
              <a:rPr lang="en-US" altLang="en-US" sz="2300" b="1">
                <a:latin typeface="Times New Roman" panose="02020603050405020304" pitchFamily="18" charset="0"/>
              </a:rPr>
              <a:t>,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FICA Taxes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₦1,376.80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8%</a:t>
            </a:r>
            <a:r>
              <a:rPr lang="en-US" altLang="en-US" sz="2300" b="1">
                <a:latin typeface="Times New Roman" panose="02020603050405020304" pitchFamily="18" charset="0"/>
              </a:rPr>
              <a:t>),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FUTA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₦137.68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0.8%</a:t>
            </a:r>
            <a:r>
              <a:rPr lang="en-US" altLang="en-US" sz="2300" b="1">
                <a:latin typeface="Times New Roman" panose="02020603050405020304" pitchFamily="18" charset="0"/>
              </a:rPr>
              <a:t>), and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SUTA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₦929.34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5.4%</a:t>
            </a:r>
            <a:r>
              <a:rPr lang="en-US" altLang="en-US" sz="2300" b="1">
                <a:latin typeface="Times New Roman" panose="02020603050405020304" pitchFamily="18" charset="0"/>
              </a:rPr>
              <a:t>). </a:t>
            </a:r>
          </a:p>
        </p:txBody>
      </p:sp>
      <p:grpSp>
        <p:nvGrpSpPr>
          <p:cNvPr id="36868" name="Group 1">
            <a:extLst>
              <a:ext uri="{FF2B5EF4-FFF2-40B4-BE49-F238E27FC236}">
                <a16:creationId xmlns:a16="http://schemas.microsoft.com/office/drawing/2014/main" id="{455B13E0-108F-4CE6-84F0-0A8D5E6BFEE5}"/>
              </a:ext>
            </a:extLst>
          </p:cNvPr>
          <p:cNvGrpSpPr>
            <a:grpSpLocks/>
          </p:cNvGrpSpPr>
          <p:nvPr/>
        </p:nvGrpSpPr>
        <p:grpSpPr bwMode="auto">
          <a:xfrm>
            <a:off x="812800" y="4214813"/>
            <a:ext cx="7313613" cy="2357437"/>
            <a:chOff x="812800" y="4214813"/>
            <a:chExt cx="7313613" cy="2357437"/>
          </a:xfrm>
        </p:grpSpPr>
        <p:graphicFrame>
          <p:nvGraphicFramePr>
            <p:cNvPr id="36869" name="Object 4">
              <a:extLst>
                <a:ext uri="{FF2B5EF4-FFF2-40B4-BE49-F238E27FC236}">
                  <a16:creationId xmlns:a16="http://schemas.microsoft.com/office/drawing/2014/main" id="{26350819-1521-4FD6-A839-0F82FA87E5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2800" y="4214813"/>
            <a:ext cx="7313613" cy="2357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3" name="Worksheet" r:id="rId4" imgW="3324463" imgH="1143238" progId="Excel.Sheet.8">
                    <p:embed/>
                  </p:oleObj>
                </mc:Choice>
                <mc:Fallback>
                  <p:oleObj name="Worksheet" r:id="rId4" imgW="3324463" imgH="1143238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800" y="4214813"/>
                          <a:ext cx="7313613" cy="2357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0" name="Text Box 5">
              <a:extLst>
                <a:ext uri="{FF2B5EF4-FFF2-40B4-BE49-F238E27FC236}">
                  <a16:creationId xmlns:a16="http://schemas.microsoft.com/office/drawing/2014/main" id="{22A9F6C4-23B9-4F5F-8B63-B83ECBB08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800" y="4872038"/>
              <a:ext cx="7313613" cy="1597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478" tIns="43239" rIns="86478" bIns="43239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Jan 14.		Payroll Tax Expense		         2,443.82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		FICA Taxes Pay				1,376.80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		Federal Unemployment Taxes Pay		   137.68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		State Unemployment Taxes Pay		   929.34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		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>
            <a:extLst>
              <a:ext uri="{FF2B5EF4-FFF2-40B4-BE49-F238E27FC236}">
                <a16:creationId xmlns:a16="http://schemas.microsoft.com/office/drawing/2014/main" id="{7982B561-FF85-46AA-96CB-BE5CBB2045D6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1785938"/>
            <a:ext cx="8445500" cy="3713162"/>
            <a:chOff x="271" y="54"/>
            <a:chExt cx="5586" cy="2495"/>
          </a:xfrm>
        </p:grpSpPr>
        <p:sp>
          <p:nvSpPr>
            <p:cNvPr id="38916" name="Rectangle 3">
              <a:extLst>
                <a:ext uri="{FF2B5EF4-FFF2-40B4-BE49-F238E27FC236}">
                  <a16:creationId xmlns:a16="http://schemas.microsoft.com/office/drawing/2014/main" id="{8BA3DB1B-0271-4722-B6B1-E1A8E64D6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54"/>
              <a:ext cx="5140" cy="1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83" tIns="45040" rIns="91583" bIns="45040" anchor="ctr"/>
            <a:lstStyle>
              <a:lvl1pPr defTabSz="90805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80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805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80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805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300" b="1">
                <a:solidFill>
                  <a:srgbClr val="CF0E30"/>
                </a:solidFill>
              </a:endParaRPr>
            </a:p>
          </p:txBody>
        </p:sp>
        <p:sp>
          <p:nvSpPr>
            <p:cNvPr id="38917" name="Rectangle 4">
              <a:extLst>
                <a:ext uri="{FF2B5EF4-FFF2-40B4-BE49-F238E27FC236}">
                  <a16:creationId xmlns:a16="http://schemas.microsoft.com/office/drawing/2014/main" id="{78002295-8FBF-4B24-A275-AFBA7E13A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" y="1238"/>
              <a:ext cx="5586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7300" b="1">
                  <a:solidFill>
                    <a:srgbClr val="063DE8"/>
                  </a:solidFill>
                </a:rPr>
                <a:t>................................</a:t>
              </a:r>
            </a:p>
          </p:txBody>
        </p:sp>
        <p:sp>
          <p:nvSpPr>
            <p:cNvPr id="44037" name="AutoShape 5">
              <a:extLst>
                <a:ext uri="{FF2B5EF4-FFF2-40B4-BE49-F238E27FC236}">
                  <a16:creationId xmlns:a16="http://schemas.microsoft.com/office/drawing/2014/main" id="{73E57E30-3010-49C6-8482-C03303E6FF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09" y="1370"/>
              <a:ext cx="1726" cy="1179"/>
            </a:xfrm>
            <a:prstGeom prst="triangle">
              <a:avLst>
                <a:gd name="adj" fmla="val 49995"/>
              </a:avLst>
            </a:prstGeom>
            <a:solidFill>
              <a:srgbClr val="006B6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38915" name="Rectangle 6">
            <a:extLst>
              <a:ext uri="{FF2B5EF4-FFF2-40B4-BE49-F238E27FC236}">
                <a16:creationId xmlns:a16="http://schemas.microsoft.com/office/drawing/2014/main" id="{0E407D45-F844-4E08-9F24-65EF00648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500063"/>
            <a:ext cx="78676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>
                <a:solidFill>
                  <a:schemeClr val="accent2"/>
                </a:solidFill>
                <a:latin typeface="Arial Black" panose="020B0A04020102020204" pitchFamily="34" charset="0"/>
              </a:rPr>
              <a:t>Additional Fringe Benefits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2E1496D-E50E-4F4F-B613-72834AB8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668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>
                <a:solidFill>
                  <a:schemeClr val="tx2"/>
                </a:solidFill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D01F500-846A-4C70-8A94-FF848B24C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4163"/>
            <a:ext cx="8983663" cy="2716212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Employees often are given rights to receive compensation for  absences when certain conditions of employment are met.  Such compensation may relate to </a:t>
            </a:r>
            <a:r>
              <a:rPr lang="en-US" altLang="en-US" sz="2000" b="1"/>
              <a:t>1)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paid vacations</a:t>
            </a:r>
            <a:r>
              <a:rPr lang="en-US" altLang="en-US" sz="2000" b="1">
                <a:latin typeface="Times New Roman" panose="02020603050405020304" pitchFamily="18" charset="0"/>
              </a:rPr>
              <a:t>,   </a:t>
            </a:r>
            <a:r>
              <a:rPr lang="en-US" altLang="en-US" sz="2000" b="1"/>
              <a:t>2)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sick pay benefits</a:t>
            </a:r>
            <a:r>
              <a:rPr lang="en-US" altLang="en-US" sz="2000" b="1">
                <a:latin typeface="Times New Roman" panose="02020603050405020304" pitchFamily="18" charset="0"/>
              </a:rPr>
              <a:t>, and </a:t>
            </a:r>
            <a:r>
              <a:rPr lang="en-US" altLang="en-US" sz="2000" b="1">
                <a:solidFill>
                  <a:schemeClr val="tx2"/>
                </a:solidFill>
              </a:rPr>
              <a:t>3</a:t>
            </a:r>
            <a:r>
              <a:rPr lang="en-US" altLang="en-US" sz="2000" b="1">
                <a:latin typeface="Times New Roman" panose="02020603050405020304" pitchFamily="18" charset="0"/>
              </a:rPr>
              <a:t>)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paid holidays</a:t>
            </a:r>
            <a:r>
              <a:rPr lang="en-US" altLang="en-US" sz="2000" b="1">
                <a:latin typeface="Times New Roman" panose="02020603050405020304" pitchFamily="18" charset="0"/>
              </a:rPr>
              <a:t>.  A liability should be accrued for paid future absences if </a:t>
            </a:r>
            <a:r>
              <a:rPr lang="en-US" altLang="en-US" sz="2000" b="1">
                <a:solidFill>
                  <a:schemeClr val="tx2"/>
                </a:solidFill>
              </a:rPr>
              <a:t>1)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its payment is probable</a:t>
            </a:r>
            <a:r>
              <a:rPr lang="en-US" altLang="en-US" sz="2000" b="1">
                <a:latin typeface="Times New Roman" panose="02020603050405020304" pitchFamily="18" charset="0"/>
              </a:rPr>
              <a:t> and </a:t>
            </a:r>
            <a:r>
              <a:rPr lang="en-US" altLang="en-US" sz="2000" b="1"/>
              <a:t>2)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the amount can be reasonably estimated</a:t>
            </a:r>
            <a:r>
              <a:rPr lang="en-US" altLang="en-US" sz="2000" b="1">
                <a:latin typeface="Times New Roman" panose="02020603050405020304" pitchFamily="18" charset="0"/>
              </a:rPr>
              <a:t>.  Academy Company employees are entitled to one day’s vacation for each month worked.  If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en-US" sz="2000" b="1">
                <a:latin typeface="Times New Roman" panose="02020603050405020304" pitchFamily="18" charset="0"/>
              </a:rPr>
              <a:t> employees earn an average of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₦110</a:t>
            </a:r>
            <a:r>
              <a:rPr lang="en-US" altLang="en-US" sz="2000" b="1">
                <a:latin typeface="Times New Roman" panose="02020603050405020304" pitchFamily="18" charset="0"/>
              </a:rPr>
              <a:t> per day in a given month, the accrual for vacation benefits for January is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₦3,300</a:t>
            </a:r>
            <a:r>
              <a:rPr lang="en-US" altLang="en-US" sz="2000" b="1">
                <a:latin typeface="Times New Roman" panose="02020603050405020304" pitchFamily="18" charset="0"/>
              </a:rPr>
              <a:t> (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₦110 X 30</a:t>
            </a:r>
            <a:r>
              <a:rPr lang="en-US" altLang="en-US" sz="2000" b="1">
                <a:latin typeface="Times New Roman" panose="02020603050405020304" pitchFamily="18" charset="0"/>
              </a:rPr>
              <a:t>).  The liability is recognized at January 31 by the following adjusting entry: </a:t>
            </a: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5D6C07D1-76DD-4C9D-A9B9-258522B529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1488" y="4495800"/>
          <a:ext cx="6154737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495800"/>
                        <a:ext cx="6154737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>
            <a:extLst>
              <a:ext uri="{FF2B5EF4-FFF2-40B4-BE49-F238E27FC236}">
                <a16:creationId xmlns:a16="http://schemas.microsoft.com/office/drawing/2014/main" id="{0D65BC0B-AF5E-4FD8-A227-B37326908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5032375"/>
            <a:ext cx="5892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latin typeface="Times New Roman" panose="02020603050405020304" pitchFamily="18" charset="0"/>
              </a:rPr>
              <a:t>Jan. 31       Vacation Benefits Exp.                      3,300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latin typeface="Times New Roman" panose="02020603050405020304" pitchFamily="18" charset="0"/>
              </a:rPr>
              <a:t>		Vacation Benefits Pay.                          3,300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4B69E36-3214-440B-B1FD-2E5AEC26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204788"/>
            <a:ext cx="8924925" cy="116681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 dirty="0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 dirty="0">
                <a:solidFill>
                  <a:schemeClr val="tx2"/>
                </a:solidFill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 dirty="0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153105A-96C7-4A67-8CB8-1F01615B8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689100"/>
            <a:ext cx="8120062" cy="19319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When </a:t>
            </a:r>
            <a:r>
              <a:rPr lang="en-US" altLang="en-US" sz="2400" b="1" dirty="0">
                <a:solidFill>
                  <a:srgbClr val="CF0E30"/>
                </a:solidFill>
              </a:rPr>
              <a:t>vacation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CF0E30"/>
                </a:solidFill>
              </a:rPr>
              <a:t>benefits</a:t>
            </a:r>
            <a:r>
              <a:rPr lang="en-US" altLang="en-US" sz="2400" b="1" dirty="0"/>
              <a:t> are paid, </a:t>
            </a:r>
            <a:r>
              <a:rPr lang="en-US" altLang="en-US" sz="2400" b="1" dirty="0">
                <a:solidFill>
                  <a:srgbClr val="CF0E30"/>
                </a:solidFill>
              </a:rPr>
              <a:t>Vacation Benefits Payable</a:t>
            </a:r>
            <a:r>
              <a:rPr lang="en-US" altLang="en-US" sz="2400" b="1" dirty="0"/>
              <a:t> is debited and </a:t>
            </a:r>
            <a:r>
              <a:rPr lang="en-US" altLang="en-US" sz="2400" b="1" dirty="0">
                <a:solidFill>
                  <a:srgbClr val="CF0E30"/>
                </a:solidFill>
              </a:rPr>
              <a:t>Cash </a:t>
            </a:r>
            <a:r>
              <a:rPr lang="en-US" altLang="en-US" sz="2400" b="1" dirty="0"/>
              <a:t>is credited.  If Academy Company pays such benefits for </a:t>
            </a:r>
            <a:r>
              <a:rPr lang="en-US" altLang="en-US" sz="2400" b="1" dirty="0">
                <a:solidFill>
                  <a:srgbClr val="CF0E30"/>
                </a:solidFill>
              </a:rPr>
              <a:t>10</a:t>
            </a:r>
            <a:r>
              <a:rPr lang="en-US" altLang="en-US" sz="2400" b="1" dirty="0"/>
              <a:t> employees in July, the journal entry to record the payment is for </a:t>
            </a:r>
            <a:r>
              <a:rPr lang="en-US" altLang="en-US" sz="2400" b="1" dirty="0">
                <a:solidFill>
                  <a:srgbClr val="CF0E30"/>
                </a:solidFill>
              </a:rPr>
              <a:t>₦1,100</a:t>
            </a:r>
            <a:r>
              <a:rPr lang="en-US" altLang="en-US" sz="2400" b="1" dirty="0"/>
              <a:t> (</a:t>
            </a:r>
            <a:r>
              <a:rPr lang="en-US" altLang="en-US" sz="2400" b="1" dirty="0">
                <a:solidFill>
                  <a:srgbClr val="CF0E30"/>
                </a:solidFill>
              </a:rPr>
              <a:t>₦110 X 10</a:t>
            </a:r>
            <a:r>
              <a:rPr lang="en-US" altLang="en-US" sz="2400" b="1" dirty="0"/>
              <a:t>). 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24D9FEE3-AC95-4D77-9825-6226BA4644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264025"/>
          <a:ext cx="6697663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4025"/>
                        <a:ext cx="6697663" cy="213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5">
            <a:extLst>
              <a:ext uri="{FF2B5EF4-FFF2-40B4-BE49-F238E27FC236}">
                <a16:creationId xmlns:a16="http://schemas.microsoft.com/office/drawing/2014/main" id="{0E1DB5AD-D9C2-44ED-B2DC-91EE095F6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11713"/>
            <a:ext cx="6697663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July 31		Vacation Benefits Pay.      1,100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Cash				        1,100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A7B7368-536E-4C21-ABC0-DB7605121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7A36C29-11DE-4AB7-BA77-BECFF4DEE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33ACEA4F-492D-4C1D-AC70-DFFE45043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228600"/>
            <a:ext cx="7994650" cy="1203325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POSTRETIREMENT BENEFITS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4CACAA1B-8F76-4468-AA05-D0623312A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677988"/>
            <a:ext cx="8115300" cy="3046412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Postretirement benefits </a:t>
            </a:r>
            <a:r>
              <a:rPr lang="en-US" altLang="en-US" sz="3000" b="1">
                <a:latin typeface="Times New Roman" panose="02020603050405020304" pitchFamily="18" charset="0"/>
              </a:rPr>
              <a:t>are benefits provided by employers to retired employees for:</a:t>
            </a: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>
                <a:solidFill>
                  <a:srgbClr val="006B61"/>
                </a:solidFill>
              </a:rPr>
              <a:t>1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Health care and life insurance</a:t>
            </a:r>
            <a:endParaRPr lang="en-US" altLang="en-US" sz="3000" b="1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>
                <a:solidFill>
                  <a:srgbClr val="006B6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Pensions</a:t>
            </a:r>
          </a:p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>
                <a:latin typeface="Times New Roman" panose="02020603050405020304" pitchFamily="18" charset="0"/>
              </a:rPr>
              <a:t>Both types of postretirement benefits are accounted for on the 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accrual basis</a:t>
            </a:r>
            <a:r>
              <a:rPr lang="en-US" altLang="en-US" sz="3400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5062" name="Picture 6">
            <a:extLst>
              <a:ext uri="{FF2B5EF4-FFF2-40B4-BE49-F238E27FC236}">
                <a16:creationId xmlns:a16="http://schemas.microsoft.com/office/drawing/2014/main" id="{2FDE96C4-719A-422C-B270-037CCC0800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25" y="4357688"/>
            <a:ext cx="2973388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CB15F77-D4A4-4BF0-9132-1A903BB82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7D1853F-604B-41E9-AFB6-1BDF6E2F7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E8ACA37C-E676-4C5D-8D72-6585D4EF5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320675"/>
            <a:ext cx="79184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 PENSION PLANS 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80F7A0D6-C716-4E7A-AFBD-36160E7D3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562975" cy="3706813"/>
          </a:xfrm>
          <a:noFill/>
        </p:spPr>
        <p:txBody>
          <a:bodyPr lIns="91583" tIns="45040" rIns="91583" bIns="45040"/>
          <a:lstStyle/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pension plan </a:t>
            </a:r>
            <a:r>
              <a:rPr lang="en-US" altLang="en-US" sz="2400" b="1">
                <a:latin typeface="Times New Roman" panose="02020603050405020304" pitchFamily="18" charset="0"/>
              </a:rPr>
              <a:t>is an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agreement</a:t>
            </a:r>
            <a:r>
              <a:rPr lang="en-US" altLang="en-US" sz="2400" b="1">
                <a:latin typeface="Times New Roman" panose="02020603050405020304" pitchFamily="18" charset="0"/>
              </a:rPr>
              <a:t> whereby an employer provides benefits to employees after they retire. </a:t>
            </a:r>
          </a:p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Three</a:t>
            </a:r>
            <a:r>
              <a:rPr lang="en-US" altLang="en-US" sz="2400" b="1">
                <a:latin typeface="Times New Roman" panose="02020603050405020304" pitchFamily="18" charset="0"/>
              </a:rPr>
              <a:t> parties are generally involved in a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employer</a:t>
            </a:r>
            <a:r>
              <a:rPr lang="en-US" altLang="en-US" sz="2400" b="1">
                <a:latin typeface="Times New Roman" panose="02020603050405020304" pitchFamily="18" charset="0"/>
              </a:rPr>
              <a:t> sponsors the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>
                <a:solidFill>
                  <a:srgbClr val="006B6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plan administrator</a:t>
            </a:r>
            <a:r>
              <a:rPr lang="en-US" altLang="en-US" sz="2400" b="1">
                <a:latin typeface="Times New Roman" panose="02020603050405020304" pitchFamily="18" charset="0"/>
              </a:rPr>
              <a:t> receives the contributions 		  	from the employer, invests the pension assets, and  		  	makes the benefit payments.</a:t>
            </a:r>
            <a:endParaRPr lang="en-US" altLang="en-US" sz="2400" b="1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retired employees</a:t>
            </a:r>
            <a:r>
              <a:rPr lang="en-US" altLang="en-US" sz="2400" b="1">
                <a:latin typeface="Times New Roman" panose="02020603050405020304" pitchFamily="18" charset="0"/>
              </a:rPr>
              <a:t> receive                                       	  	the pension payments.</a:t>
            </a:r>
          </a:p>
        </p:txBody>
      </p:sp>
      <p:pic>
        <p:nvPicPr>
          <p:cNvPr id="47110" name="Picture 6">
            <a:extLst>
              <a:ext uri="{FF2B5EF4-FFF2-40B4-BE49-F238E27FC236}">
                <a16:creationId xmlns:a16="http://schemas.microsoft.com/office/drawing/2014/main" id="{74329D9B-2F94-4197-9C03-614DD4DE810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359275"/>
            <a:ext cx="3409950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0A78D68-8A5B-4668-ADC4-57ADC40A9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152400"/>
            <a:ext cx="7508875" cy="12271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>
                <a:solidFill>
                  <a:srgbClr val="000099"/>
                </a:solidFill>
                <a:latin typeface="Arial Black" panose="020B0A04020102020204" pitchFamily="34" charset="0"/>
              </a:rPr>
              <a:t>PARTIES IN A PENSION PLAN</a:t>
            </a:r>
          </a:p>
        </p:txBody>
      </p:sp>
      <p:grpSp>
        <p:nvGrpSpPr>
          <p:cNvPr id="49155" name="Group 3">
            <a:extLst>
              <a:ext uri="{FF2B5EF4-FFF2-40B4-BE49-F238E27FC236}">
                <a16:creationId xmlns:a16="http://schemas.microsoft.com/office/drawing/2014/main" id="{D2E0C9BE-152B-4AB2-AF39-42423508835E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1628775"/>
            <a:ext cx="2108200" cy="1646238"/>
            <a:chOff x="552" y="1199"/>
            <a:chExt cx="1395" cy="1106"/>
          </a:xfrm>
        </p:grpSpPr>
        <p:grpSp>
          <p:nvGrpSpPr>
            <p:cNvPr id="49423" name="Group 4">
              <a:extLst>
                <a:ext uri="{FF2B5EF4-FFF2-40B4-BE49-F238E27FC236}">
                  <a16:creationId xmlns:a16="http://schemas.microsoft.com/office/drawing/2014/main" id="{BB0243B6-59E0-4585-95C6-F3D75A96A4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" y="1199"/>
              <a:ext cx="1395" cy="1106"/>
              <a:chOff x="552" y="1199"/>
              <a:chExt cx="1395" cy="1106"/>
            </a:xfrm>
          </p:grpSpPr>
          <p:sp>
            <p:nvSpPr>
              <p:cNvPr id="49425" name="Freeform 5">
                <a:extLst>
                  <a:ext uri="{FF2B5EF4-FFF2-40B4-BE49-F238E27FC236}">
                    <a16:creationId xmlns:a16="http://schemas.microsoft.com/office/drawing/2014/main" id="{3B611D3C-5786-432B-8FDC-3DA390189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199"/>
                <a:ext cx="1395" cy="88"/>
              </a:xfrm>
              <a:custGeom>
                <a:avLst/>
                <a:gdLst>
                  <a:gd name="T0" fmla="*/ 1394 w 1395"/>
                  <a:gd name="T1" fmla="*/ 87 h 88"/>
                  <a:gd name="T2" fmla="*/ 1394 w 1395"/>
                  <a:gd name="T3" fmla="*/ 0 h 88"/>
                  <a:gd name="T4" fmla="*/ 0 w 1395"/>
                  <a:gd name="T5" fmla="*/ 0 h 88"/>
                  <a:gd name="T6" fmla="*/ 0 w 1395"/>
                  <a:gd name="T7" fmla="*/ 87 h 88"/>
                  <a:gd name="T8" fmla="*/ 1394 w 1395"/>
                  <a:gd name="T9" fmla="*/ 87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8"/>
                  <a:gd name="T17" fmla="*/ 1395 w 1395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8">
                    <a:moveTo>
                      <a:pt x="1394" y="87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394" y="87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6" name="Freeform 6">
                <a:extLst>
                  <a:ext uri="{FF2B5EF4-FFF2-40B4-BE49-F238E27FC236}">
                    <a16:creationId xmlns:a16="http://schemas.microsoft.com/office/drawing/2014/main" id="{8D6166F9-03B4-4BAC-A9E1-380E5FEC4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7" name="Freeform 7">
                <a:extLst>
                  <a:ext uri="{FF2B5EF4-FFF2-40B4-BE49-F238E27FC236}">
                    <a16:creationId xmlns:a16="http://schemas.microsoft.com/office/drawing/2014/main" id="{EB035A9E-93C0-4E0E-825B-986638067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8" name="Freeform 8">
                <a:extLst>
                  <a:ext uri="{FF2B5EF4-FFF2-40B4-BE49-F238E27FC236}">
                    <a16:creationId xmlns:a16="http://schemas.microsoft.com/office/drawing/2014/main" id="{6CCCAE8F-CF5A-4387-8118-710761044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286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9" name="Freeform 9">
                <a:extLst>
                  <a:ext uri="{FF2B5EF4-FFF2-40B4-BE49-F238E27FC236}">
                    <a16:creationId xmlns:a16="http://schemas.microsoft.com/office/drawing/2014/main" id="{FCE1BEBE-4900-4FCF-B086-501924E02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0" name="Freeform 10">
                <a:extLst>
                  <a:ext uri="{FF2B5EF4-FFF2-40B4-BE49-F238E27FC236}">
                    <a16:creationId xmlns:a16="http://schemas.microsoft.com/office/drawing/2014/main" id="{D503E1CA-71EE-4417-A3B3-AA016B8D5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1" name="Freeform 11">
                <a:extLst>
                  <a:ext uri="{FF2B5EF4-FFF2-40B4-BE49-F238E27FC236}">
                    <a16:creationId xmlns:a16="http://schemas.microsoft.com/office/drawing/2014/main" id="{6D99F6ED-A002-4CF9-855E-CBB7FE501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286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2" name="Freeform 12">
                <a:extLst>
                  <a:ext uri="{FF2B5EF4-FFF2-40B4-BE49-F238E27FC236}">
                    <a16:creationId xmlns:a16="http://schemas.microsoft.com/office/drawing/2014/main" id="{3E4792F3-DFEC-4685-B922-B05B4014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3" name="Freeform 13">
                <a:extLst>
                  <a:ext uri="{FF2B5EF4-FFF2-40B4-BE49-F238E27FC236}">
                    <a16:creationId xmlns:a16="http://schemas.microsoft.com/office/drawing/2014/main" id="{4168A5E0-BB49-4A69-B15C-5B52534E2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4" name="Freeform 14">
                <a:extLst>
                  <a:ext uri="{FF2B5EF4-FFF2-40B4-BE49-F238E27FC236}">
                    <a16:creationId xmlns:a16="http://schemas.microsoft.com/office/drawing/2014/main" id="{0D4EF03D-FE6A-40FD-9ED1-06D542260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42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5" name="Freeform 15">
                <a:extLst>
                  <a:ext uri="{FF2B5EF4-FFF2-40B4-BE49-F238E27FC236}">
                    <a16:creationId xmlns:a16="http://schemas.microsoft.com/office/drawing/2014/main" id="{11116967-1674-4A9A-A592-FFA9A1569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509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6" name="Freeform 16">
                <a:extLst>
                  <a:ext uri="{FF2B5EF4-FFF2-40B4-BE49-F238E27FC236}">
                    <a16:creationId xmlns:a16="http://schemas.microsoft.com/office/drawing/2014/main" id="{78399AB7-0878-4BB6-BA80-00112FCD5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7" name="Freeform 17">
                <a:extLst>
                  <a:ext uri="{FF2B5EF4-FFF2-40B4-BE49-F238E27FC236}">
                    <a16:creationId xmlns:a16="http://schemas.microsoft.com/office/drawing/2014/main" id="{C4864A64-A1BA-4550-997B-4FCD7451D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509"/>
                <a:ext cx="178" cy="135"/>
              </a:xfrm>
              <a:custGeom>
                <a:avLst/>
                <a:gdLst>
                  <a:gd name="T0" fmla="*/ 0 w 178"/>
                  <a:gd name="T1" fmla="*/ 0 h 135"/>
                  <a:gd name="T2" fmla="*/ 0 w 178"/>
                  <a:gd name="T3" fmla="*/ 134 h 135"/>
                  <a:gd name="T4" fmla="*/ 177 w 178"/>
                  <a:gd name="T5" fmla="*/ 134 h 135"/>
                  <a:gd name="T6" fmla="*/ 177 w 178"/>
                  <a:gd name="T7" fmla="*/ 0 h 135"/>
                  <a:gd name="T8" fmla="*/ 0 w 1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5"/>
                  <a:gd name="T17" fmla="*/ 178 w 1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7" y="134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8" name="Freeform 18">
                <a:extLst>
                  <a:ext uri="{FF2B5EF4-FFF2-40B4-BE49-F238E27FC236}">
                    <a16:creationId xmlns:a16="http://schemas.microsoft.com/office/drawing/2014/main" id="{E752827A-125B-4F0C-81C7-D1FAF2785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9" name="Freeform 19">
                <a:extLst>
                  <a:ext uri="{FF2B5EF4-FFF2-40B4-BE49-F238E27FC236}">
                    <a16:creationId xmlns:a16="http://schemas.microsoft.com/office/drawing/2014/main" id="{64C41A0B-E182-4992-ACA7-040BA10C2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0" name="Freeform 20">
                <a:extLst>
                  <a:ext uri="{FF2B5EF4-FFF2-40B4-BE49-F238E27FC236}">
                    <a16:creationId xmlns:a16="http://schemas.microsoft.com/office/drawing/2014/main" id="{D11A23A6-DE7B-43F3-AD10-24F171D36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509"/>
                <a:ext cx="174" cy="135"/>
              </a:xfrm>
              <a:custGeom>
                <a:avLst/>
                <a:gdLst>
                  <a:gd name="T0" fmla="*/ 0 w 174"/>
                  <a:gd name="T1" fmla="*/ 0 h 135"/>
                  <a:gd name="T2" fmla="*/ 0 w 174"/>
                  <a:gd name="T3" fmla="*/ 134 h 135"/>
                  <a:gd name="T4" fmla="*/ 173 w 174"/>
                  <a:gd name="T5" fmla="*/ 134 h 135"/>
                  <a:gd name="T6" fmla="*/ 173 w 174"/>
                  <a:gd name="T7" fmla="*/ 0 h 135"/>
                  <a:gd name="T8" fmla="*/ 0 w 174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5"/>
                  <a:gd name="T17" fmla="*/ 174 w 174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3" y="134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1" name="Freeform 21">
                <a:extLst>
                  <a:ext uri="{FF2B5EF4-FFF2-40B4-BE49-F238E27FC236}">
                    <a16:creationId xmlns:a16="http://schemas.microsoft.com/office/drawing/2014/main" id="{F4916696-CDFC-4C06-A991-2C518D9FC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2" name="Freeform 22">
                <a:extLst>
                  <a:ext uri="{FF2B5EF4-FFF2-40B4-BE49-F238E27FC236}">
                    <a16:creationId xmlns:a16="http://schemas.microsoft.com/office/drawing/2014/main" id="{3C4F5EFA-ADCC-4296-8DEC-30F1F447F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3" name="Freeform 23">
                <a:extLst>
                  <a:ext uri="{FF2B5EF4-FFF2-40B4-BE49-F238E27FC236}">
                    <a16:creationId xmlns:a16="http://schemas.microsoft.com/office/drawing/2014/main" id="{4411BFC0-2EC2-4F90-8CF5-DA4E348D9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64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4" name="Freeform 24">
                <a:extLst>
                  <a:ext uri="{FF2B5EF4-FFF2-40B4-BE49-F238E27FC236}">
                    <a16:creationId xmlns:a16="http://schemas.microsoft.com/office/drawing/2014/main" id="{F31D30F1-1F8D-4BBB-9F63-6016DD74E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5" name="Freeform 25">
                <a:extLst>
                  <a:ext uri="{FF2B5EF4-FFF2-40B4-BE49-F238E27FC236}">
                    <a16:creationId xmlns:a16="http://schemas.microsoft.com/office/drawing/2014/main" id="{E90CFEEB-1D82-42C0-84E6-07177CC4EA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6" name="Freeform 26">
                <a:extLst>
                  <a:ext uri="{FF2B5EF4-FFF2-40B4-BE49-F238E27FC236}">
                    <a16:creationId xmlns:a16="http://schemas.microsoft.com/office/drawing/2014/main" id="{A687EFB2-EE36-43E8-88FF-C7080C40B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729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7" name="Freeform 27">
                <a:extLst>
                  <a:ext uri="{FF2B5EF4-FFF2-40B4-BE49-F238E27FC236}">
                    <a16:creationId xmlns:a16="http://schemas.microsoft.com/office/drawing/2014/main" id="{A417E724-39C4-4E4A-9212-63705A548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8" name="Freeform 28">
                <a:extLst>
                  <a:ext uri="{FF2B5EF4-FFF2-40B4-BE49-F238E27FC236}">
                    <a16:creationId xmlns:a16="http://schemas.microsoft.com/office/drawing/2014/main" id="{9E37C72C-2460-4D04-9978-3B7D496FF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9" name="Freeform 29">
                <a:extLst>
                  <a:ext uri="{FF2B5EF4-FFF2-40B4-BE49-F238E27FC236}">
                    <a16:creationId xmlns:a16="http://schemas.microsoft.com/office/drawing/2014/main" id="{CC9B0389-9B37-436D-8A15-39E80F5F6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729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0" name="Freeform 30">
                <a:extLst>
                  <a:ext uri="{FF2B5EF4-FFF2-40B4-BE49-F238E27FC236}">
                    <a16:creationId xmlns:a16="http://schemas.microsoft.com/office/drawing/2014/main" id="{1E641FA1-38E9-4AFF-820D-21AC675AB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1" name="Freeform 31">
                <a:extLst>
                  <a:ext uri="{FF2B5EF4-FFF2-40B4-BE49-F238E27FC236}">
                    <a16:creationId xmlns:a16="http://schemas.microsoft.com/office/drawing/2014/main" id="{7C5E92BD-4BD1-40B3-BE20-6364783BF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2" name="Freeform 32">
                <a:extLst>
                  <a:ext uri="{FF2B5EF4-FFF2-40B4-BE49-F238E27FC236}">
                    <a16:creationId xmlns:a16="http://schemas.microsoft.com/office/drawing/2014/main" id="{DCDC36B2-AA9F-4DD7-8139-921B71A12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866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3" name="Freeform 33">
                <a:extLst>
                  <a:ext uri="{FF2B5EF4-FFF2-40B4-BE49-F238E27FC236}">
                    <a16:creationId xmlns:a16="http://schemas.microsoft.com/office/drawing/2014/main" id="{D86FA2C7-A488-41DD-9CFD-30BC1DD46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4" name="Freeform 34">
                <a:extLst>
                  <a:ext uri="{FF2B5EF4-FFF2-40B4-BE49-F238E27FC236}">
                    <a16:creationId xmlns:a16="http://schemas.microsoft.com/office/drawing/2014/main" id="{748D6138-5742-4542-B23A-9A7B3498B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5" name="Freeform 35">
                <a:extLst>
                  <a:ext uri="{FF2B5EF4-FFF2-40B4-BE49-F238E27FC236}">
                    <a16:creationId xmlns:a16="http://schemas.microsoft.com/office/drawing/2014/main" id="{FE58A0A2-E78F-45BD-8F72-7D3EE80B2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952"/>
                <a:ext cx="178" cy="139"/>
              </a:xfrm>
              <a:custGeom>
                <a:avLst/>
                <a:gdLst>
                  <a:gd name="T0" fmla="*/ 0 w 178"/>
                  <a:gd name="T1" fmla="*/ 0 h 139"/>
                  <a:gd name="T2" fmla="*/ 0 w 178"/>
                  <a:gd name="T3" fmla="*/ 138 h 139"/>
                  <a:gd name="T4" fmla="*/ 177 w 178"/>
                  <a:gd name="T5" fmla="*/ 138 h 139"/>
                  <a:gd name="T6" fmla="*/ 177 w 178"/>
                  <a:gd name="T7" fmla="*/ 0 h 139"/>
                  <a:gd name="T8" fmla="*/ 0 w 178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9"/>
                  <a:gd name="T17" fmla="*/ 178 w 178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7" y="138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6" name="Freeform 36">
                <a:extLst>
                  <a:ext uri="{FF2B5EF4-FFF2-40B4-BE49-F238E27FC236}">
                    <a16:creationId xmlns:a16="http://schemas.microsoft.com/office/drawing/2014/main" id="{193E228F-6D3E-4B9E-B313-FB8F39485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7" name="Freeform 37">
                <a:extLst>
                  <a:ext uri="{FF2B5EF4-FFF2-40B4-BE49-F238E27FC236}">
                    <a16:creationId xmlns:a16="http://schemas.microsoft.com/office/drawing/2014/main" id="{E5E6E663-0802-43CC-B3D5-681199FA1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8" name="Freeform 38">
                <a:extLst>
                  <a:ext uri="{FF2B5EF4-FFF2-40B4-BE49-F238E27FC236}">
                    <a16:creationId xmlns:a16="http://schemas.microsoft.com/office/drawing/2014/main" id="{5453DE5E-48E6-49EA-9296-31665DFF0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952"/>
                <a:ext cx="174" cy="139"/>
              </a:xfrm>
              <a:custGeom>
                <a:avLst/>
                <a:gdLst>
                  <a:gd name="T0" fmla="*/ 0 w 174"/>
                  <a:gd name="T1" fmla="*/ 0 h 139"/>
                  <a:gd name="T2" fmla="*/ 0 w 174"/>
                  <a:gd name="T3" fmla="*/ 138 h 139"/>
                  <a:gd name="T4" fmla="*/ 173 w 174"/>
                  <a:gd name="T5" fmla="*/ 138 h 139"/>
                  <a:gd name="T6" fmla="*/ 173 w 174"/>
                  <a:gd name="T7" fmla="*/ 0 h 139"/>
                  <a:gd name="T8" fmla="*/ 0 w 174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9"/>
                  <a:gd name="T17" fmla="*/ 174 w 174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3" y="138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9" name="Freeform 39">
                <a:extLst>
                  <a:ext uri="{FF2B5EF4-FFF2-40B4-BE49-F238E27FC236}">
                    <a16:creationId xmlns:a16="http://schemas.microsoft.com/office/drawing/2014/main" id="{D80D387A-D702-4E07-82B6-714722F7D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0" name="Freeform 40">
                <a:extLst>
                  <a:ext uri="{FF2B5EF4-FFF2-40B4-BE49-F238E27FC236}">
                    <a16:creationId xmlns:a16="http://schemas.microsoft.com/office/drawing/2014/main" id="{358A8C29-A89D-486D-8816-9F31BB14B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1" name="Freeform 41">
                <a:extLst>
                  <a:ext uri="{FF2B5EF4-FFF2-40B4-BE49-F238E27FC236}">
                    <a16:creationId xmlns:a16="http://schemas.microsoft.com/office/drawing/2014/main" id="{AEEA20BC-39EC-4553-BC73-AA34B9BE3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" y="2090"/>
                <a:ext cx="1207" cy="215"/>
              </a:xfrm>
              <a:custGeom>
                <a:avLst/>
                <a:gdLst>
                  <a:gd name="T0" fmla="*/ 1206 w 1207"/>
                  <a:gd name="T1" fmla="*/ 0 h 215"/>
                  <a:gd name="T2" fmla="*/ 1206 w 1207"/>
                  <a:gd name="T3" fmla="*/ 214 h 215"/>
                  <a:gd name="T4" fmla="*/ 1105 w 1207"/>
                  <a:gd name="T5" fmla="*/ 214 h 215"/>
                  <a:gd name="T6" fmla="*/ 1105 w 1207"/>
                  <a:gd name="T7" fmla="*/ 36 h 215"/>
                  <a:gd name="T8" fmla="*/ 97 w 1207"/>
                  <a:gd name="T9" fmla="*/ 36 h 215"/>
                  <a:gd name="T10" fmla="*/ 97 w 1207"/>
                  <a:gd name="T11" fmla="*/ 214 h 215"/>
                  <a:gd name="T12" fmla="*/ 0 w 1207"/>
                  <a:gd name="T13" fmla="*/ 214 h 215"/>
                  <a:gd name="T14" fmla="*/ 0 w 1207"/>
                  <a:gd name="T15" fmla="*/ 0 h 215"/>
                  <a:gd name="T16" fmla="*/ 1206 w 1207"/>
                  <a:gd name="T17" fmla="*/ 0 h 2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07"/>
                  <a:gd name="T28" fmla="*/ 0 h 215"/>
                  <a:gd name="T29" fmla="*/ 1207 w 1207"/>
                  <a:gd name="T30" fmla="*/ 215 h 2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07" h="215">
                    <a:moveTo>
                      <a:pt x="1206" y="0"/>
                    </a:moveTo>
                    <a:lnTo>
                      <a:pt x="1206" y="214"/>
                    </a:lnTo>
                    <a:lnTo>
                      <a:pt x="1105" y="214"/>
                    </a:lnTo>
                    <a:lnTo>
                      <a:pt x="1105" y="36"/>
                    </a:lnTo>
                    <a:lnTo>
                      <a:pt x="97" y="36"/>
                    </a:lnTo>
                    <a:lnTo>
                      <a:pt x="97" y="214"/>
                    </a:lnTo>
                    <a:lnTo>
                      <a:pt x="0" y="214"/>
                    </a:lnTo>
                    <a:lnTo>
                      <a:pt x="0" y="0"/>
                    </a:lnTo>
                    <a:lnTo>
                      <a:pt x="1206" y="0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2" name="Freeform 42">
                <a:extLst>
                  <a:ext uri="{FF2B5EF4-FFF2-40B4-BE49-F238E27FC236}">
                    <a16:creationId xmlns:a16="http://schemas.microsoft.com/office/drawing/2014/main" id="{214AD55D-F36B-431A-8920-E233310B2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2125"/>
                <a:ext cx="1009" cy="180"/>
              </a:xfrm>
              <a:custGeom>
                <a:avLst/>
                <a:gdLst>
                  <a:gd name="T0" fmla="*/ 0 w 1009"/>
                  <a:gd name="T1" fmla="*/ 179 h 180"/>
                  <a:gd name="T2" fmla="*/ 0 w 1009"/>
                  <a:gd name="T3" fmla="*/ 0 h 180"/>
                  <a:gd name="T4" fmla="*/ 1008 w 1009"/>
                  <a:gd name="T5" fmla="*/ 0 h 180"/>
                  <a:gd name="T6" fmla="*/ 1008 w 1009"/>
                  <a:gd name="T7" fmla="*/ 179 h 180"/>
                  <a:gd name="T8" fmla="*/ 581 w 1009"/>
                  <a:gd name="T9" fmla="*/ 179 h 180"/>
                  <a:gd name="T10" fmla="*/ 581 w 1009"/>
                  <a:gd name="T11" fmla="*/ 45 h 180"/>
                  <a:gd name="T12" fmla="*/ 427 w 1009"/>
                  <a:gd name="T13" fmla="*/ 45 h 180"/>
                  <a:gd name="T14" fmla="*/ 427 w 1009"/>
                  <a:gd name="T15" fmla="*/ 179 h 180"/>
                  <a:gd name="T16" fmla="*/ 0 w 1009"/>
                  <a:gd name="T17" fmla="*/ 179 h 1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09"/>
                  <a:gd name="T28" fmla="*/ 0 h 180"/>
                  <a:gd name="T29" fmla="*/ 1009 w 1009"/>
                  <a:gd name="T30" fmla="*/ 180 h 1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09" h="180">
                    <a:moveTo>
                      <a:pt x="0" y="179"/>
                    </a:moveTo>
                    <a:lnTo>
                      <a:pt x="0" y="0"/>
                    </a:lnTo>
                    <a:lnTo>
                      <a:pt x="1008" y="0"/>
                    </a:lnTo>
                    <a:lnTo>
                      <a:pt x="1008" y="179"/>
                    </a:lnTo>
                    <a:lnTo>
                      <a:pt x="581" y="179"/>
                    </a:lnTo>
                    <a:lnTo>
                      <a:pt x="581" y="45"/>
                    </a:lnTo>
                    <a:lnTo>
                      <a:pt x="427" y="45"/>
                    </a:lnTo>
                    <a:lnTo>
                      <a:pt x="427" y="179"/>
                    </a:lnTo>
                    <a:lnTo>
                      <a:pt x="0" y="179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3" name="Freeform 43">
                <a:extLst>
                  <a:ext uri="{FF2B5EF4-FFF2-40B4-BE49-F238E27FC236}">
                    <a16:creationId xmlns:a16="http://schemas.microsoft.com/office/drawing/2014/main" id="{704DF13A-EF8A-499D-882F-F6D6F98A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4" name="Freeform 44">
                <a:extLst>
                  <a:ext uri="{FF2B5EF4-FFF2-40B4-BE49-F238E27FC236}">
                    <a16:creationId xmlns:a16="http://schemas.microsoft.com/office/drawing/2014/main" id="{ED3827D1-9E5E-48E2-A46E-EB934BFDA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424" name="Rectangle 45">
              <a:extLst>
                <a:ext uri="{FF2B5EF4-FFF2-40B4-BE49-F238E27FC236}">
                  <a16:creationId xmlns:a16="http://schemas.microsoft.com/office/drawing/2014/main" id="{34C1E7DC-6A86-464E-9AAA-6DE1C8E99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" y="1206"/>
              <a:ext cx="1194" cy="32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600" b="1"/>
                <a:t>Employer</a:t>
              </a:r>
            </a:p>
          </p:txBody>
        </p:sp>
      </p:grpSp>
      <p:grpSp>
        <p:nvGrpSpPr>
          <p:cNvPr id="49156" name="Group 46">
            <a:extLst>
              <a:ext uri="{FF2B5EF4-FFF2-40B4-BE49-F238E27FC236}">
                <a16:creationId xmlns:a16="http://schemas.microsoft.com/office/drawing/2014/main" id="{0FAD2B23-5629-4EF9-A073-254AE8546A26}"/>
              </a:ext>
            </a:extLst>
          </p:cNvPr>
          <p:cNvGrpSpPr>
            <a:grpSpLocks/>
          </p:cNvGrpSpPr>
          <p:nvPr/>
        </p:nvGrpSpPr>
        <p:grpSpPr bwMode="auto">
          <a:xfrm>
            <a:off x="3373438" y="3262313"/>
            <a:ext cx="2392362" cy="1665287"/>
            <a:chOff x="2231" y="2298"/>
            <a:chExt cx="1583" cy="1119"/>
          </a:xfrm>
        </p:grpSpPr>
        <p:grpSp>
          <p:nvGrpSpPr>
            <p:cNvPr id="49336" name="Group 47">
              <a:extLst>
                <a:ext uri="{FF2B5EF4-FFF2-40B4-BE49-F238E27FC236}">
                  <a16:creationId xmlns:a16="http://schemas.microsoft.com/office/drawing/2014/main" id="{B78B3C56-4183-4F5D-B32C-46AC45343B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2298"/>
              <a:ext cx="1583" cy="1119"/>
              <a:chOff x="2231" y="2298"/>
              <a:chExt cx="1583" cy="1119"/>
            </a:xfrm>
          </p:grpSpPr>
          <p:sp>
            <p:nvSpPr>
              <p:cNvPr id="49338" name="Freeform 48">
                <a:extLst>
                  <a:ext uri="{FF2B5EF4-FFF2-40B4-BE49-F238E27FC236}">
                    <a16:creationId xmlns:a16="http://schemas.microsoft.com/office/drawing/2014/main" id="{405CE134-CD6D-47AA-A675-3EBC47891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458"/>
                <a:ext cx="1272" cy="943"/>
              </a:xfrm>
              <a:custGeom>
                <a:avLst/>
                <a:gdLst>
                  <a:gd name="T0" fmla="*/ 1271 w 1272"/>
                  <a:gd name="T1" fmla="*/ 942 h 943"/>
                  <a:gd name="T2" fmla="*/ 1271 w 1272"/>
                  <a:gd name="T3" fmla="*/ 0 h 943"/>
                  <a:gd name="T4" fmla="*/ 0 w 1272"/>
                  <a:gd name="T5" fmla="*/ 0 h 943"/>
                  <a:gd name="T6" fmla="*/ 0 w 1272"/>
                  <a:gd name="T7" fmla="*/ 942 h 943"/>
                  <a:gd name="T8" fmla="*/ 1271 w 1272"/>
                  <a:gd name="T9" fmla="*/ 942 h 9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2"/>
                  <a:gd name="T16" fmla="*/ 0 h 943"/>
                  <a:gd name="T17" fmla="*/ 1272 w 1272"/>
                  <a:gd name="T18" fmla="*/ 943 h 9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2" h="943">
                    <a:moveTo>
                      <a:pt x="1271" y="942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271" y="94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39" name="Freeform 49">
                <a:extLst>
                  <a:ext uri="{FF2B5EF4-FFF2-40B4-BE49-F238E27FC236}">
                    <a16:creationId xmlns:a16="http://schemas.microsoft.com/office/drawing/2014/main" id="{18BF32B3-7470-4EF5-B2EA-0A2AF9ACC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2450"/>
                <a:ext cx="10" cy="951"/>
              </a:xfrm>
              <a:custGeom>
                <a:avLst/>
                <a:gdLst>
                  <a:gd name="T0" fmla="*/ 5 w 10"/>
                  <a:gd name="T1" fmla="*/ 17 h 951"/>
                  <a:gd name="T2" fmla="*/ 0 w 10"/>
                  <a:gd name="T3" fmla="*/ 8 h 951"/>
                  <a:gd name="T4" fmla="*/ 0 w 10"/>
                  <a:gd name="T5" fmla="*/ 950 h 951"/>
                  <a:gd name="T6" fmla="*/ 9 w 10"/>
                  <a:gd name="T7" fmla="*/ 950 h 951"/>
                  <a:gd name="T8" fmla="*/ 9 w 10"/>
                  <a:gd name="T9" fmla="*/ 8 h 951"/>
                  <a:gd name="T10" fmla="*/ 5 w 10"/>
                  <a:gd name="T11" fmla="*/ 0 h 951"/>
                  <a:gd name="T12" fmla="*/ 9 w 10"/>
                  <a:gd name="T13" fmla="*/ 8 h 951"/>
                  <a:gd name="T14" fmla="*/ 9 w 10"/>
                  <a:gd name="T15" fmla="*/ 0 h 951"/>
                  <a:gd name="T16" fmla="*/ 5 w 10"/>
                  <a:gd name="T17" fmla="*/ 0 h 951"/>
                  <a:gd name="T18" fmla="*/ 5 w 10"/>
                  <a:gd name="T19" fmla="*/ 17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951"/>
                  <a:gd name="T32" fmla="*/ 10 w 10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951">
                    <a:moveTo>
                      <a:pt x="5" y="17"/>
                    </a:moveTo>
                    <a:lnTo>
                      <a:pt x="0" y="8"/>
                    </a:lnTo>
                    <a:lnTo>
                      <a:pt x="0" y="950"/>
                    </a:lnTo>
                    <a:lnTo>
                      <a:pt x="9" y="95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0" name="Freeform 50">
                <a:extLst>
                  <a:ext uri="{FF2B5EF4-FFF2-40B4-BE49-F238E27FC236}">
                    <a16:creationId xmlns:a16="http://schemas.microsoft.com/office/drawing/2014/main" id="{C5799D75-30B3-4921-97F3-4798E5E0B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0"/>
                <a:ext cx="1279" cy="12"/>
              </a:xfrm>
              <a:custGeom>
                <a:avLst/>
                <a:gdLst>
                  <a:gd name="T0" fmla="*/ 7 w 1279"/>
                  <a:gd name="T1" fmla="*/ 5 h 12"/>
                  <a:gd name="T2" fmla="*/ 7 w 1279"/>
                  <a:gd name="T3" fmla="*/ 11 h 12"/>
                  <a:gd name="T4" fmla="*/ 1278 w 1279"/>
                  <a:gd name="T5" fmla="*/ 11 h 12"/>
                  <a:gd name="T6" fmla="*/ 1278 w 1279"/>
                  <a:gd name="T7" fmla="*/ 0 h 12"/>
                  <a:gd name="T8" fmla="*/ 7 w 1279"/>
                  <a:gd name="T9" fmla="*/ 0 h 12"/>
                  <a:gd name="T10" fmla="*/ 0 w 1279"/>
                  <a:gd name="T11" fmla="*/ 5 h 12"/>
                  <a:gd name="T12" fmla="*/ 7 w 1279"/>
                  <a:gd name="T13" fmla="*/ 0 h 12"/>
                  <a:gd name="T14" fmla="*/ 0 w 1279"/>
                  <a:gd name="T15" fmla="*/ 0 h 12"/>
                  <a:gd name="T16" fmla="*/ 0 w 1279"/>
                  <a:gd name="T17" fmla="*/ 5 h 12"/>
                  <a:gd name="T18" fmla="*/ 7 w 1279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7" y="5"/>
                    </a:moveTo>
                    <a:lnTo>
                      <a:pt x="7" y="11"/>
                    </a:lnTo>
                    <a:lnTo>
                      <a:pt x="1278" y="11"/>
                    </a:lnTo>
                    <a:lnTo>
                      <a:pt x="1278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1" name="Freeform 51">
                <a:extLst>
                  <a:ext uri="{FF2B5EF4-FFF2-40B4-BE49-F238E27FC236}">
                    <a16:creationId xmlns:a16="http://schemas.microsoft.com/office/drawing/2014/main" id="{3E115CB0-92BD-48C2-AC92-7DC775347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8"/>
                <a:ext cx="2" cy="951"/>
              </a:xfrm>
              <a:custGeom>
                <a:avLst/>
                <a:gdLst>
                  <a:gd name="T0" fmla="*/ 1 w 2"/>
                  <a:gd name="T1" fmla="*/ 933 h 951"/>
                  <a:gd name="T2" fmla="*/ 1 w 2"/>
                  <a:gd name="T3" fmla="*/ 942 h 951"/>
                  <a:gd name="T4" fmla="*/ 1 w 2"/>
                  <a:gd name="T5" fmla="*/ 0 h 951"/>
                  <a:gd name="T6" fmla="*/ 0 w 2"/>
                  <a:gd name="T7" fmla="*/ 0 h 951"/>
                  <a:gd name="T8" fmla="*/ 0 w 2"/>
                  <a:gd name="T9" fmla="*/ 942 h 951"/>
                  <a:gd name="T10" fmla="*/ 1 w 2"/>
                  <a:gd name="T11" fmla="*/ 950 h 951"/>
                  <a:gd name="T12" fmla="*/ 0 w 2"/>
                  <a:gd name="T13" fmla="*/ 942 h 951"/>
                  <a:gd name="T14" fmla="*/ 0 w 2"/>
                  <a:gd name="T15" fmla="*/ 950 h 951"/>
                  <a:gd name="T16" fmla="*/ 1 w 2"/>
                  <a:gd name="T17" fmla="*/ 950 h 951"/>
                  <a:gd name="T18" fmla="*/ 1 w 2"/>
                  <a:gd name="T19" fmla="*/ 933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951"/>
                  <a:gd name="T32" fmla="*/ 2 w 2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951">
                    <a:moveTo>
                      <a:pt x="1" y="933"/>
                    </a:moveTo>
                    <a:lnTo>
                      <a:pt x="1" y="94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" y="950"/>
                    </a:lnTo>
                    <a:lnTo>
                      <a:pt x="0" y="942"/>
                    </a:lnTo>
                    <a:lnTo>
                      <a:pt x="0" y="950"/>
                    </a:lnTo>
                    <a:lnTo>
                      <a:pt x="1" y="950"/>
                    </a:lnTo>
                    <a:lnTo>
                      <a:pt x="1" y="9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2" name="Freeform 52">
                <a:extLst>
                  <a:ext uri="{FF2B5EF4-FFF2-40B4-BE49-F238E27FC236}">
                    <a16:creationId xmlns:a16="http://schemas.microsoft.com/office/drawing/2014/main" id="{64C7236E-0367-4243-B688-677E25C81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3397"/>
                <a:ext cx="1279" cy="12"/>
              </a:xfrm>
              <a:custGeom>
                <a:avLst/>
                <a:gdLst>
                  <a:gd name="T0" fmla="*/ 1263 w 1279"/>
                  <a:gd name="T1" fmla="*/ 6 h 12"/>
                  <a:gd name="T2" fmla="*/ 1271 w 1279"/>
                  <a:gd name="T3" fmla="*/ 0 h 12"/>
                  <a:gd name="T4" fmla="*/ 0 w 1279"/>
                  <a:gd name="T5" fmla="*/ 0 h 12"/>
                  <a:gd name="T6" fmla="*/ 0 w 1279"/>
                  <a:gd name="T7" fmla="*/ 11 h 12"/>
                  <a:gd name="T8" fmla="*/ 1271 w 1279"/>
                  <a:gd name="T9" fmla="*/ 11 h 12"/>
                  <a:gd name="T10" fmla="*/ 1278 w 1279"/>
                  <a:gd name="T11" fmla="*/ 6 h 12"/>
                  <a:gd name="T12" fmla="*/ 1271 w 1279"/>
                  <a:gd name="T13" fmla="*/ 11 h 12"/>
                  <a:gd name="T14" fmla="*/ 1278 w 1279"/>
                  <a:gd name="T15" fmla="*/ 11 h 12"/>
                  <a:gd name="T16" fmla="*/ 1278 w 1279"/>
                  <a:gd name="T17" fmla="*/ 6 h 12"/>
                  <a:gd name="T18" fmla="*/ 1263 w 1279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1263" y="6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71" y="11"/>
                    </a:lnTo>
                    <a:lnTo>
                      <a:pt x="1278" y="6"/>
                    </a:lnTo>
                    <a:lnTo>
                      <a:pt x="1271" y="11"/>
                    </a:lnTo>
                    <a:lnTo>
                      <a:pt x="1278" y="11"/>
                    </a:lnTo>
                    <a:lnTo>
                      <a:pt x="1278" y="6"/>
                    </a:lnTo>
                    <a:lnTo>
                      <a:pt x="126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3" name="Freeform 53">
                <a:extLst>
                  <a:ext uri="{FF2B5EF4-FFF2-40B4-BE49-F238E27FC236}">
                    <a16:creationId xmlns:a16="http://schemas.microsoft.com/office/drawing/2014/main" id="{D8422EE5-4959-4149-92E5-276A10094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306"/>
                <a:ext cx="1421" cy="147"/>
              </a:xfrm>
              <a:custGeom>
                <a:avLst/>
                <a:gdLst>
                  <a:gd name="T0" fmla="*/ 50 w 1421"/>
                  <a:gd name="T1" fmla="*/ 0 h 147"/>
                  <a:gd name="T2" fmla="*/ 0 w 1421"/>
                  <a:gd name="T3" fmla="*/ 146 h 147"/>
                  <a:gd name="T4" fmla="*/ 1420 w 1421"/>
                  <a:gd name="T5" fmla="*/ 146 h 147"/>
                  <a:gd name="T6" fmla="*/ 1377 w 1421"/>
                  <a:gd name="T7" fmla="*/ 0 h 147"/>
                  <a:gd name="T8" fmla="*/ 50 w 1421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1"/>
                  <a:gd name="T16" fmla="*/ 0 h 147"/>
                  <a:gd name="T17" fmla="*/ 1421 w 1421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1" h="147">
                    <a:moveTo>
                      <a:pt x="50" y="0"/>
                    </a:moveTo>
                    <a:lnTo>
                      <a:pt x="0" y="146"/>
                    </a:lnTo>
                    <a:lnTo>
                      <a:pt x="1420" y="146"/>
                    </a:lnTo>
                    <a:lnTo>
                      <a:pt x="1377" y="0"/>
                    </a:lnTo>
                    <a:lnTo>
                      <a:pt x="50" y="0"/>
                    </a:lnTo>
                  </a:path>
                </a:pathLst>
              </a:custGeom>
              <a:solidFill>
                <a:srgbClr val="006B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4" name="Freeform 54">
                <a:extLst>
                  <a:ext uri="{FF2B5EF4-FFF2-40B4-BE49-F238E27FC236}">
                    <a16:creationId xmlns:a16="http://schemas.microsoft.com/office/drawing/2014/main" id="{C6B91F21-E02F-4E4A-BB51-288603AE6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306"/>
                <a:ext cx="52" cy="156"/>
              </a:xfrm>
              <a:custGeom>
                <a:avLst/>
                <a:gdLst>
                  <a:gd name="T0" fmla="*/ 6 w 52"/>
                  <a:gd name="T1" fmla="*/ 139 h 156"/>
                  <a:gd name="T2" fmla="*/ 13 w 52"/>
                  <a:gd name="T3" fmla="*/ 146 h 156"/>
                  <a:gd name="T4" fmla="*/ 51 w 52"/>
                  <a:gd name="T5" fmla="*/ 0 h 156"/>
                  <a:gd name="T6" fmla="*/ 45 w 52"/>
                  <a:gd name="T7" fmla="*/ 0 h 156"/>
                  <a:gd name="T8" fmla="*/ 6 w 52"/>
                  <a:gd name="T9" fmla="*/ 139 h 156"/>
                  <a:gd name="T10" fmla="*/ 6 w 52"/>
                  <a:gd name="T11" fmla="*/ 155 h 156"/>
                  <a:gd name="T12" fmla="*/ 6 w 52"/>
                  <a:gd name="T13" fmla="*/ 139 h 156"/>
                  <a:gd name="T14" fmla="*/ 0 w 52"/>
                  <a:gd name="T15" fmla="*/ 146 h 156"/>
                  <a:gd name="T16" fmla="*/ 6 w 52"/>
                  <a:gd name="T17" fmla="*/ 155 h 156"/>
                  <a:gd name="T18" fmla="*/ 6 w 52"/>
                  <a:gd name="T19" fmla="*/ 139 h 1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2"/>
                  <a:gd name="T31" fmla="*/ 0 h 156"/>
                  <a:gd name="T32" fmla="*/ 52 w 52"/>
                  <a:gd name="T33" fmla="*/ 156 h 1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2" h="156">
                    <a:moveTo>
                      <a:pt x="6" y="139"/>
                    </a:moveTo>
                    <a:lnTo>
                      <a:pt x="13" y="146"/>
                    </a:lnTo>
                    <a:lnTo>
                      <a:pt x="51" y="0"/>
                    </a:lnTo>
                    <a:lnTo>
                      <a:pt x="45" y="0"/>
                    </a:lnTo>
                    <a:lnTo>
                      <a:pt x="6" y="139"/>
                    </a:lnTo>
                    <a:lnTo>
                      <a:pt x="6" y="155"/>
                    </a:lnTo>
                    <a:lnTo>
                      <a:pt x="6" y="139"/>
                    </a:lnTo>
                    <a:lnTo>
                      <a:pt x="0" y="146"/>
                    </a:lnTo>
                    <a:lnTo>
                      <a:pt x="6" y="155"/>
                    </a:lnTo>
                    <a:lnTo>
                      <a:pt x="6" y="13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5" name="Freeform 55">
                <a:extLst>
                  <a:ext uri="{FF2B5EF4-FFF2-40B4-BE49-F238E27FC236}">
                    <a16:creationId xmlns:a16="http://schemas.microsoft.com/office/drawing/2014/main" id="{8BCC98F1-EC68-4701-9E03-1F4D3D454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450"/>
                <a:ext cx="1428" cy="12"/>
              </a:xfrm>
              <a:custGeom>
                <a:avLst/>
                <a:gdLst>
                  <a:gd name="T0" fmla="*/ 1412 w 1428"/>
                  <a:gd name="T1" fmla="*/ 5 h 12"/>
                  <a:gd name="T2" fmla="*/ 1420 w 1428"/>
                  <a:gd name="T3" fmla="*/ 0 h 12"/>
                  <a:gd name="T4" fmla="*/ 0 w 1428"/>
                  <a:gd name="T5" fmla="*/ 0 h 12"/>
                  <a:gd name="T6" fmla="*/ 0 w 1428"/>
                  <a:gd name="T7" fmla="*/ 11 h 12"/>
                  <a:gd name="T8" fmla="*/ 1420 w 1428"/>
                  <a:gd name="T9" fmla="*/ 11 h 12"/>
                  <a:gd name="T10" fmla="*/ 1427 w 1428"/>
                  <a:gd name="T11" fmla="*/ 0 h 12"/>
                  <a:gd name="T12" fmla="*/ 1420 w 1428"/>
                  <a:gd name="T13" fmla="*/ 11 h 12"/>
                  <a:gd name="T14" fmla="*/ 1427 w 1428"/>
                  <a:gd name="T15" fmla="*/ 5 h 12"/>
                  <a:gd name="T16" fmla="*/ 1427 w 1428"/>
                  <a:gd name="T17" fmla="*/ 0 h 12"/>
                  <a:gd name="T18" fmla="*/ 1412 w 1428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28"/>
                  <a:gd name="T31" fmla="*/ 0 h 12"/>
                  <a:gd name="T32" fmla="*/ 1428 w 1428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28" h="12">
                    <a:moveTo>
                      <a:pt x="1412" y="5"/>
                    </a:moveTo>
                    <a:lnTo>
                      <a:pt x="1420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420" y="11"/>
                    </a:lnTo>
                    <a:lnTo>
                      <a:pt x="1427" y="0"/>
                    </a:lnTo>
                    <a:lnTo>
                      <a:pt x="1420" y="11"/>
                    </a:lnTo>
                    <a:lnTo>
                      <a:pt x="1427" y="5"/>
                    </a:lnTo>
                    <a:lnTo>
                      <a:pt x="1427" y="0"/>
                    </a:lnTo>
                    <a:lnTo>
                      <a:pt x="1412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6" name="Freeform 56">
                <a:extLst>
                  <a:ext uri="{FF2B5EF4-FFF2-40B4-BE49-F238E27FC236}">
                    <a16:creationId xmlns:a16="http://schemas.microsoft.com/office/drawing/2014/main" id="{231BA386-19F8-4C74-9454-6FAD95535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298"/>
                <a:ext cx="52" cy="155"/>
              </a:xfrm>
              <a:custGeom>
                <a:avLst/>
                <a:gdLst>
                  <a:gd name="T0" fmla="*/ 6 w 52"/>
                  <a:gd name="T1" fmla="*/ 15 h 155"/>
                  <a:gd name="T2" fmla="*/ 0 w 52"/>
                  <a:gd name="T3" fmla="*/ 8 h 155"/>
                  <a:gd name="T4" fmla="*/ 38 w 52"/>
                  <a:gd name="T5" fmla="*/ 154 h 155"/>
                  <a:gd name="T6" fmla="*/ 51 w 52"/>
                  <a:gd name="T7" fmla="*/ 146 h 155"/>
                  <a:gd name="T8" fmla="*/ 6 w 52"/>
                  <a:gd name="T9" fmla="*/ 8 h 155"/>
                  <a:gd name="T10" fmla="*/ 6 w 52"/>
                  <a:gd name="T11" fmla="*/ 0 h 155"/>
                  <a:gd name="T12" fmla="*/ 6 w 52"/>
                  <a:gd name="T13" fmla="*/ 8 h 155"/>
                  <a:gd name="T14" fmla="*/ 6 w 52"/>
                  <a:gd name="T15" fmla="*/ 0 h 155"/>
                  <a:gd name="T16" fmla="*/ 6 w 52"/>
                  <a:gd name="T17" fmla="*/ 15 h 1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2"/>
                  <a:gd name="T28" fmla="*/ 0 h 155"/>
                  <a:gd name="T29" fmla="*/ 52 w 52"/>
                  <a:gd name="T30" fmla="*/ 155 h 1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2" h="155">
                    <a:moveTo>
                      <a:pt x="6" y="15"/>
                    </a:moveTo>
                    <a:lnTo>
                      <a:pt x="0" y="8"/>
                    </a:lnTo>
                    <a:lnTo>
                      <a:pt x="38" y="154"/>
                    </a:lnTo>
                    <a:lnTo>
                      <a:pt x="51" y="146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7" name="Freeform 57">
                <a:extLst>
                  <a:ext uri="{FF2B5EF4-FFF2-40B4-BE49-F238E27FC236}">
                    <a16:creationId xmlns:a16="http://schemas.microsoft.com/office/drawing/2014/main" id="{0B6494E4-B59F-4725-BD9E-3F8C75416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298"/>
                <a:ext cx="1335" cy="11"/>
              </a:xfrm>
              <a:custGeom>
                <a:avLst/>
                <a:gdLst>
                  <a:gd name="T0" fmla="*/ 7 w 1335"/>
                  <a:gd name="T1" fmla="*/ 5 h 11"/>
                  <a:gd name="T2" fmla="*/ 7 w 1335"/>
                  <a:gd name="T3" fmla="*/ 10 h 11"/>
                  <a:gd name="T4" fmla="*/ 1334 w 1335"/>
                  <a:gd name="T5" fmla="*/ 10 h 11"/>
                  <a:gd name="T6" fmla="*/ 1334 w 1335"/>
                  <a:gd name="T7" fmla="*/ 0 h 11"/>
                  <a:gd name="T8" fmla="*/ 7 w 1335"/>
                  <a:gd name="T9" fmla="*/ 0 h 11"/>
                  <a:gd name="T10" fmla="*/ 0 w 1335"/>
                  <a:gd name="T11" fmla="*/ 5 h 11"/>
                  <a:gd name="T12" fmla="*/ 7 w 1335"/>
                  <a:gd name="T13" fmla="*/ 0 h 11"/>
                  <a:gd name="T14" fmla="*/ 0 w 1335"/>
                  <a:gd name="T15" fmla="*/ 0 h 11"/>
                  <a:gd name="T16" fmla="*/ 0 w 1335"/>
                  <a:gd name="T17" fmla="*/ 5 h 11"/>
                  <a:gd name="T18" fmla="*/ 7 w 1335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35"/>
                  <a:gd name="T31" fmla="*/ 0 h 11"/>
                  <a:gd name="T32" fmla="*/ 1335 w 1335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35" h="11">
                    <a:moveTo>
                      <a:pt x="7" y="5"/>
                    </a:moveTo>
                    <a:lnTo>
                      <a:pt x="7" y="10"/>
                    </a:lnTo>
                    <a:lnTo>
                      <a:pt x="1334" y="10"/>
                    </a:lnTo>
                    <a:lnTo>
                      <a:pt x="133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8" name="Freeform 58">
                <a:extLst>
                  <a:ext uri="{FF2B5EF4-FFF2-40B4-BE49-F238E27FC236}">
                    <a16:creationId xmlns:a16="http://schemas.microsoft.com/office/drawing/2014/main" id="{09A7A0E3-7CD0-4FC6-8704-96D5EAABC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093"/>
                <a:ext cx="123" cy="308"/>
              </a:xfrm>
              <a:custGeom>
                <a:avLst/>
                <a:gdLst>
                  <a:gd name="T0" fmla="*/ 0 w 123"/>
                  <a:gd name="T1" fmla="*/ 0 h 308"/>
                  <a:gd name="T2" fmla="*/ 0 w 123"/>
                  <a:gd name="T3" fmla="*/ 307 h 308"/>
                  <a:gd name="T4" fmla="*/ 122 w 123"/>
                  <a:gd name="T5" fmla="*/ 307 h 308"/>
                  <a:gd name="T6" fmla="*/ 122 w 123"/>
                  <a:gd name="T7" fmla="*/ 0 h 308"/>
                  <a:gd name="T8" fmla="*/ 0 w 123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3"/>
                  <a:gd name="T16" fmla="*/ 0 h 308"/>
                  <a:gd name="T17" fmla="*/ 123 w 123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3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22" y="307"/>
                    </a:lnTo>
                    <a:lnTo>
                      <a:pt x="12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9" name="Freeform 59">
                <a:extLst>
                  <a:ext uri="{FF2B5EF4-FFF2-40B4-BE49-F238E27FC236}">
                    <a16:creationId xmlns:a16="http://schemas.microsoft.com/office/drawing/2014/main" id="{8376FBFF-535C-46D1-9058-EA390D74E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93"/>
                <a:ext cx="10" cy="316"/>
              </a:xfrm>
              <a:custGeom>
                <a:avLst/>
                <a:gdLst>
                  <a:gd name="T0" fmla="*/ 4 w 10"/>
                  <a:gd name="T1" fmla="*/ 298 h 316"/>
                  <a:gd name="T2" fmla="*/ 9 w 10"/>
                  <a:gd name="T3" fmla="*/ 307 h 316"/>
                  <a:gd name="T4" fmla="*/ 9 w 10"/>
                  <a:gd name="T5" fmla="*/ 0 h 316"/>
                  <a:gd name="T6" fmla="*/ 0 w 10"/>
                  <a:gd name="T7" fmla="*/ 0 h 316"/>
                  <a:gd name="T8" fmla="*/ 0 w 10"/>
                  <a:gd name="T9" fmla="*/ 307 h 316"/>
                  <a:gd name="T10" fmla="*/ 4 w 10"/>
                  <a:gd name="T11" fmla="*/ 315 h 316"/>
                  <a:gd name="T12" fmla="*/ 0 w 10"/>
                  <a:gd name="T13" fmla="*/ 307 h 316"/>
                  <a:gd name="T14" fmla="*/ 0 w 10"/>
                  <a:gd name="T15" fmla="*/ 315 h 316"/>
                  <a:gd name="T16" fmla="*/ 4 w 10"/>
                  <a:gd name="T17" fmla="*/ 315 h 316"/>
                  <a:gd name="T18" fmla="*/ 4 w 10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316"/>
                  <a:gd name="T32" fmla="*/ 10 w 10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316">
                    <a:moveTo>
                      <a:pt x="4" y="298"/>
                    </a:moveTo>
                    <a:lnTo>
                      <a:pt x="9" y="307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0" name="Freeform 60">
                <a:extLst>
                  <a:ext uri="{FF2B5EF4-FFF2-40B4-BE49-F238E27FC236}">
                    <a16:creationId xmlns:a16="http://schemas.microsoft.com/office/drawing/2014/main" id="{D2D4AA03-DF86-4029-AF1E-F9D14C944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397"/>
                <a:ext cx="130" cy="12"/>
              </a:xfrm>
              <a:custGeom>
                <a:avLst/>
                <a:gdLst>
                  <a:gd name="T0" fmla="*/ 116 w 130"/>
                  <a:gd name="T1" fmla="*/ 6 h 12"/>
                  <a:gd name="T2" fmla="*/ 122 w 130"/>
                  <a:gd name="T3" fmla="*/ 0 h 12"/>
                  <a:gd name="T4" fmla="*/ 0 w 130"/>
                  <a:gd name="T5" fmla="*/ 0 h 12"/>
                  <a:gd name="T6" fmla="*/ 0 w 130"/>
                  <a:gd name="T7" fmla="*/ 11 h 12"/>
                  <a:gd name="T8" fmla="*/ 122 w 130"/>
                  <a:gd name="T9" fmla="*/ 11 h 12"/>
                  <a:gd name="T10" fmla="*/ 129 w 130"/>
                  <a:gd name="T11" fmla="*/ 6 h 12"/>
                  <a:gd name="T12" fmla="*/ 122 w 130"/>
                  <a:gd name="T13" fmla="*/ 11 h 12"/>
                  <a:gd name="T14" fmla="*/ 129 w 130"/>
                  <a:gd name="T15" fmla="*/ 11 h 12"/>
                  <a:gd name="T16" fmla="*/ 129 w 130"/>
                  <a:gd name="T17" fmla="*/ 6 h 12"/>
                  <a:gd name="T18" fmla="*/ 116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16" y="6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2" y="11"/>
                    </a:lnTo>
                    <a:lnTo>
                      <a:pt x="129" y="6"/>
                    </a:lnTo>
                    <a:lnTo>
                      <a:pt x="122" y="11"/>
                    </a:lnTo>
                    <a:lnTo>
                      <a:pt x="129" y="11"/>
                    </a:lnTo>
                    <a:lnTo>
                      <a:pt x="129" y="6"/>
                    </a:lnTo>
                    <a:lnTo>
                      <a:pt x="116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1" name="Freeform 61">
                <a:extLst>
                  <a:ext uri="{FF2B5EF4-FFF2-40B4-BE49-F238E27FC236}">
                    <a16:creationId xmlns:a16="http://schemas.microsoft.com/office/drawing/2014/main" id="{F5CA8F44-88D3-4574-9339-F76F3611D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3084"/>
                <a:ext cx="9" cy="317"/>
              </a:xfrm>
              <a:custGeom>
                <a:avLst/>
                <a:gdLst>
                  <a:gd name="T0" fmla="*/ 4 w 9"/>
                  <a:gd name="T1" fmla="*/ 17 h 317"/>
                  <a:gd name="T2" fmla="*/ 0 w 9"/>
                  <a:gd name="T3" fmla="*/ 9 h 317"/>
                  <a:gd name="T4" fmla="*/ 0 w 9"/>
                  <a:gd name="T5" fmla="*/ 316 h 317"/>
                  <a:gd name="T6" fmla="*/ 8 w 9"/>
                  <a:gd name="T7" fmla="*/ 316 h 317"/>
                  <a:gd name="T8" fmla="*/ 8 w 9"/>
                  <a:gd name="T9" fmla="*/ 9 h 317"/>
                  <a:gd name="T10" fmla="*/ 4 w 9"/>
                  <a:gd name="T11" fmla="*/ 0 h 317"/>
                  <a:gd name="T12" fmla="*/ 8 w 9"/>
                  <a:gd name="T13" fmla="*/ 9 h 317"/>
                  <a:gd name="T14" fmla="*/ 8 w 9"/>
                  <a:gd name="T15" fmla="*/ 0 h 317"/>
                  <a:gd name="T16" fmla="*/ 4 w 9"/>
                  <a:gd name="T17" fmla="*/ 0 h 317"/>
                  <a:gd name="T18" fmla="*/ 4 w 9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7"/>
                  <a:gd name="T32" fmla="*/ 9 w 9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7">
                    <a:moveTo>
                      <a:pt x="4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8" y="316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2" name="Freeform 62">
                <a:extLst>
                  <a:ext uri="{FF2B5EF4-FFF2-40B4-BE49-F238E27FC236}">
                    <a16:creationId xmlns:a16="http://schemas.microsoft.com/office/drawing/2014/main" id="{776FBD28-339D-4524-A513-B63FA40BC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84"/>
                <a:ext cx="130" cy="12"/>
              </a:xfrm>
              <a:custGeom>
                <a:avLst/>
                <a:gdLst>
                  <a:gd name="T0" fmla="*/ 14 w 130"/>
                  <a:gd name="T1" fmla="*/ 6 h 12"/>
                  <a:gd name="T2" fmla="*/ 7 w 130"/>
                  <a:gd name="T3" fmla="*/ 11 h 12"/>
                  <a:gd name="T4" fmla="*/ 129 w 130"/>
                  <a:gd name="T5" fmla="*/ 11 h 12"/>
                  <a:gd name="T6" fmla="*/ 129 w 130"/>
                  <a:gd name="T7" fmla="*/ 0 h 12"/>
                  <a:gd name="T8" fmla="*/ 7 w 130"/>
                  <a:gd name="T9" fmla="*/ 0 h 12"/>
                  <a:gd name="T10" fmla="*/ 0 w 130"/>
                  <a:gd name="T11" fmla="*/ 6 h 12"/>
                  <a:gd name="T12" fmla="*/ 7 w 130"/>
                  <a:gd name="T13" fmla="*/ 0 h 12"/>
                  <a:gd name="T14" fmla="*/ 0 w 130"/>
                  <a:gd name="T15" fmla="*/ 0 h 12"/>
                  <a:gd name="T16" fmla="*/ 0 w 130"/>
                  <a:gd name="T17" fmla="*/ 6 h 12"/>
                  <a:gd name="T18" fmla="*/ 14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4" y="6"/>
                    </a:moveTo>
                    <a:lnTo>
                      <a:pt x="7" y="11"/>
                    </a:lnTo>
                    <a:lnTo>
                      <a:pt x="129" y="11"/>
                    </a:lnTo>
                    <a:lnTo>
                      <a:pt x="12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3" name="Freeform 63">
                <a:extLst>
                  <a:ext uri="{FF2B5EF4-FFF2-40B4-BE49-F238E27FC236}">
                    <a16:creationId xmlns:a16="http://schemas.microsoft.com/office/drawing/2014/main" id="{D9203C7C-722F-4D5B-833B-6A1E808BA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093"/>
                <a:ext cx="115" cy="308"/>
              </a:xfrm>
              <a:custGeom>
                <a:avLst/>
                <a:gdLst>
                  <a:gd name="T0" fmla="*/ 0 w 115"/>
                  <a:gd name="T1" fmla="*/ 0 h 308"/>
                  <a:gd name="T2" fmla="*/ 0 w 115"/>
                  <a:gd name="T3" fmla="*/ 307 h 308"/>
                  <a:gd name="T4" fmla="*/ 114 w 115"/>
                  <a:gd name="T5" fmla="*/ 307 h 308"/>
                  <a:gd name="T6" fmla="*/ 114 w 115"/>
                  <a:gd name="T7" fmla="*/ 0 h 308"/>
                  <a:gd name="T8" fmla="*/ 0 w 115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308"/>
                  <a:gd name="T17" fmla="*/ 115 w 115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14" y="307"/>
                    </a:lnTo>
                    <a:lnTo>
                      <a:pt x="11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4" name="Freeform 64">
                <a:extLst>
                  <a:ext uri="{FF2B5EF4-FFF2-40B4-BE49-F238E27FC236}">
                    <a16:creationId xmlns:a16="http://schemas.microsoft.com/office/drawing/2014/main" id="{FFA91EBA-E6B2-4536-B4A3-E1AB3FDD9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93"/>
                <a:ext cx="9" cy="316"/>
              </a:xfrm>
              <a:custGeom>
                <a:avLst/>
                <a:gdLst>
                  <a:gd name="T0" fmla="*/ 4 w 9"/>
                  <a:gd name="T1" fmla="*/ 298 h 316"/>
                  <a:gd name="T2" fmla="*/ 8 w 9"/>
                  <a:gd name="T3" fmla="*/ 307 h 316"/>
                  <a:gd name="T4" fmla="*/ 8 w 9"/>
                  <a:gd name="T5" fmla="*/ 0 h 316"/>
                  <a:gd name="T6" fmla="*/ 0 w 9"/>
                  <a:gd name="T7" fmla="*/ 0 h 316"/>
                  <a:gd name="T8" fmla="*/ 0 w 9"/>
                  <a:gd name="T9" fmla="*/ 307 h 316"/>
                  <a:gd name="T10" fmla="*/ 4 w 9"/>
                  <a:gd name="T11" fmla="*/ 315 h 316"/>
                  <a:gd name="T12" fmla="*/ 0 w 9"/>
                  <a:gd name="T13" fmla="*/ 307 h 316"/>
                  <a:gd name="T14" fmla="*/ 0 w 9"/>
                  <a:gd name="T15" fmla="*/ 315 h 316"/>
                  <a:gd name="T16" fmla="*/ 4 w 9"/>
                  <a:gd name="T17" fmla="*/ 315 h 316"/>
                  <a:gd name="T18" fmla="*/ 4 w 9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6"/>
                  <a:gd name="T32" fmla="*/ 9 w 9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6">
                    <a:moveTo>
                      <a:pt x="4" y="298"/>
                    </a:moveTo>
                    <a:lnTo>
                      <a:pt x="8" y="307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5" name="Freeform 65">
                <a:extLst>
                  <a:ext uri="{FF2B5EF4-FFF2-40B4-BE49-F238E27FC236}">
                    <a16:creationId xmlns:a16="http://schemas.microsoft.com/office/drawing/2014/main" id="{193892D4-6423-49D6-923D-523333C79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397"/>
                <a:ext cx="122" cy="12"/>
              </a:xfrm>
              <a:custGeom>
                <a:avLst/>
                <a:gdLst>
                  <a:gd name="T0" fmla="*/ 114 w 122"/>
                  <a:gd name="T1" fmla="*/ 6 h 12"/>
                  <a:gd name="T2" fmla="*/ 114 w 122"/>
                  <a:gd name="T3" fmla="*/ 0 h 12"/>
                  <a:gd name="T4" fmla="*/ 0 w 122"/>
                  <a:gd name="T5" fmla="*/ 0 h 12"/>
                  <a:gd name="T6" fmla="*/ 0 w 122"/>
                  <a:gd name="T7" fmla="*/ 11 h 12"/>
                  <a:gd name="T8" fmla="*/ 114 w 122"/>
                  <a:gd name="T9" fmla="*/ 11 h 12"/>
                  <a:gd name="T10" fmla="*/ 121 w 122"/>
                  <a:gd name="T11" fmla="*/ 6 h 12"/>
                  <a:gd name="T12" fmla="*/ 114 w 122"/>
                  <a:gd name="T13" fmla="*/ 11 h 12"/>
                  <a:gd name="T14" fmla="*/ 121 w 122"/>
                  <a:gd name="T15" fmla="*/ 11 h 12"/>
                  <a:gd name="T16" fmla="*/ 121 w 122"/>
                  <a:gd name="T17" fmla="*/ 6 h 12"/>
                  <a:gd name="T18" fmla="*/ 114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14" y="6"/>
                    </a:moveTo>
                    <a:lnTo>
                      <a:pt x="114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14" y="11"/>
                    </a:lnTo>
                    <a:lnTo>
                      <a:pt x="121" y="6"/>
                    </a:lnTo>
                    <a:lnTo>
                      <a:pt x="114" y="11"/>
                    </a:lnTo>
                    <a:lnTo>
                      <a:pt x="121" y="11"/>
                    </a:lnTo>
                    <a:lnTo>
                      <a:pt x="121" y="6"/>
                    </a:lnTo>
                    <a:lnTo>
                      <a:pt x="1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6" name="Freeform 66">
                <a:extLst>
                  <a:ext uri="{FF2B5EF4-FFF2-40B4-BE49-F238E27FC236}">
                    <a16:creationId xmlns:a16="http://schemas.microsoft.com/office/drawing/2014/main" id="{4885A1FD-6D22-4969-9BE7-48611BA30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3084"/>
                <a:ext cx="2" cy="317"/>
              </a:xfrm>
              <a:custGeom>
                <a:avLst/>
                <a:gdLst>
                  <a:gd name="T0" fmla="*/ 0 w 2"/>
                  <a:gd name="T1" fmla="*/ 17 h 317"/>
                  <a:gd name="T2" fmla="*/ 0 w 2"/>
                  <a:gd name="T3" fmla="*/ 9 h 317"/>
                  <a:gd name="T4" fmla="*/ 0 w 2"/>
                  <a:gd name="T5" fmla="*/ 316 h 317"/>
                  <a:gd name="T6" fmla="*/ 1 w 2"/>
                  <a:gd name="T7" fmla="*/ 316 h 317"/>
                  <a:gd name="T8" fmla="*/ 1 w 2"/>
                  <a:gd name="T9" fmla="*/ 9 h 317"/>
                  <a:gd name="T10" fmla="*/ 0 w 2"/>
                  <a:gd name="T11" fmla="*/ 0 h 317"/>
                  <a:gd name="T12" fmla="*/ 1 w 2"/>
                  <a:gd name="T13" fmla="*/ 9 h 317"/>
                  <a:gd name="T14" fmla="*/ 1 w 2"/>
                  <a:gd name="T15" fmla="*/ 0 h 317"/>
                  <a:gd name="T16" fmla="*/ 0 w 2"/>
                  <a:gd name="T17" fmla="*/ 0 h 317"/>
                  <a:gd name="T18" fmla="*/ 0 w 2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317"/>
                  <a:gd name="T32" fmla="*/ 2 w 2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317">
                    <a:moveTo>
                      <a:pt x="0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1" y="316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7" name="Freeform 67">
                <a:extLst>
                  <a:ext uri="{FF2B5EF4-FFF2-40B4-BE49-F238E27FC236}">
                    <a16:creationId xmlns:a16="http://schemas.microsoft.com/office/drawing/2014/main" id="{3678DB16-B3B9-4B28-8456-2108F03E8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84"/>
                <a:ext cx="122" cy="12"/>
              </a:xfrm>
              <a:custGeom>
                <a:avLst/>
                <a:gdLst>
                  <a:gd name="T0" fmla="*/ 13 w 122"/>
                  <a:gd name="T1" fmla="*/ 6 h 12"/>
                  <a:gd name="T2" fmla="*/ 7 w 122"/>
                  <a:gd name="T3" fmla="*/ 11 h 12"/>
                  <a:gd name="T4" fmla="*/ 121 w 122"/>
                  <a:gd name="T5" fmla="*/ 11 h 12"/>
                  <a:gd name="T6" fmla="*/ 121 w 122"/>
                  <a:gd name="T7" fmla="*/ 0 h 12"/>
                  <a:gd name="T8" fmla="*/ 7 w 122"/>
                  <a:gd name="T9" fmla="*/ 0 h 12"/>
                  <a:gd name="T10" fmla="*/ 0 w 122"/>
                  <a:gd name="T11" fmla="*/ 6 h 12"/>
                  <a:gd name="T12" fmla="*/ 7 w 122"/>
                  <a:gd name="T13" fmla="*/ 0 h 12"/>
                  <a:gd name="T14" fmla="*/ 0 w 122"/>
                  <a:gd name="T15" fmla="*/ 0 h 12"/>
                  <a:gd name="T16" fmla="*/ 0 w 122"/>
                  <a:gd name="T17" fmla="*/ 6 h 12"/>
                  <a:gd name="T18" fmla="*/ 13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3" y="6"/>
                    </a:moveTo>
                    <a:lnTo>
                      <a:pt x="7" y="11"/>
                    </a:lnTo>
                    <a:lnTo>
                      <a:pt x="121" y="11"/>
                    </a:lnTo>
                    <a:lnTo>
                      <a:pt x="12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8" name="Freeform 68">
                <a:extLst>
                  <a:ext uri="{FF2B5EF4-FFF2-40B4-BE49-F238E27FC236}">
                    <a16:creationId xmlns:a16="http://schemas.microsoft.com/office/drawing/2014/main" id="{403CFF54-E587-4AAE-AD89-765546DF2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551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9" name="Freeform 69">
                <a:extLst>
                  <a:ext uri="{FF2B5EF4-FFF2-40B4-BE49-F238E27FC236}">
                    <a16:creationId xmlns:a16="http://schemas.microsoft.com/office/drawing/2014/main" id="{02982D37-FBA1-4812-8805-BF3949A70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543"/>
                <a:ext cx="2" cy="181"/>
              </a:xfrm>
              <a:custGeom>
                <a:avLst/>
                <a:gdLst>
                  <a:gd name="T0" fmla="*/ 1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1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1 w 2"/>
                  <a:gd name="T17" fmla="*/ 16 h 1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1"/>
                  <a:gd name="T29" fmla="*/ 2 w 2"/>
                  <a:gd name="T30" fmla="*/ 181 h 1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1">
                    <a:moveTo>
                      <a:pt x="1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0" name="Freeform 70">
                <a:extLst>
                  <a:ext uri="{FF2B5EF4-FFF2-40B4-BE49-F238E27FC236}">
                    <a16:creationId xmlns:a16="http://schemas.microsoft.com/office/drawing/2014/main" id="{45C66FF2-A5B3-4E2A-9B6C-3B61AA8F7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43"/>
                <a:ext cx="172" cy="12"/>
              </a:xfrm>
              <a:custGeom>
                <a:avLst/>
                <a:gdLst>
                  <a:gd name="T0" fmla="*/ 7 w 172"/>
                  <a:gd name="T1" fmla="*/ 5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5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5 h 12"/>
                  <a:gd name="T18" fmla="*/ 7 w 172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5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1" name="Freeform 71">
                <a:extLst>
                  <a:ext uri="{FF2B5EF4-FFF2-40B4-BE49-F238E27FC236}">
                    <a16:creationId xmlns:a16="http://schemas.microsoft.com/office/drawing/2014/main" id="{C75F5286-DBF7-4089-AC38-D6AA7CD95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2" name="Freeform 72">
                <a:extLst>
                  <a:ext uri="{FF2B5EF4-FFF2-40B4-BE49-F238E27FC236}">
                    <a16:creationId xmlns:a16="http://schemas.microsoft.com/office/drawing/2014/main" id="{081F159C-F90E-43E8-9CEC-8C9018225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3" name="Freeform 73">
                <a:extLst>
                  <a:ext uri="{FF2B5EF4-FFF2-40B4-BE49-F238E27FC236}">
                    <a16:creationId xmlns:a16="http://schemas.microsoft.com/office/drawing/2014/main" id="{EF82F649-B499-493C-9354-21FF91ADA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4" name="Freeform 74">
                <a:extLst>
                  <a:ext uri="{FF2B5EF4-FFF2-40B4-BE49-F238E27FC236}">
                    <a16:creationId xmlns:a16="http://schemas.microsoft.com/office/drawing/2014/main" id="{2FA1540D-ADA0-470F-B137-2A64ED21A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5" name="Freeform 75">
                <a:extLst>
                  <a:ext uri="{FF2B5EF4-FFF2-40B4-BE49-F238E27FC236}">
                    <a16:creationId xmlns:a16="http://schemas.microsoft.com/office/drawing/2014/main" id="{82034AD7-04C4-409E-84CF-CB94B6A3D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6" name="Freeform 76">
                <a:extLst>
                  <a:ext uri="{FF2B5EF4-FFF2-40B4-BE49-F238E27FC236}">
                    <a16:creationId xmlns:a16="http://schemas.microsoft.com/office/drawing/2014/main" id="{14551A67-A3FE-48D5-8C03-494AC0E5A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7" name="Freeform 77">
                <a:extLst>
                  <a:ext uri="{FF2B5EF4-FFF2-40B4-BE49-F238E27FC236}">
                    <a16:creationId xmlns:a16="http://schemas.microsoft.com/office/drawing/2014/main" id="{1A9BF92E-B70D-452F-BEB3-FA2854B6E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8" name="Freeform 78">
                <a:extLst>
                  <a:ext uri="{FF2B5EF4-FFF2-40B4-BE49-F238E27FC236}">
                    <a16:creationId xmlns:a16="http://schemas.microsoft.com/office/drawing/2014/main" id="{C4E87327-B646-4BB5-A939-AB92F7E21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9" name="Freeform 79">
                <a:extLst>
                  <a:ext uri="{FF2B5EF4-FFF2-40B4-BE49-F238E27FC236}">
                    <a16:creationId xmlns:a16="http://schemas.microsoft.com/office/drawing/2014/main" id="{8FCAECB5-5995-4B67-8CB4-9EA90B6DB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543"/>
                <a:ext cx="3" cy="181"/>
              </a:xfrm>
              <a:custGeom>
                <a:avLst/>
                <a:gdLst>
                  <a:gd name="T0" fmla="*/ 0 w 3"/>
                  <a:gd name="T1" fmla="*/ 16 h 181"/>
                  <a:gd name="T2" fmla="*/ 0 w 3"/>
                  <a:gd name="T3" fmla="*/ 8 h 181"/>
                  <a:gd name="T4" fmla="*/ 0 w 3"/>
                  <a:gd name="T5" fmla="*/ 180 h 181"/>
                  <a:gd name="T6" fmla="*/ 2 w 3"/>
                  <a:gd name="T7" fmla="*/ 180 h 181"/>
                  <a:gd name="T8" fmla="*/ 2 w 3"/>
                  <a:gd name="T9" fmla="*/ 8 h 181"/>
                  <a:gd name="T10" fmla="*/ 0 w 3"/>
                  <a:gd name="T11" fmla="*/ 0 h 181"/>
                  <a:gd name="T12" fmla="*/ 2 w 3"/>
                  <a:gd name="T13" fmla="*/ 8 h 181"/>
                  <a:gd name="T14" fmla="*/ 2 w 3"/>
                  <a:gd name="T15" fmla="*/ 0 h 181"/>
                  <a:gd name="T16" fmla="*/ 0 w 3"/>
                  <a:gd name="T17" fmla="*/ 0 h 181"/>
                  <a:gd name="T18" fmla="*/ 0 w 3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1"/>
                  <a:gd name="T32" fmla="*/ 3 w 3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2" y="180"/>
                    </a:lnTo>
                    <a:lnTo>
                      <a:pt x="2" y="8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0" name="Freeform 80">
                <a:extLst>
                  <a:ext uri="{FF2B5EF4-FFF2-40B4-BE49-F238E27FC236}">
                    <a16:creationId xmlns:a16="http://schemas.microsoft.com/office/drawing/2014/main" id="{23FC8E13-D20E-4BAB-ABF2-D7C164D8F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1" name="Freeform 81">
                <a:extLst>
                  <a:ext uri="{FF2B5EF4-FFF2-40B4-BE49-F238E27FC236}">
                    <a16:creationId xmlns:a16="http://schemas.microsoft.com/office/drawing/2014/main" id="{7501F47E-C177-411D-BF72-0B54D3A7F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2" name="Freeform 82">
                <a:extLst>
                  <a:ext uri="{FF2B5EF4-FFF2-40B4-BE49-F238E27FC236}">
                    <a16:creationId xmlns:a16="http://schemas.microsoft.com/office/drawing/2014/main" id="{6F3DC497-CCCC-42A4-9FDE-5671615DA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720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3" name="Freeform 83">
                <a:extLst>
                  <a:ext uri="{FF2B5EF4-FFF2-40B4-BE49-F238E27FC236}">
                    <a16:creationId xmlns:a16="http://schemas.microsoft.com/office/drawing/2014/main" id="{B0A26281-E12D-4F1C-A505-F6494F5D0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4" name="Freeform 84">
                <a:extLst>
                  <a:ext uri="{FF2B5EF4-FFF2-40B4-BE49-F238E27FC236}">
                    <a16:creationId xmlns:a16="http://schemas.microsoft.com/office/drawing/2014/main" id="{4BBEE57F-D715-47D6-B1AB-DAD99D9E6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5" name="Freeform 85">
                <a:extLst>
                  <a:ext uri="{FF2B5EF4-FFF2-40B4-BE49-F238E27FC236}">
                    <a16:creationId xmlns:a16="http://schemas.microsoft.com/office/drawing/2014/main" id="{4D2CF57C-24DD-45AD-B5DC-7B39AC640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43"/>
                <a:ext cx="166" cy="12"/>
              </a:xfrm>
              <a:custGeom>
                <a:avLst/>
                <a:gdLst>
                  <a:gd name="T0" fmla="*/ 7 w 166"/>
                  <a:gd name="T1" fmla="*/ 5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5 h 12"/>
                  <a:gd name="T12" fmla="*/ 0 w 166"/>
                  <a:gd name="T13" fmla="*/ 0 h 12"/>
                  <a:gd name="T14" fmla="*/ 0 w 166"/>
                  <a:gd name="T15" fmla="*/ 5 h 12"/>
                  <a:gd name="T16" fmla="*/ 7 w 166"/>
                  <a:gd name="T17" fmla="*/ 5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5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6" name="Freeform 86">
                <a:extLst>
                  <a:ext uri="{FF2B5EF4-FFF2-40B4-BE49-F238E27FC236}">
                    <a16:creationId xmlns:a16="http://schemas.microsoft.com/office/drawing/2014/main" id="{9A9F97DD-AA3A-4C9D-AD86-A490962EF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7" name="Freeform 87">
                <a:extLst>
                  <a:ext uri="{FF2B5EF4-FFF2-40B4-BE49-F238E27FC236}">
                    <a16:creationId xmlns:a16="http://schemas.microsoft.com/office/drawing/2014/main" id="{398FF16B-E5A5-4992-B659-E1C4033B3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720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8" name="Freeform 88">
                <a:extLst>
                  <a:ext uri="{FF2B5EF4-FFF2-40B4-BE49-F238E27FC236}">
                    <a16:creationId xmlns:a16="http://schemas.microsoft.com/office/drawing/2014/main" id="{3E830272-437E-4E9E-B97E-3A1725E87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9" name="Freeform 89">
                <a:extLst>
                  <a:ext uri="{FF2B5EF4-FFF2-40B4-BE49-F238E27FC236}">
                    <a16:creationId xmlns:a16="http://schemas.microsoft.com/office/drawing/2014/main" id="{2A0B8267-0B6F-4914-A5FA-534C8A68A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543"/>
                <a:ext cx="10" cy="181"/>
              </a:xfrm>
              <a:custGeom>
                <a:avLst/>
                <a:gdLst>
                  <a:gd name="T0" fmla="*/ 5 w 10"/>
                  <a:gd name="T1" fmla="*/ 16 h 181"/>
                  <a:gd name="T2" fmla="*/ 0 w 10"/>
                  <a:gd name="T3" fmla="*/ 8 h 181"/>
                  <a:gd name="T4" fmla="*/ 0 w 10"/>
                  <a:gd name="T5" fmla="*/ 180 h 181"/>
                  <a:gd name="T6" fmla="*/ 9 w 10"/>
                  <a:gd name="T7" fmla="*/ 180 h 181"/>
                  <a:gd name="T8" fmla="*/ 9 w 10"/>
                  <a:gd name="T9" fmla="*/ 8 h 181"/>
                  <a:gd name="T10" fmla="*/ 5 w 10"/>
                  <a:gd name="T11" fmla="*/ 0 h 181"/>
                  <a:gd name="T12" fmla="*/ 9 w 10"/>
                  <a:gd name="T13" fmla="*/ 8 h 181"/>
                  <a:gd name="T14" fmla="*/ 9 w 10"/>
                  <a:gd name="T15" fmla="*/ 0 h 181"/>
                  <a:gd name="T16" fmla="*/ 5 w 10"/>
                  <a:gd name="T17" fmla="*/ 0 h 181"/>
                  <a:gd name="T18" fmla="*/ 5 w 10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1"/>
                  <a:gd name="T32" fmla="*/ 10 w 10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1">
                    <a:moveTo>
                      <a:pt x="5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9" y="18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0" name="Freeform 90">
                <a:extLst>
                  <a:ext uri="{FF2B5EF4-FFF2-40B4-BE49-F238E27FC236}">
                    <a16:creationId xmlns:a16="http://schemas.microsoft.com/office/drawing/2014/main" id="{308AA4CF-4F8E-483F-A16E-A93BF0A48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43"/>
                <a:ext cx="173" cy="12"/>
              </a:xfrm>
              <a:custGeom>
                <a:avLst/>
                <a:gdLst>
                  <a:gd name="T0" fmla="*/ 14 w 173"/>
                  <a:gd name="T1" fmla="*/ 5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5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5 h 12"/>
                  <a:gd name="T18" fmla="*/ 14 w 173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5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1" name="Freeform 91">
                <a:extLst>
                  <a:ext uri="{FF2B5EF4-FFF2-40B4-BE49-F238E27FC236}">
                    <a16:creationId xmlns:a16="http://schemas.microsoft.com/office/drawing/2014/main" id="{9D6E8320-3733-4182-AA4A-71ABDE2DF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51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2" name="Freeform 92">
                <a:extLst>
                  <a:ext uri="{FF2B5EF4-FFF2-40B4-BE49-F238E27FC236}">
                    <a16:creationId xmlns:a16="http://schemas.microsoft.com/office/drawing/2014/main" id="{3317DAB8-0E49-43E8-8F53-02CFF0655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720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3" name="Freeform 93">
                <a:extLst>
                  <a:ext uri="{FF2B5EF4-FFF2-40B4-BE49-F238E27FC236}">
                    <a16:creationId xmlns:a16="http://schemas.microsoft.com/office/drawing/2014/main" id="{44A894E4-D968-4C72-98C6-79C85E96E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822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4" name="Freeform 94">
                <a:extLst>
                  <a:ext uri="{FF2B5EF4-FFF2-40B4-BE49-F238E27FC236}">
                    <a16:creationId xmlns:a16="http://schemas.microsoft.com/office/drawing/2014/main" id="{1A050366-A6BC-4F31-839C-3A4D2B73E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813"/>
                <a:ext cx="2" cy="182"/>
              </a:xfrm>
              <a:custGeom>
                <a:avLst/>
                <a:gdLst>
                  <a:gd name="T0" fmla="*/ 1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1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1 w 2"/>
                  <a:gd name="T17" fmla="*/ 16 h 1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2"/>
                  <a:gd name="T29" fmla="*/ 2 w 2"/>
                  <a:gd name="T30" fmla="*/ 182 h 1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2">
                    <a:moveTo>
                      <a:pt x="1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5" name="Freeform 95">
                <a:extLst>
                  <a:ext uri="{FF2B5EF4-FFF2-40B4-BE49-F238E27FC236}">
                    <a16:creationId xmlns:a16="http://schemas.microsoft.com/office/drawing/2014/main" id="{8F012B5F-0F0B-43C8-ADEE-97DD32C1D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13"/>
                <a:ext cx="172" cy="12"/>
              </a:xfrm>
              <a:custGeom>
                <a:avLst/>
                <a:gdLst>
                  <a:gd name="T0" fmla="*/ 7 w 172"/>
                  <a:gd name="T1" fmla="*/ 6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6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6 h 12"/>
                  <a:gd name="T18" fmla="*/ 7 w 17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6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6" name="Freeform 96">
                <a:extLst>
                  <a:ext uri="{FF2B5EF4-FFF2-40B4-BE49-F238E27FC236}">
                    <a16:creationId xmlns:a16="http://schemas.microsoft.com/office/drawing/2014/main" id="{EF26E5E9-56BE-4DE7-8BB0-DC6BDC5D5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7" name="Freeform 97">
                <a:extLst>
                  <a:ext uri="{FF2B5EF4-FFF2-40B4-BE49-F238E27FC236}">
                    <a16:creationId xmlns:a16="http://schemas.microsoft.com/office/drawing/2014/main" id="{21997436-BD55-45CC-99D2-07FA7C455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8" name="Freeform 98">
                <a:extLst>
                  <a:ext uri="{FF2B5EF4-FFF2-40B4-BE49-F238E27FC236}">
                    <a16:creationId xmlns:a16="http://schemas.microsoft.com/office/drawing/2014/main" id="{C658E87A-BD9D-40B2-80B2-E6D684208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89" name="Freeform 99">
                <a:extLst>
                  <a:ext uri="{FF2B5EF4-FFF2-40B4-BE49-F238E27FC236}">
                    <a16:creationId xmlns:a16="http://schemas.microsoft.com/office/drawing/2014/main" id="{3CEF0BC1-FED3-4C75-A7F2-E0DAD7DBD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0" name="Freeform 100">
                <a:extLst>
                  <a:ext uri="{FF2B5EF4-FFF2-40B4-BE49-F238E27FC236}">
                    <a16:creationId xmlns:a16="http://schemas.microsoft.com/office/drawing/2014/main" id="{AF6F6923-DFF4-4317-B810-F8AB420FC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1" name="Freeform 101">
                <a:extLst>
                  <a:ext uri="{FF2B5EF4-FFF2-40B4-BE49-F238E27FC236}">
                    <a16:creationId xmlns:a16="http://schemas.microsoft.com/office/drawing/2014/main" id="{EF244DF9-5A70-4180-8F7B-393A2FE9B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2" name="Freeform 102">
                <a:extLst>
                  <a:ext uri="{FF2B5EF4-FFF2-40B4-BE49-F238E27FC236}">
                    <a16:creationId xmlns:a16="http://schemas.microsoft.com/office/drawing/2014/main" id="{F6EF7810-F0AD-45C3-9E00-B2A86F111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3" name="Freeform 103">
                <a:extLst>
                  <a:ext uri="{FF2B5EF4-FFF2-40B4-BE49-F238E27FC236}">
                    <a16:creationId xmlns:a16="http://schemas.microsoft.com/office/drawing/2014/main" id="{DC3ED139-86C8-4441-86FD-881FEED8D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4" name="Freeform 104">
                <a:extLst>
                  <a:ext uri="{FF2B5EF4-FFF2-40B4-BE49-F238E27FC236}">
                    <a16:creationId xmlns:a16="http://schemas.microsoft.com/office/drawing/2014/main" id="{E2E4E32D-54DC-461F-B9A4-D6908A60B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813"/>
                <a:ext cx="3" cy="182"/>
              </a:xfrm>
              <a:custGeom>
                <a:avLst/>
                <a:gdLst>
                  <a:gd name="T0" fmla="*/ 0 w 3"/>
                  <a:gd name="T1" fmla="*/ 16 h 182"/>
                  <a:gd name="T2" fmla="*/ 0 w 3"/>
                  <a:gd name="T3" fmla="*/ 9 h 182"/>
                  <a:gd name="T4" fmla="*/ 0 w 3"/>
                  <a:gd name="T5" fmla="*/ 181 h 182"/>
                  <a:gd name="T6" fmla="*/ 2 w 3"/>
                  <a:gd name="T7" fmla="*/ 181 h 182"/>
                  <a:gd name="T8" fmla="*/ 2 w 3"/>
                  <a:gd name="T9" fmla="*/ 9 h 182"/>
                  <a:gd name="T10" fmla="*/ 0 w 3"/>
                  <a:gd name="T11" fmla="*/ 0 h 182"/>
                  <a:gd name="T12" fmla="*/ 2 w 3"/>
                  <a:gd name="T13" fmla="*/ 9 h 182"/>
                  <a:gd name="T14" fmla="*/ 2 w 3"/>
                  <a:gd name="T15" fmla="*/ 0 h 182"/>
                  <a:gd name="T16" fmla="*/ 0 w 3"/>
                  <a:gd name="T17" fmla="*/ 0 h 182"/>
                  <a:gd name="T18" fmla="*/ 0 w 3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2"/>
                  <a:gd name="T32" fmla="*/ 3 w 3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2" y="181"/>
                    </a:lnTo>
                    <a:lnTo>
                      <a:pt x="2" y="9"/>
                    </a:lnTo>
                    <a:lnTo>
                      <a:pt x="0" y="0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5" name="Freeform 105">
                <a:extLst>
                  <a:ext uri="{FF2B5EF4-FFF2-40B4-BE49-F238E27FC236}">
                    <a16:creationId xmlns:a16="http://schemas.microsoft.com/office/drawing/2014/main" id="{E3D43F8C-4B85-4996-B0B0-AA3A0E905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6" name="Freeform 106">
                <a:extLst>
                  <a:ext uri="{FF2B5EF4-FFF2-40B4-BE49-F238E27FC236}">
                    <a16:creationId xmlns:a16="http://schemas.microsoft.com/office/drawing/2014/main" id="{2C5D8644-7D33-460A-A6AF-C3EEE3080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7" name="Freeform 107">
                <a:extLst>
                  <a:ext uri="{FF2B5EF4-FFF2-40B4-BE49-F238E27FC236}">
                    <a16:creationId xmlns:a16="http://schemas.microsoft.com/office/drawing/2014/main" id="{7CF766D7-94AE-4E2B-8ED5-10DC32FB7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991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8" name="Freeform 108">
                <a:extLst>
                  <a:ext uri="{FF2B5EF4-FFF2-40B4-BE49-F238E27FC236}">
                    <a16:creationId xmlns:a16="http://schemas.microsoft.com/office/drawing/2014/main" id="{B17B86DA-7890-46A2-931A-F2ED52F44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99" name="Freeform 109">
                <a:extLst>
                  <a:ext uri="{FF2B5EF4-FFF2-40B4-BE49-F238E27FC236}">
                    <a16:creationId xmlns:a16="http://schemas.microsoft.com/office/drawing/2014/main" id="{12249179-EB39-477A-837F-1D9C114B7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0" name="Freeform 110">
                <a:extLst>
                  <a:ext uri="{FF2B5EF4-FFF2-40B4-BE49-F238E27FC236}">
                    <a16:creationId xmlns:a16="http://schemas.microsoft.com/office/drawing/2014/main" id="{DB767764-8A64-4F58-9FFE-3CDD0BBDD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13"/>
                <a:ext cx="166" cy="12"/>
              </a:xfrm>
              <a:custGeom>
                <a:avLst/>
                <a:gdLst>
                  <a:gd name="T0" fmla="*/ 7 w 166"/>
                  <a:gd name="T1" fmla="*/ 6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6 h 12"/>
                  <a:gd name="T12" fmla="*/ 0 w 166"/>
                  <a:gd name="T13" fmla="*/ 0 h 12"/>
                  <a:gd name="T14" fmla="*/ 0 w 166"/>
                  <a:gd name="T15" fmla="*/ 6 h 12"/>
                  <a:gd name="T16" fmla="*/ 7 w 166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6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1" name="Freeform 111">
                <a:extLst>
                  <a:ext uri="{FF2B5EF4-FFF2-40B4-BE49-F238E27FC236}">
                    <a16:creationId xmlns:a16="http://schemas.microsoft.com/office/drawing/2014/main" id="{8A9AA148-6171-4FD7-BDEF-04FFB30E9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2" name="Freeform 112">
                <a:extLst>
                  <a:ext uri="{FF2B5EF4-FFF2-40B4-BE49-F238E27FC236}">
                    <a16:creationId xmlns:a16="http://schemas.microsoft.com/office/drawing/2014/main" id="{6FD1BF80-B673-47C4-A95E-33EEB1790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991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3" name="Freeform 113">
                <a:extLst>
                  <a:ext uri="{FF2B5EF4-FFF2-40B4-BE49-F238E27FC236}">
                    <a16:creationId xmlns:a16="http://schemas.microsoft.com/office/drawing/2014/main" id="{5C16D2F5-31BF-4D92-8AE3-53D3BEF36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4" name="Freeform 114">
                <a:extLst>
                  <a:ext uri="{FF2B5EF4-FFF2-40B4-BE49-F238E27FC236}">
                    <a16:creationId xmlns:a16="http://schemas.microsoft.com/office/drawing/2014/main" id="{C0927A5F-BE02-4D5D-9BDE-9D55F6285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813"/>
                <a:ext cx="10" cy="182"/>
              </a:xfrm>
              <a:custGeom>
                <a:avLst/>
                <a:gdLst>
                  <a:gd name="T0" fmla="*/ 5 w 10"/>
                  <a:gd name="T1" fmla="*/ 16 h 182"/>
                  <a:gd name="T2" fmla="*/ 0 w 10"/>
                  <a:gd name="T3" fmla="*/ 9 h 182"/>
                  <a:gd name="T4" fmla="*/ 0 w 10"/>
                  <a:gd name="T5" fmla="*/ 181 h 182"/>
                  <a:gd name="T6" fmla="*/ 9 w 10"/>
                  <a:gd name="T7" fmla="*/ 181 h 182"/>
                  <a:gd name="T8" fmla="*/ 9 w 10"/>
                  <a:gd name="T9" fmla="*/ 9 h 182"/>
                  <a:gd name="T10" fmla="*/ 5 w 10"/>
                  <a:gd name="T11" fmla="*/ 0 h 182"/>
                  <a:gd name="T12" fmla="*/ 9 w 10"/>
                  <a:gd name="T13" fmla="*/ 9 h 182"/>
                  <a:gd name="T14" fmla="*/ 9 w 10"/>
                  <a:gd name="T15" fmla="*/ 0 h 182"/>
                  <a:gd name="T16" fmla="*/ 5 w 10"/>
                  <a:gd name="T17" fmla="*/ 0 h 182"/>
                  <a:gd name="T18" fmla="*/ 5 w 10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2"/>
                  <a:gd name="T32" fmla="*/ 10 w 10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2">
                    <a:moveTo>
                      <a:pt x="5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9" y="181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5" name="Freeform 115">
                <a:extLst>
                  <a:ext uri="{FF2B5EF4-FFF2-40B4-BE49-F238E27FC236}">
                    <a16:creationId xmlns:a16="http://schemas.microsoft.com/office/drawing/2014/main" id="{9DBC9533-3E0A-4BBD-9CBE-23637851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13"/>
                <a:ext cx="173" cy="12"/>
              </a:xfrm>
              <a:custGeom>
                <a:avLst/>
                <a:gdLst>
                  <a:gd name="T0" fmla="*/ 14 w 173"/>
                  <a:gd name="T1" fmla="*/ 6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6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6 h 12"/>
                  <a:gd name="T18" fmla="*/ 14 w 173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6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6" name="Freeform 116">
                <a:extLst>
                  <a:ext uri="{FF2B5EF4-FFF2-40B4-BE49-F238E27FC236}">
                    <a16:creationId xmlns:a16="http://schemas.microsoft.com/office/drawing/2014/main" id="{44534BFD-198B-4FE6-A851-7B1560BAB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22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7" name="Freeform 117">
                <a:extLst>
                  <a:ext uri="{FF2B5EF4-FFF2-40B4-BE49-F238E27FC236}">
                    <a16:creationId xmlns:a16="http://schemas.microsoft.com/office/drawing/2014/main" id="{CF8F729F-64DE-4FC0-AB34-89D8885EE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991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8" name="Freeform 118">
                <a:extLst>
                  <a:ext uri="{FF2B5EF4-FFF2-40B4-BE49-F238E27FC236}">
                    <a16:creationId xmlns:a16="http://schemas.microsoft.com/office/drawing/2014/main" id="{A0064A97-E496-41EF-8522-58FBA8BF6C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135"/>
                <a:ext cx="293" cy="164"/>
              </a:xfrm>
              <a:custGeom>
                <a:avLst/>
                <a:gdLst>
                  <a:gd name="T0" fmla="*/ 292 w 293"/>
                  <a:gd name="T1" fmla="*/ 163 h 164"/>
                  <a:gd name="T2" fmla="*/ 292 w 293"/>
                  <a:gd name="T3" fmla="*/ 0 h 164"/>
                  <a:gd name="T4" fmla="*/ 0 w 293"/>
                  <a:gd name="T5" fmla="*/ 0 h 164"/>
                  <a:gd name="T6" fmla="*/ 0 w 293"/>
                  <a:gd name="T7" fmla="*/ 163 h 164"/>
                  <a:gd name="T8" fmla="*/ 292 w 293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3"/>
                  <a:gd name="T16" fmla="*/ 0 h 164"/>
                  <a:gd name="T17" fmla="*/ 293 w 293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3" h="164">
                    <a:moveTo>
                      <a:pt x="292" y="16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2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09" name="Freeform 119">
                <a:extLst>
                  <a:ext uri="{FF2B5EF4-FFF2-40B4-BE49-F238E27FC236}">
                    <a16:creationId xmlns:a16="http://schemas.microsoft.com/office/drawing/2014/main" id="{C94913DE-796A-41C8-BF70-309132991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3126"/>
                <a:ext cx="10" cy="173"/>
              </a:xfrm>
              <a:custGeom>
                <a:avLst/>
                <a:gdLst>
                  <a:gd name="T0" fmla="*/ 5 w 10"/>
                  <a:gd name="T1" fmla="*/ 16 h 173"/>
                  <a:gd name="T2" fmla="*/ 0 w 10"/>
                  <a:gd name="T3" fmla="*/ 9 h 173"/>
                  <a:gd name="T4" fmla="*/ 0 w 10"/>
                  <a:gd name="T5" fmla="*/ 172 h 173"/>
                  <a:gd name="T6" fmla="*/ 9 w 10"/>
                  <a:gd name="T7" fmla="*/ 172 h 173"/>
                  <a:gd name="T8" fmla="*/ 9 w 10"/>
                  <a:gd name="T9" fmla="*/ 9 h 173"/>
                  <a:gd name="T10" fmla="*/ 5 w 10"/>
                  <a:gd name="T11" fmla="*/ 0 h 173"/>
                  <a:gd name="T12" fmla="*/ 9 w 10"/>
                  <a:gd name="T13" fmla="*/ 9 h 173"/>
                  <a:gd name="T14" fmla="*/ 9 w 10"/>
                  <a:gd name="T15" fmla="*/ 0 h 173"/>
                  <a:gd name="T16" fmla="*/ 5 w 10"/>
                  <a:gd name="T17" fmla="*/ 0 h 173"/>
                  <a:gd name="T18" fmla="*/ 5 w 10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73"/>
                  <a:gd name="T32" fmla="*/ 10 w 10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73">
                    <a:moveTo>
                      <a:pt x="5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9" y="172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0" name="Freeform 120">
                <a:extLst>
                  <a:ext uri="{FF2B5EF4-FFF2-40B4-BE49-F238E27FC236}">
                    <a16:creationId xmlns:a16="http://schemas.microsoft.com/office/drawing/2014/main" id="{587037D5-E85B-4C87-8014-E14FE0C76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26"/>
                <a:ext cx="300" cy="12"/>
              </a:xfrm>
              <a:custGeom>
                <a:avLst/>
                <a:gdLst>
                  <a:gd name="T0" fmla="*/ 14 w 300"/>
                  <a:gd name="T1" fmla="*/ 6 h 12"/>
                  <a:gd name="T2" fmla="*/ 7 w 300"/>
                  <a:gd name="T3" fmla="*/ 11 h 12"/>
                  <a:gd name="T4" fmla="*/ 299 w 300"/>
                  <a:gd name="T5" fmla="*/ 11 h 12"/>
                  <a:gd name="T6" fmla="*/ 299 w 300"/>
                  <a:gd name="T7" fmla="*/ 0 h 12"/>
                  <a:gd name="T8" fmla="*/ 7 w 300"/>
                  <a:gd name="T9" fmla="*/ 0 h 12"/>
                  <a:gd name="T10" fmla="*/ 0 w 300"/>
                  <a:gd name="T11" fmla="*/ 6 h 12"/>
                  <a:gd name="T12" fmla="*/ 7 w 300"/>
                  <a:gd name="T13" fmla="*/ 0 h 12"/>
                  <a:gd name="T14" fmla="*/ 0 w 300"/>
                  <a:gd name="T15" fmla="*/ 0 h 12"/>
                  <a:gd name="T16" fmla="*/ 0 w 300"/>
                  <a:gd name="T17" fmla="*/ 6 h 12"/>
                  <a:gd name="T18" fmla="*/ 14 w 30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14" y="6"/>
                    </a:moveTo>
                    <a:lnTo>
                      <a:pt x="7" y="11"/>
                    </a:lnTo>
                    <a:lnTo>
                      <a:pt x="299" y="11"/>
                    </a:lnTo>
                    <a:lnTo>
                      <a:pt x="29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1" name="Freeform 121">
                <a:extLst>
                  <a:ext uri="{FF2B5EF4-FFF2-40B4-BE49-F238E27FC236}">
                    <a16:creationId xmlns:a16="http://schemas.microsoft.com/office/drawing/2014/main" id="{5319568E-DA68-4B29-8481-AE8BAF841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35"/>
                <a:ext cx="9" cy="173"/>
              </a:xfrm>
              <a:custGeom>
                <a:avLst/>
                <a:gdLst>
                  <a:gd name="T0" fmla="*/ 4 w 9"/>
                  <a:gd name="T1" fmla="*/ 156 h 173"/>
                  <a:gd name="T2" fmla="*/ 8 w 9"/>
                  <a:gd name="T3" fmla="*/ 163 h 173"/>
                  <a:gd name="T4" fmla="*/ 8 w 9"/>
                  <a:gd name="T5" fmla="*/ 0 h 173"/>
                  <a:gd name="T6" fmla="*/ 0 w 9"/>
                  <a:gd name="T7" fmla="*/ 0 h 173"/>
                  <a:gd name="T8" fmla="*/ 0 w 9"/>
                  <a:gd name="T9" fmla="*/ 163 h 173"/>
                  <a:gd name="T10" fmla="*/ 4 w 9"/>
                  <a:gd name="T11" fmla="*/ 172 h 173"/>
                  <a:gd name="T12" fmla="*/ 0 w 9"/>
                  <a:gd name="T13" fmla="*/ 163 h 173"/>
                  <a:gd name="T14" fmla="*/ 0 w 9"/>
                  <a:gd name="T15" fmla="*/ 172 h 173"/>
                  <a:gd name="T16" fmla="*/ 4 w 9"/>
                  <a:gd name="T17" fmla="*/ 172 h 173"/>
                  <a:gd name="T18" fmla="*/ 4 w 9"/>
                  <a:gd name="T19" fmla="*/ 15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56"/>
                    </a:moveTo>
                    <a:lnTo>
                      <a:pt x="8" y="16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4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2" name="Freeform 122">
                <a:extLst>
                  <a:ext uri="{FF2B5EF4-FFF2-40B4-BE49-F238E27FC236}">
                    <a16:creationId xmlns:a16="http://schemas.microsoft.com/office/drawing/2014/main" id="{8C727382-9871-4A38-B1AE-C3CA52C3A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296"/>
                <a:ext cx="300" cy="12"/>
              </a:xfrm>
              <a:custGeom>
                <a:avLst/>
                <a:gdLst>
                  <a:gd name="T0" fmla="*/ 284 w 300"/>
                  <a:gd name="T1" fmla="*/ 5 h 12"/>
                  <a:gd name="T2" fmla="*/ 292 w 300"/>
                  <a:gd name="T3" fmla="*/ 0 h 12"/>
                  <a:gd name="T4" fmla="*/ 0 w 300"/>
                  <a:gd name="T5" fmla="*/ 0 h 12"/>
                  <a:gd name="T6" fmla="*/ 0 w 300"/>
                  <a:gd name="T7" fmla="*/ 11 h 12"/>
                  <a:gd name="T8" fmla="*/ 292 w 300"/>
                  <a:gd name="T9" fmla="*/ 11 h 12"/>
                  <a:gd name="T10" fmla="*/ 299 w 300"/>
                  <a:gd name="T11" fmla="*/ 5 h 12"/>
                  <a:gd name="T12" fmla="*/ 292 w 300"/>
                  <a:gd name="T13" fmla="*/ 11 h 12"/>
                  <a:gd name="T14" fmla="*/ 299 w 300"/>
                  <a:gd name="T15" fmla="*/ 11 h 12"/>
                  <a:gd name="T16" fmla="*/ 299 w 300"/>
                  <a:gd name="T17" fmla="*/ 5 h 12"/>
                  <a:gd name="T18" fmla="*/ 284 w 300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284" y="5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2" y="11"/>
                    </a:lnTo>
                    <a:lnTo>
                      <a:pt x="299" y="5"/>
                    </a:lnTo>
                    <a:lnTo>
                      <a:pt x="292" y="11"/>
                    </a:lnTo>
                    <a:lnTo>
                      <a:pt x="299" y="11"/>
                    </a:lnTo>
                    <a:lnTo>
                      <a:pt x="299" y="5"/>
                    </a:lnTo>
                    <a:lnTo>
                      <a:pt x="28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3" name="Freeform 123">
                <a:extLst>
                  <a:ext uri="{FF2B5EF4-FFF2-40B4-BE49-F238E27FC236}">
                    <a16:creationId xmlns:a16="http://schemas.microsoft.com/office/drawing/2014/main" id="{264CE69B-AD86-4AE0-A0A5-D5FFDAC18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99" cy="164"/>
              </a:xfrm>
              <a:custGeom>
                <a:avLst/>
                <a:gdLst>
                  <a:gd name="T0" fmla="*/ 298 w 299"/>
                  <a:gd name="T1" fmla="*/ 163 h 164"/>
                  <a:gd name="T2" fmla="*/ 298 w 299"/>
                  <a:gd name="T3" fmla="*/ 0 h 164"/>
                  <a:gd name="T4" fmla="*/ 0 w 299"/>
                  <a:gd name="T5" fmla="*/ 0 h 164"/>
                  <a:gd name="T6" fmla="*/ 0 w 299"/>
                  <a:gd name="T7" fmla="*/ 163 h 164"/>
                  <a:gd name="T8" fmla="*/ 298 w 299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"/>
                  <a:gd name="T16" fmla="*/ 0 h 164"/>
                  <a:gd name="T17" fmla="*/ 299 w 29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" h="164">
                    <a:moveTo>
                      <a:pt x="298" y="163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8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4" name="Freeform 124">
                <a:extLst>
                  <a:ext uri="{FF2B5EF4-FFF2-40B4-BE49-F238E27FC236}">
                    <a16:creationId xmlns:a16="http://schemas.microsoft.com/office/drawing/2014/main" id="{D43414E7-4DC0-4C88-BEB4-70D302CBD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126"/>
                <a:ext cx="9" cy="173"/>
              </a:xfrm>
              <a:custGeom>
                <a:avLst/>
                <a:gdLst>
                  <a:gd name="T0" fmla="*/ 4 w 9"/>
                  <a:gd name="T1" fmla="*/ 16 h 173"/>
                  <a:gd name="T2" fmla="*/ 0 w 9"/>
                  <a:gd name="T3" fmla="*/ 9 h 173"/>
                  <a:gd name="T4" fmla="*/ 0 w 9"/>
                  <a:gd name="T5" fmla="*/ 172 h 173"/>
                  <a:gd name="T6" fmla="*/ 8 w 9"/>
                  <a:gd name="T7" fmla="*/ 172 h 173"/>
                  <a:gd name="T8" fmla="*/ 8 w 9"/>
                  <a:gd name="T9" fmla="*/ 9 h 173"/>
                  <a:gd name="T10" fmla="*/ 4 w 9"/>
                  <a:gd name="T11" fmla="*/ 0 h 173"/>
                  <a:gd name="T12" fmla="*/ 8 w 9"/>
                  <a:gd name="T13" fmla="*/ 9 h 173"/>
                  <a:gd name="T14" fmla="*/ 8 w 9"/>
                  <a:gd name="T15" fmla="*/ 0 h 173"/>
                  <a:gd name="T16" fmla="*/ 4 w 9"/>
                  <a:gd name="T17" fmla="*/ 0 h 173"/>
                  <a:gd name="T18" fmla="*/ 4 w 9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8" y="172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5" name="Freeform 125">
                <a:extLst>
                  <a:ext uri="{FF2B5EF4-FFF2-40B4-BE49-F238E27FC236}">
                    <a16:creationId xmlns:a16="http://schemas.microsoft.com/office/drawing/2014/main" id="{2C23D4AE-606A-43F4-939F-5122C7253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26"/>
                <a:ext cx="299" cy="12"/>
              </a:xfrm>
              <a:custGeom>
                <a:avLst/>
                <a:gdLst>
                  <a:gd name="T0" fmla="*/ 7 w 299"/>
                  <a:gd name="T1" fmla="*/ 6 h 12"/>
                  <a:gd name="T2" fmla="*/ 0 w 299"/>
                  <a:gd name="T3" fmla="*/ 11 h 12"/>
                  <a:gd name="T4" fmla="*/ 298 w 299"/>
                  <a:gd name="T5" fmla="*/ 11 h 12"/>
                  <a:gd name="T6" fmla="*/ 298 w 299"/>
                  <a:gd name="T7" fmla="*/ 0 h 12"/>
                  <a:gd name="T8" fmla="*/ 0 w 299"/>
                  <a:gd name="T9" fmla="*/ 0 h 12"/>
                  <a:gd name="T10" fmla="*/ 0 w 299"/>
                  <a:gd name="T11" fmla="*/ 6 h 12"/>
                  <a:gd name="T12" fmla="*/ 0 w 299"/>
                  <a:gd name="T13" fmla="*/ 0 h 12"/>
                  <a:gd name="T14" fmla="*/ 0 w 299"/>
                  <a:gd name="T15" fmla="*/ 6 h 12"/>
                  <a:gd name="T16" fmla="*/ 7 w 299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9"/>
                  <a:gd name="T28" fmla="*/ 0 h 12"/>
                  <a:gd name="T29" fmla="*/ 299 w 299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9" h="12">
                    <a:moveTo>
                      <a:pt x="7" y="6"/>
                    </a:moveTo>
                    <a:lnTo>
                      <a:pt x="0" y="11"/>
                    </a:lnTo>
                    <a:lnTo>
                      <a:pt x="298" y="11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6" name="Freeform 126">
                <a:extLst>
                  <a:ext uri="{FF2B5EF4-FFF2-40B4-BE49-F238E27FC236}">
                    <a16:creationId xmlns:a16="http://schemas.microsoft.com/office/drawing/2014/main" id="{205B8210-42BA-44E1-83EB-CC925A16F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" cy="173"/>
              </a:xfrm>
              <a:custGeom>
                <a:avLst/>
                <a:gdLst>
                  <a:gd name="T0" fmla="*/ 0 w 2"/>
                  <a:gd name="T1" fmla="*/ 156 h 173"/>
                  <a:gd name="T2" fmla="*/ 1 w 2"/>
                  <a:gd name="T3" fmla="*/ 163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63 h 173"/>
                  <a:gd name="T10" fmla="*/ 0 w 2"/>
                  <a:gd name="T11" fmla="*/ 172 h 173"/>
                  <a:gd name="T12" fmla="*/ 0 w 2"/>
                  <a:gd name="T13" fmla="*/ 163 h 173"/>
                  <a:gd name="T14" fmla="*/ 0 w 2"/>
                  <a:gd name="T15" fmla="*/ 172 h 173"/>
                  <a:gd name="T16" fmla="*/ 0 w 2"/>
                  <a:gd name="T17" fmla="*/ 156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0" y="156"/>
                    </a:moveTo>
                    <a:lnTo>
                      <a:pt x="1" y="16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7" name="Freeform 127">
                <a:extLst>
                  <a:ext uri="{FF2B5EF4-FFF2-40B4-BE49-F238E27FC236}">
                    <a16:creationId xmlns:a16="http://schemas.microsoft.com/office/drawing/2014/main" id="{6116F7C5-1D89-4FC3-8DFD-7EEF1139B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296"/>
                <a:ext cx="306" cy="12"/>
              </a:xfrm>
              <a:custGeom>
                <a:avLst/>
                <a:gdLst>
                  <a:gd name="T0" fmla="*/ 291 w 306"/>
                  <a:gd name="T1" fmla="*/ 5 h 12"/>
                  <a:gd name="T2" fmla="*/ 298 w 306"/>
                  <a:gd name="T3" fmla="*/ 0 h 12"/>
                  <a:gd name="T4" fmla="*/ 0 w 306"/>
                  <a:gd name="T5" fmla="*/ 0 h 12"/>
                  <a:gd name="T6" fmla="*/ 0 w 306"/>
                  <a:gd name="T7" fmla="*/ 11 h 12"/>
                  <a:gd name="T8" fmla="*/ 298 w 306"/>
                  <a:gd name="T9" fmla="*/ 11 h 12"/>
                  <a:gd name="T10" fmla="*/ 305 w 306"/>
                  <a:gd name="T11" fmla="*/ 5 h 12"/>
                  <a:gd name="T12" fmla="*/ 298 w 306"/>
                  <a:gd name="T13" fmla="*/ 11 h 12"/>
                  <a:gd name="T14" fmla="*/ 305 w 306"/>
                  <a:gd name="T15" fmla="*/ 11 h 12"/>
                  <a:gd name="T16" fmla="*/ 305 w 306"/>
                  <a:gd name="T17" fmla="*/ 5 h 12"/>
                  <a:gd name="T18" fmla="*/ 291 w 30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6"/>
                  <a:gd name="T31" fmla="*/ 0 h 12"/>
                  <a:gd name="T32" fmla="*/ 306 w 30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6" h="12">
                    <a:moveTo>
                      <a:pt x="291" y="5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8" y="11"/>
                    </a:lnTo>
                    <a:lnTo>
                      <a:pt x="305" y="5"/>
                    </a:lnTo>
                    <a:lnTo>
                      <a:pt x="298" y="11"/>
                    </a:lnTo>
                    <a:lnTo>
                      <a:pt x="305" y="11"/>
                    </a:lnTo>
                    <a:lnTo>
                      <a:pt x="305" y="5"/>
                    </a:lnTo>
                    <a:lnTo>
                      <a:pt x="29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8" name="Freeform 128">
                <a:extLst>
                  <a:ext uri="{FF2B5EF4-FFF2-40B4-BE49-F238E27FC236}">
                    <a16:creationId xmlns:a16="http://schemas.microsoft.com/office/drawing/2014/main" id="{DB7D5710-43EB-4227-9C76-9B7EF21F9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380"/>
                <a:ext cx="1569" cy="29"/>
              </a:xfrm>
              <a:custGeom>
                <a:avLst/>
                <a:gdLst>
                  <a:gd name="T0" fmla="*/ 1568 w 1569"/>
                  <a:gd name="T1" fmla="*/ 28 h 29"/>
                  <a:gd name="T2" fmla="*/ 1568 w 1569"/>
                  <a:gd name="T3" fmla="*/ 0 h 29"/>
                  <a:gd name="T4" fmla="*/ 0 w 1569"/>
                  <a:gd name="T5" fmla="*/ 0 h 29"/>
                  <a:gd name="T6" fmla="*/ 0 w 1569"/>
                  <a:gd name="T7" fmla="*/ 28 h 29"/>
                  <a:gd name="T8" fmla="*/ 1568 w 1569"/>
                  <a:gd name="T9" fmla="*/ 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69"/>
                  <a:gd name="T16" fmla="*/ 0 h 29"/>
                  <a:gd name="T17" fmla="*/ 1569 w 156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69" h="29">
                    <a:moveTo>
                      <a:pt x="1568" y="28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68" y="28"/>
                    </a:lnTo>
                  </a:path>
                </a:pathLst>
              </a:custGeom>
              <a:solidFill>
                <a:srgbClr val="7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9" name="Freeform 129">
                <a:extLst>
                  <a:ext uri="{FF2B5EF4-FFF2-40B4-BE49-F238E27FC236}">
                    <a16:creationId xmlns:a16="http://schemas.microsoft.com/office/drawing/2014/main" id="{3D8B24D3-ED8A-4512-A547-F97347BC7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3372"/>
                <a:ext cx="9" cy="37"/>
              </a:xfrm>
              <a:custGeom>
                <a:avLst/>
                <a:gdLst>
                  <a:gd name="T0" fmla="*/ 4 w 9"/>
                  <a:gd name="T1" fmla="*/ 15 h 37"/>
                  <a:gd name="T2" fmla="*/ 0 w 9"/>
                  <a:gd name="T3" fmla="*/ 7 h 37"/>
                  <a:gd name="T4" fmla="*/ 0 w 9"/>
                  <a:gd name="T5" fmla="*/ 36 h 37"/>
                  <a:gd name="T6" fmla="*/ 8 w 9"/>
                  <a:gd name="T7" fmla="*/ 36 h 37"/>
                  <a:gd name="T8" fmla="*/ 8 w 9"/>
                  <a:gd name="T9" fmla="*/ 7 h 37"/>
                  <a:gd name="T10" fmla="*/ 4 w 9"/>
                  <a:gd name="T11" fmla="*/ 0 h 37"/>
                  <a:gd name="T12" fmla="*/ 8 w 9"/>
                  <a:gd name="T13" fmla="*/ 7 h 37"/>
                  <a:gd name="T14" fmla="*/ 8 w 9"/>
                  <a:gd name="T15" fmla="*/ 0 h 37"/>
                  <a:gd name="T16" fmla="*/ 4 w 9"/>
                  <a:gd name="T17" fmla="*/ 0 h 37"/>
                  <a:gd name="T18" fmla="*/ 4 w 9"/>
                  <a:gd name="T19" fmla="*/ 15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15"/>
                    </a:moveTo>
                    <a:lnTo>
                      <a:pt x="0" y="7"/>
                    </a:lnTo>
                    <a:lnTo>
                      <a:pt x="0" y="36"/>
                    </a:lnTo>
                    <a:lnTo>
                      <a:pt x="8" y="36"/>
                    </a:lnTo>
                    <a:lnTo>
                      <a:pt x="8" y="7"/>
                    </a:lnTo>
                    <a:lnTo>
                      <a:pt x="4" y="0"/>
                    </a:lnTo>
                    <a:lnTo>
                      <a:pt x="8" y="7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0" name="Freeform 130">
                <a:extLst>
                  <a:ext uri="{FF2B5EF4-FFF2-40B4-BE49-F238E27FC236}">
                    <a16:creationId xmlns:a16="http://schemas.microsoft.com/office/drawing/2014/main" id="{BEF12DD5-B35F-46CB-9741-EEACB9879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72"/>
                <a:ext cx="1576" cy="12"/>
              </a:xfrm>
              <a:custGeom>
                <a:avLst/>
                <a:gdLst>
                  <a:gd name="T0" fmla="*/ 14 w 1576"/>
                  <a:gd name="T1" fmla="*/ 5 h 12"/>
                  <a:gd name="T2" fmla="*/ 7 w 1576"/>
                  <a:gd name="T3" fmla="*/ 11 h 12"/>
                  <a:gd name="T4" fmla="*/ 1575 w 1576"/>
                  <a:gd name="T5" fmla="*/ 11 h 12"/>
                  <a:gd name="T6" fmla="*/ 1575 w 1576"/>
                  <a:gd name="T7" fmla="*/ 0 h 12"/>
                  <a:gd name="T8" fmla="*/ 7 w 1576"/>
                  <a:gd name="T9" fmla="*/ 0 h 12"/>
                  <a:gd name="T10" fmla="*/ 0 w 1576"/>
                  <a:gd name="T11" fmla="*/ 5 h 12"/>
                  <a:gd name="T12" fmla="*/ 7 w 1576"/>
                  <a:gd name="T13" fmla="*/ 0 h 12"/>
                  <a:gd name="T14" fmla="*/ 0 w 1576"/>
                  <a:gd name="T15" fmla="*/ 0 h 12"/>
                  <a:gd name="T16" fmla="*/ 0 w 1576"/>
                  <a:gd name="T17" fmla="*/ 5 h 12"/>
                  <a:gd name="T18" fmla="*/ 14 w 157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2"/>
                  <a:gd name="T32" fmla="*/ 1576 w 157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2">
                    <a:moveTo>
                      <a:pt x="14" y="5"/>
                    </a:moveTo>
                    <a:lnTo>
                      <a:pt x="7" y="11"/>
                    </a:lnTo>
                    <a:lnTo>
                      <a:pt x="1575" y="11"/>
                    </a:lnTo>
                    <a:lnTo>
                      <a:pt x="1575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1" name="Freeform 131">
                <a:extLst>
                  <a:ext uri="{FF2B5EF4-FFF2-40B4-BE49-F238E27FC236}">
                    <a16:creationId xmlns:a16="http://schemas.microsoft.com/office/drawing/2014/main" id="{1B2CFAA7-C3CA-41CA-9768-8D0D8047E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80"/>
                <a:ext cx="9" cy="37"/>
              </a:xfrm>
              <a:custGeom>
                <a:avLst/>
                <a:gdLst>
                  <a:gd name="T0" fmla="*/ 4 w 9"/>
                  <a:gd name="T1" fmla="*/ 22 h 37"/>
                  <a:gd name="T2" fmla="*/ 8 w 9"/>
                  <a:gd name="T3" fmla="*/ 29 h 37"/>
                  <a:gd name="T4" fmla="*/ 8 w 9"/>
                  <a:gd name="T5" fmla="*/ 0 h 37"/>
                  <a:gd name="T6" fmla="*/ 0 w 9"/>
                  <a:gd name="T7" fmla="*/ 0 h 37"/>
                  <a:gd name="T8" fmla="*/ 0 w 9"/>
                  <a:gd name="T9" fmla="*/ 29 h 37"/>
                  <a:gd name="T10" fmla="*/ 4 w 9"/>
                  <a:gd name="T11" fmla="*/ 36 h 37"/>
                  <a:gd name="T12" fmla="*/ 0 w 9"/>
                  <a:gd name="T13" fmla="*/ 29 h 37"/>
                  <a:gd name="T14" fmla="*/ 0 w 9"/>
                  <a:gd name="T15" fmla="*/ 36 h 37"/>
                  <a:gd name="T16" fmla="*/ 4 w 9"/>
                  <a:gd name="T17" fmla="*/ 36 h 37"/>
                  <a:gd name="T18" fmla="*/ 4 w 9"/>
                  <a:gd name="T19" fmla="*/ 22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22"/>
                    </a:moveTo>
                    <a:lnTo>
                      <a:pt x="8" y="29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4" y="36"/>
                    </a:lnTo>
                    <a:lnTo>
                      <a:pt x="0" y="29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4" y="2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2" name="Freeform 132">
                <a:extLst>
                  <a:ext uri="{FF2B5EF4-FFF2-40B4-BE49-F238E27FC236}">
                    <a16:creationId xmlns:a16="http://schemas.microsoft.com/office/drawing/2014/main" id="{9DC91794-8575-4205-806A-671DBBD24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406"/>
                <a:ext cx="1576" cy="11"/>
              </a:xfrm>
              <a:custGeom>
                <a:avLst/>
                <a:gdLst>
                  <a:gd name="T0" fmla="*/ 1561 w 1576"/>
                  <a:gd name="T1" fmla="*/ 5 h 11"/>
                  <a:gd name="T2" fmla="*/ 1568 w 1576"/>
                  <a:gd name="T3" fmla="*/ 0 h 11"/>
                  <a:gd name="T4" fmla="*/ 0 w 1576"/>
                  <a:gd name="T5" fmla="*/ 0 h 11"/>
                  <a:gd name="T6" fmla="*/ 0 w 1576"/>
                  <a:gd name="T7" fmla="*/ 10 h 11"/>
                  <a:gd name="T8" fmla="*/ 1568 w 1576"/>
                  <a:gd name="T9" fmla="*/ 10 h 11"/>
                  <a:gd name="T10" fmla="*/ 1575 w 1576"/>
                  <a:gd name="T11" fmla="*/ 5 h 11"/>
                  <a:gd name="T12" fmla="*/ 1568 w 1576"/>
                  <a:gd name="T13" fmla="*/ 10 h 11"/>
                  <a:gd name="T14" fmla="*/ 1575 w 1576"/>
                  <a:gd name="T15" fmla="*/ 10 h 11"/>
                  <a:gd name="T16" fmla="*/ 1575 w 1576"/>
                  <a:gd name="T17" fmla="*/ 5 h 11"/>
                  <a:gd name="T18" fmla="*/ 1561 w 1576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1"/>
                  <a:gd name="T32" fmla="*/ 1576 w 1576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1">
                    <a:moveTo>
                      <a:pt x="1561" y="5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1568" y="10"/>
                    </a:lnTo>
                    <a:lnTo>
                      <a:pt x="1575" y="5"/>
                    </a:lnTo>
                    <a:lnTo>
                      <a:pt x="1568" y="10"/>
                    </a:lnTo>
                    <a:lnTo>
                      <a:pt x="1575" y="10"/>
                    </a:lnTo>
                    <a:lnTo>
                      <a:pt x="1575" y="5"/>
                    </a:lnTo>
                    <a:lnTo>
                      <a:pt x="156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337" name="Rectangle 133">
              <a:extLst>
                <a:ext uri="{FF2B5EF4-FFF2-40B4-BE49-F238E27FC236}">
                  <a16:creationId xmlns:a16="http://schemas.microsoft.com/office/drawing/2014/main" id="{E44A1CF3-8A9D-410F-B9C2-55A72E8C2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538"/>
              <a:ext cx="1254" cy="46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/>
                <a:t>Plan Administrator</a:t>
              </a:r>
            </a:p>
          </p:txBody>
        </p:sp>
      </p:grpSp>
      <p:sp>
        <p:nvSpPr>
          <p:cNvPr id="49157" name="Rectangle 134">
            <a:extLst>
              <a:ext uri="{FF2B5EF4-FFF2-40B4-BE49-F238E27FC236}">
                <a16:creationId xmlns:a16="http://schemas.microsoft.com/office/drawing/2014/main" id="{EC944D15-8806-443C-9FBE-7F85707D8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4573588"/>
            <a:ext cx="2709863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900" b="1">
                <a:solidFill>
                  <a:srgbClr val="CF0E30"/>
                </a:solidFill>
              </a:rPr>
              <a:t>Pension Recipients</a:t>
            </a:r>
          </a:p>
        </p:txBody>
      </p:sp>
      <p:grpSp>
        <p:nvGrpSpPr>
          <p:cNvPr id="49158" name="Group 135">
            <a:extLst>
              <a:ext uri="{FF2B5EF4-FFF2-40B4-BE49-F238E27FC236}">
                <a16:creationId xmlns:a16="http://schemas.microsoft.com/office/drawing/2014/main" id="{D5222F8D-FBC4-49B6-A824-D8654965E0E5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5002213"/>
            <a:ext cx="1651000" cy="1687512"/>
            <a:chOff x="4423" y="3467"/>
            <a:chExt cx="1092" cy="1134"/>
          </a:xfrm>
        </p:grpSpPr>
        <p:sp>
          <p:nvSpPr>
            <p:cNvPr id="49202" name="Freeform 136">
              <a:extLst>
                <a:ext uri="{FF2B5EF4-FFF2-40B4-BE49-F238E27FC236}">
                  <a16:creationId xmlns:a16="http://schemas.microsoft.com/office/drawing/2014/main" id="{01CBF4D8-AFDB-4DE2-8E4D-1D3D9F84A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470"/>
              <a:ext cx="656" cy="327"/>
            </a:xfrm>
            <a:custGeom>
              <a:avLst/>
              <a:gdLst>
                <a:gd name="T0" fmla="*/ 0 w 656"/>
                <a:gd name="T1" fmla="*/ 308 h 327"/>
                <a:gd name="T2" fmla="*/ 6 w 656"/>
                <a:gd name="T3" fmla="*/ 259 h 327"/>
                <a:gd name="T4" fmla="*/ 18 w 656"/>
                <a:gd name="T5" fmla="*/ 212 h 327"/>
                <a:gd name="T6" fmla="*/ 38 w 656"/>
                <a:gd name="T7" fmla="*/ 172 h 327"/>
                <a:gd name="T8" fmla="*/ 64 w 656"/>
                <a:gd name="T9" fmla="*/ 131 h 327"/>
                <a:gd name="T10" fmla="*/ 94 w 656"/>
                <a:gd name="T11" fmla="*/ 96 h 327"/>
                <a:gd name="T12" fmla="*/ 129 w 656"/>
                <a:gd name="T13" fmla="*/ 64 h 327"/>
                <a:gd name="T14" fmla="*/ 170 w 656"/>
                <a:gd name="T15" fmla="*/ 40 h 327"/>
                <a:gd name="T16" fmla="*/ 214 w 656"/>
                <a:gd name="T17" fmla="*/ 21 h 327"/>
                <a:gd name="T18" fmla="*/ 262 w 656"/>
                <a:gd name="T19" fmla="*/ 6 h 327"/>
                <a:gd name="T20" fmla="*/ 308 w 656"/>
                <a:gd name="T21" fmla="*/ 0 h 327"/>
                <a:gd name="T22" fmla="*/ 362 w 656"/>
                <a:gd name="T23" fmla="*/ 3 h 327"/>
                <a:gd name="T24" fmla="*/ 408 w 656"/>
                <a:gd name="T25" fmla="*/ 12 h 327"/>
                <a:gd name="T26" fmla="*/ 455 w 656"/>
                <a:gd name="T27" fmla="*/ 27 h 327"/>
                <a:gd name="T28" fmla="*/ 496 w 656"/>
                <a:gd name="T29" fmla="*/ 46 h 327"/>
                <a:gd name="T30" fmla="*/ 534 w 656"/>
                <a:gd name="T31" fmla="*/ 76 h 327"/>
                <a:gd name="T32" fmla="*/ 570 w 656"/>
                <a:gd name="T33" fmla="*/ 108 h 327"/>
                <a:gd name="T34" fmla="*/ 600 w 656"/>
                <a:gd name="T35" fmla="*/ 142 h 327"/>
                <a:gd name="T36" fmla="*/ 622 w 656"/>
                <a:gd name="T37" fmla="*/ 184 h 327"/>
                <a:gd name="T38" fmla="*/ 640 w 656"/>
                <a:gd name="T39" fmla="*/ 230 h 327"/>
                <a:gd name="T40" fmla="*/ 649 w 656"/>
                <a:gd name="T41" fmla="*/ 277 h 327"/>
                <a:gd name="T42" fmla="*/ 655 w 656"/>
                <a:gd name="T43" fmla="*/ 326 h 327"/>
                <a:gd name="T44" fmla="*/ 649 w 656"/>
                <a:gd name="T45" fmla="*/ 292 h 327"/>
                <a:gd name="T46" fmla="*/ 640 w 656"/>
                <a:gd name="T47" fmla="*/ 245 h 327"/>
                <a:gd name="T48" fmla="*/ 625 w 656"/>
                <a:gd name="T49" fmla="*/ 201 h 327"/>
                <a:gd name="T50" fmla="*/ 605 w 656"/>
                <a:gd name="T51" fmla="*/ 160 h 327"/>
                <a:gd name="T52" fmla="*/ 576 w 656"/>
                <a:gd name="T53" fmla="*/ 120 h 327"/>
                <a:gd name="T54" fmla="*/ 543 w 656"/>
                <a:gd name="T55" fmla="*/ 87 h 327"/>
                <a:gd name="T56" fmla="*/ 508 w 656"/>
                <a:gd name="T57" fmla="*/ 58 h 327"/>
                <a:gd name="T58" fmla="*/ 467 w 656"/>
                <a:gd name="T59" fmla="*/ 35 h 327"/>
                <a:gd name="T60" fmla="*/ 423 w 656"/>
                <a:gd name="T61" fmla="*/ 18 h 327"/>
                <a:gd name="T62" fmla="*/ 376 w 656"/>
                <a:gd name="T63" fmla="*/ 9 h 327"/>
                <a:gd name="T64" fmla="*/ 326 w 656"/>
                <a:gd name="T65" fmla="*/ 3 h 327"/>
                <a:gd name="T66" fmla="*/ 276 w 656"/>
                <a:gd name="T67" fmla="*/ 9 h 327"/>
                <a:gd name="T68" fmla="*/ 229 w 656"/>
                <a:gd name="T69" fmla="*/ 18 h 327"/>
                <a:gd name="T70" fmla="*/ 185 w 656"/>
                <a:gd name="T71" fmla="*/ 35 h 327"/>
                <a:gd name="T72" fmla="*/ 147 w 656"/>
                <a:gd name="T73" fmla="*/ 58 h 327"/>
                <a:gd name="T74" fmla="*/ 109 w 656"/>
                <a:gd name="T75" fmla="*/ 87 h 327"/>
                <a:gd name="T76" fmla="*/ 76 w 656"/>
                <a:gd name="T77" fmla="*/ 120 h 327"/>
                <a:gd name="T78" fmla="*/ 50 w 656"/>
                <a:gd name="T79" fmla="*/ 160 h 327"/>
                <a:gd name="T80" fmla="*/ 27 w 656"/>
                <a:gd name="T81" fmla="*/ 201 h 327"/>
                <a:gd name="T82" fmla="*/ 12 w 656"/>
                <a:gd name="T83" fmla="*/ 245 h 327"/>
                <a:gd name="T84" fmla="*/ 3 w 656"/>
                <a:gd name="T85" fmla="*/ 292 h 327"/>
                <a:gd name="T86" fmla="*/ 0 w 656"/>
                <a:gd name="T87" fmla="*/ 326 h 3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327"/>
                <a:gd name="T134" fmla="*/ 656 w 656"/>
                <a:gd name="T135" fmla="*/ 327 h 32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327">
                  <a:moveTo>
                    <a:pt x="0" y="326"/>
                  </a:moveTo>
                  <a:lnTo>
                    <a:pt x="0" y="326"/>
                  </a:lnTo>
                  <a:lnTo>
                    <a:pt x="0" y="308"/>
                  </a:lnTo>
                  <a:lnTo>
                    <a:pt x="0" y="292"/>
                  </a:lnTo>
                  <a:lnTo>
                    <a:pt x="3" y="277"/>
                  </a:lnTo>
                  <a:lnTo>
                    <a:pt x="6" y="259"/>
                  </a:lnTo>
                  <a:lnTo>
                    <a:pt x="9" y="245"/>
                  </a:lnTo>
                  <a:lnTo>
                    <a:pt x="15" y="230"/>
                  </a:lnTo>
                  <a:lnTo>
                    <a:pt x="18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72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20"/>
                  </a:lnTo>
                  <a:lnTo>
                    <a:pt x="85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5" y="32"/>
                  </a:lnTo>
                  <a:lnTo>
                    <a:pt x="199" y="27"/>
                  </a:lnTo>
                  <a:lnTo>
                    <a:pt x="214" y="21"/>
                  </a:lnTo>
                  <a:lnTo>
                    <a:pt x="229" y="15"/>
                  </a:lnTo>
                  <a:lnTo>
                    <a:pt x="244" y="12"/>
                  </a:lnTo>
                  <a:lnTo>
                    <a:pt x="262" y="6"/>
                  </a:lnTo>
                  <a:lnTo>
                    <a:pt x="276" y="3"/>
                  </a:lnTo>
                  <a:lnTo>
                    <a:pt x="293" y="3"/>
                  </a:lnTo>
                  <a:lnTo>
                    <a:pt x="308" y="0"/>
                  </a:lnTo>
                  <a:lnTo>
                    <a:pt x="326" y="0"/>
                  </a:lnTo>
                  <a:lnTo>
                    <a:pt x="344" y="0"/>
                  </a:lnTo>
                  <a:lnTo>
                    <a:pt x="362" y="3"/>
                  </a:lnTo>
                  <a:lnTo>
                    <a:pt x="376" y="3"/>
                  </a:lnTo>
                  <a:lnTo>
                    <a:pt x="393" y="6"/>
                  </a:lnTo>
                  <a:lnTo>
                    <a:pt x="408" y="12"/>
                  </a:lnTo>
                  <a:lnTo>
                    <a:pt x="423" y="15"/>
                  </a:lnTo>
                  <a:lnTo>
                    <a:pt x="441" y="21"/>
                  </a:lnTo>
                  <a:lnTo>
                    <a:pt x="455" y="27"/>
                  </a:lnTo>
                  <a:lnTo>
                    <a:pt x="467" y="32"/>
                  </a:lnTo>
                  <a:lnTo>
                    <a:pt x="482" y="40"/>
                  </a:lnTo>
                  <a:lnTo>
                    <a:pt x="496" y="46"/>
                  </a:lnTo>
                  <a:lnTo>
                    <a:pt x="508" y="55"/>
                  </a:lnTo>
                  <a:lnTo>
                    <a:pt x="523" y="64"/>
                  </a:lnTo>
                  <a:lnTo>
                    <a:pt x="534" y="76"/>
                  </a:lnTo>
                  <a:lnTo>
                    <a:pt x="546" y="84"/>
                  </a:lnTo>
                  <a:lnTo>
                    <a:pt x="558" y="96"/>
                  </a:lnTo>
                  <a:lnTo>
                    <a:pt x="570" y="108"/>
                  </a:lnTo>
                  <a:lnTo>
                    <a:pt x="579" y="120"/>
                  </a:lnTo>
                  <a:lnTo>
                    <a:pt x="591" y="131"/>
                  </a:lnTo>
                  <a:lnTo>
                    <a:pt x="600" y="142"/>
                  </a:lnTo>
                  <a:lnTo>
                    <a:pt x="608" y="157"/>
                  </a:lnTo>
                  <a:lnTo>
                    <a:pt x="614" y="172"/>
                  </a:lnTo>
                  <a:lnTo>
                    <a:pt x="622" y="184"/>
                  </a:lnTo>
                  <a:lnTo>
                    <a:pt x="628" y="198"/>
                  </a:lnTo>
                  <a:lnTo>
                    <a:pt x="634" y="212"/>
                  </a:lnTo>
                  <a:lnTo>
                    <a:pt x="640" y="230"/>
                  </a:lnTo>
                  <a:lnTo>
                    <a:pt x="643" y="245"/>
                  </a:lnTo>
                  <a:lnTo>
                    <a:pt x="646" y="259"/>
                  </a:lnTo>
                  <a:lnTo>
                    <a:pt x="649" y="277"/>
                  </a:lnTo>
                  <a:lnTo>
                    <a:pt x="652" y="292"/>
                  </a:lnTo>
                  <a:lnTo>
                    <a:pt x="655" y="308"/>
                  </a:lnTo>
                  <a:lnTo>
                    <a:pt x="655" y="326"/>
                  </a:lnTo>
                  <a:lnTo>
                    <a:pt x="652" y="326"/>
                  </a:lnTo>
                  <a:lnTo>
                    <a:pt x="649" y="308"/>
                  </a:lnTo>
                  <a:lnTo>
                    <a:pt x="649" y="292"/>
                  </a:lnTo>
                  <a:lnTo>
                    <a:pt x="646" y="277"/>
                  </a:lnTo>
                  <a:lnTo>
                    <a:pt x="643" y="262"/>
                  </a:lnTo>
                  <a:lnTo>
                    <a:pt x="640" y="245"/>
                  </a:lnTo>
                  <a:lnTo>
                    <a:pt x="637" y="230"/>
                  </a:lnTo>
                  <a:lnTo>
                    <a:pt x="631" y="215"/>
                  </a:lnTo>
                  <a:lnTo>
                    <a:pt x="625" y="201"/>
                  </a:lnTo>
                  <a:lnTo>
                    <a:pt x="619" y="187"/>
                  </a:lnTo>
                  <a:lnTo>
                    <a:pt x="611" y="172"/>
                  </a:lnTo>
                  <a:lnTo>
                    <a:pt x="605" y="160"/>
                  </a:lnTo>
                  <a:lnTo>
                    <a:pt x="597" y="145"/>
                  </a:lnTo>
                  <a:lnTo>
                    <a:pt x="588" y="134"/>
                  </a:lnTo>
                  <a:lnTo>
                    <a:pt x="576" y="120"/>
                  </a:lnTo>
                  <a:lnTo>
                    <a:pt x="567" y="111"/>
                  </a:lnTo>
                  <a:lnTo>
                    <a:pt x="555" y="99"/>
                  </a:lnTo>
                  <a:lnTo>
                    <a:pt x="543" y="87"/>
                  </a:lnTo>
                  <a:lnTo>
                    <a:pt x="531" y="79"/>
                  </a:lnTo>
                  <a:lnTo>
                    <a:pt x="520" y="67"/>
                  </a:lnTo>
                  <a:lnTo>
                    <a:pt x="508" y="58"/>
                  </a:lnTo>
                  <a:lnTo>
                    <a:pt x="493" y="49"/>
                  </a:lnTo>
                  <a:lnTo>
                    <a:pt x="482" y="43"/>
                  </a:lnTo>
                  <a:lnTo>
                    <a:pt x="467" y="35"/>
                  </a:lnTo>
                  <a:lnTo>
                    <a:pt x="452" y="29"/>
                  </a:lnTo>
                  <a:lnTo>
                    <a:pt x="438" y="24"/>
                  </a:lnTo>
                  <a:lnTo>
                    <a:pt x="423" y="18"/>
                  </a:lnTo>
                  <a:lnTo>
                    <a:pt x="408" y="15"/>
                  </a:lnTo>
                  <a:lnTo>
                    <a:pt x="390" y="12"/>
                  </a:lnTo>
                  <a:lnTo>
                    <a:pt x="376" y="9"/>
                  </a:lnTo>
                  <a:lnTo>
                    <a:pt x="362" y="6"/>
                  </a:lnTo>
                  <a:lnTo>
                    <a:pt x="344" y="3"/>
                  </a:lnTo>
                  <a:lnTo>
                    <a:pt x="326" y="3"/>
                  </a:lnTo>
                  <a:lnTo>
                    <a:pt x="311" y="3"/>
                  </a:lnTo>
                  <a:lnTo>
                    <a:pt x="293" y="6"/>
                  </a:lnTo>
                  <a:lnTo>
                    <a:pt x="276" y="9"/>
                  </a:lnTo>
                  <a:lnTo>
                    <a:pt x="262" y="12"/>
                  </a:lnTo>
                  <a:lnTo>
                    <a:pt x="247" y="15"/>
                  </a:lnTo>
                  <a:lnTo>
                    <a:pt x="229" y="18"/>
                  </a:lnTo>
                  <a:lnTo>
                    <a:pt x="214" y="24"/>
                  </a:lnTo>
                  <a:lnTo>
                    <a:pt x="199" y="29"/>
                  </a:lnTo>
                  <a:lnTo>
                    <a:pt x="185" y="35"/>
                  </a:lnTo>
                  <a:lnTo>
                    <a:pt x="173" y="43"/>
                  </a:lnTo>
                  <a:lnTo>
                    <a:pt x="159" y="49"/>
                  </a:lnTo>
                  <a:lnTo>
                    <a:pt x="147" y="58"/>
                  </a:lnTo>
                  <a:lnTo>
                    <a:pt x="132" y="67"/>
                  </a:lnTo>
                  <a:lnTo>
                    <a:pt x="120" y="79"/>
                  </a:lnTo>
                  <a:lnTo>
                    <a:pt x="109" y="87"/>
                  </a:lnTo>
                  <a:lnTo>
                    <a:pt x="97" y="99"/>
                  </a:lnTo>
                  <a:lnTo>
                    <a:pt x="85" y="111"/>
                  </a:lnTo>
                  <a:lnTo>
                    <a:pt x="76" y="120"/>
                  </a:lnTo>
                  <a:lnTo>
                    <a:pt x="67" y="134"/>
                  </a:lnTo>
                  <a:lnTo>
                    <a:pt x="58" y="145"/>
                  </a:lnTo>
                  <a:lnTo>
                    <a:pt x="50" y="160"/>
                  </a:lnTo>
                  <a:lnTo>
                    <a:pt x="41" y="172"/>
                  </a:lnTo>
                  <a:lnTo>
                    <a:pt x="35" y="187"/>
                  </a:lnTo>
                  <a:lnTo>
                    <a:pt x="27" y="201"/>
                  </a:lnTo>
                  <a:lnTo>
                    <a:pt x="24" y="215"/>
                  </a:lnTo>
                  <a:lnTo>
                    <a:pt x="18" y="230"/>
                  </a:lnTo>
                  <a:lnTo>
                    <a:pt x="12" y="245"/>
                  </a:lnTo>
                  <a:lnTo>
                    <a:pt x="9" y="262"/>
                  </a:lnTo>
                  <a:lnTo>
                    <a:pt x="6" y="277"/>
                  </a:lnTo>
                  <a:lnTo>
                    <a:pt x="3" y="292"/>
                  </a:lnTo>
                  <a:lnTo>
                    <a:pt x="3" y="308"/>
                  </a:lnTo>
                  <a:lnTo>
                    <a:pt x="3" y="326"/>
                  </a:lnTo>
                  <a:lnTo>
                    <a:pt x="0" y="326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3" name="Freeform 137">
              <a:extLst>
                <a:ext uri="{FF2B5EF4-FFF2-40B4-BE49-F238E27FC236}">
                  <a16:creationId xmlns:a16="http://schemas.microsoft.com/office/drawing/2014/main" id="{5ABB7BFB-285E-4033-A608-D1C3AC76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802"/>
              <a:ext cx="656" cy="324"/>
            </a:xfrm>
            <a:custGeom>
              <a:avLst/>
              <a:gdLst>
                <a:gd name="T0" fmla="*/ 0 w 656"/>
                <a:gd name="T1" fmla="*/ 32 h 324"/>
                <a:gd name="T2" fmla="*/ 9 w 656"/>
                <a:gd name="T3" fmla="*/ 81 h 324"/>
                <a:gd name="T4" fmla="*/ 24 w 656"/>
                <a:gd name="T5" fmla="*/ 126 h 324"/>
                <a:gd name="T6" fmla="*/ 47 w 656"/>
                <a:gd name="T7" fmla="*/ 169 h 324"/>
                <a:gd name="T8" fmla="*/ 73 w 656"/>
                <a:gd name="T9" fmla="*/ 207 h 324"/>
                <a:gd name="T10" fmla="*/ 106 w 656"/>
                <a:gd name="T11" fmla="*/ 239 h 324"/>
                <a:gd name="T12" fmla="*/ 144 w 656"/>
                <a:gd name="T13" fmla="*/ 268 h 324"/>
                <a:gd name="T14" fmla="*/ 185 w 656"/>
                <a:gd name="T15" fmla="*/ 292 h 324"/>
                <a:gd name="T16" fmla="*/ 229 w 656"/>
                <a:gd name="T17" fmla="*/ 309 h 324"/>
                <a:gd name="T18" fmla="*/ 276 w 656"/>
                <a:gd name="T19" fmla="*/ 320 h 324"/>
                <a:gd name="T20" fmla="*/ 326 w 656"/>
                <a:gd name="T21" fmla="*/ 323 h 324"/>
                <a:gd name="T22" fmla="*/ 376 w 656"/>
                <a:gd name="T23" fmla="*/ 320 h 324"/>
                <a:gd name="T24" fmla="*/ 423 w 656"/>
                <a:gd name="T25" fmla="*/ 309 h 324"/>
                <a:gd name="T26" fmla="*/ 467 w 656"/>
                <a:gd name="T27" fmla="*/ 292 h 324"/>
                <a:gd name="T28" fmla="*/ 508 w 656"/>
                <a:gd name="T29" fmla="*/ 268 h 324"/>
                <a:gd name="T30" fmla="*/ 546 w 656"/>
                <a:gd name="T31" fmla="*/ 239 h 324"/>
                <a:gd name="T32" fmla="*/ 579 w 656"/>
                <a:gd name="T33" fmla="*/ 207 h 324"/>
                <a:gd name="T34" fmla="*/ 608 w 656"/>
                <a:gd name="T35" fmla="*/ 169 h 324"/>
                <a:gd name="T36" fmla="*/ 628 w 656"/>
                <a:gd name="T37" fmla="*/ 126 h 324"/>
                <a:gd name="T38" fmla="*/ 643 w 656"/>
                <a:gd name="T39" fmla="*/ 81 h 324"/>
                <a:gd name="T40" fmla="*/ 652 w 656"/>
                <a:gd name="T41" fmla="*/ 32 h 324"/>
                <a:gd name="T42" fmla="*/ 652 w 656"/>
                <a:gd name="T43" fmla="*/ 0 h 324"/>
                <a:gd name="T44" fmla="*/ 646 w 656"/>
                <a:gd name="T45" fmla="*/ 50 h 324"/>
                <a:gd name="T46" fmla="*/ 637 w 656"/>
                <a:gd name="T47" fmla="*/ 96 h 324"/>
                <a:gd name="T48" fmla="*/ 619 w 656"/>
                <a:gd name="T49" fmla="*/ 140 h 324"/>
                <a:gd name="T50" fmla="*/ 597 w 656"/>
                <a:gd name="T51" fmla="*/ 181 h 324"/>
                <a:gd name="T52" fmla="*/ 567 w 656"/>
                <a:gd name="T53" fmla="*/ 216 h 324"/>
                <a:gd name="T54" fmla="*/ 531 w 656"/>
                <a:gd name="T55" fmla="*/ 247 h 324"/>
                <a:gd name="T56" fmla="*/ 493 w 656"/>
                <a:gd name="T57" fmla="*/ 274 h 324"/>
                <a:gd name="T58" fmla="*/ 452 w 656"/>
                <a:gd name="T59" fmla="*/ 297 h 324"/>
                <a:gd name="T60" fmla="*/ 408 w 656"/>
                <a:gd name="T61" fmla="*/ 312 h 324"/>
                <a:gd name="T62" fmla="*/ 362 w 656"/>
                <a:gd name="T63" fmla="*/ 320 h 324"/>
                <a:gd name="T64" fmla="*/ 311 w 656"/>
                <a:gd name="T65" fmla="*/ 320 h 324"/>
                <a:gd name="T66" fmla="*/ 262 w 656"/>
                <a:gd name="T67" fmla="*/ 315 h 324"/>
                <a:gd name="T68" fmla="*/ 214 w 656"/>
                <a:gd name="T69" fmla="*/ 303 h 324"/>
                <a:gd name="T70" fmla="*/ 173 w 656"/>
                <a:gd name="T71" fmla="*/ 283 h 324"/>
                <a:gd name="T72" fmla="*/ 132 w 656"/>
                <a:gd name="T73" fmla="*/ 256 h 324"/>
                <a:gd name="T74" fmla="*/ 97 w 656"/>
                <a:gd name="T75" fmla="*/ 228 h 324"/>
                <a:gd name="T76" fmla="*/ 67 w 656"/>
                <a:gd name="T77" fmla="*/ 192 h 324"/>
                <a:gd name="T78" fmla="*/ 41 w 656"/>
                <a:gd name="T79" fmla="*/ 151 h 324"/>
                <a:gd name="T80" fmla="*/ 24 w 656"/>
                <a:gd name="T81" fmla="*/ 111 h 324"/>
                <a:gd name="T82" fmla="*/ 9 w 656"/>
                <a:gd name="T83" fmla="*/ 64 h 324"/>
                <a:gd name="T84" fmla="*/ 3 w 656"/>
                <a:gd name="T85" fmla="*/ 1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6"/>
                <a:gd name="T130" fmla="*/ 0 h 324"/>
                <a:gd name="T131" fmla="*/ 656 w 656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6" h="324">
                  <a:moveTo>
                    <a:pt x="0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81"/>
                  </a:lnTo>
                  <a:lnTo>
                    <a:pt x="15" y="96"/>
                  </a:lnTo>
                  <a:lnTo>
                    <a:pt x="18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4"/>
                  </a:lnTo>
                  <a:lnTo>
                    <a:pt x="47" y="169"/>
                  </a:lnTo>
                  <a:lnTo>
                    <a:pt x="55" y="181"/>
                  </a:lnTo>
                  <a:lnTo>
                    <a:pt x="64" y="195"/>
                  </a:lnTo>
                  <a:lnTo>
                    <a:pt x="73" y="207"/>
                  </a:lnTo>
                  <a:lnTo>
                    <a:pt x="85" y="219"/>
                  </a:lnTo>
                  <a:lnTo>
                    <a:pt x="94" y="231"/>
                  </a:lnTo>
                  <a:lnTo>
                    <a:pt x="106" y="239"/>
                  </a:lnTo>
                  <a:lnTo>
                    <a:pt x="117" y="250"/>
                  </a:lnTo>
                  <a:lnTo>
                    <a:pt x="129" y="259"/>
                  </a:lnTo>
                  <a:lnTo>
                    <a:pt x="144" y="268"/>
                  </a:lnTo>
                  <a:lnTo>
                    <a:pt x="156" y="277"/>
                  </a:lnTo>
                  <a:lnTo>
                    <a:pt x="170" y="286"/>
                  </a:lnTo>
                  <a:lnTo>
                    <a:pt x="185" y="292"/>
                  </a:lnTo>
                  <a:lnTo>
                    <a:pt x="199" y="300"/>
                  </a:lnTo>
                  <a:lnTo>
                    <a:pt x="214" y="306"/>
                  </a:lnTo>
                  <a:lnTo>
                    <a:pt x="229" y="309"/>
                  </a:lnTo>
                  <a:lnTo>
                    <a:pt x="244" y="315"/>
                  </a:lnTo>
                  <a:lnTo>
                    <a:pt x="262" y="317"/>
                  </a:lnTo>
                  <a:lnTo>
                    <a:pt x="276" y="320"/>
                  </a:lnTo>
                  <a:lnTo>
                    <a:pt x="293" y="323"/>
                  </a:lnTo>
                  <a:lnTo>
                    <a:pt x="308" y="323"/>
                  </a:lnTo>
                  <a:lnTo>
                    <a:pt x="326" y="323"/>
                  </a:lnTo>
                  <a:lnTo>
                    <a:pt x="344" y="323"/>
                  </a:lnTo>
                  <a:lnTo>
                    <a:pt x="362" y="323"/>
                  </a:lnTo>
                  <a:lnTo>
                    <a:pt x="376" y="320"/>
                  </a:lnTo>
                  <a:lnTo>
                    <a:pt x="393" y="317"/>
                  </a:lnTo>
                  <a:lnTo>
                    <a:pt x="408" y="315"/>
                  </a:lnTo>
                  <a:lnTo>
                    <a:pt x="423" y="309"/>
                  </a:lnTo>
                  <a:lnTo>
                    <a:pt x="441" y="306"/>
                  </a:lnTo>
                  <a:lnTo>
                    <a:pt x="455" y="300"/>
                  </a:lnTo>
                  <a:lnTo>
                    <a:pt x="467" y="292"/>
                  </a:lnTo>
                  <a:lnTo>
                    <a:pt x="482" y="286"/>
                  </a:lnTo>
                  <a:lnTo>
                    <a:pt x="496" y="277"/>
                  </a:lnTo>
                  <a:lnTo>
                    <a:pt x="508" y="268"/>
                  </a:lnTo>
                  <a:lnTo>
                    <a:pt x="523" y="259"/>
                  </a:lnTo>
                  <a:lnTo>
                    <a:pt x="534" y="250"/>
                  </a:lnTo>
                  <a:lnTo>
                    <a:pt x="546" y="239"/>
                  </a:lnTo>
                  <a:lnTo>
                    <a:pt x="558" y="231"/>
                  </a:lnTo>
                  <a:lnTo>
                    <a:pt x="570" y="219"/>
                  </a:lnTo>
                  <a:lnTo>
                    <a:pt x="579" y="207"/>
                  </a:lnTo>
                  <a:lnTo>
                    <a:pt x="591" y="195"/>
                  </a:lnTo>
                  <a:lnTo>
                    <a:pt x="600" y="181"/>
                  </a:lnTo>
                  <a:lnTo>
                    <a:pt x="608" y="169"/>
                  </a:lnTo>
                  <a:lnTo>
                    <a:pt x="614" y="154"/>
                  </a:lnTo>
                  <a:lnTo>
                    <a:pt x="622" y="140"/>
                  </a:lnTo>
                  <a:lnTo>
                    <a:pt x="628" y="126"/>
                  </a:lnTo>
                  <a:lnTo>
                    <a:pt x="634" y="111"/>
                  </a:lnTo>
                  <a:lnTo>
                    <a:pt x="640" y="96"/>
                  </a:lnTo>
                  <a:lnTo>
                    <a:pt x="643" y="81"/>
                  </a:lnTo>
                  <a:lnTo>
                    <a:pt x="646" y="64"/>
                  </a:lnTo>
                  <a:lnTo>
                    <a:pt x="649" y="50"/>
                  </a:lnTo>
                  <a:lnTo>
                    <a:pt x="652" y="32"/>
                  </a:lnTo>
                  <a:lnTo>
                    <a:pt x="655" y="18"/>
                  </a:lnTo>
                  <a:lnTo>
                    <a:pt x="655" y="0"/>
                  </a:lnTo>
                  <a:lnTo>
                    <a:pt x="652" y="0"/>
                  </a:lnTo>
                  <a:lnTo>
                    <a:pt x="649" y="15"/>
                  </a:lnTo>
                  <a:lnTo>
                    <a:pt x="649" y="32"/>
                  </a:lnTo>
                  <a:lnTo>
                    <a:pt x="646" y="50"/>
                  </a:lnTo>
                  <a:lnTo>
                    <a:pt x="643" y="64"/>
                  </a:lnTo>
                  <a:lnTo>
                    <a:pt x="640" y="79"/>
                  </a:lnTo>
                  <a:lnTo>
                    <a:pt x="637" y="96"/>
                  </a:lnTo>
                  <a:lnTo>
                    <a:pt x="631" y="111"/>
                  </a:lnTo>
                  <a:lnTo>
                    <a:pt x="625" y="126"/>
                  </a:lnTo>
                  <a:lnTo>
                    <a:pt x="619" y="140"/>
                  </a:lnTo>
                  <a:lnTo>
                    <a:pt x="611" y="151"/>
                  </a:lnTo>
                  <a:lnTo>
                    <a:pt x="605" y="166"/>
                  </a:lnTo>
                  <a:lnTo>
                    <a:pt x="597" y="181"/>
                  </a:lnTo>
                  <a:lnTo>
                    <a:pt x="588" y="192"/>
                  </a:lnTo>
                  <a:lnTo>
                    <a:pt x="576" y="204"/>
                  </a:lnTo>
                  <a:lnTo>
                    <a:pt x="567" y="216"/>
                  </a:lnTo>
                  <a:lnTo>
                    <a:pt x="555" y="228"/>
                  </a:lnTo>
                  <a:lnTo>
                    <a:pt x="543" y="239"/>
                  </a:lnTo>
                  <a:lnTo>
                    <a:pt x="531" y="247"/>
                  </a:lnTo>
                  <a:lnTo>
                    <a:pt x="520" y="256"/>
                  </a:lnTo>
                  <a:lnTo>
                    <a:pt x="508" y="265"/>
                  </a:lnTo>
                  <a:lnTo>
                    <a:pt x="493" y="274"/>
                  </a:lnTo>
                  <a:lnTo>
                    <a:pt x="482" y="283"/>
                  </a:lnTo>
                  <a:lnTo>
                    <a:pt x="467" y="289"/>
                  </a:lnTo>
                  <a:lnTo>
                    <a:pt x="452" y="297"/>
                  </a:lnTo>
                  <a:lnTo>
                    <a:pt x="438" y="303"/>
                  </a:lnTo>
                  <a:lnTo>
                    <a:pt x="423" y="306"/>
                  </a:lnTo>
                  <a:lnTo>
                    <a:pt x="408" y="312"/>
                  </a:lnTo>
                  <a:lnTo>
                    <a:pt x="390" y="315"/>
                  </a:lnTo>
                  <a:lnTo>
                    <a:pt x="376" y="317"/>
                  </a:lnTo>
                  <a:lnTo>
                    <a:pt x="362" y="320"/>
                  </a:lnTo>
                  <a:lnTo>
                    <a:pt x="344" y="320"/>
                  </a:lnTo>
                  <a:lnTo>
                    <a:pt x="326" y="320"/>
                  </a:lnTo>
                  <a:lnTo>
                    <a:pt x="311" y="320"/>
                  </a:lnTo>
                  <a:lnTo>
                    <a:pt x="293" y="320"/>
                  </a:lnTo>
                  <a:lnTo>
                    <a:pt x="276" y="317"/>
                  </a:lnTo>
                  <a:lnTo>
                    <a:pt x="262" y="315"/>
                  </a:lnTo>
                  <a:lnTo>
                    <a:pt x="247" y="312"/>
                  </a:lnTo>
                  <a:lnTo>
                    <a:pt x="229" y="306"/>
                  </a:lnTo>
                  <a:lnTo>
                    <a:pt x="214" y="303"/>
                  </a:lnTo>
                  <a:lnTo>
                    <a:pt x="199" y="297"/>
                  </a:lnTo>
                  <a:lnTo>
                    <a:pt x="185" y="289"/>
                  </a:lnTo>
                  <a:lnTo>
                    <a:pt x="173" y="283"/>
                  </a:lnTo>
                  <a:lnTo>
                    <a:pt x="159" y="274"/>
                  </a:lnTo>
                  <a:lnTo>
                    <a:pt x="147" y="265"/>
                  </a:lnTo>
                  <a:lnTo>
                    <a:pt x="132" y="256"/>
                  </a:lnTo>
                  <a:lnTo>
                    <a:pt x="120" y="247"/>
                  </a:lnTo>
                  <a:lnTo>
                    <a:pt x="109" y="239"/>
                  </a:lnTo>
                  <a:lnTo>
                    <a:pt x="97" y="228"/>
                  </a:lnTo>
                  <a:lnTo>
                    <a:pt x="85" y="216"/>
                  </a:lnTo>
                  <a:lnTo>
                    <a:pt x="76" y="204"/>
                  </a:lnTo>
                  <a:lnTo>
                    <a:pt x="67" y="192"/>
                  </a:lnTo>
                  <a:lnTo>
                    <a:pt x="58" y="181"/>
                  </a:lnTo>
                  <a:lnTo>
                    <a:pt x="50" y="166"/>
                  </a:lnTo>
                  <a:lnTo>
                    <a:pt x="41" y="151"/>
                  </a:lnTo>
                  <a:lnTo>
                    <a:pt x="35" y="140"/>
                  </a:lnTo>
                  <a:lnTo>
                    <a:pt x="27" y="126"/>
                  </a:lnTo>
                  <a:lnTo>
                    <a:pt x="24" y="111"/>
                  </a:lnTo>
                  <a:lnTo>
                    <a:pt x="18" y="96"/>
                  </a:lnTo>
                  <a:lnTo>
                    <a:pt x="12" y="79"/>
                  </a:lnTo>
                  <a:lnTo>
                    <a:pt x="9" y="64"/>
                  </a:lnTo>
                  <a:lnTo>
                    <a:pt x="6" y="50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4" name="Freeform 138">
              <a:extLst>
                <a:ext uri="{FF2B5EF4-FFF2-40B4-BE49-F238E27FC236}">
                  <a16:creationId xmlns:a16="http://schemas.microsoft.com/office/drawing/2014/main" id="{16EFF6E0-4660-4C5E-A72E-614D15A89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473"/>
              <a:ext cx="650" cy="324"/>
            </a:xfrm>
            <a:custGeom>
              <a:avLst/>
              <a:gdLst>
                <a:gd name="T0" fmla="*/ 0 w 650"/>
                <a:gd name="T1" fmla="*/ 289 h 324"/>
                <a:gd name="T2" fmla="*/ 9 w 650"/>
                <a:gd name="T3" fmla="*/ 242 h 324"/>
                <a:gd name="T4" fmla="*/ 24 w 650"/>
                <a:gd name="T5" fmla="*/ 198 h 324"/>
                <a:gd name="T6" fmla="*/ 47 w 650"/>
                <a:gd name="T7" fmla="*/ 157 h 324"/>
                <a:gd name="T8" fmla="*/ 73 w 650"/>
                <a:gd name="T9" fmla="*/ 117 h 324"/>
                <a:gd name="T10" fmla="*/ 106 w 650"/>
                <a:gd name="T11" fmla="*/ 84 h 324"/>
                <a:gd name="T12" fmla="*/ 144 w 650"/>
                <a:gd name="T13" fmla="*/ 55 h 324"/>
                <a:gd name="T14" fmla="*/ 182 w 650"/>
                <a:gd name="T15" fmla="*/ 32 h 324"/>
                <a:gd name="T16" fmla="*/ 226 w 650"/>
                <a:gd name="T17" fmla="*/ 15 h 324"/>
                <a:gd name="T18" fmla="*/ 273 w 650"/>
                <a:gd name="T19" fmla="*/ 6 h 324"/>
                <a:gd name="T20" fmla="*/ 323 w 650"/>
                <a:gd name="T21" fmla="*/ 0 h 324"/>
                <a:gd name="T22" fmla="*/ 373 w 650"/>
                <a:gd name="T23" fmla="*/ 6 h 324"/>
                <a:gd name="T24" fmla="*/ 420 w 650"/>
                <a:gd name="T25" fmla="*/ 15 h 324"/>
                <a:gd name="T26" fmla="*/ 464 w 650"/>
                <a:gd name="T27" fmla="*/ 32 h 324"/>
                <a:gd name="T28" fmla="*/ 505 w 650"/>
                <a:gd name="T29" fmla="*/ 55 h 324"/>
                <a:gd name="T30" fmla="*/ 540 w 650"/>
                <a:gd name="T31" fmla="*/ 84 h 324"/>
                <a:gd name="T32" fmla="*/ 573 w 650"/>
                <a:gd name="T33" fmla="*/ 117 h 324"/>
                <a:gd name="T34" fmla="*/ 602 w 650"/>
                <a:gd name="T35" fmla="*/ 157 h 324"/>
                <a:gd name="T36" fmla="*/ 622 w 650"/>
                <a:gd name="T37" fmla="*/ 198 h 324"/>
                <a:gd name="T38" fmla="*/ 637 w 650"/>
                <a:gd name="T39" fmla="*/ 242 h 324"/>
                <a:gd name="T40" fmla="*/ 646 w 650"/>
                <a:gd name="T41" fmla="*/ 289 h 324"/>
                <a:gd name="T42" fmla="*/ 637 w 650"/>
                <a:gd name="T43" fmla="*/ 323 h 324"/>
                <a:gd name="T44" fmla="*/ 634 w 650"/>
                <a:gd name="T45" fmla="*/ 274 h 324"/>
                <a:gd name="T46" fmla="*/ 625 w 650"/>
                <a:gd name="T47" fmla="*/ 230 h 324"/>
                <a:gd name="T48" fmla="*/ 608 w 650"/>
                <a:gd name="T49" fmla="*/ 187 h 324"/>
                <a:gd name="T50" fmla="*/ 585 w 650"/>
                <a:gd name="T51" fmla="*/ 148 h 324"/>
                <a:gd name="T52" fmla="*/ 555 w 650"/>
                <a:gd name="T53" fmla="*/ 114 h 324"/>
                <a:gd name="T54" fmla="*/ 523 w 650"/>
                <a:gd name="T55" fmla="*/ 81 h 324"/>
                <a:gd name="T56" fmla="*/ 487 w 650"/>
                <a:gd name="T57" fmla="*/ 55 h 324"/>
                <a:gd name="T58" fmla="*/ 446 w 650"/>
                <a:gd name="T59" fmla="*/ 35 h 324"/>
                <a:gd name="T60" fmla="*/ 402 w 650"/>
                <a:gd name="T61" fmla="*/ 21 h 324"/>
                <a:gd name="T62" fmla="*/ 356 w 650"/>
                <a:gd name="T63" fmla="*/ 12 h 324"/>
                <a:gd name="T64" fmla="*/ 308 w 650"/>
                <a:gd name="T65" fmla="*/ 12 h 324"/>
                <a:gd name="T66" fmla="*/ 262 w 650"/>
                <a:gd name="T67" fmla="*/ 18 h 324"/>
                <a:gd name="T68" fmla="*/ 214 w 650"/>
                <a:gd name="T69" fmla="*/ 29 h 324"/>
                <a:gd name="T70" fmla="*/ 173 w 650"/>
                <a:gd name="T71" fmla="*/ 46 h 324"/>
                <a:gd name="T72" fmla="*/ 135 w 650"/>
                <a:gd name="T73" fmla="*/ 73 h 324"/>
                <a:gd name="T74" fmla="*/ 100 w 650"/>
                <a:gd name="T75" fmla="*/ 102 h 324"/>
                <a:gd name="T76" fmla="*/ 70 w 650"/>
                <a:gd name="T77" fmla="*/ 136 h 324"/>
                <a:gd name="T78" fmla="*/ 47 w 650"/>
                <a:gd name="T79" fmla="*/ 175 h 324"/>
                <a:gd name="T80" fmla="*/ 27 w 650"/>
                <a:gd name="T81" fmla="*/ 215 h 324"/>
                <a:gd name="T82" fmla="*/ 15 w 650"/>
                <a:gd name="T83" fmla="*/ 259 h 324"/>
                <a:gd name="T84" fmla="*/ 9 w 650"/>
                <a:gd name="T85" fmla="*/ 30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0"/>
                <a:gd name="T130" fmla="*/ 0 h 324"/>
                <a:gd name="T131" fmla="*/ 650 w 650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0" h="324">
                  <a:moveTo>
                    <a:pt x="0" y="323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3" y="274"/>
                  </a:lnTo>
                  <a:lnTo>
                    <a:pt x="6" y="259"/>
                  </a:lnTo>
                  <a:lnTo>
                    <a:pt x="9" y="242"/>
                  </a:lnTo>
                  <a:lnTo>
                    <a:pt x="15" y="227"/>
                  </a:lnTo>
                  <a:lnTo>
                    <a:pt x="21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69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17"/>
                  </a:lnTo>
                  <a:lnTo>
                    <a:pt x="82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2" y="32"/>
                  </a:lnTo>
                  <a:lnTo>
                    <a:pt x="196" y="27"/>
                  </a:lnTo>
                  <a:lnTo>
                    <a:pt x="211" y="21"/>
                  </a:lnTo>
                  <a:lnTo>
                    <a:pt x="226" y="15"/>
                  </a:lnTo>
                  <a:lnTo>
                    <a:pt x="244" y="12"/>
                  </a:lnTo>
                  <a:lnTo>
                    <a:pt x="259" y="9"/>
                  </a:lnTo>
                  <a:lnTo>
                    <a:pt x="273" y="6"/>
                  </a:lnTo>
                  <a:lnTo>
                    <a:pt x="290" y="3"/>
                  </a:lnTo>
                  <a:lnTo>
                    <a:pt x="308" y="0"/>
                  </a:lnTo>
                  <a:lnTo>
                    <a:pt x="323" y="0"/>
                  </a:lnTo>
                  <a:lnTo>
                    <a:pt x="341" y="0"/>
                  </a:lnTo>
                  <a:lnTo>
                    <a:pt x="359" y="3"/>
                  </a:lnTo>
                  <a:lnTo>
                    <a:pt x="373" y="6"/>
                  </a:lnTo>
                  <a:lnTo>
                    <a:pt x="387" y="9"/>
                  </a:lnTo>
                  <a:lnTo>
                    <a:pt x="405" y="12"/>
                  </a:lnTo>
                  <a:lnTo>
                    <a:pt x="420" y="15"/>
                  </a:lnTo>
                  <a:lnTo>
                    <a:pt x="435" y="21"/>
                  </a:lnTo>
                  <a:lnTo>
                    <a:pt x="449" y="27"/>
                  </a:lnTo>
                  <a:lnTo>
                    <a:pt x="464" y="32"/>
                  </a:lnTo>
                  <a:lnTo>
                    <a:pt x="479" y="40"/>
                  </a:lnTo>
                  <a:lnTo>
                    <a:pt x="490" y="46"/>
                  </a:lnTo>
                  <a:lnTo>
                    <a:pt x="505" y="55"/>
                  </a:lnTo>
                  <a:lnTo>
                    <a:pt x="517" y="64"/>
                  </a:lnTo>
                  <a:lnTo>
                    <a:pt x="528" y="76"/>
                  </a:lnTo>
                  <a:lnTo>
                    <a:pt x="540" y="84"/>
                  </a:lnTo>
                  <a:lnTo>
                    <a:pt x="552" y="96"/>
                  </a:lnTo>
                  <a:lnTo>
                    <a:pt x="564" y="108"/>
                  </a:lnTo>
                  <a:lnTo>
                    <a:pt x="573" y="117"/>
                  </a:lnTo>
                  <a:lnTo>
                    <a:pt x="585" y="131"/>
                  </a:lnTo>
                  <a:lnTo>
                    <a:pt x="594" y="142"/>
                  </a:lnTo>
                  <a:lnTo>
                    <a:pt x="602" y="157"/>
                  </a:lnTo>
                  <a:lnTo>
                    <a:pt x="608" y="169"/>
                  </a:lnTo>
                  <a:lnTo>
                    <a:pt x="616" y="184"/>
                  </a:lnTo>
                  <a:lnTo>
                    <a:pt x="622" y="198"/>
                  </a:lnTo>
                  <a:lnTo>
                    <a:pt x="628" y="212"/>
                  </a:lnTo>
                  <a:lnTo>
                    <a:pt x="634" y="227"/>
                  </a:lnTo>
                  <a:lnTo>
                    <a:pt x="637" y="242"/>
                  </a:lnTo>
                  <a:lnTo>
                    <a:pt x="640" y="259"/>
                  </a:lnTo>
                  <a:lnTo>
                    <a:pt x="643" y="274"/>
                  </a:lnTo>
                  <a:lnTo>
                    <a:pt x="646" y="289"/>
                  </a:lnTo>
                  <a:lnTo>
                    <a:pt x="646" y="305"/>
                  </a:lnTo>
                  <a:lnTo>
                    <a:pt x="649" y="323"/>
                  </a:lnTo>
                  <a:lnTo>
                    <a:pt x="637" y="323"/>
                  </a:lnTo>
                  <a:lnTo>
                    <a:pt x="637" y="305"/>
                  </a:lnTo>
                  <a:lnTo>
                    <a:pt x="637" y="292"/>
                  </a:lnTo>
                  <a:lnTo>
                    <a:pt x="634" y="274"/>
                  </a:lnTo>
                  <a:lnTo>
                    <a:pt x="631" y="259"/>
                  </a:lnTo>
                  <a:lnTo>
                    <a:pt x="628" y="244"/>
                  </a:lnTo>
                  <a:lnTo>
                    <a:pt x="625" y="230"/>
                  </a:lnTo>
                  <a:lnTo>
                    <a:pt x="619" y="215"/>
                  </a:lnTo>
                  <a:lnTo>
                    <a:pt x="613" y="201"/>
                  </a:lnTo>
                  <a:lnTo>
                    <a:pt x="608" y="187"/>
                  </a:lnTo>
                  <a:lnTo>
                    <a:pt x="599" y="175"/>
                  </a:lnTo>
                  <a:lnTo>
                    <a:pt x="594" y="160"/>
                  </a:lnTo>
                  <a:lnTo>
                    <a:pt x="585" y="148"/>
                  </a:lnTo>
                  <a:lnTo>
                    <a:pt x="576" y="136"/>
                  </a:lnTo>
                  <a:lnTo>
                    <a:pt x="567" y="125"/>
                  </a:lnTo>
                  <a:lnTo>
                    <a:pt x="555" y="114"/>
                  </a:lnTo>
                  <a:lnTo>
                    <a:pt x="546" y="102"/>
                  </a:lnTo>
                  <a:lnTo>
                    <a:pt x="534" y="90"/>
                  </a:lnTo>
                  <a:lnTo>
                    <a:pt x="523" y="81"/>
                  </a:lnTo>
                  <a:lnTo>
                    <a:pt x="511" y="73"/>
                  </a:lnTo>
                  <a:lnTo>
                    <a:pt x="499" y="64"/>
                  </a:lnTo>
                  <a:lnTo>
                    <a:pt x="487" y="55"/>
                  </a:lnTo>
                  <a:lnTo>
                    <a:pt x="473" y="46"/>
                  </a:lnTo>
                  <a:lnTo>
                    <a:pt x="461" y="40"/>
                  </a:lnTo>
                  <a:lnTo>
                    <a:pt x="446" y="35"/>
                  </a:lnTo>
                  <a:lnTo>
                    <a:pt x="432" y="29"/>
                  </a:lnTo>
                  <a:lnTo>
                    <a:pt x="417" y="24"/>
                  </a:lnTo>
                  <a:lnTo>
                    <a:pt x="402" y="21"/>
                  </a:lnTo>
                  <a:lnTo>
                    <a:pt x="387" y="18"/>
                  </a:lnTo>
                  <a:lnTo>
                    <a:pt x="373" y="15"/>
                  </a:lnTo>
                  <a:lnTo>
                    <a:pt x="356" y="12"/>
                  </a:lnTo>
                  <a:lnTo>
                    <a:pt x="341" y="12"/>
                  </a:lnTo>
                  <a:lnTo>
                    <a:pt x="323" y="9"/>
                  </a:lnTo>
                  <a:lnTo>
                    <a:pt x="308" y="12"/>
                  </a:lnTo>
                  <a:lnTo>
                    <a:pt x="290" y="12"/>
                  </a:lnTo>
                  <a:lnTo>
                    <a:pt x="276" y="15"/>
                  </a:lnTo>
                  <a:lnTo>
                    <a:pt x="262" y="18"/>
                  </a:lnTo>
                  <a:lnTo>
                    <a:pt x="244" y="21"/>
                  </a:lnTo>
                  <a:lnTo>
                    <a:pt x="229" y="24"/>
                  </a:lnTo>
                  <a:lnTo>
                    <a:pt x="214" y="29"/>
                  </a:lnTo>
                  <a:lnTo>
                    <a:pt x="202" y="35"/>
                  </a:lnTo>
                  <a:lnTo>
                    <a:pt x="188" y="40"/>
                  </a:lnTo>
                  <a:lnTo>
                    <a:pt x="173" y="46"/>
                  </a:lnTo>
                  <a:lnTo>
                    <a:pt x="162" y="55"/>
                  </a:lnTo>
                  <a:lnTo>
                    <a:pt x="147" y="64"/>
                  </a:lnTo>
                  <a:lnTo>
                    <a:pt x="135" y="73"/>
                  </a:lnTo>
                  <a:lnTo>
                    <a:pt x="123" y="81"/>
                  </a:lnTo>
                  <a:lnTo>
                    <a:pt x="111" y="90"/>
                  </a:lnTo>
                  <a:lnTo>
                    <a:pt x="100" y="102"/>
                  </a:lnTo>
                  <a:lnTo>
                    <a:pt x="91" y="114"/>
                  </a:lnTo>
                  <a:lnTo>
                    <a:pt x="79" y="125"/>
                  </a:lnTo>
                  <a:lnTo>
                    <a:pt x="70" y="136"/>
                  </a:lnTo>
                  <a:lnTo>
                    <a:pt x="61" y="148"/>
                  </a:lnTo>
                  <a:lnTo>
                    <a:pt x="55" y="160"/>
                  </a:lnTo>
                  <a:lnTo>
                    <a:pt x="47" y="175"/>
                  </a:lnTo>
                  <a:lnTo>
                    <a:pt x="41" y="187"/>
                  </a:lnTo>
                  <a:lnTo>
                    <a:pt x="32" y="201"/>
                  </a:lnTo>
                  <a:lnTo>
                    <a:pt x="27" y="215"/>
                  </a:lnTo>
                  <a:lnTo>
                    <a:pt x="24" y="230"/>
                  </a:lnTo>
                  <a:lnTo>
                    <a:pt x="18" y="244"/>
                  </a:lnTo>
                  <a:lnTo>
                    <a:pt x="15" y="259"/>
                  </a:lnTo>
                  <a:lnTo>
                    <a:pt x="12" y="274"/>
                  </a:lnTo>
                  <a:lnTo>
                    <a:pt x="12" y="292"/>
                  </a:lnTo>
                  <a:lnTo>
                    <a:pt x="9" y="305"/>
                  </a:lnTo>
                  <a:lnTo>
                    <a:pt x="9" y="323"/>
                  </a:lnTo>
                  <a:lnTo>
                    <a:pt x="0" y="323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5" name="Freeform 139">
              <a:extLst>
                <a:ext uri="{FF2B5EF4-FFF2-40B4-BE49-F238E27FC236}">
                  <a16:creationId xmlns:a16="http://schemas.microsoft.com/office/drawing/2014/main" id="{001CAFF0-264B-4199-9DE7-B483BCE29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802"/>
              <a:ext cx="650" cy="321"/>
            </a:xfrm>
            <a:custGeom>
              <a:avLst/>
              <a:gdLst>
                <a:gd name="T0" fmla="*/ 0 w 650"/>
                <a:gd name="T1" fmla="*/ 15 h 321"/>
                <a:gd name="T2" fmla="*/ 6 w 650"/>
                <a:gd name="T3" fmla="*/ 64 h 321"/>
                <a:gd name="T4" fmla="*/ 21 w 650"/>
                <a:gd name="T5" fmla="*/ 111 h 321"/>
                <a:gd name="T6" fmla="*/ 38 w 650"/>
                <a:gd name="T7" fmla="*/ 151 h 321"/>
                <a:gd name="T8" fmla="*/ 64 w 650"/>
                <a:gd name="T9" fmla="*/ 192 h 321"/>
                <a:gd name="T10" fmla="*/ 94 w 650"/>
                <a:gd name="T11" fmla="*/ 228 h 321"/>
                <a:gd name="T12" fmla="*/ 129 w 650"/>
                <a:gd name="T13" fmla="*/ 256 h 321"/>
                <a:gd name="T14" fmla="*/ 170 w 650"/>
                <a:gd name="T15" fmla="*/ 283 h 321"/>
                <a:gd name="T16" fmla="*/ 211 w 650"/>
                <a:gd name="T17" fmla="*/ 303 h 321"/>
                <a:gd name="T18" fmla="*/ 259 w 650"/>
                <a:gd name="T19" fmla="*/ 315 h 321"/>
                <a:gd name="T20" fmla="*/ 308 w 650"/>
                <a:gd name="T21" fmla="*/ 320 h 321"/>
                <a:gd name="T22" fmla="*/ 359 w 650"/>
                <a:gd name="T23" fmla="*/ 320 h 321"/>
                <a:gd name="T24" fmla="*/ 405 w 650"/>
                <a:gd name="T25" fmla="*/ 312 h 321"/>
                <a:gd name="T26" fmla="*/ 449 w 650"/>
                <a:gd name="T27" fmla="*/ 297 h 321"/>
                <a:gd name="T28" fmla="*/ 490 w 650"/>
                <a:gd name="T29" fmla="*/ 274 h 321"/>
                <a:gd name="T30" fmla="*/ 528 w 650"/>
                <a:gd name="T31" fmla="*/ 247 h 321"/>
                <a:gd name="T32" fmla="*/ 564 w 650"/>
                <a:gd name="T33" fmla="*/ 216 h 321"/>
                <a:gd name="T34" fmla="*/ 594 w 650"/>
                <a:gd name="T35" fmla="*/ 181 h 321"/>
                <a:gd name="T36" fmla="*/ 616 w 650"/>
                <a:gd name="T37" fmla="*/ 140 h 321"/>
                <a:gd name="T38" fmla="*/ 634 w 650"/>
                <a:gd name="T39" fmla="*/ 96 h 321"/>
                <a:gd name="T40" fmla="*/ 643 w 650"/>
                <a:gd name="T41" fmla="*/ 50 h 321"/>
                <a:gd name="T42" fmla="*/ 649 w 650"/>
                <a:gd name="T43" fmla="*/ 0 h 321"/>
                <a:gd name="T44" fmla="*/ 637 w 650"/>
                <a:gd name="T45" fmla="*/ 32 h 321"/>
                <a:gd name="T46" fmla="*/ 628 w 650"/>
                <a:gd name="T47" fmla="*/ 79 h 321"/>
                <a:gd name="T48" fmla="*/ 613 w 650"/>
                <a:gd name="T49" fmla="*/ 123 h 321"/>
                <a:gd name="T50" fmla="*/ 594 w 650"/>
                <a:gd name="T51" fmla="*/ 160 h 321"/>
                <a:gd name="T52" fmla="*/ 567 w 650"/>
                <a:gd name="T53" fmla="*/ 198 h 321"/>
                <a:gd name="T54" fmla="*/ 534 w 650"/>
                <a:gd name="T55" fmla="*/ 231 h 321"/>
                <a:gd name="T56" fmla="*/ 499 w 650"/>
                <a:gd name="T57" fmla="*/ 259 h 321"/>
                <a:gd name="T58" fmla="*/ 461 w 650"/>
                <a:gd name="T59" fmla="*/ 283 h 321"/>
                <a:gd name="T60" fmla="*/ 417 w 650"/>
                <a:gd name="T61" fmla="*/ 297 h 321"/>
                <a:gd name="T62" fmla="*/ 373 w 650"/>
                <a:gd name="T63" fmla="*/ 309 h 321"/>
                <a:gd name="T64" fmla="*/ 323 w 650"/>
                <a:gd name="T65" fmla="*/ 312 h 321"/>
                <a:gd name="T66" fmla="*/ 276 w 650"/>
                <a:gd name="T67" fmla="*/ 309 h 321"/>
                <a:gd name="T68" fmla="*/ 229 w 650"/>
                <a:gd name="T69" fmla="*/ 297 h 321"/>
                <a:gd name="T70" fmla="*/ 188 w 650"/>
                <a:gd name="T71" fmla="*/ 283 h 321"/>
                <a:gd name="T72" fmla="*/ 147 w 650"/>
                <a:gd name="T73" fmla="*/ 259 h 321"/>
                <a:gd name="T74" fmla="*/ 111 w 650"/>
                <a:gd name="T75" fmla="*/ 231 h 321"/>
                <a:gd name="T76" fmla="*/ 79 w 650"/>
                <a:gd name="T77" fmla="*/ 198 h 321"/>
                <a:gd name="T78" fmla="*/ 55 w 650"/>
                <a:gd name="T79" fmla="*/ 160 h 321"/>
                <a:gd name="T80" fmla="*/ 32 w 650"/>
                <a:gd name="T81" fmla="*/ 123 h 321"/>
                <a:gd name="T82" fmla="*/ 18 w 650"/>
                <a:gd name="T83" fmla="*/ 79 h 321"/>
                <a:gd name="T84" fmla="*/ 12 w 650"/>
                <a:gd name="T85" fmla="*/ 32 h 321"/>
                <a:gd name="T86" fmla="*/ 0 w 650"/>
                <a:gd name="T87" fmla="*/ 0 h 3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0"/>
                <a:gd name="T133" fmla="*/ 0 h 321"/>
                <a:gd name="T134" fmla="*/ 650 w 650"/>
                <a:gd name="T135" fmla="*/ 321 h 3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0" h="321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79"/>
                  </a:lnTo>
                  <a:lnTo>
                    <a:pt x="15" y="96"/>
                  </a:lnTo>
                  <a:lnTo>
                    <a:pt x="21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1"/>
                  </a:lnTo>
                  <a:lnTo>
                    <a:pt x="47" y="166"/>
                  </a:lnTo>
                  <a:lnTo>
                    <a:pt x="55" y="181"/>
                  </a:lnTo>
                  <a:lnTo>
                    <a:pt x="64" y="192"/>
                  </a:lnTo>
                  <a:lnTo>
                    <a:pt x="73" y="204"/>
                  </a:lnTo>
                  <a:lnTo>
                    <a:pt x="82" y="216"/>
                  </a:lnTo>
                  <a:lnTo>
                    <a:pt x="94" y="228"/>
                  </a:lnTo>
                  <a:lnTo>
                    <a:pt x="106" y="239"/>
                  </a:lnTo>
                  <a:lnTo>
                    <a:pt x="117" y="247"/>
                  </a:lnTo>
                  <a:lnTo>
                    <a:pt x="129" y="256"/>
                  </a:lnTo>
                  <a:lnTo>
                    <a:pt x="144" y="265"/>
                  </a:lnTo>
                  <a:lnTo>
                    <a:pt x="156" y="274"/>
                  </a:lnTo>
                  <a:lnTo>
                    <a:pt x="170" y="283"/>
                  </a:lnTo>
                  <a:lnTo>
                    <a:pt x="182" y="289"/>
                  </a:lnTo>
                  <a:lnTo>
                    <a:pt x="196" y="297"/>
                  </a:lnTo>
                  <a:lnTo>
                    <a:pt x="211" y="303"/>
                  </a:lnTo>
                  <a:lnTo>
                    <a:pt x="226" y="306"/>
                  </a:lnTo>
                  <a:lnTo>
                    <a:pt x="244" y="312"/>
                  </a:lnTo>
                  <a:lnTo>
                    <a:pt x="259" y="315"/>
                  </a:lnTo>
                  <a:lnTo>
                    <a:pt x="273" y="317"/>
                  </a:lnTo>
                  <a:lnTo>
                    <a:pt x="290" y="320"/>
                  </a:lnTo>
                  <a:lnTo>
                    <a:pt x="308" y="320"/>
                  </a:lnTo>
                  <a:lnTo>
                    <a:pt x="323" y="320"/>
                  </a:lnTo>
                  <a:lnTo>
                    <a:pt x="341" y="320"/>
                  </a:lnTo>
                  <a:lnTo>
                    <a:pt x="359" y="320"/>
                  </a:lnTo>
                  <a:lnTo>
                    <a:pt x="373" y="317"/>
                  </a:lnTo>
                  <a:lnTo>
                    <a:pt x="387" y="315"/>
                  </a:lnTo>
                  <a:lnTo>
                    <a:pt x="405" y="312"/>
                  </a:lnTo>
                  <a:lnTo>
                    <a:pt x="420" y="306"/>
                  </a:lnTo>
                  <a:lnTo>
                    <a:pt x="435" y="303"/>
                  </a:lnTo>
                  <a:lnTo>
                    <a:pt x="449" y="297"/>
                  </a:lnTo>
                  <a:lnTo>
                    <a:pt x="464" y="289"/>
                  </a:lnTo>
                  <a:lnTo>
                    <a:pt x="479" y="283"/>
                  </a:lnTo>
                  <a:lnTo>
                    <a:pt x="490" y="274"/>
                  </a:lnTo>
                  <a:lnTo>
                    <a:pt x="505" y="265"/>
                  </a:lnTo>
                  <a:lnTo>
                    <a:pt x="517" y="256"/>
                  </a:lnTo>
                  <a:lnTo>
                    <a:pt x="528" y="247"/>
                  </a:lnTo>
                  <a:lnTo>
                    <a:pt x="540" y="239"/>
                  </a:lnTo>
                  <a:lnTo>
                    <a:pt x="552" y="228"/>
                  </a:lnTo>
                  <a:lnTo>
                    <a:pt x="564" y="216"/>
                  </a:lnTo>
                  <a:lnTo>
                    <a:pt x="573" y="204"/>
                  </a:lnTo>
                  <a:lnTo>
                    <a:pt x="585" y="192"/>
                  </a:lnTo>
                  <a:lnTo>
                    <a:pt x="594" y="181"/>
                  </a:lnTo>
                  <a:lnTo>
                    <a:pt x="602" y="166"/>
                  </a:lnTo>
                  <a:lnTo>
                    <a:pt x="608" y="151"/>
                  </a:lnTo>
                  <a:lnTo>
                    <a:pt x="616" y="140"/>
                  </a:lnTo>
                  <a:lnTo>
                    <a:pt x="622" y="126"/>
                  </a:lnTo>
                  <a:lnTo>
                    <a:pt x="628" y="111"/>
                  </a:lnTo>
                  <a:lnTo>
                    <a:pt x="634" y="96"/>
                  </a:lnTo>
                  <a:lnTo>
                    <a:pt x="637" y="79"/>
                  </a:lnTo>
                  <a:lnTo>
                    <a:pt x="640" y="64"/>
                  </a:lnTo>
                  <a:lnTo>
                    <a:pt x="643" y="50"/>
                  </a:lnTo>
                  <a:lnTo>
                    <a:pt x="646" y="32"/>
                  </a:lnTo>
                  <a:lnTo>
                    <a:pt x="646" y="15"/>
                  </a:lnTo>
                  <a:lnTo>
                    <a:pt x="649" y="0"/>
                  </a:lnTo>
                  <a:lnTo>
                    <a:pt x="637" y="0"/>
                  </a:lnTo>
                  <a:lnTo>
                    <a:pt x="637" y="15"/>
                  </a:lnTo>
                  <a:lnTo>
                    <a:pt x="637" y="32"/>
                  </a:lnTo>
                  <a:lnTo>
                    <a:pt x="634" y="47"/>
                  </a:lnTo>
                  <a:lnTo>
                    <a:pt x="631" y="61"/>
                  </a:lnTo>
                  <a:lnTo>
                    <a:pt x="628" y="79"/>
                  </a:lnTo>
                  <a:lnTo>
                    <a:pt x="625" y="93"/>
                  </a:lnTo>
                  <a:lnTo>
                    <a:pt x="619" y="108"/>
                  </a:lnTo>
                  <a:lnTo>
                    <a:pt x="613" y="123"/>
                  </a:lnTo>
                  <a:lnTo>
                    <a:pt x="608" y="134"/>
                  </a:lnTo>
                  <a:lnTo>
                    <a:pt x="599" y="148"/>
                  </a:lnTo>
                  <a:lnTo>
                    <a:pt x="594" y="160"/>
                  </a:lnTo>
                  <a:lnTo>
                    <a:pt x="585" y="175"/>
                  </a:lnTo>
                  <a:lnTo>
                    <a:pt x="576" y="187"/>
                  </a:lnTo>
                  <a:lnTo>
                    <a:pt x="567" y="198"/>
                  </a:lnTo>
                  <a:lnTo>
                    <a:pt x="555" y="210"/>
                  </a:lnTo>
                  <a:lnTo>
                    <a:pt x="546" y="222"/>
                  </a:lnTo>
                  <a:lnTo>
                    <a:pt x="534" y="231"/>
                  </a:lnTo>
                  <a:lnTo>
                    <a:pt x="523" y="241"/>
                  </a:lnTo>
                  <a:lnTo>
                    <a:pt x="511" y="250"/>
                  </a:lnTo>
                  <a:lnTo>
                    <a:pt x="499" y="259"/>
                  </a:lnTo>
                  <a:lnTo>
                    <a:pt x="487" y="268"/>
                  </a:lnTo>
                  <a:lnTo>
                    <a:pt x="473" y="274"/>
                  </a:lnTo>
                  <a:lnTo>
                    <a:pt x="461" y="283"/>
                  </a:lnTo>
                  <a:lnTo>
                    <a:pt x="446" y="289"/>
                  </a:lnTo>
                  <a:lnTo>
                    <a:pt x="432" y="294"/>
                  </a:lnTo>
                  <a:lnTo>
                    <a:pt x="417" y="297"/>
                  </a:lnTo>
                  <a:lnTo>
                    <a:pt x="402" y="303"/>
                  </a:lnTo>
                  <a:lnTo>
                    <a:pt x="387" y="306"/>
                  </a:lnTo>
                  <a:lnTo>
                    <a:pt x="373" y="309"/>
                  </a:lnTo>
                  <a:lnTo>
                    <a:pt x="356" y="312"/>
                  </a:lnTo>
                  <a:lnTo>
                    <a:pt x="341" y="312"/>
                  </a:lnTo>
                  <a:lnTo>
                    <a:pt x="323" y="312"/>
                  </a:lnTo>
                  <a:lnTo>
                    <a:pt x="308" y="312"/>
                  </a:lnTo>
                  <a:lnTo>
                    <a:pt x="290" y="312"/>
                  </a:lnTo>
                  <a:lnTo>
                    <a:pt x="276" y="309"/>
                  </a:lnTo>
                  <a:lnTo>
                    <a:pt x="262" y="306"/>
                  </a:lnTo>
                  <a:lnTo>
                    <a:pt x="244" y="303"/>
                  </a:lnTo>
                  <a:lnTo>
                    <a:pt x="229" y="297"/>
                  </a:lnTo>
                  <a:lnTo>
                    <a:pt x="214" y="294"/>
                  </a:lnTo>
                  <a:lnTo>
                    <a:pt x="202" y="289"/>
                  </a:lnTo>
                  <a:lnTo>
                    <a:pt x="188" y="283"/>
                  </a:lnTo>
                  <a:lnTo>
                    <a:pt x="173" y="274"/>
                  </a:lnTo>
                  <a:lnTo>
                    <a:pt x="162" y="268"/>
                  </a:lnTo>
                  <a:lnTo>
                    <a:pt x="147" y="259"/>
                  </a:lnTo>
                  <a:lnTo>
                    <a:pt x="135" y="250"/>
                  </a:lnTo>
                  <a:lnTo>
                    <a:pt x="123" y="241"/>
                  </a:lnTo>
                  <a:lnTo>
                    <a:pt x="111" y="231"/>
                  </a:lnTo>
                  <a:lnTo>
                    <a:pt x="100" y="222"/>
                  </a:lnTo>
                  <a:lnTo>
                    <a:pt x="91" y="210"/>
                  </a:lnTo>
                  <a:lnTo>
                    <a:pt x="79" y="198"/>
                  </a:lnTo>
                  <a:lnTo>
                    <a:pt x="70" y="187"/>
                  </a:lnTo>
                  <a:lnTo>
                    <a:pt x="61" y="175"/>
                  </a:lnTo>
                  <a:lnTo>
                    <a:pt x="55" y="160"/>
                  </a:lnTo>
                  <a:lnTo>
                    <a:pt x="47" y="148"/>
                  </a:lnTo>
                  <a:lnTo>
                    <a:pt x="41" y="134"/>
                  </a:lnTo>
                  <a:lnTo>
                    <a:pt x="32" y="123"/>
                  </a:lnTo>
                  <a:lnTo>
                    <a:pt x="27" y="108"/>
                  </a:lnTo>
                  <a:lnTo>
                    <a:pt x="24" y="93"/>
                  </a:lnTo>
                  <a:lnTo>
                    <a:pt x="18" y="79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32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6" name="Freeform 140">
              <a:extLst>
                <a:ext uri="{FF2B5EF4-FFF2-40B4-BE49-F238E27FC236}">
                  <a16:creationId xmlns:a16="http://schemas.microsoft.com/office/drawing/2014/main" id="{86397FCE-C73F-4C57-996A-252BB5371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482"/>
              <a:ext cx="629" cy="315"/>
            </a:xfrm>
            <a:custGeom>
              <a:avLst/>
              <a:gdLst>
                <a:gd name="T0" fmla="*/ 3 w 629"/>
                <a:gd name="T1" fmla="*/ 283 h 315"/>
                <a:gd name="T2" fmla="*/ 9 w 629"/>
                <a:gd name="T3" fmla="*/ 236 h 315"/>
                <a:gd name="T4" fmla="*/ 23 w 629"/>
                <a:gd name="T5" fmla="*/ 192 h 315"/>
                <a:gd name="T6" fmla="*/ 47 w 629"/>
                <a:gd name="T7" fmla="*/ 151 h 315"/>
                <a:gd name="T8" fmla="*/ 70 w 629"/>
                <a:gd name="T9" fmla="*/ 116 h 315"/>
                <a:gd name="T10" fmla="*/ 102 w 629"/>
                <a:gd name="T11" fmla="*/ 81 h 315"/>
                <a:gd name="T12" fmla="*/ 138 w 629"/>
                <a:gd name="T13" fmla="*/ 55 h 315"/>
                <a:gd name="T14" fmla="*/ 179 w 629"/>
                <a:gd name="T15" fmla="*/ 31 h 315"/>
                <a:gd name="T16" fmla="*/ 220 w 629"/>
                <a:gd name="T17" fmla="*/ 15 h 315"/>
                <a:gd name="T18" fmla="*/ 267 w 629"/>
                <a:gd name="T19" fmla="*/ 6 h 315"/>
                <a:gd name="T20" fmla="*/ 314 w 629"/>
                <a:gd name="T21" fmla="*/ 0 h 315"/>
                <a:gd name="T22" fmla="*/ 364 w 629"/>
                <a:gd name="T23" fmla="*/ 6 h 315"/>
                <a:gd name="T24" fmla="*/ 408 w 629"/>
                <a:gd name="T25" fmla="*/ 15 h 315"/>
                <a:gd name="T26" fmla="*/ 452 w 629"/>
                <a:gd name="T27" fmla="*/ 31 h 315"/>
                <a:gd name="T28" fmla="*/ 490 w 629"/>
                <a:gd name="T29" fmla="*/ 55 h 315"/>
                <a:gd name="T30" fmla="*/ 525 w 629"/>
                <a:gd name="T31" fmla="*/ 81 h 315"/>
                <a:gd name="T32" fmla="*/ 558 w 629"/>
                <a:gd name="T33" fmla="*/ 116 h 315"/>
                <a:gd name="T34" fmla="*/ 584 w 629"/>
                <a:gd name="T35" fmla="*/ 151 h 315"/>
                <a:gd name="T36" fmla="*/ 604 w 629"/>
                <a:gd name="T37" fmla="*/ 192 h 315"/>
                <a:gd name="T38" fmla="*/ 619 w 629"/>
                <a:gd name="T39" fmla="*/ 236 h 315"/>
                <a:gd name="T40" fmla="*/ 628 w 629"/>
                <a:gd name="T41" fmla="*/ 283 h 315"/>
                <a:gd name="T42" fmla="*/ 619 w 629"/>
                <a:gd name="T43" fmla="*/ 314 h 315"/>
                <a:gd name="T44" fmla="*/ 616 w 629"/>
                <a:gd name="T45" fmla="*/ 268 h 315"/>
                <a:gd name="T46" fmla="*/ 607 w 629"/>
                <a:gd name="T47" fmla="*/ 224 h 315"/>
                <a:gd name="T48" fmla="*/ 590 w 629"/>
                <a:gd name="T49" fmla="*/ 183 h 315"/>
                <a:gd name="T50" fmla="*/ 567 w 629"/>
                <a:gd name="T51" fmla="*/ 145 h 315"/>
                <a:gd name="T52" fmla="*/ 540 w 629"/>
                <a:gd name="T53" fmla="*/ 111 h 315"/>
                <a:gd name="T54" fmla="*/ 508 w 629"/>
                <a:gd name="T55" fmla="*/ 79 h 315"/>
                <a:gd name="T56" fmla="*/ 472 w 629"/>
                <a:gd name="T57" fmla="*/ 55 h 315"/>
                <a:gd name="T58" fmla="*/ 435 w 629"/>
                <a:gd name="T59" fmla="*/ 34 h 315"/>
                <a:gd name="T60" fmla="*/ 390 w 629"/>
                <a:gd name="T61" fmla="*/ 21 h 315"/>
                <a:gd name="T62" fmla="*/ 347 w 629"/>
                <a:gd name="T63" fmla="*/ 12 h 315"/>
                <a:gd name="T64" fmla="*/ 299 w 629"/>
                <a:gd name="T65" fmla="*/ 12 h 315"/>
                <a:gd name="T66" fmla="*/ 253 w 629"/>
                <a:gd name="T67" fmla="*/ 18 h 315"/>
                <a:gd name="T68" fmla="*/ 211 w 629"/>
                <a:gd name="T69" fmla="*/ 28 h 315"/>
                <a:gd name="T70" fmla="*/ 170 w 629"/>
                <a:gd name="T71" fmla="*/ 46 h 315"/>
                <a:gd name="T72" fmla="*/ 132 w 629"/>
                <a:gd name="T73" fmla="*/ 70 h 315"/>
                <a:gd name="T74" fmla="*/ 100 w 629"/>
                <a:gd name="T75" fmla="*/ 99 h 315"/>
                <a:gd name="T76" fmla="*/ 70 w 629"/>
                <a:gd name="T77" fmla="*/ 131 h 315"/>
                <a:gd name="T78" fmla="*/ 47 w 629"/>
                <a:gd name="T79" fmla="*/ 169 h 315"/>
                <a:gd name="T80" fmla="*/ 26 w 629"/>
                <a:gd name="T81" fmla="*/ 209 h 315"/>
                <a:gd name="T82" fmla="*/ 15 w 629"/>
                <a:gd name="T83" fmla="*/ 253 h 315"/>
                <a:gd name="T84" fmla="*/ 9 w 629"/>
                <a:gd name="T85" fmla="*/ 296 h 3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29"/>
                <a:gd name="T130" fmla="*/ 0 h 315"/>
                <a:gd name="T131" fmla="*/ 629 w 629"/>
                <a:gd name="T132" fmla="*/ 315 h 3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29" h="315">
                  <a:moveTo>
                    <a:pt x="0" y="314"/>
                  </a:moveTo>
                  <a:lnTo>
                    <a:pt x="0" y="296"/>
                  </a:lnTo>
                  <a:lnTo>
                    <a:pt x="3" y="283"/>
                  </a:lnTo>
                  <a:lnTo>
                    <a:pt x="3" y="265"/>
                  </a:lnTo>
                  <a:lnTo>
                    <a:pt x="6" y="250"/>
                  </a:lnTo>
                  <a:lnTo>
                    <a:pt x="9" y="236"/>
                  </a:lnTo>
                  <a:lnTo>
                    <a:pt x="15" y="221"/>
                  </a:lnTo>
                  <a:lnTo>
                    <a:pt x="18" y="206"/>
                  </a:lnTo>
                  <a:lnTo>
                    <a:pt x="23" y="192"/>
                  </a:lnTo>
                  <a:lnTo>
                    <a:pt x="32" y="178"/>
                  </a:lnTo>
                  <a:lnTo>
                    <a:pt x="38" y="166"/>
                  </a:lnTo>
                  <a:lnTo>
                    <a:pt x="47" y="151"/>
                  </a:lnTo>
                  <a:lnTo>
                    <a:pt x="52" y="139"/>
                  </a:lnTo>
                  <a:lnTo>
                    <a:pt x="61" y="128"/>
                  </a:lnTo>
                  <a:lnTo>
                    <a:pt x="70" y="116"/>
                  </a:lnTo>
                  <a:lnTo>
                    <a:pt x="82" y="105"/>
                  </a:lnTo>
                  <a:lnTo>
                    <a:pt x="91" y="93"/>
                  </a:lnTo>
                  <a:lnTo>
                    <a:pt x="102" y="81"/>
                  </a:lnTo>
                  <a:lnTo>
                    <a:pt x="114" y="73"/>
                  </a:lnTo>
                  <a:lnTo>
                    <a:pt x="126" y="64"/>
                  </a:lnTo>
                  <a:lnTo>
                    <a:pt x="138" y="55"/>
                  </a:lnTo>
                  <a:lnTo>
                    <a:pt x="153" y="46"/>
                  </a:lnTo>
                  <a:lnTo>
                    <a:pt x="164" y="37"/>
                  </a:lnTo>
                  <a:lnTo>
                    <a:pt x="179" y="31"/>
                  </a:lnTo>
                  <a:lnTo>
                    <a:pt x="193" y="26"/>
                  </a:lnTo>
                  <a:lnTo>
                    <a:pt x="205" y="21"/>
                  </a:lnTo>
                  <a:lnTo>
                    <a:pt x="220" y="15"/>
                  </a:lnTo>
                  <a:lnTo>
                    <a:pt x="235" y="12"/>
                  </a:lnTo>
                  <a:lnTo>
                    <a:pt x="253" y="9"/>
                  </a:lnTo>
                  <a:lnTo>
                    <a:pt x="267" y="6"/>
                  </a:lnTo>
                  <a:lnTo>
                    <a:pt x="281" y="3"/>
                  </a:lnTo>
                  <a:lnTo>
                    <a:pt x="299" y="3"/>
                  </a:lnTo>
                  <a:lnTo>
                    <a:pt x="314" y="0"/>
                  </a:lnTo>
                  <a:lnTo>
                    <a:pt x="332" y="3"/>
                  </a:lnTo>
                  <a:lnTo>
                    <a:pt x="347" y="3"/>
                  </a:lnTo>
                  <a:lnTo>
                    <a:pt x="364" y="6"/>
                  </a:lnTo>
                  <a:lnTo>
                    <a:pt x="378" y="9"/>
                  </a:lnTo>
                  <a:lnTo>
                    <a:pt x="393" y="12"/>
                  </a:lnTo>
                  <a:lnTo>
                    <a:pt x="408" y="15"/>
                  </a:lnTo>
                  <a:lnTo>
                    <a:pt x="423" y="21"/>
                  </a:lnTo>
                  <a:lnTo>
                    <a:pt x="437" y="26"/>
                  </a:lnTo>
                  <a:lnTo>
                    <a:pt x="452" y="31"/>
                  </a:lnTo>
                  <a:lnTo>
                    <a:pt x="464" y="37"/>
                  </a:lnTo>
                  <a:lnTo>
                    <a:pt x="478" y="46"/>
                  </a:lnTo>
                  <a:lnTo>
                    <a:pt x="490" y="55"/>
                  </a:lnTo>
                  <a:lnTo>
                    <a:pt x="502" y="64"/>
                  </a:lnTo>
                  <a:lnTo>
                    <a:pt x="514" y="73"/>
                  </a:lnTo>
                  <a:lnTo>
                    <a:pt x="525" y="81"/>
                  </a:lnTo>
                  <a:lnTo>
                    <a:pt x="537" y="93"/>
                  </a:lnTo>
                  <a:lnTo>
                    <a:pt x="546" y="105"/>
                  </a:lnTo>
                  <a:lnTo>
                    <a:pt x="558" y="116"/>
                  </a:lnTo>
                  <a:lnTo>
                    <a:pt x="567" y="128"/>
                  </a:lnTo>
                  <a:lnTo>
                    <a:pt x="576" y="139"/>
                  </a:lnTo>
                  <a:lnTo>
                    <a:pt x="584" y="151"/>
                  </a:lnTo>
                  <a:lnTo>
                    <a:pt x="590" y="166"/>
                  </a:lnTo>
                  <a:lnTo>
                    <a:pt x="599" y="178"/>
                  </a:lnTo>
                  <a:lnTo>
                    <a:pt x="604" y="192"/>
                  </a:lnTo>
                  <a:lnTo>
                    <a:pt x="610" y="206"/>
                  </a:lnTo>
                  <a:lnTo>
                    <a:pt x="616" y="221"/>
                  </a:lnTo>
                  <a:lnTo>
                    <a:pt x="619" y="236"/>
                  </a:lnTo>
                  <a:lnTo>
                    <a:pt x="622" y="250"/>
                  </a:lnTo>
                  <a:lnTo>
                    <a:pt x="625" y="265"/>
                  </a:lnTo>
                  <a:lnTo>
                    <a:pt x="628" y="283"/>
                  </a:lnTo>
                  <a:lnTo>
                    <a:pt x="628" y="296"/>
                  </a:lnTo>
                  <a:lnTo>
                    <a:pt x="628" y="314"/>
                  </a:lnTo>
                  <a:lnTo>
                    <a:pt x="619" y="314"/>
                  </a:lnTo>
                  <a:lnTo>
                    <a:pt x="619" y="296"/>
                  </a:lnTo>
                  <a:lnTo>
                    <a:pt x="619" y="283"/>
                  </a:lnTo>
                  <a:lnTo>
                    <a:pt x="616" y="268"/>
                  </a:lnTo>
                  <a:lnTo>
                    <a:pt x="613" y="253"/>
                  </a:lnTo>
                  <a:lnTo>
                    <a:pt x="610" y="238"/>
                  </a:lnTo>
                  <a:lnTo>
                    <a:pt x="607" y="224"/>
                  </a:lnTo>
                  <a:lnTo>
                    <a:pt x="602" y="209"/>
                  </a:lnTo>
                  <a:lnTo>
                    <a:pt x="596" y="195"/>
                  </a:lnTo>
                  <a:lnTo>
                    <a:pt x="590" y="183"/>
                  </a:lnTo>
                  <a:lnTo>
                    <a:pt x="584" y="169"/>
                  </a:lnTo>
                  <a:lnTo>
                    <a:pt x="576" y="157"/>
                  </a:lnTo>
                  <a:lnTo>
                    <a:pt x="567" y="145"/>
                  </a:lnTo>
                  <a:lnTo>
                    <a:pt x="561" y="131"/>
                  </a:lnTo>
                  <a:lnTo>
                    <a:pt x="549" y="122"/>
                  </a:lnTo>
                  <a:lnTo>
                    <a:pt x="540" y="111"/>
                  </a:lnTo>
                  <a:lnTo>
                    <a:pt x="531" y="99"/>
                  </a:lnTo>
                  <a:lnTo>
                    <a:pt x="519" y="90"/>
                  </a:lnTo>
                  <a:lnTo>
                    <a:pt x="508" y="79"/>
                  </a:lnTo>
                  <a:lnTo>
                    <a:pt x="496" y="70"/>
                  </a:lnTo>
                  <a:lnTo>
                    <a:pt x="484" y="61"/>
                  </a:lnTo>
                  <a:lnTo>
                    <a:pt x="472" y="55"/>
                  </a:lnTo>
                  <a:lnTo>
                    <a:pt x="461" y="46"/>
                  </a:lnTo>
                  <a:lnTo>
                    <a:pt x="446" y="40"/>
                  </a:lnTo>
                  <a:lnTo>
                    <a:pt x="435" y="34"/>
                  </a:lnTo>
                  <a:lnTo>
                    <a:pt x="420" y="28"/>
                  </a:lnTo>
                  <a:lnTo>
                    <a:pt x="405" y="24"/>
                  </a:lnTo>
                  <a:lnTo>
                    <a:pt x="390" y="21"/>
                  </a:lnTo>
                  <a:lnTo>
                    <a:pt x="375" y="18"/>
                  </a:lnTo>
                  <a:lnTo>
                    <a:pt x="361" y="15"/>
                  </a:lnTo>
                  <a:lnTo>
                    <a:pt x="347" y="12"/>
                  </a:lnTo>
                  <a:lnTo>
                    <a:pt x="332" y="12"/>
                  </a:lnTo>
                  <a:lnTo>
                    <a:pt x="314" y="12"/>
                  </a:lnTo>
                  <a:lnTo>
                    <a:pt x="299" y="12"/>
                  </a:lnTo>
                  <a:lnTo>
                    <a:pt x="284" y="12"/>
                  </a:lnTo>
                  <a:lnTo>
                    <a:pt x="267" y="15"/>
                  </a:lnTo>
                  <a:lnTo>
                    <a:pt x="253" y="18"/>
                  </a:lnTo>
                  <a:lnTo>
                    <a:pt x="238" y="21"/>
                  </a:lnTo>
                  <a:lnTo>
                    <a:pt x="223" y="24"/>
                  </a:lnTo>
                  <a:lnTo>
                    <a:pt x="211" y="28"/>
                  </a:lnTo>
                  <a:lnTo>
                    <a:pt x="196" y="34"/>
                  </a:lnTo>
                  <a:lnTo>
                    <a:pt x="182" y="40"/>
                  </a:lnTo>
                  <a:lnTo>
                    <a:pt x="170" y="46"/>
                  </a:lnTo>
                  <a:lnTo>
                    <a:pt x="156" y="55"/>
                  </a:lnTo>
                  <a:lnTo>
                    <a:pt x="144" y="61"/>
                  </a:lnTo>
                  <a:lnTo>
                    <a:pt x="132" y="70"/>
                  </a:lnTo>
                  <a:lnTo>
                    <a:pt x="120" y="79"/>
                  </a:lnTo>
                  <a:lnTo>
                    <a:pt x="108" y="90"/>
                  </a:lnTo>
                  <a:lnTo>
                    <a:pt x="100" y="99"/>
                  </a:lnTo>
                  <a:lnTo>
                    <a:pt x="88" y="111"/>
                  </a:lnTo>
                  <a:lnTo>
                    <a:pt x="79" y="122"/>
                  </a:lnTo>
                  <a:lnTo>
                    <a:pt x="70" y="131"/>
                  </a:lnTo>
                  <a:lnTo>
                    <a:pt x="61" y="145"/>
                  </a:lnTo>
                  <a:lnTo>
                    <a:pt x="52" y="157"/>
                  </a:lnTo>
                  <a:lnTo>
                    <a:pt x="47" y="169"/>
                  </a:lnTo>
                  <a:lnTo>
                    <a:pt x="38" y="183"/>
                  </a:lnTo>
                  <a:lnTo>
                    <a:pt x="32" y="195"/>
                  </a:lnTo>
                  <a:lnTo>
                    <a:pt x="26" y="209"/>
                  </a:lnTo>
                  <a:lnTo>
                    <a:pt x="23" y="224"/>
                  </a:lnTo>
                  <a:lnTo>
                    <a:pt x="18" y="238"/>
                  </a:lnTo>
                  <a:lnTo>
                    <a:pt x="15" y="253"/>
                  </a:lnTo>
                  <a:lnTo>
                    <a:pt x="12" y="268"/>
                  </a:lnTo>
                  <a:lnTo>
                    <a:pt x="12" y="283"/>
                  </a:lnTo>
                  <a:lnTo>
                    <a:pt x="9" y="296"/>
                  </a:lnTo>
                  <a:lnTo>
                    <a:pt x="9" y="314"/>
                  </a:lnTo>
                  <a:lnTo>
                    <a:pt x="0" y="314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7" name="Freeform 141">
              <a:extLst>
                <a:ext uri="{FF2B5EF4-FFF2-40B4-BE49-F238E27FC236}">
                  <a16:creationId xmlns:a16="http://schemas.microsoft.com/office/drawing/2014/main" id="{E957AAF7-F346-4BE3-9786-8D888F5D6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802"/>
              <a:ext cx="629" cy="313"/>
            </a:xfrm>
            <a:custGeom>
              <a:avLst/>
              <a:gdLst>
                <a:gd name="T0" fmla="*/ 0 w 629"/>
                <a:gd name="T1" fmla="*/ 15 h 313"/>
                <a:gd name="T2" fmla="*/ 6 w 629"/>
                <a:gd name="T3" fmla="*/ 61 h 313"/>
                <a:gd name="T4" fmla="*/ 18 w 629"/>
                <a:gd name="T5" fmla="*/ 108 h 313"/>
                <a:gd name="T6" fmla="*/ 38 w 629"/>
                <a:gd name="T7" fmla="*/ 148 h 313"/>
                <a:gd name="T8" fmla="*/ 61 w 629"/>
                <a:gd name="T9" fmla="*/ 186 h 313"/>
                <a:gd name="T10" fmla="*/ 91 w 629"/>
                <a:gd name="T11" fmla="*/ 222 h 313"/>
                <a:gd name="T12" fmla="*/ 126 w 629"/>
                <a:gd name="T13" fmla="*/ 250 h 313"/>
                <a:gd name="T14" fmla="*/ 164 w 629"/>
                <a:gd name="T15" fmla="*/ 274 h 313"/>
                <a:gd name="T16" fmla="*/ 205 w 629"/>
                <a:gd name="T17" fmla="*/ 294 h 313"/>
                <a:gd name="T18" fmla="*/ 253 w 629"/>
                <a:gd name="T19" fmla="*/ 306 h 313"/>
                <a:gd name="T20" fmla="*/ 299 w 629"/>
                <a:gd name="T21" fmla="*/ 312 h 313"/>
                <a:gd name="T22" fmla="*/ 347 w 629"/>
                <a:gd name="T23" fmla="*/ 312 h 313"/>
                <a:gd name="T24" fmla="*/ 393 w 629"/>
                <a:gd name="T25" fmla="*/ 303 h 313"/>
                <a:gd name="T26" fmla="*/ 437 w 629"/>
                <a:gd name="T27" fmla="*/ 288 h 313"/>
                <a:gd name="T28" fmla="*/ 478 w 629"/>
                <a:gd name="T29" fmla="*/ 268 h 313"/>
                <a:gd name="T30" fmla="*/ 514 w 629"/>
                <a:gd name="T31" fmla="*/ 241 h 313"/>
                <a:gd name="T32" fmla="*/ 546 w 629"/>
                <a:gd name="T33" fmla="*/ 210 h 313"/>
                <a:gd name="T34" fmla="*/ 576 w 629"/>
                <a:gd name="T35" fmla="*/ 175 h 313"/>
                <a:gd name="T36" fmla="*/ 599 w 629"/>
                <a:gd name="T37" fmla="*/ 134 h 313"/>
                <a:gd name="T38" fmla="*/ 616 w 629"/>
                <a:gd name="T39" fmla="*/ 93 h 313"/>
                <a:gd name="T40" fmla="*/ 625 w 629"/>
                <a:gd name="T41" fmla="*/ 47 h 313"/>
                <a:gd name="T42" fmla="*/ 628 w 629"/>
                <a:gd name="T43" fmla="*/ 0 h 313"/>
                <a:gd name="T44" fmla="*/ 619 w 629"/>
                <a:gd name="T45" fmla="*/ 29 h 313"/>
                <a:gd name="T46" fmla="*/ 610 w 629"/>
                <a:gd name="T47" fmla="*/ 76 h 313"/>
                <a:gd name="T48" fmla="*/ 596 w 629"/>
                <a:gd name="T49" fmla="*/ 117 h 313"/>
                <a:gd name="T50" fmla="*/ 576 w 629"/>
                <a:gd name="T51" fmla="*/ 157 h 313"/>
                <a:gd name="T52" fmla="*/ 549 w 629"/>
                <a:gd name="T53" fmla="*/ 192 h 313"/>
                <a:gd name="T54" fmla="*/ 519 w 629"/>
                <a:gd name="T55" fmla="*/ 225 h 313"/>
                <a:gd name="T56" fmla="*/ 484 w 629"/>
                <a:gd name="T57" fmla="*/ 250 h 313"/>
                <a:gd name="T58" fmla="*/ 446 w 629"/>
                <a:gd name="T59" fmla="*/ 274 h 313"/>
                <a:gd name="T60" fmla="*/ 405 w 629"/>
                <a:gd name="T61" fmla="*/ 288 h 313"/>
                <a:gd name="T62" fmla="*/ 361 w 629"/>
                <a:gd name="T63" fmla="*/ 300 h 313"/>
                <a:gd name="T64" fmla="*/ 314 w 629"/>
                <a:gd name="T65" fmla="*/ 303 h 313"/>
                <a:gd name="T66" fmla="*/ 267 w 629"/>
                <a:gd name="T67" fmla="*/ 300 h 313"/>
                <a:gd name="T68" fmla="*/ 223 w 629"/>
                <a:gd name="T69" fmla="*/ 288 h 313"/>
                <a:gd name="T70" fmla="*/ 182 w 629"/>
                <a:gd name="T71" fmla="*/ 274 h 313"/>
                <a:gd name="T72" fmla="*/ 144 w 629"/>
                <a:gd name="T73" fmla="*/ 250 h 313"/>
                <a:gd name="T74" fmla="*/ 108 w 629"/>
                <a:gd name="T75" fmla="*/ 225 h 313"/>
                <a:gd name="T76" fmla="*/ 79 w 629"/>
                <a:gd name="T77" fmla="*/ 192 h 313"/>
                <a:gd name="T78" fmla="*/ 52 w 629"/>
                <a:gd name="T79" fmla="*/ 157 h 313"/>
                <a:gd name="T80" fmla="*/ 32 w 629"/>
                <a:gd name="T81" fmla="*/ 117 h 313"/>
                <a:gd name="T82" fmla="*/ 18 w 629"/>
                <a:gd name="T83" fmla="*/ 76 h 313"/>
                <a:gd name="T84" fmla="*/ 12 w 629"/>
                <a:gd name="T85" fmla="*/ 29 h 313"/>
                <a:gd name="T86" fmla="*/ 0 w 629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9"/>
                <a:gd name="T133" fmla="*/ 0 h 313"/>
                <a:gd name="T134" fmla="*/ 629 w 629"/>
                <a:gd name="T135" fmla="*/ 313 h 3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9" h="313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32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8"/>
                  </a:lnTo>
                  <a:lnTo>
                    <a:pt x="15" y="93"/>
                  </a:lnTo>
                  <a:lnTo>
                    <a:pt x="18" y="108"/>
                  </a:lnTo>
                  <a:lnTo>
                    <a:pt x="23" y="123"/>
                  </a:lnTo>
                  <a:lnTo>
                    <a:pt x="32" y="134"/>
                  </a:lnTo>
                  <a:lnTo>
                    <a:pt x="38" y="148"/>
                  </a:lnTo>
                  <a:lnTo>
                    <a:pt x="47" y="160"/>
                  </a:lnTo>
                  <a:lnTo>
                    <a:pt x="52" y="175"/>
                  </a:lnTo>
                  <a:lnTo>
                    <a:pt x="61" y="186"/>
                  </a:lnTo>
                  <a:lnTo>
                    <a:pt x="70" y="198"/>
                  </a:lnTo>
                  <a:lnTo>
                    <a:pt x="82" y="210"/>
                  </a:lnTo>
                  <a:lnTo>
                    <a:pt x="91" y="222"/>
                  </a:lnTo>
                  <a:lnTo>
                    <a:pt x="102" y="231"/>
                  </a:lnTo>
                  <a:lnTo>
                    <a:pt x="114" y="241"/>
                  </a:lnTo>
                  <a:lnTo>
                    <a:pt x="126" y="250"/>
                  </a:lnTo>
                  <a:lnTo>
                    <a:pt x="138" y="259"/>
                  </a:lnTo>
                  <a:lnTo>
                    <a:pt x="153" y="268"/>
                  </a:lnTo>
                  <a:lnTo>
                    <a:pt x="164" y="274"/>
                  </a:lnTo>
                  <a:lnTo>
                    <a:pt x="179" y="283"/>
                  </a:lnTo>
                  <a:lnTo>
                    <a:pt x="193" y="288"/>
                  </a:lnTo>
                  <a:lnTo>
                    <a:pt x="205" y="294"/>
                  </a:lnTo>
                  <a:lnTo>
                    <a:pt x="220" y="297"/>
                  </a:lnTo>
                  <a:lnTo>
                    <a:pt x="235" y="303"/>
                  </a:lnTo>
                  <a:lnTo>
                    <a:pt x="253" y="306"/>
                  </a:lnTo>
                  <a:lnTo>
                    <a:pt x="267" y="309"/>
                  </a:lnTo>
                  <a:lnTo>
                    <a:pt x="281" y="312"/>
                  </a:lnTo>
                  <a:lnTo>
                    <a:pt x="299" y="312"/>
                  </a:lnTo>
                  <a:lnTo>
                    <a:pt x="314" y="312"/>
                  </a:lnTo>
                  <a:lnTo>
                    <a:pt x="332" y="312"/>
                  </a:lnTo>
                  <a:lnTo>
                    <a:pt x="347" y="312"/>
                  </a:lnTo>
                  <a:lnTo>
                    <a:pt x="364" y="309"/>
                  </a:lnTo>
                  <a:lnTo>
                    <a:pt x="378" y="306"/>
                  </a:lnTo>
                  <a:lnTo>
                    <a:pt x="393" y="303"/>
                  </a:lnTo>
                  <a:lnTo>
                    <a:pt x="408" y="297"/>
                  </a:lnTo>
                  <a:lnTo>
                    <a:pt x="423" y="294"/>
                  </a:lnTo>
                  <a:lnTo>
                    <a:pt x="437" y="288"/>
                  </a:lnTo>
                  <a:lnTo>
                    <a:pt x="452" y="283"/>
                  </a:lnTo>
                  <a:lnTo>
                    <a:pt x="464" y="274"/>
                  </a:lnTo>
                  <a:lnTo>
                    <a:pt x="478" y="268"/>
                  </a:lnTo>
                  <a:lnTo>
                    <a:pt x="490" y="259"/>
                  </a:lnTo>
                  <a:lnTo>
                    <a:pt x="502" y="250"/>
                  </a:lnTo>
                  <a:lnTo>
                    <a:pt x="514" y="241"/>
                  </a:lnTo>
                  <a:lnTo>
                    <a:pt x="525" y="231"/>
                  </a:lnTo>
                  <a:lnTo>
                    <a:pt x="537" y="222"/>
                  </a:lnTo>
                  <a:lnTo>
                    <a:pt x="546" y="210"/>
                  </a:lnTo>
                  <a:lnTo>
                    <a:pt x="558" y="198"/>
                  </a:lnTo>
                  <a:lnTo>
                    <a:pt x="567" y="186"/>
                  </a:lnTo>
                  <a:lnTo>
                    <a:pt x="576" y="175"/>
                  </a:lnTo>
                  <a:lnTo>
                    <a:pt x="584" y="160"/>
                  </a:lnTo>
                  <a:lnTo>
                    <a:pt x="590" y="148"/>
                  </a:lnTo>
                  <a:lnTo>
                    <a:pt x="599" y="134"/>
                  </a:lnTo>
                  <a:lnTo>
                    <a:pt x="604" y="123"/>
                  </a:lnTo>
                  <a:lnTo>
                    <a:pt x="610" y="108"/>
                  </a:lnTo>
                  <a:lnTo>
                    <a:pt x="616" y="93"/>
                  </a:lnTo>
                  <a:lnTo>
                    <a:pt x="619" y="78"/>
                  </a:lnTo>
                  <a:lnTo>
                    <a:pt x="622" y="61"/>
                  </a:lnTo>
                  <a:lnTo>
                    <a:pt x="625" y="47"/>
                  </a:lnTo>
                  <a:lnTo>
                    <a:pt x="628" y="32"/>
                  </a:lnTo>
                  <a:lnTo>
                    <a:pt x="628" y="15"/>
                  </a:lnTo>
                  <a:lnTo>
                    <a:pt x="628" y="0"/>
                  </a:lnTo>
                  <a:lnTo>
                    <a:pt x="619" y="0"/>
                  </a:lnTo>
                  <a:lnTo>
                    <a:pt x="619" y="15"/>
                  </a:lnTo>
                  <a:lnTo>
                    <a:pt x="619" y="29"/>
                  </a:lnTo>
                  <a:lnTo>
                    <a:pt x="616" y="47"/>
                  </a:lnTo>
                  <a:lnTo>
                    <a:pt x="613" y="61"/>
                  </a:lnTo>
                  <a:lnTo>
                    <a:pt x="610" y="76"/>
                  </a:lnTo>
                  <a:lnTo>
                    <a:pt x="607" y="90"/>
                  </a:lnTo>
                  <a:lnTo>
                    <a:pt x="602" y="105"/>
                  </a:lnTo>
                  <a:lnTo>
                    <a:pt x="596" y="117"/>
                  </a:lnTo>
                  <a:lnTo>
                    <a:pt x="590" y="131"/>
                  </a:lnTo>
                  <a:lnTo>
                    <a:pt x="584" y="143"/>
                  </a:lnTo>
                  <a:lnTo>
                    <a:pt x="576" y="157"/>
                  </a:lnTo>
                  <a:lnTo>
                    <a:pt x="567" y="169"/>
                  </a:lnTo>
                  <a:lnTo>
                    <a:pt x="561" y="181"/>
                  </a:lnTo>
                  <a:lnTo>
                    <a:pt x="549" y="192"/>
                  </a:lnTo>
                  <a:lnTo>
                    <a:pt x="540" y="204"/>
                  </a:lnTo>
                  <a:lnTo>
                    <a:pt x="531" y="213"/>
                  </a:lnTo>
                  <a:lnTo>
                    <a:pt x="519" y="225"/>
                  </a:lnTo>
                  <a:lnTo>
                    <a:pt x="508" y="233"/>
                  </a:lnTo>
                  <a:lnTo>
                    <a:pt x="496" y="241"/>
                  </a:lnTo>
                  <a:lnTo>
                    <a:pt x="484" y="250"/>
                  </a:lnTo>
                  <a:lnTo>
                    <a:pt x="472" y="259"/>
                  </a:lnTo>
                  <a:lnTo>
                    <a:pt x="461" y="265"/>
                  </a:lnTo>
                  <a:lnTo>
                    <a:pt x="446" y="274"/>
                  </a:lnTo>
                  <a:lnTo>
                    <a:pt x="435" y="280"/>
                  </a:lnTo>
                  <a:lnTo>
                    <a:pt x="420" y="286"/>
                  </a:lnTo>
                  <a:lnTo>
                    <a:pt x="405" y="288"/>
                  </a:lnTo>
                  <a:lnTo>
                    <a:pt x="390" y="294"/>
                  </a:lnTo>
                  <a:lnTo>
                    <a:pt x="375" y="297"/>
                  </a:lnTo>
                  <a:lnTo>
                    <a:pt x="361" y="300"/>
                  </a:lnTo>
                  <a:lnTo>
                    <a:pt x="347" y="303"/>
                  </a:lnTo>
                  <a:lnTo>
                    <a:pt x="332" y="303"/>
                  </a:lnTo>
                  <a:lnTo>
                    <a:pt x="314" y="303"/>
                  </a:lnTo>
                  <a:lnTo>
                    <a:pt x="299" y="303"/>
                  </a:lnTo>
                  <a:lnTo>
                    <a:pt x="284" y="303"/>
                  </a:lnTo>
                  <a:lnTo>
                    <a:pt x="267" y="300"/>
                  </a:lnTo>
                  <a:lnTo>
                    <a:pt x="253" y="297"/>
                  </a:lnTo>
                  <a:lnTo>
                    <a:pt x="238" y="294"/>
                  </a:lnTo>
                  <a:lnTo>
                    <a:pt x="223" y="288"/>
                  </a:lnTo>
                  <a:lnTo>
                    <a:pt x="211" y="286"/>
                  </a:lnTo>
                  <a:lnTo>
                    <a:pt x="196" y="280"/>
                  </a:lnTo>
                  <a:lnTo>
                    <a:pt x="182" y="274"/>
                  </a:lnTo>
                  <a:lnTo>
                    <a:pt x="170" y="265"/>
                  </a:lnTo>
                  <a:lnTo>
                    <a:pt x="156" y="259"/>
                  </a:lnTo>
                  <a:lnTo>
                    <a:pt x="144" y="250"/>
                  </a:lnTo>
                  <a:lnTo>
                    <a:pt x="132" y="241"/>
                  </a:lnTo>
                  <a:lnTo>
                    <a:pt x="120" y="233"/>
                  </a:lnTo>
                  <a:lnTo>
                    <a:pt x="108" y="225"/>
                  </a:lnTo>
                  <a:lnTo>
                    <a:pt x="100" y="213"/>
                  </a:lnTo>
                  <a:lnTo>
                    <a:pt x="88" y="204"/>
                  </a:lnTo>
                  <a:lnTo>
                    <a:pt x="79" y="192"/>
                  </a:lnTo>
                  <a:lnTo>
                    <a:pt x="70" y="181"/>
                  </a:lnTo>
                  <a:lnTo>
                    <a:pt x="61" y="169"/>
                  </a:lnTo>
                  <a:lnTo>
                    <a:pt x="52" y="157"/>
                  </a:lnTo>
                  <a:lnTo>
                    <a:pt x="47" y="143"/>
                  </a:lnTo>
                  <a:lnTo>
                    <a:pt x="38" y="131"/>
                  </a:lnTo>
                  <a:lnTo>
                    <a:pt x="32" y="117"/>
                  </a:lnTo>
                  <a:lnTo>
                    <a:pt x="26" y="105"/>
                  </a:lnTo>
                  <a:lnTo>
                    <a:pt x="23" y="90"/>
                  </a:lnTo>
                  <a:lnTo>
                    <a:pt x="18" y="76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8" name="Freeform 142">
              <a:extLst>
                <a:ext uri="{FF2B5EF4-FFF2-40B4-BE49-F238E27FC236}">
                  <a16:creationId xmlns:a16="http://schemas.microsoft.com/office/drawing/2014/main" id="{0389E362-2DCD-4704-B6A4-3AD5667DD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494"/>
              <a:ext cx="611" cy="303"/>
            </a:xfrm>
            <a:custGeom>
              <a:avLst/>
              <a:gdLst>
                <a:gd name="T0" fmla="*/ 3 w 611"/>
                <a:gd name="T1" fmla="*/ 271 h 303"/>
                <a:gd name="T2" fmla="*/ 9 w 611"/>
                <a:gd name="T3" fmla="*/ 227 h 303"/>
                <a:gd name="T4" fmla="*/ 23 w 611"/>
                <a:gd name="T5" fmla="*/ 183 h 303"/>
                <a:gd name="T6" fmla="*/ 44 w 611"/>
                <a:gd name="T7" fmla="*/ 145 h 303"/>
                <a:gd name="T8" fmla="*/ 70 w 611"/>
                <a:gd name="T9" fmla="*/ 110 h 303"/>
                <a:gd name="T10" fmla="*/ 99 w 611"/>
                <a:gd name="T11" fmla="*/ 78 h 303"/>
                <a:gd name="T12" fmla="*/ 135 w 611"/>
                <a:gd name="T13" fmla="*/ 49 h 303"/>
                <a:gd name="T14" fmla="*/ 173 w 611"/>
                <a:gd name="T15" fmla="*/ 28 h 303"/>
                <a:gd name="T16" fmla="*/ 214 w 611"/>
                <a:gd name="T17" fmla="*/ 12 h 303"/>
                <a:gd name="T18" fmla="*/ 258 w 611"/>
                <a:gd name="T19" fmla="*/ 3 h 303"/>
                <a:gd name="T20" fmla="*/ 305 w 611"/>
                <a:gd name="T21" fmla="*/ 0 h 303"/>
                <a:gd name="T22" fmla="*/ 352 w 611"/>
                <a:gd name="T23" fmla="*/ 3 h 303"/>
                <a:gd name="T24" fmla="*/ 396 w 611"/>
                <a:gd name="T25" fmla="*/ 12 h 303"/>
                <a:gd name="T26" fmla="*/ 437 w 611"/>
                <a:gd name="T27" fmla="*/ 28 h 303"/>
                <a:gd name="T28" fmla="*/ 475 w 611"/>
                <a:gd name="T29" fmla="*/ 49 h 303"/>
                <a:gd name="T30" fmla="*/ 510 w 611"/>
                <a:gd name="T31" fmla="*/ 78 h 303"/>
                <a:gd name="T32" fmla="*/ 540 w 611"/>
                <a:gd name="T33" fmla="*/ 110 h 303"/>
                <a:gd name="T34" fmla="*/ 566 w 611"/>
                <a:gd name="T35" fmla="*/ 145 h 303"/>
                <a:gd name="T36" fmla="*/ 587 w 611"/>
                <a:gd name="T37" fmla="*/ 183 h 303"/>
                <a:gd name="T38" fmla="*/ 601 w 611"/>
                <a:gd name="T39" fmla="*/ 227 h 303"/>
                <a:gd name="T40" fmla="*/ 610 w 611"/>
                <a:gd name="T41" fmla="*/ 271 h 303"/>
                <a:gd name="T42" fmla="*/ 601 w 611"/>
                <a:gd name="T43" fmla="*/ 302 h 303"/>
                <a:gd name="T44" fmla="*/ 598 w 611"/>
                <a:gd name="T45" fmla="*/ 256 h 303"/>
                <a:gd name="T46" fmla="*/ 587 w 611"/>
                <a:gd name="T47" fmla="*/ 215 h 303"/>
                <a:gd name="T48" fmla="*/ 572 w 611"/>
                <a:gd name="T49" fmla="*/ 175 h 303"/>
                <a:gd name="T50" fmla="*/ 552 w 611"/>
                <a:gd name="T51" fmla="*/ 136 h 303"/>
                <a:gd name="T52" fmla="*/ 525 w 611"/>
                <a:gd name="T53" fmla="*/ 104 h 303"/>
                <a:gd name="T54" fmla="*/ 493 w 611"/>
                <a:gd name="T55" fmla="*/ 76 h 303"/>
                <a:gd name="T56" fmla="*/ 458 w 611"/>
                <a:gd name="T57" fmla="*/ 49 h 303"/>
                <a:gd name="T58" fmla="*/ 420 w 611"/>
                <a:gd name="T59" fmla="*/ 31 h 303"/>
                <a:gd name="T60" fmla="*/ 378 w 611"/>
                <a:gd name="T61" fmla="*/ 17 h 303"/>
                <a:gd name="T62" fmla="*/ 338 w 611"/>
                <a:gd name="T63" fmla="*/ 9 h 303"/>
                <a:gd name="T64" fmla="*/ 290 w 611"/>
                <a:gd name="T65" fmla="*/ 9 h 303"/>
                <a:gd name="T66" fmla="*/ 247 w 611"/>
                <a:gd name="T67" fmla="*/ 15 h 303"/>
                <a:gd name="T68" fmla="*/ 205 w 611"/>
                <a:gd name="T69" fmla="*/ 25 h 303"/>
                <a:gd name="T70" fmla="*/ 164 w 611"/>
                <a:gd name="T71" fmla="*/ 43 h 303"/>
                <a:gd name="T72" fmla="*/ 129 w 611"/>
                <a:gd name="T73" fmla="*/ 67 h 303"/>
                <a:gd name="T74" fmla="*/ 96 w 611"/>
                <a:gd name="T75" fmla="*/ 93 h 303"/>
                <a:gd name="T76" fmla="*/ 67 w 611"/>
                <a:gd name="T77" fmla="*/ 125 h 303"/>
                <a:gd name="T78" fmla="*/ 47 w 611"/>
                <a:gd name="T79" fmla="*/ 163 h 303"/>
                <a:gd name="T80" fmla="*/ 26 w 611"/>
                <a:gd name="T81" fmla="*/ 200 h 303"/>
                <a:gd name="T82" fmla="*/ 14 w 611"/>
                <a:gd name="T83" fmla="*/ 241 h 303"/>
                <a:gd name="T84" fmla="*/ 9 w 611"/>
                <a:gd name="T85" fmla="*/ 287 h 30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11"/>
                <a:gd name="T130" fmla="*/ 0 h 303"/>
                <a:gd name="T131" fmla="*/ 611 w 611"/>
                <a:gd name="T132" fmla="*/ 303 h 30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11" h="303">
                  <a:moveTo>
                    <a:pt x="0" y="302"/>
                  </a:moveTo>
                  <a:lnTo>
                    <a:pt x="0" y="284"/>
                  </a:lnTo>
                  <a:lnTo>
                    <a:pt x="3" y="271"/>
                  </a:lnTo>
                  <a:lnTo>
                    <a:pt x="3" y="256"/>
                  </a:lnTo>
                  <a:lnTo>
                    <a:pt x="6" y="241"/>
                  </a:lnTo>
                  <a:lnTo>
                    <a:pt x="9" y="227"/>
                  </a:lnTo>
                  <a:lnTo>
                    <a:pt x="14" y="212"/>
                  </a:lnTo>
                  <a:lnTo>
                    <a:pt x="17" y="197"/>
                  </a:lnTo>
                  <a:lnTo>
                    <a:pt x="23" y="183"/>
                  </a:lnTo>
                  <a:lnTo>
                    <a:pt x="29" y="172"/>
                  </a:lnTo>
                  <a:lnTo>
                    <a:pt x="38" y="157"/>
                  </a:lnTo>
                  <a:lnTo>
                    <a:pt x="44" y="145"/>
                  </a:lnTo>
                  <a:lnTo>
                    <a:pt x="52" y="133"/>
                  </a:lnTo>
                  <a:lnTo>
                    <a:pt x="61" y="119"/>
                  </a:lnTo>
                  <a:lnTo>
                    <a:pt x="70" y="110"/>
                  </a:lnTo>
                  <a:lnTo>
                    <a:pt x="79" y="99"/>
                  </a:lnTo>
                  <a:lnTo>
                    <a:pt x="91" y="87"/>
                  </a:lnTo>
                  <a:lnTo>
                    <a:pt x="99" y="78"/>
                  </a:lnTo>
                  <a:lnTo>
                    <a:pt x="111" y="67"/>
                  </a:lnTo>
                  <a:lnTo>
                    <a:pt x="123" y="58"/>
                  </a:lnTo>
                  <a:lnTo>
                    <a:pt x="135" y="49"/>
                  </a:lnTo>
                  <a:lnTo>
                    <a:pt x="147" y="43"/>
                  </a:lnTo>
                  <a:lnTo>
                    <a:pt x="161" y="34"/>
                  </a:lnTo>
                  <a:lnTo>
                    <a:pt x="173" y="28"/>
                  </a:lnTo>
                  <a:lnTo>
                    <a:pt x="187" y="23"/>
                  </a:lnTo>
                  <a:lnTo>
                    <a:pt x="202" y="17"/>
                  </a:lnTo>
                  <a:lnTo>
                    <a:pt x="214" y="12"/>
                  </a:lnTo>
                  <a:lnTo>
                    <a:pt x="229" y="9"/>
                  </a:lnTo>
                  <a:lnTo>
                    <a:pt x="244" y="6"/>
                  </a:lnTo>
                  <a:lnTo>
                    <a:pt x="258" y="3"/>
                  </a:lnTo>
                  <a:lnTo>
                    <a:pt x="275" y="0"/>
                  </a:lnTo>
                  <a:lnTo>
                    <a:pt x="290" y="0"/>
                  </a:lnTo>
                  <a:lnTo>
                    <a:pt x="305" y="0"/>
                  </a:lnTo>
                  <a:lnTo>
                    <a:pt x="323" y="0"/>
                  </a:lnTo>
                  <a:lnTo>
                    <a:pt x="338" y="0"/>
                  </a:lnTo>
                  <a:lnTo>
                    <a:pt x="352" y="3"/>
                  </a:lnTo>
                  <a:lnTo>
                    <a:pt x="366" y="6"/>
                  </a:lnTo>
                  <a:lnTo>
                    <a:pt x="381" y="9"/>
                  </a:lnTo>
                  <a:lnTo>
                    <a:pt x="396" y="12"/>
                  </a:lnTo>
                  <a:lnTo>
                    <a:pt x="411" y="17"/>
                  </a:lnTo>
                  <a:lnTo>
                    <a:pt x="426" y="23"/>
                  </a:lnTo>
                  <a:lnTo>
                    <a:pt x="437" y="28"/>
                  </a:lnTo>
                  <a:lnTo>
                    <a:pt x="452" y="34"/>
                  </a:lnTo>
                  <a:lnTo>
                    <a:pt x="463" y="43"/>
                  </a:lnTo>
                  <a:lnTo>
                    <a:pt x="475" y="49"/>
                  </a:lnTo>
                  <a:lnTo>
                    <a:pt x="487" y="58"/>
                  </a:lnTo>
                  <a:lnTo>
                    <a:pt x="499" y="67"/>
                  </a:lnTo>
                  <a:lnTo>
                    <a:pt x="510" y="78"/>
                  </a:lnTo>
                  <a:lnTo>
                    <a:pt x="522" y="87"/>
                  </a:lnTo>
                  <a:lnTo>
                    <a:pt x="531" y="99"/>
                  </a:lnTo>
                  <a:lnTo>
                    <a:pt x="540" y="110"/>
                  </a:lnTo>
                  <a:lnTo>
                    <a:pt x="552" y="119"/>
                  </a:lnTo>
                  <a:lnTo>
                    <a:pt x="558" y="133"/>
                  </a:lnTo>
                  <a:lnTo>
                    <a:pt x="566" y="145"/>
                  </a:lnTo>
                  <a:lnTo>
                    <a:pt x="575" y="157"/>
                  </a:lnTo>
                  <a:lnTo>
                    <a:pt x="581" y="172"/>
                  </a:lnTo>
                  <a:lnTo>
                    <a:pt x="587" y="183"/>
                  </a:lnTo>
                  <a:lnTo>
                    <a:pt x="593" y="197"/>
                  </a:lnTo>
                  <a:lnTo>
                    <a:pt x="598" y="212"/>
                  </a:lnTo>
                  <a:lnTo>
                    <a:pt x="601" y="227"/>
                  </a:lnTo>
                  <a:lnTo>
                    <a:pt x="604" y="241"/>
                  </a:lnTo>
                  <a:lnTo>
                    <a:pt x="607" y="256"/>
                  </a:lnTo>
                  <a:lnTo>
                    <a:pt x="610" y="271"/>
                  </a:lnTo>
                  <a:lnTo>
                    <a:pt x="610" y="284"/>
                  </a:lnTo>
                  <a:lnTo>
                    <a:pt x="610" y="302"/>
                  </a:lnTo>
                  <a:lnTo>
                    <a:pt x="601" y="302"/>
                  </a:lnTo>
                  <a:lnTo>
                    <a:pt x="601" y="287"/>
                  </a:lnTo>
                  <a:lnTo>
                    <a:pt x="601" y="271"/>
                  </a:lnTo>
                  <a:lnTo>
                    <a:pt x="598" y="256"/>
                  </a:lnTo>
                  <a:lnTo>
                    <a:pt x="595" y="241"/>
                  </a:lnTo>
                  <a:lnTo>
                    <a:pt x="593" y="229"/>
                  </a:lnTo>
                  <a:lnTo>
                    <a:pt x="587" y="215"/>
                  </a:lnTo>
                  <a:lnTo>
                    <a:pt x="584" y="200"/>
                  </a:lnTo>
                  <a:lnTo>
                    <a:pt x="578" y="188"/>
                  </a:lnTo>
                  <a:lnTo>
                    <a:pt x="572" y="175"/>
                  </a:lnTo>
                  <a:lnTo>
                    <a:pt x="566" y="163"/>
                  </a:lnTo>
                  <a:lnTo>
                    <a:pt x="558" y="148"/>
                  </a:lnTo>
                  <a:lnTo>
                    <a:pt x="552" y="136"/>
                  </a:lnTo>
                  <a:lnTo>
                    <a:pt x="543" y="125"/>
                  </a:lnTo>
                  <a:lnTo>
                    <a:pt x="534" y="116"/>
                  </a:lnTo>
                  <a:lnTo>
                    <a:pt x="525" y="104"/>
                  </a:lnTo>
                  <a:lnTo>
                    <a:pt x="513" y="93"/>
                  </a:lnTo>
                  <a:lnTo>
                    <a:pt x="505" y="84"/>
                  </a:lnTo>
                  <a:lnTo>
                    <a:pt x="493" y="76"/>
                  </a:lnTo>
                  <a:lnTo>
                    <a:pt x="481" y="67"/>
                  </a:lnTo>
                  <a:lnTo>
                    <a:pt x="469" y="58"/>
                  </a:lnTo>
                  <a:lnTo>
                    <a:pt x="458" y="49"/>
                  </a:lnTo>
                  <a:lnTo>
                    <a:pt x="446" y="43"/>
                  </a:lnTo>
                  <a:lnTo>
                    <a:pt x="434" y="37"/>
                  </a:lnTo>
                  <a:lnTo>
                    <a:pt x="420" y="31"/>
                  </a:lnTo>
                  <a:lnTo>
                    <a:pt x="408" y="25"/>
                  </a:lnTo>
                  <a:lnTo>
                    <a:pt x="393" y="20"/>
                  </a:lnTo>
                  <a:lnTo>
                    <a:pt x="378" y="17"/>
                  </a:lnTo>
                  <a:lnTo>
                    <a:pt x="363" y="15"/>
                  </a:lnTo>
                  <a:lnTo>
                    <a:pt x="352" y="12"/>
                  </a:lnTo>
                  <a:lnTo>
                    <a:pt x="338" y="9"/>
                  </a:lnTo>
                  <a:lnTo>
                    <a:pt x="320" y="9"/>
                  </a:lnTo>
                  <a:lnTo>
                    <a:pt x="305" y="9"/>
                  </a:lnTo>
                  <a:lnTo>
                    <a:pt x="290" y="9"/>
                  </a:lnTo>
                  <a:lnTo>
                    <a:pt x="275" y="9"/>
                  </a:lnTo>
                  <a:lnTo>
                    <a:pt x="260" y="12"/>
                  </a:lnTo>
                  <a:lnTo>
                    <a:pt x="247" y="15"/>
                  </a:lnTo>
                  <a:lnTo>
                    <a:pt x="232" y="17"/>
                  </a:lnTo>
                  <a:lnTo>
                    <a:pt x="217" y="20"/>
                  </a:lnTo>
                  <a:lnTo>
                    <a:pt x="205" y="25"/>
                  </a:lnTo>
                  <a:lnTo>
                    <a:pt x="190" y="31"/>
                  </a:lnTo>
                  <a:lnTo>
                    <a:pt x="176" y="37"/>
                  </a:lnTo>
                  <a:lnTo>
                    <a:pt x="164" y="43"/>
                  </a:lnTo>
                  <a:lnTo>
                    <a:pt x="153" y="49"/>
                  </a:lnTo>
                  <a:lnTo>
                    <a:pt x="141" y="58"/>
                  </a:lnTo>
                  <a:lnTo>
                    <a:pt x="129" y="67"/>
                  </a:lnTo>
                  <a:lnTo>
                    <a:pt x="117" y="76"/>
                  </a:lnTo>
                  <a:lnTo>
                    <a:pt x="105" y="84"/>
                  </a:lnTo>
                  <a:lnTo>
                    <a:pt x="96" y="93"/>
                  </a:lnTo>
                  <a:lnTo>
                    <a:pt x="88" y="104"/>
                  </a:lnTo>
                  <a:lnTo>
                    <a:pt x="76" y="116"/>
                  </a:lnTo>
                  <a:lnTo>
                    <a:pt x="67" y="125"/>
                  </a:lnTo>
                  <a:lnTo>
                    <a:pt x="61" y="136"/>
                  </a:lnTo>
                  <a:lnTo>
                    <a:pt x="52" y="148"/>
                  </a:lnTo>
                  <a:lnTo>
                    <a:pt x="47" y="163"/>
                  </a:lnTo>
                  <a:lnTo>
                    <a:pt x="38" y="175"/>
                  </a:lnTo>
                  <a:lnTo>
                    <a:pt x="32" y="188"/>
                  </a:lnTo>
                  <a:lnTo>
                    <a:pt x="26" y="200"/>
                  </a:lnTo>
                  <a:lnTo>
                    <a:pt x="23" y="215"/>
                  </a:lnTo>
                  <a:lnTo>
                    <a:pt x="20" y="229"/>
                  </a:lnTo>
                  <a:lnTo>
                    <a:pt x="14" y="241"/>
                  </a:lnTo>
                  <a:lnTo>
                    <a:pt x="14" y="256"/>
                  </a:lnTo>
                  <a:lnTo>
                    <a:pt x="11" y="271"/>
                  </a:lnTo>
                  <a:lnTo>
                    <a:pt x="9" y="287"/>
                  </a:lnTo>
                  <a:lnTo>
                    <a:pt x="9" y="302"/>
                  </a:lnTo>
                  <a:lnTo>
                    <a:pt x="0" y="302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9" name="Freeform 143">
              <a:extLst>
                <a:ext uri="{FF2B5EF4-FFF2-40B4-BE49-F238E27FC236}">
                  <a16:creationId xmlns:a16="http://schemas.microsoft.com/office/drawing/2014/main" id="{257FF738-438F-4B74-BD54-1251E027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802"/>
              <a:ext cx="611" cy="304"/>
            </a:xfrm>
            <a:custGeom>
              <a:avLst/>
              <a:gdLst>
                <a:gd name="T0" fmla="*/ 0 w 611"/>
                <a:gd name="T1" fmla="*/ 15 h 304"/>
                <a:gd name="T2" fmla="*/ 6 w 611"/>
                <a:gd name="T3" fmla="*/ 61 h 304"/>
                <a:gd name="T4" fmla="*/ 17 w 611"/>
                <a:gd name="T5" fmla="*/ 105 h 304"/>
                <a:gd name="T6" fmla="*/ 38 w 611"/>
                <a:gd name="T7" fmla="*/ 143 h 304"/>
                <a:gd name="T8" fmla="*/ 61 w 611"/>
                <a:gd name="T9" fmla="*/ 180 h 304"/>
                <a:gd name="T10" fmla="*/ 91 w 611"/>
                <a:gd name="T11" fmla="*/ 213 h 304"/>
                <a:gd name="T12" fmla="*/ 123 w 611"/>
                <a:gd name="T13" fmla="*/ 241 h 304"/>
                <a:gd name="T14" fmla="*/ 161 w 611"/>
                <a:gd name="T15" fmla="*/ 265 h 304"/>
                <a:gd name="T16" fmla="*/ 202 w 611"/>
                <a:gd name="T17" fmla="*/ 285 h 304"/>
                <a:gd name="T18" fmla="*/ 244 w 611"/>
                <a:gd name="T19" fmla="*/ 297 h 304"/>
                <a:gd name="T20" fmla="*/ 290 w 611"/>
                <a:gd name="T21" fmla="*/ 303 h 304"/>
                <a:gd name="T22" fmla="*/ 338 w 611"/>
                <a:gd name="T23" fmla="*/ 303 h 304"/>
                <a:gd name="T24" fmla="*/ 381 w 611"/>
                <a:gd name="T25" fmla="*/ 294 h 304"/>
                <a:gd name="T26" fmla="*/ 426 w 611"/>
                <a:gd name="T27" fmla="*/ 279 h 304"/>
                <a:gd name="T28" fmla="*/ 463 w 611"/>
                <a:gd name="T29" fmla="*/ 259 h 304"/>
                <a:gd name="T30" fmla="*/ 499 w 611"/>
                <a:gd name="T31" fmla="*/ 232 h 304"/>
                <a:gd name="T32" fmla="*/ 531 w 611"/>
                <a:gd name="T33" fmla="*/ 204 h 304"/>
                <a:gd name="T34" fmla="*/ 558 w 611"/>
                <a:gd name="T35" fmla="*/ 169 h 304"/>
                <a:gd name="T36" fmla="*/ 581 w 611"/>
                <a:gd name="T37" fmla="*/ 131 h 304"/>
                <a:gd name="T38" fmla="*/ 598 w 611"/>
                <a:gd name="T39" fmla="*/ 90 h 304"/>
                <a:gd name="T40" fmla="*/ 607 w 611"/>
                <a:gd name="T41" fmla="*/ 47 h 304"/>
                <a:gd name="T42" fmla="*/ 610 w 611"/>
                <a:gd name="T43" fmla="*/ 0 h 304"/>
                <a:gd name="T44" fmla="*/ 601 w 611"/>
                <a:gd name="T45" fmla="*/ 29 h 304"/>
                <a:gd name="T46" fmla="*/ 593 w 611"/>
                <a:gd name="T47" fmla="*/ 73 h 304"/>
                <a:gd name="T48" fmla="*/ 578 w 611"/>
                <a:gd name="T49" fmla="*/ 114 h 304"/>
                <a:gd name="T50" fmla="*/ 558 w 611"/>
                <a:gd name="T51" fmla="*/ 151 h 304"/>
                <a:gd name="T52" fmla="*/ 534 w 611"/>
                <a:gd name="T53" fmla="*/ 186 h 304"/>
                <a:gd name="T54" fmla="*/ 505 w 611"/>
                <a:gd name="T55" fmla="*/ 219 h 304"/>
                <a:gd name="T56" fmla="*/ 469 w 611"/>
                <a:gd name="T57" fmla="*/ 241 h 304"/>
                <a:gd name="T58" fmla="*/ 434 w 611"/>
                <a:gd name="T59" fmla="*/ 265 h 304"/>
                <a:gd name="T60" fmla="*/ 393 w 611"/>
                <a:gd name="T61" fmla="*/ 279 h 304"/>
                <a:gd name="T62" fmla="*/ 352 w 611"/>
                <a:gd name="T63" fmla="*/ 291 h 304"/>
                <a:gd name="T64" fmla="*/ 305 w 611"/>
                <a:gd name="T65" fmla="*/ 294 h 304"/>
                <a:gd name="T66" fmla="*/ 260 w 611"/>
                <a:gd name="T67" fmla="*/ 291 h 304"/>
                <a:gd name="T68" fmla="*/ 217 w 611"/>
                <a:gd name="T69" fmla="*/ 279 h 304"/>
                <a:gd name="T70" fmla="*/ 176 w 611"/>
                <a:gd name="T71" fmla="*/ 265 h 304"/>
                <a:gd name="T72" fmla="*/ 141 w 611"/>
                <a:gd name="T73" fmla="*/ 241 h 304"/>
                <a:gd name="T74" fmla="*/ 105 w 611"/>
                <a:gd name="T75" fmla="*/ 219 h 304"/>
                <a:gd name="T76" fmla="*/ 76 w 611"/>
                <a:gd name="T77" fmla="*/ 186 h 304"/>
                <a:gd name="T78" fmla="*/ 52 w 611"/>
                <a:gd name="T79" fmla="*/ 151 h 304"/>
                <a:gd name="T80" fmla="*/ 32 w 611"/>
                <a:gd name="T81" fmla="*/ 114 h 304"/>
                <a:gd name="T82" fmla="*/ 20 w 611"/>
                <a:gd name="T83" fmla="*/ 73 h 304"/>
                <a:gd name="T84" fmla="*/ 11 w 611"/>
                <a:gd name="T85" fmla="*/ 29 h 304"/>
                <a:gd name="T86" fmla="*/ 0 w 611"/>
                <a:gd name="T87" fmla="*/ 0 h 30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11"/>
                <a:gd name="T133" fmla="*/ 0 h 304"/>
                <a:gd name="T134" fmla="*/ 611 w 611"/>
                <a:gd name="T135" fmla="*/ 304 h 30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11" h="304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29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6"/>
                  </a:lnTo>
                  <a:lnTo>
                    <a:pt x="14" y="90"/>
                  </a:lnTo>
                  <a:lnTo>
                    <a:pt x="17" y="105"/>
                  </a:lnTo>
                  <a:lnTo>
                    <a:pt x="23" y="117"/>
                  </a:lnTo>
                  <a:lnTo>
                    <a:pt x="29" y="131"/>
                  </a:lnTo>
                  <a:lnTo>
                    <a:pt x="38" y="143"/>
                  </a:lnTo>
                  <a:lnTo>
                    <a:pt x="44" y="157"/>
                  </a:lnTo>
                  <a:lnTo>
                    <a:pt x="52" y="169"/>
                  </a:lnTo>
                  <a:lnTo>
                    <a:pt x="61" y="180"/>
                  </a:lnTo>
                  <a:lnTo>
                    <a:pt x="70" y="192"/>
                  </a:lnTo>
                  <a:lnTo>
                    <a:pt x="79" y="204"/>
                  </a:lnTo>
                  <a:lnTo>
                    <a:pt x="91" y="213"/>
                  </a:lnTo>
                  <a:lnTo>
                    <a:pt x="99" y="225"/>
                  </a:lnTo>
                  <a:lnTo>
                    <a:pt x="111" y="232"/>
                  </a:lnTo>
                  <a:lnTo>
                    <a:pt x="123" y="241"/>
                  </a:lnTo>
                  <a:lnTo>
                    <a:pt x="135" y="250"/>
                  </a:lnTo>
                  <a:lnTo>
                    <a:pt x="147" y="259"/>
                  </a:lnTo>
                  <a:lnTo>
                    <a:pt x="161" y="265"/>
                  </a:lnTo>
                  <a:lnTo>
                    <a:pt x="173" y="274"/>
                  </a:lnTo>
                  <a:lnTo>
                    <a:pt x="187" y="279"/>
                  </a:lnTo>
                  <a:lnTo>
                    <a:pt x="202" y="285"/>
                  </a:lnTo>
                  <a:lnTo>
                    <a:pt x="214" y="288"/>
                  </a:lnTo>
                  <a:lnTo>
                    <a:pt x="229" y="294"/>
                  </a:lnTo>
                  <a:lnTo>
                    <a:pt x="244" y="297"/>
                  </a:lnTo>
                  <a:lnTo>
                    <a:pt x="258" y="300"/>
                  </a:lnTo>
                  <a:lnTo>
                    <a:pt x="275" y="303"/>
                  </a:lnTo>
                  <a:lnTo>
                    <a:pt x="290" y="303"/>
                  </a:lnTo>
                  <a:lnTo>
                    <a:pt x="305" y="303"/>
                  </a:lnTo>
                  <a:lnTo>
                    <a:pt x="323" y="303"/>
                  </a:lnTo>
                  <a:lnTo>
                    <a:pt x="338" y="303"/>
                  </a:lnTo>
                  <a:lnTo>
                    <a:pt x="352" y="300"/>
                  </a:lnTo>
                  <a:lnTo>
                    <a:pt x="366" y="297"/>
                  </a:lnTo>
                  <a:lnTo>
                    <a:pt x="381" y="294"/>
                  </a:lnTo>
                  <a:lnTo>
                    <a:pt x="396" y="288"/>
                  </a:lnTo>
                  <a:lnTo>
                    <a:pt x="411" y="285"/>
                  </a:lnTo>
                  <a:lnTo>
                    <a:pt x="426" y="279"/>
                  </a:lnTo>
                  <a:lnTo>
                    <a:pt x="437" y="274"/>
                  </a:lnTo>
                  <a:lnTo>
                    <a:pt x="452" y="265"/>
                  </a:lnTo>
                  <a:lnTo>
                    <a:pt x="463" y="259"/>
                  </a:lnTo>
                  <a:lnTo>
                    <a:pt x="475" y="250"/>
                  </a:lnTo>
                  <a:lnTo>
                    <a:pt x="487" y="241"/>
                  </a:lnTo>
                  <a:lnTo>
                    <a:pt x="499" y="232"/>
                  </a:lnTo>
                  <a:lnTo>
                    <a:pt x="510" y="225"/>
                  </a:lnTo>
                  <a:lnTo>
                    <a:pt x="522" y="213"/>
                  </a:lnTo>
                  <a:lnTo>
                    <a:pt x="531" y="204"/>
                  </a:lnTo>
                  <a:lnTo>
                    <a:pt x="540" y="192"/>
                  </a:lnTo>
                  <a:lnTo>
                    <a:pt x="552" y="180"/>
                  </a:lnTo>
                  <a:lnTo>
                    <a:pt x="558" y="169"/>
                  </a:lnTo>
                  <a:lnTo>
                    <a:pt x="566" y="157"/>
                  </a:lnTo>
                  <a:lnTo>
                    <a:pt x="575" y="143"/>
                  </a:lnTo>
                  <a:lnTo>
                    <a:pt x="581" y="131"/>
                  </a:lnTo>
                  <a:lnTo>
                    <a:pt x="587" y="117"/>
                  </a:lnTo>
                  <a:lnTo>
                    <a:pt x="593" y="105"/>
                  </a:lnTo>
                  <a:lnTo>
                    <a:pt x="598" y="90"/>
                  </a:lnTo>
                  <a:lnTo>
                    <a:pt x="601" y="76"/>
                  </a:lnTo>
                  <a:lnTo>
                    <a:pt x="604" y="61"/>
                  </a:lnTo>
                  <a:lnTo>
                    <a:pt x="607" y="47"/>
                  </a:lnTo>
                  <a:lnTo>
                    <a:pt x="610" y="29"/>
                  </a:lnTo>
                  <a:lnTo>
                    <a:pt x="610" y="15"/>
                  </a:lnTo>
                  <a:lnTo>
                    <a:pt x="610" y="0"/>
                  </a:lnTo>
                  <a:lnTo>
                    <a:pt x="601" y="0"/>
                  </a:lnTo>
                  <a:lnTo>
                    <a:pt x="601" y="15"/>
                  </a:lnTo>
                  <a:lnTo>
                    <a:pt x="601" y="29"/>
                  </a:lnTo>
                  <a:lnTo>
                    <a:pt x="598" y="44"/>
                  </a:lnTo>
                  <a:lnTo>
                    <a:pt x="595" y="58"/>
                  </a:lnTo>
                  <a:lnTo>
                    <a:pt x="593" y="73"/>
                  </a:lnTo>
                  <a:lnTo>
                    <a:pt x="587" y="87"/>
                  </a:lnTo>
                  <a:lnTo>
                    <a:pt x="584" y="99"/>
                  </a:lnTo>
                  <a:lnTo>
                    <a:pt x="578" y="114"/>
                  </a:lnTo>
                  <a:lnTo>
                    <a:pt x="572" y="128"/>
                  </a:lnTo>
                  <a:lnTo>
                    <a:pt x="566" y="140"/>
                  </a:lnTo>
                  <a:lnTo>
                    <a:pt x="558" y="151"/>
                  </a:lnTo>
                  <a:lnTo>
                    <a:pt x="552" y="163"/>
                  </a:lnTo>
                  <a:lnTo>
                    <a:pt x="543" y="175"/>
                  </a:lnTo>
                  <a:lnTo>
                    <a:pt x="534" y="186"/>
                  </a:lnTo>
                  <a:lnTo>
                    <a:pt x="525" y="198"/>
                  </a:lnTo>
                  <a:lnTo>
                    <a:pt x="513" y="207"/>
                  </a:lnTo>
                  <a:lnTo>
                    <a:pt x="505" y="219"/>
                  </a:lnTo>
                  <a:lnTo>
                    <a:pt x="493" y="227"/>
                  </a:lnTo>
                  <a:lnTo>
                    <a:pt x="481" y="235"/>
                  </a:lnTo>
                  <a:lnTo>
                    <a:pt x="469" y="241"/>
                  </a:lnTo>
                  <a:lnTo>
                    <a:pt x="458" y="250"/>
                  </a:lnTo>
                  <a:lnTo>
                    <a:pt x="446" y="259"/>
                  </a:lnTo>
                  <a:lnTo>
                    <a:pt x="434" y="265"/>
                  </a:lnTo>
                  <a:lnTo>
                    <a:pt x="420" y="271"/>
                  </a:lnTo>
                  <a:lnTo>
                    <a:pt x="408" y="277"/>
                  </a:lnTo>
                  <a:lnTo>
                    <a:pt x="393" y="279"/>
                  </a:lnTo>
                  <a:lnTo>
                    <a:pt x="378" y="285"/>
                  </a:lnTo>
                  <a:lnTo>
                    <a:pt x="363" y="288"/>
                  </a:lnTo>
                  <a:lnTo>
                    <a:pt x="352" y="291"/>
                  </a:lnTo>
                  <a:lnTo>
                    <a:pt x="338" y="291"/>
                  </a:lnTo>
                  <a:lnTo>
                    <a:pt x="320" y="294"/>
                  </a:lnTo>
                  <a:lnTo>
                    <a:pt x="305" y="294"/>
                  </a:lnTo>
                  <a:lnTo>
                    <a:pt x="290" y="294"/>
                  </a:lnTo>
                  <a:lnTo>
                    <a:pt x="275" y="291"/>
                  </a:lnTo>
                  <a:lnTo>
                    <a:pt x="260" y="291"/>
                  </a:lnTo>
                  <a:lnTo>
                    <a:pt x="247" y="288"/>
                  </a:lnTo>
                  <a:lnTo>
                    <a:pt x="232" y="285"/>
                  </a:lnTo>
                  <a:lnTo>
                    <a:pt x="217" y="279"/>
                  </a:lnTo>
                  <a:lnTo>
                    <a:pt x="205" y="277"/>
                  </a:lnTo>
                  <a:lnTo>
                    <a:pt x="190" y="271"/>
                  </a:lnTo>
                  <a:lnTo>
                    <a:pt x="176" y="265"/>
                  </a:lnTo>
                  <a:lnTo>
                    <a:pt x="164" y="259"/>
                  </a:lnTo>
                  <a:lnTo>
                    <a:pt x="153" y="250"/>
                  </a:lnTo>
                  <a:lnTo>
                    <a:pt x="141" y="241"/>
                  </a:lnTo>
                  <a:lnTo>
                    <a:pt x="129" y="235"/>
                  </a:lnTo>
                  <a:lnTo>
                    <a:pt x="117" y="227"/>
                  </a:lnTo>
                  <a:lnTo>
                    <a:pt x="105" y="219"/>
                  </a:lnTo>
                  <a:lnTo>
                    <a:pt x="96" y="207"/>
                  </a:lnTo>
                  <a:lnTo>
                    <a:pt x="88" y="198"/>
                  </a:lnTo>
                  <a:lnTo>
                    <a:pt x="76" y="186"/>
                  </a:lnTo>
                  <a:lnTo>
                    <a:pt x="67" y="175"/>
                  </a:lnTo>
                  <a:lnTo>
                    <a:pt x="61" y="163"/>
                  </a:lnTo>
                  <a:lnTo>
                    <a:pt x="52" y="151"/>
                  </a:lnTo>
                  <a:lnTo>
                    <a:pt x="47" y="140"/>
                  </a:lnTo>
                  <a:lnTo>
                    <a:pt x="38" y="128"/>
                  </a:lnTo>
                  <a:lnTo>
                    <a:pt x="32" y="114"/>
                  </a:lnTo>
                  <a:lnTo>
                    <a:pt x="26" y="99"/>
                  </a:lnTo>
                  <a:lnTo>
                    <a:pt x="23" y="87"/>
                  </a:lnTo>
                  <a:lnTo>
                    <a:pt x="20" y="73"/>
                  </a:lnTo>
                  <a:lnTo>
                    <a:pt x="14" y="58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0" name="Freeform 144">
              <a:extLst>
                <a:ext uri="{FF2B5EF4-FFF2-40B4-BE49-F238E27FC236}">
                  <a16:creationId xmlns:a16="http://schemas.microsoft.com/office/drawing/2014/main" id="{E9C10A75-B18D-453F-99CB-034B8AC19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503"/>
              <a:ext cx="593" cy="294"/>
            </a:xfrm>
            <a:custGeom>
              <a:avLst/>
              <a:gdLst>
                <a:gd name="T0" fmla="*/ 2 w 593"/>
                <a:gd name="T1" fmla="*/ 262 h 294"/>
                <a:gd name="T2" fmla="*/ 11 w 593"/>
                <a:gd name="T3" fmla="*/ 220 h 294"/>
                <a:gd name="T4" fmla="*/ 23 w 593"/>
                <a:gd name="T5" fmla="*/ 179 h 294"/>
                <a:gd name="T6" fmla="*/ 44 w 593"/>
                <a:gd name="T7" fmla="*/ 139 h 294"/>
                <a:gd name="T8" fmla="*/ 67 w 593"/>
                <a:gd name="T9" fmla="*/ 107 h 294"/>
                <a:gd name="T10" fmla="*/ 96 w 593"/>
                <a:gd name="T11" fmla="*/ 75 h 294"/>
                <a:gd name="T12" fmla="*/ 132 w 593"/>
                <a:gd name="T13" fmla="*/ 49 h 294"/>
                <a:gd name="T14" fmla="*/ 167 w 593"/>
                <a:gd name="T15" fmla="*/ 28 h 294"/>
                <a:gd name="T16" fmla="*/ 208 w 593"/>
                <a:gd name="T17" fmla="*/ 11 h 294"/>
                <a:gd name="T18" fmla="*/ 251 w 593"/>
                <a:gd name="T19" fmla="*/ 3 h 294"/>
                <a:gd name="T20" fmla="*/ 296 w 593"/>
                <a:gd name="T21" fmla="*/ 0 h 294"/>
                <a:gd name="T22" fmla="*/ 343 w 593"/>
                <a:gd name="T23" fmla="*/ 3 h 294"/>
                <a:gd name="T24" fmla="*/ 384 w 593"/>
                <a:gd name="T25" fmla="*/ 11 h 294"/>
                <a:gd name="T26" fmla="*/ 425 w 593"/>
                <a:gd name="T27" fmla="*/ 28 h 294"/>
                <a:gd name="T28" fmla="*/ 460 w 593"/>
                <a:gd name="T29" fmla="*/ 49 h 294"/>
                <a:gd name="T30" fmla="*/ 496 w 593"/>
                <a:gd name="T31" fmla="*/ 75 h 294"/>
                <a:gd name="T32" fmla="*/ 525 w 593"/>
                <a:gd name="T33" fmla="*/ 107 h 294"/>
                <a:gd name="T34" fmla="*/ 548 w 593"/>
                <a:gd name="T35" fmla="*/ 139 h 294"/>
                <a:gd name="T36" fmla="*/ 569 w 593"/>
                <a:gd name="T37" fmla="*/ 179 h 294"/>
                <a:gd name="T38" fmla="*/ 584 w 593"/>
                <a:gd name="T39" fmla="*/ 220 h 294"/>
                <a:gd name="T40" fmla="*/ 592 w 593"/>
                <a:gd name="T41" fmla="*/ 262 h 294"/>
                <a:gd name="T42" fmla="*/ 584 w 593"/>
                <a:gd name="T43" fmla="*/ 293 h 294"/>
                <a:gd name="T44" fmla="*/ 581 w 593"/>
                <a:gd name="T45" fmla="*/ 250 h 294"/>
                <a:gd name="T46" fmla="*/ 569 w 593"/>
                <a:gd name="T47" fmla="*/ 209 h 294"/>
                <a:gd name="T48" fmla="*/ 554 w 593"/>
                <a:gd name="T49" fmla="*/ 169 h 294"/>
                <a:gd name="T50" fmla="*/ 534 w 593"/>
                <a:gd name="T51" fmla="*/ 133 h 294"/>
                <a:gd name="T52" fmla="*/ 510 w 593"/>
                <a:gd name="T53" fmla="*/ 101 h 294"/>
                <a:gd name="T54" fmla="*/ 478 w 593"/>
                <a:gd name="T55" fmla="*/ 73 h 294"/>
                <a:gd name="T56" fmla="*/ 445 w 593"/>
                <a:gd name="T57" fmla="*/ 49 h 294"/>
                <a:gd name="T58" fmla="*/ 408 w 593"/>
                <a:gd name="T59" fmla="*/ 31 h 294"/>
                <a:gd name="T60" fmla="*/ 369 w 593"/>
                <a:gd name="T61" fmla="*/ 17 h 294"/>
                <a:gd name="T62" fmla="*/ 326 w 593"/>
                <a:gd name="T63" fmla="*/ 8 h 294"/>
                <a:gd name="T64" fmla="*/ 281 w 593"/>
                <a:gd name="T65" fmla="*/ 8 h 294"/>
                <a:gd name="T66" fmla="*/ 241 w 593"/>
                <a:gd name="T67" fmla="*/ 14 h 294"/>
                <a:gd name="T68" fmla="*/ 199 w 593"/>
                <a:gd name="T69" fmla="*/ 25 h 294"/>
                <a:gd name="T70" fmla="*/ 161 w 593"/>
                <a:gd name="T71" fmla="*/ 43 h 294"/>
                <a:gd name="T72" fmla="*/ 126 w 593"/>
                <a:gd name="T73" fmla="*/ 64 h 294"/>
                <a:gd name="T74" fmla="*/ 93 w 593"/>
                <a:gd name="T75" fmla="*/ 93 h 294"/>
                <a:gd name="T76" fmla="*/ 67 w 593"/>
                <a:gd name="T77" fmla="*/ 122 h 294"/>
                <a:gd name="T78" fmla="*/ 44 w 593"/>
                <a:gd name="T79" fmla="*/ 157 h 294"/>
                <a:gd name="T80" fmla="*/ 26 w 593"/>
                <a:gd name="T81" fmla="*/ 194 h 294"/>
                <a:gd name="T82" fmla="*/ 14 w 593"/>
                <a:gd name="T83" fmla="*/ 235 h 294"/>
                <a:gd name="T84" fmla="*/ 11 w 593"/>
                <a:gd name="T85" fmla="*/ 278 h 29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3"/>
                <a:gd name="T130" fmla="*/ 0 h 294"/>
                <a:gd name="T131" fmla="*/ 593 w 593"/>
                <a:gd name="T132" fmla="*/ 294 h 29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3" h="294">
                  <a:moveTo>
                    <a:pt x="0" y="293"/>
                  </a:moveTo>
                  <a:lnTo>
                    <a:pt x="0" y="278"/>
                  </a:lnTo>
                  <a:lnTo>
                    <a:pt x="2" y="262"/>
                  </a:lnTo>
                  <a:lnTo>
                    <a:pt x="5" y="247"/>
                  </a:lnTo>
                  <a:lnTo>
                    <a:pt x="5" y="232"/>
                  </a:lnTo>
                  <a:lnTo>
                    <a:pt x="11" y="220"/>
                  </a:lnTo>
                  <a:lnTo>
                    <a:pt x="14" y="206"/>
                  </a:lnTo>
                  <a:lnTo>
                    <a:pt x="17" y="191"/>
                  </a:lnTo>
                  <a:lnTo>
                    <a:pt x="23" y="179"/>
                  </a:lnTo>
                  <a:lnTo>
                    <a:pt x="29" y="166"/>
                  </a:lnTo>
                  <a:lnTo>
                    <a:pt x="38" y="154"/>
                  </a:lnTo>
                  <a:lnTo>
                    <a:pt x="44" y="139"/>
                  </a:lnTo>
                  <a:lnTo>
                    <a:pt x="52" y="127"/>
                  </a:lnTo>
                  <a:lnTo>
                    <a:pt x="58" y="116"/>
                  </a:lnTo>
                  <a:lnTo>
                    <a:pt x="67" y="107"/>
                  </a:lnTo>
                  <a:lnTo>
                    <a:pt x="79" y="95"/>
                  </a:lnTo>
                  <a:lnTo>
                    <a:pt x="87" y="84"/>
                  </a:lnTo>
                  <a:lnTo>
                    <a:pt x="96" y="75"/>
                  </a:lnTo>
                  <a:lnTo>
                    <a:pt x="108" y="67"/>
                  </a:lnTo>
                  <a:lnTo>
                    <a:pt x="120" y="58"/>
                  </a:lnTo>
                  <a:lnTo>
                    <a:pt x="132" y="49"/>
                  </a:lnTo>
                  <a:lnTo>
                    <a:pt x="144" y="40"/>
                  </a:lnTo>
                  <a:lnTo>
                    <a:pt x="155" y="34"/>
                  </a:lnTo>
                  <a:lnTo>
                    <a:pt x="167" y="28"/>
                  </a:lnTo>
                  <a:lnTo>
                    <a:pt x="181" y="23"/>
                  </a:lnTo>
                  <a:lnTo>
                    <a:pt x="196" y="17"/>
                  </a:lnTo>
                  <a:lnTo>
                    <a:pt x="208" y="11"/>
                  </a:lnTo>
                  <a:lnTo>
                    <a:pt x="223" y="8"/>
                  </a:lnTo>
                  <a:lnTo>
                    <a:pt x="238" y="6"/>
                  </a:lnTo>
                  <a:lnTo>
                    <a:pt x="251" y="3"/>
                  </a:lnTo>
                  <a:lnTo>
                    <a:pt x="266" y="0"/>
                  </a:lnTo>
                  <a:lnTo>
                    <a:pt x="281" y="0"/>
                  </a:lnTo>
                  <a:lnTo>
                    <a:pt x="296" y="0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43" y="3"/>
                  </a:lnTo>
                  <a:lnTo>
                    <a:pt x="354" y="6"/>
                  </a:lnTo>
                  <a:lnTo>
                    <a:pt x="369" y="8"/>
                  </a:lnTo>
                  <a:lnTo>
                    <a:pt x="384" y="11"/>
                  </a:lnTo>
                  <a:lnTo>
                    <a:pt x="399" y="17"/>
                  </a:lnTo>
                  <a:lnTo>
                    <a:pt x="411" y="23"/>
                  </a:lnTo>
                  <a:lnTo>
                    <a:pt x="425" y="28"/>
                  </a:lnTo>
                  <a:lnTo>
                    <a:pt x="437" y="34"/>
                  </a:lnTo>
                  <a:lnTo>
                    <a:pt x="448" y="40"/>
                  </a:lnTo>
                  <a:lnTo>
                    <a:pt x="460" y="49"/>
                  </a:lnTo>
                  <a:lnTo>
                    <a:pt x="472" y="58"/>
                  </a:lnTo>
                  <a:lnTo>
                    <a:pt x="484" y="67"/>
                  </a:lnTo>
                  <a:lnTo>
                    <a:pt x="496" y="75"/>
                  </a:lnTo>
                  <a:lnTo>
                    <a:pt x="504" y="84"/>
                  </a:lnTo>
                  <a:lnTo>
                    <a:pt x="516" y="95"/>
                  </a:lnTo>
                  <a:lnTo>
                    <a:pt x="525" y="107"/>
                  </a:lnTo>
                  <a:lnTo>
                    <a:pt x="534" y="116"/>
                  </a:lnTo>
                  <a:lnTo>
                    <a:pt x="543" y="127"/>
                  </a:lnTo>
                  <a:lnTo>
                    <a:pt x="548" y="139"/>
                  </a:lnTo>
                  <a:lnTo>
                    <a:pt x="557" y="154"/>
                  </a:lnTo>
                  <a:lnTo>
                    <a:pt x="563" y="166"/>
                  </a:lnTo>
                  <a:lnTo>
                    <a:pt x="569" y="179"/>
                  </a:lnTo>
                  <a:lnTo>
                    <a:pt x="575" y="191"/>
                  </a:lnTo>
                  <a:lnTo>
                    <a:pt x="578" y="206"/>
                  </a:lnTo>
                  <a:lnTo>
                    <a:pt x="584" y="220"/>
                  </a:lnTo>
                  <a:lnTo>
                    <a:pt x="586" y="232"/>
                  </a:lnTo>
                  <a:lnTo>
                    <a:pt x="589" y="247"/>
                  </a:lnTo>
                  <a:lnTo>
                    <a:pt x="592" y="262"/>
                  </a:lnTo>
                  <a:lnTo>
                    <a:pt x="592" y="278"/>
                  </a:lnTo>
                  <a:lnTo>
                    <a:pt x="592" y="293"/>
                  </a:lnTo>
                  <a:lnTo>
                    <a:pt x="584" y="293"/>
                  </a:lnTo>
                  <a:lnTo>
                    <a:pt x="584" y="278"/>
                  </a:lnTo>
                  <a:lnTo>
                    <a:pt x="581" y="265"/>
                  </a:lnTo>
                  <a:lnTo>
                    <a:pt x="581" y="250"/>
                  </a:lnTo>
                  <a:lnTo>
                    <a:pt x="578" y="235"/>
                  </a:lnTo>
                  <a:lnTo>
                    <a:pt x="575" y="220"/>
                  </a:lnTo>
                  <a:lnTo>
                    <a:pt x="569" y="209"/>
                  </a:lnTo>
                  <a:lnTo>
                    <a:pt x="566" y="194"/>
                  </a:lnTo>
                  <a:lnTo>
                    <a:pt x="560" y="182"/>
                  </a:lnTo>
                  <a:lnTo>
                    <a:pt x="554" y="169"/>
                  </a:lnTo>
                  <a:lnTo>
                    <a:pt x="548" y="157"/>
                  </a:lnTo>
                  <a:lnTo>
                    <a:pt x="543" y="145"/>
                  </a:lnTo>
                  <a:lnTo>
                    <a:pt x="534" y="133"/>
                  </a:lnTo>
                  <a:lnTo>
                    <a:pt x="528" y="122"/>
                  </a:lnTo>
                  <a:lnTo>
                    <a:pt x="519" y="113"/>
                  </a:lnTo>
                  <a:lnTo>
                    <a:pt x="510" y="101"/>
                  </a:lnTo>
                  <a:lnTo>
                    <a:pt x="499" y="93"/>
                  </a:lnTo>
                  <a:lnTo>
                    <a:pt x="490" y="81"/>
                  </a:lnTo>
                  <a:lnTo>
                    <a:pt x="478" y="73"/>
                  </a:lnTo>
                  <a:lnTo>
                    <a:pt x="469" y="64"/>
                  </a:lnTo>
                  <a:lnTo>
                    <a:pt x="457" y="58"/>
                  </a:lnTo>
                  <a:lnTo>
                    <a:pt x="445" y="49"/>
                  </a:lnTo>
                  <a:lnTo>
                    <a:pt x="434" y="43"/>
                  </a:lnTo>
                  <a:lnTo>
                    <a:pt x="419" y="37"/>
                  </a:lnTo>
                  <a:lnTo>
                    <a:pt x="408" y="31"/>
                  </a:lnTo>
                  <a:lnTo>
                    <a:pt x="396" y="25"/>
                  </a:lnTo>
                  <a:lnTo>
                    <a:pt x="381" y="20"/>
                  </a:lnTo>
                  <a:lnTo>
                    <a:pt x="369" y="17"/>
                  </a:lnTo>
                  <a:lnTo>
                    <a:pt x="354" y="14"/>
                  </a:lnTo>
                  <a:lnTo>
                    <a:pt x="340" y="11"/>
                  </a:lnTo>
                  <a:lnTo>
                    <a:pt x="326" y="8"/>
                  </a:lnTo>
                  <a:lnTo>
                    <a:pt x="311" y="8"/>
                  </a:lnTo>
                  <a:lnTo>
                    <a:pt x="296" y="8"/>
                  </a:lnTo>
                  <a:lnTo>
                    <a:pt x="281" y="8"/>
                  </a:lnTo>
                  <a:lnTo>
                    <a:pt x="266" y="8"/>
                  </a:lnTo>
                  <a:lnTo>
                    <a:pt x="251" y="11"/>
                  </a:lnTo>
                  <a:lnTo>
                    <a:pt x="241" y="14"/>
                  </a:lnTo>
                  <a:lnTo>
                    <a:pt x="226" y="17"/>
                  </a:lnTo>
                  <a:lnTo>
                    <a:pt x="211" y="20"/>
                  </a:lnTo>
                  <a:lnTo>
                    <a:pt x="199" y="25"/>
                  </a:lnTo>
                  <a:lnTo>
                    <a:pt x="184" y="31"/>
                  </a:lnTo>
                  <a:lnTo>
                    <a:pt x="172" y="37"/>
                  </a:lnTo>
                  <a:lnTo>
                    <a:pt x="161" y="43"/>
                  </a:lnTo>
                  <a:lnTo>
                    <a:pt x="149" y="49"/>
                  </a:lnTo>
                  <a:lnTo>
                    <a:pt x="138" y="58"/>
                  </a:lnTo>
                  <a:lnTo>
                    <a:pt x="126" y="64"/>
                  </a:lnTo>
                  <a:lnTo>
                    <a:pt x="114" y="73"/>
                  </a:lnTo>
                  <a:lnTo>
                    <a:pt x="105" y="81"/>
                  </a:lnTo>
                  <a:lnTo>
                    <a:pt x="93" y="93"/>
                  </a:lnTo>
                  <a:lnTo>
                    <a:pt x="84" y="101"/>
                  </a:lnTo>
                  <a:lnTo>
                    <a:pt x="76" y="113"/>
                  </a:lnTo>
                  <a:lnTo>
                    <a:pt x="67" y="122"/>
                  </a:lnTo>
                  <a:lnTo>
                    <a:pt x="58" y="133"/>
                  </a:lnTo>
                  <a:lnTo>
                    <a:pt x="52" y="145"/>
                  </a:lnTo>
                  <a:lnTo>
                    <a:pt x="44" y="157"/>
                  </a:lnTo>
                  <a:lnTo>
                    <a:pt x="38" y="169"/>
                  </a:lnTo>
                  <a:lnTo>
                    <a:pt x="32" y="182"/>
                  </a:lnTo>
                  <a:lnTo>
                    <a:pt x="26" y="194"/>
                  </a:lnTo>
                  <a:lnTo>
                    <a:pt x="23" y="209"/>
                  </a:lnTo>
                  <a:lnTo>
                    <a:pt x="20" y="220"/>
                  </a:lnTo>
                  <a:lnTo>
                    <a:pt x="14" y="235"/>
                  </a:lnTo>
                  <a:lnTo>
                    <a:pt x="14" y="250"/>
                  </a:lnTo>
                  <a:lnTo>
                    <a:pt x="11" y="265"/>
                  </a:lnTo>
                  <a:lnTo>
                    <a:pt x="11" y="278"/>
                  </a:lnTo>
                  <a:lnTo>
                    <a:pt x="8" y="293"/>
                  </a:lnTo>
                  <a:lnTo>
                    <a:pt x="0" y="293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1" name="Freeform 145">
              <a:extLst>
                <a:ext uri="{FF2B5EF4-FFF2-40B4-BE49-F238E27FC236}">
                  <a16:creationId xmlns:a16="http://schemas.microsoft.com/office/drawing/2014/main" id="{71922C3A-A565-4C33-B9F7-B68DAF7E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802"/>
              <a:ext cx="593" cy="295"/>
            </a:xfrm>
            <a:custGeom>
              <a:avLst/>
              <a:gdLst>
                <a:gd name="T0" fmla="*/ 0 w 593"/>
                <a:gd name="T1" fmla="*/ 15 h 295"/>
                <a:gd name="T2" fmla="*/ 5 w 593"/>
                <a:gd name="T3" fmla="*/ 58 h 295"/>
                <a:gd name="T4" fmla="*/ 17 w 593"/>
                <a:gd name="T5" fmla="*/ 99 h 295"/>
                <a:gd name="T6" fmla="*/ 38 w 593"/>
                <a:gd name="T7" fmla="*/ 140 h 295"/>
                <a:gd name="T8" fmla="*/ 58 w 593"/>
                <a:gd name="T9" fmla="*/ 174 h 295"/>
                <a:gd name="T10" fmla="*/ 87 w 593"/>
                <a:gd name="T11" fmla="*/ 207 h 295"/>
                <a:gd name="T12" fmla="*/ 120 w 593"/>
                <a:gd name="T13" fmla="*/ 235 h 295"/>
                <a:gd name="T14" fmla="*/ 155 w 593"/>
                <a:gd name="T15" fmla="*/ 259 h 295"/>
                <a:gd name="T16" fmla="*/ 196 w 593"/>
                <a:gd name="T17" fmla="*/ 276 h 295"/>
                <a:gd name="T18" fmla="*/ 238 w 593"/>
                <a:gd name="T19" fmla="*/ 288 h 295"/>
                <a:gd name="T20" fmla="*/ 281 w 593"/>
                <a:gd name="T21" fmla="*/ 294 h 295"/>
                <a:gd name="T22" fmla="*/ 329 w 593"/>
                <a:gd name="T23" fmla="*/ 291 h 295"/>
                <a:gd name="T24" fmla="*/ 369 w 593"/>
                <a:gd name="T25" fmla="*/ 285 h 295"/>
                <a:gd name="T26" fmla="*/ 411 w 593"/>
                <a:gd name="T27" fmla="*/ 270 h 295"/>
                <a:gd name="T28" fmla="*/ 448 w 593"/>
                <a:gd name="T29" fmla="*/ 250 h 295"/>
                <a:gd name="T30" fmla="*/ 484 w 593"/>
                <a:gd name="T31" fmla="*/ 227 h 295"/>
                <a:gd name="T32" fmla="*/ 516 w 593"/>
                <a:gd name="T33" fmla="*/ 198 h 295"/>
                <a:gd name="T34" fmla="*/ 543 w 593"/>
                <a:gd name="T35" fmla="*/ 163 h 295"/>
                <a:gd name="T36" fmla="*/ 563 w 593"/>
                <a:gd name="T37" fmla="*/ 128 h 295"/>
                <a:gd name="T38" fmla="*/ 578 w 593"/>
                <a:gd name="T39" fmla="*/ 87 h 295"/>
                <a:gd name="T40" fmla="*/ 589 w 593"/>
                <a:gd name="T41" fmla="*/ 44 h 295"/>
                <a:gd name="T42" fmla="*/ 592 w 593"/>
                <a:gd name="T43" fmla="*/ 0 h 295"/>
                <a:gd name="T44" fmla="*/ 581 w 593"/>
                <a:gd name="T45" fmla="*/ 29 h 295"/>
                <a:gd name="T46" fmla="*/ 575 w 593"/>
                <a:gd name="T47" fmla="*/ 70 h 295"/>
                <a:gd name="T48" fmla="*/ 560 w 593"/>
                <a:gd name="T49" fmla="*/ 111 h 295"/>
                <a:gd name="T50" fmla="*/ 543 w 593"/>
                <a:gd name="T51" fmla="*/ 148 h 295"/>
                <a:gd name="T52" fmla="*/ 519 w 593"/>
                <a:gd name="T53" fmla="*/ 180 h 295"/>
                <a:gd name="T54" fmla="*/ 490 w 593"/>
                <a:gd name="T55" fmla="*/ 210 h 295"/>
                <a:gd name="T56" fmla="*/ 457 w 593"/>
                <a:gd name="T57" fmla="*/ 235 h 295"/>
                <a:gd name="T58" fmla="*/ 419 w 593"/>
                <a:gd name="T59" fmla="*/ 256 h 295"/>
                <a:gd name="T60" fmla="*/ 381 w 593"/>
                <a:gd name="T61" fmla="*/ 270 h 295"/>
                <a:gd name="T62" fmla="*/ 340 w 593"/>
                <a:gd name="T63" fmla="*/ 282 h 295"/>
                <a:gd name="T64" fmla="*/ 296 w 593"/>
                <a:gd name="T65" fmla="*/ 285 h 295"/>
                <a:gd name="T66" fmla="*/ 251 w 593"/>
                <a:gd name="T67" fmla="*/ 282 h 295"/>
                <a:gd name="T68" fmla="*/ 211 w 593"/>
                <a:gd name="T69" fmla="*/ 270 h 295"/>
                <a:gd name="T70" fmla="*/ 172 w 593"/>
                <a:gd name="T71" fmla="*/ 256 h 295"/>
                <a:gd name="T72" fmla="*/ 138 w 593"/>
                <a:gd name="T73" fmla="*/ 235 h 295"/>
                <a:gd name="T74" fmla="*/ 105 w 593"/>
                <a:gd name="T75" fmla="*/ 210 h 295"/>
                <a:gd name="T76" fmla="*/ 76 w 593"/>
                <a:gd name="T77" fmla="*/ 180 h 295"/>
                <a:gd name="T78" fmla="*/ 52 w 593"/>
                <a:gd name="T79" fmla="*/ 148 h 295"/>
                <a:gd name="T80" fmla="*/ 32 w 593"/>
                <a:gd name="T81" fmla="*/ 111 h 295"/>
                <a:gd name="T82" fmla="*/ 20 w 593"/>
                <a:gd name="T83" fmla="*/ 70 h 295"/>
                <a:gd name="T84" fmla="*/ 11 w 593"/>
                <a:gd name="T85" fmla="*/ 29 h 295"/>
                <a:gd name="T86" fmla="*/ 0 w 593"/>
                <a:gd name="T87" fmla="*/ 0 h 2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93"/>
                <a:gd name="T133" fmla="*/ 0 h 295"/>
                <a:gd name="T134" fmla="*/ 593 w 593"/>
                <a:gd name="T135" fmla="*/ 295 h 2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93" h="295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2" y="29"/>
                  </a:lnTo>
                  <a:lnTo>
                    <a:pt x="5" y="44"/>
                  </a:lnTo>
                  <a:lnTo>
                    <a:pt x="5" y="58"/>
                  </a:lnTo>
                  <a:lnTo>
                    <a:pt x="11" y="73"/>
                  </a:lnTo>
                  <a:lnTo>
                    <a:pt x="14" y="87"/>
                  </a:lnTo>
                  <a:lnTo>
                    <a:pt x="17" y="99"/>
                  </a:lnTo>
                  <a:lnTo>
                    <a:pt x="23" y="114"/>
                  </a:lnTo>
                  <a:lnTo>
                    <a:pt x="29" y="128"/>
                  </a:lnTo>
                  <a:lnTo>
                    <a:pt x="38" y="140"/>
                  </a:lnTo>
                  <a:lnTo>
                    <a:pt x="44" y="151"/>
                  </a:lnTo>
                  <a:lnTo>
                    <a:pt x="52" y="163"/>
                  </a:lnTo>
                  <a:lnTo>
                    <a:pt x="58" y="174"/>
                  </a:lnTo>
                  <a:lnTo>
                    <a:pt x="67" y="186"/>
                  </a:lnTo>
                  <a:lnTo>
                    <a:pt x="79" y="198"/>
                  </a:lnTo>
                  <a:lnTo>
                    <a:pt x="87" y="207"/>
                  </a:lnTo>
                  <a:lnTo>
                    <a:pt x="96" y="219"/>
                  </a:lnTo>
                  <a:lnTo>
                    <a:pt x="108" y="227"/>
                  </a:lnTo>
                  <a:lnTo>
                    <a:pt x="120" y="235"/>
                  </a:lnTo>
                  <a:lnTo>
                    <a:pt x="132" y="241"/>
                  </a:lnTo>
                  <a:lnTo>
                    <a:pt x="144" y="250"/>
                  </a:lnTo>
                  <a:lnTo>
                    <a:pt x="155" y="259"/>
                  </a:lnTo>
                  <a:lnTo>
                    <a:pt x="167" y="265"/>
                  </a:lnTo>
                  <a:lnTo>
                    <a:pt x="181" y="270"/>
                  </a:lnTo>
                  <a:lnTo>
                    <a:pt x="196" y="276"/>
                  </a:lnTo>
                  <a:lnTo>
                    <a:pt x="208" y="279"/>
                  </a:lnTo>
                  <a:lnTo>
                    <a:pt x="223" y="285"/>
                  </a:lnTo>
                  <a:lnTo>
                    <a:pt x="238" y="288"/>
                  </a:lnTo>
                  <a:lnTo>
                    <a:pt x="251" y="291"/>
                  </a:lnTo>
                  <a:lnTo>
                    <a:pt x="266" y="291"/>
                  </a:lnTo>
                  <a:lnTo>
                    <a:pt x="281" y="294"/>
                  </a:lnTo>
                  <a:lnTo>
                    <a:pt x="296" y="294"/>
                  </a:lnTo>
                  <a:lnTo>
                    <a:pt x="311" y="294"/>
                  </a:lnTo>
                  <a:lnTo>
                    <a:pt x="329" y="291"/>
                  </a:lnTo>
                  <a:lnTo>
                    <a:pt x="343" y="291"/>
                  </a:lnTo>
                  <a:lnTo>
                    <a:pt x="354" y="288"/>
                  </a:lnTo>
                  <a:lnTo>
                    <a:pt x="369" y="285"/>
                  </a:lnTo>
                  <a:lnTo>
                    <a:pt x="384" y="279"/>
                  </a:lnTo>
                  <a:lnTo>
                    <a:pt x="399" y="276"/>
                  </a:lnTo>
                  <a:lnTo>
                    <a:pt x="411" y="270"/>
                  </a:lnTo>
                  <a:lnTo>
                    <a:pt x="425" y="265"/>
                  </a:lnTo>
                  <a:lnTo>
                    <a:pt x="437" y="259"/>
                  </a:lnTo>
                  <a:lnTo>
                    <a:pt x="448" y="250"/>
                  </a:lnTo>
                  <a:lnTo>
                    <a:pt x="460" y="241"/>
                  </a:lnTo>
                  <a:lnTo>
                    <a:pt x="472" y="235"/>
                  </a:lnTo>
                  <a:lnTo>
                    <a:pt x="484" y="227"/>
                  </a:lnTo>
                  <a:lnTo>
                    <a:pt x="496" y="219"/>
                  </a:lnTo>
                  <a:lnTo>
                    <a:pt x="504" y="207"/>
                  </a:lnTo>
                  <a:lnTo>
                    <a:pt x="516" y="198"/>
                  </a:lnTo>
                  <a:lnTo>
                    <a:pt x="525" y="186"/>
                  </a:lnTo>
                  <a:lnTo>
                    <a:pt x="534" y="174"/>
                  </a:lnTo>
                  <a:lnTo>
                    <a:pt x="543" y="163"/>
                  </a:lnTo>
                  <a:lnTo>
                    <a:pt x="548" y="151"/>
                  </a:lnTo>
                  <a:lnTo>
                    <a:pt x="557" y="140"/>
                  </a:lnTo>
                  <a:lnTo>
                    <a:pt x="563" y="128"/>
                  </a:lnTo>
                  <a:lnTo>
                    <a:pt x="569" y="114"/>
                  </a:lnTo>
                  <a:lnTo>
                    <a:pt x="575" y="99"/>
                  </a:lnTo>
                  <a:lnTo>
                    <a:pt x="578" y="87"/>
                  </a:lnTo>
                  <a:lnTo>
                    <a:pt x="584" y="73"/>
                  </a:lnTo>
                  <a:lnTo>
                    <a:pt x="586" y="58"/>
                  </a:lnTo>
                  <a:lnTo>
                    <a:pt x="589" y="44"/>
                  </a:lnTo>
                  <a:lnTo>
                    <a:pt x="592" y="29"/>
                  </a:lnTo>
                  <a:lnTo>
                    <a:pt x="592" y="15"/>
                  </a:lnTo>
                  <a:lnTo>
                    <a:pt x="592" y="0"/>
                  </a:lnTo>
                  <a:lnTo>
                    <a:pt x="584" y="0"/>
                  </a:lnTo>
                  <a:lnTo>
                    <a:pt x="584" y="15"/>
                  </a:lnTo>
                  <a:lnTo>
                    <a:pt x="581" y="29"/>
                  </a:lnTo>
                  <a:lnTo>
                    <a:pt x="581" y="44"/>
                  </a:lnTo>
                  <a:lnTo>
                    <a:pt x="578" y="56"/>
                  </a:lnTo>
                  <a:lnTo>
                    <a:pt x="575" y="70"/>
                  </a:lnTo>
                  <a:lnTo>
                    <a:pt x="569" y="84"/>
                  </a:lnTo>
                  <a:lnTo>
                    <a:pt x="566" y="96"/>
                  </a:lnTo>
                  <a:lnTo>
                    <a:pt x="560" y="111"/>
                  </a:lnTo>
                  <a:lnTo>
                    <a:pt x="554" y="123"/>
                  </a:lnTo>
                  <a:lnTo>
                    <a:pt x="548" y="134"/>
                  </a:lnTo>
                  <a:lnTo>
                    <a:pt x="543" y="148"/>
                  </a:lnTo>
                  <a:lnTo>
                    <a:pt x="534" y="157"/>
                  </a:lnTo>
                  <a:lnTo>
                    <a:pt x="528" y="169"/>
                  </a:lnTo>
                  <a:lnTo>
                    <a:pt x="519" y="180"/>
                  </a:lnTo>
                  <a:lnTo>
                    <a:pt x="510" y="192"/>
                  </a:lnTo>
                  <a:lnTo>
                    <a:pt x="499" y="201"/>
                  </a:lnTo>
                  <a:lnTo>
                    <a:pt x="490" y="210"/>
                  </a:lnTo>
                  <a:lnTo>
                    <a:pt x="478" y="219"/>
                  </a:lnTo>
                  <a:lnTo>
                    <a:pt x="469" y="227"/>
                  </a:lnTo>
                  <a:lnTo>
                    <a:pt x="457" y="235"/>
                  </a:lnTo>
                  <a:lnTo>
                    <a:pt x="445" y="241"/>
                  </a:lnTo>
                  <a:lnTo>
                    <a:pt x="434" y="250"/>
                  </a:lnTo>
                  <a:lnTo>
                    <a:pt x="419" y="256"/>
                  </a:lnTo>
                  <a:lnTo>
                    <a:pt x="408" y="262"/>
                  </a:lnTo>
                  <a:lnTo>
                    <a:pt x="396" y="268"/>
                  </a:lnTo>
                  <a:lnTo>
                    <a:pt x="381" y="270"/>
                  </a:lnTo>
                  <a:lnTo>
                    <a:pt x="369" y="276"/>
                  </a:lnTo>
                  <a:lnTo>
                    <a:pt x="354" y="279"/>
                  </a:lnTo>
                  <a:lnTo>
                    <a:pt x="340" y="282"/>
                  </a:lnTo>
                  <a:lnTo>
                    <a:pt x="326" y="282"/>
                  </a:lnTo>
                  <a:lnTo>
                    <a:pt x="311" y="285"/>
                  </a:lnTo>
                  <a:lnTo>
                    <a:pt x="296" y="285"/>
                  </a:lnTo>
                  <a:lnTo>
                    <a:pt x="281" y="285"/>
                  </a:lnTo>
                  <a:lnTo>
                    <a:pt x="266" y="282"/>
                  </a:lnTo>
                  <a:lnTo>
                    <a:pt x="251" y="282"/>
                  </a:lnTo>
                  <a:lnTo>
                    <a:pt x="241" y="279"/>
                  </a:lnTo>
                  <a:lnTo>
                    <a:pt x="226" y="276"/>
                  </a:lnTo>
                  <a:lnTo>
                    <a:pt x="211" y="270"/>
                  </a:lnTo>
                  <a:lnTo>
                    <a:pt x="199" y="268"/>
                  </a:lnTo>
                  <a:lnTo>
                    <a:pt x="184" y="262"/>
                  </a:lnTo>
                  <a:lnTo>
                    <a:pt x="172" y="256"/>
                  </a:lnTo>
                  <a:lnTo>
                    <a:pt x="161" y="250"/>
                  </a:lnTo>
                  <a:lnTo>
                    <a:pt x="149" y="241"/>
                  </a:lnTo>
                  <a:lnTo>
                    <a:pt x="138" y="235"/>
                  </a:lnTo>
                  <a:lnTo>
                    <a:pt x="126" y="227"/>
                  </a:lnTo>
                  <a:lnTo>
                    <a:pt x="114" y="219"/>
                  </a:lnTo>
                  <a:lnTo>
                    <a:pt x="105" y="210"/>
                  </a:lnTo>
                  <a:lnTo>
                    <a:pt x="93" y="201"/>
                  </a:lnTo>
                  <a:lnTo>
                    <a:pt x="84" y="192"/>
                  </a:lnTo>
                  <a:lnTo>
                    <a:pt x="76" y="180"/>
                  </a:lnTo>
                  <a:lnTo>
                    <a:pt x="67" y="169"/>
                  </a:lnTo>
                  <a:lnTo>
                    <a:pt x="58" y="157"/>
                  </a:lnTo>
                  <a:lnTo>
                    <a:pt x="52" y="148"/>
                  </a:lnTo>
                  <a:lnTo>
                    <a:pt x="44" y="134"/>
                  </a:lnTo>
                  <a:lnTo>
                    <a:pt x="38" y="123"/>
                  </a:lnTo>
                  <a:lnTo>
                    <a:pt x="32" y="111"/>
                  </a:lnTo>
                  <a:lnTo>
                    <a:pt x="26" y="96"/>
                  </a:lnTo>
                  <a:lnTo>
                    <a:pt x="23" y="84"/>
                  </a:lnTo>
                  <a:lnTo>
                    <a:pt x="20" y="70"/>
                  </a:lnTo>
                  <a:lnTo>
                    <a:pt x="14" y="56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2" name="Freeform 146">
              <a:extLst>
                <a:ext uri="{FF2B5EF4-FFF2-40B4-BE49-F238E27FC236}">
                  <a16:creationId xmlns:a16="http://schemas.microsoft.com/office/drawing/2014/main" id="{CF9A03FA-802A-4F4C-AABC-E8A5D4377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511"/>
              <a:ext cx="577" cy="286"/>
            </a:xfrm>
            <a:custGeom>
              <a:avLst/>
              <a:gdLst>
                <a:gd name="T0" fmla="*/ 3 w 577"/>
                <a:gd name="T1" fmla="*/ 257 h 286"/>
                <a:gd name="T2" fmla="*/ 12 w 577"/>
                <a:gd name="T3" fmla="*/ 213 h 286"/>
                <a:gd name="T4" fmla="*/ 24 w 577"/>
                <a:gd name="T5" fmla="*/ 174 h 286"/>
                <a:gd name="T6" fmla="*/ 45 w 577"/>
                <a:gd name="T7" fmla="*/ 137 h 286"/>
                <a:gd name="T8" fmla="*/ 68 w 577"/>
                <a:gd name="T9" fmla="*/ 105 h 286"/>
                <a:gd name="T10" fmla="*/ 97 w 577"/>
                <a:gd name="T11" fmla="*/ 73 h 286"/>
                <a:gd name="T12" fmla="*/ 130 w 577"/>
                <a:gd name="T13" fmla="*/ 50 h 286"/>
                <a:gd name="T14" fmla="*/ 164 w 577"/>
                <a:gd name="T15" fmla="*/ 29 h 286"/>
                <a:gd name="T16" fmla="*/ 203 w 577"/>
                <a:gd name="T17" fmla="*/ 12 h 286"/>
                <a:gd name="T18" fmla="*/ 243 w 577"/>
                <a:gd name="T19" fmla="*/ 3 h 286"/>
                <a:gd name="T20" fmla="*/ 288 w 577"/>
                <a:gd name="T21" fmla="*/ 0 h 286"/>
                <a:gd name="T22" fmla="*/ 332 w 577"/>
                <a:gd name="T23" fmla="*/ 3 h 286"/>
                <a:gd name="T24" fmla="*/ 373 w 577"/>
                <a:gd name="T25" fmla="*/ 12 h 286"/>
                <a:gd name="T26" fmla="*/ 411 w 577"/>
                <a:gd name="T27" fmla="*/ 29 h 286"/>
                <a:gd name="T28" fmla="*/ 449 w 577"/>
                <a:gd name="T29" fmla="*/ 50 h 286"/>
                <a:gd name="T30" fmla="*/ 482 w 577"/>
                <a:gd name="T31" fmla="*/ 73 h 286"/>
                <a:gd name="T32" fmla="*/ 511 w 577"/>
                <a:gd name="T33" fmla="*/ 105 h 286"/>
                <a:gd name="T34" fmla="*/ 534 w 577"/>
                <a:gd name="T35" fmla="*/ 137 h 286"/>
                <a:gd name="T36" fmla="*/ 552 w 577"/>
                <a:gd name="T37" fmla="*/ 174 h 286"/>
                <a:gd name="T38" fmla="*/ 567 w 577"/>
                <a:gd name="T39" fmla="*/ 213 h 286"/>
                <a:gd name="T40" fmla="*/ 573 w 577"/>
                <a:gd name="T41" fmla="*/ 257 h 286"/>
                <a:gd name="T42" fmla="*/ 567 w 577"/>
                <a:gd name="T43" fmla="*/ 285 h 286"/>
                <a:gd name="T44" fmla="*/ 564 w 577"/>
                <a:gd name="T45" fmla="*/ 242 h 286"/>
                <a:gd name="T46" fmla="*/ 552 w 577"/>
                <a:gd name="T47" fmla="*/ 204 h 286"/>
                <a:gd name="T48" fmla="*/ 537 w 577"/>
                <a:gd name="T49" fmla="*/ 166 h 286"/>
                <a:gd name="T50" fmla="*/ 520 w 577"/>
                <a:gd name="T51" fmla="*/ 131 h 286"/>
                <a:gd name="T52" fmla="*/ 493 w 577"/>
                <a:gd name="T53" fmla="*/ 99 h 286"/>
                <a:gd name="T54" fmla="*/ 464 w 577"/>
                <a:gd name="T55" fmla="*/ 73 h 286"/>
                <a:gd name="T56" fmla="*/ 432 w 577"/>
                <a:gd name="T57" fmla="*/ 50 h 286"/>
                <a:gd name="T58" fmla="*/ 397 w 577"/>
                <a:gd name="T59" fmla="*/ 29 h 286"/>
                <a:gd name="T60" fmla="*/ 358 w 577"/>
                <a:gd name="T61" fmla="*/ 18 h 286"/>
                <a:gd name="T62" fmla="*/ 318 w 577"/>
                <a:gd name="T63" fmla="*/ 9 h 286"/>
                <a:gd name="T64" fmla="*/ 273 w 577"/>
                <a:gd name="T65" fmla="*/ 9 h 286"/>
                <a:gd name="T66" fmla="*/ 233 w 577"/>
                <a:gd name="T67" fmla="*/ 15 h 286"/>
                <a:gd name="T68" fmla="*/ 194 w 577"/>
                <a:gd name="T69" fmla="*/ 26 h 286"/>
                <a:gd name="T70" fmla="*/ 156 w 577"/>
                <a:gd name="T71" fmla="*/ 41 h 286"/>
                <a:gd name="T72" fmla="*/ 124 w 577"/>
                <a:gd name="T73" fmla="*/ 65 h 286"/>
                <a:gd name="T74" fmla="*/ 91 w 577"/>
                <a:gd name="T75" fmla="*/ 90 h 286"/>
                <a:gd name="T76" fmla="*/ 65 w 577"/>
                <a:gd name="T77" fmla="*/ 119 h 286"/>
                <a:gd name="T78" fmla="*/ 45 w 577"/>
                <a:gd name="T79" fmla="*/ 155 h 286"/>
                <a:gd name="T80" fmla="*/ 27 w 577"/>
                <a:gd name="T81" fmla="*/ 189 h 286"/>
                <a:gd name="T82" fmla="*/ 15 w 577"/>
                <a:gd name="T83" fmla="*/ 230 h 286"/>
                <a:gd name="T84" fmla="*/ 12 w 577"/>
                <a:gd name="T85" fmla="*/ 270 h 28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77"/>
                <a:gd name="T130" fmla="*/ 0 h 286"/>
                <a:gd name="T131" fmla="*/ 577 w 577"/>
                <a:gd name="T132" fmla="*/ 286 h 28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77" h="286">
                  <a:moveTo>
                    <a:pt x="0" y="285"/>
                  </a:moveTo>
                  <a:lnTo>
                    <a:pt x="3" y="270"/>
                  </a:lnTo>
                  <a:lnTo>
                    <a:pt x="3" y="257"/>
                  </a:lnTo>
                  <a:lnTo>
                    <a:pt x="6" y="242"/>
                  </a:lnTo>
                  <a:lnTo>
                    <a:pt x="6" y="227"/>
                  </a:lnTo>
                  <a:lnTo>
                    <a:pt x="12" y="213"/>
                  </a:lnTo>
                  <a:lnTo>
                    <a:pt x="15" y="201"/>
                  </a:lnTo>
                  <a:lnTo>
                    <a:pt x="18" y="186"/>
                  </a:lnTo>
                  <a:lnTo>
                    <a:pt x="24" y="174"/>
                  </a:lnTo>
                  <a:lnTo>
                    <a:pt x="30" y="161"/>
                  </a:lnTo>
                  <a:lnTo>
                    <a:pt x="36" y="149"/>
                  </a:lnTo>
                  <a:lnTo>
                    <a:pt x="45" y="137"/>
                  </a:lnTo>
                  <a:lnTo>
                    <a:pt x="50" y="125"/>
                  </a:lnTo>
                  <a:lnTo>
                    <a:pt x="59" y="114"/>
                  </a:lnTo>
                  <a:lnTo>
                    <a:pt x="68" y="105"/>
                  </a:lnTo>
                  <a:lnTo>
                    <a:pt x="76" y="93"/>
                  </a:lnTo>
                  <a:lnTo>
                    <a:pt x="85" y="85"/>
                  </a:lnTo>
                  <a:lnTo>
                    <a:pt x="97" y="73"/>
                  </a:lnTo>
                  <a:lnTo>
                    <a:pt x="106" y="65"/>
                  </a:lnTo>
                  <a:lnTo>
                    <a:pt x="118" y="56"/>
                  </a:lnTo>
                  <a:lnTo>
                    <a:pt x="130" y="50"/>
                  </a:lnTo>
                  <a:lnTo>
                    <a:pt x="142" y="41"/>
                  </a:lnTo>
                  <a:lnTo>
                    <a:pt x="153" y="35"/>
                  </a:lnTo>
                  <a:lnTo>
                    <a:pt x="164" y="29"/>
                  </a:lnTo>
                  <a:lnTo>
                    <a:pt x="176" y="24"/>
                  </a:lnTo>
                  <a:lnTo>
                    <a:pt x="191" y="18"/>
                  </a:lnTo>
                  <a:lnTo>
                    <a:pt x="203" y="12"/>
                  </a:lnTo>
                  <a:lnTo>
                    <a:pt x="218" y="9"/>
                  </a:lnTo>
                  <a:lnTo>
                    <a:pt x="233" y="6"/>
                  </a:lnTo>
                  <a:lnTo>
                    <a:pt x="243" y="3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8" y="0"/>
                  </a:lnTo>
                  <a:lnTo>
                    <a:pt x="303" y="0"/>
                  </a:lnTo>
                  <a:lnTo>
                    <a:pt x="318" y="0"/>
                  </a:lnTo>
                  <a:lnTo>
                    <a:pt x="332" y="3"/>
                  </a:lnTo>
                  <a:lnTo>
                    <a:pt x="346" y="6"/>
                  </a:lnTo>
                  <a:lnTo>
                    <a:pt x="361" y="9"/>
                  </a:lnTo>
                  <a:lnTo>
                    <a:pt x="373" y="12"/>
                  </a:lnTo>
                  <a:lnTo>
                    <a:pt x="388" y="18"/>
                  </a:lnTo>
                  <a:lnTo>
                    <a:pt x="400" y="24"/>
                  </a:lnTo>
                  <a:lnTo>
                    <a:pt x="411" y="29"/>
                  </a:lnTo>
                  <a:lnTo>
                    <a:pt x="426" y="35"/>
                  </a:lnTo>
                  <a:lnTo>
                    <a:pt x="437" y="41"/>
                  </a:lnTo>
                  <a:lnTo>
                    <a:pt x="449" y="50"/>
                  </a:lnTo>
                  <a:lnTo>
                    <a:pt x="461" y="56"/>
                  </a:lnTo>
                  <a:lnTo>
                    <a:pt x="470" y="65"/>
                  </a:lnTo>
                  <a:lnTo>
                    <a:pt x="482" y="73"/>
                  </a:lnTo>
                  <a:lnTo>
                    <a:pt x="491" y="85"/>
                  </a:lnTo>
                  <a:lnTo>
                    <a:pt x="502" y="93"/>
                  </a:lnTo>
                  <a:lnTo>
                    <a:pt x="511" y="105"/>
                  </a:lnTo>
                  <a:lnTo>
                    <a:pt x="520" y="114"/>
                  </a:lnTo>
                  <a:lnTo>
                    <a:pt x="526" y="125"/>
                  </a:lnTo>
                  <a:lnTo>
                    <a:pt x="534" y="137"/>
                  </a:lnTo>
                  <a:lnTo>
                    <a:pt x="540" y="149"/>
                  </a:lnTo>
                  <a:lnTo>
                    <a:pt x="546" y="161"/>
                  </a:lnTo>
                  <a:lnTo>
                    <a:pt x="552" y="174"/>
                  </a:lnTo>
                  <a:lnTo>
                    <a:pt x="558" y="186"/>
                  </a:lnTo>
                  <a:lnTo>
                    <a:pt x="561" y="201"/>
                  </a:lnTo>
                  <a:lnTo>
                    <a:pt x="567" y="213"/>
                  </a:lnTo>
                  <a:lnTo>
                    <a:pt x="570" y="227"/>
                  </a:lnTo>
                  <a:lnTo>
                    <a:pt x="573" y="242"/>
                  </a:lnTo>
                  <a:lnTo>
                    <a:pt x="573" y="257"/>
                  </a:lnTo>
                  <a:lnTo>
                    <a:pt x="576" y="270"/>
                  </a:lnTo>
                  <a:lnTo>
                    <a:pt x="576" y="285"/>
                  </a:lnTo>
                  <a:lnTo>
                    <a:pt x="567" y="285"/>
                  </a:lnTo>
                  <a:lnTo>
                    <a:pt x="567" y="270"/>
                  </a:lnTo>
                  <a:lnTo>
                    <a:pt x="564" y="257"/>
                  </a:lnTo>
                  <a:lnTo>
                    <a:pt x="564" y="242"/>
                  </a:lnTo>
                  <a:lnTo>
                    <a:pt x="561" y="230"/>
                  </a:lnTo>
                  <a:lnTo>
                    <a:pt x="558" y="215"/>
                  </a:lnTo>
                  <a:lnTo>
                    <a:pt x="552" y="204"/>
                  </a:lnTo>
                  <a:lnTo>
                    <a:pt x="549" y="189"/>
                  </a:lnTo>
                  <a:lnTo>
                    <a:pt x="543" y="177"/>
                  </a:lnTo>
                  <a:lnTo>
                    <a:pt x="537" y="166"/>
                  </a:lnTo>
                  <a:lnTo>
                    <a:pt x="531" y="155"/>
                  </a:lnTo>
                  <a:lnTo>
                    <a:pt x="526" y="143"/>
                  </a:lnTo>
                  <a:lnTo>
                    <a:pt x="520" y="131"/>
                  </a:lnTo>
                  <a:lnTo>
                    <a:pt x="511" y="119"/>
                  </a:lnTo>
                  <a:lnTo>
                    <a:pt x="502" y="111"/>
                  </a:lnTo>
                  <a:lnTo>
                    <a:pt x="493" y="99"/>
                  </a:lnTo>
                  <a:lnTo>
                    <a:pt x="485" y="90"/>
                  </a:lnTo>
                  <a:lnTo>
                    <a:pt x="476" y="82"/>
                  </a:lnTo>
                  <a:lnTo>
                    <a:pt x="464" y="73"/>
                  </a:lnTo>
                  <a:lnTo>
                    <a:pt x="455" y="65"/>
                  </a:lnTo>
                  <a:lnTo>
                    <a:pt x="443" y="56"/>
                  </a:lnTo>
                  <a:lnTo>
                    <a:pt x="432" y="50"/>
                  </a:lnTo>
                  <a:lnTo>
                    <a:pt x="420" y="41"/>
                  </a:lnTo>
                  <a:lnTo>
                    <a:pt x="409" y="35"/>
                  </a:lnTo>
                  <a:lnTo>
                    <a:pt x="397" y="29"/>
                  </a:lnTo>
                  <a:lnTo>
                    <a:pt x="385" y="26"/>
                  </a:lnTo>
                  <a:lnTo>
                    <a:pt x="370" y="21"/>
                  </a:lnTo>
                  <a:lnTo>
                    <a:pt x="358" y="18"/>
                  </a:lnTo>
                  <a:lnTo>
                    <a:pt x="343" y="15"/>
                  </a:lnTo>
                  <a:lnTo>
                    <a:pt x="332" y="12"/>
                  </a:lnTo>
                  <a:lnTo>
                    <a:pt x="318" y="9"/>
                  </a:lnTo>
                  <a:lnTo>
                    <a:pt x="303" y="9"/>
                  </a:lnTo>
                  <a:lnTo>
                    <a:pt x="288" y="9"/>
                  </a:lnTo>
                  <a:lnTo>
                    <a:pt x="273" y="9"/>
                  </a:lnTo>
                  <a:lnTo>
                    <a:pt x="261" y="9"/>
                  </a:lnTo>
                  <a:lnTo>
                    <a:pt x="246" y="12"/>
                  </a:lnTo>
                  <a:lnTo>
                    <a:pt x="233" y="15"/>
                  </a:lnTo>
                  <a:lnTo>
                    <a:pt x="221" y="18"/>
                  </a:lnTo>
                  <a:lnTo>
                    <a:pt x="206" y="21"/>
                  </a:lnTo>
                  <a:lnTo>
                    <a:pt x="194" y="26"/>
                  </a:lnTo>
                  <a:lnTo>
                    <a:pt x="179" y="29"/>
                  </a:lnTo>
                  <a:lnTo>
                    <a:pt x="167" y="35"/>
                  </a:lnTo>
                  <a:lnTo>
                    <a:pt x="156" y="41"/>
                  </a:lnTo>
                  <a:lnTo>
                    <a:pt x="144" y="50"/>
                  </a:lnTo>
                  <a:lnTo>
                    <a:pt x="133" y="56"/>
                  </a:lnTo>
                  <a:lnTo>
                    <a:pt x="124" y="65"/>
                  </a:lnTo>
                  <a:lnTo>
                    <a:pt x="112" y="73"/>
                  </a:lnTo>
                  <a:lnTo>
                    <a:pt x="103" y="82"/>
                  </a:lnTo>
                  <a:lnTo>
                    <a:pt x="91" y="90"/>
                  </a:lnTo>
                  <a:lnTo>
                    <a:pt x="82" y="99"/>
                  </a:lnTo>
                  <a:lnTo>
                    <a:pt x="74" y="111"/>
                  </a:lnTo>
                  <a:lnTo>
                    <a:pt x="65" y="119"/>
                  </a:lnTo>
                  <a:lnTo>
                    <a:pt x="59" y="131"/>
                  </a:lnTo>
                  <a:lnTo>
                    <a:pt x="50" y="143"/>
                  </a:lnTo>
                  <a:lnTo>
                    <a:pt x="45" y="155"/>
                  </a:lnTo>
                  <a:lnTo>
                    <a:pt x="39" y="166"/>
                  </a:lnTo>
                  <a:lnTo>
                    <a:pt x="33" y="177"/>
                  </a:lnTo>
                  <a:lnTo>
                    <a:pt x="27" y="189"/>
                  </a:lnTo>
                  <a:lnTo>
                    <a:pt x="24" y="204"/>
                  </a:lnTo>
                  <a:lnTo>
                    <a:pt x="21" y="215"/>
                  </a:lnTo>
                  <a:lnTo>
                    <a:pt x="15" y="230"/>
                  </a:lnTo>
                  <a:lnTo>
                    <a:pt x="15" y="242"/>
                  </a:lnTo>
                  <a:lnTo>
                    <a:pt x="12" y="257"/>
                  </a:lnTo>
                  <a:lnTo>
                    <a:pt x="12" y="270"/>
                  </a:lnTo>
                  <a:lnTo>
                    <a:pt x="12" y="285"/>
                  </a:lnTo>
                  <a:lnTo>
                    <a:pt x="0" y="285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3" name="Freeform 147">
              <a:extLst>
                <a:ext uri="{FF2B5EF4-FFF2-40B4-BE49-F238E27FC236}">
                  <a16:creationId xmlns:a16="http://schemas.microsoft.com/office/drawing/2014/main" id="{A04C1750-93DE-4DAB-856B-A1334C980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802"/>
              <a:ext cx="577" cy="286"/>
            </a:xfrm>
            <a:custGeom>
              <a:avLst/>
              <a:gdLst>
                <a:gd name="T0" fmla="*/ 3 w 577"/>
                <a:gd name="T1" fmla="*/ 15 h 286"/>
                <a:gd name="T2" fmla="*/ 6 w 577"/>
                <a:gd name="T3" fmla="*/ 56 h 286"/>
                <a:gd name="T4" fmla="*/ 18 w 577"/>
                <a:gd name="T5" fmla="*/ 96 h 286"/>
                <a:gd name="T6" fmla="*/ 36 w 577"/>
                <a:gd name="T7" fmla="*/ 134 h 286"/>
                <a:gd name="T8" fmla="*/ 59 w 577"/>
                <a:gd name="T9" fmla="*/ 168 h 286"/>
                <a:gd name="T10" fmla="*/ 85 w 577"/>
                <a:gd name="T11" fmla="*/ 201 h 286"/>
                <a:gd name="T12" fmla="*/ 118 w 577"/>
                <a:gd name="T13" fmla="*/ 227 h 286"/>
                <a:gd name="T14" fmla="*/ 153 w 577"/>
                <a:gd name="T15" fmla="*/ 250 h 286"/>
                <a:gd name="T16" fmla="*/ 191 w 577"/>
                <a:gd name="T17" fmla="*/ 267 h 286"/>
                <a:gd name="T18" fmla="*/ 233 w 577"/>
                <a:gd name="T19" fmla="*/ 279 h 286"/>
                <a:gd name="T20" fmla="*/ 273 w 577"/>
                <a:gd name="T21" fmla="*/ 285 h 286"/>
                <a:gd name="T22" fmla="*/ 318 w 577"/>
                <a:gd name="T23" fmla="*/ 282 h 286"/>
                <a:gd name="T24" fmla="*/ 361 w 577"/>
                <a:gd name="T25" fmla="*/ 276 h 286"/>
                <a:gd name="T26" fmla="*/ 400 w 577"/>
                <a:gd name="T27" fmla="*/ 261 h 286"/>
                <a:gd name="T28" fmla="*/ 437 w 577"/>
                <a:gd name="T29" fmla="*/ 241 h 286"/>
                <a:gd name="T30" fmla="*/ 470 w 577"/>
                <a:gd name="T31" fmla="*/ 218 h 286"/>
                <a:gd name="T32" fmla="*/ 502 w 577"/>
                <a:gd name="T33" fmla="*/ 192 h 286"/>
                <a:gd name="T34" fmla="*/ 526 w 577"/>
                <a:gd name="T35" fmla="*/ 157 h 286"/>
                <a:gd name="T36" fmla="*/ 546 w 577"/>
                <a:gd name="T37" fmla="*/ 122 h 286"/>
                <a:gd name="T38" fmla="*/ 561 w 577"/>
                <a:gd name="T39" fmla="*/ 84 h 286"/>
                <a:gd name="T40" fmla="*/ 573 w 577"/>
                <a:gd name="T41" fmla="*/ 44 h 286"/>
                <a:gd name="T42" fmla="*/ 576 w 577"/>
                <a:gd name="T43" fmla="*/ 0 h 286"/>
                <a:gd name="T44" fmla="*/ 564 w 577"/>
                <a:gd name="T45" fmla="*/ 26 h 286"/>
                <a:gd name="T46" fmla="*/ 558 w 577"/>
                <a:gd name="T47" fmla="*/ 67 h 286"/>
                <a:gd name="T48" fmla="*/ 543 w 577"/>
                <a:gd name="T49" fmla="*/ 108 h 286"/>
                <a:gd name="T50" fmla="*/ 526 w 577"/>
                <a:gd name="T51" fmla="*/ 143 h 286"/>
                <a:gd name="T52" fmla="*/ 502 w 577"/>
                <a:gd name="T53" fmla="*/ 174 h 286"/>
                <a:gd name="T54" fmla="*/ 476 w 577"/>
                <a:gd name="T55" fmla="*/ 204 h 286"/>
                <a:gd name="T56" fmla="*/ 443 w 577"/>
                <a:gd name="T57" fmla="*/ 227 h 286"/>
                <a:gd name="T58" fmla="*/ 409 w 577"/>
                <a:gd name="T59" fmla="*/ 247 h 286"/>
                <a:gd name="T60" fmla="*/ 370 w 577"/>
                <a:gd name="T61" fmla="*/ 261 h 286"/>
                <a:gd name="T62" fmla="*/ 332 w 577"/>
                <a:gd name="T63" fmla="*/ 270 h 286"/>
                <a:gd name="T64" fmla="*/ 288 w 577"/>
                <a:gd name="T65" fmla="*/ 276 h 286"/>
                <a:gd name="T66" fmla="*/ 246 w 577"/>
                <a:gd name="T67" fmla="*/ 270 h 286"/>
                <a:gd name="T68" fmla="*/ 206 w 577"/>
                <a:gd name="T69" fmla="*/ 261 h 286"/>
                <a:gd name="T70" fmla="*/ 167 w 577"/>
                <a:gd name="T71" fmla="*/ 247 h 286"/>
                <a:gd name="T72" fmla="*/ 133 w 577"/>
                <a:gd name="T73" fmla="*/ 227 h 286"/>
                <a:gd name="T74" fmla="*/ 103 w 577"/>
                <a:gd name="T75" fmla="*/ 204 h 286"/>
                <a:gd name="T76" fmla="*/ 74 w 577"/>
                <a:gd name="T77" fmla="*/ 174 h 286"/>
                <a:gd name="T78" fmla="*/ 50 w 577"/>
                <a:gd name="T79" fmla="*/ 143 h 286"/>
                <a:gd name="T80" fmla="*/ 33 w 577"/>
                <a:gd name="T81" fmla="*/ 108 h 286"/>
                <a:gd name="T82" fmla="*/ 21 w 577"/>
                <a:gd name="T83" fmla="*/ 67 h 286"/>
                <a:gd name="T84" fmla="*/ 12 w 577"/>
                <a:gd name="T85" fmla="*/ 26 h 286"/>
                <a:gd name="T86" fmla="*/ 0 w 577"/>
                <a:gd name="T87" fmla="*/ 0 h 28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77"/>
                <a:gd name="T133" fmla="*/ 0 h 286"/>
                <a:gd name="T134" fmla="*/ 577 w 577"/>
                <a:gd name="T135" fmla="*/ 286 h 28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77" h="286">
                  <a:moveTo>
                    <a:pt x="0" y="0"/>
                  </a:moveTo>
                  <a:lnTo>
                    <a:pt x="0" y="0"/>
                  </a:lnTo>
                  <a:lnTo>
                    <a:pt x="3" y="15"/>
                  </a:lnTo>
                  <a:lnTo>
                    <a:pt x="3" y="29"/>
                  </a:lnTo>
                  <a:lnTo>
                    <a:pt x="6" y="44"/>
                  </a:lnTo>
                  <a:lnTo>
                    <a:pt x="6" y="56"/>
                  </a:lnTo>
                  <a:lnTo>
                    <a:pt x="12" y="70"/>
                  </a:lnTo>
                  <a:lnTo>
                    <a:pt x="15" y="84"/>
                  </a:lnTo>
                  <a:lnTo>
                    <a:pt x="18" y="96"/>
                  </a:lnTo>
                  <a:lnTo>
                    <a:pt x="24" y="111"/>
                  </a:lnTo>
                  <a:lnTo>
                    <a:pt x="30" y="122"/>
                  </a:lnTo>
                  <a:lnTo>
                    <a:pt x="36" y="134"/>
                  </a:lnTo>
                  <a:lnTo>
                    <a:pt x="45" y="148"/>
                  </a:lnTo>
                  <a:lnTo>
                    <a:pt x="50" y="157"/>
                  </a:lnTo>
                  <a:lnTo>
                    <a:pt x="59" y="168"/>
                  </a:lnTo>
                  <a:lnTo>
                    <a:pt x="68" y="180"/>
                  </a:lnTo>
                  <a:lnTo>
                    <a:pt x="76" y="192"/>
                  </a:lnTo>
                  <a:lnTo>
                    <a:pt x="85" y="201"/>
                  </a:lnTo>
                  <a:lnTo>
                    <a:pt x="97" y="210"/>
                  </a:lnTo>
                  <a:lnTo>
                    <a:pt x="106" y="218"/>
                  </a:lnTo>
                  <a:lnTo>
                    <a:pt x="118" y="227"/>
                  </a:lnTo>
                  <a:lnTo>
                    <a:pt x="130" y="235"/>
                  </a:lnTo>
                  <a:lnTo>
                    <a:pt x="142" y="241"/>
                  </a:lnTo>
                  <a:lnTo>
                    <a:pt x="153" y="250"/>
                  </a:lnTo>
                  <a:lnTo>
                    <a:pt x="164" y="256"/>
                  </a:lnTo>
                  <a:lnTo>
                    <a:pt x="176" y="261"/>
                  </a:lnTo>
                  <a:lnTo>
                    <a:pt x="191" y="267"/>
                  </a:lnTo>
                  <a:lnTo>
                    <a:pt x="203" y="270"/>
                  </a:lnTo>
                  <a:lnTo>
                    <a:pt x="218" y="276"/>
                  </a:lnTo>
                  <a:lnTo>
                    <a:pt x="233" y="279"/>
                  </a:lnTo>
                  <a:lnTo>
                    <a:pt x="243" y="282"/>
                  </a:lnTo>
                  <a:lnTo>
                    <a:pt x="258" y="282"/>
                  </a:lnTo>
                  <a:lnTo>
                    <a:pt x="273" y="285"/>
                  </a:lnTo>
                  <a:lnTo>
                    <a:pt x="288" y="285"/>
                  </a:lnTo>
                  <a:lnTo>
                    <a:pt x="303" y="285"/>
                  </a:lnTo>
                  <a:lnTo>
                    <a:pt x="318" y="282"/>
                  </a:lnTo>
                  <a:lnTo>
                    <a:pt x="332" y="282"/>
                  </a:lnTo>
                  <a:lnTo>
                    <a:pt x="346" y="279"/>
                  </a:lnTo>
                  <a:lnTo>
                    <a:pt x="361" y="276"/>
                  </a:lnTo>
                  <a:lnTo>
                    <a:pt x="373" y="270"/>
                  </a:lnTo>
                  <a:lnTo>
                    <a:pt x="388" y="267"/>
                  </a:lnTo>
                  <a:lnTo>
                    <a:pt x="400" y="261"/>
                  </a:lnTo>
                  <a:lnTo>
                    <a:pt x="411" y="256"/>
                  </a:lnTo>
                  <a:lnTo>
                    <a:pt x="426" y="250"/>
                  </a:lnTo>
                  <a:lnTo>
                    <a:pt x="437" y="241"/>
                  </a:lnTo>
                  <a:lnTo>
                    <a:pt x="449" y="235"/>
                  </a:lnTo>
                  <a:lnTo>
                    <a:pt x="461" y="227"/>
                  </a:lnTo>
                  <a:lnTo>
                    <a:pt x="470" y="218"/>
                  </a:lnTo>
                  <a:lnTo>
                    <a:pt x="482" y="210"/>
                  </a:lnTo>
                  <a:lnTo>
                    <a:pt x="491" y="201"/>
                  </a:lnTo>
                  <a:lnTo>
                    <a:pt x="502" y="192"/>
                  </a:lnTo>
                  <a:lnTo>
                    <a:pt x="511" y="180"/>
                  </a:lnTo>
                  <a:lnTo>
                    <a:pt x="520" y="168"/>
                  </a:lnTo>
                  <a:lnTo>
                    <a:pt x="526" y="157"/>
                  </a:lnTo>
                  <a:lnTo>
                    <a:pt x="534" y="148"/>
                  </a:lnTo>
                  <a:lnTo>
                    <a:pt x="540" y="134"/>
                  </a:lnTo>
                  <a:lnTo>
                    <a:pt x="546" y="122"/>
                  </a:lnTo>
                  <a:lnTo>
                    <a:pt x="552" y="111"/>
                  </a:lnTo>
                  <a:lnTo>
                    <a:pt x="558" y="96"/>
                  </a:lnTo>
                  <a:lnTo>
                    <a:pt x="561" y="84"/>
                  </a:lnTo>
                  <a:lnTo>
                    <a:pt x="567" y="70"/>
                  </a:lnTo>
                  <a:lnTo>
                    <a:pt x="570" y="56"/>
                  </a:lnTo>
                  <a:lnTo>
                    <a:pt x="573" y="44"/>
                  </a:lnTo>
                  <a:lnTo>
                    <a:pt x="573" y="29"/>
                  </a:lnTo>
                  <a:lnTo>
                    <a:pt x="576" y="15"/>
                  </a:lnTo>
                  <a:lnTo>
                    <a:pt x="576" y="0"/>
                  </a:lnTo>
                  <a:lnTo>
                    <a:pt x="567" y="0"/>
                  </a:lnTo>
                  <a:lnTo>
                    <a:pt x="567" y="15"/>
                  </a:lnTo>
                  <a:lnTo>
                    <a:pt x="564" y="26"/>
                  </a:lnTo>
                  <a:lnTo>
                    <a:pt x="564" y="41"/>
                  </a:lnTo>
                  <a:lnTo>
                    <a:pt x="561" y="56"/>
                  </a:lnTo>
                  <a:lnTo>
                    <a:pt x="558" y="67"/>
                  </a:lnTo>
                  <a:lnTo>
                    <a:pt x="552" y="81"/>
                  </a:lnTo>
                  <a:lnTo>
                    <a:pt x="549" y="93"/>
                  </a:lnTo>
                  <a:lnTo>
                    <a:pt x="543" y="108"/>
                  </a:lnTo>
                  <a:lnTo>
                    <a:pt x="537" y="119"/>
                  </a:lnTo>
                  <a:lnTo>
                    <a:pt x="531" y="131"/>
                  </a:lnTo>
                  <a:lnTo>
                    <a:pt x="526" y="143"/>
                  </a:lnTo>
                  <a:lnTo>
                    <a:pt x="520" y="154"/>
                  </a:lnTo>
                  <a:lnTo>
                    <a:pt x="511" y="166"/>
                  </a:lnTo>
                  <a:lnTo>
                    <a:pt x="502" y="174"/>
                  </a:lnTo>
                  <a:lnTo>
                    <a:pt x="493" y="183"/>
                  </a:lnTo>
                  <a:lnTo>
                    <a:pt x="485" y="195"/>
                  </a:lnTo>
                  <a:lnTo>
                    <a:pt x="476" y="204"/>
                  </a:lnTo>
                  <a:lnTo>
                    <a:pt x="464" y="213"/>
                  </a:lnTo>
                  <a:lnTo>
                    <a:pt x="455" y="221"/>
                  </a:lnTo>
                  <a:lnTo>
                    <a:pt x="443" y="227"/>
                  </a:lnTo>
                  <a:lnTo>
                    <a:pt x="432" y="235"/>
                  </a:lnTo>
                  <a:lnTo>
                    <a:pt x="420" y="241"/>
                  </a:lnTo>
                  <a:lnTo>
                    <a:pt x="409" y="247"/>
                  </a:lnTo>
                  <a:lnTo>
                    <a:pt x="397" y="253"/>
                  </a:lnTo>
                  <a:lnTo>
                    <a:pt x="385" y="259"/>
                  </a:lnTo>
                  <a:lnTo>
                    <a:pt x="370" y="261"/>
                  </a:lnTo>
                  <a:lnTo>
                    <a:pt x="358" y="267"/>
                  </a:lnTo>
                  <a:lnTo>
                    <a:pt x="343" y="270"/>
                  </a:lnTo>
                  <a:lnTo>
                    <a:pt x="332" y="270"/>
                  </a:lnTo>
                  <a:lnTo>
                    <a:pt x="318" y="273"/>
                  </a:lnTo>
                  <a:lnTo>
                    <a:pt x="303" y="273"/>
                  </a:lnTo>
                  <a:lnTo>
                    <a:pt x="288" y="276"/>
                  </a:lnTo>
                  <a:lnTo>
                    <a:pt x="273" y="273"/>
                  </a:lnTo>
                  <a:lnTo>
                    <a:pt x="261" y="273"/>
                  </a:lnTo>
                  <a:lnTo>
                    <a:pt x="246" y="270"/>
                  </a:lnTo>
                  <a:lnTo>
                    <a:pt x="233" y="270"/>
                  </a:lnTo>
                  <a:lnTo>
                    <a:pt x="221" y="267"/>
                  </a:lnTo>
                  <a:lnTo>
                    <a:pt x="206" y="261"/>
                  </a:lnTo>
                  <a:lnTo>
                    <a:pt x="194" y="259"/>
                  </a:lnTo>
                  <a:lnTo>
                    <a:pt x="179" y="253"/>
                  </a:lnTo>
                  <a:lnTo>
                    <a:pt x="167" y="247"/>
                  </a:lnTo>
                  <a:lnTo>
                    <a:pt x="156" y="241"/>
                  </a:lnTo>
                  <a:lnTo>
                    <a:pt x="144" y="235"/>
                  </a:lnTo>
                  <a:lnTo>
                    <a:pt x="133" y="227"/>
                  </a:lnTo>
                  <a:lnTo>
                    <a:pt x="124" y="221"/>
                  </a:lnTo>
                  <a:lnTo>
                    <a:pt x="112" y="213"/>
                  </a:lnTo>
                  <a:lnTo>
                    <a:pt x="103" y="204"/>
                  </a:lnTo>
                  <a:lnTo>
                    <a:pt x="91" y="195"/>
                  </a:lnTo>
                  <a:lnTo>
                    <a:pt x="82" y="183"/>
                  </a:lnTo>
                  <a:lnTo>
                    <a:pt x="74" y="174"/>
                  </a:lnTo>
                  <a:lnTo>
                    <a:pt x="65" y="166"/>
                  </a:lnTo>
                  <a:lnTo>
                    <a:pt x="59" y="154"/>
                  </a:lnTo>
                  <a:lnTo>
                    <a:pt x="50" y="143"/>
                  </a:lnTo>
                  <a:lnTo>
                    <a:pt x="45" y="131"/>
                  </a:lnTo>
                  <a:lnTo>
                    <a:pt x="39" y="119"/>
                  </a:lnTo>
                  <a:lnTo>
                    <a:pt x="33" y="108"/>
                  </a:lnTo>
                  <a:lnTo>
                    <a:pt x="27" y="93"/>
                  </a:lnTo>
                  <a:lnTo>
                    <a:pt x="24" y="81"/>
                  </a:lnTo>
                  <a:lnTo>
                    <a:pt x="21" y="67"/>
                  </a:lnTo>
                  <a:lnTo>
                    <a:pt x="15" y="56"/>
                  </a:lnTo>
                  <a:lnTo>
                    <a:pt x="15" y="41"/>
                  </a:lnTo>
                  <a:lnTo>
                    <a:pt x="12" y="26"/>
                  </a:lnTo>
                  <a:lnTo>
                    <a:pt x="12" y="1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4" name="Freeform 148">
              <a:extLst>
                <a:ext uri="{FF2B5EF4-FFF2-40B4-BE49-F238E27FC236}">
                  <a16:creationId xmlns:a16="http://schemas.microsoft.com/office/drawing/2014/main" id="{86766E56-6C36-4199-92C5-CBEBEEFE3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520"/>
              <a:ext cx="556" cy="277"/>
            </a:xfrm>
            <a:custGeom>
              <a:avLst/>
              <a:gdLst>
                <a:gd name="T0" fmla="*/ 0 w 556"/>
                <a:gd name="T1" fmla="*/ 248 h 277"/>
                <a:gd name="T2" fmla="*/ 9 w 556"/>
                <a:gd name="T3" fmla="*/ 207 h 277"/>
                <a:gd name="T4" fmla="*/ 21 w 556"/>
                <a:gd name="T5" fmla="*/ 168 h 277"/>
                <a:gd name="T6" fmla="*/ 39 w 556"/>
                <a:gd name="T7" fmla="*/ 134 h 277"/>
                <a:gd name="T8" fmla="*/ 62 w 556"/>
                <a:gd name="T9" fmla="*/ 102 h 277"/>
                <a:gd name="T10" fmla="*/ 91 w 556"/>
                <a:gd name="T11" fmla="*/ 73 h 277"/>
                <a:gd name="T12" fmla="*/ 121 w 556"/>
                <a:gd name="T13" fmla="*/ 47 h 277"/>
                <a:gd name="T14" fmla="*/ 155 w 556"/>
                <a:gd name="T15" fmla="*/ 26 h 277"/>
                <a:gd name="T16" fmla="*/ 194 w 556"/>
                <a:gd name="T17" fmla="*/ 12 h 277"/>
                <a:gd name="T18" fmla="*/ 234 w 556"/>
                <a:gd name="T19" fmla="*/ 3 h 277"/>
                <a:gd name="T20" fmla="*/ 276 w 556"/>
                <a:gd name="T21" fmla="*/ 0 h 277"/>
                <a:gd name="T22" fmla="*/ 320 w 556"/>
                <a:gd name="T23" fmla="*/ 3 h 277"/>
                <a:gd name="T24" fmla="*/ 358 w 556"/>
                <a:gd name="T25" fmla="*/ 12 h 277"/>
                <a:gd name="T26" fmla="*/ 397 w 556"/>
                <a:gd name="T27" fmla="*/ 26 h 277"/>
                <a:gd name="T28" fmla="*/ 431 w 556"/>
                <a:gd name="T29" fmla="*/ 47 h 277"/>
                <a:gd name="T30" fmla="*/ 464 w 556"/>
                <a:gd name="T31" fmla="*/ 73 h 277"/>
                <a:gd name="T32" fmla="*/ 490 w 556"/>
                <a:gd name="T33" fmla="*/ 102 h 277"/>
                <a:gd name="T34" fmla="*/ 513 w 556"/>
                <a:gd name="T35" fmla="*/ 134 h 277"/>
                <a:gd name="T36" fmla="*/ 531 w 556"/>
                <a:gd name="T37" fmla="*/ 168 h 277"/>
                <a:gd name="T38" fmla="*/ 546 w 556"/>
                <a:gd name="T39" fmla="*/ 207 h 277"/>
                <a:gd name="T40" fmla="*/ 552 w 556"/>
                <a:gd name="T41" fmla="*/ 248 h 277"/>
                <a:gd name="T42" fmla="*/ 546 w 556"/>
                <a:gd name="T43" fmla="*/ 276 h 277"/>
                <a:gd name="T44" fmla="*/ 540 w 556"/>
                <a:gd name="T45" fmla="*/ 236 h 277"/>
                <a:gd name="T46" fmla="*/ 531 w 556"/>
                <a:gd name="T47" fmla="*/ 198 h 277"/>
                <a:gd name="T48" fmla="*/ 519 w 556"/>
                <a:gd name="T49" fmla="*/ 161 h 277"/>
                <a:gd name="T50" fmla="*/ 499 w 556"/>
                <a:gd name="T51" fmla="*/ 128 h 277"/>
                <a:gd name="T52" fmla="*/ 476 w 556"/>
                <a:gd name="T53" fmla="*/ 96 h 277"/>
                <a:gd name="T54" fmla="*/ 446 w 556"/>
                <a:gd name="T55" fmla="*/ 70 h 277"/>
                <a:gd name="T56" fmla="*/ 414 w 556"/>
                <a:gd name="T57" fmla="*/ 50 h 277"/>
                <a:gd name="T58" fmla="*/ 382 w 556"/>
                <a:gd name="T59" fmla="*/ 29 h 277"/>
                <a:gd name="T60" fmla="*/ 343 w 556"/>
                <a:gd name="T61" fmla="*/ 18 h 277"/>
                <a:gd name="T62" fmla="*/ 306 w 556"/>
                <a:gd name="T63" fmla="*/ 12 h 277"/>
                <a:gd name="T64" fmla="*/ 264 w 556"/>
                <a:gd name="T65" fmla="*/ 9 h 277"/>
                <a:gd name="T66" fmla="*/ 224 w 556"/>
                <a:gd name="T67" fmla="*/ 15 h 277"/>
                <a:gd name="T68" fmla="*/ 185 w 556"/>
                <a:gd name="T69" fmla="*/ 26 h 277"/>
                <a:gd name="T70" fmla="*/ 149 w 556"/>
                <a:gd name="T71" fmla="*/ 41 h 277"/>
                <a:gd name="T72" fmla="*/ 118 w 556"/>
                <a:gd name="T73" fmla="*/ 62 h 277"/>
                <a:gd name="T74" fmla="*/ 88 w 556"/>
                <a:gd name="T75" fmla="*/ 87 h 277"/>
                <a:gd name="T76" fmla="*/ 62 w 556"/>
                <a:gd name="T77" fmla="*/ 116 h 277"/>
                <a:gd name="T78" fmla="*/ 42 w 556"/>
                <a:gd name="T79" fmla="*/ 149 h 277"/>
                <a:gd name="T80" fmla="*/ 24 w 556"/>
                <a:gd name="T81" fmla="*/ 183 h 277"/>
                <a:gd name="T82" fmla="*/ 15 w 556"/>
                <a:gd name="T83" fmla="*/ 221 h 277"/>
                <a:gd name="T84" fmla="*/ 9 w 556"/>
                <a:gd name="T85" fmla="*/ 261 h 2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56"/>
                <a:gd name="T130" fmla="*/ 0 h 277"/>
                <a:gd name="T131" fmla="*/ 556 w 556"/>
                <a:gd name="T132" fmla="*/ 277 h 2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56" h="277">
                  <a:moveTo>
                    <a:pt x="0" y="276"/>
                  </a:moveTo>
                  <a:lnTo>
                    <a:pt x="0" y="261"/>
                  </a:lnTo>
                  <a:lnTo>
                    <a:pt x="0" y="248"/>
                  </a:lnTo>
                  <a:lnTo>
                    <a:pt x="3" y="233"/>
                  </a:lnTo>
                  <a:lnTo>
                    <a:pt x="3" y="221"/>
                  </a:lnTo>
                  <a:lnTo>
                    <a:pt x="9" y="207"/>
                  </a:lnTo>
                  <a:lnTo>
                    <a:pt x="12" y="195"/>
                  </a:lnTo>
                  <a:lnTo>
                    <a:pt x="15" y="180"/>
                  </a:lnTo>
                  <a:lnTo>
                    <a:pt x="21" y="168"/>
                  </a:lnTo>
                  <a:lnTo>
                    <a:pt x="27" y="158"/>
                  </a:lnTo>
                  <a:lnTo>
                    <a:pt x="33" y="146"/>
                  </a:lnTo>
                  <a:lnTo>
                    <a:pt x="39" y="134"/>
                  </a:lnTo>
                  <a:lnTo>
                    <a:pt x="47" y="122"/>
                  </a:lnTo>
                  <a:lnTo>
                    <a:pt x="53" y="111"/>
                  </a:lnTo>
                  <a:lnTo>
                    <a:pt x="62" y="102"/>
                  </a:lnTo>
                  <a:lnTo>
                    <a:pt x="70" y="90"/>
                  </a:lnTo>
                  <a:lnTo>
                    <a:pt x="79" y="81"/>
                  </a:lnTo>
                  <a:lnTo>
                    <a:pt x="91" y="73"/>
                  </a:lnTo>
                  <a:lnTo>
                    <a:pt x="100" y="65"/>
                  </a:lnTo>
                  <a:lnTo>
                    <a:pt x="112" y="56"/>
                  </a:lnTo>
                  <a:lnTo>
                    <a:pt x="121" y="47"/>
                  </a:lnTo>
                  <a:lnTo>
                    <a:pt x="133" y="41"/>
                  </a:lnTo>
                  <a:lnTo>
                    <a:pt x="144" y="32"/>
                  </a:lnTo>
                  <a:lnTo>
                    <a:pt x="155" y="26"/>
                  </a:lnTo>
                  <a:lnTo>
                    <a:pt x="167" y="21"/>
                  </a:lnTo>
                  <a:lnTo>
                    <a:pt x="182" y="18"/>
                  </a:lnTo>
                  <a:lnTo>
                    <a:pt x="194" y="12"/>
                  </a:lnTo>
                  <a:lnTo>
                    <a:pt x="209" y="9"/>
                  </a:lnTo>
                  <a:lnTo>
                    <a:pt x="221" y="6"/>
                  </a:lnTo>
                  <a:lnTo>
                    <a:pt x="234" y="3"/>
                  </a:lnTo>
                  <a:lnTo>
                    <a:pt x="249" y="0"/>
                  </a:lnTo>
                  <a:lnTo>
                    <a:pt x="261" y="0"/>
                  </a:lnTo>
                  <a:lnTo>
                    <a:pt x="276" y="0"/>
                  </a:lnTo>
                  <a:lnTo>
                    <a:pt x="291" y="0"/>
                  </a:lnTo>
                  <a:lnTo>
                    <a:pt x="306" y="0"/>
                  </a:lnTo>
                  <a:lnTo>
                    <a:pt x="320" y="3"/>
                  </a:lnTo>
                  <a:lnTo>
                    <a:pt x="331" y="6"/>
                  </a:lnTo>
                  <a:lnTo>
                    <a:pt x="346" y="9"/>
                  </a:lnTo>
                  <a:lnTo>
                    <a:pt x="358" y="12"/>
                  </a:lnTo>
                  <a:lnTo>
                    <a:pt x="373" y="18"/>
                  </a:lnTo>
                  <a:lnTo>
                    <a:pt x="385" y="21"/>
                  </a:lnTo>
                  <a:lnTo>
                    <a:pt x="397" y="26"/>
                  </a:lnTo>
                  <a:lnTo>
                    <a:pt x="408" y="32"/>
                  </a:lnTo>
                  <a:lnTo>
                    <a:pt x="419" y="41"/>
                  </a:lnTo>
                  <a:lnTo>
                    <a:pt x="431" y="47"/>
                  </a:lnTo>
                  <a:lnTo>
                    <a:pt x="443" y="56"/>
                  </a:lnTo>
                  <a:lnTo>
                    <a:pt x="452" y="65"/>
                  </a:lnTo>
                  <a:lnTo>
                    <a:pt x="464" y="73"/>
                  </a:lnTo>
                  <a:lnTo>
                    <a:pt x="473" y="81"/>
                  </a:lnTo>
                  <a:lnTo>
                    <a:pt x="481" y="90"/>
                  </a:lnTo>
                  <a:lnTo>
                    <a:pt x="490" y="102"/>
                  </a:lnTo>
                  <a:lnTo>
                    <a:pt x="499" y="111"/>
                  </a:lnTo>
                  <a:lnTo>
                    <a:pt x="508" y="122"/>
                  </a:lnTo>
                  <a:lnTo>
                    <a:pt x="513" y="134"/>
                  </a:lnTo>
                  <a:lnTo>
                    <a:pt x="519" y="146"/>
                  </a:lnTo>
                  <a:lnTo>
                    <a:pt x="525" y="158"/>
                  </a:lnTo>
                  <a:lnTo>
                    <a:pt x="531" y="168"/>
                  </a:lnTo>
                  <a:lnTo>
                    <a:pt x="537" y="180"/>
                  </a:lnTo>
                  <a:lnTo>
                    <a:pt x="540" y="195"/>
                  </a:lnTo>
                  <a:lnTo>
                    <a:pt x="546" y="207"/>
                  </a:lnTo>
                  <a:lnTo>
                    <a:pt x="549" y="221"/>
                  </a:lnTo>
                  <a:lnTo>
                    <a:pt x="552" y="233"/>
                  </a:lnTo>
                  <a:lnTo>
                    <a:pt x="552" y="248"/>
                  </a:lnTo>
                  <a:lnTo>
                    <a:pt x="555" y="261"/>
                  </a:lnTo>
                  <a:lnTo>
                    <a:pt x="555" y="276"/>
                  </a:lnTo>
                  <a:lnTo>
                    <a:pt x="546" y="276"/>
                  </a:lnTo>
                  <a:lnTo>
                    <a:pt x="543" y="261"/>
                  </a:lnTo>
                  <a:lnTo>
                    <a:pt x="543" y="248"/>
                  </a:lnTo>
                  <a:lnTo>
                    <a:pt x="540" y="236"/>
                  </a:lnTo>
                  <a:lnTo>
                    <a:pt x="540" y="221"/>
                  </a:lnTo>
                  <a:lnTo>
                    <a:pt x="537" y="209"/>
                  </a:lnTo>
                  <a:lnTo>
                    <a:pt x="531" y="198"/>
                  </a:lnTo>
                  <a:lnTo>
                    <a:pt x="528" y="183"/>
                  </a:lnTo>
                  <a:lnTo>
                    <a:pt x="522" y="171"/>
                  </a:lnTo>
                  <a:lnTo>
                    <a:pt x="519" y="161"/>
                  </a:lnTo>
                  <a:lnTo>
                    <a:pt x="513" y="149"/>
                  </a:lnTo>
                  <a:lnTo>
                    <a:pt x="505" y="137"/>
                  </a:lnTo>
                  <a:lnTo>
                    <a:pt x="499" y="128"/>
                  </a:lnTo>
                  <a:lnTo>
                    <a:pt x="490" y="116"/>
                  </a:lnTo>
                  <a:lnTo>
                    <a:pt x="484" y="108"/>
                  </a:lnTo>
                  <a:lnTo>
                    <a:pt x="476" y="96"/>
                  </a:lnTo>
                  <a:lnTo>
                    <a:pt x="467" y="87"/>
                  </a:lnTo>
                  <a:lnTo>
                    <a:pt x="458" y="78"/>
                  </a:lnTo>
                  <a:lnTo>
                    <a:pt x="446" y="70"/>
                  </a:lnTo>
                  <a:lnTo>
                    <a:pt x="437" y="62"/>
                  </a:lnTo>
                  <a:lnTo>
                    <a:pt x="425" y="56"/>
                  </a:lnTo>
                  <a:lnTo>
                    <a:pt x="414" y="50"/>
                  </a:lnTo>
                  <a:lnTo>
                    <a:pt x="405" y="41"/>
                  </a:lnTo>
                  <a:lnTo>
                    <a:pt x="394" y="35"/>
                  </a:lnTo>
                  <a:lnTo>
                    <a:pt x="382" y="29"/>
                  </a:lnTo>
                  <a:lnTo>
                    <a:pt x="370" y="26"/>
                  </a:lnTo>
                  <a:lnTo>
                    <a:pt x="355" y="21"/>
                  </a:lnTo>
                  <a:lnTo>
                    <a:pt x="343" y="18"/>
                  </a:lnTo>
                  <a:lnTo>
                    <a:pt x="331" y="15"/>
                  </a:lnTo>
                  <a:lnTo>
                    <a:pt x="317" y="12"/>
                  </a:lnTo>
                  <a:lnTo>
                    <a:pt x="306" y="12"/>
                  </a:lnTo>
                  <a:lnTo>
                    <a:pt x="291" y="9"/>
                  </a:lnTo>
                  <a:lnTo>
                    <a:pt x="276" y="9"/>
                  </a:lnTo>
                  <a:lnTo>
                    <a:pt x="264" y="9"/>
                  </a:lnTo>
                  <a:lnTo>
                    <a:pt x="249" y="12"/>
                  </a:lnTo>
                  <a:lnTo>
                    <a:pt x="234" y="12"/>
                  </a:lnTo>
                  <a:lnTo>
                    <a:pt x="224" y="15"/>
                  </a:lnTo>
                  <a:lnTo>
                    <a:pt x="209" y="18"/>
                  </a:lnTo>
                  <a:lnTo>
                    <a:pt x="197" y="21"/>
                  </a:lnTo>
                  <a:lnTo>
                    <a:pt x="185" y="26"/>
                  </a:lnTo>
                  <a:lnTo>
                    <a:pt x="173" y="29"/>
                  </a:lnTo>
                  <a:lnTo>
                    <a:pt x="161" y="35"/>
                  </a:lnTo>
                  <a:lnTo>
                    <a:pt x="149" y="41"/>
                  </a:lnTo>
                  <a:lnTo>
                    <a:pt x="139" y="50"/>
                  </a:lnTo>
                  <a:lnTo>
                    <a:pt x="127" y="56"/>
                  </a:lnTo>
                  <a:lnTo>
                    <a:pt x="118" y="62"/>
                  </a:lnTo>
                  <a:lnTo>
                    <a:pt x="106" y="70"/>
                  </a:lnTo>
                  <a:lnTo>
                    <a:pt x="97" y="78"/>
                  </a:lnTo>
                  <a:lnTo>
                    <a:pt x="88" y="87"/>
                  </a:lnTo>
                  <a:lnTo>
                    <a:pt x="79" y="96"/>
                  </a:lnTo>
                  <a:lnTo>
                    <a:pt x="70" y="108"/>
                  </a:lnTo>
                  <a:lnTo>
                    <a:pt x="62" y="116"/>
                  </a:lnTo>
                  <a:lnTo>
                    <a:pt x="53" y="128"/>
                  </a:lnTo>
                  <a:lnTo>
                    <a:pt x="47" y="137"/>
                  </a:lnTo>
                  <a:lnTo>
                    <a:pt x="42" y="149"/>
                  </a:lnTo>
                  <a:lnTo>
                    <a:pt x="36" y="161"/>
                  </a:lnTo>
                  <a:lnTo>
                    <a:pt x="30" y="171"/>
                  </a:lnTo>
                  <a:lnTo>
                    <a:pt x="24" y="183"/>
                  </a:lnTo>
                  <a:lnTo>
                    <a:pt x="21" y="198"/>
                  </a:lnTo>
                  <a:lnTo>
                    <a:pt x="18" y="209"/>
                  </a:lnTo>
                  <a:lnTo>
                    <a:pt x="15" y="221"/>
                  </a:lnTo>
                  <a:lnTo>
                    <a:pt x="12" y="236"/>
                  </a:lnTo>
                  <a:lnTo>
                    <a:pt x="9" y="248"/>
                  </a:lnTo>
                  <a:lnTo>
                    <a:pt x="9" y="261"/>
                  </a:lnTo>
                  <a:lnTo>
                    <a:pt x="9" y="276"/>
                  </a:lnTo>
                  <a:lnTo>
                    <a:pt x="0" y="276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5" name="Freeform 149">
              <a:extLst>
                <a:ext uri="{FF2B5EF4-FFF2-40B4-BE49-F238E27FC236}">
                  <a16:creationId xmlns:a16="http://schemas.microsoft.com/office/drawing/2014/main" id="{B0CD5044-EE40-480A-A16A-603082A3E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802"/>
              <a:ext cx="556" cy="277"/>
            </a:xfrm>
            <a:custGeom>
              <a:avLst/>
              <a:gdLst>
                <a:gd name="T0" fmla="*/ 0 w 556"/>
                <a:gd name="T1" fmla="*/ 15 h 277"/>
                <a:gd name="T2" fmla="*/ 3 w 556"/>
                <a:gd name="T3" fmla="*/ 56 h 277"/>
                <a:gd name="T4" fmla="*/ 15 w 556"/>
                <a:gd name="T5" fmla="*/ 93 h 277"/>
                <a:gd name="T6" fmla="*/ 33 w 556"/>
                <a:gd name="T7" fmla="*/ 131 h 277"/>
                <a:gd name="T8" fmla="*/ 53 w 556"/>
                <a:gd name="T9" fmla="*/ 165 h 277"/>
                <a:gd name="T10" fmla="*/ 79 w 556"/>
                <a:gd name="T11" fmla="*/ 195 h 277"/>
                <a:gd name="T12" fmla="*/ 112 w 556"/>
                <a:gd name="T13" fmla="*/ 221 h 277"/>
                <a:gd name="T14" fmla="*/ 144 w 556"/>
                <a:gd name="T15" fmla="*/ 241 h 277"/>
                <a:gd name="T16" fmla="*/ 182 w 556"/>
                <a:gd name="T17" fmla="*/ 258 h 277"/>
                <a:gd name="T18" fmla="*/ 221 w 556"/>
                <a:gd name="T19" fmla="*/ 270 h 277"/>
                <a:gd name="T20" fmla="*/ 261 w 556"/>
                <a:gd name="T21" fmla="*/ 273 h 277"/>
                <a:gd name="T22" fmla="*/ 306 w 556"/>
                <a:gd name="T23" fmla="*/ 273 h 277"/>
                <a:gd name="T24" fmla="*/ 346 w 556"/>
                <a:gd name="T25" fmla="*/ 267 h 277"/>
                <a:gd name="T26" fmla="*/ 385 w 556"/>
                <a:gd name="T27" fmla="*/ 253 h 277"/>
                <a:gd name="T28" fmla="*/ 419 w 556"/>
                <a:gd name="T29" fmla="*/ 235 h 277"/>
                <a:gd name="T30" fmla="*/ 452 w 556"/>
                <a:gd name="T31" fmla="*/ 212 h 277"/>
                <a:gd name="T32" fmla="*/ 481 w 556"/>
                <a:gd name="T33" fmla="*/ 183 h 277"/>
                <a:gd name="T34" fmla="*/ 508 w 556"/>
                <a:gd name="T35" fmla="*/ 154 h 277"/>
                <a:gd name="T36" fmla="*/ 525 w 556"/>
                <a:gd name="T37" fmla="*/ 119 h 277"/>
                <a:gd name="T38" fmla="*/ 540 w 556"/>
                <a:gd name="T39" fmla="*/ 81 h 277"/>
                <a:gd name="T40" fmla="*/ 552 w 556"/>
                <a:gd name="T41" fmla="*/ 41 h 277"/>
                <a:gd name="T42" fmla="*/ 555 w 556"/>
                <a:gd name="T43" fmla="*/ 0 h 277"/>
                <a:gd name="T44" fmla="*/ 543 w 556"/>
                <a:gd name="T45" fmla="*/ 26 h 277"/>
                <a:gd name="T46" fmla="*/ 537 w 556"/>
                <a:gd name="T47" fmla="*/ 67 h 277"/>
                <a:gd name="T48" fmla="*/ 522 w 556"/>
                <a:gd name="T49" fmla="*/ 102 h 277"/>
                <a:gd name="T50" fmla="*/ 505 w 556"/>
                <a:gd name="T51" fmla="*/ 137 h 277"/>
                <a:gd name="T52" fmla="*/ 484 w 556"/>
                <a:gd name="T53" fmla="*/ 168 h 277"/>
                <a:gd name="T54" fmla="*/ 458 w 556"/>
                <a:gd name="T55" fmla="*/ 198 h 277"/>
                <a:gd name="T56" fmla="*/ 425 w 556"/>
                <a:gd name="T57" fmla="*/ 221 h 277"/>
                <a:gd name="T58" fmla="*/ 394 w 556"/>
                <a:gd name="T59" fmla="*/ 238 h 277"/>
                <a:gd name="T60" fmla="*/ 355 w 556"/>
                <a:gd name="T61" fmla="*/ 253 h 277"/>
                <a:gd name="T62" fmla="*/ 317 w 556"/>
                <a:gd name="T63" fmla="*/ 261 h 277"/>
                <a:gd name="T64" fmla="*/ 276 w 556"/>
                <a:gd name="T65" fmla="*/ 264 h 277"/>
                <a:gd name="T66" fmla="*/ 234 w 556"/>
                <a:gd name="T67" fmla="*/ 261 h 277"/>
                <a:gd name="T68" fmla="*/ 197 w 556"/>
                <a:gd name="T69" fmla="*/ 253 h 277"/>
                <a:gd name="T70" fmla="*/ 161 w 556"/>
                <a:gd name="T71" fmla="*/ 238 h 277"/>
                <a:gd name="T72" fmla="*/ 127 w 556"/>
                <a:gd name="T73" fmla="*/ 221 h 277"/>
                <a:gd name="T74" fmla="*/ 97 w 556"/>
                <a:gd name="T75" fmla="*/ 198 h 277"/>
                <a:gd name="T76" fmla="*/ 70 w 556"/>
                <a:gd name="T77" fmla="*/ 168 h 277"/>
                <a:gd name="T78" fmla="*/ 47 w 556"/>
                <a:gd name="T79" fmla="*/ 137 h 277"/>
                <a:gd name="T80" fmla="*/ 30 w 556"/>
                <a:gd name="T81" fmla="*/ 102 h 277"/>
                <a:gd name="T82" fmla="*/ 18 w 556"/>
                <a:gd name="T83" fmla="*/ 67 h 277"/>
                <a:gd name="T84" fmla="*/ 9 w 556"/>
                <a:gd name="T85" fmla="*/ 26 h 277"/>
                <a:gd name="T86" fmla="*/ 0 w 556"/>
                <a:gd name="T87" fmla="*/ 0 h 2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6"/>
                <a:gd name="T133" fmla="*/ 0 h 277"/>
                <a:gd name="T134" fmla="*/ 556 w 556"/>
                <a:gd name="T135" fmla="*/ 277 h 27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6" h="277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3" y="56"/>
                  </a:lnTo>
                  <a:lnTo>
                    <a:pt x="9" y="67"/>
                  </a:lnTo>
                  <a:lnTo>
                    <a:pt x="12" y="81"/>
                  </a:lnTo>
                  <a:lnTo>
                    <a:pt x="15" y="93"/>
                  </a:lnTo>
                  <a:lnTo>
                    <a:pt x="21" y="108"/>
                  </a:lnTo>
                  <a:lnTo>
                    <a:pt x="27" y="119"/>
                  </a:lnTo>
                  <a:lnTo>
                    <a:pt x="33" y="131"/>
                  </a:lnTo>
                  <a:lnTo>
                    <a:pt x="39" y="143"/>
                  </a:lnTo>
                  <a:lnTo>
                    <a:pt x="47" y="154"/>
                  </a:lnTo>
                  <a:lnTo>
                    <a:pt x="53" y="165"/>
                  </a:lnTo>
                  <a:lnTo>
                    <a:pt x="62" y="174"/>
                  </a:lnTo>
                  <a:lnTo>
                    <a:pt x="70" y="183"/>
                  </a:lnTo>
                  <a:lnTo>
                    <a:pt x="79" y="195"/>
                  </a:lnTo>
                  <a:lnTo>
                    <a:pt x="91" y="204"/>
                  </a:lnTo>
                  <a:lnTo>
                    <a:pt x="100" y="212"/>
                  </a:lnTo>
                  <a:lnTo>
                    <a:pt x="112" y="221"/>
                  </a:lnTo>
                  <a:lnTo>
                    <a:pt x="121" y="227"/>
                  </a:lnTo>
                  <a:lnTo>
                    <a:pt x="133" y="235"/>
                  </a:lnTo>
                  <a:lnTo>
                    <a:pt x="144" y="241"/>
                  </a:lnTo>
                  <a:lnTo>
                    <a:pt x="155" y="247"/>
                  </a:lnTo>
                  <a:lnTo>
                    <a:pt x="167" y="253"/>
                  </a:lnTo>
                  <a:lnTo>
                    <a:pt x="182" y="258"/>
                  </a:lnTo>
                  <a:lnTo>
                    <a:pt x="194" y="261"/>
                  </a:lnTo>
                  <a:lnTo>
                    <a:pt x="209" y="267"/>
                  </a:lnTo>
                  <a:lnTo>
                    <a:pt x="221" y="270"/>
                  </a:lnTo>
                  <a:lnTo>
                    <a:pt x="234" y="270"/>
                  </a:lnTo>
                  <a:lnTo>
                    <a:pt x="249" y="273"/>
                  </a:lnTo>
                  <a:lnTo>
                    <a:pt x="261" y="273"/>
                  </a:lnTo>
                  <a:lnTo>
                    <a:pt x="276" y="276"/>
                  </a:lnTo>
                  <a:lnTo>
                    <a:pt x="291" y="273"/>
                  </a:lnTo>
                  <a:lnTo>
                    <a:pt x="306" y="273"/>
                  </a:lnTo>
                  <a:lnTo>
                    <a:pt x="320" y="270"/>
                  </a:lnTo>
                  <a:lnTo>
                    <a:pt x="331" y="270"/>
                  </a:lnTo>
                  <a:lnTo>
                    <a:pt x="346" y="267"/>
                  </a:lnTo>
                  <a:lnTo>
                    <a:pt x="358" y="261"/>
                  </a:lnTo>
                  <a:lnTo>
                    <a:pt x="373" y="258"/>
                  </a:lnTo>
                  <a:lnTo>
                    <a:pt x="385" y="253"/>
                  </a:lnTo>
                  <a:lnTo>
                    <a:pt x="397" y="247"/>
                  </a:lnTo>
                  <a:lnTo>
                    <a:pt x="408" y="241"/>
                  </a:lnTo>
                  <a:lnTo>
                    <a:pt x="419" y="235"/>
                  </a:lnTo>
                  <a:lnTo>
                    <a:pt x="431" y="227"/>
                  </a:lnTo>
                  <a:lnTo>
                    <a:pt x="443" y="221"/>
                  </a:lnTo>
                  <a:lnTo>
                    <a:pt x="452" y="212"/>
                  </a:lnTo>
                  <a:lnTo>
                    <a:pt x="464" y="204"/>
                  </a:lnTo>
                  <a:lnTo>
                    <a:pt x="473" y="195"/>
                  </a:lnTo>
                  <a:lnTo>
                    <a:pt x="481" y="183"/>
                  </a:lnTo>
                  <a:lnTo>
                    <a:pt x="490" y="174"/>
                  </a:lnTo>
                  <a:lnTo>
                    <a:pt x="499" y="165"/>
                  </a:lnTo>
                  <a:lnTo>
                    <a:pt x="508" y="154"/>
                  </a:lnTo>
                  <a:lnTo>
                    <a:pt x="513" y="143"/>
                  </a:lnTo>
                  <a:lnTo>
                    <a:pt x="519" y="131"/>
                  </a:lnTo>
                  <a:lnTo>
                    <a:pt x="525" y="119"/>
                  </a:lnTo>
                  <a:lnTo>
                    <a:pt x="531" y="108"/>
                  </a:lnTo>
                  <a:lnTo>
                    <a:pt x="537" y="93"/>
                  </a:lnTo>
                  <a:lnTo>
                    <a:pt x="540" y="81"/>
                  </a:lnTo>
                  <a:lnTo>
                    <a:pt x="546" y="67"/>
                  </a:lnTo>
                  <a:lnTo>
                    <a:pt x="549" y="56"/>
                  </a:lnTo>
                  <a:lnTo>
                    <a:pt x="552" y="41"/>
                  </a:lnTo>
                  <a:lnTo>
                    <a:pt x="552" y="26"/>
                  </a:lnTo>
                  <a:lnTo>
                    <a:pt x="555" y="15"/>
                  </a:lnTo>
                  <a:lnTo>
                    <a:pt x="555" y="0"/>
                  </a:lnTo>
                  <a:lnTo>
                    <a:pt x="546" y="0"/>
                  </a:lnTo>
                  <a:lnTo>
                    <a:pt x="543" y="12"/>
                  </a:lnTo>
                  <a:lnTo>
                    <a:pt x="543" y="26"/>
                  </a:lnTo>
                  <a:lnTo>
                    <a:pt x="540" y="41"/>
                  </a:lnTo>
                  <a:lnTo>
                    <a:pt x="540" y="53"/>
                  </a:lnTo>
                  <a:lnTo>
                    <a:pt x="537" y="67"/>
                  </a:lnTo>
                  <a:lnTo>
                    <a:pt x="531" y="78"/>
                  </a:lnTo>
                  <a:lnTo>
                    <a:pt x="528" y="90"/>
                  </a:lnTo>
                  <a:lnTo>
                    <a:pt x="522" y="102"/>
                  </a:lnTo>
                  <a:lnTo>
                    <a:pt x="519" y="114"/>
                  </a:lnTo>
                  <a:lnTo>
                    <a:pt x="513" y="125"/>
                  </a:lnTo>
                  <a:lnTo>
                    <a:pt x="505" y="137"/>
                  </a:lnTo>
                  <a:lnTo>
                    <a:pt x="499" y="148"/>
                  </a:lnTo>
                  <a:lnTo>
                    <a:pt x="490" y="157"/>
                  </a:lnTo>
                  <a:lnTo>
                    <a:pt x="484" y="168"/>
                  </a:lnTo>
                  <a:lnTo>
                    <a:pt x="476" y="177"/>
                  </a:lnTo>
                  <a:lnTo>
                    <a:pt x="467" y="186"/>
                  </a:lnTo>
                  <a:lnTo>
                    <a:pt x="458" y="198"/>
                  </a:lnTo>
                  <a:lnTo>
                    <a:pt x="446" y="204"/>
                  </a:lnTo>
                  <a:lnTo>
                    <a:pt x="437" y="212"/>
                  </a:lnTo>
                  <a:lnTo>
                    <a:pt x="425" y="221"/>
                  </a:lnTo>
                  <a:lnTo>
                    <a:pt x="414" y="227"/>
                  </a:lnTo>
                  <a:lnTo>
                    <a:pt x="405" y="232"/>
                  </a:lnTo>
                  <a:lnTo>
                    <a:pt x="394" y="238"/>
                  </a:lnTo>
                  <a:lnTo>
                    <a:pt x="382" y="244"/>
                  </a:lnTo>
                  <a:lnTo>
                    <a:pt x="370" y="250"/>
                  </a:lnTo>
                  <a:lnTo>
                    <a:pt x="355" y="253"/>
                  </a:lnTo>
                  <a:lnTo>
                    <a:pt x="343" y="255"/>
                  </a:lnTo>
                  <a:lnTo>
                    <a:pt x="331" y="258"/>
                  </a:lnTo>
                  <a:lnTo>
                    <a:pt x="317" y="261"/>
                  </a:lnTo>
                  <a:lnTo>
                    <a:pt x="306" y="264"/>
                  </a:lnTo>
                  <a:lnTo>
                    <a:pt x="291" y="264"/>
                  </a:lnTo>
                  <a:lnTo>
                    <a:pt x="276" y="264"/>
                  </a:lnTo>
                  <a:lnTo>
                    <a:pt x="264" y="264"/>
                  </a:lnTo>
                  <a:lnTo>
                    <a:pt x="249" y="264"/>
                  </a:lnTo>
                  <a:lnTo>
                    <a:pt x="234" y="261"/>
                  </a:lnTo>
                  <a:lnTo>
                    <a:pt x="224" y="258"/>
                  </a:lnTo>
                  <a:lnTo>
                    <a:pt x="209" y="255"/>
                  </a:lnTo>
                  <a:lnTo>
                    <a:pt x="197" y="253"/>
                  </a:lnTo>
                  <a:lnTo>
                    <a:pt x="185" y="250"/>
                  </a:lnTo>
                  <a:lnTo>
                    <a:pt x="173" y="244"/>
                  </a:lnTo>
                  <a:lnTo>
                    <a:pt x="161" y="238"/>
                  </a:lnTo>
                  <a:lnTo>
                    <a:pt x="149" y="232"/>
                  </a:lnTo>
                  <a:lnTo>
                    <a:pt x="139" y="227"/>
                  </a:lnTo>
                  <a:lnTo>
                    <a:pt x="127" y="221"/>
                  </a:lnTo>
                  <a:lnTo>
                    <a:pt x="118" y="212"/>
                  </a:lnTo>
                  <a:lnTo>
                    <a:pt x="106" y="204"/>
                  </a:lnTo>
                  <a:lnTo>
                    <a:pt x="97" y="198"/>
                  </a:lnTo>
                  <a:lnTo>
                    <a:pt x="88" y="186"/>
                  </a:lnTo>
                  <a:lnTo>
                    <a:pt x="79" y="177"/>
                  </a:lnTo>
                  <a:lnTo>
                    <a:pt x="70" y="168"/>
                  </a:lnTo>
                  <a:lnTo>
                    <a:pt x="62" y="157"/>
                  </a:lnTo>
                  <a:lnTo>
                    <a:pt x="53" y="148"/>
                  </a:lnTo>
                  <a:lnTo>
                    <a:pt x="47" y="137"/>
                  </a:lnTo>
                  <a:lnTo>
                    <a:pt x="42" y="125"/>
                  </a:lnTo>
                  <a:lnTo>
                    <a:pt x="36" y="114"/>
                  </a:lnTo>
                  <a:lnTo>
                    <a:pt x="30" y="102"/>
                  </a:lnTo>
                  <a:lnTo>
                    <a:pt x="24" y="90"/>
                  </a:lnTo>
                  <a:lnTo>
                    <a:pt x="21" y="78"/>
                  </a:lnTo>
                  <a:lnTo>
                    <a:pt x="18" y="67"/>
                  </a:lnTo>
                  <a:lnTo>
                    <a:pt x="15" y="53"/>
                  </a:lnTo>
                  <a:lnTo>
                    <a:pt x="12" y="41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6" name="Freeform 150">
              <a:extLst>
                <a:ext uri="{FF2B5EF4-FFF2-40B4-BE49-F238E27FC236}">
                  <a16:creationId xmlns:a16="http://schemas.microsoft.com/office/drawing/2014/main" id="{B31126C5-87F5-4C7D-AEF0-74B8076E1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529"/>
              <a:ext cx="538" cy="268"/>
            </a:xfrm>
            <a:custGeom>
              <a:avLst/>
              <a:gdLst>
                <a:gd name="T0" fmla="*/ 0 w 538"/>
                <a:gd name="T1" fmla="*/ 239 h 268"/>
                <a:gd name="T2" fmla="*/ 9 w 538"/>
                <a:gd name="T3" fmla="*/ 200 h 268"/>
                <a:gd name="T4" fmla="*/ 21 w 538"/>
                <a:gd name="T5" fmla="*/ 162 h 268"/>
                <a:gd name="T6" fmla="*/ 39 w 538"/>
                <a:gd name="T7" fmla="*/ 128 h 268"/>
                <a:gd name="T8" fmla="*/ 61 w 538"/>
                <a:gd name="T9" fmla="*/ 99 h 268"/>
                <a:gd name="T10" fmla="*/ 88 w 538"/>
                <a:gd name="T11" fmla="*/ 69 h 268"/>
                <a:gd name="T12" fmla="*/ 118 w 538"/>
                <a:gd name="T13" fmla="*/ 47 h 268"/>
                <a:gd name="T14" fmla="*/ 152 w 538"/>
                <a:gd name="T15" fmla="*/ 26 h 268"/>
                <a:gd name="T16" fmla="*/ 188 w 538"/>
                <a:gd name="T17" fmla="*/ 12 h 268"/>
                <a:gd name="T18" fmla="*/ 225 w 538"/>
                <a:gd name="T19" fmla="*/ 3 h 268"/>
                <a:gd name="T20" fmla="*/ 267 w 538"/>
                <a:gd name="T21" fmla="*/ 0 h 268"/>
                <a:gd name="T22" fmla="*/ 308 w 538"/>
                <a:gd name="T23" fmla="*/ 3 h 268"/>
                <a:gd name="T24" fmla="*/ 346 w 538"/>
                <a:gd name="T25" fmla="*/ 12 h 268"/>
                <a:gd name="T26" fmla="*/ 385 w 538"/>
                <a:gd name="T27" fmla="*/ 26 h 268"/>
                <a:gd name="T28" fmla="*/ 416 w 538"/>
                <a:gd name="T29" fmla="*/ 47 h 268"/>
                <a:gd name="T30" fmla="*/ 449 w 538"/>
                <a:gd name="T31" fmla="*/ 69 h 268"/>
                <a:gd name="T32" fmla="*/ 475 w 538"/>
                <a:gd name="T33" fmla="*/ 99 h 268"/>
                <a:gd name="T34" fmla="*/ 495 w 538"/>
                <a:gd name="T35" fmla="*/ 128 h 268"/>
                <a:gd name="T36" fmla="*/ 513 w 538"/>
                <a:gd name="T37" fmla="*/ 162 h 268"/>
                <a:gd name="T38" fmla="*/ 528 w 538"/>
                <a:gd name="T39" fmla="*/ 200 h 268"/>
                <a:gd name="T40" fmla="*/ 534 w 538"/>
                <a:gd name="T41" fmla="*/ 239 h 268"/>
                <a:gd name="T42" fmla="*/ 525 w 538"/>
                <a:gd name="T43" fmla="*/ 267 h 268"/>
                <a:gd name="T44" fmla="*/ 522 w 538"/>
                <a:gd name="T45" fmla="*/ 227 h 268"/>
                <a:gd name="T46" fmla="*/ 513 w 538"/>
                <a:gd name="T47" fmla="*/ 189 h 268"/>
                <a:gd name="T48" fmla="*/ 501 w 538"/>
                <a:gd name="T49" fmla="*/ 154 h 268"/>
                <a:gd name="T50" fmla="*/ 481 w 538"/>
                <a:gd name="T51" fmla="*/ 122 h 268"/>
                <a:gd name="T52" fmla="*/ 461 w 538"/>
                <a:gd name="T53" fmla="*/ 93 h 268"/>
                <a:gd name="T54" fmla="*/ 431 w 538"/>
                <a:gd name="T55" fmla="*/ 69 h 268"/>
                <a:gd name="T56" fmla="*/ 402 w 538"/>
                <a:gd name="T57" fmla="*/ 47 h 268"/>
                <a:gd name="T58" fmla="*/ 370 w 538"/>
                <a:gd name="T59" fmla="*/ 29 h 268"/>
                <a:gd name="T60" fmla="*/ 331 w 538"/>
                <a:gd name="T61" fmla="*/ 18 h 268"/>
                <a:gd name="T62" fmla="*/ 294 w 538"/>
                <a:gd name="T63" fmla="*/ 12 h 268"/>
                <a:gd name="T64" fmla="*/ 255 w 538"/>
                <a:gd name="T65" fmla="*/ 9 h 268"/>
                <a:gd name="T66" fmla="*/ 215 w 538"/>
                <a:gd name="T67" fmla="*/ 15 h 268"/>
                <a:gd name="T68" fmla="*/ 179 w 538"/>
                <a:gd name="T69" fmla="*/ 26 h 268"/>
                <a:gd name="T70" fmla="*/ 143 w 538"/>
                <a:gd name="T71" fmla="*/ 41 h 268"/>
                <a:gd name="T72" fmla="*/ 112 w 538"/>
                <a:gd name="T73" fmla="*/ 62 h 268"/>
                <a:gd name="T74" fmla="*/ 85 w 538"/>
                <a:gd name="T75" fmla="*/ 84 h 268"/>
                <a:gd name="T76" fmla="*/ 58 w 538"/>
                <a:gd name="T77" fmla="*/ 113 h 268"/>
                <a:gd name="T78" fmla="*/ 42 w 538"/>
                <a:gd name="T79" fmla="*/ 146 h 268"/>
                <a:gd name="T80" fmla="*/ 24 w 538"/>
                <a:gd name="T81" fmla="*/ 177 h 268"/>
                <a:gd name="T82" fmla="*/ 15 w 538"/>
                <a:gd name="T83" fmla="*/ 215 h 268"/>
                <a:gd name="T84" fmla="*/ 9 w 538"/>
                <a:gd name="T85" fmla="*/ 252 h 26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8"/>
                <a:gd name="T130" fmla="*/ 0 h 268"/>
                <a:gd name="T131" fmla="*/ 538 w 538"/>
                <a:gd name="T132" fmla="*/ 268 h 26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8" h="268">
                  <a:moveTo>
                    <a:pt x="0" y="267"/>
                  </a:moveTo>
                  <a:lnTo>
                    <a:pt x="0" y="252"/>
                  </a:lnTo>
                  <a:lnTo>
                    <a:pt x="0" y="239"/>
                  </a:lnTo>
                  <a:lnTo>
                    <a:pt x="3" y="227"/>
                  </a:lnTo>
                  <a:lnTo>
                    <a:pt x="6" y="212"/>
                  </a:lnTo>
                  <a:lnTo>
                    <a:pt x="9" y="200"/>
                  </a:lnTo>
                  <a:lnTo>
                    <a:pt x="12" y="189"/>
                  </a:lnTo>
                  <a:lnTo>
                    <a:pt x="15" y="174"/>
                  </a:lnTo>
                  <a:lnTo>
                    <a:pt x="21" y="162"/>
                  </a:lnTo>
                  <a:lnTo>
                    <a:pt x="27" y="152"/>
                  </a:lnTo>
                  <a:lnTo>
                    <a:pt x="33" y="140"/>
                  </a:lnTo>
                  <a:lnTo>
                    <a:pt x="39" y="128"/>
                  </a:lnTo>
                  <a:lnTo>
                    <a:pt x="45" y="119"/>
                  </a:lnTo>
                  <a:lnTo>
                    <a:pt x="53" y="108"/>
                  </a:lnTo>
                  <a:lnTo>
                    <a:pt x="61" y="99"/>
                  </a:lnTo>
                  <a:lnTo>
                    <a:pt x="70" y="87"/>
                  </a:lnTo>
                  <a:lnTo>
                    <a:pt x="79" y="78"/>
                  </a:lnTo>
                  <a:lnTo>
                    <a:pt x="88" y="69"/>
                  </a:lnTo>
                  <a:lnTo>
                    <a:pt x="97" y="62"/>
                  </a:lnTo>
                  <a:lnTo>
                    <a:pt x="109" y="53"/>
                  </a:lnTo>
                  <a:lnTo>
                    <a:pt x="118" y="47"/>
                  </a:lnTo>
                  <a:lnTo>
                    <a:pt x="130" y="41"/>
                  </a:lnTo>
                  <a:lnTo>
                    <a:pt x="140" y="32"/>
                  </a:lnTo>
                  <a:lnTo>
                    <a:pt x="152" y="26"/>
                  </a:lnTo>
                  <a:lnTo>
                    <a:pt x="164" y="21"/>
                  </a:lnTo>
                  <a:lnTo>
                    <a:pt x="176" y="18"/>
                  </a:lnTo>
                  <a:lnTo>
                    <a:pt x="188" y="12"/>
                  </a:lnTo>
                  <a:lnTo>
                    <a:pt x="200" y="9"/>
                  </a:lnTo>
                  <a:lnTo>
                    <a:pt x="215" y="6"/>
                  </a:lnTo>
                  <a:lnTo>
                    <a:pt x="225" y="3"/>
                  </a:lnTo>
                  <a:lnTo>
                    <a:pt x="240" y="3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82" y="0"/>
                  </a:lnTo>
                  <a:lnTo>
                    <a:pt x="297" y="3"/>
                  </a:lnTo>
                  <a:lnTo>
                    <a:pt x="308" y="3"/>
                  </a:lnTo>
                  <a:lnTo>
                    <a:pt x="322" y="6"/>
                  </a:lnTo>
                  <a:lnTo>
                    <a:pt x="334" y="9"/>
                  </a:lnTo>
                  <a:lnTo>
                    <a:pt x="346" y="12"/>
                  </a:lnTo>
                  <a:lnTo>
                    <a:pt x="361" y="18"/>
                  </a:lnTo>
                  <a:lnTo>
                    <a:pt x="373" y="21"/>
                  </a:lnTo>
                  <a:lnTo>
                    <a:pt x="385" y="26"/>
                  </a:lnTo>
                  <a:lnTo>
                    <a:pt x="396" y="32"/>
                  </a:lnTo>
                  <a:lnTo>
                    <a:pt x="404" y="41"/>
                  </a:lnTo>
                  <a:lnTo>
                    <a:pt x="416" y="47"/>
                  </a:lnTo>
                  <a:lnTo>
                    <a:pt x="428" y="53"/>
                  </a:lnTo>
                  <a:lnTo>
                    <a:pt x="437" y="62"/>
                  </a:lnTo>
                  <a:lnTo>
                    <a:pt x="449" y="69"/>
                  </a:lnTo>
                  <a:lnTo>
                    <a:pt x="458" y="78"/>
                  </a:lnTo>
                  <a:lnTo>
                    <a:pt x="467" y="87"/>
                  </a:lnTo>
                  <a:lnTo>
                    <a:pt x="475" y="99"/>
                  </a:lnTo>
                  <a:lnTo>
                    <a:pt x="481" y="108"/>
                  </a:lnTo>
                  <a:lnTo>
                    <a:pt x="490" y="119"/>
                  </a:lnTo>
                  <a:lnTo>
                    <a:pt x="495" y="128"/>
                  </a:lnTo>
                  <a:lnTo>
                    <a:pt x="504" y="140"/>
                  </a:lnTo>
                  <a:lnTo>
                    <a:pt x="510" y="152"/>
                  </a:lnTo>
                  <a:lnTo>
                    <a:pt x="513" y="162"/>
                  </a:lnTo>
                  <a:lnTo>
                    <a:pt x="519" y="174"/>
                  </a:lnTo>
                  <a:lnTo>
                    <a:pt x="522" y="189"/>
                  </a:lnTo>
                  <a:lnTo>
                    <a:pt x="528" y="200"/>
                  </a:lnTo>
                  <a:lnTo>
                    <a:pt x="531" y="212"/>
                  </a:lnTo>
                  <a:lnTo>
                    <a:pt x="531" y="227"/>
                  </a:lnTo>
                  <a:lnTo>
                    <a:pt x="534" y="239"/>
                  </a:lnTo>
                  <a:lnTo>
                    <a:pt x="534" y="252"/>
                  </a:lnTo>
                  <a:lnTo>
                    <a:pt x="537" y="267"/>
                  </a:lnTo>
                  <a:lnTo>
                    <a:pt x="525" y="267"/>
                  </a:lnTo>
                  <a:lnTo>
                    <a:pt x="525" y="252"/>
                  </a:lnTo>
                  <a:lnTo>
                    <a:pt x="525" y="241"/>
                  </a:lnTo>
                  <a:lnTo>
                    <a:pt x="522" y="227"/>
                  </a:lnTo>
                  <a:lnTo>
                    <a:pt x="522" y="215"/>
                  </a:lnTo>
                  <a:lnTo>
                    <a:pt x="519" y="203"/>
                  </a:lnTo>
                  <a:lnTo>
                    <a:pt x="513" y="189"/>
                  </a:lnTo>
                  <a:lnTo>
                    <a:pt x="510" y="177"/>
                  </a:lnTo>
                  <a:lnTo>
                    <a:pt x="504" y="165"/>
                  </a:lnTo>
                  <a:lnTo>
                    <a:pt x="501" y="154"/>
                  </a:lnTo>
                  <a:lnTo>
                    <a:pt x="495" y="146"/>
                  </a:lnTo>
                  <a:lnTo>
                    <a:pt x="490" y="134"/>
                  </a:lnTo>
                  <a:lnTo>
                    <a:pt x="481" y="122"/>
                  </a:lnTo>
                  <a:lnTo>
                    <a:pt x="475" y="113"/>
                  </a:lnTo>
                  <a:lnTo>
                    <a:pt x="467" y="105"/>
                  </a:lnTo>
                  <a:lnTo>
                    <a:pt x="461" y="93"/>
                  </a:lnTo>
                  <a:lnTo>
                    <a:pt x="452" y="84"/>
                  </a:lnTo>
                  <a:lnTo>
                    <a:pt x="443" y="75"/>
                  </a:lnTo>
                  <a:lnTo>
                    <a:pt x="431" y="69"/>
                  </a:lnTo>
                  <a:lnTo>
                    <a:pt x="422" y="62"/>
                  </a:lnTo>
                  <a:lnTo>
                    <a:pt x="410" y="53"/>
                  </a:lnTo>
                  <a:lnTo>
                    <a:pt x="402" y="47"/>
                  </a:lnTo>
                  <a:lnTo>
                    <a:pt x="390" y="41"/>
                  </a:lnTo>
                  <a:lnTo>
                    <a:pt x="382" y="35"/>
                  </a:lnTo>
                  <a:lnTo>
                    <a:pt x="370" y="29"/>
                  </a:lnTo>
                  <a:lnTo>
                    <a:pt x="358" y="26"/>
                  </a:lnTo>
                  <a:lnTo>
                    <a:pt x="343" y="21"/>
                  </a:lnTo>
                  <a:lnTo>
                    <a:pt x="331" y="18"/>
                  </a:lnTo>
                  <a:lnTo>
                    <a:pt x="319" y="15"/>
                  </a:lnTo>
                  <a:lnTo>
                    <a:pt x="308" y="12"/>
                  </a:lnTo>
                  <a:lnTo>
                    <a:pt x="294" y="12"/>
                  </a:lnTo>
                  <a:lnTo>
                    <a:pt x="282" y="9"/>
                  </a:lnTo>
                  <a:lnTo>
                    <a:pt x="267" y="9"/>
                  </a:lnTo>
                  <a:lnTo>
                    <a:pt x="255" y="9"/>
                  </a:lnTo>
                  <a:lnTo>
                    <a:pt x="240" y="12"/>
                  </a:lnTo>
                  <a:lnTo>
                    <a:pt x="228" y="12"/>
                  </a:lnTo>
                  <a:lnTo>
                    <a:pt x="215" y="15"/>
                  </a:lnTo>
                  <a:lnTo>
                    <a:pt x="203" y="18"/>
                  </a:lnTo>
                  <a:lnTo>
                    <a:pt x="191" y="21"/>
                  </a:lnTo>
                  <a:lnTo>
                    <a:pt x="179" y="26"/>
                  </a:lnTo>
                  <a:lnTo>
                    <a:pt x="167" y="29"/>
                  </a:lnTo>
                  <a:lnTo>
                    <a:pt x="155" y="35"/>
                  </a:lnTo>
                  <a:lnTo>
                    <a:pt x="143" y="41"/>
                  </a:lnTo>
                  <a:lnTo>
                    <a:pt x="133" y="47"/>
                  </a:lnTo>
                  <a:lnTo>
                    <a:pt x="124" y="53"/>
                  </a:lnTo>
                  <a:lnTo>
                    <a:pt x="112" y="62"/>
                  </a:lnTo>
                  <a:lnTo>
                    <a:pt x="103" y="69"/>
                  </a:lnTo>
                  <a:lnTo>
                    <a:pt x="94" y="75"/>
                  </a:lnTo>
                  <a:lnTo>
                    <a:pt x="85" y="84"/>
                  </a:lnTo>
                  <a:lnTo>
                    <a:pt x="76" y="93"/>
                  </a:lnTo>
                  <a:lnTo>
                    <a:pt x="67" y="105"/>
                  </a:lnTo>
                  <a:lnTo>
                    <a:pt x="58" y="113"/>
                  </a:lnTo>
                  <a:lnTo>
                    <a:pt x="53" y="122"/>
                  </a:lnTo>
                  <a:lnTo>
                    <a:pt x="47" y="134"/>
                  </a:lnTo>
                  <a:lnTo>
                    <a:pt x="42" y="146"/>
                  </a:lnTo>
                  <a:lnTo>
                    <a:pt x="36" y="154"/>
                  </a:lnTo>
                  <a:lnTo>
                    <a:pt x="30" y="165"/>
                  </a:lnTo>
                  <a:lnTo>
                    <a:pt x="24" y="177"/>
                  </a:lnTo>
                  <a:lnTo>
                    <a:pt x="21" y="189"/>
                  </a:lnTo>
                  <a:lnTo>
                    <a:pt x="18" y="203"/>
                  </a:lnTo>
                  <a:lnTo>
                    <a:pt x="15" y="215"/>
                  </a:lnTo>
                  <a:lnTo>
                    <a:pt x="12" y="227"/>
                  </a:lnTo>
                  <a:lnTo>
                    <a:pt x="9" y="241"/>
                  </a:lnTo>
                  <a:lnTo>
                    <a:pt x="9" y="252"/>
                  </a:lnTo>
                  <a:lnTo>
                    <a:pt x="9" y="267"/>
                  </a:lnTo>
                  <a:lnTo>
                    <a:pt x="0" y="267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7" name="Freeform 151">
              <a:extLst>
                <a:ext uri="{FF2B5EF4-FFF2-40B4-BE49-F238E27FC236}">
                  <a16:creationId xmlns:a16="http://schemas.microsoft.com/office/drawing/2014/main" id="{0045675C-C2DC-47A4-97C5-C80544C98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802"/>
              <a:ext cx="538" cy="265"/>
            </a:xfrm>
            <a:custGeom>
              <a:avLst/>
              <a:gdLst>
                <a:gd name="T0" fmla="*/ 0 w 538"/>
                <a:gd name="T1" fmla="*/ 12 h 265"/>
                <a:gd name="T2" fmla="*/ 6 w 538"/>
                <a:gd name="T3" fmla="*/ 53 h 265"/>
                <a:gd name="T4" fmla="*/ 15 w 538"/>
                <a:gd name="T5" fmla="*/ 90 h 265"/>
                <a:gd name="T6" fmla="*/ 33 w 538"/>
                <a:gd name="T7" fmla="*/ 125 h 265"/>
                <a:gd name="T8" fmla="*/ 53 w 538"/>
                <a:gd name="T9" fmla="*/ 156 h 265"/>
                <a:gd name="T10" fmla="*/ 79 w 538"/>
                <a:gd name="T11" fmla="*/ 186 h 265"/>
                <a:gd name="T12" fmla="*/ 109 w 538"/>
                <a:gd name="T13" fmla="*/ 212 h 265"/>
                <a:gd name="T14" fmla="*/ 140 w 538"/>
                <a:gd name="T15" fmla="*/ 232 h 265"/>
                <a:gd name="T16" fmla="*/ 176 w 538"/>
                <a:gd name="T17" fmla="*/ 249 h 265"/>
                <a:gd name="T18" fmla="*/ 215 w 538"/>
                <a:gd name="T19" fmla="*/ 258 h 265"/>
                <a:gd name="T20" fmla="*/ 255 w 538"/>
                <a:gd name="T21" fmla="*/ 264 h 265"/>
                <a:gd name="T22" fmla="*/ 297 w 538"/>
                <a:gd name="T23" fmla="*/ 264 h 265"/>
                <a:gd name="T24" fmla="*/ 334 w 538"/>
                <a:gd name="T25" fmla="*/ 255 h 265"/>
                <a:gd name="T26" fmla="*/ 373 w 538"/>
                <a:gd name="T27" fmla="*/ 243 h 265"/>
                <a:gd name="T28" fmla="*/ 404 w 538"/>
                <a:gd name="T29" fmla="*/ 227 h 265"/>
                <a:gd name="T30" fmla="*/ 437 w 538"/>
                <a:gd name="T31" fmla="*/ 203 h 265"/>
                <a:gd name="T32" fmla="*/ 467 w 538"/>
                <a:gd name="T33" fmla="*/ 177 h 265"/>
                <a:gd name="T34" fmla="*/ 490 w 538"/>
                <a:gd name="T35" fmla="*/ 148 h 265"/>
                <a:gd name="T36" fmla="*/ 510 w 538"/>
                <a:gd name="T37" fmla="*/ 113 h 265"/>
                <a:gd name="T38" fmla="*/ 522 w 538"/>
                <a:gd name="T39" fmla="*/ 78 h 265"/>
                <a:gd name="T40" fmla="*/ 531 w 538"/>
                <a:gd name="T41" fmla="*/ 41 h 265"/>
                <a:gd name="T42" fmla="*/ 537 w 538"/>
                <a:gd name="T43" fmla="*/ 0 h 265"/>
                <a:gd name="T44" fmla="*/ 525 w 538"/>
                <a:gd name="T45" fmla="*/ 26 h 265"/>
                <a:gd name="T46" fmla="*/ 519 w 538"/>
                <a:gd name="T47" fmla="*/ 64 h 265"/>
                <a:gd name="T48" fmla="*/ 504 w 538"/>
                <a:gd name="T49" fmla="*/ 99 h 265"/>
                <a:gd name="T50" fmla="*/ 490 w 538"/>
                <a:gd name="T51" fmla="*/ 134 h 265"/>
                <a:gd name="T52" fmla="*/ 467 w 538"/>
                <a:gd name="T53" fmla="*/ 162 h 265"/>
                <a:gd name="T54" fmla="*/ 443 w 538"/>
                <a:gd name="T55" fmla="*/ 189 h 265"/>
                <a:gd name="T56" fmla="*/ 410 w 538"/>
                <a:gd name="T57" fmla="*/ 212 h 265"/>
                <a:gd name="T58" fmla="*/ 382 w 538"/>
                <a:gd name="T59" fmla="*/ 230 h 265"/>
                <a:gd name="T60" fmla="*/ 343 w 538"/>
                <a:gd name="T61" fmla="*/ 243 h 265"/>
                <a:gd name="T62" fmla="*/ 308 w 538"/>
                <a:gd name="T63" fmla="*/ 252 h 265"/>
                <a:gd name="T64" fmla="*/ 267 w 538"/>
                <a:gd name="T65" fmla="*/ 255 h 265"/>
                <a:gd name="T66" fmla="*/ 228 w 538"/>
                <a:gd name="T67" fmla="*/ 252 h 265"/>
                <a:gd name="T68" fmla="*/ 191 w 538"/>
                <a:gd name="T69" fmla="*/ 243 h 265"/>
                <a:gd name="T70" fmla="*/ 155 w 538"/>
                <a:gd name="T71" fmla="*/ 230 h 265"/>
                <a:gd name="T72" fmla="*/ 124 w 538"/>
                <a:gd name="T73" fmla="*/ 212 h 265"/>
                <a:gd name="T74" fmla="*/ 94 w 538"/>
                <a:gd name="T75" fmla="*/ 189 h 265"/>
                <a:gd name="T76" fmla="*/ 67 w 538"/>
                <a:gd name="T77" fmla="*/ 162 h 265"/>
                <a:gd name="T78" fmla="*/ 47 w 538"/>
                <a:gd name="T79" fmla="*/ 134 h 265"/>
                <a:gd name="T80" fmla="*/ 30 w 538"/>
                <a:gd name="T81" fmla="*/ 99 h 265"/>
                <a:gd name="T82" fmla="*/ 18 w 538"/>
                <a:gd name="T83" fmla="*/ 64 h 265"/>
                <a:gd name="T84" fmla="*/ 9 w 538"/>
                <a:gd name="T85" fmla="*/ 26 h 265"/>
                <a:gd name="T86" fmla="*/ 0 w 538"/>
                <a:gd name="T87" fmla="*/ 0 h 2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38"/>
                <a:gd name="T133" fmla="*/ 0 h 265"/>
                <a:gd name="T134" fmla="*/ 538 w 538"/>
                <a:gd name="T135" fmla="*/ 265 h 26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38" h="265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6" y="53"/>
                  </a:lnTo>
                  <a:lnTo>
                    <a:pt x="9" y="66"/>
                  </a:lnTo>
                  <a:lnTo>
                    <a:pt x="12" y="78"/>
                  </a:lnTo>
                  <a:lnTo>
                    <a:pt x="15" y="90"/>
                  </a:lnTo>
                  <a:lnTo>
                    <a:pt x="21" y="102"/>
                  </a:lnTo>
                  <a:lnTo>
                    <a:pt x="27" y="113"/>
                  </a:lnTo>
                  <a:lnTo>
                    <a:pt x="33" y="125"/>
                  </a:lnTo>
                  <a:lnTo>
                    <a:pt x="39" y="137"/>
                  </a:lnTo>
                  <a:lnTo>
                    <a:pt x="45" y="148"/>
                  </a:lnTo>
                  <a:lnTo>
                    <a:pt x="53" y="156"/>
                  </a:lnTo>
                  <a:lnTo>
                    <a:pt x="61" y="168"/>
                  </a:lnTo>
                  <a:lnTo>
                    <a:pt x="70" y="177"/>
                  </a:lnTo>
                  <a:lnTo>
                    <a:pt x="79" y="186"/>
                  </a:lnTo>
                  <a:lnTo>
                    <a:pt x="88" y="198"/>
                  </a:lnTo>
                  <a:lnTo>
                    <a:pt x="97" y="203"/>
                  </a:lnTo>
                  <a:lnTo>
                    <a:pt x="109" y="212"/>
                  </a:lnTo>
                  <a:lnTo>
                    <a:pt x="118" y="221"/>
                  </a:lnTo>
                  <a:lnTo>
                    <a:pt x="130" y="227"/>
                  </a:lnTo>
                  <a:lnTo>
                    <a:pt x="140" y="232"/>
                  </a:lnTo>
                  <a:lnTo>
                    <a:pt x="152" y="238"/>
                  </a:lnTo>
                  <a:lnTo>
                    <a:pt x="164" y="243"/>
                  </a:lnTo>
                  <a:lnTo>
                    <a:pt x="176" y="249"/>
                  </a:lnTo>
                  <a:lnTo>
                    <a:pt x="188" y="252"/>
                  </a:lnTo>
                  <a:lnTo>
                    <a:pt x="200" y="255"/>
                  </a:lnTo>
                  <a:lnTo>
                    <a:pt x="215" y="258"/>
                  </a:lnTo>
                  <a:lnTo>
                    <a:pt x="225" y="261"/>
                  </a:lnTo>
                  <a:lnTo>
                    <a:pt x="240" y="264"/>
                  </a:lnTo>
                  <a:lnTo>
                    <a:pt x="255" y="264"/>
                  </a:lnTo>
                  <a:lnTo>
                    <a:pt x="267" y="264"/>
                  </a:lnTo>
                  <a:lnTo>
                    <a:pt x="282" y="264"/>
                  </a:lnTo>
                  <a:lnTo>
                    <a:pt x="297" y="264"/>
                  </a:lnTo>
                  <a:lnTo>
                    <a:pt x="308" y="261"/>
                  </a:lnTo>
                  <a:lnTo>
                    <a:pt x="322" y="258"/>
                  </a:lnTo>
                  <a:lnTo>
                    <a:pt x="334" y="255"/>
                  </a:lnTo>
                  <a:lnTo>
                    <a:pt x="346" y="252"/>
                  </a:lnTo>
                  <a:lnTo>
                    <a:pt x="361" y="249"/>
                  </a:lnTo>
                  <a:lnTo>
                    <a:pt x="373" y="243"/>
                  </a:lnTo>
                  <a:lnTo>
                    <a:pt x="385" y="238"/>
                  </a:lnTo>
                  <a:lnTo>
                    <a:pt x="396" y="232"/>
                  </a:lnTo>
                  <a:lnTo>
                    <a:pt x="404" y="227"/>
                  </a:lnTo>
                  <a:lnTo>
                    <a:pt x="416" y="221"/>
                  </a:lnTo>
                  <a:lnTo>
                    <a:pt x="428" y="212"/>
                  </a:lnTo>
                  <a:lnTo>
                    <a:pt x="437" y="203"/>
                  </a:lnTo>
                  <a:lnTo>
                    <a:pt x="449" y="198"/>
                  </a:lnTo>
                  <a:lnTo>
                    <a:pt x="458" y="186"/>
                  </a:lnTo>
                  <a:lnTo>
                    <a:pt x="467" y="177"/>
                  </a:lnTo>
                  <a:lnTo>
                    <a:pt x="475" y="168"/>
                  </a:lnTo>
                  <a:lnTo>
                    <a:pt x="481" y="156"/>
                  </a:lnTo>
                  <a:lnTo>
                    <a:pt x="490" y="148"/>
                  </a:lnTo>
                  <a:lnTo>
                    <a:pt x="495" y="137"/>
                  </a:lnTo>
                  <a:lnTo>
                    <a:pt x="504" y="125"/>
                  </a:lnTo>
                  <a:lnTo>
                    <a:pt x="510" y="113"/>
                  </a:lnTo>
                  <a:lnTo>
                    <a:pt x="513" y="102"/>
                  </a:lnTo>
                  <a:lnTo>
                    <a:pt x="519" y="90"/>
                  </a:lnTo>
                  <a:lnTo>
                    <a:pt x="522" y="78"/>
                  </a:lnTo>
                  <a:lnTo>
                    <a:pt x="528" y="66"/>
                  </a:lnTo>
                  <a:lnTo>
                    <a:pt x="531" y="53"/>
                  </a:lnTo>
                  <a:lnTo>
                    <a:pt x="531" y="41"/>
                  </a:lnTo>
                  <a:lnTo>
                    <a:pt x="534" y="26"/>
                  </a:lnTo>
                  <a:lnTo>
                    <a:pt x="534" y="12"/>
                  </a:lnTo>
                  <a:lnTo>
                    <a:pt x="537" y="0"/>
                  </a:lnTo>
                  <a:lnTo>
                    <a:pt x="525" y="0"/>
                  </a:lnTo>
                  <a:lnTo>
                    <a:pt x="525" y="12"/>
                  </a:lnTo>
                  <a:lnTo>
                    <a:pt x="525" y="26"/>
                  </a:lnTo>
                  <a:lnTo>
                    <a:pt x="522" y="38"/>
                  </a:lnTo>
                  <a:lnTo>
                    <a:pt x="522" y="53"/>
                  </a:lnTo>
                  <a:lnTo>
                    <a:pt x="519" y="64"/>
                  </a:lnTo>
                  <a:lnTo>
                    <a:pt x="513" y="75"/>
                  </a:lnTo>
                  <a:lnTo>
                    <a:pt x="510" y="87"/>
                  </a:lnTo>
                  <a:lnTo>
                    <a:pt x="504" y="99"/>
                  </a:lnTo>
                  <a:lnTo>
                    <a:pt x="501" y="110"/>
                  </a:lnTo>
                  <a:lnTo>
                    <a:pt x="495" y="122"/>
                  </a:lnTo>
                  <a:lnTo>
                    <a:pt x="490" y="134"/>
                  </a:lnTo>
                  <a:lnTo>
                    <a:pt x="481" y="143"/>
                  </a:lnTo>
                  <a:lnTo>
                    <a:pt x="475" y="154"/>
                  </a:lnTo>
                  <a:lnTo>
                    <a:pt x="467" y="162"/>
                  </a:lnTo>
                  <a:lnTo>
                    <a:pt x="461" y="171"/>
                  </a:lnTo>
                  <a:lnTo>
                    <a:pt x="452" y="180"/>
                  </a:lnTo>
                  <a:lnTo>
                    <a:pt x="443" y="189"/>
                  </a:lnTo>
                  <a:lnTo>
                    <a:pt x="431" y="198"/>
                  </a:lnTo>
                  <a:lnTo>
                    <a:pt x="422" y="206"/>
                  </a:lnTo>
                  <a:lnTo>
                    <a:pt x="410" y="212"/>
                  </a:lnTo>
                  <a:lnTo>
                    <a:pt x="402" y="218"/>
                  </a:lnTo>
                  <a:lnTo>
                    <a:pt x="390" y="227"/>
                  </a:lnTo>
                  <a:lnTo>
                    <a:pt x="382" y="230"/>
                  </a:lnTo>
                  <a:lnTo>
                    <a:pt x="370" y="235"/>
                  </a:lnTo>
                  <a:lnTo>
                    <a:pt x="358" y="241"/>
                  </a:lnTo>
                  <a:lnTo>
                    <a:pt x="343" y="243"/>
                  </a:lnTo>
                  <a:lnTo>
                    <a:pt x="331" y="246"/>
                  </a:lnTo>
                  <a:lnTo>
                    <a:pt x="319" y="249"/>
                  </a:lnTo>
                  <a:lnTo>
                    <a:pt x="308" y="252"/>
                  </a:lnTo>
                  <a:lnTo>
                    <a:pt x="294" y="255"/>
                  </a:lnTo>
                  <a:lnTo>
                    <a:pt x="282" y="255"/>
                  </a:lnTo>
                  <a:lnTo>
                    <a:pt x="267" y="255"/>
                  </a:lnTo>
                  <a:lnTo>
                    <a:pt x="255" y="255"/>
                  </a:lnTo>
                  <a:lnTo>
                    <a:pt x="240" y="255"/>
                  </a:lnTo>
                  <a:lnTo>
                    <a:pt x="228" y="252"/>
                  </a:lnTo>
                  <a:lnTo>
                    <a:pt x="215" y="249"/>
                  </a:lnTo>
                  <a:lnTo>
                    <a:pt x="203" y="246"/>
                  </a:lnTo>
                  <a:lnTo>
                    <a:pt x="191" y="243"/>
                  </a:lnTo>
                  <a:lnTo>
                    <a:pt x="179" y="241"/>
                  </a:lnTo>
                  <a:lnTo>
                    <a:pt x="167" y="235"/>
                  </a:lnTo>
                  <a:lnTo>
                    <a:pt x="155" y="230"/>
                  </a:lnTo>
                  <a:lnTo>
                    <a:pt x="143" y="227"/>
                  </a:lnTo>
                  <a:lnTo>
                    <a:pt x="133" y="218"/>
                  </a:lnTo>
                  <a:lnTo>
                    <a:pt x="124" y="212"/>
                  </a:lnTo>
                  <a:lnTo>
                    <a:pt x="112" y="206"/>
                  </a:lnTo>
                  <a:lnTo>
                    <a:pt x="103" y="198"/>
                  </a:lnTo>
                  <a:lnTo>
                    <a:pt x="94" y="189"/>
                  </a:lnTo>
                  <a:lnTo>
                    <a:pt x="85" y="180"/>
                  </a:lnTo>
                  <a:lnTo>
                    <a:pt x="76" y="171"/>
                  </a:lnTo>
                  <a:lnTo>
                    <a:pt x="67" y="162"/>
                  </a:lnTo>
                  <a:lnTo>
                    <a:pt x="58" y="154"/>
                  </a:lnTo>
                  <a:lnTo>
                    <a:pt x="53" y="143"/>
                  </a:lnTo>
                  <a:lnTo>
                    <a:pt x="47" y="134"/>
                  </a:lnTo>
                  <a:lnTo>
                    <a:pt x="42" y="122"/>
                  </a:lnTo>
                  <a:lnTo>
                    <a:pt x="36" y="110"/>
                  </a:lnTo>
                  <a:lnTo>
                    <a:pt x="30" y="99"/>
                  </a:lnTo>
                  <a:lnTo>
                    <a:pt x="24" y="87"/>
                  </a:lnTo>
                  <a:lnTo>
                    <a:pt x="21" y="75"/>
                  </a:lnTo>
                  <a:lnTo>
                    <a:pt x="18" y="64"/>
                  </a:lnTo>
                  <a:lnTo>
                    <a:pt x="15" y="53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8" name="Freeform 152">
              <a:extLst>
                <a:ext uri="{FF2B5EF4-FFF2-40B4-BE49-F238E27FC236}">
                  <a16:creationId xmlns:a16="http://schemas.microsoft.com/office/drawing/2014/main" id="{C165602A-99BC-4A0C-B1CE-72247A8BE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538"/>
              <a:ext cx="517" cy="259"/>
            </a:xfrm>
            <a:custGeom>
              <a:avLst/>
              <a:gdLst>
                <a:gd name="T0" fmla="*/ 0 w 517"/>
                <a:gd name="T1" fmla="*/ 232 h 259"/>
                <a:gd name="T2" fmla="*/ 9 w 517"/>
                <a:gd name="T3" fmla="*/ 194 h 259"/>
                <a:gd name="T4" fmla="*/ 21 w 517"/>
                <a:gd name="T5" fmla="*/ 156 h 259"/>
                <a:gd name="T6" fmla="*/ 39 w 517"/>
                <a:gd name="T7" fmla="*/ 125 h 259"/>
                <a:gd name="T8" fmla="*/ 58 w 517"/>
                <a:gd name="T9" fmla="*/ 96 h 259"/>
                <a:gd name="T10" fmla="*/ 85 w 517"/>
                <a:gd name="T11" fmla="*/ 66 h 259"/>
                <a:gd name="T12" fmla="*/ 115 w 517"/>
                <a:gd name="T13" fmla="*/ 44 h 259"/>
                <a:gd name="T14" fmla="*/ 146 w 517"/>
                <a:gd name="T15" fmla="*/ 26 h 259"/>
                <a:gd name="T16" fmla="*/ 182 w 517"/>
                <a:gd name="T17" fmla="*/ 12 h 259"/>
                <a:gd name="T18" fmla="*/ 219 w 517"/>
                <a:gd name="T19" fmla="*/ 3 h 259"/>
                <a:gd name="T20" fmla="*/ 258 w 517"/>
                <a:gd name="T21" fmla="*/ 0 h 259"/>
                <a:gd name="T22" fmla="*/ 299 w 517"/>
                <a:gd name="T23" fmla="*/ 3 h 259"/>
                <a:gd name="T24" fmla="*/ 334 w 517"/>
                <a:gd name="T25" fmla="*/ 12 h 259"/>
                <a:gd name="T26" fmla="*/ 373 w 517"/>
                <a:gd name="T27" fmla="*/ 26 h 259"/>
                <a:gd name="T28" fmla="*/ 401 w 517"/>
                <a:gd name="T29" fmla="*/ 44 h 259"/>
                <a:gd name="T30" fmla="*/ 434 w 517"/>
                <a:gd name="T31" fmla="*/ 66 h 259"/>
                <a:gd name="T32" fmla="*/ 458 w 517"/>
                <a:gd name="T33" fmla="*/ 96 h 259"/>
                <a:gd name="T34" fmla="*/ 480 w 517"/>
                <a:gd name="T35" fmla="*/ 125 h 259"/>
                <a:gd name="T36" fmla="*/ 495 w 517"/>
                <a:gd name="T37" fmla="*/ 156 h 259"/>
                <a:gd name="T38" fmla="*/ 510 w 517"/>
                <a:gd name="T39" fmla="*/ 194 h 259"/>
                <a:gd name="T40" fmla="*/ 516 w 517"/>
                <a:gd name="T41" fmla="*/ 232 h 259"/>
                <a:gd name="T42" fmla="*/ 507 w 517"/>
                <a:gd name="T43" fmla="*/ 258 h 259"/>
                <a:gd name="T44" fmla="*/ 504 w 517"/>
                <a:gd name="T45" fmla="*/ 221 h 259"/>
                <a:gd name="T46" fmla="*/ 495 w 517"/>
                <a:gd name="T47" fmla="*/ 183 h 259"/>
                <a:gd name="T48" fmla="*/ 483 w 517"/>
                <a:gd name="T49" fmla="*/ 151 h 259"/>
                <a:gd name="T50" fmla="*/ 466 w 517"/>
                <a:gd name="T51" fmla="*/ 119 h 259"/>
                <a:gd name="T52" fmla="*/ 443 w 517"/>
                <a:gd name="T53" fmla="*/ 90 h 259"/>
                <a:gd name="T54" fmla="*/ 416 w 517"/>
                <a:gd name="T55" fmla="*/ 66 h 259"/>
                <a:gd name="T56" fmla="*/ 387 w 517"/>
                <a:gd name="T57" fmla="*/ 47 h 259"/>
                <a:gd name="T58" fmla="*/ 355 w 517"/>
                <a:gd name="T59" fmla="*/ 29 h 259"/>
                <a:gd name="T60" fmla="*/ 319 w 517"/>
                <a:gd name="T61" fmla="*/ 18 h 259"/>
                <a:gd name="T62" fmla="*/ 285 w 517"/>
                <a:gd name="T63" fmla="*/ 12 h 259"/>
                <a:gd name="T64" fmla="*/ 246 w 517"/>
                <a:gd name="T65" fmla="*/ 12 h 259"/>
                <a:gd name="T66" fmla="*/ 209 w 517"/>
                <a:gd name="T67" fmla="*/ 15 h 259"/>
                <a:gd name="T68" fmla="*/ 173 w 517"/>
                <a:gd name="T69" fmla="*/ 26 h 259"/>
                <a:gd name="T70" fmla="*/ 140 w 517"/>
                <a:gd name="T71" fmla="*/ 41 h 259"/>
                <a:gd name="T72" fmla="*/ 109 w 517"/>
                <a:gd name="T73" fmla="*/ 59 h 259"/>
                <a:gd name="T74" fmla="*/ 82 w 517"/>
                <a:gd name="T75" fmla="*/ 81 h 259"/>
                <a:gd name="T76" fmla="*/ 58 w 517"/>
                <a:gd name="T77" fmla="*/ 110 h 259"/>
                <a:gd name="T78" fmla="*/ 39 w 517"/>
                <a:gd name="T79" fmla="*/ 140 h 259"/>
                <a:gd name="T80" fmla="*/ 24 w 517"/>
                <a:gd name="T81" fmla="*/ 171 h 259"/>
                <a:gd name="T82" fmla="*/ 15 w 517"/>
                <a:gd name="T83" fmla="*/ 209 h 259"/>
                <a:gd name="T84" fmla="*/ 9 w 517"/>
                <a:gd name="T85" fmla="*/ 243 h 25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17"/>
                <a:gd name="T130" fmla="*/ 0 h 259"/>
                <a:gd name="T131" fmla="*/ 517 w 517"/>
                <a:gd name="T132" fmla="*/ 259 h 25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17" h="259">
                  <a:moveTo>
                    <a:pt x="0" y="258"/>
                  </a:moveTo>
                  <a:lnTo>
                    <a:pt x="0" y="243"/>
                  </a:lnTo>
                  <a:lnTo>
                    <a:pt x="0" y="232"/>
                  </a:lnTo>
                  <a:lnTo>
                    <a:pt x="3" y="218"/>
                  </a:lnTo>
                  <a:lnTo>
                    <a:pt x="6" y="206"/>
                  </a:lnTo>
                  <a:lnTo>
                    <a:pt x="9" y="194"/>
                  </a:lnTo>
                  <a:lnTo>
                    <a:pt x="12" y="180"/>
                  </a:lnTo>
                  <a:lnTo>
                    <a:pt x="15" y="168"/>
                  </a:lnTo>
                  <a:lnTo>
                    <a:pt x="21" y="156"/>
                  </a:lnTo>
                  <a:lnTo>
                    <a:pt x="27" y="145"/>
                  </a:lnTo>
                  <a:lnTo>
                    <a:pt x="33" y="137"/>
                  </a:lnTo>
                  <a:lnTo>
                    <a:pt x="39" y="125"/>
                  </a:lnTo>
                  <a:lnTo>
                    <a:pt x="44" y="113"/>
                  </a:lnTo>
                  <a:lnTo>
                    <a:pt x="49" y="105"/>
                  </a:lnTo>
                  <a:lnTo>
                    <a:pt x="58" y="96"/>
                  </a:lnTo>
                  <a:lnTo>
                    <a:pt x="67" y="84"/>
                  </a:lnTo>
                  <a:lnTo>
                    <a:pt x="76" y="75"/>
                  </a:lnTo>
                  <a:lnTo>
                    <a:pt x="85" y="66"/>
                  </a:lnTo>
                  <a:lnTo>
                    <a:pt x="94" y="61"/>
                  </a:lnTo>
                  <a:lnTo>
                    <a:pt x="103" y="53"/>
                  </a:lnTo>
                  <a:lnTo>
                    <a:pt x="115" y="44"/>
                  </a:lnTo>
                  <a:lnTo>
                    <a:pt x="124" y="38"/>
                  </a:lnTo>
                  <a:lnTo>
                    <a:pt x="134" y="32"/>
                  </a:lnTo>
                  <a:lnTo>
                    <a:pt x="146" y="26"/>
                  </a:lnTo>
                  <a:lnTo>
                    <a:pt x="158" y="21"/>
                  </a:lnTo>
                  <a:lnTo>
                    <a:pt x="170" y="18"/>
                  </a:lnTo>
                  <a:lnTo>
                    <a:pt x="182" y="12"/>
                  </a:lnTo>
                  <a:lnTo>
                    <a:pt x="194" y="9"/>
                  </a:lnTo>
                  <a:lnTo>
                    <a:pt x="206" y="6"/>
                  </a:lnTo>
                  <a:lnTo>
                    <a:pt x="219" y="3"/>
                  </a:lnTo>
                  <a:lnTo>
                    <a:pt x="231" y="3"/>
                  </a:lnTo>
                  <a:lnTo>
                    <a:pt x="246" y="0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5" y="3"/>
                  </a:lnTo>
                  <a:lnTo>
                    <a:pt x="299" y="3"/>
                  </a:lnTo>
                  <a:lnTo>
                    <a:pt x="310" y="6"/>
                  </a:lnTo>
                  <a:lnTo>
                    <a:pt x="322" y="9"/>
                  </a:lnTo>
                  <a:lnTo>
                    <a:pt x="334" y="12"/>
                  </a:lnTo>
                  <a:lnTo>
                    <a:pt x="349" y="18"/>
                  </a:lnTo>
                  <a:lnTo>
                    <a:pt x="361" y="21"/>
                  </a:lnTo>
                  <a:lnTo>
                    <a:pt x="373" y="26"/>
                  </a:lnTo>
                  <a:lnTo>
                    <a:pt x="381" y="32"/>
                  </a:lnTo>
                  <a:lnTo>
                    <a:pt x="392" y="38"/>
                  </a:lnTo>
                  <a:lnTo>
                    <a:pt x="401" y="44"/>
                  </a:lnTo>
                  <a:lnTo>
                    <a:pt x="413" y="53"/>
                  </a:lnTo>
                  <a:lnTo>
                    <a:pt x="422" y="61"/>
                  </a:lnTo>
                  <a:lnTo>
                    <a:pt x="434" y="66"/>
                  </a:lnTo>
                  <a:lnTo>
                    <a:pt x="443" y="75"/>
                  </a:lnTo>
                  <a:lnTo>
                    <a:pt x="452" y="84"/>
                  </a:lnTo>
                  <a:lnTo>
                    <a:pt x="458" y="96"/>
                  </a:lnTo>
                  <a:lnTo>
                    <a:pt x="466" y="105"/>
                  </a:lnTo>
                  <a:lnTo>
                    <a:pt x="472" y="113"/>
                  </a:lnTo>
                  <a:lnTo>
                    <a:pt x="480" y="125"/>
                  </a:lnTo>
                  <a:lnTo>
                    <a:pt x="486" y="137"/>
                  </a:lnTo>
                  <a:lnTo>
                    <a:pt x="492" y="145"/>
                  </a:lnTo>
                  <a:lnTo>
                    <a:pt x="495" y="156"/>
                  </a:lnTo>
                  <a:lnTo>
                    <a:pt x="501" y="168"/>
                  </a:lnTo>
                  <a:lnTo>
                    <a:pt x="504" y="180"/>
                  </a:lnTo>
                  <a:lnTo>
                    <a:pt x="510" y="194"/>
                  </a:lnTo>
                  <a:lnTo>
                    <a:pt x="513" y="206"/>
                  </a:lnTo>
                  <a:lnTo>
                    <a:pt x="513" y="218"/>
                  </a:lnTo>
                  <a:lnTo>
                    <a:pt x="516" y="232"/>
                  </a:lnTo>
                  <a:lnTo>
                    <a:pt x="516" y="243"/>
                  </a:lnTo>
                  <a:lnTo>
                    <a:pt x="516" y="258"/>
                  </a:lnTo>
                  <a:lnTo>
                    <a:pt x="507" y="258"/>
                  </a:lnTo>
                  <a:lnTo>
                    <a:pt x="507" y="243"/>
                  </a:lnTo>
                  <a:lnTo>
                    <a:pt x="507" y="232"/>
                  </a:lnTo>
                  <a:lnTo>
                    <a:pt x="504" y="221"/>
                  </a:lnTo>
                  <a:lnTo>
                    <a:pt x="504" y="209"/>
                  </a:lnTo>
                  <a:lnTo>
                    <a:pt x="501" y="197"/>
                  </a:lnTo>
                  <a:lnTo>
                    <a:pt x="495" y="183"/>
                  </a:lnTo>
                  <a:lnTo>
                    <a:pt x="492" y="171"/>
                  </a:lnTo>
                  <a:lnTo>
                    <a:pt x="489" y="162"/>
                  </a:lnTo>
                  <a:lnTo>
                    <a:pt x="483" y="151"/>
                  </a:lnTo>
                  <a:lnTo>
                    <a:pt x="477" y="140"/>
                  </a:lnTo>
                  <a:lnTo>
                    <a:pt x="472" y="131"/>
                  </a:lnTo>
                  <a:lnTo>
                    <a:pt x="466" y="119"/>
                  </a:lnTo>
                  <a:lnTo>
                    <a:pt x="458" y="110"/>
                  </a:lnTo>
                  <a:lnTo>
                    <a:pt x="452" y="102"/>
                  </a:lnTo>
                  <a:lnTo>
                    <a:pt x="443" y="90"/>
                  </a:lnTo>
                  <a:lnTo>
                    <a:pt x="434" y="81"/>
                  </a:lnTo>
                  <a:lnTo>
                    <a:pt x="425" y="75"/>
                  </a:lnTo>
                  <a:lnTo>
                    <a:pt x="416" y="66"/>
                  </a:lnTo>
                  <a:lnTo>
                    <a:pt x="407" y="59"/>
                  </a:lnTo>
                  <a:lnTo>
                    <a:pt x="398" y="53"/>
                  </a:lnTo>
                  <a:lnTo>
                    <a:pt x="387" y="47"/>
                  </a:lnTo>
                  <a:lnTo>
                    <a:pt x="379" y="41"/>
                  </a:lnTo>
                  <a:lnTo>
                    <a:pt x="367" y="35"/>
                  </a:lnTo>
                  <a:lnTo>
                    <a:pt x="355" y="29"/>
                  </a:lnTo>
                  <a:lnTo>
                    <a:pt x="343" y="26"/>
                  </a:lnTo>
                  <a:lnTo>
                    <a:pt x="334" y="21"/>
                  </a:lnTo>
                  <a:lnTo>
                    <a:pt x="319" y="18"/>
                  </a:lnTo>
                  <a:lnTo>
                    <a:pt x="307" y="15"/>
                  </a:lnTo>
                  <a:lnTo>
                    <a:pt x="297" y="12"/>
                  </a:lnTo>
                  <a:lnTo>
                    <a:pt x="285" y="12"/>
                  </a:lnTo>
                  <a:lnTo>
                    <a:pt x="273" y="12"/>
                  </a:lnTo>
                  <a:lnTo>
                    <a:pt x="258" y="9"/>
                  </a:lnTo>
                  <a:lnTo>
                    <a:pt x="246" y="12"/>
                  </a:lnTo>
                  <a:lnTo>
                    <a:pt x="231" y="12"/>
                  </a:lnTo>
                  <a:lnTo>
                    <a:pt x="219" y="12"/>
                  </a:lnTo>
                  <a:lnTo>
                    <a:pt x="209" y="15"/>
                  </a:lnTo>
                  <a:lnTo>
                    <a:pt x="197" y="18"/>
                  </a:lnTo>
                  <a:lnTo>
                    <a:pt x="185" y="21"/>
                  </a:lnTo>
                  <a:lnTo>
                    <a:pt x="173" y="26"/>
                  </a:lnTo>
                  <a:lnTo>
                    <a:pt x="161" y="29"/>
                  </a:lnTo>
                  <a:lnTo>
                    <a:pt x="149" y="35"/>
                  </a:lnTo>
                  <a:lnTo>
                    <a:pt x="140" y="41"/>
                  </a:lnTo>
                  <a:lnTo>
                    <a:pt x="129" y="47"/>
                  </a:lnTo>
                  <a:lnTo>
                    <a:pt x="121" y="53"/>
                  </a:lnTo>
                  <a:lnTo>
                    <a:pt x="109" y="59"/>
                  </a:lnTo>
                  <a:lnTo>
                    <a:pt x="100" y="66"/>
                  </a:lnTo>
                  <a:lnTo>
                    <a:pt x="91" y="75"/>
                  </a:lnTo>
                  <a:lnTo>
                    <a:pt x="82" y="81"/>
                  </a:lnTo>
                  <a:lnTo>
                    <a:pt x="73" y="90"/>
                  </a:lnTo>
                  <a:lnTo>
                    <a:pt x="67" y="102"/>
                  </a:lnTo>
                  <a:lnTo>
                    <a:pt x="58" y="110"/>
                  </a:lnTo>
                  <a:lnTo>
                    <a:pt x="52" y="119"/>
                  </a:lnTo>
                  <a:lnTo>
                    <a:pt x="44" y="131"/>
                  </a:lnTo>
                  <a:lnTo>
                    <a:pt x="39" y="140"/>
                  </a:lnTo>
                  <a:lnTo>
                    <a:pt x="33" y="151"/>
                  </a:lnTo>
                  <a:lnTo>
                    <a:pt x="30" y="162"/>
                  </a:lnTo>
                  <a:lnTo>
                    <a:pt x="24" y="171"/>
                  </a:lnTo>
                  <a:lnTo>
                    <a:pt x="21" y="183"/>
                  </a:lnTo>
                  <a:lnTo>
                    <a:pt x="18" y="197"/>
                  </a:lnTo>
                  <a:lnTo>
                    <a:pt x="15" y="209"/>
                  </a:lnTo>
                  <a:lnTo>
                    <a:pt x="12" y="221"/>
                  </a:lnTo>
                  <a:lnTo>
                    <a:pt x="9" y="232"/>
                  </a:lnTo>
                  <a:lnTo>
                    <a:pt x="9" y="243"/>
                  </a:lnTo>
                  <a:lnTo>
                    <a:pt x="9" y="258"/>
                  </a:lnTo>
                  <a:lnTo>
                    <a:pt x="0" y="258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9" name="Freeform 153">
              <a:extLst>
                <a:ext uri="{FF2B5EF4-FFF2-40B4-BE49-F238E27FC236}">
                  <a16:creationId xmlns:a16="http://schemas.microsoft.com/office/drawing/2014/main" id="{F2F1F953-C56B-439C-AB70-B934B2662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802"/>
              <a:ext cx="517" cy="256"/>
            </a:xfrm>
            <a:custGeom>
              <a:avLst/>
              <a:gdLst>
                <a:gd name="T0" fmla="*/ 0 w 517"/>
                <a:gd name="T1" fmla="*/ 12 h 256"/>
                <a:gd name="T2" fmla="*/ 6 w 517"/>
                <a:gd name="T3" fmla="*/ 53 h 256"/>
                <a:gd name="T4" fmla="*/ 15 w 517"/>
                <a:gd name="T5" fmla="*/ 87 h 256"/>
                <a:gd name="T6" fmla="*/ 33 w 517"/>
                <a:gd name="T7" fmla="*/ 122 h 256"/>
                <a:gd name="T8" fmla="*/ 49 w 517"/>
                <a:gd name="T9" fmla="*/ 153 h 256"/>
                <a:gd name="T10" fmla="*/ 76 w 517"/>
                <a:gd name="T11" fmla="*/ 180 h 256"/>
                <a:gd name="T12" fmla="*/ 103 w 517"/>
                <a:gd name="T13" fmla="*/ 206 h 256"/>
                <a:gd name="T14" fmla="*/ 134 w 517"/>
                <a:gd name="T15" fmla="*/ 227 h 256"/>
                <a:gd name="T16" fmla="*/ 170 w 517"/>
                <a:gd name="T17" fmla="*/ 240 h 256"/>
                <a:gd name="T18" fmla="*/ 206 w 517"/>
                <a:gd name="T19" fmla="*/ 249 h 256"/>
                <a:gd name="T20" fmla="*/ 246 w 517"/>
                <a:gd name="T21" fmla="*/ 255 h 256"/>
                <a:gd name="T22" fmla="*/ 285 w 517"/>
                <a:gd name="T23" fmla="*/ 255 h 256"/>
                <a:gd name="T24" fmla="*/ 322 w 517"/>
                <a:gd name="T25" fmla="*/ 246 h 256"/>
                <a:gd name="T26" fmla="*/ 361 w 517"/>
                <a:gd name="T27" fmla="*/ 234 h 256"/>
                <a:gd name="T28" fmla="*/ 392 w 517"/>
                <a:gd name="T29" fmla="*/ 218 h 256"/>
                <a:gd name="T30" fmla="*/ 422 w 517"/>
                <a:gd name="T31" fmla="*/ 197 h 256"/>
                <a:gd name="T32" fmla="*/ 452 w 517"/>
                <a:gd name="T33" fmla="*/ 171 h 256"/>
                <a:gd name="T34" fmla="*/ 472 w 517"/>
                <a:gd name="T35" fmla="*/ 143 h 256"/>
                <a:gd name="T36" fmla="*/ 492 w 517"/>
                <a:gd name="T37" fmla="*/ 110 h 256"/>
                <a:gd name="T38" fmla="*/ 504 w 517"/>
                <a:gd name="T39" fmla="*/ 75 h 256"/>
                <a:gd name="T40" fmla="*/ 513 w 517"/>
                <a:gd name="T41" fmla="*/ 38 h 256"/>
                <a:gd name="T42" fmla="*/ 516 w 517"/>
                <a:gd name="T43" fmla="*/ 0 h 256"/>
                <a:gd name="T44" fmla="*/ 507 w 517"/>
                <a:gd name="T45" fmla="*/ 26 h 256"/>
                <a:gd name="T46" fmla="*/ 501 w 517"/>
                <a:gd name="T47" fmla="*/ 61 h 256"/>
                <a:gd name="T48" fmla="*/ 489 w 517"/>
                <a:gd name="T49" fmla="*/ 96 h 256"/>
                <a:gd name="T50" fmla="*/ 472 w 517"/>
                <a:gd name="T51" fmla="*/ 128 h 256"/>
                <a:gd name="T52" fmla="*/ 452 w 517"/>
                <a:gd name="T53" fmla="*/ 156 h 256"/>
                <a:gd name="T54" fmla="*/ 425 w 517"/>
                <a:gd name="T55" fmla="*/ 183 h 256"/>
                <a:gd name="T56" fmla="*/ 398 w 517"/>
                <a:gd name="T57" fmla="*/ 203 h 256"/>
                <a:gd name="T58" fmla="*/ 367 w 517"/>
                <a:gd name="T59" fmla="*/ 224 h 256"/>
                <a:gd name="T60" fmla="*/ 334 w 517"/>
                <a:gd name="T61" fmla="*/ 234 h 256"/>
                <a:gd name="T62" fmla="*/ 297 w 517"/>
                <a:gd name="T63" fmla="*/ 243 h 256"/>
                <a:gd name="T64" fmla="*/ 258 w 517"/>
                <a:gd name="T65" fmla="*/ 246 h 256"/>
                <a:gd name="T66" fmla="*/ 219 w 517"/>
                <a:gd name="T67" fmla="*/ 243 h 256"/>
                <a:gd name="T68" fmla="*/ 185 w 517"/>
                <a:gd name="T69" fmla="*/ 234 h 256"/>
                <a:gd name="T70" fmla="*/ 149 w 517"/>
                <a:gd name="T71" fmla="*/ 224 h 256"/>
                <a:gd name="T72" fmla="*/ 121 w 517"/>
                <a:gd name="T73" fmla="*/ 203 h 256"/>
                <a:gd name="T74" fmla="*/ 91 w 517"/>
                <a:gd name="T75" fmla="*/ 183 h 256"/>
                <a:gd name="T76" fmla="*/ 67 w 517"/>
                <a:gd name="T77" fmla="*/ 156 h 256"/>
                <a:gd name="T78" fmla="*/ 44 w 517"/>
                <a:gd name="T79" fmla="*/ 128 h 256"/>
                <a:gd name="T80" fmla="*/ 30 w 517"/>
                <a:gd name="T81" fmla="*/ 96 h 256"/>
                <a:gd name="T82" fmla="*/ 18 w 517"/>
                <a:gd name="T83" fmla="*/ 61 h 256"/>
                <a:gd name="T84" fmla="*/ 9 w 517"/>
                <a:gd name="T85" fmla="*/ 26 h 256"/>
                <a:gd name="T86" fmla="*/ 0 w 517"/>
                <a:gd name="T87" fmla="*/ 0 h 2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17"/>
                <a:gd name="T133" fmla="*/ 0 h 256"/>
                <a:gd name="T134" fmla="*/ 517 w 517"/>
                <a:gd name="T135" fmla="*/ 256 h 2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17" h="2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3"/>
                  </a:lnTo>
                  <a:lnTo>
                    <a:pt x="9" y="64"/>
                  </a:lnTo>
                  <a:lnTo>
                    <a:pt x="12" y="75"/>
                  </a:lnTo>
                  <a:lnTo>
                    <a:pt x="15" y="87"/>
                  </a:lnTo>
                  <a:lnTo>
                    <a:pt x="21" y="99"/>
                  </a:lnTo>
                  <a:lnTo>
                    <a:pt x="27" y="110"/>
                  </a:lnTo>
                  <a:lnTo>
                    <a:pt x="33" y="122"/>
                  </a:lnTo>
                  <a:lnTo>
                    <a:pt x="39" y="134"/>
                  </a:lnTo>
                  <a:lnTo>
                    <a:pt x="44" y="143"/>
                  </a:lnTo>
                  <a:lnTo>
                    <a:pt x="49" y="153"/>
                  </a:lnTo>
                  <a:lnTo>
                    <a:pt x="58" y="162"/>
                  </a:lnTo>
                  <a:lnTo>
                    <a:pt x="67" y="171"/>
                  </a:lnTo>
                  <a:lnTo>
                    <a:pt x="76" y="180"/>
                  </a:lnTo>
                  <a:lnTo>
                    <a:pt x="85" y="189"/>
                  </a:lnTo>
                  <a:lnTo>
                    <a:pt x="94" y="197"/>
                  </a:lnTo>
                  <a:lnTo>
                    <a:pt x="103" y="206"/>
                  </a:lnTo>
                  <a:lnTo>
                    <a:pt x="115" y="212"/>
                  </a:lnTo>
                  <a:lnTo>
                    <a:pt x="124" y="218"/>
                  </a:lnTo>
                  <a:lnTo>
                    <a:pt x="134" y="227"/>
                  </a:lnTo>
                  <a:lnTo>
                    <a:pt x="146" y="230"/>
                  </a:lnTo>
                  <a:lnTo>
                    <a:pt x="158" y="234"/>
                  </a:lnTo>
                  <a:lnTo>
                    <a:pt x="170" y="240"/>
                  </a:lnTo>
                  <a:lnTo>
                    <a:pt x="182" y="243"/>
                  </a:lnTo>
                  <a:lnTo>
                    <a:pt x="194" y="246"/>
                  </a:lnTo>
                  <a:lnTo>
                    <a:pt x="206" y="249"/>
                  </a:lnTo>
                  <a:lnTo>
                    <a:pt x="219" y="252"/>
                  </a:lnTo>
                  <a:lnTo>
                    <a:pt x="231" y="255"/>
                  </a:lnTo>
                  <a:lnTo>
                    <a:pt x="246" y="255"/>
                  </a:lnTo>
                  <a:lnTo>
                    <a:pt x="258" y="255"/>
                  </a:lnTo>
                  <a:lnTo>
                    <a:pt x="273" y="255"/>
                  </a:lnTo>
                  <a:lnTo>
                    <a:pt x="285" y="255"/>
                  </a:lnTo>
                  <a:lnTo>
                    <a:pt x="299" y="252"/>
                  </a:lnTo>
                  <a:lnTo>
                    <a:pt x="310" y="249"/>
                  </a:lnTo>
                  <a:lnTo>
                    <a:pt x="322" y="246"/>
                  </a:lnTo>
                  <a:lnTo>
                    <a:pt x="334" y="243"/>
                  </a:lnTo>
                  <a:lnTo>
                    <a:pt x="349" y="240"/>
                  </a:lnTo>
                  <a:lnTo>
                    <a:pt x="361" y="234"/>
                  </a:lnTo>
                  <a:lnTo>
                    <a:pt x="373" y="230"/>
                  </a:lnTo>
                  <a:lnTo>
                    <a:pt x="381" y="227"/>
                  </a:lnTo>
                  <a:lnTo>
                    <a:pt x="392" y="218"/>
                  </a:lnTo>
                  <a:lnTo>
                    <a:pt x="401" y="212"/>
                  </a:lnTo>
                  <a:lnTo>
                    <a:pt x="413" y="206"/>
                  </a:lnTo>
                  <a:lnTo>
                    <a:pt x="422" y="197"/>
                  </a:lnTo>
                  <a:lnTo>
                    <a:pt x="434" y="189"/>
                  </a:lnTo>
                  <a:lnTo>
                    <a:pt x="443" y="180"/>
                  </a:lnTo>
                  <a:lnTo>
                    <a:pt x="452" y="171"/>
                  </a:lnTo>
                  <a:lnTo>
                    <a:pt x="458" y="162"/>
                  </a:lnTo>
                  <a:lnTo>
                    <a:pt x="466" y="153"/>
                  </a:lnTo>
                  <a:lnTo>
                    <a:pt x="472" y="143"/>
                  </a:lnTo>
                  <a:lnTo>
                    <a:pt x="480" y="134"/>
                  </a:lnTo>
                  <a:lnTo>
                    <a:pt x="486" y="122"/>
                  </a:lnTo>
                  <a:lnTo>
                    <a:pt x="492" y="110"/>
                  </a:lnTo>
                  <a:lnTo>
                    <a:pt x="495" y="99"/>
                  </a:lnTo>
                  <a:lnTo>
                    <a:pt x="501" y="87"/>
                  </a:lnTo>
                  <a:lnTo>
                    <a:pt x="504" y="75"/>
                  </a:lnTo>
                  <a:lnTo>
                    <a:pt x="510" y="64"/>
                  </a:lnTo>
                  <a:lnTo>
                    <a:pt x="513" y="53"/>
                  </a:lnTo>
                  <a:lnTo>
                    <a:pt x="513" y="38"/>
                  </a:lnTo>
                  <a:lnTo>
                    <a:pt x="516" y="26"/>
                  </a:lnTo>
                  <a:lnTo>
                    <a:pt x="516" y="12"/>
                  </a:lnTo>
                  <a:lnTo>
                    <a:pt x="516" y="0"/>
                  </a:lnTo>
                  <a:lnTo>
                    <a:pt x="507" y="0"/>
                  </a:lnTo>
                  <a:lnTo>
                    <a:pt x="507" y="12"/>
                  </a:lnTo>
                  <a:lnTo>
                    <a:pt x="507" y="26"/>
                  </a:lnTo>
                  <a:lnTo>
                    <a:pt x="504" y="38"/>
                  </a:lnTo>
                  <a:lnTo>
                    <a:pt x="504" y="50"/>
                  </a:lnTo>
                  <a:lnTo>
                    <a:pt x="501" y="61"/>
                  </a:lnTo>
                  <a:lnTo>
                    <a:pt x="495" y="72"/>
                  </a:lnTo>
                  <a:lnTo>
                    <a:pt x="492" y="84"/>
                  </a:lnTo>
                  <a:lnTo>
                    <a:pt x="489" y="96"/>
                  </a:lnTo>
                  <a:lnTo>
                    <a:pt x="483" y="107"/>
                  </a:lnTo>
                  <a:lnTo>
                    <a:pt x="477" y="116"/>
                  </a:lnTo>
                  <a:lnTo>
                    <a:pt x="472" y="128"/>
                  </a:lnTo>
                  <a:lnTo>
                    <a:pt x="466" y="137"/>
                  </a:lnTo>
                  <a:lnTo>
                    <a:pt x="458" y="148"/>
                  </a:lnTo>
                  <a:lnTo>
                    <a:pt x="452" y="156"/>
                  </a:lnTo>
                  <a:lnTo>
                    <a:pt x="443" y="165"/>
                  </a:lnTo>
                  <a:lnTo>
                    <a:pt x="434" y="174"/>
                  </a:lnTo>
                  <a:lnTo>
                    <a:pt x="425" y="183"/>
                  </a:lnTo>
                  <a:lnTo>
                    <a:pt x="416" y="191"/>
                  </a:lnTo>
                  <a:lnTo>
                    <a:pt x="407" y="197"/>
                  </a:lnTo>
                  <a:lnTo>
                    <a:pt x="398" y="203"/>
                  </a:lnTo>
                  <a:lnTo>
                    <a:pt x="387" y="212"/>
                  </a:lnTo>
                  <a:lnTo>
                    <a:pt x="379" y="218"/>
                  </a:lnTo>
                  <a:lnTo>
                    <a:pt x="367" y="224"/>
                  </a:lnTo>
                  <a:lnTo>
                    <a:pt x="355" y="227"/>
                  </a:lnTo>
                  <a:lnTo>
                    <a:pt x="343" y="232"/>
                  </a:lnTo>
                  <a:lnTo>
                    <a:pt x="334" y="234"/>
                  </a:lnTo>
                  <a:lnTo>
                    <a:pt x="319" y="237"/>
                  </a:lnTo>
                  <a:lnTo>
                    <a:pt x="307" y="240"/>
                  </a:lnTo>
                  <a:lnTo>
                    <a:pt x="297" y="243"/>
                  </a:lnTo>
                  <a:lnTo>
                    <a:pt x="285" y="246"/>
                  </a:lnTo>
                  <a:lnTo>
                    <a:pt x="273" y="246"/>
                  </a:lnTo>
                  <a:lnTo>
                    <a:pt x="258" y="246"/>
                  </a:lnTo>
                  <a:lnTo>
                    <a:pt x="246" y="246"/>
                  </a:lnTo>
                  <a:lnTo>
                    <a:pt x="231" y="246"/>
                  </a:lnTo>
                  <a:lnTo>
                    <a:pt x="219" y="243"/>
                  </a:lnTo>
                  <a:lnTo>
                    <a:pt x="209" y="240"/>
                  </a:lnTo>
                  <a:lnTo>
                    <a:pt x="197" y="237"/>
                  </a:lnTo>
                  <a:lnTo>
                    <a:pt x="185" y="234"/>
                  </a:lnTo>
                  <a:lnTo>
                    <a:pt x="173" y="232"/>
                  </a:lnTo>
                  <a:lnTo>
                    <a:pt x="161" y="227"/>
                  </a:lnTo>
                  <a:lnTo>
                    <a:pt x="149" y="224"/>
                  </a:lnTo>
                  <a:lnTo>
                    <a:pt x="140" y="218"/>
                  </a:lnTo>
                  <a:lnTo>
                    <a:pt x="129" y="212"/>
                  </a:lnTo>
                  <a:lnTo>
                    <a:pt x="121" y="203"/>
                  </a:lnTo>
                  <a:lnTo>
                    <a:pt x="109" y="197"/>
                  </a:lnTo>
                  <a:lnTo>
                    <a:pt x="100" y="191"/>
                  </a:lnTo>
                  <a:lnTo>
                    <a:pt x="91" y="183"/>
                  </a:lnTo>
                  <a:lnTo>
                    <a:pt x="82" y="174"/>
                  </a:lnTo>
                  <a:lnTo>
                    <a:pt x="73" y="165"/>
                  </a:lnTo>
                  <a:lnTo>
                    <a:pt x="67" y="156"/>
                  </a:lnTo>
                  <a:lnTo>
                    <a:pt x="58" y="148"/>
                  </a:lnTo>
                  <a:lnTo>
                    <a:pt x="52" y="137"/>
                  </a:lnTo>
                  <a:lnTo>
                    <a:pt x="44" y="128"/>
                  </a:lnTo>
                  <a:lnTo>
                    <a:pt x="39" y="116"/>
                  </a:lnTo>
                  <a:lnTo>
                    <a:pt x="33" y="107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21" y="72"/>
                  </a:lnTo>
                  <a:lnTo>
                    <a:pt x="18" y="61"/>
                  </a:lnTo>
                  <a:lnTo>
                    <a:pt x="15" y="50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0" name="Freeform 154">
              <a:extLst>
                <a:ext uri="{FF2B5EF4-FFF2-40B4-BE49-F238E27FC236}">
                  <a16:creationId xmlns:a16="http://schemas.microsoft.com/office/drawing/2014/main" id="{0CD692DC-E5E6-4680-A55D-23FC10A23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547"/>
              <a:ext cx="499" cy="250"/>
            </a:xfrm>
            <a:custGeom>
              <a:avLst/>
              <a:gdLst>
                <a:gd name="T0" fmla="*/ 0 w 499"/>
                <a:gd name="T1" fmla="*/ 223 h 250"/>
                <a:gd name="T2" fmla="*/ 9 w 499"/>
                <a:gd name="T3" fmla="*/ 188 h 250"/>
                <a:gd name="T4" fmla="*/ 21 w 499"/>
                <a:gd name="T5" fmla="*/ 153 h 250"/>
                <a:gd name="T6" fmla="*/ 36 w 499"/>
                <a:gd name="T7" fmla="*/ 122 h 250"/>
                <a:gd name="T8" fmla="*/ 58 w 499"/>
                <a:gd name="T9" fmla="*/ 93 h 250"/>
                <a:gd name="T10" fmla="*/ 82 w 499"/>
                <a:gd name="T11" fmla="*/ 66 h 250"/>
                <a:gd name="T12" fmla="*/ 112 w 499"/>
                <a:gd name="T13" fmla="*/ 44 h 250"/>
                <a:gd name="T14" fmla="*/ 140 w 499"/>
                <a:gd name="T15" fmla="*/ 26 h 250"/>
                <a:gd name="T16" fmla="*/ 176 w 499"/>
                <a:gd name="T17" fmla="*/ 12 h 250"/>
                <a:gd name="T18" fmla="*/ 210 w 499"/>
                <a:gd name="T19" fmla="*/ 3 h 250"/>
                <a:gd name="T20" fmla="*/ 249 w 499"/>
                <a:gd name="T21" fmla="*/ 0 h 250"/>
                <a:gd name="T22" fmla="*/ 288 w 499"/>
                <a:gd name="T23" fmla="*/ 3 h 250"/>
                <a:gd name="T24" fmla="*/ 325 w 499"/>
                <a:gd name="T25" fmla="*/ 12 h 250"/>
                <a:gd name="T26" fmla="*/ 358 w 499"/>
                <a:gd name="T27" fmla="*/ 26 h 250"/>
                <a:gd name="T28" fmla="*/ 389 w 499"/>
                <a:gd name="T29" fmla="*/ 44 h 250"/>
                <a:gd name="T30" fmla="*/ 416 w 499"/>
                <a:gd name="T31" fmla="*/ 66 h 250"/>
                <a:gd name="T32" fmla="*/ 443 w 499"/>
                <a:gd name="T33" fmla="*/ 93 h 250"/>
                <a:gd name="T34" fmla="*/ 462 w 499"/>
                <a:gd name="T35" fmla="*/ 122 h 250"/>
                <a:gd name="T36" fmla="*/ 480 w 499"/>
                <a:gd name="T37" fmla="*/ 153 h 250"/>
                <a:gd name="T38" fmla="*/ 492 w 499"/>
                <a:gd name="T39" fmla="*/ 188 h 250"/>
                <a:gd name="T40" fmla="*/ 498 w 499"/>
                <a:gd name="T41" fmla="*/ 223 h 250"/>
                <a:gd name="T42" fmla="*/ 489 w 499"/>
                <a:gd name="T43" fmla="*/ 249 h 250"/>
                <a:gd name="T44" fmla="*/ 486 w 499"/>
                <a:gd name="T45" fmla="*/ 212 h 250"/>
                <a:gd name="T46" fmla="*/ 477 w 499"/>
                <a:gd name="T47" fmla="*/ 177 h 250"/>
                <a:gd name="T48" fmla="*/ 465 w 499"/>
                <a:gd name="T49" fmla="*/ 145 h 250"/>
                <a:gd name="T50" fmla="*/ 449 w 499"/>
                <a:gd name="T51" fmla="*/ 116 h 250"/>
                <a:gd name="T52" fmla="*/ 428 w 499"/>
                <a:gd name="T53" fmla="*/ 90 h 250"/>
                <a:gd name="T54" fmla="*/ 401 w 499"/>
                <a:gd name="T55" fmla="*/ 63 h 250"/>
                <a:gd name="T56" fmla="*/ 374 w 499"/>
                <a:gd name="T57" fmla="*/ 47 h 250"/>
                <a:gd name="T58" fmla="*/ 343 w 499"/>
                <a:gd name="T59" fmla="*/ 29 h 250"/>
                <a:gd name="T60" fmla="*/ 310 w 499"/>
                <a:gd name="T61" fmla="*/ 18 h 250"/>
                <a:gd name="T62" fmla="*/ 276 w 499"/>
                <a:gd name="T63" fmla="*/ 12 h 250"/>
                <a:gd name="T64" fmla="*/ 237 w 499"/>
                <a:gd name="T65" fmla="*/ 12 h 250"/>
                <a:gd name="T66" fmla="*/ 203 w 499"/>
                <a:gd name="T67" fmla="*/ 15 h 250"/>
                <a:gd name="T68" fmla="*/ 167 w 499"/>
                <a:gd name="T69" fmla="*/ 26 h 250"/>
                <a:gd name="T70" fmla="*/ 134 w 499"/>
                <a:gd name="T71" fmla="*/ 41 h 250"/>
                <a:gd name="T72" fmla="*/ 106 w 499"/>
                <a:gd name="T73" fmla="*/ 58 h 250"/>
                <a:gd name="T74" fmla="*/ 79 w 499"/>
                <a:gd name="T75" fmla="*/ 81 h 250"/>
                <a:gd name="T76" fmla="*/ 58 w 499"/>
                <a:gd name="T77" fmla="*/ 107 h 250"/>
                <a:gd name="T78" fmla="*/ 38 w 499"/>
                <a:gd name="T79" fmla="*/ 136 h 250"/>
                <a:gd name="T80" fmla="*/ 24 w 499"/>
                <a:gd name="T81" fmla="*/ 168 h 250"/>
                <a:gd name="T82" fmla="*/ 15 w 499"/>
                <a:gd name="T83" fmla="*/ 200 h 250"/>
                <a:gd name="T84" fmla="*/ 9 w 499"/>
                <a:gd name="T85" fmla="*/ 237 h 2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99"/>
                <a:gd name="T130" fmla="*/ 0 h 250"/>
                <a:gd name="T131" fmla="*/ 499 w 499"/>
                <a:gd name="T132" fmla="*/ 250 h 2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99" h="250">
                  <a:moveTo>
                    <a:pt x="0" y="249"/>
                  </a:moveTo>
                  <a:lnTo>
                    <a:pt x="0" y="234"/>
                  </a:lnTo>
                  <a:lnTo>
                    <a:pt x="0" y="223"/>
                  </a:lnTo>
                  <a:lnTo>
                    <a:pt x="3" y="212"/>
                  </a:lnTo>
                  <a:lnTo>
                    <a:pt x="6" y="200"/>
                  </a:lnTo>
                  <a:lnTo>
                    <a:pt x="9" y="188"/>
                  </a:lnTo>
                  <a:lnTo>
                    <a:pt x="12" y="174"/>
                  </a:lnTo>
                  <a:lnTo>
                    <a:pt x="15" y="162"/>
                  </a:lnTo>
                  <a:lnTo>
                    <a:pt x="21" y="153"/>
                  </a:lnTo>
                  <a:lnTo>
                    <a:pt x="24" y="142"/>
                  </a:lnTo>
                  <a:lnTo>
                    <a:pt x="30" y="131"/>
                  </a:lnTo>
                  <a:lnTo>
                    <a:pt x="36" y="122"/>
                  </a:lnTo>
                  <a:lnTo>
                    <a:pt x="43" y="110"/>
                  </a:lnTo>
                  <a:lnTo>
                    <a:pt x="49" y="102"/>
                  </a:lnTo>
                  <a:lnTo>
                    <a:pt x="58" y="93"/>
                  </a:lnTo>
                  <a:lnTo>
                    <a:pt x="64" y="81"/>
                  </a:lnTo>
                  <a:lnTo>
                    <a:pt x="73" y="72"/>
                  </a:lnTo>
                  <a:lnTo>
                    <a:pt x="82" y="66"/>
                  </a:lnTo>
                  <a:lnTo>
                    <a:pt x="91" y="58"/>
                  </a:lnTo>
                  <a:lnTo>
                    <a:pt x="100" y="50"/>
                  </a:lnTo>
                  <a:lnTo>
                    <a:pt x="112" y="44"/>
                  </a:lnTo>
                  <a:lnTo>
                    <a:pt x="121" y="38"/>
                  </a:lnTo>
                  <a:lnTo>
                    <a:pt x="131" y="32"/>
                  </a:lnTo>
                  <a:lnTo>
                    <a:pt x="140" y="26"/>
                  </a:lnTo>
                  <a:lnTo>
                    <a:pt x="152" y="21"/>
                  </a:lnTo>
                  <a:lnTo>
                    <a:pt x="164" y="18"/>
                  </a:lnTo>
                  <a:lnTo>
                    <a:pt x="176" y="12"/>
                  </a:lnTo>
                  <a:lnTo>
                    <a:pt x="188" y="9"/>
                  </a:lnTo>
                  <a:lnTo>
                    <a:pt x="200" y="6"/>
                  </a:lnTo>
                  <a:lnTo>
                    <a:pt x="210" y="3"/>
                  </a:lnTo>
                  <a:lnTo>
                    <a:pt x="222" y="3"/>
                  </a:lnTo>
                  <a:lnTo>
                    <a:pt x="237" y="3"/>
                  </a:lnTo>
                  <a:lnTo>
                    <a:pt x="249" y="0"/>
                  </a:lnTo>
                  <a:lnTo>
                    <a:pt x="264" y="3"/>
                  </a:lnTo>
                  <a:lnTo>
                    <a:pt x="276" y="3"/>
                  </a:lnTo>
                  <a:lnTo>
                    <a:pt x="288" y="3"/>
                  </a:lnTo>
                  <a:lnTo>
                    <a:pt x="298" y="6"/>
                  </a:lnTo>
                  <a:lnTo>
                    <a:pt x="310" y="9"/>
                  </a:lnTo>
                  <a:lnTo>
                    <a:pt x="325" y="12"/>
                  </a:lnTo>
                  <a:lnTo>
                    <a:pt x="334" y="18"/>
                  </a:lnTo>
                  <a:lnTo>
                    <a:pt x="346" y="21"/>
                  </a:lnTo>
                  <a:lnTo>
                    <a:pt x="358" y="26"/>
                  </a:lnTo>
                  <a:lnTo>
                    <a:pt x="370" y="32"/>
                  </a:lnTo>
                  <a:lnTo>
                    <a:pt x="377" y="38"/>
                  </a:lnTo>
                  <a:lnTo>
                    <a:pt x="389" y="44"/>
                  </a:lnTo>
                  <a:lnTo>
                    <a:pt x="398" y="50"/>
                  </a:lnTo>
                  <a:lnTo>
                    <a:pt x="407" y="58"/>
                  </a:lnTo>
                  <a:lnTo>
                    <a:pt x="416" y="66"/>
                  </a:lnTo>
                  <a:lnTo>
                    <a:pt x="425" y="72"/>
                  </a:lnTo>
                  <a:lnTo>
                    <a:pt x="434" y="81"/>
                  </a:lnTo>
                  <a:lnTo>
                    <a:pt x="443" y="93"/>
                  </a:lnTo>
                  <a:lnTo>
                    <a:pt x="449" y="102"/>
                  </a:lnTo>
                  <a:lnTo>
                    <a:pt x="457" y="110"/>
                  </a:lnTo>
                  <a:lnTo>
                    <a:pt x="462" y="122"/>
                  </a:lnTo>
                  <a:lnTo>
                    <a:pt x="468" y="131"/>
                  </a:lnTo>
                  <a:lnTo>
                    <a:pt x="474" y="142"/>
                  </a:lnTo>
                  <a:lnTo>
                    <a:pt x="480" y="153"/>
                  </a:lnTo>
                  <a:lnTo>
                    <a:pt x="483" y="162"/>
                  </a:lnTo>
                  <a:lnTo>
                    <a:pt x="486" y="174"/>
                  </a:lnTo>
                  <a:lnTo>
                    <a:pt x="492" y="188"/>
                  </a:lnTo>
                  <a:lnTo>
                    <a:pt x="495" y="200"/>
                  </a:lnTo>
                  <a:lnTo>
                    <a:pt x="495" y="212"/>
                  </a:lnTo>
                  <a:lnTo>
                    <a:pt x="498" y="223"/>
                  </a:lnTo>
                  <a:lnTo>
                    <a:pt x="498" y="234"/>
                  </a:lnTo>
                  <a:lnTo>
                    <a:pt x="498" y="249"/>
                  </a:lnTo>
                  <a:lnTo>
                    <a:pt x="489" y="249"/>
                  </a:lnTo>
                  <a:lnTo>
                    <a:pt x="489" y="237"/>
                  </a:lnTo>
                  <a:lnTo>
                    <a:pt x="489" y="223"/>
                  </a:lnTo>
                  <a:lnTo>
                    <a:pt x="486" y="212"/>
                  </a:lnTo>
                  <a:lnTo>
                    <a:pt x="483" y="200"/>
                  </a:lnTo>
                  <a:lnTo>
                    <a:pt x="480" y="188"/>
                  </a:lnTo>
                  <a:lnTo>
                    <a:pt x="477" y="177"/>
                  </a:lnTo>
                  <a:lnTo>
                    <a:pt x="474" y="168"/>
                  </a:lnTo>
                  <a:lnTo>
                    <a:pt x="471" y="156"/>
                  </a:lnTo>
                  <a:lnTo>
                    <a:pt x="465" y="145"/>
                  </a:lnTo>
                  <a:lnTo>
                    <a:pt x="459" y="136"/>
                  </a:lnTo>
                  <a:lnTo>
                    <a:pt x="454" y="125"/>
                  </a:lnTo>
                  <a:lnTo>
                    <a:pt x="449" y="116"/>
                  </a:lnTo>
                  <a:lnTo>
                    <a:pt x="443" y="107"/>
                  </a:lnTo>
                  <a:lnTo>
                    <a:pt x="434" y="99"/>
                  </a:lnTo>
                  <a:lnTo>
                    <a:pt x="428" y="90"/>
                  </a:lnTo>
                  <a:lnTo>
                    <a:pt x="419" y="81"/>
                  </a:lnTo>
                  <a:lnTo>
                    <a:pt x="410" y="72"/>
                  </a:lnTo>
                  <a:lnTo>
                    <a:pt x="401" y="63"/>
                  </a:lnTo>
                  <a:lnTo>
                    <a:pt x="392" y="58"/>
                  </a:lnTo>
                  <a:lnTo>
                    <a:pt x="383" y="52"/>
                  </a:lnTo>
                  <a:lnTo>
                    <a:pt x="374" y="47"/>
                  </a:lnTo>
                  <a:lnTo>
                    <a:pt x="364" y="41"/>
                  </a:lnTo>
                  <a:lnTo>
                    <a:pt x="355" y="35"/>
                  </a:lnTo>
                  <a:lnTo>
                    <a:pt x="343" y="29"/>
                  </a:lnTo>
                  <a:lnTo>
                    <a:pt x="331" y="26"/>
                  </a:lnTo>
                  <a:lnTo>
                    <a:pt x="322" y="21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8" y="15"/>
                  </a:lnTo>
                  <a:lnTo>
                    <a:pt x="276" y="12"/>
                  </a:lnTo>
                  <a:lnTo>
                    <a:pt x="261" y="12"/>
                  </a:lnTo>
                  <a:lnTo>
                    <a:pt x="249" y="12"/>
                  </a:lnTo>
                  <a:lnTo>
                    <a:pt x="237" y="12"/>
                  </a:lnTo>
                  <a:lnTo>
                    <a:pt x="225" y="12"/>
                  </a:lnTo>
                  <a:lnTo>
                    <a:pt x="213" y="15"/>
                  </a:lnTo>
                  <a:lnTo>
                    <a:pt x="203" y="15"/>
                  </a:lnTo>
                  <a:lnTo>
                    <a:pt x="191" y="18"/>
                  </a:lnTo>
                  <a:lnTo>
                    <a:pt x="179" y="21"/>
                  </a:lnTo>
                  <a:lnTo>
                    <a:pt x="167" y="26"/>
                  </a:lnTo>
                  <a:lnTo>
                    <a:pt x="155" y="29"/>
                  </a:lnTo>
                  <a:lnTo>
                    <a:pt x="146" y="35"/>
                  </a:lnTo>
                  <a:lnTo>
                    <a:pt x="134" y="41"/>
                  </a:lnTo>
                  <a:lnTo>
                    <a:pt x="125" y="47"/>
                  </a:lnTo>
                  <a:lnTo>
                    <a:pt x="115" y="52"/>
                  </a:lnTo>
                  <a:lnTo>
                    <a:pt x="106" y="58"/>
                  </a:lnTo>
                  <a:lnTo>
                    <a:pt x="97" y="63"/>
                  </a:lnTo>
                  <a:lnTo>
                    <a:pt x="88" y="72"/>
                  </a:lnTo>
                  <a:lnTo>
                    <a:pt x="79" y="81"/>
                  </a:lnTo>
                  <a:lnTo>
                    <a:pt x="73" y="90"/>
                  </a:lnTo>
                  <a:lnTo>
                    <a:pt x="64" y="99"/>
                  </a:lnTo>
                  <a:lnTo>
                    <a:pt x="58" y="107"/>
                  </a:lnTo>
                  <a:lnTo>
                    <a:pt x="49" y="116"/>
                  </a:lnTo>
                  <a:lnTo>
                    <a:pt x="43" y="125"/>
                  </a:lnTo>
                  <a:lnTo>
                    <a:pt x="38" y="136"/>
                  </a:lnTo>
                  <a:lnTo>
                    <a:pt x="33" y="145"/>
                  </a:lnTo>
                  <a:lnTo>
                    <a:pt x="30" y="156"/>
                  </a:lnTo>
                  <a:lnTo>
                    <a:pt x="24" y="168"/>
                  </a:lnTo>
                  <a:lnTo>
                    <a:pt x="21" y="177"/>
                  </a:lnTo>
                  <a:lnTo>
                    <a:pt x="18" y="188"/>
                  </a:lnTo>
                  <a:lnTo>
                    <a:pt x="15" y="200"/>
                  </a:lnTo>
                  <a:lnTo>
                    <a:pt x="12" y="212"/>
                  </a:lnTo>
                  <a:lnTo>
                    <a:pt x="12" y="223"/>
                  </a:lnTo>
                  <a:lnTo>
                    <a:pt x="9" y="237"/>
                  </a:lnTo>
                  <a:lnTo>
                    <a:pt x="9" y="249"/>
                  </a:lnTo>
                  <a:lnTo>
                    <a:pt x="0" y="249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1" name="Freeform 155">
              <a:extLst>
                <a:ext uri="{FF2B5EF4-FFF2-40B4-BE49-F238E27FC236}">
                  <a16:creationId xmlns:a16="http://schemas.microsoft.com/office/drawing/2014/main" id="{108C38DB-C9E6-4A54-A0DE-E39B42802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802"/>
              <a:ext cx="499" cy="247"/>
            </a:xfrm>
            <a:custGeom>
              <a:avLst/>
              <a:gdLst>
                <a:gd name="T0" fmla="*/ 0 w 499"/>
                <a:gd name="T1" fmla="*/ 12 h 247"/>
                <a:gd name="T2" fmla="*/ 6 w 499"/>
                <a:gd name="T3" fmla="*/ 50 h 247"/>
                <a:gd name="T4" fmla="*/ 15 w 499"/>
                <a:gd name="T5" fmla="*/ 84 h 247"/>
                <a:gd name="T6" fmla="*/ 30 w 499"/>
                <a:gd name="T7" fmla="*/ 116 h 247"/>
                <a:gd name="T8" fmla="*/ 49 w 499"/>
                <a:gd name="T9" fmla="*/ 147 h 247"/>
                <a:gd name="T10" fmla="*/ 73 w 499"/>
                <a:gd name="T11" fmla="*/ 174 h 247"/>
                <a:gd name="T12" fmla="*/ 100 w 499"/>
                <a:gd name="T13" fmla="*/ 197 h 247"/>
                <a:gd name="T14" fmla="*/ 131 w 499"/>
                <a:gd name="T15" fmla="*/ 218 h 247"/>
                <a:gd name="T16" fmla="*/ 164 w 499"/>
                <a:gd name="T17" fmla="*/ 231 h 247"/>
                <a:gd name="T18" fmla="*/ 200 w 499"/>
                <a:gd name="T19" fmla="*/ 240 h 247"/>
                <a:gd name="T20" fmla="*/ 237 w 499"/>
                <a:gd name="T21" fmla="*/ 246 h 247"/>
                <a:gd name="T22" fmla="*/ 276 w 499"/>
                <a:gd name="T23" fmla="*/ 246 h 247"/>
                <a:gd name="T24" fmla="*/ 310 w 499"/>
                <a:gd name="T25" fmla="*/ 237 h 247"/>
                <a:gd name="T26" fmla="*/ 346 w 499"/>
                <a:gd name="T27" fmla="*/ 226 h 247"/>
                <a:gd name="T28" fmla="*/ 377 w 499"/>
                <a:gd name="T29" fmla="*/ 212 h 247"/>
                <a:gd name="T30" fmla="*/ 407 w 499"/>
                <a:gd name="T31" fmla="*/ 191 h 247"/>
                <a:gd name="T32" fmla="*/ 434 w 499"/>
                <a:gd name="T33" fmla="*/ 165 h 247"/>
                <a:gd name="T34" fmla="*/ 457 w 499"/>
                <a:gd name="T35" fmla="*/ 137 h 247"/>
                <a:gd name="T36" fmla="*/ 474 w 499"/>
                <a:gd name="T37" fmla="*/ 107 h 247"/>
                <a:gd name="T38" fmla="*/ 486 w 499"/>
                <a:gd name="T39" fmla="*/ 72 h 247"/>
                <a:gd name="T40" fmla="*/ 495 w 499"/>
                <a:gd name="T41" fmla="*/ 38 h 247"/>
                <a:gd name="T42" fmla="*/ 498 w 499"/>
                <a:gd name="T43" fmla="*/ 0 h 247"/>
                <a:gd name="T44" fmla="*/ 489 w 499"/>
                <a:gd name="T45" fmla="*/ 23 h 247"/>
                <a:gd name="T46" fmla="*/ 480 w 499"/>
                <a:gd name="T47" fmla="*/ 58 h 247"/>
                <a:gd name="T48" fmla="*/ 471 w 499"/>
                <a:gd name="T49" fmla="*/ 93 h 247"/>
                <a:gd name="T50" fmla="*/ 454 w 499"/>
                <a:gd name="T51" fmla="*/ 122 h 247"/>
                <a:gd name="T52" fmla="*/ 434 w 499"/>
                <a:gd name="T53" fmla="*/ 150 h 247"/>
                <a:gd name="T54" fmla="*/ 410 w 499"/>
                <a:gd name="T55" fmla="*/ 174 h 247"/>
                <a:gd name="T56" fmla="*/ 383 w 499"/>
                <a:gd name="T57" fmla="*/ 197 h 247"/>
                <a:gd name="T58" fmla="*/ 355 w 499"/>
                <a:gd name="T59" fmla="*/ 215 h 247"/>
                <a:gd name="T60" fmla="*/ 322 w 499"/>
                <a:gd name="T61" fmla="*/ 226 h 247"/>
                <a:gd name="T62" fmla="*/ 288 w 499"/>
                <a:gd name="T63" fmla="*/ 234 h 247"/>
                <a:gd name="T64" fmla="*/ 249 w 499"/>
                <a:gd name="T65" fmla="*/ 237 h 247"/>
                <a:gd name="T66" fmla="*/ 213 w 499"/>
                <a:gd name="T67" fmla="*/ 234 h 247"/>
                <a:gd name="T68" fmla="*/ 179 w 499"/>
                <a:gd name="T69" fmla="*/ 226 h 247"/>
                <a:gd name="T70" fmla="*/ 146 w 499"/>
                <a:gd name="T71" fmla="*/ 215 h 247"/>
                <a:gd name="T72" fmla="*/ 115 w 499"/>
                <a:gd name="T73" fmla="*/ 197 h 247"/>
                <a:gd name="T74" fmla="*/ 88 w 499"/>
                <a:gd name="T75" fmla="*/ 174 h 247"/>
                <a:gd name="T76" fmla="*/ 64 w 499"/>
                <a:gd name="T77" fmla="*/ 150 h 247"/>
                <a:gd name="T78" fmla="*/ 43 w 499"/>
                <a:gd name="T79" fmla="*/ 122 h 247"/>
                <a:gd name="T80" fmla="*/ 30 w 499"/>
                <a:gd name="T81" fmla="*/ 93 h 247"/>
                <a:gd name="T82" fmla="*/ 18 w 499"/>
                <a:gd name="T83" fmla="*/ 58 h 247"/>
                <a:gd name="T84" fmla="*/ 12 w 499"/>
                <a:gd name="T85" fmla="*/ 23 h 247"/>
                <a:gd name="T86" fmla="*/ 0 w 499"/>
                <a:gd name="T87" fmla="*/ 0 h 2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99"/>
                <a:gd name="T133" fmla="*/ 0 h 247"/>
                <a:gd name="T134" fmla="*/ 499 w 499"/>
                <a:gd name="T135" fmla="*/ 247 h 2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99" h="247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0"/>
                  </a:lnTo>
                  <a:lnTo>
                    <a:pt x="9" y="61"/>
                  </a:lnTo>
                  <a:lnTo>
                    <a:pt x="12" y="72"/>
                  </a:lnTo>
                  <a:lnTo>
                    <a:pt x="15" y="84"/>
                  </a:lnTo>
                  <a:lnTo>
                    <a:pt x="21" y="96"/>
                  </a:lnTo>
                  <a:lnTo>
                    <a:pt x="24" y="107"/>
                  </a:lnTo>
                  <a:lnTo>
                    <a:pt x="30" y="116"/>
                  </a:lnTo>
                  <a:lnTo>
                    <a:pt x="36" y="128"/>
                  </a:lnTo>
                  <a:lnTo>
                    <a:pt x="43" y="137"/>
                  </a:lnTo>
                  <a:lnTo>
                    <a:pt x="49" y="147"/>
                  </a:lnTo>
                  <a:lnTo>
                    <a:pt x="58" y="156"/>
                  </a:lnTo>
                  <a:lnTo>
                    <a:pt x="64" y="165"/>
                  </a:lnTo>
                  <a:lnTo>
                    <a:pt x="73" y="174"/>
                  </a:lnTo>
                  <a:lnTo>
                    <a:pt x="82" y="183"/>
                  </a:lnTo>
                  <a:lnTo>
                    <a:pt x="91" y="191"/>
                  </a:lnTo>
                  <a:lnTo>
                    <a:pt x="100" y="197"/>
                  </a:lnTo>
                  <a:lnTo>
                    <a:pt x="112" y="203"/>
                  </a:lnTo>
                  <a:lnTo>
                    <a:pt x="121" y="212"/>
                  </a:lnTo>
                  <a:lnTo>
                    <a:pt x="131" y="218"/>
                  </a:lnTo>
                  <a:lnTo>
                    <a:pt x="140" y="224"/>
                  </a:lnTo>
                  <a:lnTo>
                    <a:pt x="152" y="226"/>
                  </a:lnTo>
                  <a:lnTo>
                    <a:pt x="164" y="231"/>
                  </a:lnTo>
                  <a:lnTo>
                    <a:pt x="176" y="234"/>
                  </a:lnTo>
                  <a:lnTo>
                    <a:pt x="188" y="237"/>
                  </a:lnTo>
                  <a:lnTo>
                    <a:pt x="200" y="240"/>
                  </a:lnTo>
                  <a:lnTo>
                    <a:pt x="210" y="243"/>
                  </a:lnTo>
                  <a:lnTo>
                    <a:pt x="222" y="246"/>
                  </a:lnTo>
                  <a:lnTo>
                    <a:pt x="237" y="246"/>
                  </a:lnTo>
                  <a:lnTo>
                    <a:pt x="249" y="246"/>
                  </a:lnTo>
                  <a:lnTo>
                    <a:pt x="264" y="246"/>
                  </a:lnTo>
                  <a:lnTo>
                    <a:pt x="276" y="246"/>
                  </a:lnTo>
                  <a:lnTo>
                    <a:pt x="288" y="243"/>
                  </a:lnTo>
                  <a:lnTo>
                    <a:pt x="298" y="240"/>
                  </a:lnTo>
                  <a:lnTo>
                    <a:pt x="310" y="237"/>
                  </a:lnTo>
                  <a:lnTo>
                    <a:pt x="325" y="234"/>
                  </a:lnTo>
                  <a:lnTo>
                    <a:pt x="334" y="231"/>
                  </a:lnTo>
                  <a:lnTo>
                    <a:pt x="346" y="226"/>
                  </a:lnTo>
                  <a:lnTo>
                    <a:pt x="358" y="224"/>
                  </a:lnTo>
                  <a:lnTo>
                    <a:pt x="370" y="218"/>
                  </a:lnTo>
                  <a:lnTo>
                    <a:pt x="377" y="212"/>
                  </a:lnTo>
                  <a:lnTo>
                    <a:pt x="389" y="203"/>
                  </a:lnTo>
                  <a:lnTo>
                    <a:pt x="398" y="197"/>
                  </a:lnTo>
                  <a:lnTo>
                    <a:pt x="407" y="191"/>
                  </a:lnTo>
                  <a:lnTo>
                    <a:pt x="416" y="183"/>
                  </a:lnTo>
                  <a:lnTo>
                    <a:pt x="425" y="174"/>
                  </a:lnTo>
                  <a:lnTo>
                    <a:pt x="434" y="165"/>
                  </a:lnTo>
                  <a:lnTo>
                    <a:pt x="443" y="156"/>
                  </a:lnTo>
                  <a:lnTo>
                    <a:pt x="449" y="147"/>
                  </a:lnTo>
                  <a:lnTo>
                    <a:pt x="457" y="137"/>
                  </a:lnTo>
                  <a:lnTo>
                    <a:pt x="462" y="128"/>
                  </a:lnTo>
                  <a:lnTo>
                    <a:pt x="468" y="116"/>
                  </a:lnTo>
                  <a:lnTo>
                    <a:pt x="474" y="107"/>
                  </a:lnTo>
                  <a:lnTo>
                    <a:pt x="480" y="96"/>
                  </a:lnTo>
                  <a:lnTo>
                    <a:pt x="483" y="84"/>
                  </a:lnTo>
                  <a:lnTo>
                    <a:pt x="486" y="72"/>
                  </a:lnTo>
                  <a:lnTo>
                    <a:pt x="492" y="61"/>
                  </a:lnTo>
                  <a:lnTo>
                    <a:pt x="495" y="50"/>
                  </a:lnTo>
                  <a:lnTo>
                    <a:pt x="495" y="38"/>
                  </a:lnTo>
                  <a:lnTo>
                    <a:pt x="498" y="26"/>
                  </a:lnTo>
                  <a:lnTo>
                    <a:pt x="498" y="12"/>
                  </a:lnTo>
                  <a:lnTo>
                    <a:pt x="498" y="0"/>
                  </a:lnTo>
                  <a:lnTo>
                    <a:pt x="489" y="0"/>
                  </a:lnTo>
                  <a:lnTo>
                    <a:pt x="489" y="12"/>
                  </a:lnTo>
                  <a:lnTo>
                    <a:pt x="489" y="23"/>
                  </a:lnTo>
                  <a:lnTo>
                    <a:pt x="486" y="35"/>
                  </a:lnTo>
                  <a:lnTo>
                    <a:pt x="483" y="47"/>
                  </a:lnTo>
                  <a:lnTo>
                    <a:pt x="480" y="58"/>
                  </a:lnTo>
                  <a:lnTo>
                    <a:pt x="477" y="69"/>
                  </a:lnTo>
                  <a:lnTo>
                    <a:pt x="474" y="81"/>
                  </a:lnTo>
                  <a:lnTo>
                    <a:pt x="471" y="93"/>
                  </a:lnTo>
                  <a:lnTo>
                    <a:pt x="465" y="102"/>
                  </a:lnTo>
                  <a:lnTo>
                    <a:pt x="459" y="113"/>
                  </a:lnTo>
                  <a:lnTo>
                    <a:pt x="454" y="122"/>
                  </a:lnTo>
                  <a:lnTo>
                    <a:pt x="449" y="134"/>
                  </a:lnTo>
                  <a:lnTo>
                    <a:pt x="443" y="143"/>
                  </a:lnTo>
                  <a:lnTo>
                    <a:pt x="434" y="150"/>
                  </a:lnTo>
                  <a:lnTo>
                    <a:pt x="428" y="159"/>
                  </a:lnTo>
                  <a:lnTo>
                    <a:pt x="419" y="168"/>
                  </a:lnTo>
                  <a:lnTo>
                    <a:pt x="410" y="174"/>
                  </a:lnTo>
                  <a:lnTo>
                    <a:pt x="401" y="183"/>
                  </a:lnTo>
                  <a:lnTo>
                    <a:pt x="392" y="191"/>
                  </a:lnTo>
                  <a:lnTo>
                    <a:pt x="383" y="197"/>
                  </a:lnTo>
                  <a:lnTo>
                    <a:pt x="374" y="203"/>
                  </a:lnTo>
                  <a:lnTo>
                    <a:pt x="364" y="209"/>
                  </a:lnTo>
                  <a:lnTo>
                    <a:pt x="355" y="215"/>
                  </a:lnTo>
                  <a:lnTo>
                    <a:pt x="343" y="218"/>
                  </a:lnTo>
                  <a:lnTo>
                    <a:pt x="331" y="224"/>
                  </a:lnTo>
                  <a:lnTo>
                    <a:pt x="322" y="226"/>
                  </a:lnTo>
                  <a:lnTo>
                    <a:pt x="310" y="229"/>
                  </a:lnTo>
                  <a:lnTo>
                    <a:pt x="298" y="231"/>
                  </a:lnTo>
                  <a:lnTo>
                    <a:pt x="288" y="234"/>
                  </a:lnTo>
                  <a:lnTo>
                    <a:pt x="276" y="234"/>
                  </a:lnTo>
                  <a:lnTo>
                    <a:pt x="261" y="237"/>
                  </a:lnTo>
                  <a:lnTo>
                    <a:pt x="249" y="237"/>
                  </a:lnTo>
                  <a:lnTo>
                    <a:pt x="237" y="237"/>
                  </a:lnTo>
                  <a:lnTo>
                    <a:pt x="225" y="234"/>
                  </a:lnTo>
                  <a:lnTo>
                    <a:pt x="213" y="234"/>
                  </a:lnTo>
                  <a:lnTo>
                    <a:pt x="203" y="231"/>
                  </a:lnTo>
                  <a:lnTo>
                    <a:pt x="191" y="229"/>
                  </a:lnTo>
                  <a:lnTo>
                    <a:pt x="179" y="226"/>
                  </a:lnTo>
                  <a:lnTo>
                    <a:pt x="167" y="224"/>
                  </a:lnTo>
                  <a:lnTo>
                    <a:pt x="155" y="218"/>
                  </a:lnTo>
                  <a:lnTo>
                    <a:pt x="146" y="215"/>
                  </a:lnTo>
                  <a:lnTo>
                    <a:pt x="134" y="209"/>
                  </a:lnTo>
                  <a:lnTo>
                    <a:pt x="125" y="203"/>
                  </a:lnTo>
                  <a:lnTo>
                    <a:pt x="115" y="197"/>
                  </a:lnTo>
                  <a:lnTo>
                    <a:pt x="106" y="191"/>
                  </a:lnTo>
                  <a:lnTo>
                    <a:pt x="97" y="183"/>
                  </a:lnTo>
                  <a:lnTo>
                    <a:pt x="88" y="174"/>
                  </a:lnTo>
                  <a:lnTo>
                    <a:pt x="79" y="168"/>
                  </a:lnTo>
                  <a:lnTo>
                    <a:pt x="73" y="159"/>
                  </a:lnTo>
                  <a:lnTo>
                    <a:pt x="64" y="150"/>
                  </a:lnTo>
                  <a:lnTo>
                    <a:pt x="58" y="143"/>
                  </a:lnTo>
                  <a:lnTo>
                    <a:pt x="49" y="134"/>
                  </a:lnTo>
                  <a:lnTo>
                    <a:pt x="43" y="122"/>
                  </a:lnTo>
                  <a:lnTo>
                    <a:pt x="38" y="113"/>
                  </a:lnTo>
                  <a:lnTo>
                    <a:pt x="33" y="102"/>
                  </a:lnTo>
                  <a:lnTo>
                    <a:pt x="30" y="93"/>
                  </a:lnTo>
                  <a:lnTo>
                    <a:pt x="24" y="81"/>
                  </a:lnTo>
                  <a:lnTo>
                    <a:pt x="21" y="69"/>
                  </a:lnTo>
                  <a:lnTo>
                    <a:pt x="18" y="58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2" name="Freeform 156">
              <a:extLst>
                <a:ext uri="{FF2B5EF4-FFF2-40B4-BE49-F238E27FC236}">
                  <a16:creationId xmlns:a16="http://schemas.microsoft.com/office/drawing/2014/main" id="{96B26C02-6D93-4E6F-AF57-A5EA501AE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559"/>
              <a:ext cx="481" cy="238"/>
            </a:xfrm>
            <a:custGeom>
              <a:avLst/>
              <a:gdLst>
                <a:gd name="T0" fmla="*/ 3 w 481"/>
                <a:gd name="T1" fmla="*/ 211 h 238"/>
                <a:gd name="T2" fmla="*/ 9 w 481"/>
                <a:gd name="T3" fmla="*/ 177 h 238"/>
                <a:gd name="T4" fmla="*/ 21 w 481"/>
                <a:gd name="T5" fmla="*/ 144 h 238"/>
                <a:gd name="T6" fmla="*/ 35 w 481"/>
                <a:gd name="T7" fmla="*/ 113 h 238"/>
                <a:gd name="T8" fmla="*/ 55 w 481"/>
                <a:gd name="T9" fmla="*/ 87 h 238"/>
                <a:gd name="T10" fmla="*/ 79 w 481"/>
                <a:gd name="T11" fmla="*/ 60 h 238"/>
                <a:gd name="T12" fmla="*/ 106 w 481"/>
                <a:gd name="T13" fmla="*/ 40 h 238"/>
                <a:gd name="T14" fmla="*/ 137 w 481"/>
                <a:gd name="T15" fmla="*/ 23 h 238"/>
                <a:gd name="T16" fmla="*/ 170 w 481"/>
                <a:gd name="T17" fmla="*/ 9 h 238"/>
                <a:gd name="T18" fmla="*/ 204 w 481"/>
                <a:gd name="T19" fmla="*/ 3 h 238"/>
                <a:gd name="T20" fmla="*/ 240 w 481"/>
                <a:gd name="T21" fmla="*/ 0 h 238"/>
                <a:gd name="T22" fmla="*/ 279 w 481"/>
                <a:gd name="T23" fmla="*/ 3 h 238"/>
                <a:gd name="T24" fmla="*/ 313 w 481"/>
                <a:gd name="T25" fmla="*/ 9 h 238"/>
                <a:gd name="T26" fmla="*/ 346 w 481"/>
                <a:gd name="T27" fmla="*/ 23 h 238"/>
                <a:gd name="T28" fmla="*/ 374 w 481"/>
                <a:gd name="T29" fmla="*/ 40 h 238"/>
                <a:gd name="T30" fmla="*/ 401 w 481"/>
                <a:gd name="T31" fmla="*/ 60 h 238"/>
                <a:gd name="T32" fmla="*/ 425 w 481"/>
                <a:gd name="T33" fmla="*/ 87 h 238"/>
                <a:gd name="T34" fmla="*/ 444 w 481"/>
                <a:gd name="T35" fmla="*/ 113 h 238"/>
                <a:gd name="T36" fmla="*/ 462 w 481"/>
                <a:gd name="T37" fmla="*/ 144 h 238"/>
                <a:gd name="T38" fmla="*/ 471 w 481"/>
                <a:gd name="T39" fmla="*/ 177 h 238"/>
                <a:gd name="T40" fmla="*/ 480 w 481"/>
                <a:gd name="T41" fmla="*/ 211 h 238"/>
                <a:gd name="T42" fmla="*/ 471 w 481"/>
                <a:gd name="T43" fmla="*/ 237 h 238"/>
                <a:gd name="T44" fmla="*/ 468 w 481"/>
                <a:gd name="T45" fmla="*/ 203 h 238"/>
                <a:gd name="T46" fmla="*/ 459 w 481"/>
                <a:gd name="T47" fmla="*/ 168 h 238"/>
                <a:gd name="T48" fmla="*/ 447 w 481"/>
                <a:gd name="T49" fmla="*/ 138 h 238"/>
                <a:gd name="T50" fmla="*/ 434 w 481"/>
                <a:gd name="T51" fmla="*/ 110 h 238"/>
                <a:gd name="T52" fmla="*/ 410 w 481"/>
                <a:gd name="T53" fmla="*/ 84 h 238"/>
                <a:gd name="T54" fmla="*/ 386 w 481"/>
                <a:gd name="T55" fmla="*/ 60 h 238"/>
                <a:gd name="T56" fmla="*/ 360 w 481"/>
                <a:gd name="T57" fmla="*/ 40 h 238"/>
                <a:gd name="T58" fmla="*/ 331 w 481"/>
                <a:gd name="T59" fmla="*/ 26 h 238"/>
                <a:gd name="T60" fmla="*/ 298 w 481"/>
                <a:gd name="T61" fmla="*/ 15 h 238"/>
                <a:gd name="T62" fmla="*/ 264 w 481"/>
                <a:gd name="T63" fmla="*/ 9 h 238"/>
                <a:gd name="T64" fmla="*/ 228 w 481"/>
                <a:gd name="T65" fmla="*/ 9 h 238"/>
                <a:gd name="T66" fmla="*/ 194 w 481"/>
                <a:gd name="T67" fmla="*/ 12 h 238"/>
                <a:gd name="T68" fmla="*/ 161 w 481"/>
                <a:gd name="T69" fmla="*/ 23 h 238"/>
                <a:gd name="T70" fmla="*/ 131 w 481"/>
                <a:gd name="T71" fmla="*/ 35 h 238"/>
                <a:gd name="T72" fmla="*/ 103 w 481"/>
                <a:gd name="T73" fmla="*/ 55 h 238"/>
                <a:gd name="T74" fmla="*/ 79 w 481"/>
                <a:gd name="T75" fmla="*/ 75 h 238"/>
                <a:gd name="T76" fmla="*/ 55 w 481"/>
                <a:gd name="T77" fmla="*/ 99 h 238"/>
                <a:gd name="T78" fmla="*/ 38 w 481"/>
                <a:gd name="T79" fmla="*/ 127 h 238"/>
                <a:gd name="T80" fmla="*/ 24 w 481"/>
                <a:gd name="T81" fmla="*/ 159 h 238"/>
                <a:gd name="T82" fmla="*/ 15 w 481"/>
                <a:gd name="T83" fmla="*/ 191 h 238"/>
                <a:gd name="T84" fmla="*/ 9 w 481"/>
                <a:gd name="T85" fmla="*/ 225 h 2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1"/>
                <a:gd name="T130" fmla="*/ 0 h 238"/>
                <a:gd name="T131" fmla="*/ 481 w 481"/>
                <a:gd name="T132" fmla="*/ 238 h 2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1" h="238">
                  <a:moveTo>
                    <a:pt x="0" y="237"/>
                  </a:moveTo>
                  <a:lnTo>
                    <a:pt x="0" y="225"/>
                  </a:lnTo>
                  <a:lnTo>
                    <a:pt x="3" y="211"/>
                  </a:lnTo>
                  <a:lnTo>
                    <a:pt x="3" y="200"/>
                  </a:lnTo>
                  <a:lnTo>
                    <a:pt x="6" y="188"/>
                  </a:lnTo>
                  <a:lnTo>
                    <a:pt x="9" y="177"/>
                  </a:lnTo>
                  <a:lnTo>
                    <a:pt x="12" y="165"/>
                  </a:lnTo>
                  <a:lnTo>
                    <a:pt x="15" y="156"/>
                  </a:lnTo>
                  <a:lnTo>
                    <a:pt x="21" y="144"/>
                  </a:lnTo>
                  <a:lnTo>
                    <a:pt x="24" y="133"/>
                  </a:lnTo>
                  <a:lnTo>
                    <a:pt x="29" y="124"/>
                  </a:lnTo>
                  <a:lnTo>
                    <a:pt x="35" y="113"/>
                  </a:lnTo>
                  <a:lnTo>
                    <a:pt x="40" y="104"/>
                  </a:lnTo>
                  <a:lnTo>
                    <a:pt x="49" y="96"/>
                  </a:lnTo>
                  <a:lnTo>
                    <a:pt x="55" y="87"/>
                  </a:lnTo>
                  <a:lnTo>
                    <a:pt x="64" y="78"/>
                  </a:lnTo>
                  <a:lnTo>
                    <a:pt x="70" y="69"/>
                  </a:lnTo>
                  <a:lnTo>
                    <a:pt x="79" y="60"/>
                  </a:lnTo>
                  <a:lnTo>
                    <a:pt x="88" y="52"/>
                  </a:lnTo>
                  <a:lnTo>
                    <a:pt x="97" y="46"/>
                  </a:lnTo>
                  <a:lnTo>
                    <a:pt x="106" y="40"/>
                  </a:lnTo>
                  <a:lnTo>
                    <a:pt x="117" y="35"/>
                  </a:lnTo>
                  <a:lnTo>
                    <a:pt x="125" y="29"/>
                  </a:lnTo>
                  <a:lnTo>
                    <a:pt x="137" y="23"/>
                  </a:lnTo>
                  <a:lnTo>
                    <a:pt x="146" y="18"/>
                  </a:lnTo>
                  <a:lnTo>
                    <a:pt x="158" y="15"/>
                  </a:lnTo>
                  <a:lnTo>
                    <a:pt x="170" y="9"/>
                  </a:lnTo>
                  <a:lnTo>
                    <a:pt x="182" y="6"/>
                  </a:lnTo>
                  <a:lnTo>
                    <a:pt x="194" y="3"/>
                  </a:lnTo>
                  <a:lnTo>
                    <a:pt x="204" y="3"/>
                  </a:lnTo>
                  <a:lnTo>
                    <a:pt x="216" y="0"/>
                  </a:lnTo>
                  <a:lnTo>
                    <a:pt x="228" y="0"/>
                  </a:lnTo>
                  <a:lnTo>
                    <a:pt x="240" y="0"/>
                  </a:lnTo>
                  <a:lnTo>
                    <a:pt x="252" y="0"/>
                  </a:lnTo>
                  <a:lnTo>
                    <a:pt x="267" y="0"/>
                  </a:lnTo>
                  <a:lnTo>
                    <a:pt x="279" y="3"/>
                  </a:lnTo>
                  <a:lnTo>
                    <a:pt x="289" y="3"/>
                  </a:lnTo>
                  <a:lnTo>
                    <a:pt x="301" y="6"/>
                  </a:lnTo>
                  <a:lnTo>
                    <a:pt x="313" y="9"/>
                  </a:lnTo>
                  <a:lnTo>
                    <a:pt x="322" y="15"/>
                  </a:lnTo>
                  <a:lnTo>
                    <a:pt x="334" y="18"/>
                  </a:lnTo>
                  <a:lnTo>
                    <a:pt x="346" y="23"/>
                  </a:lnTo>
                  <a:lnTo>
                    <a:pt x="355" y="29"/>
                  </a:lnTo>
                  <a:lnTo>
                    <a:pt x="365" y="35"/>
                  </a:lnTo>
                  <a:lnTo>
                    <a:pt x="374" y="40"/>
                  </a:lnTo>
                  <a:lnTo>
                    <a:pt x="383" y="46"/>
                  </a:lnTo>
                  <a:lnTo>
                    <a:pt x="392" y="52"/>
                  </a:lnTo>
                  <a:lnTo>
                    <a:pt x="401" y="60"/>
                  </a:lnTo>
                  <a:lnTo>
                    <a:pt x="410" y="69"/>
                  </a:lnTo>
                  <a:lnTo>
                    <a:pt x="419" y="78"/>
                  </a:lnTo>
                  <a:lnTo>
                    <a:pt x="425" y="87"/>
                  </a:lnTo>
                  <a:lnTo>
                    <a:pt x="434" y="96"/>
                  </a:lnTo>
                  <a:lnTo>
                    <a:pt x="440" y="104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6" y="133"/>
                  </a:lnTo>
                  <a:lnTo>
                    <a:pt x="462" y="144"/>
                  </a:lnTo>
                  <a:lnTo>
                    <a:pt x="465" y="156"/>
                  </a:lnTo>
                  <a:lnTo>
                    <a:pt x="468" y="165"/>
                  </a:lnTo>
                  <a:lnTo>
                    <a:pt x="471" y="177"/>
                  </a:lnTo>
                  <a:lnTo>
                    <a:pt x="474" y="188"/>
                  </a:lnTo>
                  <a:lnTo>
                    <a:pt x="477" y="200"/>
                  </a:lnTo>
                  <a:lnTo>
                    <a:pt x="480" y="211"/>
                  </a:lnTo>
                  <a:lnTo>
                    <a:pt x="480" y="225"/>
                  </a:lnTo>
                  <a:lnTo>
                    <a:pt x="480" y="237"/>
                  </a:lnTo>
                  <a:lnTo>
                    <a:pt x="471" y="237"/>
                  </a:lnTo>
                  <a:lnTo>
                    <a:pt x="471" y="225"/>
                  </a:lnTo>
                  <a:lnTo>
                    <a:pt x="471" y="214"/>
                  </a:lnTo>
                  <a:lnTo>
                    <a:pt x="468" y="203"/>
                  </a:lnTo>
                  <a:lnTo>
                    <a:pt x="465" y="191"/>
                  </a:lnTo>
                  <a:lnTo>
                    <a:pt x="462" y="179"/>
                  </a:lnTo>
                  <a:lnTo>
                    <a:pt x="459" y="168"/>
                  </a:lnTo>
                  <a:lnTo>
                    <a:pt x="456" y="159"/>
                  </a:lnTo>
                  <a:lnTo>
                    <a:pt x="453" y="147"/>
                  </a:lnTo>
                  <a:lnTo>
                    <a:pt x="447" y="138"/>
                  </a:lnTo>
                  <a:lnTo>
                    <a:pt x="444" y="127"/>
                  </a:lnTo>
                  <a:lnTo>
                    <a:pt x="440" y="119"/>
                  </a:lnTo>
                  <a:lnTo>
                    <a:pt x="434" y="110"/>
                  </a:lnTo>
                  <a:lnTo>
                    <a:pt x="425" y="99"/>
                  </a:lnTo>
                  <a:lnTo>
                    <a:pt x="419" y="93"/>
                  </a:lnTo>
                  <a:lnTo>
                    <a:pt x="410" y="84"/>
                  </a:lnTo>
                  <a:lnTo>
                    <a:pt x="404" y="75"/>
                  </a:lnTo>
                  <a:lnTo>
                    <a:pt x="395" y="66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8" y="46"/>
                  </a:lnTo>
                  <a:lnTo>
                    <a:pt x="360" y="40"/>
                  </a:lnTo>
                  <a:lnTo>
                    <a:pt x="352" y="35"/>
                  </a:lnTo>
                  <a:lnTo>
                    <a:pt x="340" y="32"/>
                  </a:lnTo>
                  <a:lnTo>
                    <a:pt x="331" y="26"/>
                  </a:lnTo>
                  <a:lnTo>
                    <a:pt x="319" y="23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6" y="12"/>
                  </a:lnTo>
                  <a:lnTo>
                    <a:pt x="276" y="12"/>
                  </a:lnTo>
                  <a:lnTo>
                    <a:pt x="264" y="9"/>
                  </a:lnTo>
                  <a:lnTo>
                    <a:pt x="252" y="9"/>
                  </a:lnTo>
                  <a:lnTo>
                    <a:pt x="240" y="9"/>
                  </a:lnTo>
                  <a:lnTo>
                    <a:pt x="228" y="9"/>
                  </a:lnTo>
                  <a:lnTo>
                    <a:pt x="216" y="9"/>
                  </a:lnTo>
                  <a:lnTo>
                    <a:pt x="204" y="12"/>
                  </a:lnTo>
                  <a:lnTo>
                    <a:pt x="194" y="12"/>
                  </a:lnTo>
                  <a:lnTo>
                    <a:pt x="185" y="15"/>
                  </a:lnTo>
                  <a:lnTo>
                    <a:pt x="173" y="18"/>
                  </a:lnTo>
                  <a:lnTo>
                    <a:pt x="161" y="23"/>
                  </a:lnTo>
                  <a:lnTo>
                    <a:pt x="152" y="26"/>
                  </a:lnTo>
                  <a:lnTo>
                    <a:pt x="140" y="32"/>
                  </a:lnTo>
                  <a:lnTo>
                    <a:pt x="131" y="35"/>
                  </a:lnTo>
                  <a:lnTo>
                    <a:pt x="120" y="40"/>
                  </a:lnTo>
                  <a:lnTo>
                    <a:pt x="112" y="46"/>
                  </a:lnTo>
                  <a:lnTo>
                    <a:pt x="103" y="55"/>
                  </a:lnTo>
                  <a:lnTo>
                    <a:pt x="94" y="60"/>
                  </a:lnTo>
                  <a:lnTo>
                    <a:pt x="85" y="66"/>
                  </a:lnTo>
                  <a:lnTo>
                    <a:pt x="79" y="75"/>
                  </a:lnTo>
                  <a:lnTo>
                    <a:pt x="70" y="84"/>
                  </a:lnTo>
                  <a:lnTo>
                    <a:pt x="61" y="93"/>
                  </a:lnTo>
                  <a:lnTo>
                    <a:pt x="55" y="99"/>
                  </a:lnTo>
                  <a:lnTo>
                    <a:pt x="49" y="110"/>
                  </a:lnTo>
                  <a:lnTo>
                    <a:pt x="43" y="119"/>
                  </a:lnTo>
                  <a:lnTo>
                    <a:pt x="38" y="127"/>
                  </a:lnTo>
                  <a:lnTo>
                    <a:pt x="32" y="138"/>
                  </a:lnTo>
                  <a:lnTo>
                    <a:pt x="29" y="147"/>
                  </a:lnTo>
                  <a:lnTo>
                    <a:pt x="24" y="159"/>
                  </a:lnTo>
                  <a:lnTo>
                    <a:pt x="21" y="168"/>
                  </a:lnTo>
                  <a:lnTo>
                    <a:pt x="18" y="179"/>
                  </a:lnTo>
                  <a:lnTo>
                    <a:pt x="15" y="191"/>
                  </a:lnTo>
                  <a:lnTo>
                    <a:pt x="12" y="203"/>
                  </a:lnTo>
                  <a:lnTo>
                    <a:pt x="12" y="214"/>
                  </a:lnTo>
                  <a:lnTo>
                    <a:pt x="9" y="225"/>
                  </a:lnTo>
                  <a:lnTo>
                    <a:pt x="9" y="237"/>
                  </a:lnTo>
                  <a:lnTo>
                    <a:pt x="0" y="237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3" name="Freeform 157">
              <a:extLst>
                <a:ext uri="{FF2B5EF4-FFF2-40B4-BE49-F238E27FC236}">
                  <a16:creationId xmlns:a16="http://schemas.microsoft.com/office/drawing/2014/main" id="{D29D561B-1CCC-4570-AFBB-BC1AF27B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802"/>
              <a:ext cx="481" cy="238"/>
            </a:xfrm>
            <a:custGeom>
              <a:avLst/>
              <a:gdLst>
                <a:gd name="T0" fmla="*/ 0 w 481"/>
                <a:gd name="T1" fmla="*/ 12 h 238"/>
                <a:gd name="T2" fmla="*/ 6 w 481"/>
                <a:gd name="T3" fmla="*/ 47 h 238"/>
                <a:gd name="T4" fmla="*/ 15 w 481"/>
                <a:gd name="T5" fmla="*/ 81 h 238"/>
                <a:gd name="T6" fmla="*/ 29 w 481"/>
                <a:gd name="T7" fmla="*/ 113 h 238"/>
                <a:gd name="T8" fmla="*/ 49 w 481"/>
                <a:gd name="T9" fmla="*/ 142 h 238"/>
                <a:gd name="T10" fmla="*/ 70 w 481"/>
                <a:gd name="T11" fmla="*/ 168 h 238"/>
                <a:gd name="T12" fmla="*/ 97 w 481"/>
                <a:gd name="T13" fmla="*/ 191 h 238"/>
                <a:gd name="T14" fmla="*/ 125 w 481"/>
                <a:gd name="T15" fmla="*/ 209 h 238"/>
                <a:gd name="T16" fmla="*/ 158 w 481"/>
                <a:gd name="T17" fmla="*/ 223 h 238"/>
                <a:gd name="T18" fmla="*/ 194 w 481"/>
                <a:gd name="T19" fmla="*/ 231 h 238"/>
                <a:gd name="T20" fmla="*/ 228 w 481"/>
                <a:gd name="T21" fmla="*/ 237 h 238"/>
                <a:gd name="T22" fmla="*/ 267 w 481"/>
                <a:gd name="T23" fmla="*/ 234 h 238"/>
                <a:gd name="T24" fmla="*/ 301 w 481"/>
                <a:gd name="T25" fmla="*/ 229 h 238"/>
                <a:gd name="T26" fmla="*/ 334 w 481"/>
                <a:gd name="T27" fmla="*/ 217 h 238"/>
                <a:gd name="T28" fmla="*/ 365 w 481"/>
                <a:gd name="T29" fmla="*/ 203 h 238"/>
                <a:gd name="T30" fmla="*/ 392 w 481"/>
                <a:gd name="T31" fmla="*/ 182 h 238"/>
                <a:gd name="T32" fmla="*/ 419 w 481"/>
                <a:gd name="T33" fmla="*/ 159 h 238"/>
                <a:gd name="T34" fmla="*/ 440 w 481"/>
                <a:gd name="T35" fmla="*/ 134 h 238"/>
                <a:gd name="T36" fmla="*/ 456 w 481"/>
                <a:gd name="T37" fmla="*/ 101 h 238"/>
                <a:gd name="T38" fmla="*/ 468 w 481"/>
                <a:gd name="T39" fmla="*/ 69 h 238"/>
                <a:gd name="T40" fmla="*/ 477 w 481"/>
                <a:gd name="T41" fmla="*/ 35 h 238"/>
                <a:gd name="T42" fmla="*/ 480 w 481"/>
                <a:gd name="T43" fmla="*/ 0 h 238"/>
                <a:gd name="T44" fmla="*/ 471 w 481"/>
                <a:gd name="T45" fmla="*/ 23 h 238"/>
                <a:gd name="T46" fmla="*/ 462 w 481"/>
                <a:gd name="T47" fmla="*/ 56 h 238"/>
                <a:gd name="T48" fmla="*/ 453 w 481"/>
                <a:gd name="T49" fmla="*/ 87 h 238"/>
                <a:gd name="T50" fmla="*/ 440 w 481"/>
                <a:gd name="T51" fmla="*/ 119 h 238"/>
                <a:gd name="T52" fmla="*/ 419 w 481"/>
                <a:gd name="T53" fmla="*/ 144 h 238"/>
                <a:gd name="T54" fmla="*/ 395 w 481"/>
                <a:gd name="T55" fmla="*/ 168 h 238"/>
                <a:gd name="T56" fmla="*/ 368 w 481"/>
                <a:gd name="T57" fmla="*/ 188 h 238"/>
                <a:gd name="T58" fmla="*/ 340 w 481"/>
                <a:gd name="T59" fmla="*/ 206 h 238"/>
                <a:gd name="T60" fmla="*/ 310 w 481"/>
                <a:gd name="T61" fmla="*/ 217 h 238"/>
                <a:gd name="T62" fmla="*/ 276 w 481"/>
                <a:gd name="T63" fmla="*/ 226 h 238"/>
                <a:gd name="T64" fmla="*/ 240 w 481"/>
                <a:gd name="T65" fmla="*/ 229 h 238"/>
                <a:gd name="T66" fmla="*/ 204 w 481"/>
                <a:gd name="T67" fmla="*/ 226 h 238"/>
                <a:gd name="T68" fmla="*/ 173 w 481"/>
                <a:gd name="T69" fmla="*/ 217 h 238"/>
                <a:gd name="T70" fmla="*/ 140 w 481"/>
                <a:gd name="T71" fmla="*/ 206 h 238"/>
                <a:gd name="T72" fmla="*/ 112 w 481"/>
                <a:gd name="T73" fmla="*/ 188 h 238"/>
                <a:gd name="T74" fmla="*/ 85 w 481"/>
                <a:gd name="T75" fmla="*/ 168 h 238"/>
                <a:gd name="T76" fmla="*/ 61 w 481"/>
                <a:gd name="T77" fmla="*/ 144 h 238"/>
                <a:gd name="T78" fmla="*/ 43 w 481"/>
                <a:gd name="T79" fmla="*/ 119 h 238"/>
                <a:gd name="T80" fmla="*/ 29 w 481"/>
                <a:gd name="T81" fmla="*/ 87 h 238"/>
                <a:gd name="T82" fmla="*/ 18 w 481"/>
                <a:gd name="T83" fmla="*/ 56 h 238"/>
                <a:gd name="T84" fmla="*/ 12 w 481"/>
                <a:gd name="T85" fmla="*/ 23 h 238"/>
                <a:gd name="T86" fmla="*/ 0 w 481"/>
                <a:gd name="T87" fmla="*/ 0 h 2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1"/>
                <a:gd name="T133" fmla="*/ 0 h 238"/>
                <a:gd name="T134" fmla="*/ 481 w 481"/>
                <a:gd name="T135" fmla="*/ 238 h 2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1" h="238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8"/>
                  </a:lnTo>
                  <a:lnTo>
                    <a:pt x="12" y="69"/>
                  </a:lnTo>
                  <a:lnTo>
                    <a:pt x="15" y="81"/>
                  </a:lnTo>
                  <a:lnTo>
                    <a:pt x="21" y="93"/>
                  </a:lnTo>
                  <a:lnTo>
                    <a:pt x="24" y="101"/>
                  </a:lnTo>
                  <a:lnTo>
                    <a:pt x="29" y="113"/>
                  </a:lnTo>
                  <a:lnTo>
                    <a:pt x="35" y="122"/>
                  </a:lnTo>
                  <a:lnTo>
                    <a:pt x="40" y="134"/>
                  </a:lnTo>
                  <a:lnTo>
                    <a:pt x="49" y="142"/>
                  </a:lnTo>
                  <a:lnTo>
                    <a:pt x="55" y="150"/>
                  </a:lnTo>
                  <a:lnTo>
                    <a:pt x="64" y="159"/>
                  </a:lnTo>
                  <a:lnTo>
                    <a:pt x="70" y="168"/>
                  </a:lnTo>
                  <a:lnTo>
                    <a:pt x="79" y="174"/>
                  </a:lnTo>
                  <a:lnTo>
                    <a:pt x="88" y="182"/>
                  </a:lnTo>
                  <a:lnTo>
                    <a:pt x="97" y="191"/>
                  </a:lnTo>
                  <a:lnTo>
                    <a:pt x="106" y="197"/>
                  </a:lnTo>
                  <a:lnTo>
                    <a:pt x="117" y="203"/>
                  </a:lnTo>
                  <a:lnTo>
                    <a:pt x="125" y="209"/>
                  </a:lnTo>
                  <a:lnTo>
                    <a:pt x="137" y="215"/>
                  </a:lnTo>
                  <a:lnTo>
                    <a:pt x="146" y="217"/>
                  </a:lnTo>
                  <a:lnTo>
                    <a:pt x="158" y="223"/>
                  </a:lnTo>
                  <a:lnTo>
                    <a:pt x="170" y="226"/>
                  </a:lnTo>
                  <a:lnTo>
                    <a:pt x="182" y="229"/>
                  </a:lnTo>
                  <a:lnTo>
                    <a:pt x="194" y="231"/>
                  </a:lnTo>
                  <a:lnTo>
                    <a:pt x="204" y="234"/>
                  </a:lnTo>
                  <a:lnTo>
                    <a:pt x="216" y="234"/>
                  </a:lnTo>
                  <a:lnTo>
                    <a:pt x="228" y="237"/>
                  </a:lnTo>
                  <a:lnTo>
                    <a:pt x="240" y="237"/>
                  </a:lnTo>
                  <a:lnTo>
                    <a:pt x="252" y="237"/>
                  </a:lnTo>
                  <a:lnTo>
                    <a:pt x="267" y="234"/>
                  </a:lnTo>
                  <a:lnTo>
                    <a:pt x="279" y="234"/>
                  </a:lnTo>
                  <a:lnTo>
                    <a:pt x="289" y="231"/>
                  </a:lnTo>
                  <a:lnTo>
                    <a:pt x="301" y="229"/>
                  </a:lnTo>
                  <a:lnTo>
                    <a:pt x="313" y="226"/>
                  </a:lnTo>
                  <a:lnTo>
                    <a:pt x="322" y="223"/>
                  </a:lnTo>
                  <a:lnTo>
                    <a:pt x="334" y="217"/>
                  </a:lnTo>
                  <a:lnTo>
                    <a:pt x="346" y="215"/>
                  </a:lnTo>
                  <a:lnTo>
                    <a:pt x="355" y="209"/>
                  </a:lnTo>
                  <a:lnTo>
                    <a:pt x="365" y="203"/>
                  </a:lnTo>
                  <a:lnTo>
                    <a:pt x="374" y="197"/>
                  </a:lnTo>
                  <a:lnTo>
                    <a:pt x="383" y="191"/>
                  </a:lnTo>
                  <a:lnTo>
                    <a:pt x="392" y="182"/>
                  </a:lnTo>
                  <a:lnTo>
                    <a:pt x="401" y="174"/>
                  </a:lnTo>
                  <a:lnTo>
                    <a:pt x="410" y="168"/>
                  </a:lnTo>
                  <a:lnTo>
                    <a:pt x="419" y="159"/>
                  </a:lnTo>
                  <a:lnTo>
                    <a:pt x="425" y="150"/>
                  </a:lnTo>
                  <a:lnTo>
                    <a:pt x="434" y="142"/>
                  </a:lnTo>
                  <a:lnTo>
                    <a:pt x="440" y="134"/>
                  </a:lnTo>
                  <a:lnTo>
                    <a:pt x="444" y="122"/>
                  </a:lnTo>
                  <a:lnTo>
                    <a:pt x="450" y="113"/>
                  </a:lnTo>
                  <a:lnTo>
                    <a:pt x="456" y="101"/>
                  </a:lnTo>
                  <a:lnTo>
                    <a:pt x="462" y="93"/>
                  </a:lnTo>
                  <a:lnTo>
                    <a:pt x="465" y="81"/>
                  </a:lnTo>
                  <a:lnTo>
                    <a:pt x="468" y="69"/>
                  </a:lnTo>
                  <a:lnTo>
                    <a:pt x="471" y="58"/>
                  </a:lnTo>
                  <a:lnTo>
                    <a:pt x="474" y="47"/>
                  </a:lnTo>
                  <a:lnTo>
                    <a:pt x="477" y="35"/>
                  </a:lnTo>
                  <a:lnTo>
                    <a:pt x="480" y="23"/>
                  </a:lnTo>
                  <a:lnTo>
                    <a:pt x="480" y="12"/>
                  </a:lnTo>
                  <a:lnTo>
                    <a:pt x="480" y="0"/>
                  </a:lnTo>
                  <a:lnTo>
                    <a:pt x="471" y="0"/>
                  </a:lnTo>
                  <a:lnTo>
                    <a:pt x="471" y="12"/>
                  </a:lnTo>
                  <a:lnTo>
                    <a:pt x="471" y="23"/>
                  </a:lnTo>
                  <a:lnTo>
                    <a:pt x="468" y="35"/>
                  </a:lnTo>
                  <a:lnTo>
                    <a:pt x="465" y="47"/>
                  </a:lnTo>
                  <a:lnTo>
                    <a:pt x="462" y="56"/>
                  </a:lnTo>
                  <a:lnTo>
                    <a:pt x="459" y="66"/>
                  </a:lnTo>
                  <a:lnTo>
                    <a:pt x="456" y="78"/>
                  </a:lnTo>
                  <a:lnTo>
                    <a:pt x="453" y="87"/>
                  </a:lnTo>
                  <a:lnTo>
                    <a:pt x="447" y="99"/>
                  </a:lnTo>
                  <a:lnTo>
                    <a:pt x="444" y="107"/>
                  </a:lnTo>
                  <a:lnTo>
                    <a:pt x="440" y="119"/>
                  </a:lnTo>
                  <a:lnTo>
                    <a:pt x="434" y="128"/>
                  </a:lnTo>
                  <a:lnTo>
                    <a:pt x="425" y="137"/>
                  </a:lnTo>
                  <a:lnTo>
                    <a:pt x="419" y="144"/>
                  </a:lnTo>
                  <a:lnTo>
                    <a:pt x="410" y="153"/>
                  </a:lnTo>
                  <a:lnTo>
                    <a:pt x="404" y="162"/>
                  </a:lnTo>
                  <a:lnTo>
                    <a:pt x="395" y="168"/>
                  </a:lnTo>
                  <a:lnTo>
                    <a:pt x="386" y="177"/>
                  </a:lnTo>
                  <a:lnTo>
                    <a:pt x="377" y="182"/>
                  </a:lnTo>
                  <a:lnTo>
                    <a:pt x="368" y="188"/>
                  </a:lnTo>
                  <a:lnTo>
                    <a:pt x="360" y="194"/>
                  </a:lnTo>
                  <a:lnTo>
                    <a:pt x="352" y="200"/>
                  </a:lnTo>
                  <a:lnTo>
                    <a:pt x="340" y="206"/>
                  </a:lnTo>
                  <a:lnTo>
                    <a:pt x="331" y="209"/>
                  </a:lnTo>
                  <a:lnTo>
                    <a:pt x="319" y="215"/>
                  </a:lnTo>
                  <a:lnTo>
                    <a:pt x="310" y="217"/>
                  </a:lnTo>
                  <a:lnTo>
                    <a:pt x="298" y="220"/>
                  </a:lnTo>
                  <a:lnTo>
                    <a:pt x="286" y="223"/>
                  </a:lnTo>
                  <a:lnTo>
                    <a:pt x="276" y="226"/>
                  </a:lnTo>
                  <a:lnTo>
                    <a:pt x="264" y="226"/>
                  </a:lnTo>
                  <a:lnTo>
                    <a:pt x="252" y="229"/>
                  </a:lnTo>
                  <a:lnTo>
                    <a:pt x="240" y="229"/>
                  </a:lnTo>
                  <a:lnTo>
                    <a:pt x="228" y="229"/>
                  </a:lnTo>
                  <a:lnTo>
                    <a:pt x="216" y="226"/>
                  </a:lnTo>
                  <a:lnTo>
                    <a:pt x="204" y="226"/>
                  </a:lnTo>
                  <a:lnTo>
                    <a:pt x="194" y="223"/>
                  </a:lnTo>
                  <a:lnTo>
                    <a:pt x="185" y="220"/>
                  </a:lnTo>
                  <a:lnTo>
                    <a:pt x="173" y="217"/>
                  </a:lnTo>
                  <a:lnTo>
                    <a:pt x="161" y="215"/>
                  </a:lnTo>
                  <a:lnTo>
                    <a:pt x="152" y="209"/>
                  </a:lnTo>
                  <a:lnTo>
                    <a:pt x="140" y="206"/>
                  </a:lnTo>
                  <a:lnTo>
                    <a:pt x="131" y="200"/>
                  </a:lnTo>
                  <a:lnTo>
                    <a:pt x="120" y="194"/>
                  </a:lnTo>
                  <a:lnTo>
                    <a:pt x="112" y="188"/>
                  </a:lnTo>
                  <a:lnTo>
                    <a:pt x="103" y="182"/>
                  </a:lnTo>
                  <a:lnTo>
                    <a:pt x="94" y="177"/>
                  </a:lnTo>
                  <a:lnTo>
                    <a:pt x="85" y="168"/>
                  </a:lnTo>
                  <a:lnTo>
                    <a:pt x="79" y="162"/>
                  </a:lnTo>
                  <a:lnTo>
                    <a:pt x="70" y="153"/>
                  </a:lnTo>
                  <a:lnTo>
                    <a:pt x="61" y="144"/>
                  </a:lnTo>
                  <a:lnTo>
                    <a:pt x="55" y="137"/>
                  </a:lnTo>
                  <a:lnTo>
                    <a:pt x="49" y="128"/>
                  </a:lnTo>
                  <a:lnTo>
                    <a:pt x="43" y="119"/>
                  </a:lnTo>
                  <a:lnTo>
                    <a:pt x="38" y="107"/>
                  </a:lnTo>
                  <a:lnTo>
                    <a:pt x="32" y="99"/>
                  </a:lnTo>
                  <a:lnTo>
                    <a:pt x="29" y="87"/>
                  </a:lnTo>
                  <a:lnTo>
                    <a:pt x="24" y="78"/>
                  </a:lnTo>
                  <a:lnTo>
                    <a:pt x="21" y="66"/>
                  </a:lnTo>
                  <a:lnTo>
                    <a:pt x="18" y="56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4" name="Freeform 158">
              <a:extLst>
                <a:ext uri="{FF2B5EF4-FFF2-40B4-BE49-F238E27FC236}">
                  <a16:creationId xmlns:a16="http://schemas.microsoft.com/office/drawing/2014/main" id="{07BB7D1E-6C54-4C77-B95E-7E6CE9A51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568"/>
              <a:ext cx="463" cy="229"/>
            </a:xfrm>
            <a:custGeom>
              <a:avLst/>
              <a:gdLst>
                <a:gd name="T0" fmla="*/ 0 w 463"/>
                <a:gd name="T1" fmla="*/ 216 h 229"/>
                <a:gd name="T2" fmla="*/ 3 w 463"/>
                <a:gd name="T3" fmla="*/ 194 h 229"/>
                <a:gd name="T4" fmla="*/ 9 w 463"/>
                <a:gd name="T5" fmla="*/ 171 h 229"/>
                <a:gd name="T6" fmla="*/ 15 w 463"/>
                <a:gd name="T7" fmla="*/ 150 h 229"/>
                <a:gd name="T8" fmla="*/ 23 w 463"/>
                <a:gd name="T9" fmla="*/ 130 h 229"/>
                <a:gd name="T10" fmla="*/ 35 w 463"/>
                <a:gd name="T11" fmla="*/ 110 h 229"/>
                <a:gd name="T12" fmla="*/ 46 w 463"/>
                <a:gd name="T13" fmla="*/ 90 h 229"/>
                <a:gd name="T14" fmla="*/ 61 w 463"/>
                <a:gd name="T15" fmla="*/ 75 h 229"/>
                <a:gd name="T16" fmla="*/ 76 w 463"/>
                <a:gd name="T17" fmla="*/ 57 h 229"/>
                <a:gd name="T18" fmla="*/ 94 w 463"/>
                <a:gd name="T19" fmla="*/ 46 h 229"/>
                <a:gd name="T20" fmla="*/ 111 w 463"/>
                <a:gd name="T21" fmla="*/ 31 h 229"/>
                <a:gd name="T22" fmla="*/ 131 w 463"/>
                <a:gd name="T23" fmla="*/ 23 h 229"/>
                <a:gd name="T24" fmla="*/ 152 w 463"/>
                <a:gd name="T25" fmla="*/ 15 h 229"/>
                <a:gd name="T26" fmla="*/ 176 w 463"/>
                <a:gd name="T27" fmla="*/ 6 h 229"/>
                <a:gd name="T28" fmla="*/ 195 w 463"/>
                <a:gd name="T29" fmla="*/ 3 h 229"/>
                <a:gd name="T30" fmla="*/ 219 w 463"/>
                <a:gd name="T31" fmla="*/ 0 h 229"/>
                <a:gd name="T32" fmla="*/ 243 w 463"/>
                <a:gd name="T33" fmla="*/ 0 h 229"/>
                <a:gd name="T34" fmla="*/ 267 w 463"/>
                <a:gd name="T35" fmla="*/ 3 h 229"/>
                <a:gd name="T36" fmla="*/ 289 w 463"/>
                <a:gd name="T37" fmla="*/ 6 h 229"/>
                <a:gd name="T38" fmla="*/ 310 w 463"/>
                <a:gd name="T39" fmla="*/ 15 h 229"/>
                <a:gd name="T40" fmla="*/ 331 w 463"/>
                <a:gd name="T41" fmla="*/ 23 h 229"/>
                <a:gd name="T42" fmla="*/ 351 w 463"/>
                <a:gd name="T43" fmla="*/ 31 h 229"/>
                <a:gd name="T44" fmla="*/ 368 w 463"/>
                <a:gd name="T45" fmla="*/ 46 h 229"/>
                <a:gd name="T46" fmla="*/ 386 w 463"/>
                <a:gd name="T47" fmla="*/ 57 h 229"/>
                <a:gd name="T48" fmla="*/ 401 w 463"/>
                <a:gd name="T49" fmla="*/ 75 h 229"/>
                <a:gd name="T50" fmla="*/ 416 w 463"/>
                <a:gd name="T51" fmla="*/ 90 h 229"/>
                <a:gd name="T52" fmla="*/ 430 w 463"/>
                <a:gd name="T53" fmla="*/ 110 h 229"/>
                <a:gd name="T54" fmla="*/ 438 w 463"/>
                <a:gd name="T55" fmla="*/ 130 h 229"/>
                <a:gd name="T56" fmla="*/ 447 w 463"/>
                <a:gd name="T57" fmla="*/ 150 h 229"/>
                <a:gd name="T58" fmla="*/ 453 w 463"/>
                <a:gd name="T59" fmla="*/ 171 h 229"/>
                <a:gd name="T60" fmla="*/ 459 w 463"/>
                <a:gd name="T61" fmla="*/ 194 h 229"/>
                <a:gd name="T62" fmla="*/ 462 w 463"/>
                <a:gd name="T63" fmla="*/ 216 h 229"/>
                <a:gd name="T64" fmla="*/ 453 w 463"/>
                <a:gd name="T65" fmla="*/ 228 h 229"/>
                <a:gd name="T66" fmla="*/ 447 w 463"/>
                <a:gd name="T67" fmla="*/ 185 h 229"/>
                <a:gd name="T68" fmla="*/ 435 w 463"/>
                <a:gd name="T69" fmla="*/ 141 h 229"/>
                <a:gd name="T70" fmla="*/ 416 w 463"/>
                <a:gd name="T71" fmla="*/ 104 h 229"/>
                <a:gd name="T72" fmla="*/ 389 w 463"/>
                <a:gd name="T73" fmla="*/ 72 h 229"/>
                <a:gd name="T74" fmla="*/ 353 w 463"/>
                <a:gd name="T75" fmla="*/ 46 h 229"/>
                <a:gd name="T76" fmla="*/ 319 w 463"/>
                <a:gd name="T77" fmla="*/ 26 h 229"/>
                <a:gd name="T78" fmla="*/ 274 w 463"/>
                <a:gd name="T79" fmla="*/ 15 h 229"/>
                <a:gd name="T80" fmla="*/ 231 w 463"/>
                <a:gd name="T81" fmla="*/ 9 h 229"/>
                <a:gd name="T82" fmla="*/ 187 w 463"/>
                <a:gd name="T83" fmla="*/ 15 h 229"/>
                <a:gd name="T84" fmla="*/ 146 w 463"/>
                <a:gd name="T85" fmla="*/ 26 h 229"/>
                <a:gd name="T86" fmla="*/ 108 w 463"/>
                <a:gd name="T87" fmla="*/ 46 h 229"/>
                <a:gd name="T88" fmla="*/ 76 w 463"/>
                <a:gd name="T89" fmla="*/ 72 h 229"/>
                <a:gd name="T90" fmla="*/ 46 w 463"/>
                <a:gd name="T91" fmla="*/ 104 h 229"/>
                <a:gd name="T92" fmla="*/ 26 w 463"/>
                <a:gd name="T93" fmla="*/ 141 h 229"/>
                <a:gd name="T94" fmla="*/ 15 w 463"/>
                <a:gd name="T95" fmla="*/ 185 h 229"/>
                <a:gd name="T96" fmla="*/ 9 w 463"/>
                <a:gd name="T97" fmla="*/ 228 h 22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3"/>
                <a:gd name="T148" fmla="*/ 0 h 229"/>
                <a:gd name="T149" fmla="*/ 463 w 463"/>
                <a:gd name="T150" fmla="*/ 229 h 22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3" h="229">
                  <a:moveTo>
                    <a:pt x="0" y="228"/>
                  </a:moveTo>
                  <a:lnTo>
                    <a:pt x="0" y="216"/>
                  </a:lnTo>
                  <a:lnTo>
                    <a:pt x="3" y="205"/>
                  </a:lnTo>
                  <a:lnTo>
                    <a:pt x="3" y="194"/>
                  </a:lnTo>
                  <a:lnTo>
                    <a:pt x="6" y="182"/>
                  </a:lnTo>
                  <a:lnTo>
                    <a:pt x="9" y="171"/>
                  </a:lnTo>
                  <a:lnTo>
                    <a:pt x="12" y="159"/>
                  </a:lnTo>
                  <a:lnTo>
                    <a:pt x="15" y="150"/>
                  </a:lnTo>
                  <a:lnTo>
                    <a:pt x="20" y="138"/>
                  </a:lnTo>
                  <a:lnTo>
                    <a:pt x="23" y="130"/>
                  </a:lnTo>
                  <a:lnTo>
                    <a:pt x="29" y="118"/>
                  </a:lnTo>
                  <a:lnTo>
                    <a:pt x="35" y="110"/>
                  </a:lnTo>
                  <a:lnTo>
                    <a:pt x="40" y="101"/>
                  </a:lnTo>
                  <a:lnTo>
                    <a:pt x="46" y="90"/>
                  </a:lnTo>
                  <a:lnTo>
                    <a:pt x="52" y="84"/>
                  </a:lnTo>
                  <a:lnTo>
                    <a:pt x="61" y="75"/>
                  </a:lnTo>
                  <a:lnTo>
                    <a:pt x="70" y="66"/>
                  </a:lnTo>
                  <a:lnTo>
                    <a:pt x="76" y="57"/>
                  </a:lnTo>
                  <a:lnTo>
                    <a:pt x="85" y="52"/>
                  </a:lnTo>
                  <a:lnTo>
                    <a:pt x="94" y="46"/>
                  </a:lnTo>
                  <a:lnTo>
                    <a:pt x="103" y="37"/>
                  </a:lnTo>
                  <a:lnTo>
                    <a:pt x="111" y="31"/>
                  </a:lnTo>
                  <a:lnTo>
                    <a:pt x="122" y="26"/>
                  </a:lnTo>
                  <a:lnTo>
                    <a:pt x="131" y="23"/>
                  </a:lnTo>
                  <a:lnTo>
                    <a:pt x="143" y="18"/>
                  </a:lnTo>
                  <a:lnTo>
                    <a:pt x="152" y="15"/>
                  </a:lnTo>
                  <a:lnTo>
                    <a:pt x="164" y="9"/>
                  </a:lnTo>
                  <a:lnTo>
                    <a:pt x="176" y="6"/>
                  </a:lnTo>
                  <a:lnTo>
                    <a:pt x="185" y="3"/>
                  </a:lnTo>
                  <a:lnTo>
                    <a:pt x="195" y="3"/>
                  </a:lnTo>
                  <a:lnTo>
                    <a:pt x="207" y="0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43" y="0"/>
                  </a:lnTo>
                  <a:lnTo>
                    <a:pt x="255" y="0"/>
                  </a:lnTo>
                  <a:lnTo>
                    <a:pt x="267" y="3"/>
                  </a:lnTo>
                  <a:lnTo>
                    <a:pt x="277" y="3"/>
                  </a:lnTo>
                  <a:lnTo>
                    <a:pt x="289" y="6"/>
                  </a:lnTo>
                  <a:lnTo>
                    <a:pt x="301" y="9"/>
                  </a:lnTo>
                  <a:lnTo>
                    <a:pt x="310" y="15"/>
                  </a:lnTo>
                  <a:lnTo>
                    <a:pt x="322" y="18"/>
                  </a:lnTo>
                  <a:lnTo>
                    <a:pt x="331" y="23"/>
                  </a:lnTo>
                  <a:lnTo>
                    <a:pt x="343" y="26"/>
                  </a:lnTo>
                  <a:lnTo>
                    <a:pt x="351" y="31"/>
                  </a:lnTo>
                  <a:lnTo>
                    <a:pt x="359" y="37"/>
                  </a:lnTo>
                  <a:lnTo>
                    <a:pt x="368" y="46"/>
                  </a:lnTo>
                  <a:lnTo>
                    <a:pt x="377" y="52"/>
                  </a:lnTo>
                  <a:lnTo>
                    <a:pt x="386" y="57"/>
                  </a:lnTo>
                  <a:lnTo>
                    <a:pt x="395" y="66"/>
                  </a:lnTo>
                  <a:lnTo>
                    <a:pt x="401" y="75"/>
                  </a:lnTo>
                  <a:lnTo>
                    <a:pt x="410" y="84"/>
                  </a:lnTo>
                  <a:lnTo>
                    <a:pt x="416" y="90"/>
                  </a:lnTo>
                  <a:lnTo>
                    <a:pt x="424" y="101"/>
                  </a:lnTo>
                  <a:lnTo>
                    <a:pt x="430" y="110"/>
                  </a:lnTo>
                  <a:lnTo>
                    <a:pt x="435" y="118"/>
                  </a:lnTo>
                  <a:lnTo>
                    <a:pt x="438" y="130"/>
                  </a:lnTo>
                  <a:lnTo>
                    <a:pt x="444" y="138"/>
                  </a:lnTo>
                  <a:lnTo>
                    <a:pt x="447" y="150"/>
                  </a:lnTo>
                  <a:lnTo>
                    <a:pt x="450" y="159"/>
                  </a:lnTo>
                  <a:lnTo>
                    <a:pt x="453" y="171"/>
                  </a:lnTo>
                  <a:lnTo>
                    <a:pt x="456" y="182"/>
                  </a:lnTo>
                  <a:lnTo>
                    <a:pt x="459" y="194"/>
                  </a:lnTo>
                  <a:lnTo>
                    <a:pt x="462" y="205"/>
                  </a:lnTo>
                  <a:lnTo>
                    <a:pt x="462" y="216"/>
                  </a:lnTo>
                  <a:lnTo>
                    <a:pt x="462" y="228"/>
                  </a:lnTo>
                  <a:lnTo>
                    <a:pt x="453" y="228"/>
                  </a:lnTo>
                  <a:lnTo>
                    <a:pt x="453" y="205"/>
                  </a:lnTo>
                  <a:lnTo>
                    <a:pt x="447" y="185"/>
                  </a:lnTo>
                  <a:lnTo>
                    <a:pt x="444" y="162"/>
                  </a:lnTo>
                  <a:lnTo>
                    <a:pt x="435" y="141"/>
                  </a:lnTo>
                  <a:lnTo>
                    <a:pt x="427" y="124"/>
                  </a:lnTo>
                  <a:lnTo>
                    <a:pt x="416" y="104"/>
                  </a:lnTo>
                  <a:lnTo>
                    <a:pt x="404" y="90"/>
                  </a:lnTo>
                  <a:lnTo>
                    <a:pt x="389" y="72"/>
                  </a:lnTo>
                  <a:lnTo>
                    <a:pt x="371" y="57"/>
                  </a:lnTo>
                  <a:lnTo>
                    <a:pt x="353" y="46"/>
                  </a:lnTo>
                  <a:lnTo>
                    <a:pt x="337" y="34"/>
                  </a:lnTo>
                  <a:lnTo>
                    <a:pt x="319" y="26"/>
                  </a:lnTo>
                  <a:lnTo>
                    <a:pt x="298" y="18"/>
                  </a:lnTo>
                  <a:lnTo>
                    <a:pt x="274" y="15"/>
                  </a:lnTo>
                  <a:lnTo>
                    <a:pt x="255" y="9"/>
                  </a:lnTo>
                  <a:lnTo>
                    <a:pt x="231" y="9"/>
                  </a:lnTo>
                  <a:lnTo>
                    <a:pt x="207" y="9"/>
                  </a:lnTo>
                  <a:lnTo>
                    <a:pt x="187" y="15"/>
                  </a:lnTo>
                  <a:lnTo>
                    <a:pt x="167" y="18"/>
                  </a:lnTo>
                  <a:lnTo>
                    <a:pt x="146" y="26"/>
                  </a:lnTo>
                  <a:lnTo>
                    <a:pt x="125" y="34"/>
                  </a:lnTo>
                  <a:lnTo>
                    <a:pt x="108" y="46"/>
                  </a:lnTo>
                  <a:lnTo>
                    <a:pt x="91" y="57"/>
                  </a:lnTo>
                  <a:lnTo>
                    <a:pt x="76" y="72"/>
                  </a:lnTo>
                  <a:lnTo>
                    <a:pt x="61" y="90"/>
                  </a:lnTo>
                  <a:lnTo>
                    <a:pt x="46" y="104"/>
                  </a:lnTo>
                  <a:lnTo>
                    <a:pt x="38" y="124"/>
                  </a:lnTo>
                  <a:lnTo>
                    <a:pt x="26" y="141"/>
                  </a:lnTo>
                  <a:lnTo>
                    <a:pt x="20" y="162"/>
                  </a:lnTo>
                  <a:lnTo>
                    <a:pt x="15" y="185"/>
                  </a:lnTo>
                  <a:lnTo>
                    <a:pt x="12" y="205"/>
                  </a:lnTo>
                  <a:lnTo>
                    <a:pt x="9" y="228"/>
                  </a:lnTo>
                  <a:lnTo>
                    <a:pt x="0" y="228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5" name="Freeform 159">
              <a:extLst>
                <a:ext uri="{FF2B5EF4-FFF2-40B4-BE49-F238E27FC236}">
                  <a16:creationId xmlns:a16="http://schemas.microsoft.com/office/drawing/2014/main" id="{5CC69293-19DB-4E7D-A96A-220A5EFDF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802"/>
              <a:ext cx="463" cy="230"/>
            </a:xfrm>
            <a:custGeom>
              <a:avLst/>
              <a:gdLst>
                <a:gd name="T0" fmla="*/ 0 w 463"/>
                <a:gd name="T1" fmla="*/ 0 h 230"/>
                <a:gd name="T2" fmla="*/ 3 w 463"/>
                <a:gd name="T3" fmla="*/ 23 h 230"/>
                <a:gd name="T4" fmla="*/ 6 w 463"/>
                <a:gd name="T5" fmla="*/ 47 h 230"/>
                <a:gd name="T6" fmla="*/ 12 w 463"/>
                <a:gd name="T7" fmla="*/ 66 h 230"/>
                <a:gd name="T8" fmla="*/ 20 w 463"/>
                <a:gd name="T9" fmla="*/ 87 h 230"/>
                <a:gd name="T10" fmla="*/ 29 w 463"/>
                <a:gd name="T11" fmla="*/ 107 h 230"/>
                <a:gd name="T12" fmla="*/ 40 w 463"/>
                <a:gd name="T13" fmla="*/ 128 h 230"/>
                <a:gd name="T14" fmla="*/ 52 w 463"/>
                <a:gd name="T15" fmla="*/ 144 h 230"/>
                <a:gd name="T16" fmla="*/ 70 w 463"/>
                <a:gd name="T17" fmla="*/ 162 h 230"/>
                <a:gd name="T18" fmla="*/ 85 w 463"/>
                <a:gd name="T19" fmla="*/ 176 h 230"/>
                <a:gd name="T20" fmla="*/ 103 w 463"/>
                <a:gd name="T21" fmla="*/ 188 h 230"/>
                <a:gd name="T22" fmla="*/ 122 w 463"/>
                <a:gd name="T23" fmla="*/ 200 h 230"/>
                <a:gd name="T24" fmla="*/ 143 w 463"/>
                <a:gd name="T25" fmla="*/ 209 h 230"/>
                <a:gd name="T26" fmla="*/ 164 w 463"/>
                <a:gd name="T27" fmla="*/ 217 h 230"/>
                <a:gd name="T28" fmla="*/ 185 w 463"/>
                <a:gd name="T29" fmla="*/ 223 h 230"/>
                <a:gd name="T30" fmla="*/ 207 w 463"/>
                <a:gd name="T31" fmla="*/ 226 h 230"/>
                <a:gd name="T32" fmla="*/ 231 w 463"/>
                <a:gd name="T33" fmla="*/ 229 h 230"/>
                <a:gd name="T34" fmla="*/ 255 w 463"/>
                <a:gd name="T35" fmla="*/ 226 h 230"/>
                <a:gd name="T36" fmla="*/ 277 w 463"/>
                <a:gd name="T37" fmla="*/ 223 h 230"/>
                <a:gd name="T38" fmla="*/ 301 w 463"/>
                <a:gd name="T39" fmla="*/ 217 h 230"/>
                <a:gd name="T40" fmla="*/ 322 w 463"/>
                <a:gd name="T41" fmla="*/ 209 h 230"/>
                <a:gd name="T42" fmla="*/ 343 w 463"/>
                <a:gd name="T43" fmla="*/ 200 h 230"/>
                <a:gd name="T44" fmla="*/ 359 w 463"/>
                <a:gd name="T45" fmla="*/ 188 h 230"/>
                <a:gd name="T46" fmla="*/ 377 w 463"/>
                <a:gd name="T47" fmla="*/ 176 h 230"/>
                <a:gd name="T48" fmla="*/ 395 w 463"/>
                <a:gd name="T49" fmla="*/ 162 h 230"/>
                <a:gd name="T50" fmla="*/ 410 w 463"/>
                <a:gd name="T51" fmla="*/ 144 h 230"/>
                <a:gd name="T52" fmla="*/ 424 w 463"/>
                <a:gd name="T53" fmla="*/ 128 h 230"/>
                <a:gd name="T54" fmla="*/ 435 w 463"/>
                <a:gd name="T55" fmla="*/ 107 h 230"/>
                <a:gd name="T56" fmla="*/ 444 w 463"/>
                <a:gd name="T57" fmla="*/ 87 h 230"/>
                <a:gd name="T58" fmla="*/ 450 w 463"/>
                <a:gd name="T59" fmla="*/ 66 h 230"/>
                <a:gd name="T60" fmla="*/ 456 w 463"/>
                <a:gd name="T61" fmla="*/ 47 h 230"/>
                <a:gd name="T62" fmla="*/ 462 w 463"/>
                <a:gd name="T63" fmla="*/ 23 h 230"/>
                <a:gd name="T64" fmla="*/ 462 w 463"/>
                <a:gd name="T65" fmla="*/ 0 h 230"/>
                <a:gd name="T66" fmla="*/ 453 w 463"/>
                <a:gd name="T67" fmla="*/ 23 h 230"/>
                <a:gd name="T68" fmla="*/ 444 w 463"/>
                <a:gd name="T69" fmla="*/ 63 h 230"/>
                <a:gd name="T70" fmla="*/ 427 w 463"/>
                <a:gd name="T71" fmla="*/ 104 h 230"/>
                <a:gd name="T72" fmla="*/ 404 w 463"/>
                <a:gd name="T73" fmla="*/ 139 h 230"/>
                <a:gd name="T74" fmla="*/ 371 w 463"/>
                <a:gd name="T75" fmla="*/ 168 h 230"/>
                <a:gd name="T76" fmla="*/ 337 w 463"/>
                <a:gd name="T77" fmla="*/ 191 h 230"/>
                <a:gd name="T78" fmla="*/ 298 w 463"/>
                <a:gd name="T79" fmla="*/ 209 h 230"/>
                <a:gd name="T80" fmla="*/ 255 w 463"/>
                <a:gd name="T81" fmla="*/ 217 h 230"/>
                <a:gd name="T82" fmla="*/ 207 w 463"/>
                <a:gd name="T83" fmla="*/ 217 h 230"/>
                <a:gd name="T84" fmla="*/ 167 w 463"/>
                <a:gd name="T85" fmla="*/ 209 h 230"/>
                <a:gd name="T86" fmla="*/ 125 w 463"/>
                <a:gd name="T87" fmla="*/ 191 h 230"/>
                <a:gd name="T88" fmla="*/ 91 w 463"/>
                <a:gd name="T89" fmla="*/ 168 h 230"/>
                <a:gd name="T90" fmla="*/ 61 w 463"/>
                <a:gd name="T91" fmla="*/ 139 h 230"/>
                <a:gd name="T92" fmla="*/ 38 w 463"/>
                <a:gd name="T93" fmla="*/ 104 h 230"/>
                <a:gd name="T94" fmla="*/ 20 w 463"/>
                <a:gd name="T95" fmla="*/ 63 h 230"/>
                <a:gd name="T96" fmla="*/ 12 w 463"/>
                <a:gd name="T97" fmla="*/ 23 h 230"/>
                <a:gd name="T98" fmla="*/ 0 w 463"/>
                <a:gd name="T99" fmla="*/ 0 h 23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230"/>
                <a:gd name="T152" fmla="*/ 463 w 463"/>
                <a:gd name="T153" fmla="*/ 230 h 23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23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6"/>
                  </a:lnTo>
                  <a:lnTo>
                    <a:pt x="12" y="66"/>
                  </a:lnTo>
                  <a:lnTo>
                    <a:pt x="15" y="78"/>
                  </a:lnTo>
                  <a:lnTo>
                    <a:pt x="20" y="87"/>
                  </a:lnTo>
                  <a:lnTo>
                    <a:pt x="23" y="98"/>
                  </a:lnTo>
                  <a:lnTo>
                    <a:pt x="29" y="107"/>
                  </a:lnTo>
                  <a:lnTo>
                    <a:pt x="35" y="119"/>
                  </a:lnTo>
                  <a:lnTo>
                    <a:pt x="40" y="128"/>
                  </a:lnTo>
                  <a:lnTo>
                    <a:pt x="46" y="136"/>
                  </a:lnTo>
                  <a:lnTo>
                    <a:pt x="52" y="144"/>
                  </a:lnTo>
                  <a:lnTo>
                    <a:pt x="61" y="153"/>
                  </a:lnTo>
                  <a:lnTo>
                    <a:pt x="70" y="162"/>
                  </a:lnTo>
                  <a:lnTo>
                    <a:pt x="76" y="168"/>
                  </a:lnTo>
                  <a:lnTo>
                    <a:pt x="85" y="176"/>
                  </a:lnTo>
                  <a:lnTo>
                    <a:pt x="94" y="182"/>
                  </a:lnTo>
                  <a:lnTo>
                    <a:pt x="103" y="188"/>
                  </a:lnTo>
                  <a:lnTo>
                    <a:pt x="111" y="194"/>
                  </a:lnTo>
                  <a:lnTo>
                    <a:pt x="122" y="200"/>
                  </a:lnTo>
                  <a:lnTo>
                    <a:pt x="131" y="206"/>
                  </a:lnTo>
                  <a:lnTo>
                    <a:pt x="143" y="209"/>
                  </a:lnTo>
                  <a:lnTo>
                    <a:pt x="152" y="214"/>
                  </a:lnTo>
                  <a:lnTo>
                    <a:pt x="164" y="217"/>
                  </a:lnTo>
                  <a:lnTo>
                    <a:pt x="176" y="220"/>
                  </a:lnTo>
                  <a:lnTo>
                    <a:pt x="185" y="223"/>
                  </a:lnTo>
                  <a:lnTo>
                    <a:pt x="195" y="226"/>
                  </a:lnTo>
                  <a:lnTo>
                    <a:pt x="207" y="226"/>
                  </a:lnTo>
                  <a:lnTo>
                    <a:pt x="219" y="229"/>
                  </a:lnTo>
                  <a:lnTo>
                    <a:pt x="231" y="229"/>
                  </a:lnTo>
                  <a:lnTo>
                    <a:pt x="243" y="229"/>
                  </a:lnTo>
                  <a:lnTo>
                    <a:pt x="255" y="226"/>
                  </a:lnTo>
                  <a:lnTo>
                    <a:pt x="267" y="226"/>
                  </a:lnTo>
                  <a:lnTo>
                    <a:pt x="277" y="223"/>
                  </a:lnTo>
                  <a:lnTo>
                    <a:pt x="289" y="220"/>
                  </a:lnTo>
                  <a:lnTo>
                    <a:pt x="301" y="217"/>
                  </a:lnTo>
                  <a:lnTo>
                    <a:pt x="310" y="214"/>
                  </a:lnTo>
                  <a:lnTo>
                    <a:pt x="322" y="209"/>
                  </a:lnTo>
                  <a:lnTo>
                    <a:pt x="331" y="206"/>
                  </a:lnTo>
                  <a:lnTo>
                    <a:pt x="343" y="200"/>
                  </a:lnTo>
                  <a:lnTo>
                    <a:pt x="351" y="194"/>
                  </a:lnTo>
                  <a:lnTo>
                    <a:pt x="359" y="188"/>
                  </a:lnTo>
                  <a:lnTo>
                    <a:pt x="368" y="182"/>
                  </a:lnTo>
                  <a:lnTo>
                    <a:pt x="377" y="176"/>
                  </a:lnTo>
                  <a:lnTo>
                    <a:pt x="386" y="168"/>
                  </a:lnTo>
                  <a:lnTo>
                    <a:pt x="395" y="162"/>
                  </a:lnTo>
                  <a:lnTo>
                    <a:pt x="401" y="153"/>
                  </a:lnTo>
                  <a:lnTo>
                    <a:pt x="410" y="144"/>
                  </a:lnTo>
                  <a:lnTo>
                    <a:pt x="416" y="136"/>
                  </a:lnTo>
                  <a:lnTo>
                    <a:pt x="424" y="128"/>
                  </a:lnTo>
                  <a:lnTo>
                    <a:pt x="430" y="119"/>
                  </a:lnTo>
                  <a:lnTo>
                    <a:pt x="435" y="107"/>
                  </a:lnTo>
                  <a:lnTo>
                    <a:pt x="438" y="98"/>
                  </a:lnTo>
                  <a:lnTo>
                    <a:pt x="444" y="87"/>
                  </a:lnTo>
                  <a:lnTo>
                    <a:pt x="447" y="78"/>
                  </a:lnTo>
                  <a:lnTo>
                    <a:pt x="450" y="66"/>
                  </a:lnTo>
                  <a:lnTo>
                    <a:pt x="453" y="56"/>
                  </a:lnTo>
                  <a:lnTo>
                    <a:pt x="456" y="47"/>
                  </a:lnTo>
                  <a:lnTo>
                    <a:pt x="459" y="35"/>
                  </a:lnTo>
                  <a:lnTo>
                    <a:pt x="462" y="23"/>
                  </a:lnTo>
                  <a:lnTo>
                    <a:pt x="462" y="12"/>
                  </a:lnTo>
                  <a:lnTo>
                    <a:pt x="462" y="0"/>
                  </a:lnTo>
                  <a:lnTo>
                    <a:pt x="453" y="0"/>
                  </a:lnTo>
                  <a:lnTo>
                    <a:pt x="453" y="23"/>
                  </a:lnTo>
                  <a:lnTo>
                    <a:pt x="447" y="44"/>
                  </a:lnTo>
                  <a:lnTo>
                    <a:pt x="444" y="63"/>
                  </a:lnTo>
                  <a:lnTo>
                    <a:pt x="435" y="84"/>
                  </a:lnTo>
                  <a:lnTo>
                    <a:pt x="427" y="104"/>
                  </a:lnTo>
                  <a:lnTo>
                    <a:pt x="416" y="122"/>
                  </a:lnTo>
                  <a:lnTo>
                    <a:pt x="404" y="139"/>
                  </a:lnTo>
                  <a:lnTo>
                    <a:pt x="389" y="153"/>
                  </a:lnTo>
                  <a:lnTo>
                    <a:pt x="371" y="168"/>
                  </a:lnTo>
                  <a:lnTo>
                    <a:pt x="353" y="182"/>
                  </a:lnTo>
                  <a:lnTo>
                    <a:pt x="337" y="191"/>
                  </a:lnTo>
                  <a:lnTo>
                    <a:pt x="319" y="203"/>
                  </a:lnTo>
                  <a:lnTo>
                    <a:pt x="298" y="209"/>
                  </a:lnTo>
                  <a:lnTo>
                    <a:pt x="274" y="214"/>
                  </a:lnTo>
                  <a:lnTo>
                    <a:pt x="255" y="217"/>
                  </a:lnTo>
                  <a:lnTo>
                    <a:pt x="231" y="220"/>
                  </a:lnTo>
                  <a:lnTo>
                    <a:pt x="207" y="217"/>
                  </a:lnTo>
                  <a:lnTo>
                    <a:pt x="187" y="214"/>
                  </a:lnTo>
                  <a:lnTo>
                    <a:pt x="167" y="209"/>
                  </a:lnTo>
                  <a:lnTo>
                    <a:pt x="146" y="203"/>
                  </a:lnTo>
                  <a:lnTo>
                    <a:pt x="125" y="191"/>
                  </a:lnTo>
                  <a:lnTo>
                    <a:pt x="108" y="182"/>
                  </a:lnTo>
                  <a:lnTo>
                    <a:pt x="91" y="168"/>
                  </a:lnTo>
                  <a:lnTo>
                    <a:pt x="76" y="153"/>
                  </a:lnTo>
                  <a:lnTo>
                    <a:pt x="61" y="139"/>
                  </a:lnTo>
                  <a:lnTo>
                    <a:pt x="46" y="122"/>
                  </a:lnTo>
                  <a:lnTo>
                    <a:pt x="38" y="104"/>
                  </a:lnTo>
                  <a:lnTo>
                    <a:pt x="26" y="84"/>
                  </a:lnTo>
                  <a:lnTo>
                    <a:pt x="20" y="63"/>
                  </a:lnTo>
                  <a:lnTo>
                    <a:pt x="15" y="44"/>
                  </a:lnTo>
                  <a:lnTo>
                    <a:pt x="12" y="23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6" name="Freeform 160">
              <a:extLst>
                <a:ext uri="{FF2B5EF4-FFF2-40B4-BE49-F238E27FC236}">
                  <a16:creationId xmlns:a16="http://schemas.microsoft.com/office/drawing/2014/main" id="{803D08F4-26B5-47A3-B709-424C8AF29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577"/>
              <a:ext cx="445" cy="220"/>
            </a:xfrm>
            <a:custGeom>
              <a:avLst/>
              <a:gdLst>
                <a:gd name="T0" fmla="*/ 3 w 445"/>
                <a:gd name="T1" fmla="*/ 196 h 220"/>
                <a:gd name="T2" fmla="*/ 11 w 445"/>
                <a:gd name="T3" fmla="*/ 153 h 220"/>
                <a:gd name="T4" fmla="*/ 29 w 445"/>
                <a:gd name="T5" fmla="*/ 115 h 220"/>
                <a:gd name="T6" fmla="*/ 52 w 445"/>
                <a:gd name="T7" fmla="*/ 81 h 220"/>
                <a:gd name="T8" fmla="*/ 82 w 445"/>
                <a:gd name="T9" fmla="*/ 49 h 220"/>
                <a:gd name="T10" fmla="*/ 116 w 445"/>
                <a:gd name="T11" fmla="*/ 25 h 220"/>
                <a:gd name="T12" fmla="*/ 158 w 445"/>
                <a:gd name="T13" fmla="*/ 9 h 220"/>
                <a:gd name="T14" fmla="*/ 198 w 445"/>
                <a:gd name="T15" fmla="*/ 0 h 220"/>
                <a:gd name="T16" fmla="*/ 246 w 445"/>
                <a:gd name="T17" fmla="*/ 0 h 220"/>
                <a:gd name="T18" fmla="*/ 289 w 445"/>
                <a:gd name="T19" fmla="*/ 9 h 220"/>
                <a:gd name="T20" fmla="*/ 328 w 445"/>
                <a:gd name="T21" fmla="*/ 25 h 220"/>
                <a:gd name="T22" fmla="*/ 362 w 445"/>
                <a:gd name="T23" fmla="*/ 49 h 220"/>
                <a:gd name="T24" fmla="*/ 395 w 445"/>
                <a:gd name="T25" fmla="*/ 81 h 220"/>
                <a:gd name="T26" fmla="*/ 418 w 445"/>
                <a:gd name="T27" fmla="*/ 115 h 220"/>
                <a:gd name="T28" fmla="*/ 435 w 445"/>
                <a:gd name="T29" fmla="*/ 153 h 220"/>
                <a:gd name="T30" fmla="*/ 444 w 445"/>
                <a:gd name="T31" fmla="*/ 196 h 220"/>
                <a:gd name="T32" fmla="*/ 435 w 445"/>
                <a:gd name="T33" fmla="*/ 219 h 220"/>
                <a:gd name="T34" fmla="*/ 429 w 445"/>
                <a:gd name="T35" fmla="*/ 176 h 220"/>
                <a:gd name="T36" fmla="*/ 418 w 445"/>
                <a:gd name="T37" fmla="*/ 138 h 220"/>
                <a:gd name="T38" fmla="*/ 398 w 445"/>
                <a:gd name="T39" fmla="*/ 101 h 220"/>
                <a:gd name="T40" fmla="*/ 371 w 445"/>
                <a:gd name="T41" fmla="*/ 69 h 220"/>
                <a:gd name="T42" fmla="*/ 342 w 445"/>
                <a:gd name="T43" fmla="*/ 46 h 220"/>
                <a:gd name="T44" fmla="*/ 304 w 445"/>
                <a:gd name="T45" fmla="*/ 25 h 220"/>
                <a:gd name="T46" fmla="*/ 265 w 445"/>
                <a:gd name="T47" fmla="*/ 15 h 220"/>
                <a:gd name="T48" fmla="*/ 222 w 445"/>
                <a:gd name="T49" fmla="*/ 9 h 220"/>
                <a:gd name="T50" fmla="*/ 181 w 445"/>
                <a:gd name="T51" fmla="*/ 15 h 220"/>
                <a:gd name="T52" fmla="*/ 140 w 445"/>
                <a:gd name="T53" fmla="*/ 25 h 220"/>
                <a:gd name="T54" fmla="*/ 105 w 445"/>
                <a:gd name="T55" fmla="*/ 46 h 220"/>
                <a:gd name="T56" fmla="*/ 73 w 445"/>
                <a:gd name="T57" fmla="*/ 69 h 220"/>
                <a:gd name="T58" fmla="*/ 46 w 445"/>
                <a:gd name="T59" fmla="*/ 101 h 220"/>
                <a:gd name="T60" fmla="*/ 26 w 445"/>
                <a:gd name="T61" fmla="*/ 138 h 220"/>
                <a:gd name="T62" fmla="*/ 14 w 445"/>
                <a:gd name="T63" fmla="*/ 176 h 220"/>
                <a:gd name="T64" fmla="*/ 11 w 445"/>
                <a:gd name="T65" fmla="*/ 219 h 2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45"/>
                <a:gd name="T100" fmla="*/ 0 h 220"/>
                <a:gd name="T101" fmla="*/ 445 w 445"/>
                <a:gd name="T102" fmla="*/ 220 h 22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45" h="220">
                  <a:moveTo>
                    <a:pt x="0" y="219"/>
                  </a:moveTo>
                  <a:lnTo>
                    <a:pt x="3" y="196"/>
                  </a:lnTo>
                  <a:lnTo>
                    <a:pt x="6" y="176"/>
                  </a:lnTo>
                  <a:lnTo>
                    <a:pt x="11" y="153"/>
                  </a:lnTo>
                  <a:lnTo>
                    <a:pt x="17" y="132"/>
                  </a:lnTo>
                  <a:lnTo>
                    <a:pt x="29" y="115"/>
                  </a:lnTo>
                  <a:lnTo>
                    <a:pt x="37" y="95"/>
                  </a:lnTo>
                  <a:lnTo>
                    <a:pt x="52" y="81"/>
                  </a:lnTo>
                  <a:lnTo>
                    <a:pt x="67" y="63"/>
                  </a:lnTo>
                  <a:lnTo>
                    <a:pt x="82" y="49"/>
                  </a:lnTo>
                  <a:lnTo>
                    <a:pt x="99" y="37"/>
                  </a:lnTo>
                  <a:lnTo>
                    <a:pt x="116" y="25"/>
                  </a:lnTo>
                  <a:lnTo>
                    <a:pt x="137" y="18"/>
                  </a:lnTo>
                  <a:lnTo>
                    <a:pt x="158" y="9"/>
                  </a:lnTo>
                  <a:lnTo>
                    <a:pt x="178" y="6"/>
                  </a:lnTo>
                  <a:lnTo>
                    <a:pt x="198" y="0"/>
                  </a:lnTo>
                  <a:lnTo>
                    <a:pt x="222" y="0"/>
                  </a:lnTo>
                  <a:lnTo>
                    <a:pt x="246" y="0"/>
                  </a:lnTo>
                  <a:lnTo>
                    <a:pt x="265" y="6"/>
                  </a:lnTo>
                  <a:lnTo>
                    <a:pt x="289" y="9"/>
                  </a:lnTo>
                  <a:lnTo>
                    <a:pt x="310" y="18"/>
                  </a:lnTo>
                  <a:lnTo>
                    <a:pt x="328" y="25"/>
                  </a:lnTo>
                  <a:lnTo>
                    <a:pt x="344" y="37"/>
                  </a:lnTo>
                  <a:lnTo>
                    <a:pt x="362" y="49"/>
                  </a:lnTo>
                  <a:lnTo>
                    <a:pt x="380" y="63"/>
                  </a:lnTo>
                  <a:lnTo>
                    <a:pt x="395" y="81"/>
                  </a:lnTo>
                  <a:lnTo>
                    <a:pt x="407" y="95"/>
                  </a:lnTo>
                  <a:lnTo>
                    <a:pt x="418" y="115"/>
                  </a:lnTo>
                  <a:lnTo>
                    <a:pt x="426" y="132"/>
                  </a:lnTo>
                  <a:lnTo>
                    <a:pt x="435" y="153"/>
                  </a:lnTo>
                  <a:lnTo>
                    <a:pt x="438" y="176"/>
                  </a:lnTo>
                  <a:lnTo>
                    <a:pt x="444" y="196"/>
                  </a:lnTo>
                  <a:lnTo>
                    <a:pt x="444" y="219"/>
                  </a:lnTo>
                  <a:lnTo>
                    <a:pt x="435" y="219"/>
                  </a:lnTo>
                  <a:lnTo>
                    <a:pt x="432" y="196"/>
                  </a:lnTo>
                  <a:lnTo>
                    <a:pt x="429" y="176"/>
                  </a:lnTo>
                  <a:lnTo>
                    <a:pt x="424" y="156"/>
                  </a:lnTo>
                  <a:lnTo>
                    <a:pt x="418" y="138"/>
                  </a:lnTo>
                  <a:lnTo>
                    <a:pt x="409" y="118"/>
                  </a:lnTo>
                  <a:lnTo>
                    <a:pt x="398" y="101"/>
                  </a:lnTo>
                  <a:lnTo>
                    <a:pt x="386" y="87"/>
                  </a:lnTo>
                  <a:lnTo>
                    <a:pt x="371" y="69"/>
                  </a:lnTo>
                  <a:lnTo>
                    <a:pt x="356" y="57"/>
                  </a:lnTo>
                  <a:lnTo>
                    <a:pt x="342" y="46"/>
                  </a:lnTo>
                  <a:lnTo>
                    <a:pt x="325" y="34"/>
                  </a:lnTo>
                  <a:lnTo>
                    <a:pt x="304" y="25"/>
                  </a:lnTo>
                  <a:lnTo>
                    <a:pt x="286" y="18"/>
                  </a:lnTo>
                  <a:lnTo>
                    <a:pt x="265" y="15"/>
                  </a:lnTo>
                  <a:lnTo>
                    <a:pt x="246" y="12"/>
                  </a:lnTo>
                  <a:lnTo>
                    <a:pt x="222" y="9"/>
                  </a:lnTo>
                  <a:lnTo>
                    <a:pt x="201" y="12"/>
                  </a:lnTo>
                  <a:lnTo>
                    <a:pt x="181" y="15"/>
                  </a:lnTo>
                  <a:lnTo>
                    <a:pt x="161" y="18"/>
                  </a:lnTo>
                  <a:lnTo>
                    <a:pt x="140" y="25"/>
                  </a:lnTo>
                  <a:lnTo>
                    <a:pt x="122" y="34"/>
                  </a:lnTo>
                  <a:lnTo>
                    <a:pt x="105" y="46"/>
                  </a:lnTo>
                  <a:lnTo>
                    <a:pt x="88" y="57"/>
                  </a:lnTo>
                  <a:lnTo>
                    <a:pt x="73" y="69"/>
                  </a:lnTo>
                  <a:lnTo>
                    <a:pt x="58" y="87"/>
                  </a:lnTo>
                  <a:lnTo>
                    <a:pt x="46" y="101"/>
                  </a:lnTo>
                  <a:lnTo>
                    <a:pt x="35" y="118"/>
                  </a:lnTo>
                  <a:lnTo>
                    <a:pt x="26" y="138"/>
                  </a:lnTo>
                  <a:lnTo>
                    <a:pt x="20" y="156"/>
                  </a:lnTo>
                  <a:lnTo>
                    <a:pt x="14" y="176"/>
                  </a:lnTo>
                  <a:lnTo>
                    <a:pt x="11" y="196"/>
                  </a:lnTo>
                  <a:lnTo>
                    <a:pt x="11" y="219"/>
                  </a:lnTo>
                  <a:lnTo>
                    <a:pt x="0" y="219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7" name="Freeform 161">
              <a:extLst>
                <a:ext uri="{FF2B5EF4-FFF2-40B4-BE49-F238E27FC236}">
                  <a16:creationId xmlns:a16="http://schemas.microsoft.com/office/drawing/2014/main" id="{4CCC5FB6-0C13-4C5E-A4E1-A5EEF99FA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802"/>
              <a:ext cx="445" cy="221"/>
            </a:xfrm>
            <a:custGeom>
              <a:avLst/>
              <a:gdLst>
                <a:gd name="T0" fmla="*/ 0 w 445"/>
                <a:gd name="T1" fmla="*/ 0 h 221"/>
                <a:gd name="T2" fmla="*/ 6 w 445"/>
                <a:gd name="T3" fmla="*/ 44 h 221"/>
                <a:gd name="T4" fmla="*/ 17 w 445"/>
                <a:gd name="T5" fmla="*/ 84 h 221"/>
                <a:gd name="T6" fmla="*/ 37 w 445"/>
                <a:gd name="T7" fmla="*/ 122 h 221"/>
                <a:gd name="T8" fmla="*/ 67 w 445"/>
                <a:gd name="T9" fmla="*/ 153 h 221"/>
                <a:gd name="T10" fmla="*/ 99 w 445"/>
                <a:gd name="T11" fmla="*/ 182 h 221"/>
                <a:gd name="T12" fmla="*/ 137 w 445"/>
                <a:gd name="T13" fmla="*/ 202 h 221"/>
                <a:gd name="T14" fmla="*/ 178 w 445"/>
                <a:gd name="T15" fmla="*/ 214 h 221"/>
                <a:gd name="T16" fmla="*/ 222 w 445"/>
                <a:gd name="T17" fmla="*/ 220 h 221"/>
                <a:gd name="T18" fmla="*/ 265 w 445"/>
                <a:gd name="T19" fmla="*/ 214 h 221"/>
                <a:gd name="T20" fmla="*/ 310 w 445"/>
                <a:gd name="T21" fmla="*/ 202 h 221"/>
                <a:gd name="T22" fmla="*/ 344 w 445"/>
                <a:gd name="T23" fmla="*/ 182 h 221"/>
                <a:gd name="T24" fmla="*/ 380 w 445"/>
                <a:gd name="T25" fmla="*/ 153 h 221"/>
                <a:gd name="T26" fmla="*/ 407 w 445"/>
                <a:gd name="T27" fmla="*/ 122 h 221"/>
                <a:gd name="T28" fmla="*/ 426 w 445"/>
                <a:gd name="T29" fmla="*/ 84 h 221"/>
                <a:gd name="T30" fmla="*/ 438 w 445"/>
                <a:gd name="T31" fmla="*/ 44 h 221"/>
                <a:gd name="T32" fmla="*/ 444 w 445"/>
                <a:gd name="T33" fmla="*/ 0 h 221"/>
                <a:gd name="T34" fmla="*/ 432 w 445"/>
                <a:gd name="T35" fmla="*/ 20 h 221"/>
                <a:gd name="T36" fmla="*/ 424 w 445"/>
                <a:gd name="T37" fmla="*/ 60 h 221"/>
                <a:gd name="T38" fmla="*/ 409 w 445"/>
                <a:gd name="T39" fmla="*/ 98 h 221"/>
                <a:gd name="T40" fmla="*/ 386 w 445"/>
                <a:gd name="T41" fmla="*/ 133 h 221"/>
                <a:gd name="T42" fmla="*/ 356 w 445"/>
                <a:gd name="T43" fmla="*/ 162 h 221"/>
                <a:gd name="T44" fmla="*/ 325 w 445"/>
                <a:gd name="T45" fmla="*/ 185 h 221"/>
                <a:gd name="T46" fmla="*/ 286 w 445"/>
                <a:gd name="T47" fmla="*/ 200 h 221"/>
                <a:gd name="T48" fmla="*/ 246 w 445"/>
                <a:gd name="T49" fmla="*/ 208 h 221"/>
                <a:gd name="T50" fmla="*/ 201 w 445"/>
                <a:gd name="T51" fmla="*/ 208 h 221"/>
                <a:gd name="T52" fmla="*/ 161 w 445"/>
                <a:gd name="T53" fmla="*/ 200 h 221"/>
                <a:gd name="T54" fmla="*/ 122 w 445"/>
                <a:gd name="T55" fmla="*/ 185 h 221"/>
                <a:gd name="T56" fmla="*/ 88 w 445"/>
                <a:gd name="T57" fmla="*/ 162 h 221"/>
                <a:gd name="T58" fmla="*/ 58 w 445"/>
                <a:gd name="T59" fmla="*/ 133 h 221"/>
                <a:gd name="T60" fmla="*/ 35 w 445"/>
                <a:gd name="T61" fmla="*/ 98 h 221"/>
                <a:gd name="T62" fmla="*/ 20 w 445"/>
                <a:gd name="T63" fmla="*/ 60 h 221"/>
                <a:gd name="T64" fmla="*/ 11 w 445"/>
                <a:gd name="T65" fmla="*/ 20 h 221"/>
                <a:gd name="T66" fmla="*/ 0 w 445"/>
                <a:gd name="T67" fmla="*/ 0 h 22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45"/>
                <a:gd name="T103" fmla="*/ 0 h 221"/>
                <a:gd name="T104" fmla="*/ 445 w 445"/>
                <a:gd name="T105" fmla="*/ 221 h 22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45" h="221">
                  <a:moveTo>
                    <a:pt x="0" y="0"/>
                  </a:moveTo>
                  <a:lnTo>
                    <a:pt x="0" y="0"/>
                  </a:lnTo>
                  <a:lnTo>
                    <a:pt x="3" y="23"/>
                  </a:lnTo>
                  <a:lnTo>
                    <a:pt x="6" y="44"/>
                  </a:lnTo>
                  <a:lnTo>
                    <a:pt x="11" y="63"/>
                  </a:lnTo>
                  <a:lnTo>
                    <a:pt x="17" y="84"/>
                  </a:lnTo>
                  <a:lnTo>
                    <a:pt x="29" y="104"/>
                  </a:lnTo>
                  <a:lnTo>
                    <a:pt x="37" y="122"/>
                  </a:lnTo>
                  <a:lnTo>
                    <a:pt x="52" y="139"/>
                  </a:lnTo>
                  <a:lnTo>
                    <a:pt x="67" y="153"/>
                  </a:lnTo>
                  <a:lnTo>
                    <a:pt x="82" y="167"/>
                  </a:lnTo>
                  <a:lnTo>
                    <a:pt x="99" y="182"/>
                  </a:lnTo>
                  <a:lnTo>
                    <a:pt x="116" y="191"/>
                  </a:lnTo>
                  <a:lnTo>
                    <a:pt x="137" y="202"/>
                  </a:lnTo>
                  <a:lnTo>
                    <a:pt x="158" y="208"/>
                  </a:lnTo>
                  <a:lnTo>
                    <a:pt x="178" y="214"/>
                  </a:lnTo>
                  <a:lnTo>
                    <a:pt x="198" y="217"/>
                  </a:lnTo>
                  <a:lnTo>
                    <a:pt x="222" y="220"/>
                  </a:lnTo>
                  <a:lnTo>
                    <a:pt x="246" y="217"/>
                  </a:lnTo>
                  <a:lnTo>
                    <a:pt x="265" y="214"/>
                  </a:lnTo>
                  <a:lnTo>
                    <a:pt x="289" y="208"/>
                  </a:lnTo>
                  <a:lnTo>
                    <a:pt x="310" y="202"/>
                  </a:lnTo>
                  <a:lnTo>
                    <a:pt x="328" y="191"/>
                  </a:lnTo>
                  <a:lnTo>
                    <a:pt x="344" y="182"/>
                  </a:lnTo>
                  <a:lnTo>
                    <a:pt x="362" y="167"/>
                  </a:lnTo>
                  <a:lnTo>
                    <a:pt x="380" y="153"/>
                  </a:lnTo>
                  <a:lnTo>
                    <a:pt x="395" y="139"/>
                  </a:lnTo>
                  <a:lnTo>
                    <a:pt x="407" y="122"/>
                  </a:lnTo>
                  <a:lnTo>
                    <a:pt x="418" y="104"/>
                  </a:lnTo>
                  <a:lnTo>
                    <a:pt x="426" y="84"/>
                  </a:lnTo>
                  <a:lnTo>
                    <a:pt x="435" y="63"/>
                  </a:lnTo>
                  <a:lnTo>
                    <a:pt x="438" y="44"/>
                  </a:lnTo>
                  <a:lnTo>
                    <a:pt x="444" y="23"/>
                  </a:lnTo>
                  <a:lnTo>
                    <a:pt x="444" y="0"/>
                  </a:lnTo>
                  <a:lnTo>
                    <a:pt x="435" y="0"/>
                  </a:lnTo>
                  <a:lnTo>
                    <a:pt x="432" y="20"/>
                  </a:lnTo>
                  <a:lnTo>
                    <a:pt x="429" y="41"/>
                  </a:lnTo>
                  <a:lnTo>
                    <a:pt x="424" y="60"/>
                  </a:lnTo>
                  <a:lnTo>
                    <a:pt x="418" y="81"/>
                  </a:lnTo>
                  <a:lnTo>
                    <a:pt x="409" y="98"/>
                  </a:lnTo>
                  <a:lnTo>
                    <a:pt x="398" y="116"/>
                  </a:lnTo>
                  <a:lnTo>
                    <a:pt x="386" y="133"/>
                  </a:lnTo>
                  <a:lnTo>
                    <a:pt x="371" y="147"/>
                  </a:lnTo>
                  <a:lnTo>
                    <a:pt x="356" y="162"/>
                  </a:lnTo>
                  <a:lnTo>
                    <a:pt x="342" y="173"/>
                  </a:lnTo>
                  <a:lnTo>
                    <a:pt x="325" y="185"/>
                  </a:lnTo>
                  <a:lnTo>
                    <a:pt x="304" y="194"/>
                  </a:lnTo>
                  <a:lnTo>
                    <a:pt x="286" y="200"/>
                  </a:lnTo>
                  <a:lnTo>
                    <a:pt x="265" y="205"/>
                  </a:lnTo>
                  <a:lnTo>
                    <a:pt x="246" y="208"/>
                  </a:lnTo>
                  <a:lnTo>
                    <a:pt x="222" y="208"/>
                  </a:lnTo>
                  <a:lnTo>
                    <a:pt x="201" y="208"/>
                  </a:lnTo>
                  <a:lnTo>
                    <a:pt x="181" y="205"/>
                  </a:lnTo>
                  <a:lnTo>
                    <a:pt x="161" y="200"/>
                  </a:lnTo>
                  <a:lnTo>
                    <a:pt x="140" y="194"/>
                  </a:lnTo>
                  <a:lnTo>
                    <a:pt x="122" y="185"/>
                  </a:lnTo>
                  <a:lnTo>
                    <a:pt x="105" y="173"/>
                  </a:lnTo>
                  <a:lnTo>
                    <a:pt x="88" y="162"/>
                  </a:lnTo>
                  <a:lnTo>
                    <a:pt x="73" y="147"/>
                  </a:lnTo>
                  <a:lnTo>
                    <a:pt x="58" y="133"/>
                  </a:lnTo>
                  <a:lnTo>
                    <a:pt x="46" y="116"/>
                  </a:lnTo>
                  <a:lnTo>
                    <a:pt x="35" y="98"/>
                  </a:lnTo>
                  <a:lnTo>
                    <a:pt x="26" y="81"/>
                  </a:lnTo>
                  <a:lnTo>
                    <a:pt x="20" y="60"/>
                  </a:lnTo>
                  <a:lnTo>
                    <a:pt x="14" y="41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8" name="Freeform 162">
              <a:extLst>
                <a:ext uri="{FF2B5EF4-FFF2-40B4-BE49-F238E27FC236}">
                  <a16:creationId xmlns:a16="http://schemas.microsoft.com/office/drawing/2014/main" id="{5FA8BFF5-6D92-41CF-B838-DC39BBBCB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586"/>
              <a:ext cx="425" cy="211"/>
            </a:xfrm>
            <a:custGeom>
              <a:avLst/>
              <a:gdLst>
                <a:gd name="T0" fmla="*/ 0 w 425"/>
                <a:gd name="T1" fmla="*/ 187 h 211"/>
                <a:gd name="T2" fmla="*/ 9 w 425"/>
                <a:gd name="T3" fmla="*/ 147 h 211"/>
                <a:gd name="T4" fmla="*/ 24 w 425"/>
                <a:gd name="T5" fmla="*/ 109 h 211"/>
                <a:gd name="T6" fmla="*/ 47 w 425"/>
                <a:gd name="T7" fmla="*/ 78 h 211"/>
                <a:gd name="T8" fmla="*/ 77 w 425"/>
                <a:gd name="T9" fmla="*/ 49 h 211"/>
                <a:gd name="T10" fmla="*/ 111 w 425"/>
                <a:gd name="T11" fmla="*/ 25 h 211"/>
                <a:gd name="T12" fmla="*/ 150 w 425"/>
                <a:gd name="T13" fmla="*/ 9 h 211"/>
                <a:gd name="T14" fmla="*/ 190 w 425"/>
                <a:gd name="T15" fmla="*/ 3 h 211"/>
                <a:gd name="T16" fmla="*/ 235 w 425"/>
                <a:gd name="T17" fmla="*/ 3 h 211"/>
                <a:gd name="T18" fmla="*/ 275 w 425"/>
                <a:gd name="T19" fmla="*/ 9 h 211"/>
                <a:gd name="T20" fmla="*/ 314 w 425"/>
                <a:gd name="T21" fmla="*/ 25 h 211"/>
                <a:gd name="T22" fmla="*/ 345 w 425"/>
                <a:gd name="T23" fmla="*/ 49 h 211"/>
                <a:gd name="T24" fmla="*/ 375 w 425"/>
                <a:gd name="T25" fmla="*/ 78 h 211"/>
                <a:gd name="T26" fmla="*/ 398 w 425"/>
                <a:gd name="T27" fmla="*/ 109 h 211"/>
                <a:gd name="T28" fmla="*/ 413 w 425"/>
                <a:gd name="T29" fmla="*/ 147 h 211"/>
                <a:gd name="T30" fmla="*/ 421 w 425"/>
                <a:gd name="T31" fmla="*/ 187 h 211"/>
                <a:gd name="T32" fmla="*/ 415 w 425"/>
                <a:gd name="T33" fmla="*/ 210 h 211"/>
                <a:gd name="T34" fmla="*/ 410 w 425"/>
                <a:gd name="T35" fmla="*/ 170 h 211"/>
                <a:gd name="T36" fmla="*/ 398 w 425"/>
                <a:gd name="T37" fmla="*/ 132 h 211"/>
                <a:gd name="T38" fmla="*/ 381 w 425"/>
                <a:gd name="T39" fmla="*/ 97 h 211"/>
                <a:gd name="T40" fmla="*/ 354 w 425"/>
                <a:gd name="T41" fmla="*/ 69 h 211"/>
                <a:gd name="T42" fmla="*/ 325 w 425"/>
                <a:gd name="T43" fmla="*/ 43 h 211"/>
                <a:gd name="T44" fmla="*/ 290 w 425"/>
                <a:gd name="T45" fmla="*/ 25 h 211"/>
                <a:gd name="T46" fmla="*/ 251 w 425"/>
                <a:gd name="T47" fmla="*/ 14 h 211"/>
                <a:gd name="T48" fmla="*/ 211 w 425"/>
                <a:gd name="T49" fmla="*/ 9 h 211"/>
                <a:gd name="T50" fmla="*/ 170 w 425"/>
                <a:gd name="T51" fmla="*/ 14 h 211"/>
                <a:gd name="T52" fmla="*/ 132 w 425"/>
                <a:gd name="T53" fmla="*/ 25 h 211"/>
                <a:gd name="T54" fmla="*/ 100 w 425"/>
                <a:gd name="T55" fmla="*/ 43 h 211"/>
                <a:gd name="T56" fmla="*/ 68 w 425"/>
                <a:gd name="T57" fmla="*/ 69 h 211"/>
                <a:gd name="T58" fmla="*/ 44 w 425"/>
                <a:gd name="T59" fmla="*/ 97 h 211"/>
                <a:gd name="T60" fmla="*/ 24 w 425"/>
                <a:gd name="T61" fmla="*/ 132 h 211"/>
                <a:gd name="T62" fmla="*/ 12 w 425"/>
                <a:gd name="T63" fmla="*/ 170 h 211"/>
                <a:gd name="T64" fmla="*/ 9 w 425"/>
                <a:gd name="T65" fmla="*/ 210 h 21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5"/>
                <a:gd name="T100" fmla="*/ 0 h 211"/>
                <a:gd name="T101" fmla="*/ 425 w 425"/>
                <a:gd name="T102" fmla="*/ 211 h 21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5" h="211">
                  <a:moveTo>
                    <a:pt x="0" y="210"/>
                  </a:moveTo>
                  <a:lnTo>
                    <a:pt x="0" y="187"/>
                  </a:lnTo>
                  <a:lnTo>
                    <a:pt x="3" y="167"/>
                  </a:lnTo>
                  <a:lnTo>
                    <a:pt x="9" y="147"/>
                  </a:lnTo>
                  <a:lnTo>
                    <a:pt x="15" y="129"/>
                  </a:lnTo>
                  <a:lnTo>
                    <a:pt x="24" y="109"/>
                  </a:lnTo>
                  <a:lnTo>
                    <a:pt x="35" y="92"/>
                  </a:lnTo>
                  <a:lnTo>
                    <a:pt x="47" y="78"/>
                  </a:lnTo>
                  <a:lnTo>
                    <a:pt x="62" y="60"/>
                  </a:lnTo>
                  <a:lnTo>
                    <a:pt x="77" y="49"/>
                  </a:lnTo>
                  <a:lnTo>
                    <a:pt x="94" y="37"/>
                  </a:lnTo>
                  <a:lnTo>
                    <a:pt x="111" y="25"/>
                  </a:lnTo>
                  <a:lnTo>
                    <a:pt x="129" y="17"/>
                  </a:lnTo>
                  <a:lnTo>
                    <a:pt x="150" y="9"/>
                  </a:lnTo>
                  <a:lnTo>
                    <a:pt x="170" y="6"/>
                  </a:lnTo>
                  <a:lnTo>
                    <a:pt x="190" y="3"/>
                  </a:lnTo>
                  <a:lnTo>
                    <a:pt x="211" y="0"/>
                  </a:lnTo>
                  <a:lnTo>
                    <a:pt x="235" y="3"/>
                  </a:lnTo>
                  <a:lnTo>
                    <a:pt x="254" y="6"/>
                  </a:lnTo>
                  <a:lnTo>
                    <a:pt x="275" y="9"/>
                  </a:lnTo>
                  <a:lnTo>
                    <a:pt x="293" y="17"/>
                  </a:lnTo>
                  <a:lnTo>
                    <a:pt x="314" y="25"/>
                  </a:lnTo>
                  <a:lnTo>
                    <a:pt x="331" y="37"/>
                  </a:lnTo>
                  <a:lnTo>
                    <a:pt x="345" y="49"/>
                  </a:lnTo>
                  <a:lnTo>
                    <a:pt x="360" y="60"/>
                  </a:lnTo>
                  <a:lnTo>
                    <a:pt x="375" y="78"/>
                  </a:lnTo>
                  <a:lnTo>
                    <a:pt x="387" y="92"/>
                  </a:lnTo>
                  <a:lnTo>
                    <a:pt x="398" y="109"/>
                  </a:lnTo>
                  <a:lnTo>
                    <a:pt x="407" y="129"/>
                  </a:lnTo>
                  <a:lnTo>
                    <a:pt x="413" y="147"/>
                  </a:lnTo>
                  <a:lnTo>
                    <a:pt x="418" y="167"/>
                  </a:lnTo>
                  <a:lnTo>
                    <a:pt x="421" y="187"/>
                  </a:lnTo>
                  <a:lnTo>
                    <a:pt x="424" y="210"/>
                  </a:lnTo>
                  <a:lnTo>
                    <a:pt x="415" y="210"/>
                  </a:lnTo>
                  <a:lnTo>
                    <a:pt x="413" y="190"/>
                  </a:lnTo>
                  <a:lnTo>
                    <a:pt x="410" y="170"/>
                  </a:lnTo>
                  <a:lnTo>
                    <a:pt x="404" y="150"/>
                  </a:lnTo>
                  <a:lnTo>
                    <a:pt x="398" y="132"/>
                  </a:lnTo>
                  <a:lnTo>
                    <a:pt x="389" y="115"/>
                  </a:lnTo>
                  <a:lnTo>
                    <a:pt x="381" y="97"/>
                  </a:lnTo>
                  <a:lnTo>
                    <a:pt x="369" y="84"/>
                  </a:lnTo>
                  <a:lnTo>
                    <a:pt x="354" y="69"/>
                  </a:lnTo>
                  <a:lnTo>
                    <a:pt x="339" y="54"/>
                  </a:lnTo>
                  <a:lnTo>
                    <a:pt x="325" y="43"/>
                  </a:lnTo>
                  <a:lnTo>
                    <a:pt x="308" y="34"/>
                  </a:lnTo>
                  <a:lnTo>
                    <a:pt x="290" y="25"/>
                  </a:lnTo>
                  <a:lnTo>
                    <a:pt x="272" y="17"/>
                  </a:lnTo>
                  <a:lnTo>
                    <a:pt x="251" y="14"/>
                  </a:lnTo>
                  <a:lnTo>
                    <a:pt x="232" y="12"/>
                  </a:lnTo>
                  <a:lnTo>
                    <a:pt x="211" y="9"/>
                  </a:lnTo>
                  <a:lnTo>
                    <a:pt x="190" y="12"/>
                  </a:lnTo>
                  <a:lnTo>
                    <a:pt x="170" y="14"/>
                  </a:lnTo>
                  <a:lnTo>
                    <a:pt x="153" y="17"/>
                  </a:lnTo>
                  <a:lnTo>
                    <a:pt x="132" y="25"/>
                  </a:lnTo>
                  <a:lnTo>
                    <a:pt x="114" y="34"/>
                  </a:lnTo>
                  <a:lnTo>
                    <a:pt x="100" y="43"/>
                  </a:lnTo>
                  <a:lnTo>
                    <a:pt x="83" y="54"/>
                  </a:lnTo>
                  <a:lnTo>
                    <a:pt x="68" y="69"/>
                  </a:lnTo>
                  <a:lnTo>
                    <a:pt x="56" y="84"/>
                  </a:lnTo>
                  <a:lnTo>
                    <a:pt x="44" y="97"/>
                  </a:lnTo>
                  <a:lnTo>
                    <a:pt x="33" y="115"/>
                  </a:lnTo>
                  <a:lnTo>
                    <a:pt x="24" y="132"/>
                  </a:lnTo>
                  <a:lnTo>
                    <a:pt x="18" y="150"/>
                  </a:lnTo>
                  <a:lnTo>
                    <a:pt x="12" y="170"/>
                  </a:lnTo>
                  <a:lnTo>
                    <a:pt x="9" y="190"/>
                  </a:lnTo>
                  <a:lnTo>
                    <a:pt x="9" y="210"/>
                  </a:lnTo>
                  <a:lnTo>
                    <a:pt x="0" y="21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9" name="Freeform 163">
              <a:extLst>
                <a:ext uri="{FF2B5EF4-FFF2-40B4-BE49-F238E27FC236}">
                  <a16:creationId xmlns:a16="http://schemas.microsoft.com/office/drawing/2014/main" id="{801F1DD7-6C16-4C8D-9DCD-038151C72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802"/>
              <a:ext cx="425" cy="209"/>
            </a:xfrm>
            <a:custGeom>
              <a:avLst/>
              <a:gdLst>
                <a:gd name="T0" fmla="*/ 0 w 425"/>
                <a:gd name="T1" fmla="*/ 0 h 209"/>
                <a:gd name="T2" fmla="*/ 3 w 425"/>
                <a:gd name="T3" fmla="*/ 41 h 209"/>
                <a:gd name="T4" fmla="*/ 15 w 425"/>
                <a:gd name="T5" fmla="*/ 81 h 209"/>
                <a:gd name="T6" fmla="*/ 35 w 425"/>
                <a:gd name="T7" fmla="*/ 116 h 209"/>
                <a:gd name="T8" fmla="*/ 62 w 425"/>
                <a:gd name="T9" fmla="*/ 147 h 209"/>
                <a:gd name="T10" fmla="*/ 94 w 425"/>
                <a:gd name="T11" fmla="*/ 173 h 209"/>
                <a:gd name="T12" fmla="*/ 129 w 425"/>
                <a:gd name="T13" fmla="*/ 193 h 209"/>
                <a:gd name="T14" fmla="*/ 170 w 425"/>
                <a:gd name="T15" fmla="*/ 205 h 209"/>
                <a:gd name="T16" fmla="*/ 211 w 425"/>
                <a:gd name="T17" fmla="*/ 208 h 209"/>
                <a:gd name="T18" fmla="*/ 254 w 425"/>
                <a:gd name="T19" fmla="*/ 205 h 209"/>
                <a:gd name="T20" fmla="*/ 293 w 425"/>
                <a:gd name="T21" fmla="*/ 193 h 209"/>
                <a:gd name="T22" fmla="*/ 331 w 425"/>
                <a:gd name="T23" fmla="*/ 173 h 209"/>
                <a:gd name="T24" fmla="*/ 360 w 425"/>
                <a:gd name="T25" fmla="*/ 147 h 209"/>
                <a:gd name="T26" fmla="*/ 387 w 425"/>
                <a:gd name="T27" fmla="*/ 116 h 209"/>
                <a:gd name="T28" fmla="*/ 407 w 425"/>
                <a:gd name="T29" fmla="*/ 81 h 209"/>
                <a:gd name="T30" fmla="*/ 418 w 425"/>
                <a:gd name="T31" fmla="*/ 41 h 209"/>
                <a:gd name="T32" fmla="*/ 424 w 425"/>
                <a:gd name="T33" fmla="*/ 0 h 209"/>
                <a:gd name="T34" fmla="*/ 413 w 425"/>
                <a:gd name="T35" fmla="*/ 20 h 209"/>
                <a:gd name="T36" fmla="*/ 404 w 425"/>
                <a:gd name="T37" fmla="*/ 57 h 209"/>
                <a:gd name="T38" fmla="*/ 389 w 425"/>
                <a:gd name="T39" fmla="*/ 95 h 209"/>
                <a:gd name="T40" fmla="*/ 369 w 425"/>
                <a:gd name="T41" fmla="*/ 127 h 209"/>
                <a:gd name="T42" fmla="*/ 339 w 425"/>
                <a:gd name="T43" fmla="*/ 153 h 209"/>
                <a:gd name="T44" fmla="*/ 308 w 425"/>
                <a:gd name="T45" fmla="*/ 176 h 209"/>
                <a:gd name="T46" fmla="*/ 272 w 425"/>
                <a:gd name="T47" fmla="*/ 191 h 209"/>
                <a:gd name="T48" fmla="*/ 232 w 425"/>
                <a:gd name="T49" fmla="*/ 199 h 209"/>
                <a:gd name="T50" fmla="*/ 190 w 425"/>
                <a:gd name="T51" fmla="*/ 199 h 209"/>
                <a:gd name="T52" fmla="*/ 153 w 425"/>
                <a:gd name="T53" fmla="*/ 191 h 209"/>
                <a:gd name="T54" fmla="*/ 114 w 425"/>
                <a:gd name="T55" fmla="*/ 176 h 209"/>
                <a:gd name="T56" fmla="*/ 83 w 425"/>
                <a:gd name="T57" fmla="*/ 153 h 209"/>
                <a:gd name="T58" fmla="*/ 56 w 425"/>
                <a:gd name="T59" fmla="*/ 127 h 209"/>
                <a:gd name="T60" fmla="*/ 33 w 425"/>
                <a:gd name="T61" fmla="*/ 95 h 209"/>
                <a:gd name="T62" fmla="*/ 18 w 425"/>
                <a:gd name="T63" fmla="*/ 57 h 209"/>
                <a:gd name="T64" fmla="*/ 9 w 425"/>
                <a:gd name="T65" fmla="*/ 20 h 209"/>
                <a:gd name="T66" fmla="*/ 0 w 425"/>
                <a:gd name="T67" fmla="*/ 0 h 20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25"/>
                <a:gd name="T103" fmla="*/ 0 h 209"/>
                <a:gd name="T104" fmla="*/ 425 w 425"/>
                <a:gd name="T105" fmla="*/ 209 h 20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25" h="209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60"/>
                  </a:lnTo>
                  <a:lnTo>
                    <a:pt x="15" y="81"/>
                  </a:lnTo>
                  <a:lnTo>
                    <a:pt x="24" y="98"/>
                  </a:lnTo>
                  <a:lnTo>
                    <a:pt x="35" y="116"/>
                  </a:lnTo>
                  <a:lnTo>
                    <a:pt x="47" y="133"/>
                  </a:lnTo>
                  <a:lnTo>
                    <a:pt x="62" y="147"/>
                  </a:lnTo>
                  <a:lnTo>
                    <a:pt x="77" y="161"/>
                  </a:lnTo>
                  <a:lnTo>
                    <a:pt x="94" y="173"/>
                  </a:lnTo>
                  <a:lnTo>
                    <a:pt x="111" y="185"/>
                  </a:lnTo>
                  <a:lnTo>
                    <a:pt x="129" y="193"/>
                  </a:lnTo>
                  <a:lnTo>
                    <a:pt x="150" y="199"/>
                  </a:lnTo>
                  <a:lnTo>
                    <a:pt x="170" y="205"/>
                  </a:lnTo>
                  <a:lnTo>
                    <a:pt x="190" y="208"/>
                  </a:lnTo>
                  <a:lnTo>
                    <a:pt x="211" y="208"/>
                  </a:lnTo>
                  <a:lnTo>
                    <a:pt x="235" y="208"/>
                  </a:lnTo>
                  <a:lnTo>
                    <a:pt x="254" y="205"/>
                  </a:lnTo>
                  <a:lnTo>
                    <a:pt x="275" y="199"/>
                  </a:lnTo>
                  <a:lnTo>
                    <a:pt x="293" y="193"/>
                  </a:lnTo>
                  <a:lnTo>
                    <a:pt x="314" y="185"/>
                  </a:lnTo>
                  <a:lnTo>
                    <a:pt x="331" y="173"/>
                  </a:lnTo>
                  <a:lnTo>
                    <a:pt x="345" y="161"/>
                  </a:lnTo>
                  <a:lnTo>
                    <a:pt x="360" y="147"/>
                  </a:lnTo>
                  <a:lnTo>
                    <a:pt x="375" y="133"/>
                  </a:lnTo>
                  <a:lnTo>
                    <a:pt x="387" y="116"/>
                  </a:lnTo>
                  <a:lnTo>
                    <a:pt x="398" y="98"/>
                  </a:lnTo>
                  <a:lnTo>
                    <a:pt x="407" y="81"/>
                  </a:lnTo>
                  <a:lnTo>
                    <a:pt x="413" y="60"/>
                  </a:lnTo>
                  <a:lnTo>
                    <a:pt x="418" y="41"/>
                  </a:lnTo>
                  <a:lnTo>
                    <a:pt x="421" y="20"/>
                  </a:lnTo>
                  <a:lnTo>
                    <a:pt x="424" y="0"/>
                  </a:lnTo>
                  <a:lnTo>
                    <a:pt x="415" y="0"/>
                  </a:lnTo>
                  <a:lnTo>
                    <a:pt x="413" y="20"/>
                  </a:lnTo>
                  <a:lnTo>
                    <a:pt x="410" y="41"/>
                  </a:lnTo>
                  <a:lnTo>
                    <a:pt x="404" y="57"/>
                  </a:lnTo>
                  <a:lnTo>
                    <a:pt x="398" y="78"/>
                  </a:lnTo>
                  <a:lnTo>
                    <a:pt x="389" y="95"/>
                  </a:lnTo>
                  <a:lnTo>
                    <a:pt x="381" y="113"/>
                  </a:lnTo>
                  <a:lnTo>
                    <a:pt x="369" y="127"/>
                  </a:lnTo>
                  <a:lnTo>
                    <a:pt x="354" y="142"/>
                  </a:lnTo>
                  <a:lnTo>
                    <a:pt x="339" y="153"/>
                  </a:lnTo>
                  <a:lnTo>
                    <a:pt x="325" y="164"/>
                  </a:lnTo>
                  <a:lnTo>
                    <a:pt x="308" y="176"/>
                  </a:lnTo>
                  <a:lnTo>
                    <a:pt x="290" y="185"/>
                  </a:lnTo>
                  <a:lnTo>
                    <a:pt x="272" y="191"/>
                  </a:lnTo>
                  <a:lnTo>
                    <a:pt x="251" y="196"/>
                  </a:lnTo>
                  <a:lnTo>
                    <a:pt x="232" y="199"/>
                  </a:lnTo>
                  <a:lnTo>
                    <a:pt x="211" y="199"/>
                  </a:lnTo>
                  <a:lnTo>
                    <a:pt x="190" y="199"/>
                  </a:lnTo>
                  <a:lnTo>
                    <a:pt x="170" y="196"/>
                  </a:lnTo>
                  <a:lnTo>
                    <a:pt x="153" y="191"/>
                  </a:lnTo>
                  <a:lnTo>
                    <a:pt x="132" y="185"/>
                  </a:lnTo>
                  <a:lnTo>
                    <a:pt x="114" y="176"/>
                  </a:lnTo>
                  <a:lnTo>
                    <a:pt x="100" y="164"/>
                  </a:lnTo>
                  <a:lnTo>
                    <a:pt x="83" y="153"/>
                  </a:lnTo>
                  <a:lnTo>
                    <a:pt x="68" y="142"/>
                  </a:lnTo>
                  <a:lnTo>
                    <a:pt x="56" y="127"/>
                  </a:lnTo>
                  <a:lnTo>
                    <a:pt x="44" y="113"/>
                  </a:lnTo>
                  <a:lnTo>
                    <a:pt x="33" y="95"/>
                  </a:lnTo>
                  <a:lnTo>
                    <a:pt x="24" y="78"/>
                  </a:lnTo>
                  <a:lnTo>
                    <a:pt x="18" y="57"/>
                  </a:lnTo>
                  <a:lnTo>
                    <a:pt x="12" y="41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0" name="Freeform 164">
              <a:extLst>
                <a:ext uri="{FF2B5EF4-FFF2-40B4-BE49-F238E27FC236}">
                  <a16:creationId xmlns:a16="http://schemas.microsoft.com/office/drawing/2014/main" id="{82B15367-0611-4E21-9B43-48D163359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595"/>
              <a:ext cx="407" cy="202"/>
            </a:xfrm>
            <a:custGeom>
              <a:avLst/>
              <a:gdLst>
                <a:gd name="T0" fmla="*/ 0 w 407"/>
                <a:gd name="T1" fmla="*/ 181 h 202"/>
                <a:gd name="T2" fmla="*/ 9 w 407"/>
                <a:gd name="T3" fmla="*/ 141 h 202"/>
                <a:gd name="T4" fmla="*/ 24 w 407"/>
                <a:gd name="T5" fmla="*/ 106 h 202"/>
                <a:gd name="T6" fmla="*/ 47 w 407"/>
                <a:gd name="T7" fmla="*/ 75 h 202"/>
                <a:gd name="T8" fmla="*/ 74 w 407"/>
                <a:gd name="T9" fmla="*/ 46 h 202"/>
                <a:gd name="T10" fmla="*/ 105 w 407"/>
                <a:gd name="T11" fmla="*/ 25 h 202"/>
                <a:gd name="T12" fmla="*/ 144 w 407"/>
                <a:gd name="T13" fmla="*/ 8 h 202"/>
                <a:gd name="T14" fmla="*/ 181 w 407"/>
                <a:gd name="T15" fmla="*/ 3 h 202"/>
                <a:gd name="T16" fmla="*/ 223 w 407"/>
                <a:gd name="T17" fmla="*/ 3 h 202"/>
                <a:gd name="T18" fmla="*/ 263 w 407"/>
                <a:gd name="T19" fmla="*/ 8 h 202"/>
                <a:gd name="T20" fmla="*/ 299 w 407"/>
                <a:gd name="T21" fmla="*/ 25 h 202"/>
                <a:gd name="T22" fmla="*/ 330 w 407"/>
                <a:gd name="T23" fmla="*/ 46 h 202"/>
                <a:gd name="T24" fmla="*/ 360 w 407"/>
                <a:gd name="T25" fmla="*/ 75 h 202"/>
                <a:gd name="T26" fmla="*/ 380 w 407"/>
                <a:gd name="T27" fmla="*/ 106 h 202"/>
                <a:gd name="T28" fmla="*/ 395 w 407"/>
                <a:gd name="T29" fmla="*/ 141 h 202"/>
                <a:gd name="T30" fmla="*/ 404 w 407"/>
                <a:gd name="T31" fmla="*/ 181 h 202"/>
                <a:gd name="T32" fmla="*/ 395 w 407"/>
                <a:gd name="T33" fmla="*/ 201 h 202"/>
                <a:gd name="T34" fmla="*/ 392 w 407"/>
                <a:gd name="T35" fmla="*/ 161 h 202"/>
                <a:gd name="T36" fmla="*/ 380 w 407"/>
                <a:gd name="T37" fmla="*/ 126 h 202"/>
                <a:gd name="T38" fmla="*/ 363 w 407"/>
                <a:gd name="T39" fmla="*/ 94 h 202"/>
                <a:gd name="T40" fmla="*/ 339 w 407"/>
                <a:gd name="T41" fmla="*/ 66 h 202"/>
                <a:gd name="T42" fmla="*/ 310 w 407"/>
                <a:gd name="T43" fmla="*/ 43 h 202"/>
                <a:gd name="T44" fmla="*/ 278 w 407"/>
                <a:gd name="T45" fmla="*/ 25 h 202"/>
                <a:gd name="T46" fmla="*/ 242 w 407"/>
                <a:gd name="T47" fmla="*/ 14 h 202"/>
                <a:gd name="T48" fmla="*/ 202 w 407"/>
                <a:gd name="T49" fmla="*/ 8 h 202"/>
                <a:gd name="T50" fmla="*/ 164 w 407"/>
                <a:gd name="T51" fmla="*/ 14 h 202"/>
                <a:gd name="T52" fmla="*/ 126 w 407"/>
                <a:gd name="T53" fmla="*/ 25 h 202"/>
                <a:gd name="T54" fmla="*/ 94 w 407"/>
                <a:gd name="T55" fmla="*/ 43 h 202"/>
                <a:gd name="T56" fmla="*/ 65 w 407"/>
                <a:gd name="T57" fmla="*/ 66 h 202"/>
                <a:gd name="T58" fmla="*/ 41 w 407"/>
                <a:gd name="T59" fmla="*/ 94 h 202"/>
                <a:gd name="T60" fmla="*/ 24 w 407"/>
                <a:gd name="T61" fmla="*/ 126 h 202"/>
                <a:gd name="T62" fmla="*/ 12 w 407"/>
                <a:gd name="T63" fmla="*/ 161 h 202"/>
                <a:gd name="T64" fmla="*/ 9 w 407"/>
                <a:gd name="T65" fmla="*/ 201 h 20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07"/>
                <a:gd name="T100" fmla="*/ 0 h 202"/>
                <a:gd name="T101" fmla="*/ 407 w 407"/>
                <a:gd name="T102" fmla="*/ 202 h 20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07" h="202">
                  <a:moveTo>
                    <a:pt x="0" y="201"/>
                  </a:moveTo>
                  <a:lnTo>
                    <a:pt x="0" y="181"/>
                  </a:lnTo>
                  <a:lnTo>
                    <a:pt x="3" y="161"/>
                  </a:lnTo>
                  <a:lnTo>
                    <a:pt x="9" y="141"/>
                  </a:lnTo>
                  <a:lnTo>
                    <a:pt x="15" y="123"/>
                  </a:lnTo>
                  <a:lnTo>
                    <a:pt x="24" y="106"/>
                  </a:lnTo>
                  <a:lnTo>
                    <a:pt x="35" y="88"/>
                  </a:lnTo>
                  <a:lnTo>
                    <a:pt x="47" y="75"/>
                  </a:lnTo>
                  <a:lnTo>
                    <a:pt x="59" y="60"/>
                  </a:lnTo>
                  <a:lnTo>
                    <a:pt x="74" y="46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23" y="17"/>
                  </a:lnTo>
                  <a:lnTo>
                    <a:pt x="144" y="8"/>
                  </a:lnTo>
                  <a:lnTo>
                    <a:pt x="161" y="5"/>
                  </a:lnTo>
                  <a:lnTo>
                    <a:pt x="181" y="3"/>
                  </a:lnTo>
                  <a:lnTo>
                    <a:pt x="202" y="0"/>
                  </a:lnTo>
                  <a:lnTo>
                    <a:pt x="223" y="3"/>
                  </a:lnTo>
                  <a:lnTo>
                    <a:pt x="242" y="5"/>
                  </a:lnTo>
                  <a:lnTo>
                    <a:pt x="263" y="8"/>
                  </a:lnTo>
                  <a:lnTo>
                    <a:pt x="281" y="17"/>
                  </a:lnTo>
                  <a:lnTo>
                    <a:pt x="299" y="25"/>
                  </a:lnTo>
                  <a:lnTo>
                    <a:pt x="316" y="34"/>
                  </a:lnTo>
                  <a:lnTo>
                    <a:pt x="330" y="46"/>
                  </a:lnTo>
                  <a:lnTo>
                    <a:pt x="345" y="60"/>
                  </a:lnTo>
                  <a:lnTo>
                    <a:pt x="360" y="75"/>
                  </a:lnTo>
                  <a:lnTo>
                    <a:pt x="372" y="88"/>
                  </a:lnTo>
                  <a:lnTo>
                    <a:pt x="380" y="106"/>
                  </a:lnTo>
                  <a:lnTo>
                    <a:pt x="389" y="123"/>
                  </a:lnTo>
                  <a:lnTo>
                    <a:pt x="395" y="141"/>
                  </a:lnTo>
                  <a:lnTo>
                    <a:pt x="401" y="161"/>
                  </a:lnTo>
                  <a:lnTo>
                    <a:pt x="404" y="181"/>
                  </a:lnTo>
                  <a:lnTo>
                    <a:pt x="406" y="201"/>
                  </a:lnTo>
                  <a:lnTo>
                    <a:pt x="395" y="201"/>
                  </a:lnTo>
                  <a:lnTo>
                    <a:pt x="395" y="181"/>
                  </a:lnTo>
                  <a:lnTo>
                    <a:pt x="392" y="161"/>
                  </a:lnTo>
                  <a:lnTo>
                    <a:pt x="386" y="144"/>
                  </a:lnTo>
                  <a:lnTo>
                    <a:pt x="380" y="126"/>
                  </a:lnTo>
                  <a:lnTo>
                    <a:pt x="372" y="109"/>
                  </a:lnTo>
                  <a:lnTo>
                    <a:pt x="363" y="94"/>
                  </a:lnTo>
                  <a:lnTo>
                    <a:pt x="351" y="81"/>
                  </a:lnTo>
                  <a:lnTo>
                    <a:pt x="339" y="66"/>
                  </a:lnTo>
                  <a:lnTo>
                    <a:pt x="324" y="54"/>
                  </a:lnTo>
                  <a:lnTo>
                    <a:pt x="310" y="43"/>
                  </a:lnTo>
                  <a:lnTo>
                    <a:pt x="296" y="31"/>
                  </a:lnTo>
                  <a:lnTo>
                    <a:pt x="278" y="25"/>
                  </a:lnTo>
                  <a:lnTo>
                    <a:pt x="260" y="17"/>
                  </a:lnTo>
                  <a:lnTo>
                    <a:pt x="242" y="14"/>
                  </a:lnTo>
                  <a:lnTo>
                    <a:pt x="223" y="11"/>
                  </a:lnTo>
                  <a:lnTo>
                    <a:pt x="202" y="8"/>
                  </a:lnTo>
                  <a:lnTo>
                    <a:pt x="184" y="11"/>
                  </a:lnTo>
                  <a:lnTo>
                    <a:pt x="164" y="14"/>
                  </a:lnTo>
                  <a:lnTo>
                    <a:pt x="147" y="17"/>
                  </a:lnTo>
                  <a:lnTo>
                    <a:pt x="126" y="25"/>
                  </a:lnTo>
                  <a:lnTo>
                    <a:pt x="111" y="31"/>
                  </a:lnTo>
                  <a:lnTo>
                    <a:pt x="94" y="43"/>
                  </a:lnTo>
                  <a:lnTo>
                    <a:pt x="79" y="54"/>
                  </a:lnTo>
                  <a:lnTo>
                    <a:pt x="65" y="66"/>
                  </a:lnTo>
                  <a:lnTo>
                    <a:pt x="53" y="81"/>
                  </a:lnTo>
                  <a:lnTo>
                    <a:pt x="41" y="94"/>
                  </a:lnTo>
                  <a:lnTo>
                    <a:pt x="33" y="109"/>
                  </a:lnTo>
                  <a:lnTo>
                    <a:pt x="24" y="126"/>
                  </a:lnTo>
                  <a:lnTo>
                    <a:pt x="18" y="144"/>
                  </a:lnTo>
                  <a:lnTo>
                    <a:pt x="12" y="161"/>
                  </a:lnTo>
                  <a:lnTo>
                    <a:pt x="9" y="181"/>
                  </a:lnTo>
                  <a:lnTo>
                    <a:pt x="9" y="201"/>
                  </a:lnTo>
                  <a:lnTo>
                    <a:pt x="0" y="201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1" name="Freeform 165">
              <a:extLst>
                <a:ext uri="{FF2B5EF4-FFF2-40B4-BE49-F238E27FC236}">
                  <a16:creationId xmlns:a16="http://schemas.microsoft.com/office/drawing/2014/main" id="{4F14BF3A-A234-4E68-9CD8-006BEA306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802"/>
              <a:ext cx="407" cy="200"/>
            </a:xfrm>
            <a:custGeom>
              <a:avLst/>
              <a:gdLst>
                <a:gd name="T0" fmla="*/ 0 w 407"/>
                <a:gd name="T1" fmla="*/ 0 h 200"/>
                <a:gd name="T2" fmla="*/ 3 w 407"/>
                <a:gd name="T3" fmla="*/ 41 h 200"/>
                <a:gd name="T4" fmla="*/ 15 w 407"/>
                <a:gd name="T5" fmla="*/ 78 h 200"/>
                <a:gd name="T6" fmla="*/ 35 w 407"/>
                <a:gd name="T7" fmla="*/ 113 h 200"/>
                <a:gd name="T8" fmla="*/ 59 w 407"/>
                <a:gd name="T9" fmla="*/ 142 h 200"/>
                <a:gd name="T10" fmla="*/ 91 w 407"/>
                <a:gd name="T11" fmla="*/ 164 h 200"/>
                <a:gd name="T12" fmla="*/ 123 w 407"/>
                <a:gd name="T13" fmla="*/ 184 h 200"/>
                <a:gd name="T14" fmla="*/ 161 w 407"/>
                <a:gd name="T15" fmla="*/ 196 h 200"/>
                <a:gd name="T16" fmla="*/ 202 w 407"/>
                <a:gd name="T17" fmla="*/ 199 h 200"/>
                <a:gd name="T18" fmla="*/ 242 w 407"/>
                <a:gd name="T19" fmla="*/ 196 h 200"/>
                <a:gd name="T20" fmla="*/ 281 w 407"/>
                <a:gd name="T21" fmla="*/ 184 h 200"/>
                <a:gd name="T22" fmla="*/ 316 w 407"/>
                <a:gd name="T23" fmla="*/ 164 h 200"/>
                <a:gd name="T24" fmla="*/ 345 w 407"/>
                <a:gd name="T25" fmla="*/ 142 h 200"/>
                <a:gd name="T26" fmla="*/ 372 w 407"/>
                <a:gd name="T27" fmla="*/ 113 h 200"/>
                <a:gd name="T28" fmla="*/ 389 w 407"/>
                <a:gd name="T29" fmla="*/ 78 h 200"/>
                <a:gd name="T30" fmla="*/ 401 w 407"/>
                <a:gd name="T31" fmla="*/ 41 h 200"/>
                <a:gd name="T32" fmla="*/ 406 w 407"/>
                <a:gd name="T33" fmla="*/ 0 h 200"/>
                <a:gd name="T34" fmla="*/ 395 w 407"/>
                <a:gd name="T35" fmla="*/ 17 h 200"/>
                <a:gd name="T36" fmla="*/ 386 w 407"/>
                <a:gd name="T37" fmla="*/ 55 h 200"/>
                <a:gd name="T38" fmla="*/ 372 w 407"/>
                <a:gd name="T39" fmla="*/ 89 h 200"/>
                <a:gd name="T40" fmla="*/ 351 w 407"/>
                <a:gd name="T41" fmla="*/ 121 h 200"/>
                <a:gd name="T42" fmla="*/ 324 w 407"/>
                <a:gd name="T43" fmla="*/ 147 h 200"/>
                <a:gd name="T44" fmla="*/ 296 w 407"/>
                <a:gd name="T45" fmla="*/ 167 h 200"/>
                <a:gd name="T46" fmla="*/ 260 w 407"/>
                <a:gd name="T47" fmla="*/ 182 h 200"/>
                <a:gd name="T48" fmla="*/ 223 w 407"/>
                <a:gd name="T49" fmla="*/ 190 h 200"/>
                <a:gd name="T50" fmla="*/ 184 w 407"/>
                <a:gd name="T51" fmla="*/ 190 h 200"/>
                <a:gd name="T52" fmla="*/ 147 w 407"/>
                <a:gd name="T53" fmla="*/ 182 h 200"/>
                <a:gd name="T54" fmla="*/ 111 w 407"/>
                <a:gd name="T55" fmla="*/ 167 h 200"/>
                <a:gd name="T56" fmla="*/ 79 w 407"/>
                <a:gd name="T57" fmla="*/ 147 h 200"/>
                <a:gd name="T58" fmla="*/ 53 w 407"/>
                <a:gd name="T59" fmla="*/ 121 h 200"/>
                <a:gd name="T60" fmla="*/ 33 w 407"/>
                <a:gd name="T61" fmla="*/ 89 h 200"/>
                <a:gd name="T62" fmla="*/ 18 w 407"/>
                <a:gd name="T63" fmla="*/ 55 h 200"/>
                <a:gd name="T64" fmla="*/ 9 w 407"/>
                <a:gd name="T65" fmla="*/ 17 h 200"/>
                <a:gd name="T66" fmla="*/ 0 w 407"/>
                <a:gd name="T67" fmla="*/ 0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7"/>
                <a:gd name="T103" fmla="*/ 0 h 200"/>
                <a:gd name="T104" fmla="*/ 407 w 407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7" h="200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57"/>
                  </a:lnTo>
                  <a:lnTo>
                    <a:pt x="15" y="78"/>
                  </a:lnTo>
                  <a:lnTo>
                    <a:pt x="24" y="95"/>
                  </a:lnTo>
                  <a:lnTo>
                    <a:pt x="35" y="113"/>
                  </a:lnTo>
                  <a:lnTo>
                    <a:pt x="47" y="127"/>
                  </a:lnTo>
                  <a:lnTo>
                    <a:pt x="59" y="142"/>
                  </a:lnTo>
                  <a:lnTo>
                    <a:pt x="74" y="152"/>
                  </a:lnTo>
                  <a:lnTo>
                    <a:pt x="91" y="164"/>
                  </a:lnTo>
                  <a:lnTo>
                    <a:pt x="105" y="176"/>
                  </a:lnTo>
                  <a:lnTo>
                    <a:pt x="123" y="184"/>
                  </a:lnTo>
                  <a:lnTo>
                    <a:pt x="144" y="190"/>
                  </a:lnTo>
                  <a:lnTo>
                    <a:pt x="161" y="196"/>
                  </a:lnTo>
                  <a:lnTo>
                    <a:pt x="181" y="199"/>
                  </a:lnTo>
                  <a:lnTo>
                    <a:pt x="202" y="199"/>
                  </a:lnTo>
                  <a:lnTo>
                    <a:pt x="223" y="199"/>
                  </a:lnTo>
                  <a:lnTo>
                    <a:pt x="242" y="196"/>
                  </a:lnTo>
                  <a:lnTo>
                    <a:pt x="263" y="190"/>
                  </a:lnTo>
                  <a:lnTo>
                    <a:pt x="281" y="184"/>
                  </a:lnTo>
                  <a:lnTo>
                    <a:pt x="299" y="176"/>
                  </a:lnTo>
                  <a:lnTo>
                    <a:pt x="316" y="164"/>
                  </a:lnTo>
                  <a:lnTo>
                    <a:pt x="330" y="152"/>
                  </a:lnTo>
                  <a:lnTo>
                    <a:pt x="345" y="142"/>
                  </a:lnTo>
                  <a:lnTo>
                    <a:pt x="360" y="127"/>
                  </a:lnTo>
                  <a:lnTo>
                    <a:pt x="372" y="113"/>
                  </a:lnTo>
                  <a:lnTo>
                    <a:pt x="380" y="95"/>
                  </a:lnTo>
                  <a:lnTo>
                    <a:pt x="389" y="78"/>
                  </a:lnTo>
                  <a:lnTo>
                    <a:pt x="395" y="57"/>
                  </a:lnTo>
                  <a:lnTo>
                    <a:pt x="401" y="41"/>
                  </a:lnTo>
                  <a:lnTo>
                    <a:pt x="404" y="20"/>
                  </a:lnTo>
                  <a:lnTo>
                    <a:pt x="406" y="0"/>
                  </a:lnTo>
                  <a:lnTo>
                    <a:pt x="395" y="0"/>
                  </a:lnTo>
                  <a:lnTo>
                    <a:pt x="395" y="17"/>
                  </a:lnTo>
                  <a:lnTo>
                    <a:pt x="392" y="38"/>
                  </a:lnTo>
                  <a:lnTo>
                    <a:pt x="386" y="55"/>
                  </a:lnTo>
                  <a:lnTo>
                    <a:pt x="380" y="75"/>
                  </a:lnTo>
                  <a:lnTo>
                    <a:pt x="372" y="89"/>
                  </a:lnTo>
                  <a:lnTo>
                    <a:pt x="363" y="107"/>
                  </a:lnTo>
                  <a:lnTo>
                    <a:pt x="351" y="121"/>
                  </a:lnTo>
                  <a:lnTo>
                    <a:pt x="339" y="136"/>
                  </a:lnTo>
                  <a:lnTo>
                    <a:pt x="324" y="147"/>
                  </a:lnTo>
                  <a:lnTo>
                    <a:pt x="310" y="158"/>
                  </a:lnTo>
                  <a:lnTo>
                    <a:pt x="296" y="167"/>
                  </a:lnTo>
                  <a:lnTo>
                    <a:pt x="278" y="176"/>
                  </a:lnTo>
                  <a:lnTo>
                    <a:pt x="260" y="182"/>
                  </a:lnTo>
                  <a:lnTo>
                    <a:pt x="242" y="187"/>
                  </a:lnTo>
                  <a:lnTo>
                    <a:pt x="223" y="190"/>
                  </a:lnTo>
                  <a:lnTo>
                    <a:pt x="202" y="190"/>
                  </a:lnTo>
                  <a:lnTo>
                    <a:pt x="184" y="190"/>
                  </a:lnTo>
                  <a:lnTo>
                    <a:pt x="164" y="187"/>
                  </a:lnTo>
                  <a:lnTo>
                    <a:pt x="147" y="182"/>
                  </a:lnTo>
                  <a:lnTo>
                    <a:pt x="126" y="176"/>
                  </a:lnTo>
                  <a:lnTo>
                    <a:pt x="111" y="167"/>
                  </a:lnTo>
                  <a:lnTo>
                    <a:pt x="94" y="158"/>
                  </a:lnTo>
                  <a:lnTo>
                    <a:pt x="79" y="147"/>
                  </a:lnTo>
                  <a:lnTo>
                    <a:pt x="65" y="136"/>
                  </a:lnTo>
                  <a:lnTo>
                    <a:pt x="53" y="121"/>
                  </a:lnTo>
                  <a:lnTo>
                    <a:pt x="41" y="107"/>
                  </a:lnTo>
                  <a:lnTo>
                    <a:pt x="33" y="89"/>
                  </a:lnTo>
                  <a:lnTo>
                    <a:pt x="24" y="75"/>
                  </a:lnTo>
                  <a:lnTo>
                    <a:pt x="18" y="55"/>
                  </a:lnTo>
                  <a:lnTo>
                    <a:pt x="12" y="38"/>
                  </a:lnTo>
                  <a:lnTo>
                    <a:pt x="9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2" name="Freeform 166">
              <a:extLst>
                <a:ext uri="{FF2B5EF4-FFF2-40B4-BE49-F238E27FC236}">
                  <a16:creationId xmlns:a16="http://schemas.microsoft.com/office/drawing/2014/main" id="{0D6EC5C3-CE04-4DF3-9B95-7A40EA657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603"/>
              <a:ext cx="387" cy="194"/>
            </a:xfrm>
            <a:custGeom>
              <a:avLst/>
              <a:gdLst>
                <a:gd name="T0" fmla="*/ 0 w 387"/>
                <a:gd name="T1" fmla="*/ 173 h 194"/>
                <a:gd name="T2" fmla="*/ 9 w 387"/>
                <a:gd name="T3" fmla="*/ 136 h 194"/>
                <a:gd name="T4" fmla="*/ 24 w 387"/>
                <a:gd name="T5" fmla="*/ 101 h 194"/>
                <a:gd name="T6" fmla="*/ 44 w 387"/>
                <a:gd name="T7" fmla="*/ 73 h 194"/>
                <a:gd name="T8" fmla="*/ 70 w 387"/>
                <a:gd name="T9" fmla="*/ 47 h 194"/>
                <a:gd name="T10" fmla="*/ 102 w 387"/>
                <a:gd name="T11" fmla="*/ 23 h 194"/>
                <a:gd name="T12" fmla="*/ 138 w 387"/>
                <a:gd name="T13" fmla="*/ 9 h 194"/>
                <a:gd name="T14" fmla="*/ 175 w 387"/>
                <a:gd name="T15" fmla="*/ 3 h 194"/>
                <a:gd name="T16" fmla="*/ 214 w 387"/>
                <a:gd name="T17" fmla="*/ 3 h 194"/>
                <a:gd name="T18" fmla="*/ 251 w 387"/>
                <a:gd name="T19" fmla="*/ 9 h 194"/>
                <a:gd name="T20" fmla="*/ 287 w 387"/>
                <a:gd name="T21" fmla="*/ 23 h 194"/>
                <a:gd name="T22" fmla="*/ 315 w 387"/>
                <a:gd name="T23" fmla="*/ 47 h 194"/>
                <a:gd name="T24" fmla="*/ 342 w 387"/>
                <a:gd name="T25" fmla="*/ 73 h 194"/>
                <a:gd name="T26" fmla="*/ 362 w 387"/>
                <a:gd name="T27" fmla="*/ 101 h 194"/>
                <a:gd name="T28" fmla="*/ 377 w 387"/>
                <a:gd name="T29" fmla="*/ 136 h 194"/>
                <a:gd name="T30" fmla="*/ 386 w 387"/>
                <a:gd name="T31" fmla="*/ 173 h 194"/>
                <a:gd name="T32" fmla="*/ 377 w 387"/>
                <a:gd name="T33" fmla="*/ 193 h 194"/>
                <a:gd name="T34" fmla="*/ 374 w 387"/>
                <a:gd name="T35" fmla="*/ 156 h 194"/>
                <a:gd name="T36" fmla="*/ 362 w 387"/>
                <a:gd name="T37" fmla="*/ 121 h 194"/>
                <a:gd name="T38" fmla="*/ 345 w 387"/>
                <a:gd name="T39" fmla="*/ 89 h 194"/>
                <a:gd name="T40" fmla="*/ 324 w 387"/>
                <a:gd name="T41" fmla="*/ 64 h 194"/>
                <a:gd name="T42" fmla="*/ 295 w 387"/>
                <a:gd name="T43" fmla="*/ 41 h 194"/>
                <a:gd name="T44" fmla="*/ 266 w 387"/>
                <a:gd name="T45" fmla="*/ 26 h 194"/>
                <a:gd name="T46" fmla="*/ 231 w 387"/>
                <a:gd name="T47" fmla="*/ 15 h 194"/>
                <a:gd name="T48" fmla="*/ 193 w 387"/>
                <a:gd name="T49" fmla="*/ 12 h 194"/>
                <a:gd name="T50" fmla="*/ 158 w 387"/>
                <a:gd name="T51" fmla="*/ 15 h 194"/>
                <a:gd name="T52" fmla="*/ 123 w 387"/>
                <a:gd name="T53" fmla="*/ 26 h 194"/>
                <a:gd name="T54" fmla="*/ 91 w 387"/>
                <a:gd name="T55" fmla="*/ 41 h 194"/>
                <a:gd name="T56" fmla="*/ 65 w 387"/>
                <a:gd name="T57" fmla="*/ 64 h 194"/>
                <a:gd name="T58" fmla="*/ 41 w 387"/>
                <a:gd name="T59" fmla="*/ 89 h 194"/>
                <a:gd name="T60" fmla="*/ 24 w 387"/>
                <a:gd name="T61" fmla="*/ 121 h 194"/>
                <a:gd name="T62" fmla="*/ 15 w 387"/>
                <a:gd name="T63" fmla="*/ 156 h 194"/>
                <a:gd name="T64" fmla="*/ 9 w 387"/>
                <a:gd name="T65" fmla="*/ 193 h 1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87"/>
                <a:gd name="T100" fmla="*/ 0 h 194"/>
                <a:gd name="T101" fmla="*/ 387 w 387"/>
                <a:gd name="T102" fmla="*/ 194 h 1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87" h="194">
                  <a:moveTo>
                    <a:pt x="0" y="193"/>
                  </a:moveTo>
                  <a:lnTo>
                    <a:pt x="0" y="173"/>
                  </a:lnTo>
                  <a:lnTo>
                    <a:pt x="3" y="153"/>
                  </a:lnTo>
                  <a:lnTo>
                    <a:pt x="9" y="136"/>
                  </a:lnTo>
                  <a:lnTo>
                    <a:pt x="15" y="118"/>
                  </a:lnTo>
                  <a:lnTo>
                    <a:pt x="24" y="101"/>
                  </a:lnTo>
                  <a:lnTo>
                    <a:pt x="32" y="86"/>
                  </a:lnTo>
                  <a:lnTo>
                    <a:pt x="44" y="73"/>
                  </a:lnTo>
                  <a:lnTo>
                    <a:pt x="56" y="58"/>
                  </a:lnTo>
                  <a:lnTo>
                    <a:pt x="70" y="47"/>
                  </a:lnTo>
                  <a:lnTo>
                    <a:pt x="85" y="35"/>
                  </a:lnTo>
                  <a:lnTo>
                    <a:pt x="102" y="23"/>
                  </a:lnTo>
                  <a:lnTo>
                    <a:pt x="117" y="17"/>
                  </a:lnTo>
                  <a:lnTo>
                    <a:pt x="138" y="9"/>
                  </a:lnTo>
                  <a:lnTo>
                    <a:pt x="155" y="6"/>
                  </a:lnTo>
                  <a:lnTo>
                    <a:pt x="175" y="3"/>
                  </a:lnTo>
                  <a:lnTo>
                    <a:pt x="193" y="0"/>
                  </a:lnTo>
                  <a:lnTo>
                    <a:pt x="214" y="3"/>
                  </a:lnTo>
                  <a:lnTo>
                    <a:pt x="233" y="6"/>
                  </a:lnTo>
                  <a:lnTo>
                    <a:pt x="251" y="9"/>
                  </a:lnTo>
                  <a:lnTo>
                    <a:pt x="269" y="17"/>
                  </a:lnTo>
                  <a:lnTo>
                    <a:pt x="287" y="23"/>
                  </a:lnTo>
                  <a:lnTo>
                    <a:pt x="301" y="35"/>
                  </a:lnTo>
                  <a:lnTo>
                    <a:pt x="315" y="47"/>
                  </a:lnTo>
                  <a:lnTo>
                    <a:pt x="330" y="58"/>
                  </a:lnTo>
                  <a:lnTo>
                    <a:pt x="342" y="73"/>
                  </a:lnTo>
                  <a:lnTo>
                    <a:pt x="354" y="86"/>
                  </a:lnTo>
                  <a:lnTo>
                    <a:pt x="362" y="101"/>
                  </a:lnTo>
                  <a:lnTo>
                    <a:pt x="371" y="118"/>
                  </a:lnTo>
                  <a:lnTo>
                    <a:pt x="377" y="136"/>
                  </a:lnTo>
                  <a:lnTo>
                    <a:pt x="383" y="153"/>
                  </a:lnTo>
                  <a:lnTo>
                    <a:pt x="386" y="173"/>
                  </a:lnTo>
                  <a:lnTo>
                    <a:pt x="386" y="193"/>
                  </a:lnTo>
                  <a:lnTo>
                    <a:pt x="377" y="193"/>
                  </a:lnTo>
                  <a:lnTo>
                    <a:pt x="377" y="173"/>
                  </a:lnTo>
                  <a:lnTo>
                    <a:pt x="374" y="156"/>
                  </a:lnTo>
                  <a:lnTo>
                    <a:pt x="368" y="139"/>
                  </a:lnTo>
                  <a:lnTo>
                    <a:pt x="362" y="121"/>
                  </a:lnTo>
                  <a:lnTo>
                    <a:pt x="354" y="107"/>
                  </a:lnTo>
                  <a:lnTo>
                    <a:pt x="345" y="89"/>
                  </a:lnTo>
                  <a:lnTo>
                    <a:pt x="336" y="79"/>
                  </a:lnTo>
                  <a:lnTo>
                    <a:pt x="324" y="64"/>
                  </a:lnTo>
                  <a:lnTo>
                    <a:pt x="310" y="52"/>
                  </a:lnTo>
                  <a:lnTo>
                    <a:pt x="295" y="41"/>
                  </a:lnTo>
                  <a:lnTo>
                    <a:pt x="281" y="32"/>
                  </a:lnTo>
                  <a:lnTo>
                    <a:pt x="266" y="26"/>
                  </a:lnTo>
                  <a:lnTo>
                    <a:pt x="248" y="20"/>
                  </a:lnTo>
                  <a:lnTo>
                    <a:pt x="231" y="15"/>
                  </a:lnTo>
                  <a:lnTo>
                    <a:pt x="214" y="12"/>
                  </a:lnTo>
                  <a:lnTo>
                    <a:pt x="193" y="12"/>
                  </a:lnTo>
                  <a:lnTo>
                    <a:pt x="175" y="12"/>
                  </a:lnTo>
                  <a:lnTo>
                    <a:pt x="158" y="15"/>
                  </a:lnTo>
                  <a:lnTo>
                    <a:pt x="141" y="20"/>
                  </a:lnTo>
                  <a:lnTo>
                    <a:pt x="123" y="26"/>
                  </a:lnTo>
                  <a:lnTo>
                    <a:pt x="105" y="32"/>
                  </a:lnTo>
                  <a:lnTo>
                    <a:pt x="91" y="41"/>
                  </a:lnTo>
                  <a:lnTo>
                    <a:pt x="76" y="52"/>
                  </a:lnTo>
                  <a:lnTo>
                    <a:pt x="65" y="64"/>
                  </a:lnTo>
                  <a:lnTo>
                    <a:pt x="53" y="79"/>
                  </a:lnTo>
                  <a:lnTo>
                    <a:pt x="41" y="89"/>
                  </a:lnTo>
                  <a:lnTo>
                    <a:pt x="32" y="107"/>
                  </a:lnTo>
                  <a:lnTo>
                    <a:pt x="24" y="121"/>
                  </a:lnTo>
                  <a:lnTo>
                    <a:pt x="18" y="139"/>
                  </a:lnTo>
                  <a:lnTo>
                    <a:pt x="15" y="156"/>
                  </a:lnTo>
                  <a:lnTo>
                    <a:pt x="12" y="173"/>
                  </a:lnTo>
                  <a:lnTo>
                    <a:pt x="9" y="193"/>
                  </a:lnTo>
                  <a:lnTo>
                    <a:pt x="0" y="193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3" name="Freeform 167">
              <a:extLst>
                <a:ext uri="{FF2B5EF4-FFF2-40B4-BE49-F238E27FC236}">
                  <a16:creationId xmlns:a16="http://schemas.microsoft.com/office/drawing/2014/main" id="{2A10BAE1-6E92-4BC2-A6E6-280F0F2E3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02"/>
              <a:ext cx="387" cy="191"/>
            </a:xfrm>
            <a:custGeom>
              <a:avLst/>
              <a:gdLst>
                <a:gd name="T0" fmla="*/ 0 w 387"/>
                <a:gd name="T1" fmla="*/ 0 h 191"/>
                <a:gd name="T2" fmla="*/ 3 w 387"/>
                <a:gd name="T3" fmla="*/ 38 h 191"/>
                <a:gd name="T4" fmla="*/ 15 w 387"/>
                <a:gd name="T5" fmla="*/ 75 h 191"/>
                <a:gd name="T6" fmla="*/ 32 w 387"/>
                <a:gd name="T7" fmla="*/ 107 h 191"/>
                <a:gd name="T8" fmla="*/ 56 w 387"/>
                <a:gd name="T9" fmla="*/ 136 h 191"/>
                <a:gd name="T10" fmla="*/ 85 w 387"/>
                <a:gd name="T11" fmla="*/ 158 h 191"/>
                <a:gd name="T12" fmla="*/ 117 w 387"/>
                <a:gd name="T13" fmla="*/ 175 h 191"/>
                <a:gd name="T14" fmla="*/ 155 w 387"/>
                <a:gd name="T15" fmla="*/ 187 h 191"/>
                <a:gd name="T16" fmla="*/ 193 w 387"/>
                <a:gd name="T17" fmla="*/ 190 h 191"/>
                <a:gd name="T18" fmla="*/ 233 w 387"/>
                <a:gd name="T19" fmla="*/ 187 h 191"/>
                <a:gd name="T20" fmla="*/ 269 w 387"/>
                <a:gd name="T21" fmla="*/ 175 h 191"/>
                <a:gd name="T22" fmla="*/ 301 w 387"/>
                <a:gd name="T23" fmla="*/ 158 h 191"/>
                <a:gd name="T24" fmla="*/ 330 w 387"/>
                <a:gd name="T25" fmla="*/ 136 h 191"/>
                <a:gd name="T26" fmla="*/ 354 w 387"/>
                <a:gd name="T27" fmla="*/ 107 h 191"/>
                <a:gd name="T28" fmla="*/ 371 w 387"/>
                <a:gd name="T29" fmla="*/ 75 h 191"/>
                <a:gd name="T30" fmla="*/ 383 w 387"/>
                <a:gd name="T31" fmla="*/ 38 h 191"/>
                <a:gd name="T32" fmla="*/ 386 w 387"/>
                <a:gd name="T33" fmla="*/ 0 h 191"/>
                <a:gd name="T34" fmla="*/ 377 w 387"/>
                <a:gd name="T35" fmla="*/ 17 h 191"/>
                <a:gd name="T36" fmla="*/ 368 w 387"/>
                <a:gd name="T37" fmla="*/ 52 h 191"/>
                <a:gd name="T38" fmla="*/ 354 w 387"/>
                <a:gd name="T39" fmla="*/ 86 h 191"/>
                <a:gd name="T40" fmla="*/ 336 w 387"/>
                <a:gd name="T41" fmla="*/ 115 h 191"/>
                <a:gd name="T42" fmla="*/ 310 w 387"/>
                <a:gd name="T43" fmla="*/ 139 h 191"/>
                <a:gd name="T44" fmla="*/ 281 w 387"/>
                <a:gd name="T45" fmla="*/ 158 h 191"/>
                <a:gd name="T46" fmla="*/ 248 w 387"/>
                <a:gd name="T47" fmla="*/ 173 h 191"/>
                <a:gd name="T48" fmla="*/ 214 w 387"/>
                <a:gd name="T49" fmla="*/ 181 h 191"/>
                <a:gd name="T50" fmla="*/ 175 w 387"/>
                <a:gd name="T51" fmla="*/ 181 h 191"/>
                <a:gd name="T52" fmla="*/ 141 w 387"/>
                <a:gd name="T53" fmla="*/ 173 h 191"/>
                <a:gd name="T54" fmla="*/ 105 w 387"/>
                <a:gd name="T55" fmla="*/ 158 h 191"/>
                <a:gd name="T56" fmla="*/ 76 w 387"/>
                <a:gd name="T57" fmla="*/ 139 h 191"/>
                <a:gd name="T58" fmla="*/ 53 w 387"/>
                <a:gd name="T59" fmla="*/ 115 h 191"/>
                <a:gd name="T60" fmla="*/ 32 w 387"/>
                <a:gd name="T61" fmla="*/ 86 h 191"/>
                <a:gd name="T62" fmla="*/ 18 w 387"/>
                <a:gd name="T63" fmla="*/ 52 h 191"/>
                <a:gd name="T64" fmla="*/ 12 w 387"/>
                <a:gd name="T65" fmla="*/ 17 h 191"/>
                <a:gd name="T66" fmla="*/ 0 w 387"/>
                <a:gd name="T67" fmla="*/ 0 h 1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7"/>
                <a:gd name="T103" fmla="*/ 0 h 191"/>
                <a:gd name="T104" fmla="*/ 387 w 387"/>
                <a:gd name="T105" fmla="*/ 191 h 1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7" h="191">
                  <a:moveTo>
                    <a:pt x="0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3" y="38"/>
                  </a:lnTo>
                  <a:lnTo>
                    <a:pt x="9" y="55"/>
                  </a:lnTo>
                  <a:lnTo>
                    <a:pt x="15" y="75"/>
                  </a:lnTo>
                  <a:lnTo>
                    <a:pt x="24" y="89"/>
                  </a:lnTo>
                  <a:lnTo>
                    <a:pt x="32" y="107"/>
                  </a:lnTo>
                  <a:lnTo>
                    <a:pt x="44" y="121"/>
                  </a:lnTo>
                  <a:lnTo>
                    <a:pt x="56" y="136"/>
                  </a:lnTo>
                  <a:lnTo>
                    <a:pt x="70" y="146"/>
                  </a:lnTo>
                  <a:lnTo>
                    <a:pt x="85" y="158"/>
                  </a:lnTo>
                  <a:lnTo>
                    <a:pt x="102" y="167"/>
                  </a:lnTo>
                  <a:lnTo>
                    <a:pt x="117" y="175"/>
                  </a:lnTo>
                  <a:lnTo>
                    <a:pt x="138" y="181"/>
                  </a:lnTo>
                  <a:lnTo>
                    <a:pt x="155" y="187"/>
                  </a:lnTo>
                  <a:lnTo>
                    <a:pt x="175" y="190"/>
                  </a:lnTo>
                  <a:lnTo>
                    <a:pt x="193" y="190"/>
                  </a:lnTo>
                  <a:lnTo>
                    <a:pt x="214" y="190"/>
                  </a:lnTo>
                  <a:lnTo>
                    <a:pt x="233" y="187"/>
                  </a:lnTo>
                  <a:lnTo>
                    <a:pt x="251" y="181"/>
                  </a:lnTo>
                  <a:lnTo>
                    <a:pt x="269" y="175"/>
                  </a:lnTo>
                  <a:lnTo>
                    <a:pt x="287" y="167"/>
                  </a:lnTo>
                  <a:lnTo>
                    <a:pt x="301" y="158"/>
                  </a:lnTo>
                  <a:lnTo>
                    <a:pt x="315" y="146"/>
                  </a:lnTo>
                  <a:lnTo>
                    <a:pt x="330" y="136"/>
                  </a:lnTo>
                  <a:lnTo>
                    <a:pt x="342" y="121"/>
                  </a:lnTo>
                  <a:lnTo>
                    <a:pt x="354" y="107"/>
                  </a:lnTo>
                  <a:lnTo>
                    <a:pt x="362" y="89"/>
                  </a:lnTo>
                  <a:lnTo>
                    <a:pt x="371" y="75"/>
                  </a:lnTo>
                  <a:lnTo>
                    <a:pt x="377" y="55"/>
                  </a:lnTo>
                  <a:lnTo>
                    <a:pt x="383" y="38"/>
                  </a:lnTo>
                  <a:lnTo>
                    <a:pt x="386" y="17"/>
                  </a:lnTo>
                  <a:lnTo>
                    <a:pt x="386" y="0"/>
                  </a:lnTo>
                  <a:lnTo>
                    <a:pt x="377" y="0"/>
                  </a:lnTo>
                  <a:lnTo>
                    <a:pt x="377" y="17"/>
                  </a:lnTo>
                  <a:lnTo>
                    <a:pt x="374" y="35"/>
                  </a:lnTo>
                  <a:lnTo>
                    <a:pt x="368" y="52"/>
                  </a:lnTo>
                  <a:lnTo>
                    <a:pt x="362" y="69"/>
                  </a:lnTo>
                  <a:lnTo>
                    <a:pt x="354" y="86"/>
                  </a:lnTo>
                  <a:lnTo>
                    <a:pt x="345" y="101"/>
                  </a:lnTo>
                  <a:lnTo>
                    <a:pt x="336" y="115"/>
                  </a:lnTo>
                  <a:lnTo>
                    <a:pt x="324" y="127"/>
                  </a:lnTo>
                  <a:lnTo>
                    <a:pt x="310" y="139"/>
                  </a:lnTo>
                  <a:lnTo>
                    <a:pt x="295" y="149"/>
                  </a:lnTo>
                  <a:lnTo>
                    <a:pt x="281" y="158"/>
                  </a:lnTo>
                  <a:lnTo>
                    <a:pt x="266" y="167"/>
                  </a:lnTo>
                  <a:lnTo>
                    <a:pt x="248" y="173"/>
                  </a:lnTo>
                  <a:lnTo>
                    <a:pt x="231" y="178"/>
                  </a:lnTo>
                  <a:lnTo>
                    <a:pt x="214" y="181"/>
                  </a:lnTo>
                  <a:lnTo>
                    <a:pt x="193" y="181"/>
                  </a:lnTo>
                  <a:lnTo>
                    <a:pt x="175" y="181"/>
                  </a:lnTo>
                  <a:lnTo>
                    <a:pt x="158" y="178"/>
                  </a:lnTo>
                  <a:lnTo>
                    <a:pt x="141" y="173"/>
                  </a:lnTo>
                  <a:lnTo>
                    <a:pt x="123" y="167"/>
                  </a:lnTo>
                  <a:lnTo>
                    <a:pt x="105" y="158"/>
                  </a:lnTo>
                  <a:lnTo>
                    <a:pt x="91" y="149"/>
                  </a:lnTo>
                  <a:lnTo>
                    <a:pt x="76" y="139"/>
                  </a:lnTo>
                  <a:lnTo>
                    <a:pt x="65" y="127"/>
                  </a:lnTo>
                  <a:lnTo>
                    <a:pt x="53" y="115"/>
                  </a:lnTo>
                  <a:lnTo>
                    <a:pt x="41" y="101"/>
                  </a:lnTo>
                  <a:lnTo>
                    <a:pt x="32" y="86"/>
                  </a:lnTo>
                  <a:lnTo>
                    <a:pt x="24" y="69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4" name="Freeform 168">
              <a:extLst>
                <a:ext uri="{FF2B5EF4-FFF2-40B4-BE49-F238E27FC236}">
                  <a16:creationId xmlns:a16="http://schemas.microsoft.com/office/drawing/2014/main" id="{2160B306-7897-4A3D-A386-ACC6614D2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615"/>
              <a:ext cx="369" cy="182"/>
            </a:xfrm>
            <a:custGeom>
              <a:avLst/>
              <a:gdLst>
                <a:gd name="T0" fmla="*/ 3 w 369"/>
                <a:gd name="T1" fmla="*/ 161 h 182"/>
                <a:gd name="T2" fmla="*/ 9 w 369"/>
                <a:gd name="T3" fmla="*/ 127 h 182"/>
                <a:gd name="T4" fmla="*/ 24 w 369"/>
                <a:gd name="T5" fmla="*/ 95 h 182"/>
                <a:gd name="T6" fmla="*/ 44 w 369"/>
                <a:gd name="T7" fmla="*/ 67 h 182"/>
                <a:gd name="T8" fmla="*/ 67 w 369"/>
                <a:gd name="T9" fmla="*/ 41 h 182"/>
                <a:gd name="T10" fmla="*/ 96 w 369"/>
                <a:gd name="T11" fmla="*/ 20 h 182"/>
                <a:gd name="T12" fmla="*/ 132 w 369"/>
                <a:gd name="T13" fmla="*/ 9 h 182"/>
                <a:gd name="T14" fmla="*/ 166 w 369"/>
                <a:gd name="T15" fmla="*/ 0 h 182"/>
                <a:gd name="T16" fmla="*/ 205 w 369"/>
                <a:gd name="T17" fmla="*/ 0 h 182"/>
                <a:gd name="T18" fmla="*/ 239 w 369"/>
                <a:gd name="T19" fmla="*/ 9 h 182"/>
                <a:gd name="T20" fmla="*/ 272 w 369"/>
                <a:gd name="T21" fmla="*/ 20 h 182"/>
                <a:gd name="T22" fmla="*/ 301 w 369"/>
                <a:gd name="T23" fmla="*/ 41 h 182"/>
                <a:gd name="T24" fmla="*/ 327 w 369"/>
                <a:gd name="T25" fmla="*/ 67 h 182"/>
                <a:gd name="T26" fmla="*/ 344 w 369"/>
                <a:gd name="T27" fmla="*/ 95 h 182"/>
                <a:gd name="T28" fmla="*/ 359 w 369"/>
                <a:gd name="T29" fmla="*/ 127 h 182"/>
                <a:gd name="T30" fmla="*/ 368 w 369"/>
                <a:gd name="T31" fmla="*/ 161 h 182"/>
                <a:gd name="T32" fmla="*/ 359 w 369"/>
                <a:gd name="T33" fmla="*/ 181 h 182"/>
                <a:gd name="T34" fmla="*/ 356 w 369"/>
                <a:gd name="T35" fmla="*/ 147 h 182"/>
                <a:gd name="T36" fmla="*/ 344 w 369"/>
                <a:gd name="T37" fmla="*/ 112 h 182"/>
                <a:gd name="T38" fmla="*/ 330 w 369"/>
                <a:gd name="T39" fmla="*/ 83 h 182"/>
                <a:gd name="T40" fmla="*/ 309 w 369"/>
                <a:gd name="T41" fmla="*/ 58 h 182"/>
                <a:gd name="T42" fmla="*/ 283 w 369"/>
                <a:gd name="T43" fmla="*/ 38 h 182"/>
                <a:gd name="T44" fmla="*/ 254 w 369"/>
                <a:gd name="T45" fmla="*/ 20 h 182"/>
                <a:gd name="T46" fmla="*/ 219 w 369"/>
                <a:gd name="T47" fmla="*/ 12 h 182"/>
                <a:gd name="T48" fmla="*/ 184 w 369"/>
                <a:gd name="T49" fmla="*/ 9 h 182"/>
                <a:gd name="T50" fmla="*/ 149 w 369"/>
                <a:gd name="T51" fmla="*/ 12 h 182"/>
                <a:gd name="T52" fmla="*/ 117 w 369"/>
                <a:gd name="T53" fmla="*/ 20 h 182"/>
                <a:gd name="T54" fmla="*/ 88 w 369"/>
                <a:gd name="T55" fmla="*/ 38 h 182"/>
                <a:gd name="T56" fmla="*/ 61 w 369"/>
                <a:gd name="T57" fmla="*/ 58 h 182"/>
                <a:gd name="T58" fmla="*/ 38 w 369"/>
                <a:gd name="T59" fmla="*/ 83 h 182"/>
                <a:gd name="T60" fmla="*/ 24 w 369"/>
                <a:gd name="T61" fmla="*/ 112 h 182"/>
                <a:gd name="T62" fmla="*/ 15 w 369"/>
                <a:gd name="T63" fmla="*/ 147 h 182"/>
                <a:gd name="T64" fmla="*/ 9 w 369"/>
                <a:gd name="T65" fmla="*/ 181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69"/>
                <a:gd name="T100" fmla="*/ 0 h 182"/>
                <a:gd name="T101" fmla="*/ 369 w 369"/>
                <a:gd name="T102" fmla="*/ 182 h 18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69" h="182">
                  <a:moveTo>
                    <a:pt x="0" y="181"/>
                  </a:moveTo>
                  <a:lnTo>
                    <a:pt x="3" y="161"/>
                  </a:lnTo>
                  <a:lnTo>
                    <a:pt x="6" y="144"/>
                  </a:lnTo>
                  <a:lnTo>
                    <a:pt x="9" y="127"/>
                  </a:lnTo>
                  <a:lnTo>
                    <a:pt x="15" y="109"/>
                  </a:lnTo>
                  <a:lnTo>
                    <a:pt x="24" y="95"/>
                  </a:lnTo>
                  <a:lnTo>
                    <a:pt x="32" y="77"/>
                  </a:lnTo>
                  <a:lnTo>
                    <a:pt x="44" y="67"/>
                  </a:lnTo>
                  <a:lnTo>
                    <a:pt x="56" y="52"/>
                  </a:lnTo>
                  <a:lnTo>
                    <a:pt x="67" y="41"/>
                  </a:lnTo>
                  <a:lnTo>
                    <a:pt x="82" y="29"/>
                  </a:lnTo>
                  <a:lnTo>
                    <a:pt x="96" y="20"/>
                  </a:lnTo>
                  <a:lnTo>
                    <a:pt x="114" y="15"/>
                  </a:lnTo>
                  <a:lnTo>
                    <a:pt x="132" y="9"/>
                  </a:lnTo>
                  <a:lnTo>
                    <a:pt x="149" y="3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5" y="0"/>
                  </a:lnTo>
                  <a:lnTo>
                    <a:pt x="222" y="3"/>
                  </a:lnTo>
                  <a:lnTo>
                    <a:pt x="239" y="9"/>
                  </a:lnTo>
                  <a:lnTo>
                    <a:pt x="257" y="15"/>
                  </a:lnTo>
                  <a:lnTo>
                    <a:pt x="272" y="20"/>
                  </a:lnTo>
                  <a:lnTo>
                    <a:pt x="286" y="29"/>
                  </a:lnTo>
                  <a:lnTo>
                    <a:pt x="301" y="41"/>
                  </a:lnTo>
                  <a:lnTo>
                    <a:pt x="315" y="52"/>
                  </a:lnTo>
                  <a:lnTo>
                    <a:pt x="327" y="67"/>
                  </a:lnTo>
                  <a:lnTo>
                    <a:pt x="336" y="77"/>
                  </a:lnTo>
                  <a:lnTo>
                    <a:pt x="344" y="95"/>
                  </a:lnTo>
                  <a:lnTo>
                    <a:pt x="353" y="109"/>
                  </a:lnTo>
                  <a:lnTo>
                    <a:pt x="359" y="127"/>
                  </a:lnTo>
                  <a:lnTo>
                    <a:pt x="365" y="144"/>
                  </a:lnTo>
                  <a:lnTo>
                    <a:pt x="368" y="161"/>
                  </a:lnTo>
                  <a:lnTo>
                    <a:pt x="368" y="181"/>
                  </a:lnTo>
                  <a:lnTo>
                    <a:pt x="359" y="181"/>
                  </a:lnTo>
                  <a:lnTo>
                    <a:pt x="359" y="164"/>
                  </a:lnTo>
                  <a:lnTo>
                    <a:pt x="356" y="147"/>
                  </a:lnTo>
                  <a:lnTo>
                    <a:pt x="350" y="130"/>
                  </a:lnTo>
                  <a:lnTo>
                    <a:pt x="344" y="112"/>
                  </a:lnTo>
                  <a:lnTo>
                    <a:pt x="338" y="98"/>
                  </a:lnTo>
                  <a:lnTo>
                    <a:pt x="330" y="83"/>
                  </a:lnTo>
                  <a:lnTo>
                    <a:pt x="318" y="72"/>
                  </a:lnTo>
                  <a:lnTo>
                    <a:pt x="309" y="58"/>
                  </a:lnTo>
                  <a:lnTo>
                    <a:pt x="295" y="46"/>
                  </a:lnTo>
                  <a:lnTo>
                    <a:pt x="283" y="38"/>
                  </a:lnTo>
                  <a:lnTo>
                    <a:pt x="269" y="29"/>
                  </a:lnTo>
                  <a:lnTo>
                    <a:pt x="254" y="20"/>
                  </a:lnTo>
                  <a:lnTo>
                    <a:pt x="236" y="15"/>
                  </a:lnTo>
                  <a:lnTo>
                    <a:pt x="219" y="12"/>
                  </a:lnTo>
                  <a:lnTo>
                    <a:pt x="202" y="9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49" y="12"/>
                  </a:lnTo>
                  <a:lnTo>
                    <a:pt x="132" y="15"/>
                  </a:lnTo>
                  <a:lnTo>
                    <a:pt x="117" y="20"/>
                  </a:lnTo>
                  <a:lnTo>
                    <a:pt x="102" y="29"/>
                  </a:lnTo>
                  <a:lnTo>
                    <a:pt x="88" y="38"/>
                  </a:lnTo>
                  <a:lnTo>
                    <a:pt x="73" y="46"/>
                  </a:lnTo>
                  <a:lnTo>
                    <a:pt x="61" y="58"/>
                  </a:lnTo>
                  <a:lnTo>
                    <a:pt x="50" y="72"/>
                  </a:lnTo>
                  <a:lnTo>
                    <a:pt x="38" y="83"/>
                  </a:lnTo>
                  <a:lnTo>
                    <a:pt x="30" y="98"/>
                  </a:lnTo>
                  <a:lnTo>
                    <a:pt x="24" y="112"/>
                  </a:lnTo>
                  <a:lnTo>
                    <a:pt x="18" y="130"/>
                  </a:lnTo>
                  <a:lnTo>
                    <a:pt x="15" y="147"/>
                  </a:lnTo>
                  <a:lnTo>
                    <a:pt x="12" y="164"/>
                  </a:lnTo>
                  <a:lnTo>
                    <a:pt x="9" y="181"/>
                  </a:lnTo>
                  <a:lnTo>
                    <a:pt x="0" y="181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5" name="Freeform 169">
              <a:extLst>
                <a:ext uri="{FF2B5EF4-FFF2-40B4-BE49-F238E27FC236}">
                  <a16:creationId xmlns:a16="http://schemas.microsoft.com/office/drawing/2014/main" id="{9E9C0F22-B7D3-4F40-9F42-AB344DCE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802"/>
              <a:ext cx="369" cy="182"/>
            </a:xfrm>
            <a:custGeom>
              <a:avLst/>
              <a:gdLst>
                <a:gd name="T0" fmla="*/ 0 w 369"/>
                <a:gd name="T1" fmla="*/ 0 h 182"/>
                <a:gd name="T2" fmla="*/ 6 w 369"/>
                <a:gd name="T3" fmla="*/ 35 h 182"/>
                <a:gd name="T4" fmla="*/ 15 w 369"/>
                <a:gd name="T5" fmla="*/ 69 h 182"/>
                <a:gd name="T6" fmla="*/ 32 w 369"/>
                <a:gd name="T7" fmla="*/ 101 h 182"/>
                <a:gd name="T8" fmla="*/ 56 w 369"/>
                <a:gd name="T9" fmla="*/ 127 h 182"/>
                <a:gd name="T10" fmla="*/ 82 w 369"/>
                <a:gd name="T11" fmla="*/ 149 h 182"/>
                <a:gd name="T12" fmla="*/ 114 w 369"/>
                <a:gd name="T13" fmla="*/ 166 h 182"/>
                <a:gd name="T14" fmla="*/ 149 w 369"/>
                <a:gd name="T15" fmla="*/ 178 h 182"/>
                <a:gd name="T16" fmla="*/ 184 w 369"/>
                <a:gd name="T17" fmla="*/ 181 h 182"/>
                <a:gd name="T18" fmla="*/ 222 w 369"/>
                <a:gd name="T19" fmla="*/ 178 h 182"/>
                <a:gd name="T20" fmla="*/ 257 w 369"/>
                <a:gd name="T21" fmla="*/ 166 h 182"/>
                <a:gd name="T22" fmla="*/ 286 w 369"/>
                <a:gd name="T23" fmla="*/ 149 h 182"/>
                <a:gd name="T24" fmla="*/ 315 w 369"/>
                <a:gd name="T25" fmla="*/ 127 h 182"/>
                <a:gd name="T26" fmla="*/ 336 w 369"/>
                <a:gd name="T27" fmla="*/ 101 h 182"/>
                <a:gd name="T28" fmla="*/ 353 w 369"/>
                <a:gd name="T29" fmla="*/ 69 h 182"/>
                <a:gd name="T30" fmla="*/ 365 w 369"/>
                <a:gd name="T31" fmla="*/ 35 h 182"/>
                <a:gd name="T32" fmla="*/ 368 w 369"/>
                <a:gd name="T33" fmla="*/ 0 h 182"/>
                <a:gd name="T34" fmla="*/ 359 w 369"/>
                <a:gd name="T35" fmla="*/ 17 h 182"/>
                <a:gd name="T36" fmla="*/ 350 w 369"/>
                <a:gd name="T37" fmla="*/ 52 h 182"/>
                <a:gd name="T38" fmla="*/ 338 w 369"/>
                <a:gd name="T39" fmla="*/ 80 h 182"/>
                <a:gd name="T40" fmla="*/ 318 w 369"/>
                <a:gd name="T41" fmla="*/ 109 h 182"/>
                <a:gd name="T42" fmla="*/ 295 w 369"/>
                <a:gd name="T43" fmla="*/ 133 h 182"/>
                <a:gd name="T44" fmla="*/ 269 w 369"/>
                <a:gd name="T45" fmla="*/ 152 h 182"/>
                <a:gd name="T46" fmla="*/ 236 w 369"/>
                <a:gd name="T47" fmla="*/ 164 h 182"/>
                <a:gd name="T48" fmla="*/ 202 w 369"/>
                <a:gd name="T49" fmla="*/ 169 h 182"/>
                <a:gd name="T50" fmla="*/ 166 w 369"/>
                <a:gd name="T51" fmla="*/ 169 h 182"/>
                <a:gd name="T52" fmla="*/ 132 w 369"/>
                <a:gd name="T53" fmla="*/ 164 h 182"/>
                <a:gd name="T54" fmla="*/ 102 w 369"/>
                <a:gd name="T55" fmla="*/ 152 h 182"/>
                <a:gd name="T56" fmla="*/ 73 w 369"/>
                <a:gd name="T57" fmla="*/ 133 h 182"/>
                <a:gd name="T58" fmla="*/ 50 w 369"/>
                <a:gd name="T59" fmla="*/ 109 h 182"/>
                <a:gd name="T60" fmla="*/ 30 w 369"/>
                <a:gd name="T61" fmla="*/ 80 h 182"/>
                <a:gd name="T62" fmla="*/ 18 w 369"/>
                <a:gd name="T63" fmla="*/ 52 h 182"/>
                <a:gd name="T64" fmla="*/ 12 w 369"/>
                <a:gd name="T65" fmla="*/ 17 h 182"/>
                <a:gd name="T66" fmla="*/ 0 w 369"/>
                <a:gd name="T67" fmla="*/ 0 h 1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69"/>
                <a:gd name="T103" fmla="*/ 0 h 182"/>
                <a:gd name="T104" fmla="*/ 369 w 369"/>
                <a:gd name="T105" fmla="*/ 182 h 1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69" h="182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9"/>
                  </a:lnTo>
                  <a:lnTo>
                    <a:pt x="24" y="86"/>
                  </a:lnTo>
                  <a:lnTo>
                    <a:pt x="32" y="101"/>
                  </a:lnTo>
                  <a:lnTo>
                    <a:pt x="44" y="115"/>
                  </a:lnTo>
                  <a:lnTo>
                    <a:pt x="56" y="127"/>
                  </a:lnTo>
                  <a:lnTo>
                    <a:pt x="67" y="138"/>
                  </a:lnTo>
                  <a:lnTo>
                    <a:pt x="82" y="149"/>
                  </a:lnTo>
                  <a:lnTo>
                    <a:pt x="96" y="158"/>
                  </a:lnTo>
                  <a:lnTo>
                    <a:pt x="114" y="166"/>
                  </a:lnTo>
                  <a:lnTo>
                    <a:pt x="132" y="172"/>
                  </a:lnTo>
                  <a:lnTo>
                    <a:pt x="149" y="178"/>
                  </a:lnTo>
                  <a:lnTo>
                    <a:pt x="166" y="181"/>
                  </a:lnTo>
                  <a:lnTo>
                    <a:pt x="184" y="181"/>
                  </a:lnTo>
                  <a:lnTo>
                    <a:pt x="205" y="181"/>
                  </a:lnTo>
                  <a:lnTo>
                    <a:pt x="222" y="178"/>
                  </a:lnTo>
                  <a:lnTo>
                    <a:pt x="239" y="172"/>
                  </a:lnTo>
                  <a:lnTo>
                    <a:pt x="257" y="166"/>
                  </a:lnTo>
                  <a:lnTo>
                    <a:pt x="272" y="158"/>
                  </a:lnTo>
                  <a:lnTo>
                    <a:pt x="286" y="149"/>
                  </a:lnTo>
                  <a:lnTo>
                    <a:pt x="301" y="138"/>
                  </a:lnTo>
                  <a:lnTo>
                    <a:pt x="315" y="127"/>
                  </a:lnTo>
                  <a:lnTo>
                    <a:pt x="327" y="115"/>
                  </a:lnTo>
                  <a:lnTo>
                    <a:pt x="336" y="101"/>
                  </a:lnTo>
                  <a:lnTo>
                    <a:pt x="344" y="86"/>
                  </a:lnTo>
                  <a:lnTo>
                    <a:pt x="353" y="69"/>
                  </a:lnTo>
                  <a:lnTo>
                    <a:pt x="359" y="52"/>
                  </a:lnTo>
                  <a:lnTo>
                    <a:pt x="365" y="35"/>
                  </a:lnTo>
                  <a:lnTo>
                    <a:pt x="368" y="17"/>
                  </a:lnTo>
                  <a:lnTo>
                    <a:pt x="368" y="0"/>
                  </a:lnTo>
                  <a:lnTo>
                    <a:pt x="359" y="0"/>
                  </a:lnTo>
                  <a:lnTo>
                    <a:pt x="359" y="17"/>
                  </a:lnTo>
                  <a:lnTo>
                    <a:pt x="356" y="35"/>
                  </a:lnTo>
                  <a:lnTo>
                    <a:pt x="350" y="52"/>
                  </a:lnTo>
                  <a:lnTo>
                    <a:pt x="344" y="66"/>
                  </a:lnTo>
                  <a:lnTo>
                    <a:pt x="338" y="80"/>
                  </a:lnTo>
                  <a:lnTo>
                    <a:pt x="330" y="95"/>
                  </a:lnTo>
                  <a:lnTo>
                    <a:pt x="318" y="109"/>
                  </a:lnTo>
                  <a:lnTo>
                    <a:pt x="309" y="121"/>
                  </a:lnTo>
                  <a:lnTo>
                    <a:pt x="295" y="133"/>
                  </a:lnTo>
                  <a:lnTo>
                    <a:pt x="283" y="143"/>
                  </a:lnTo>
                  <a:lnTo>
                    <a:pt x="269" y="152"/>
                  </a:lnTo>
                  <a:lnTo>
                    <a:pt x="254" y="158"/>
                  </a:lnTo>
                  <a:lnTo>
                    <a:pt x="236" y="164"/>
                  </a:lnTo>
                  <a:lnTo>
                    <a:pt x="219" y="169"/>
                  </a:lnTo>
                  <a:lnTo>
                    <a:pt x="202" y="169"/>
                  </a:lnTo>
                  <a:lnTo>
                    <a:pt x="184" y="172"/>
                  </a:lnTo>
                  <a:lnTo>
                    <a:pt x="166" y="169"/>
                  </a:lnTo>
                  <a:lnTo>
                    <a:pt x="149" y="169"/>
                  </a:lnTo>
                  <a:lnTo>
                    <a:pt x="132" y="164"/>
                  </a:lnTo>
                  <a:lnTo>
                    <a:pt x="117" y="158"/>
                  </a:lnTo>
                  <a:lnTo>
                    <a:pt x="102" y="152"/>
                  </a:lnTo>
                  <a:lnTo>
                    <a:pt x="88" y="143"/>
                  </a:lnTo>
                  <a:lnTo>
                    <a:pt x="73" y="133"/>
                  </a:lnTo>
                  <a:lnTo>
                    <a:pt x="61" y="121"/>
                  </a:lnTo>
                  <a:lnTo>
                    <a:pt x="50" y="109"/>
                  </a:lnTo>
                  <a:lnTo>
                    <a:pt x="38" y="95"/>
                  </a:lnTo>
                  <a:lnTo>
                    <a:pt x="30" y="80"/>
                  </a:lnTo>
                  <a:lnTo>
                    <a:pt x="24" y="66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6" name="Freeform 170">
              <a:extLst>
                <a:ext uri="{FF2B5EF4-FFF2-40B4-BE49-F238E27FC236}">
                  <a16:creationId xmlns:a16="http://schemas.microsoft.com/office/drawing/2014/main" id="{D17DE5C0-3E57-49A1-B652-2D15798AD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624"/>
              <a:ext cx="351" cy="173"/>
            </a:xfrm>
            <a:custGeom>
              <a:avLst/>
              <a:gdLst>
                <a:gd name="T0" fmla="*/ 3 w 351"/>
                <a:gd name="T1" fmla="*/ 155 h 173"/>
                <a:gd name="T2" fmla="*/ 9 w 351"/>
                <a:gd name="T3" fmla="*/ 121 h 173"/>
                <a:gd name="T4" fmla="*/ 21 w 351"/>
                <a:gd name="T5" fmla="*/ 89 h 173"/>
                <a:gd name="T6" fmla="*/ 41 w 351"/>
                <a:gd name="T7" fmla="*/ 63 h 173"/>
                <a:gd name="T8" fmla="*/ 64 w 351"/>
                <a:gd name="T9" fmla="*/ 38 h 173"/>
                <a:gd name="T10" fmla="*/ 93 w 351"/>
                <a:gd name="T11" fmla="*/ 20 h 173"/>
                <a:gd name="T12" fmla="*/ 123 w 351"/>
                <a:gd name="T13" fmla="*/ 6 h 173"/>
                <a:gd name="T14" fmla="*/ 157 w 351"/>
                <a:gd name="T15" fmla="*/ 0 h 173"/>
                <a:gd name="T16" fmla="*/ 193 w 351"/>
                <a:gd name="T17" fmla="*/ 0 h 173"/>
                <a:gd name="T18" fmla="*/ 227 w 351"/>
                <a:gd name="T19" fmla="*/ 6 h 173"/>
                <a:gd name="T20" fmla="*/ 260 w 351"/>
                <a:gd name="T21" fmla="*/ 20 h 173"/>
                <a:gd name="T22" fmla="*/ 286 w 351"/>
                <a:gd name="T23" fmla="*/ 38 h 173"/>
                <a:gd name="T24" fmla="*/ 309 w 351"/>
                <a:gd name="T25" fmla="*/ 63 h 173"/>
                <a:gd name="T26" fmla="*/ 329 w 351"/>
                <a:gd name="T27" fmla="*/ 89 h 173"/>
                <a:gd name="T28" fmla="*/ 341 w 351"/>
                <a:gd name="T29" fmla="*/ 121 h 173"/>
                <a:gd name="T30" fmla="*/ 350 w 351"/>
                <a:gd name="T31" fmla="*/ 155 h 173"/>
                <a:gd name="T32" fmla="*/ 341 w 351"/>
                <a:gd name="T33" fmla="*/ 172 h 173"/>
                <a:gd name="T34" fmla="*/ 338 w 351"/>
                <a:gd name="T35" fmla="*/ 138 h 173"/>
                <a:gd name="T36" fmla="*/ 326 w 351"/>
                <a:gd name="T37" fmla="*/ 109 h 173"/>
                <a:gd name="T38" fmla="*/ 312 w 351"/>
                <a:gd name="T39" fmla="*/ 80 h 173"/>
                <a:gd name="T40" fmla="*/ 292 w 351"/>
                <a:gd name="T41" fmla="*/ 58 h 173"/>
                <a:gd name="T42" fmla="*/ 268 w 351"/>
                <a:gd name="T43" fmla="*/ 38 h 173"/>
                <a:gd name="T44" fmla="*/ 239 w 351"/>
                <a:gd name="T45" fmla="*/ 20 h 173"/>
                <a:gd name="T46" fmla="*/ 210 w 351"/>
                <a:gd name="T47" fmla="*/ 12 h 173"/>
                <a:gd name="T48" fmla="*/ 175 w 351"/>
                <a:gd name="T49" fmla="*/ 9 h 173"/>
                <a:gd name="T50" fmla="*/ 143 w 351"/>
                <a:gd name="T51" fmla="*/ 12 h 173"/>
                <a:gd name="T52" fmla="*/ 111 w 351"/>
                <a:gd name="T53" fmla="*/ 20 h 173"/>
                <a:gd name="T54" fmla="*/ 82 w 351"/>
                <a:gd name="T55" fmla="*/ 38 h 173"/>
                <a:gd name="T56" fmla="*/ 58 w 351"/>
                <a:gd name="T57" fmla="*/ 58 h 173"/>
                <a:gd name="T58" fmla="*/ 38 w 351"/>
                <a:gd name="T59" fmla="*/ 80 h 173"/>
                <a:gd name="T60" fmla="*/ 24 w 351"/>
                <a:gd name="T61" fmla="*/ 109 h 173"/>
                <a:gd name="T62" fmla="*/ 15 w 351"/>
                <a:gd name="T63" fmla="*/ 138 h 173"/>
                <a:gd name="T64" fmla="*/ 9 w 351"/>
                <a:gd name="T65" fmla="*/ 172 h 17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1"/>
                <a:gd name="T100" fmla="*/ 0 h 173"/>
                <a:gd name="T101" fmla="*/ 351 w 351"/>
                <a:gd name="T102" fmla="*/ 173 h 17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1" h="173">
                  <a:moveTo>
                    <a:pt x="0" y="172"/>
                  </a:moveTo>
                  <a:lnTo>
                    <a:pt x="3" y="155"/>
                  </a:lnTo>
                  <a:lnTo>
                    <a:pt x="6" y="138"/>
                  </a:lnTo>
                  <a:lnTo>
                    <a:pt x="9" y="121"/>
                  </a:lnTo>
                  <a:lnTo>
                    <a:pt x="15" y="103"/>
                  </a:lnTo>
                  <a:lnTo>
                    <a:pt x="21" y="89"/>
                  </a:lnTo>
                  <a:lnTo>
                    <a:pt x="29" y="74"/>
                  </a:lnTo>
                  <a:lnTo>
                    <a:pt x="41" y="63"/>
                  </a:lnTo>
                  <a:lnTo>
                    <a:pt x="52" y="49"/>
                  </a:lnTo>
                  <a:lnTo>
                    <a:pt x="64" y="38"/>
                  </a:lnTo>
                  <a:lnTo>
                    <a:pt x="79" y="29"/>
                  </a:lnTo>
                  <a:lnTo>
                    <a:pt x="93" y="20"/>
                  </a:lnTo>
                  <a:lnTo>
                    <a:pt x="108" y="12"/>
                  </a:lnTo>
                  <a:lnTo>
                    <a:pt x="123" y="6"/>
                  </a:lnTo>
                  <a:lnTo>
                    <a:pt x="140" y="3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93" y="0"/>
                  </a:lnTo>
                  <a:lnTo>
                    <a:pt x="210" y="3"/>
                  </a:lnTo>
                  <a:lnTo>
                    <a:pt x="227" y="6"/>
                  </a:lnTo>
                  <a:lnTo>
                    <a:pt x="245" y="12"/>
                  </a:lnTo>
                  <a:lnTo>
                    <a:pt x="260" y="20"/>
                  </a:lnTo>
                  <a:lnTo>
                    <a:pt x="274" y="29"/>
                  </a:lnTo>
                  <a:lnTo>
                    <a:pt x="286" y="38"/>
                  </a:lnTo>
                  <a:lnTo>
                    <a:pt x="300" y="49"/>
                  </a:lnTo>
                  <a:lnTo>
                    <a:pt x="309" y="63"/>
                  </a:lnTo>
                  <a:lnTo>
                    <a:pt x="321" y="74"/>
                  </a:lnTo>
                  <a:lnTo>
                    <a:pt x="329" y="89"/>
                  </a:lnTo>
                  <a:lnTo>
                    <a:pt x="335" y="103"/>
                  </a:lnTo>
                  <a:lnTo>
                    <a:pt x="341" y="121"/>
                  </a:lnTo>
                  <a:lnTo>
                    <a:pt x="347" y="138"/>
                  </a:lnTo>
                  <a:lnTo>
                    <a:pt x="350" y="155"/>
                  </a:lnTo>
                  <a:lnTo>
                    <a:pt x="350" y="172"/>
                  </a:lnTo>
                  <a:lnTo>
                    <a:pt x="341" y="172"/>
                  </a:lnTo>
                  <a:lnTo>
                    <a:pt x="341" y="155"/>
                  </a:lnTo>
                  <a:lnTo>
                    <a:pt x="338" y="138"/>
                  </a:lnTo>
                  <a:lnTo>
                    <a:pt x="332" y="124"/>
                  </a:lnTo>
                  <a:lnTo>
                    <a:pt x="326" y="109"/>
                  </a:lnTo>
                  <a:lnTo>
                    <a:pt x="321" y="95"/>
                  </a:lnTo>
                  <a:lnTo>
                    <a:pt x="312" y="80"/>
                  </a:lnTo>
                  <a:lnTo>
                    <a:pt x="303" y="69"/>
                  </a:lnTo>
                  <a:lnTo>
                    <a:pt x="292" y="58"/>
                  </a:lnTo>
                  <a:lnTo>
                    <a:pt x="280" y="46"/>
                  </a:lnTo>
                  <a:lnTo>
                    <a:pt x="268" y="38"/>
                  </a:lnTo>
                  <a:lnTo>
                    <a:pt x="254" y="29"/>
                  </a:lnTo>
                  <a:lnTo>
                    <a:pt x="239" y="20"/>
                  </a:lnTo>
                  <a:lnTo>
                    <a:pt x="224" y="14"/>
                  </a:lnTo>
                  <a:lnTo>
                    <a:pt x="210" y="12"/>
                  </a:lnTo>
                  <a:lnTo>
                    <a:pt x="193" y="9"/>
                  </a:lnTo>
                  <a:lnTo>
                    <a:pt x="175" y="9"/>
                  </a:lnTo>
                  <a:lnTo>
                    <a:pt x="157" y="9"/>
                  </a:lnTo>
                  <a:lnTo>
                    <a:pt x="143" y="12"/>
                  </a:lnTo>
                  <a:lnTo>
                    <a:pt x="126" y="14"/>
                  </a:lnTo>
                  <a:lnTo>
                    <a:pt x="111" y="20"/>
                  </a:lnTo>
                  <a:lnTo>
                    <a:pt x="96" y="29"/>
                  </a:lnTo>
                  <a:lnTo>
                    <a:pt x="82" y="38"/>
                  </a:lnTo>
                  <a:lnTo>
                    <a:pt x="70" y="46"/>
                  </a:lnTo>
                  <a:lnTo>
                    <a:pt x="58" y="58"/>
                  </a:lnTo>
                  <a:lnTo>
                    <a:pt x="47" y="69"/>
                  </a:lnTo>
                  <a:lnTo>
                    <a:pt x="38" y="80"/>
                  </a:lnTo>
                  <a:lnTo>
                    <a:pt x="29" y="95"/>
                  </a:lnTo>
                  <a:lnTo>
                    <a:pt x="24" y="109"/>
                  </a:lnTo>
                  <a:lnTo>
                    <a:pt x="18" y="124"/>
                  </a:lnTo>
                  <a:lnTo>
                    <a:pt x="15" y="138"/>
                  </a:lnTo>
                  <a:lnTo>
                    <a:pt x="12" y="155"/>
                  </a:lnTo>
                  <a:lnTo>
                    <a:pt x="9" y="172"/>
                  </a:lnTo>
                  <a:lnTo>
                    <a:pt x="0" y="172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7" name="Freeform 171">
              <a:extLst>
                <a:ext uri="{FF2B5EF4-FFF2-40B4-BE49-F238E27FC236}">
                  <a16:creationId xmlns:a16="http://schemas.microsoft.com/office/drawing/2014/main" id="{33B704B8-9115-4C74-BD38-C97720133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802"/>
              <a:ext cx="351" cy="173"/>
            </a:xfrm>
            <a:custGeom>
              <a:avLst/>
              <a:gdLst>
                <a:gd name="T0" fmla="*/ 0 w 351"/>
                <a:gd name="T1" fmla="*/ 0 h 173"/>
                <a:gd name="T2" fmla="*/ 6 w 351"/>
                <a:gd name="T3" fmla="*/ 35 h 173"/>
                <a:gd name="T4" fmla="*/ 15 w 351"/>
                <a:gd name="T5" fmla="*/ 66 h 173"/>
                <a:gd name="T6" fmla="*/ 29 w 351"/>
                <a:gd name="T7" fmla="*/ 95 h 173"/>
                <a:gd name="T8" fmla="*/ 52 w 351"/>
                <a:gd name="T9" fmla="*/ 121 h 173"/>
                <a:gd name="T10" fmla="*/ 79 w 351"/>
                <a:gd name="T11" fmla="*/ 143 h 173"/>
                <a:gd name="T12" fmla="*/ 108 w 351"/>
                <a:gd name="T13" fmla="*/ 158 h 173"/>
                <a:gd name="T14" fmla="*/ 140 w 351"/>
                <a:gd name="T15" fmla="*/ 169 h 173"/>
                <a:gd name="T16" fmla="*/ 175 w 351"/>
                <a:gd name="T17" fmla="*/ 172 h 173"/>
                <a:gd name="T18" fmla="*/ 210 w 351"/>
                <a:gd name="T19" fmla="*/ 169 h 173"/>
                <a:gd name="T20" fmla="*/ 245 w 351"/>
                <a:gd name="T21" fmla="*/ 158 h 173"/>
                <a:gd name="T22" fmla="*/ 274 w 351"/>
                <a:gd name="T23" fmla="*/ 143 h 173"/>
                <a:gd name="T24" fmla="*/ 300 w 351"/>
                <a:gd name="T25" fmla="*/ 121 h 173"/>
                <a:gd name="T26" fmla="*/ 321 w 351"/>
                <a:gd name="T27" fmla="*/ 95 h 173"/>
                <a:gd name="T28" fmla="*/ 335 w 351"/>
                <a:gd name="T29" fmla="*/ 66 h 173"/>
                <a:gd name="T30" fmla="*/ 347 w 351"/>
                <a:gd name="T31" fmla="*/ 35 h 173"/>
                <a:gd name="T32" fmla="*/ 350 w 351"/>
                <a:gd name="T33" fmla="*/ 0 h 173"/>
                <a:gd name="T34" fmla="*/ 341 w 351"/>
                <a:gd name="T35" fmla="*/ 17 h 173"/>
                <a:gd name="T36" fmla="*/ 332 w 351"/>
                <a:gd name="T37" fmla="*/ 49 h 173"/>
                <a:gd name="T38" fmla="*/ 321 w 351"/>
                <a:gd name="T39" fmla="*/ 77 h 173"/>
                <a:gd name="T40" fmla="*/ 303 w 351"/>
                <a:gd name="T41" fmla="*/ 103 h 173"/>
                <a:gd name="T42" fmla="*/ 280 w 351"/>
                <a:gd name="T43" fmla="*/ 127 h 173"/>
                <a:gd name="T44" fmla="*/ 254 w 351"/>
                <a:gd name="T45" fmla="*/ 143 h 173"/>
                <a:gd name="T46" fmla="*/ 224 w 351"/>
                <a:gd name="T47" fmla="*/ 155 h 173"/>
                <a:gd name="T48" fmla="*/ 193 w 351"/>
                <a:gd name="T49" fmla="*/ 160 h 173"/>
                <a:gd name="T50" fmla="*/ 157 w 351"/>
                <a:gd name="T51" fmla="*/ 160 h 173"/>
                <a:gd name="T52" fmla="*/ 126 w 351"/>
                <a:gd name="T53" fmla="*/ 155 h 173"/>
                <a:gd name="T54" fmla="*/ 96 w 351"/>
                <a:gd name="T55" fmla="*/ 143 h 173"/>
                <a:gd name="T56" fmla="*/ 70 w 351"/>
                <a:gd name="T57" fmla="*/ 127 h 173"/>
                <a:gd name="T58" fmla="*/ 47 w 351"/>
                <a:gd name="T59" fmla="*/ 103 h 173"/>
                <a:gd name="T60" fmla="*/ 29 w 351"/>
                <a:gd name="T61" fmla="*/ 77 h 173"/>
                <a:gd name="T62" fmla="*/ 18 w 351"/>
                <a:gd name="T63" fmla="*/ 49 h 173"/>
                <a:gd name="T64" fmla="*/ 12 w 351"/>
                <a:gd name="T65" fmla="*/ 17 h 173"/>
                <a:gd name="T66" fmla="*/ 0 w 351"/>
                <a:gd name="T67" fmla="*/ 0 h 17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51"/>
                <a:gd name="T103" fmla="*/ 0 h 173"/>
                <a:gd name="T104" fmla="*/ 351 w 351"/>
                <a:gd name="T105" fmla="*/ 173 h 17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51" h="173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6"/>
                  </a:lnTo>
                  <a:lnTo>
                    <a:pt x="21" y="80"/>
                  </a:lnTo>
                  <a:lnTo>
                    <a:pt x="29" y="95"/>
                  </a:lnTo>
                  <a:lnTo>
                    <a:pt x="41" y="109"/>
                  </a:lnTo>
                  <a:lnTo>
                    <a:pt x="52" y="121"/>
                  </a:lnTo>
                  <a:lnTo>
                    <a:pt x="64" y="132"/>
                  </a:lnTo>
                  <a:lnTo>
                    <a:pt x="79" y="143"/>
                  </a:lnTo>
                  <a:lnTo>
                    <a:pt x="93" y="152"/>
                  </a:lnTo>
                  <a:lnTo>
                    <a:pt x="108" y="158"/>
                  </a:lnTo>
                  <a:lnTo>
                    <a:pt x="123" y="163"/>
                  </a:lnTo>
                  <a:lnTo>
                    <a:pt x="140" y="169"/>
                  </a:lnTo>
                  <a:lnTo>
                    <a:pt x="157" y="169"/>
                  </a:lnTo>
                  <a:lnTo>
                    <a:pt x="175" y="172"/>
                  </a:lnTo>
                  <a:lnTo>
                    <a:pt x="193" y="169"/>
                  </a:lnTo>
                  <a:lnTo>
                    <a:pt x="210" y="169"/>
                  </a:lnTo>
                  <a:lnTo>
                    <a:pt x="227" y="163"/>
                  </a:lnTo>
                  <a:lnTo>
                    <a:pt x="245" y="158"/>
                  </a:lnTo>
                  <a:lnTo>
                    <a:pt x="260" y="152"/>
                  </a:lnTo>
                  <a:lnTo>
                    <a:pt x="274" y="143"/>
                  </a:lnTo>
                  <a:lnTo>
                    <a:pt x="286" y="132"/>
                  </a:lnTo>
                  <a:lnTo>
                    <a:pt x="300" y="121"/>
                  </a:lnTo>
                  <a:lnTo>
                    <a:pt x="309" y="109"/>
                  </a:lnTo>
                  <a:lnTo>
                    <a:pt x="321" y="95"/>
                  </a:lnTo>
                  <a:lnTo>
                    <a:pt x="329" y="80"/>
                  </a:lnTo>
                  <a:lnTo>
                    <a:pt x="335" y="66"/>
                  </a:lnTo>
                  <a:lnTo>
                    <a:pt x="341" y="52"/>
                  </a:lnTo>
                  <a:lnTo>
                    <a:pt x="347" y="35"/>
                  </a:lnTo>
                  <a:lnTo>
                    <a:pt x="350" y="17"/>
                  </a:lnTo>
                  <a:lnTo>
                    <a:pt x="350" y="0"/>
                  </a:lnTo>
                  <a:lnTo>
                    <a:pt x="341" y="0"/>
                  </a:lnTo>
                  <a:lnTo>
                    <a:pt x="341" y="17"/>
                  </a:lnTo>
                  <a:lnTo>
                    <a:pt x="338" y="32"/>
                  </a:lnTo>
                  <a:lnTo>
                    <a:pt x="332" y="49"/>
                  </a:lnTo>
                  <a:lnTo>
                    <a:pt x="326" y="63"/>
                  </a:lnTo>
                  <a:lnTo>
                    <a:pt x="321" y="77"/>
                  </a:lnTo>
                  <a:lnTo>
                    <a:pt x="312" y="92"/>
                  </a:lnTo>
                  <a:lnTo>
                    <a:pt x="303" y="103"/>
                  </a:lnTo>
                  <a:lnTo>
                    <a:pt x="292" y="115"/>
                  </a:lnTo>
                  <a:lnTo>
                    <a:pt x="280" y="127"/>
                  </a:lnTo>
                  <a:lnTo>
                    <a:pt x="268" y="135"/>
                  </a:lnTo>
                  <a:lnTo>
                    <a:pt x="254" y="143"/>
                  </a:lnTo>
                  <a:lnTo>
                    <a:pt x="239" y="149"/>
                  </a:lnTo>
                  <a:lnTo>
                    <a:pt x="224" y="155"/>
                  </a:lnTo>
                  <a:lnTo>
                    <a:pt x="210" y="158"/>
                  </a:lnTo>
                  <a:lnTo>
                    <a:pt x="193" y="160"/>
                  </a:lnTo>
                  <a:lnTo>
                    <a:pt x="175" y="163"/>
                  </a:lnTo>
                  <a:lnTo>
                    <a:pt x="157" y="160"/>
                  </a:lnTo>
                  <a:lnTo>
                    <a:pt x="143" y="158"/>
                  </a:lnTo>
                  <a:lnTo>
                    <a:pt x="126" y="155"/>
                  </a:lnTo>
                  <a:lnTo>
                    <a:pt x="111" y="149"/>
                  </a:lnTo>
                  <a:lnTo>
                    <a:pt x="96" y="143"/>
                  </a:lnTo>
                  <a:lnTo>
                    <a:pt x="82" y="135"/>
                  </a:lnTo>
                  <a:lnTo>
                    <a:pt x="70" y="127"/>
                  </a:lnTo>
                  <a:lnTo>
                    <a:pt x="58" y="115"/>
                  </a:lnTo>
                  <a:lnTo>
                    <a:pt x="47" y="103"/>
                  </a:lnTo>
                  <a:lnTo>
                    <a:pt x="38" y="92"/>
                  </a:lnTo>
                  <a:lnTo>
                    <a:pt x="29" y="77"/>
                  </a:lnTo>
                  <a:lnTo>
                    <a:pt x="24" y="63"/>
                  </a:lnTo>
                  <a:lnTo>
                    <a:pt x="18" y="49"/>
                  </a:lnTo>
                  <a:lnTo>
                    <a:pt x="15" y="32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8" name="Freeform 172">
              <a:extLst>
                <a:ext uri="{FF2B5EF4-FFF2-40B4-BE49-F238E27FC236}">
                  <a16:creationId xmlns:a16="http://schemas.microsoft.com/office/drawing/2014/main" id="{6D4E4839-3365-44BA-A4D4-F50D80C77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33"/>
              <a:ext cx="333" cy="164"/>
            </a:xfrm>
            <a:custGeom>
              <a:avLst/>
              <a:gdLst>
                <a:gd name="T0" fmla="*/ 3 w 333"/>
                <a:gd name="T1" fmla="*/ 146 h 164"/>
                <a:gd name="T2" fmla="*/ 9 w 333"/>
                <a:gd name="T3" fmla="*/ 115 h 164"/>
                <a:gd name="T4" fmla="*/ 21 w 333"/>
                <a:gd name="T5" fmla="*/ 86 h 164"/>
                <a:gd name="T6" fmla="*/ 38 w 333"/>
                <a:gd name="T7" fmla="*/ 60 h 164"/>
                <a:gd name="T8" fmla="*/ 61 w 333"/>
                <a:gd name="T9" fmla="*/ 38 h 164"/>
                <a:gd name="T10" fmla="*/ 87 w 333"/>
                <a:gd name="T11" fmla="*/ 20 h 164"/>
                <a:gd name="T12" fmla="*/ 117 w 333"/>
                <a:gd name="T13" fmla="*/ 6 h 164"/>
                <a:gd name="T14" fmla="*/ 148 w 333"/>
                <a:gd name="T15" fmla="*/ 0 h 164"/>
                <a:gd name="T16" fmla="*/ 184 w 333"/>
                <a:gd name="T17" fmla="*/ 0 h 164"/>
                <a:gd name="T18" fmla="*/ 215 w 333"/>
                <a:gd name="T19" fmla="*/ 6 h 164"/>
                <a:gd name="T20" fmla="*/ 245 w 333"/>
                <a:gd name="T21" fmla="*/ 20 h 164"/>
                <a:gd name="T22" fmla="*/ 271 w 333"/>
                <a:gd name="T23" fmla="*/ 38 h 164"/>
                <a:gd name="T24" fmla="*/ 294 w 333"/>
                <a:gd name="T25" fmla="*/ 60 h 164"/>
                <a:gd name="T26" fmla="*/ 311 w 333"/>
                <a:gd name="T27" fmla="*/ 86 h 164"/>
                <a:gd name="T28" fmla="*/ 323 w 333"/>
                <a:gd name="T29" fmla="*/ 115 h 164"/>
                <a:gd name="T30" fmla="*/ 332 w 333"/>
                <a:gd name="T31" fmla="*/ 146 h 164"/>
                <a:gd name="T32" fmla="*/ 323 w 333"/>
                <a:gd name="T33" fmla="*/ 163 h 164"/>
                <a:gd name="T34" fmla="*/ 320 w 333"/>
                <a:gd name="T35" fmla="*/ 132 h 164"/>
                <a:gd name="T36" fmla="*/ 308 w 333"/>
                <a:gd name="T37" fmla="*/ 103 h 164"/>
                <a:gd name="T38" fmla="*/ 294 w 333"/>
                <a:gd name="T39" fmla="*/ 77 h 164"/>
                <a:gd name="T40" fmla="*/ 277 w 333"/>
                <a:gd name="T41" fmla="*/ 54 h 164"/>
                <a:gd name="T42" fmla="*/ 253 w 333"/>
                <a:gd name="T43" fmla="*/ 35 h 164"/>
                <a:gd name="T44" fmla="*/ 227 w 333"/>
                <a:gd name="T45" fmla="*/ 20 h 164"/>
                <a:gd name="T46" fmla="*/ 198 w 333"/>
                <a:gd name="T47" fmla="*/ 12 h 164"/>
                <a:gd name="T48" fmla="*/ 166 w 333"/>
                <a:gd name="T49" fmla="*/ 9 h 164"/>
                <a:gd name="T50" fmla="*/ 134 w 333"/>
                <a:gd name="T51" fmla="*/ 12 h 164"/>
                <a:gd name="T52" fmla="*/ 105 w 333"/>
                <a:gd name="T53" fmla="*/ 20 h 164"/>
                <a:gd name="T54" fmla="*/ 79 w 333"/>
                <a:gd name="T55" fmla="*/ 35 h 164"/>
                <a:gd name="T56" fmla="*/ 55 w 333"/>
                <a:gd name="T57" fmla="*/ 54 h 164"/>
                <a:gd name="T58" fmla="*/ 38 w 333"/>
                <a:gd name="T59" fmla="*/ 77 h 164"/>
                <a:gd name="T60" fmla="*/ 24 w 333"/>
                <a:gd name="T61" fmla="*/ 103 h 164"/>
                <a:gd name="T62" fmla="*/ 15 w 333"/>
                <a:gd name="T63" fmla="*/ 132 h 164"/>
                <a:gd name="T64" fmla="*/ 12 w 333"/>
                <a:gd name="T65" fmla="*/ 163 h 16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33"/>
                <a:gd name="T100" fmla="*/ 0 h 164"/>
                <a:gd name="T101" fmla="*/ 333 w 333"/>
                <a:gd name="T102" fmla="*/ 164 h 16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33" h="164">
                  <a:moveTo>
                    <a:pt x="0" y="163"/>
                  </a:moveTo>
                  <a:lnTo>
                    <a:pt x="3" y="146"/>
                  </a:lnTo>
                  <a:lnTo>
                    <a:pt x="6" y="129"/>
                  </a:lnTo>
                  <a:lnTo>
                    <a:pt x="9" y="115"/>
                  </a:lnTo>
                  <a:lnTo>
                    <a:pt x="15" y="100"/>
                  </a:lnTo>
                  <a:lnTo>
                    <a:pt x="21" y="86"/>
                  </a:lnTo>
                  <a:lnTo>
                    <a:pt x="29" y="71"/>
                  </a:lnTo>
                  <a:lnTo>
                    <a:pt x="38" y="60"/>
                  </a:lnTo>
                  <a:lnTo>
                    <a:pt x="49" y="49"/>
                  </a:lnTo>
                  <a:lnTo>
                    <a:pt x="61" y="38"/>
                  </a:lnTo>
                  <a:lnTo>
                    <a:pt x="73" y="29"/>
                  </a:lnTo>
                  <a:lnTo>
                    <a:pt x="87" y="20"/>
                  </a:lnTo>
                  <a:lnTo>
                    <a:pt x="102" y="12"/>
                  </a:lnTo>
                  <a:lnTo>
                    <a:pt x="117" y="6"/>
                  </a:lnTo>
                  <a:lnTo>
                    <a:pt x="134" y="3"/>
                  </a:lnTo>
                  <a:lnTo>
                    <a:pt x="148" y="0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1" y="3"/>
                  </a:lnTo>
                  <a:lnTo>
                    <a:pt x="215" y="6"/>
                  </a:lnTo>
                  <a:lnTo>
                    <a:pt x="230" y="12"/>
                  </a:lnTo>
                  <a:lnTo>
                    <a:pt x="245" y="20"/>
                  </a:lnTo>
                  <a:lnTo>
                    <a:pt x="259" y="29"/>
                  </a:lnTo>
                  <a:lnTo>
                    <a:pt x="271" y="38"/>
                  </a:lnTo>
                  <a:lnTo>
                    <a:pt x="283" y="49"/>
                  </a:lnTo>
                  <a:lnTo>
                    <a:pt x="294" y="60"/>
                  </a:lnTo>
                  <a:lnTo>
                    <a:pt x="303" y="71"/>
                  </a:lnTo>
                  <a:lnTo>
                    <a:pt x="311" y="86"/>
                  </a:lnTo>
                  <a:lnTo>
                    <a:pt x="317" y="100"/>
                  </a:lnTo>
                  <a:lnTo>
                    <a:pt x="323" y="115"/>
                  </a:lnTo>
                  <a:lnTo>
                    <a:pt x="329" y="129"/>
                  </a:lnTo>
                  <a:lnTo>
                    <a:pt x="332" y="146"/>
                  </a:lnTo>
                  <a:lnTo>
                    <a:pt x="332" y="163"/>
                  </a:lnTo>
                  <a:lnTo>
                    <a:pt x="323" y="163"/>
                  </a:lnTo>
                  <a:lnTo>
                    <a:pt x="320" y="146"/>
                  </a:lnTo>
                  <a:lnTo>
                    <a:pt x="320" y="132"/>
                  </a:lnTo>
                  <a:lnTo>
                    <a:pt x="314" y="118"/>
                  </a:lnTo>
                  <a:lnTo>
                    <a:pt x="308" y="103"/>
                  </a:lnTo>
                  <a:lnTo>
                    <a:pt x="303" y="89"/>
                  </a:lnTo>
                  <a:lnTo>
                    <a:pt x="294" y="77"/>
                  </a:lnTo>
                  <a:lnTo>
                    <a:pt x="286" y="66"/>
                  </a:lnTo>
                  <a:lnTo>
                    <a:pt x="277" y="54"/>
                  </a:lnTo>
                  <a:lnTo>
                    <a:pt x="265" y="43"/>
                  </a:lnTo>
                  <a:lnTo>
                    <a:pt x="253" y="35"/>
                  </a:lnTo>
                  <a:lnTo>
                    <a:pt x="242" y="29"/>
                  </a:lnTo>
                  <a:lnTo>
                    <a:pt x="227" y="20"/>
                  </a:lnTo>
                  <a:lnTo>
                    <a:pt x="212" y="17"/>
                  </a:lnTo>
                  <a:lnTo>
                    <a:pt x="198" y="12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51" y="9"/>
                  </a:lnTo>
                  <a:lnTo>
                    <a:pt x="134" y="12"/>
                  </a:lnTo>
                  <a:lnTo>
                    <a:pt x="120" y="17"/>
                  </a:lnTo>
                  <a:lnTo>
                    <a:pt x="105" y="20"/>
                  </a:lnTo>
                  <a:lnTo>
                    <a:pt x="93" y="29"/>
                  </a:lnTo>
                  <a:lnTo>
                    <a:pt x="79" y="35"/>
                  </a:lnTo>
                  <a:lnTo>
                    <a:pt x="67" y="43"/>
                  </a:lnTo>
                  <a:lnTo>
                    <a:pt x="55" y="54"/>
                  </a:lnTo>
                  <a:lnTo>
                    <a:pt x="46" y="66"/>
                  </a:lnTo>
                  <a:lnTo>
                    <a:pt x="38" y="77"/>
                  </a:lnTo>
                  <a:lnTo>
                    <a:pt x="29" y="89"/>
                  </a:lnTo>
                  <a:lnTo>
                    <a:pt x="24" y="103"/>
                  </a:lnTo>
                  <a:lnTo>
                    <a:pt x="18" y="118"/>
                  </a:lnTo>
                  <a:lnTo>
                    <a:pt x="15" y="132"/>
                  </a:lnTo>
                  <a:lnTo>
                    <a:pt x="12" y="146"/>
                  </a:lnTo>
                  <a:lnTo>
                    <a:pt x="12" y="163"/>
                  </a:lnTo>
                  <a:lnTo>
                    <a:pt x="0" y="163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9" name="Freeform 173">
              <a:extLst>
                <a:ext uri="{FF2B5EF4-FFF2-40B4-BE49-F238E27FC236}">
                  <a16:creationId xmlns:a16="http://schemas.microsoft.com/office/drawing/2014/main" id="{1D7BCD66-1885-495C-980A-3E466AC6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802"/>
              <a:ext cx="333" cy="164"/>
            </a:xfrm>
            <a:custGeom>
              <a:avLst/>
              <a:gdLst>
                <a:gd name="T0" fmla="*/ 0 w 333"/>
                <a:gd name="T1" fmla="*/ 0 h 164"/>
                <a:gd name="T2" fmla="*/ 6 w 333"/>
                <a:gd name="T3" fmla="*/ 32 h 164"/>
                <a:gd name="T4" fmla="*/ 15 w 333"/>
                <a:gd name="T5" fmla="*/ 63 h 164"/>
                <a:gd name="T6" fmla="*/ 29 w 333"/>
                <a:gd name="T7" fmla="*/ 92 h 164"/>
                <a:gd name="T8" fmla="*/ 49 w 333"/>
                <a:gd name="T9" fmla="*/ 115 h 164"/>
                <a:gd name="T10" fmla="*/ 73 w 333"/>
                <a:gd name="T11" fmla="*/ 135 h 164"/>
                <a:gd name="T12" fmla="*/ 102 w 333"/>
                <a:gd name="T13" fmla="*/ 149 h 164"/>
                <a:gd name="T14" fmla="*/ 134 w 333"/>
                <a:gd name="T15" fmla="*/ 157 h 164"/>
                <a:gd name="T16" fmla="*/ 166 w 333"/>
                <a:gd name="T17" fmla="*/ 163 h 164"/>
                <a:gd name="T18" fmla="*/ 201 w 333"/>
                <a:gd name="T19" fmla="*/ 157 h 164"/>
                <a:gd name="T20" fmla="*/ 230 w 333"/>
                <a:gd name="T21" fmla="*/ 149 h 164"/>
                <a:gd name="T22" fmla="*/ 259 w 333"/>
                <a:gd name="T23" fmla="*/ 135 h 164"/>
                <a:gd name="T24" fmla="*/ 283 w 333"/>
                <a:gd name="T25" fmla="*/ 115 h 164"/>
                <a:gd name="T26" fmla="*/ 303 w 333"/>
                <a:gd name="T27" fmla="*/ 92 h 164"/>
                <a:gd name="T28" fmla="*/ 317 w 333"/>
                <a:gd name="T29" fmla="*/ 63 h 164"/>
                <a:gd name="T30" fmla="*/ 329 w 333"/>
                <a:gd name="T31" fmla="*/ 32 h 164"/>
                <a:gd name="T32" fmla="*/ 332 w 333"/>
                <a:gd name="T33" fmla="*/ 0 h 164"/>
                <a:gd name="T34" fmla="*/ 320 w 333"/>
                <a:gd name="T35" fmla="*/ 14 h 164"/>
                <a:gd name="T36" fmla="*/ 314 w 333"/>
                <a:gd name="T37" fmla="*/ 46 h 164"/>
                <a:gd name="T38" fmla="*/ 303 w 333"/>
                <a:gd name="T39" fmla="*/ 71 h 164"/>
                <a:gd name="T40" fmla="*/ 286 w 333"/>
                <a:gd name="T41" fmla="*/ 97 h 164"/>
                <a:gd name="T42" fmla="*/ 265 w 333"/>
                <a:gd name="T43" fmla="*/ 118 h 164"/>
                <a:gd name="T44" fmla="*/ 242 w 333"/>
                <a:gd name="T45" fmla="*/ 135 h 164"/>
                <a:gd name="T46" fmla="*/ 212 w 333"/>
                <a:gd name="T47" fmla="*/ 146 h 164"/>
                <a:gd name="T48" fmla="*/ 184 w 333"/>
                <a:gd name="T49" fmla="*/ 151 h 164"/>
                <a:gd name="T50" fmla="*/ 151 w 333"/>
                <a:gd name="T51" fmla="*/ 151 h 164"/>
                <a:gd name="T52" fmla="*/ 120 w 333"/>
                <a:gd name="T53" fmla="*/ 146 h 164"/>
                <a:gd name="T54" fmla="*/ 93 w 333"/>
                <a:gd name="T55" fmla="*/ 135 h 164"/>
                <a:gd name="T56" fmla="*/ 67 w 333"/>
                <a:gd name="T57" fmla="*/ 118 h 164"/>
                <a:gd name="T58" fmla="*/ 46 w 333"/>
                <a:gd name="T59" fmla="*/ 97 h 164"/>
                <a:gd name="T60" fmla="*/ 29 w 333"/>
                <a:gd name="T61" fmla="*/ 71 h 164"/>
                <a:gd name="T62" fmla="*/ 18 w 333"/>
                <a:gd name="T63" fmla="*/ 46 h 164"/>
                <a:gd name="T64" fmla="*/ 12 w 333"/>
                <a:gd name="T65" fmla="*/ 14 h 164"/>
                <a:gd name="T66" fmla="*/ 0 w 333"/>
                <a:gd name="T67" fmla="*/ 0 h 16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33"/>
                <a:gd name="T103" fmla="*/ 0 h 164"/>
                <a:gd name="T104" fmla="*/ 333 w 333"/>
                <a:gd name="T105" fmla="*/ 164 h 16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33" h="164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2"/>
                  </a:lnTo>
                  <a:lnTo>
                    <a:pt x="9" y="49"/>
                  </a:lnTo>
                  <a:lnTo>
                    <a:pt x="15" y="63"/>
                  </a:lnTo>
                  <a:lnTo>
                    <a:pt x="21" y="77"/>
                  </a:lnTo>
                  <a:lnTo>
                    <a:pt x="29" y="92"/>
                  </a:lnTo>
                  <a:lnTo>
                    <a:pt x="38" y="103"/>
                  </a:lnTo>
                  <a:lnTo>
                    <a:pt x="49" y="115"/>
                  </a:lnTo>
                  <a:lnTo>
                    <a:pt x="61" y="126"/>
                  </a:lnTo>
                  <a:lnTo>
                    <a:pt x="73" y="135"/>
                  </a:lnTo>
                  <a:lnTo>
                    <a:pt x="87" y="143"/>
                  </a:lnTo>
                  <a:lnTo>
                    <a:pt x="102" y="149"/>
                  </a:lnTo>
                  <a:lnTo>
                    <a:pt x="117" y="154"/>
                  </a:lnTo>
                  <a:lnTo>
                    <a:pt x="134" y="157"/>
                  </a:lnTo>
                  <a:lnTo>
                    <a:pt x="148" y="160"/>
                  </a:lnTo>
                  <a:lnTo>
                    <a:pt x="166" y="163"/>
                  </a:lnTo>
                  <a:lnTo>
                    <a:pt x="184" y="160"/>
                  </a:lnTo>
                  <a:lnTo>
                    <a:pt x="201" y="157"/>
                  </a:lnTo>
                  <a:lnTo>
                    <a:pt x="215" y="154"/>
                  </a:lnTo>
                  <a:lnTo>
                    <a:pt x="230" y="149"/>
                  </a:lnTo>
                  <a:lnTo>
                    <a:pt x="245" y="143"/>
                  </a:lnTo>
                  <a:lnTo>
                    <a:pt x="259" y="135"/>
                  </a:lnTo>
                  <a:lnTo>
                    <a:pt x="271" y="126"/>
                  </a:lnTo>
                  <a:lnTo>
                    <a:pt x="283" y="115"/>
                  </a:lnTo>
                  <a:lnTo>
                    <a:pt x="294" y="103"/>
                  </a:lnTo>
                  <a:lnTo>
                    <a:pt x="303" y="92"/>
                  </a:lnTo>
                  <a:lnTo>
                    <a:pt x="311" y="77"/>
                  </a:lnTo>
                  <a:lnTo>
                    <a:pt x="317" y="63"/>
                  </a:lnTo>
                  <a:lnTo>
                    <a:pt x="323" y="49"/>
                  </a:lnTo>
                  <a:lnTo>
                    <a:pt x="329" y="32"/>
                  </a:lnTo>
                  <a:lnTo>
                    <a:pt x="332" y="17"/>
                  </a:lnTo>
                  <a:lnTo>
                    <a:pt x="332" y="0"/>
                  </a:lnTo>
                  <a:lnTo>
                    <a:pt x="323" y="0"/>
                  </a:lnTo>
                  <a:lnTo>
                    <a:pt x="320" y="14"/>
                  </a:lnTo>
                  <a:lnTo>
                    <a:pt x="320" y="32"/>
                  </a:lnTo>
                  <a:lnTo>
                    <a:pt x="314" y="46"/>
                  </a:lnTo>
                  <a:lnTo>
                    <a:pt x="308" y="60"/>
                  </a:lnTo>
                  <a:lnTo>
                    <a:pt x="303" y="71"/>
                  </a:lnTo>
                  <a:lnTo>
                    <a:pt x="294" y="86"/>
                  </a:lnTo>
                  <a:lnTo>
                    <a:pt x="286" y="97"/>
                  </a:lnTo>
                  <a:lnTo>
                    <a:pt x="277" y="109"/>
                  </a:lnTo>
                  <a:lnTo>
                    <a:pt x="265" y="118"/>
                  </a:lnTo>
                  <a:lnTo>
                    <a:pt x="253" y="126"/>
                  </a:lnTo>
                  <a:lnTo>
                    <a:pt x="242" y="135"/>
                  </a:lnTo>
                  <a:lnTo>
                    <a:pt x="227" y="141"/>
                  </a:lnTo>
                  <a:lnTo>
                    <a:pt x="212" y="146"/>
                  </a:lnTo>
                  <a:lnTo>
                    <a:pt x="198" y="149"/>
                  </a:lnTo>
                  <a:lnTo>
                    <a:pt x="184" y="151"/>
                  </a:lnTo>
                  <a:lnTo>
                    <a:pt x="166" y="151"/>
                  </a:lnTo>
                  <a:lnTo>
                    <a:pt x="151" y="151"/>
                  </a:lnTo>
                  <a:lnTo>
                    <a:pt x="134" y="149"/>
                  </a:lnTo>
                  <a:lnTo>
                    <a:pt x="120" y="146"/>
                  </a:lnTo>
                  <a:lnTo>
                    <a:pt x="105" y="141"/>
                  </a:lnTo>
                  <a:lnTo>
                    <a:pt x="93" y="135"/>
                  </a:lnTo>
                  <a:lnTo>
                    <a:pt x="79" y="126"/>
                  </a:lnTo>
                  <a:lnTo>
                    <a:pt x="67" y="118"/>
                  </a:lnTo>
                  <a:lnTo>
                    <a:pt x="55" y="109"/>
                  </a:lnTo>
                  <a:lnTo>
                    <a:pt x="46" y="97"/>
                  </a:lnTo>
                  <a:lnTo>
                    <a:pt x="38" y="86"/>
                  </a:lnTo>
                  <a:lnTo>
                    <a:pt x="29" y="71"/>
                  </a:lnTo>
                  <a:lnTo>
                    <a:pt x="24" y="60"/>
                  </a:lnTo>
                  <a:lnTo>
                    <a:pt x="18" y="46"/>
                  </a:lnTo>
                  <a:lnTo>
                    <a:pt x="15" y="32"/>
                  </a:lnTo>
                  <a:lnTo>
                    <a:pt x="12" y="14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0" name="Freeform 174">
              <a:extLst>
                <a:ext uri="{FF2B5EF4-FFF2-40B4-BE49-F238E27FC236}">
                  <a16:creationId xmlns:a16="http://schemas.microsoft.com/office/drawing/2014/main" id="{B847A2B1-7E35-4E20-AC1B-19ED2452D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642"/>
              <a:ext cx="312" cy="155"/>
            </a:xfrm>
            <a:custGeom>
              <a:avLst/>
              <a:gdLst>
                <a:gd name="T0" fmla="*/ 0 w 312"/>
                <a:gd name="T1" fmla="*/ 137 h 155"/>
                <a:gd name="T2" fmla="*/ 6 w 312"/>
                <a:gd name="T3" fmla="*/ 109 h 155"/>
                <a:gd name="T4" fmla="*/ 18 w 312"/>
                <a:gd name="T5" fmla="*/ 80 h 155"/>
                <a:gd name="T6" fmla="*/ 34 w 312"/>
                <a:gd name="T7" fmla="*/ 57 h 155"/>
                <a:gd name="T8" fmla="*/ 55 w 312"/>
                <a:gd name="T9" fmla="*/ 35 h 155"/>
                <a:gd name="T10" fmla="*/ 81 w 312"/>
                <a:gd name="T11" fmla="*/ 20 h 155"/>
                <a:gd name="T12" fmla="*/ 108 w 312"/>
                <a:gd name="T13" fmla="*/ 9 h 155"/>
                <a:gd name="T14" fmla="*/ 139 w 312"/>
                <a:gd name="T15" fmla="*/ 0 h 155"/>
                <a:gd name="T16" fmla="*/ 172 w 312"/>
                <a:gd name="T17" fmla="*/ 0 h 155"/>
                <a:gd name="T18" fmla="*/ 200 w 312"/>
                <a:gd name="T19" fmla="*/ 9 h 155"/>
                <a:gd name="T20" fmla="*/ 230 w 312"/>
                <a:gd name="T21" fmla="*/ 20 h 155"/>
                <a:gd name="T22" fmla="*/ 253 w 312"/>
                <a:gd name="T23" fmla="*/ 35 h 155"/>
                <a:gd name="T24" fmla="*/ 274 w 312"/>
                <a:gd name="T25" fmla="*/ 57 h 155"/>
                <a:gd name="T26" fmla="*/ 290 w 312"/>
                <a:gd name="T27" fmla="*/ 80 h 155"/>
                <a:gd name="T28" fmla="*/ 302 w 312"/>
                <a:gd name="T29" fmla="*/ 109 h 155"/>
                <a:gd name="T30" fmla="*/ 308 w 312"/>
                <a:gd name="T31" fmla="*/ 137 h 155"/>
                <a:gd name="T32" fmla="*/ 302 w 312"/>
                <a:gd name="T33" fmla="*/ 154 h 155"/>
                <a:gd name="T34" fmla="*/ 296 w 312"/>
                <a:gd name="T35" fmla="*/ 126 h 155"/>
                <a:gd name="T36" fmla="*/ 290 w 312"/>
                <a:gd name="T37" fmla="*/ 97 h 155"/>
                <a:gd name="T38" fmla="*/ 276 w 312"/>
                <a:gd name="T39" fmla="*/ 74 h 155"/>
                <a:gd name="T40" fmla="*/ 259 w 312"/>
                <a:gd name="T41" fmla="*/ 51 h 155"/>
                <a:gd name="T42" fmla="*/ 235 w 312"/>
                <a:gd name="T43" fmla="*/ 35 h 155"/>
                <a:gd name="T44" fmla="*/ 212 w 312"/>
                <a:gd name="T45" fmla="*/ 20 h 155"/>
                <a:gd name="T46" fmla="*/ 183 w 312"/>
                <a:gd name="T47" fmla="*/ 12 h 155"/>
                <a:gd name="T48" fmla="*/ 154 w 312"/>
                <a:gd name="T49" fmla="*/ 9 h 155"/>
                <a:gd name="T50" fmla="*/ 125 w 312"/>
                <a:gd name="T51" fmla="*/ 12 h 155"/>
                <a:gd name="T52" fmla="*/ 99 w 312"/>
                <a:gd name="T53" fmla="*/ 20 h 155"/>
                <a:gd name="T54" fmla="*/ 73 w 312"/>
                <a:gd name="T55" fmla="*/ 35 h 155"/>
                <a:gd name="T56" fmla="*/ 52 w 312"/>
                <a:gd name="T57" fmla="*/ 51 h 155"/>
                <a:gd name="T58" fmla="*/ 31 w 312"/>
                <a:gd name="T59" fmla="*/ 74 h 155"/>
                <a:gd name="T60" fmla="*/ 21 w 312"/>
                <a:gd name="T61" fmla="*/ 97 h 155"/>
                <a:gd name="T62" fmla="*/ 12 w 312"/>
                <a:gd name="T63" fmla="*/ 126 h 155"/>
                <a:gd name="T64" fmla="*/ 9 w 312"/>
                <a:gd name="T65" fmla="*/ 154 h 1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2"/>
                <a:gd name="T100" fmla="*/ 0 h 155"/>
                <a:gd name="T101" fmla="*/ 312 w 312"/>
                <a:gd name="T102" fmla="*/ 155 h 15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2" h="155">
                  <a:moveTo>
                    <a:pt x="0" y="154"/>
                  </a:moveTo>
                  <a:lnTo>
                    <a:pt x="0" y="137"/>
                  </a:lnTo>
                  <a:lnTo>
                    <a:pt x="3" y="123"/>
                  </a:lnTo>
                  <a:lnTo>
                    <a:pt x="6" y="109"/>
                  </a:lnTo>
                  <a:lnTo>
                    <a:pt x="12" y="94"/>
                  </a:lnTo>
                  <a:lnTo>
                    <a:pt x="18" y="80"/>
                  </a:lnTo>
                  <a:lnTo>
                    <a:pt x="26" y="68"/>
                  </a:lnTo>
                  <a:lnTo>
                    <a:pt x="34" y="57"/>
                  </a:lnTo>
                  <a:lnTo>
                    <a:pt x="43" y="45"/>
                  </a:lnTo>
                  <a:lnTo>
                    <a:pt x="55" y="35"/>
                  </a:lnTo>
                  <a:lnTo>
                    <a:pt x="67" y="26"/>
                  </a:lnTo>
                  <a:lnTo>
                    <a:pt x="81" y="20"/>
                  </a:lnTo>
                  <a:lnTo>
                    <a:pt x="93" y="12"/>
                  </a:lnTo>
                  <a:lnTo>
                    <a:pt x="108" y="9"/>
                  </a:lnTo>
                  <a:lnTo>
                    <a:pt x="122" y="3"/>
                  </a:lnTo>
                  <a:lnTo>
                    <a:pt x="139" y="0"/>
                  </a:lnTo>
                  <a:lnTo>
                    <a:pt x="154" y="0"/>
                  </a:lnTo>
                  <a:lnTo>
                    <a:pt x="172" y="0"/>
                  </a:lnTo>
                  <a:lnTo>
                    <a:pt x="186" y="3"/>
                  </a:lnTo>
                  <a:lnTo>
                    <a:pt x="200" y="9"/>
                  </a:lnTo>
                  <a:lnTo>
                    <a:pt x="215" y="12"/>
                  </a:lnTo>
                  <a:lnTo>
                    <a:pt x="230" y="20"/>
                  </a:lnTo>
                  <a:lnTo>
                    <a:pt x="241" y="26"/>
                  </a:lnTo>
                  <a:lnTo>
                    <a:pt x="253" y="35"/>
                  </a:lnTo>
                  <a:lnTo>
                    <a:pt x="265" y="45"/>
                  </a:lnTo>
                  <a:lnTo>
                    <a:pt x="274" y="57"/>
                  </a:lnTo>
                  <a:lnTo>
                    <a:pt x="282" y="68"/>
                  </a:lnTo>
                  <a:lnTo>
                    <a:pt x="290" y="80"/>
                  </a:lnTo>
                  <a:lnTo>
                    <a:pt x="296" y="94"/>
                  </a:lnTo>
                  <a:lnTo>
                    <a:pt x="302" y="109"/>
                  </a:lnTo>
                  <a:lnTo>
                    <a:pt x="308" y="123"/>
                  </a:lnTo>
                  <a:lnTo>
                    <a:pt x="308" y="137"/>
                  </a:lnTo>
                  <a:lnTo>
                    <a:pt x="311" y="154"/>
                  </a:lnTo>
                  <a:lnTo>
                    <a:pt x="302" y="154"/>
                  </a:lnTo>
                  <a:lnTo>
                    <a:pt x="299" y="140"/>
                  </a:lnTo>
                  <a:lnTo>
                    <a:pt x="296" y="126"/>
                  </a:lnTo>
                  <a:lnTo>
                    <a:pt x="293" y="112"/>
                  </a:lnTo>
                  <a:lnTo>
                    <a:pt x="290" y="97"/>
                  </a:lnTo>
                  <a:lnTo>
                    <a:pt x="282" y="86"/>
                  </a:lnTo>
                  <a:lnTo>
                    <a:pt x="276" y="74"/>
                  </a:lnTo>
                  <a:lnTo>
                    <a:pt x="268" y="63"/>
                  </a:lnTo>
                  <a:lnTo>
                    <a:pt x="259" y="51"/>
                  </a:lnTo>
                  <a:lnTo>
                    <a:pt x="247" y="42"/>
                  </a:lnTo>
                  <a:lnTo>
                    <a:pt x="235" y="35"/>
                  </a:lnTo>
                  <a:lnTo>
                    <a:pt x="224" y="26"/>
                  </a:lnTo>
                  <a:lnTo>
                    <a:pt x="212" y="20"/>
                  </a:lnTo>
                  <a:lnTo>
                    <a:pt x="197" y="17"/>
                  </a:lnTo>
                  <a:lnTo>
                    <a:pt x="183" y="12"/>
                  </a:lnTo>
                  <a:lnTo>
                    <a:pt x="169" y="12"/>
                  </a:lnTo>
                  <a:lnTo>
                    <a:pt x="154" y="9"/>
                  </a:lnTo>
                  <a:lnTo>
                    <a:pt x="139" y="12"/>
                  </a:lnTo>
                  <a:lnTo>
                    <a:pt x="125" y="12"/>
                  </a:lnTo>
                  <a:lnTo>
                    <a:pt x="110" y="17"/>
                  </a:lnTo>
                  <a:lnTo>
                    <a:pt x="99" y="20"/>
                  </a:lnTo>
                  <a:lnTo>
                    <a:pt x="84" y="26"/>
                  </a:lnTo>
                  <a:lnTo>
                    <a:pt x="73" y="35"/>
                  </a:lnTo>
                  <a:lnTo>
                    <a:pt x="61" y="42"/>
                  </a:lnTo>
                  <a:lnTo>
                    <a:pt x="52" y="51"/>
                  </a:lnTo>
                  <a:lnTo>
                    <a:pt x="40" y="63"/>
                  </a:lnTo>
                  <a:lnTo>
                    <a:pt x="31" y="74"/>
                  </a:lnTo>
                  <a:lnTo>
                    <a:pt x="26" y="86"/>
                  </a:lnTo>
                  <a:lnTo>
                    <a:pt x="21" y="97"/>
                  </a:lnTo>
                  <a:lnTo>
                    <a:pt x="15" y="112"/>
                  </a:lnTo>
                  <a:lnTo>
                    <a:pt x="12" y="126"/>
                  </a:lnTo>
                  <a:lnTo>
                    <a:pt x="9" y="140"/>
                  </a:lnTo>
                  <a:lnTo>
                    <a:pt x="9" y="154"/>
                  </a:lnTo>
                  <a:lnTo>
                    <a:pt x="0" y="154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1" name="Freeform 175">
              <a:extLst>
                <a:ext uri="{FF2B5EF4-FFF2-40B4-BE49-F238E27FC236}">
                  <a16:creationId xmlns:a16="http://schemas.microsoft.com/office/drawing/2014/main" id="{74CBDD3E-C671-4999-8892-176BA4C13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802"/>
              <a:ext cx="312" cy="152"/>
            </a:xfrm>
            <a:custGeom>
              <a:avLst/>
              <a:gdLst>
                <a:gd name="T0" fmla="*/ 0 w 312"/>
                <a:gd name="T1" fmla="*/ 0 h 152"/>
                <a:gd name="T2" fmla="*/ 3 w 312"/>
                <a:gd name="T3" fmla="*/ 32 h 152"/>
                <a:gd name="T4" fmla="*/ 12 w 312"/>
                <a:gd name="T5" fmla="*/ 60 h 152"/>
                <a:gd name="T6" fmla="*/ 26 w 312"/>
                <a:gd name="T7" fmla="*/ 86 h 152"/>
                <a:gd name="T8" fmla="*/ 43 w 312"/>
                <a:gd name="T9" fmla="*/ 109 h 152"/>
                <a:gd name="T10" fmla="*/ 67 w 312"/>
                <a:gd name="T11" fmla="*/ 126 h 152"/>
                <a:gd name="T12" fmla="*/ 93 w 312"/>
                <a:gd name="T13" fmla="*/ 140 h 152"/>
                <a:gd name="T14" fmla="*/ 122 w 312"/>
                <a:gd name="T15" fmla="*/ 148 h 152"/>
                <a:gd name="T16" fmla="*/ 154 w 312"/>
                <a:gd name="T17" fmla="*/ 151 h 152"/>
                <a:gd name="T18" fmla="*/ 186 w 312"/>
                <a:gd name="T19" fmla="*/ 148 h 152"/>
                <a:gd name="T20" fmla="*/ 215 w 312"/>
                <a:gd name="T21" fmla="*/ 140 h 152"/>
                <a:gd name="T22" fmla="*/ 241 w 312"/>
                <a:gd name="T23" fmla="*/ 126 h 152"/>
                <a:gd name="T24" fmla="*/ 265 w 312"/>
                <a:gd name="T25" fmla="*/ 109 h 152"/>
                <a:gd name="T26" fmla="*/ 282 w 312"/>
                <a:gd name="T27" fmla="*/ 86 h 152"/>
                <a:gd name="T28" fmla="*/ 296 w 312"/>
                <a:gd name="T29" fmla="*/ 60 h 152"/>
                <a:gd name="T30" fmla="*/ 308 w 312"/>
                <a:gd name="T31" fmla="*/ 32 h 152"/>
                <a:gd name="T32" fmla="*/ 311 w 312"/>
                <a:gd name="T33" fmla="*/ 0 h 152"/>
                <a:gd name="T34" fmla="*/ 299 w 312"/>
                <a:gd name="T35" fmla="*/ 14 h 152"/>
                <a:gd name="T36" fmla="*/ 293 w 312"/>
                <a:gd name="T37" fmla="*/ 43 h 152"/>
                <a:gd name="T38" fmla="*/ 282 w 312"/>
                <a:gd name="T39" fmla="*/ 68 h 152"/>
                <a:gd name="T40" fmla="*/ 268 w 312"/>
                <a:gd name="T41" fmla="*/ 91 h 152"/>
                <a:gd name="T42" fmla="*/ 247 w 312"/>
                <a:gd name="T43" fmla="*/ 112 h 152"/>
                <a:gd name="T44" fmla="*/ 224 w 312"/>
                <a:gd name="T45" fmla="*/ 126 h 152"/>
                <a:gd name="T46" fmla="*/ 197 w 312"/>
                <a:gd name="T47" fmla="*/ 138 h 152"/>
                <a:gd name="T48" fmla="*/ 169 w 312"/>
                <a:gd name="T49" fmla="*/ 142 h 152"/>
                <a:gd name="T50" fmla="*/ 139 w 312"/>
                <a:gd name="T51" fmla="*/ 142 h 152"/>
                <a:gd name="T52" fmla="*/ 110 w 312"/>
                <a:gd name="T53" fmla="*/ 138 h 152"/>
                <a:gd name="T54" fmla="*/ 84 w 312"/>
                <a:gd name="T55" fmla="*/ 126 h 152"/>
                <a:gd name="T56" fmla="*/ 61 w 312"/>
                <a:gd name="T57" fmla="*/ 112 h 152"/>
                <a:gd name="T58" fmla="*/ 40 w 312"/>
                <a:gd name="T59" fmla="*/ 91 h 152"/>
                <a:gd name="T60" fmla="*/ 26 w 312"/>
                <a:gd name="T61" fmla="*/ 68 h 152"/>
                <a:gd name="T62" fmla="*/ 15 w 312"/>
                <a:gd name="T63" fmla="*/ 43 h 152"/>
                <a:gd name="T64" fmla="*/ 9 w 312"/>
                <a:gd name="T65" fmla="*/ 14 h 152"/>
                <a:gd name="T66" fmla="*/ 0 w 312"/>
                <a:gd name="T67" fmla="*/ 0 h 15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12"/>
                <a:gd name="T103" fmla="*/ 0 h 152"/>
                <a:gd name="T104" fmla="*/ 312 w 312"/>
                <a:gd name="T105" fmla="*/ 152 h 15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12" h="152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32"/>
                  </a:lnTo>
                  <a:lnTo>
                    <a:pt x="6" y="46"/>
                  </a:lnTo>
                  <a:lnTo>
                    <a:pt x="12" y="60"/>
                  </a:lnTo>
                  <a:lnTo>
                    <a:pt x="18" y="71"/>
                  </a:lnTo>
                  <a:lnTo>
                    <a:pt x="26" y="86"/>
                  </a:lnTo>
                  <a:lnTo>
                    <a:pt x="34" y="97"/>
                  </a:lnTo>
                  <a:lnTo>
                    <a:pt x="43" y="109"/>
                  </a:lnTo>
                  <a:lnTo>
                    <a:pt x="55" y="117"/>
                  </a:lnTo>
                  <a:lnTo>
                    <a:pt x="67" y="126"/>
                  </a:lnTo>
                  <a:lnTo>
                    <a:pt x="81" y="135"/>
                  </a:lnTo>
                  <a:lnTo>
                    <a:pt x="93" y="140"/>
                  </a:lnTo>
                  <a:lnTo>
                    <a:pt x="108" y="145"/>
                  </a:lnTo>
                  <a:lnTo>
                    <a:pt x="122" y="148"/>
                  </a:lnTo>
                  <a:lnTo>
                    <a:pt x="139" y="151"/>
                  </a:lnTo>
                  <a:lnTo>
                    <a:pt x="154" y="151"/>
                  </a:lnTo>
                  <a:lnTo>
                    <a:pt x="172" y="151"/>
                  </a:lnTo>
                  <a:lnTo>
                    <a:pt x="186" y="148"/>
                  </a:lnTo>
                  <a:lnTo>
                    <a:pt x="200" y="145"/>
                  </a:lnTo>
                  <a:lnTo>
                    <a:pt x="215" y="140"/>
                  </a:lnTo>
                  <a:lnTo>
                    <a:pt x="230" y="135"/>
                  </a:lnTo>
                  <a:lnTo>
                    <a:pt x="241" y="126"/>
                  </a:lnTo>
                  <a:lnTo>
                    <a:pt x="253" y="117"/>
                  </a:lnTo>
                  <a:lnTo>
                    <a:pt x="265" y="109"/>
                  </a:lnTo>
                  <a:lnTo>
                    <a:pt x="274" y="97"/>
                  </a:lnTo>
                  <a:lnTo>
                    <a:pt x="282" y="86"/>
                  </a:lnTo>
                  <a:lnTo>
                    <a:pt x="290" y="71"/>
                  </a:lnTo>
                  <a:lnTo>
                    <a:pt x="296" y="60"/>
                  </a:lnTo>
                  <a:lnTo>
                    <a:pt x="302" y="46"/>
                  </a:lnTo>
                  <a:lnTo>
                    <a:pt x="308" y="32"/>
                  </a:lnTo>
                  <a:lnTo>
                    <a:pt x="308" y="14"/>
                  </a:lnTo>
                  <a:lnTo>
                    <a:pt x="311" y="0"/>
                  </a:lnTo>
                  <a:lnTo>
                    <a:pt x="302" y="0"/>
                  </a:lnTo>
                  <a:lnTo>
                    <a:pt x="299" y="14"/>
                  </a:lnTo>
                  <a:lnTo>
                    <a:pt x="296" y="29"/>
                  </a:lnTo>
                  <a:lnTo>
                    <a:pt x="293" y="43"/>
                  </a:lnTo>
                  <a:lnTo>
                    <a:pt x="290" y="55"/>
                  </a:lnTo>
                  <a:lnTo>
                    <a:pt x="282" y="68"/>
                  </a:lnTo>
                  <a:lnTo>
                    <a:pt x="276" y="80"/>
                  </a:lnTo>
                  <a:lnTo>
                    <a:pt x="268" y="91"/>
                  </a:lnTo>
                  <a:lnTo>
                    <a:pt x="259" y="100"/>
                  </a:lnTo>
                  <a:lnTo>
                    <a:pt x="247" y="112"/>
                  </a:lnTo>
                  <a:lnTo>
                    <a:pt x="235" y="120"/>
                  </a:lnTo>
                  <a:lnTo>
                    <a:pt x="224" y="126"/>
                  </a:lnTo>
                  <a:lnTo>
                    <a:pt x="212" y="132"/>
                  </a:lnTo>
                  <a:lnTo>
                    <a:pt x="197" y="138"/>
                  </a:lnTo>
                  <a:lnTo>
                    <a:pt x="183" y="140"/>
                  </a:lnTo>
                  <a:lnTo>
                    <a:pt x="169" y="142"/>
                  </a:lnTo>
                  <a:lnTo>
                    <a:pt x="154" y="142"/>
                  </a:lnTo>
                  <a:lnTo>
                    <a:pt x="139" y="142"/>
                  </a:lnTo>
                  <a:lnTo>
                    <a:pt x="125" y="140"/>
                  </a:lnTo>
                  <a:lnTo>
                    <a:pt x="110" y="138"/>
                  </a:lnTo>
                  <a:lnTo>
                    <a:pt x="99" y="132"/>
                  </a:lnTo>
                  <a:lnTo>
                    <a:pt x="84" y="126"/>
                  </a:lnTo>
                  <a:lnTo>
                    <a:pt x="73" y="120"/>
                  </a:lnTo>
                  <a:lnTo>
                    <a:pt x="61" y="112"/>
                  </a:lnTo>
                  <a:lnTo>
                    <a:pt x="52" y="100"/>
                  </a:lnTo>
                  <a:lnTo>
                    <a:pt x="40" y="91"/>
                  </a:lnTo>
                  <a:lnTo>
                    <a:pt x="31" y="80"/>
                  </a:lnTo>
                  <a:lnTo>
                    <a:pt x="26" y="68"/>
                  </a:lnTo>
                  <a:lnTo>
                    <a:pt x="21" y="55"/>
                  </a:lnTo>
                  <a:lnTo>
                    <a:pt x="15" y="43"/>
                  </a:lnTo>
                  <a:lnTo>
                    <a:pt x="12" y="29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2" name="Freeform 176">
              <a:extLst>
                <a:ext uri="{FF2B5EF4-FFF2-40B4-BE49-F238E27FC236}">
                  <a16:creationId xmlns:a16="http://schemas.microsoft.com/office/drawing/2014/main" id="{D8F97E4E-4067-4CDC-A992-81E0E348D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651"/>
              <a:ext cx="294" cy="146"/>
            </a:xfrm>
            <a:custGeom>
              <a:avLst/>
              <a:gdLst>
                <a:gd name="T0" fmla="*/ 0 w 294"/>
                <a:gd name="T1" fmla="*/ 131 h 146"/>
                <a:gd name="T2" fmla="*/ 6 w 294"/>
                <a:gd name="T3" fmla="*/ 103 h 146"/>
                <a:gd name="T4" fmla="*/ 18 w 294"/>
                <a:gd name="T5" fmla="*/ 77 h 146"/>
                <a:gd name="T6" fmla="*/ 31 w 294"/>
                <a:gd name="T7" fmla="*/ 54 h 146"/>
                <a:gd name="T8" fmla="*/ 52 w 294"/>
                <a:gd name="T9" fmla="*/ 34 h 146"/>
                <a:gd name="T10" fmla="*/ 75 w 294"/>
                <a:gd name="T11" fmla="*/ 17 h 146"/>
                <a:gd name="T12" fmla="*/ 101 w 294"/>
                <a:gd name="T13" fmla="*/ 9 h 146"/>
                <a:gd name="T14" fmla="*/ 130 w 294"/>
                <a:gd name="T15" fmla="*/ 3 h 146"/>
                <a:gd name="T16" fmla="*/ 160 w 294"/>
                <a:gd name="T17" fmla="*/ 3 h 146"/>
                <a:gd name="T18" fmla="*/ 188 w 294"/>
                <a:gd name="T19" fmla="*/ 9 h 146"/>
                <a:gd name="T20" fmla="*/ 215 w 294"/>
                <a:gd name="T21" fmla="*/ 17 h 146"/>
                <a:gd name="T22" fmla="*/ 238 w 294"/>
                <a:gd name="T23" fmla="*/ 34 h 146"/>
                <a:gd name="T24" fmla="*/ 259 w 294"/>
                <a:gd name="T25" fmla="*/ 54 h 146"/>
                <a:gd name="T26" fmla="*/ 272 w 294"/>
                <a:gd name="T27" fmla="*/ 77 h 146"/>
                <a:gd name="T28" fmla="*/ 284 w 294"/>
                <a:gd name="T29" fmla="*/ 103 h 146"/>
                <a:gd name="T30" fmla="*/ 290 w 294"/>
                <a:gd name="T31" fmla="*/ 131 h 146"/>
                <a:gd name="T32" fmla="*/ 281 w 294"/>
                <a:gd name="T33" fmla="*/ 145 h 146"/>
                <a:gd name="T34" fmla="*/ 281 w 294"/>
                <a:gd name="T35" fmla="*/ 117 h 146"/>
                <a:gd name="T36" fmla="*/ 272 w 294"/>
                <a:gd name="T37" fmla="*/ 91 h 146"/>
                <a:gd name="T38" fmla="*/ 262 w 294"/>
                <a:gd name="T39" fmla="*/ 68 h 146"/>
                <a:gd name="T40" fmla="*/ 244 w 294"/>
                <a:gd name="T41" fmla="*/ 48 h 146"/>
                <a:gd name="T42" fmla="*/ 223 w 294"/>
                <a:gd name="T43" fmla="*/ 32 h 146"/>
                <a:gd name="T44" fmla="*/ 200 w 294"/>
                <a:gd name="T45" fmla="*/ 20 h 146"/>
                <a:gd name="T46" fmla="*/ 174 w 294"/>
                <a:gd name="T47" fmla="*/ 12 h 146"/>
                <a:gd name="T48" fmla="*/ 145 w 294"/>
                <a:gd name="T49" fmla="*/ 9 h 146"/>
                <a:gd name="T50" fmla="*/ 119 w 294"/>
                <a:gd name="T51" fmla="*/ 12 h 146"/>
                <a:gd name="T52" fmla="*/ 93 w 294"/>
                <a:gd name="T53" fmla="*/ 20 h 146"/>
                <a:gd name="T54" fmla="*/ 70 w 294"/>
                <a:gd name="T55" fmla="*/ 32 h 146"/>
                <a:gd name="T56" fmla="*/ 49 w 294"/>
                <a:gd name="T57" fmla="*/ 48 h 146"/>
                <a:gd name="T58" fmla="*/ 31 w 294"/>
                <a:gd name="T59" fmla="*/ 68 h 146"/>
                <a:gd name="T60" fmla="*/ 20 w 294"/>
                <a:gd name="T61" fmla="*/ 91 h 146"/>
                <a:gd name="T62" fmla="*/ 12 w 294"/>
                <a:gd name="T63" fmla="*/ 117 h 146"/>
                <a:gd name="T64" fmla="*/ 9 w 294"/>
                <a:gd name="T65" fmla="*/ 145 h 1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4"/>
                <a:gd name="T100" fmla="*/ 0 h 146"/>
                <a:gd name="T101" fmla="*/ 294 w 294"/>
                <a:gd name="T102" fmla="*/ 146 h 1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4" h="146">
                  <a:moveTo>
                    <a:pt x="0" y="145"/>
                  </a:moveTo>
                  <a:lnTo>
                    <a:pt x="0" y="131"/>
                  </a:lnTo>
                  <a:lnTo>
                    <a:pt x="3" y="117"/>
                  </a:lnTo>
                  <a:lnTo>
                    <a:pt x="6" y="103"/>
                  </a:lnTo>
                  <a:lnTo>
                    <a:pt x="12" y="88"/>
                  </a:lnTo>
                  <a:lnTo>
                    <a:pt x="18" y="77"/>
                  </a:lnTo>
                  <a:lnTo>
                    <a:pt x="23" y="65"/>
                  </a:lnTo>
                  <a:lnTo>
                    <a:pt x="31" y="54"/>
                  </a:lnTo>
                  <a:lnTo>
                    <a:pt x="43" y="42"/>
                  </a:lnTo>
                  <a:lnTo>
                    <a:pt x="52" y="34"/>
                  </a:lnTo>
                  <a:lnTo>
                    <a:pt x="64" y="26"/>
                  </a:lnTo>
                  <a:lnTo>
                    <a:pt x="75" y="17"/>
                  </a:lnTo>
                  <a:lnTo>
                    <a:pt x="90" y="12"/>
                  </a:lnTo>
                  <a:lnTo>
                    <a:pt x="101" y="9"/>
                  </a:lnTo>
                  <a:lnTo>
                    <a:pt x="116" y="3"/>
                  </a:lnTo>
                  <a:lnTo>
                    <a:pt x="130" y="3"/>
                  </a:lnTo>
                  <a:lnTo>
                    <a:pt x="145" y="0"/>
                  </a:lnTo>
                  <a:lnTo>
                    <a:pt x="160" y="3"/>
                  </a:lnTo>
                  <a:lnTo>
                    <a:pt x="174" y="3"/>
                  </a:lnTo>
                  <a:lnTo>
                    <a:pt x="188" y="9"/>
                  </a:lnTo>
                  <a:lnTo>
                    <a:pt x="203" y="12"/>
                  </a:lnTo>
                  <a:lnTo>
                    <a:pt x="215" y="17"/>
                  </a:lnTo>
                  <a:lnTo>
                    <a:pt x="226" y="26"/>
                  </a:lnTo>
                  <a:lnTo>
                    <a:pt x="238" y="34"/>
                  </a:lnTo>
                  <a:lnTo>
                    <a:pt x="250" y="42"/>
                  </a:lnTo>
                  <a:lnTo>
                    <a:pt x="259" y="54"/>
                  </a:lnTo>
                  <a:lnTo>
                    <a:pt x="267" y="65"/>
                  </a:lnTo>
                  <a:lnTo>
                    <a:pt x="272" y="77"/>
                  </a:lnTo>
                  <a:lnTo>
                    <a:pt x="281" y="88"/>
                  </a:lnTo>
                  <a:lnTo>
                    <a:pt x="284" y="103"/>
                  </a:lnTo>
                  <a:lnTo>
                    <a:pt x="287" y="117"/>
                  </a:lnTo>
                  <a:lnTo>
                    <a:pt x="290" y="131"/>
                  </a:lnTo>
                  <a:lnTo>
                    <a:pt x="293" y="145"/>
                  </a:lnTo>
                  <a:lnTo>
                    <a:pt x="281" y="145"/>
                  </a:lnTo>
                  <a:lnTo>
                    <a:pt x="281" y="131"/>
                  </a:lnTo>
                  <a:lnTo>
                    <a:pt x="281" y="117"/>
                  </a:lnTo>
                  <a:lnTo>
                    <a:pt x="275" y="106"/>
                  </a:lnTo>
                  <a:lnTo>
                    <a:pt x="272" y="91"/>
                  </a:lnTo>
                  <a:lnTo>
                    <a:pt x="267" y="80"/>
                  </a:lnTo>
                  <a:lnTo>
                    <a:pt x="262" y="68"/>
                  </a:lnTo>
                  <a:lnTo>
                    <a:pt x="253" y="60"/>
                  </a:lnTo>
                  <a:lnTo>
                    <a:pt x="244" y="48"/>
                  </a:lnTo>
                  <a:lnTo>
                    <a:pt x="232" y="39"/>
                  </a:lnTo>
                  <a:lnTo>
                    <a:pt x="223" y="32"/>
                  </a:lnTo>
                  <a:lnTo>
                    <a:pt x="212" y="26"/>
                  </a:lnTo>
                  <a:lnTo>
                    <a:pt x="200" y="20"/>
                  </a:lnTo>
                  <a:lnTo>
                    <a:pt x="185" y="17"/>
                  </a:lnTo>
                  <a:lnTo>
                    <a:pt x="174" y="12"/>
                  </a:lnTo>
                  <a:lnTo>
                    <a:pt x="160" y="12"/>
                  </a:lnTo>
                  <a:lnTo>
                    <a:pt x="145" y="9"/>
                  </a:lnTo>
                  <a:lnTo>
                    <a:pt x="130" y="12"/>
                  </a:lnTo>
                  <a:lnTo>
                    <a:pt x="119" y="12"/>
                  </a:lnTo>
                  <a:lnTo>
                    <a:pt x="104" y="17"/>
                  </a:lnTo>
                  <a:lnTo>
                    <a:pt x="93" y="20"/>
                  </a:lnTo>
                  <a:lnTo>
                    <a:pt x="81" y="26"/>
                  </a:lnTo>
                  <a:lnTo>
                    <a:pt x="70" y="32"/>
                  </a:lnTo>
                  <a:lnTo>
                    <a:pt x="58" y="39"/>
                  </a:lnTo>
                  <a:lnTo>
                    <a:pt x="49" y="48"/>
                  </a:lnTo>
                  <a:lnTo>
                    <a:pt x="40" y="60"/>
                  </a:lnTo>
                  <a:lnTo>
                    <a:pt x="31" y="68"/>
                  </a:lnTo>
                  <a:lnTo>
                    <a:pt x="25" y="80"/>
                  </a:lnTo>
                  <a:lnTo>
                    <a:pt x="20" y="91"/>
                  </a:lnTo>
                  <a:lnTo>
                    <a:pt x="15" y="106"/>
                  </a:lnTo>
                  <a:lnTo>
                    <a:pt x="12" y="117"/>
                  </a:lnTo>
                  <a:lnTo>
                    <a:pt x="9" y="131"/>
                  </a:lnTo>
                  <a:lnTo>
                    <a:pt x="9" y="145"/>
                  </a:lnTo>
                  <a:lnTo>
                    <a:pt x="0" y="145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3" name="Freeform 177">
              <a:extLst>
                <a:ext uri="{FF2B5EF4-FFF2-40B4-BE49-F238E27FC236}">
                  <a16:creationId xmlns:a16="http://schemas.microsoft.com/office/drawing/2014/main" id="{1D3A80AF-6304-41CB-AE86-FAD26F0FA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802"/>
              <a:ext cx="294" cy="143"/>
            </a:xfrm>
            <a:custGeom>
              <a:avLst/>
              <a:gdLst>
                <a:gd name="T0" fmla="*/ 0 w 294"/>
                <a:gd name="T1" fmla="*/ 0 h 143"/>
                <a:gd name="T2" fmla="*/ 3 w 294"/>
                <a:gd name="T3" fmla="*/ 29 h 143"/>
                <a:gd name="T4" fmla="*/ 12 w 294"/>
                <a:gd name="T5" fmla="*/ 55 h 143"/>
                <a:gd name="T6" fmla="*/ 23 w 294"/>
                <a:gd name="T7" fmla="*/ 80 h 143"/>
                <a:gd name="T8" fmla="*/ 43 w 294"/>
                <a:gd name="T9" fmla="*/ 100 h 143"/>
                <a:gd name="T10" fmla="*/ 64 w 294"/>
                <a:gd name="T11" fmla="*/ 120 h 143"/>
                <a:gd name="T12" fmla="*/ 90 w 294"/>
                <a:gd name="T13" fmla="*/ 131 h 143"/>
                <a:gd name="T14" fmla="*/ 116 w 294"/>
                <a:gd name="T15" fmla="*/ 140 h 143"/>
                <a:gd name="T16" fmla="*/ 145 w 294"/>
                <a:gd name="T17" fmla="*/ 142 h 143"/>
                <a:gd name="T18" fmla="*/ 174 w 294"/>
                <a:gd name="T19" fmla="*/ 140 h 143"/>
                <a:gd name="T20" fmla="*/ 203 w 294"/>
                <a:gd name="T21" fmla="*/ 131 h 143"/>
                <a:gd name="T22" fmla="*/ 226 w 294"/>
                <a:gd name="T23" fmla="*/ 120 h 143"/>
                <a:gd name="T24" fmla="*/ 250 w 294"/>
                <a:gd name="T25" fmla="*/ 100 h 143"/>
                <a:gd name="T26" fmla="*/ 267 w 294"/>
                <a:gd name="T27" fmla="*/ 80 h 143"/>
                <a:gd name="T28" fmla="*/ 281 w 294"/>
                <a:gd name="T29" fmla="*/ 55 h 143"/>
                <a:gd name="T30" fmla="*/ 287 w 294"/>
                <a:gd name="T31" fmla="*/ 29 h 143"/>
                <a:gd name="T32" fmla="*/ 293 w 294"/>
                <a:gd name="T33" fmla="*/ 0 h 143"/>
                <a:gd name="T34" fmla="*/ 281 w 294"/>
                <a:gd name="T35" fmla="*/ 14 h 143"/>
                <a:gd name="T36" fmla="*/ 275 w 294"/>
                <a:gd name="T37" fmla="*/ 40 h 143"/>
                <a:gd name="T38" fmla="*/ 267 w 294"/>
                <a:gd name="T39" fmla="*/ 62 h 143"/>
                <a:gd name="T40" fmla="*/ 253 w 294"/>
                <a:gd name="T41" fmla="*/ 85 h 143"/>
                <a:gd name="T42" fmla="*/ 232 w 294"/>
                <a:gd name="T43" fmla="*/ 103 h 143"/>
                <a:gd name="T44" fmla="*/ 212 w 294"/>
                <a:gd name="T45" fmla="*/ 117 h 143"/>
                <a:gd name="T46" fmla="*/ 185 w 294"/>
                <a:gd name="T47" fmla="*/ 129 h 143"/>
                <a:gd name="T48" fmla="*/ 160 w 294"/>
                <a:gd name="T49" fmla="*/ 134 h 143"/>
                <a:gd name="T50" fmla="*/ 130 w 294"/>
                <a:gd name="T51" fmla="*/ 134 h 143"/>
                <a:gd name="T52" fmla="*/ 104 w 294"/>
                <a:gd name="T53" fmla="*/ 129 h 143"/>
                <a:gd name="T54" fmla="*/ 81 w 294"/>
                <a:gd name="T55" fmla="*/ 117 h 143"/>
                <a:gd name="T56" fmla="*/ 58 w 294"/>
                <a:gd name="T57" fmla="*/ 103 h 143"/>
                <a:gd name="T58" fmla="*/ 40 w 294"/>
                <a:gd name="T59" fmla="*/ 85 h 143"/>
                <a:gd name="T60" fmla="*/ 25 w 294"/>
                <a:gd name="T61" fmla="*/ 62 h 143"/>
                <a:gd name="T62" fmla="*/ 15 w 294"/>
                <a:gd name="T63" fmla="*/ 40 h 143"/>
                <a:gd name="T64" fmla="*/ 9 w 294"/>
                <a:gd name="T65" fmla="*/ 14 h 143"/>
                <a:gd name="T66" fmla="*/ 0 w 294"/>
                <a:gd name="T67" fmla="*/ 0 h 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94"/>
                <a:gd name="T103" fmla="*/ 0 h 143"/>
                <a:gd name="T104" fmla="*/ 294 w 294"/>
                <a:gd name="T105" fmla="*/ 143 h 1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94" h="143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9"/>
                  </a:lnTo>
                  <a:lnTo>
                    <a:pt x="6" y="43"/>
                  </a:lnTo>
                  <a:lnTo>
                    <a:pt x="12" y="55"/>
                  </a:lnTo>
                  <a:lnTo>
                    <a:pt x="18" y="68"/>
                  </a:lnTo>
                  <a:lnTo>
                    <a:pt x="23" y="80"/>
                  </a:lnTo>
                  <a:lnTo>
                    <a:pt x="31" y="91"/>
                  </a:lnTo>
                  <a:lnTo>
                    <a:pt x="43" y="100"/>
                  </a:lnTo>
                  <a:lnTo>
                    <a:pt x="52" y="111"/>
                  </a:lnTo>
                  <a:lnTo>
                    <a:pt x="64" y="120"/>
                  </a:lnTo>
                  <a:lnTo>
                    <a:pt x="75" y="126"/>
                  </a:lnTo>
                  <a:lnTo>
                    <a:pt x="90" y="131"/>
                  </a:lnTo>
                  <a:lnTo>
                    <a:pt x="101" y="137"/>
                  </a:lnTo>
                  <a:lnTo>
                    <a:pt x="116" y="140"/>
                  </a:lnTo>
                  <a:lnTo>
                    <a:pt x="130" y="142"/>
                  </a:lnTo>
                  <a:lnTo>
                    <a:pt x="145" y="142"/>
                  </a:lnTo>
                  <a:lnTo>
                    <a:pt x="160" y="142"/>
                  </a:lnTo>
                  <a:lnTo>
                    <a:pt x="174" y="140"/>
                  </a:lnTo>
                  <a:lnTo>
                    <a:pt x="188" y="137"/>
                  </a:lnTo>
                  <a:lnTo>
                    <a:pt x="203" y="131"/>
                  </a:lnTo>
                  <a:lnTo>
                    <a:pt x="215" y="126"/>
                  </a:lnTo>
                  <a:lnTo>
                    <a:pt x="226" y="120"/>
                  </a:lnTo>
                  <a:lnTo>
                    <a:pt x="238" y="111"/>
                  </a:lnTo>
                  <a:lnTo>
                    <a:pt x="250" y="100"/>
                  </a:lnTo>
                  <a:lnTo>
                    <a:pt x="259" y="91"/>
                  </a:lnTo>
                  <a:lnTo>
                    <a:pt x="267" y="80"/>
                  </a:lnTo>
                  <a:lnTo>
                    <a:pt x="272" y="68"/>
                  </a:lnTo>
                  <a:lnTo>
                    <a:pt x="281" y="55"/>
                  </a:lnTo>
                  <a:lnTo>
                    <a:pt x="284" y="43"/>
                  </a:lnTo>
                  <a:lnTo>
                    <a:pt x="287" y="29"/>
                  </a:lnTo>
                  <a:lnTo>
                    <a:pt x="290" y="14"/>
                  </a:lnTo>
                  <a:lnTo>
                    <a:pt x="293" y="0"/>
                  </a:lnTo>
                  <a:lnTo>
                    <a:pt x="281" y="0"/>
                  </a:lnTo>
                  <a:lnTo>
                    <a:pt x="281" y="14"/>
                  </a:lnTo>
                  <a:lnTo>
                    <a:pt x="281" y="26"/>
                  </a:lnTo>
                  <a:lnTo>
                    <a:pt x="275" y="40"/>
                  </a:lnTo>
                  <a:lnTo>
                    <a:pt x="272" y="52"/>
                  </a:lnTo>
                  <a:lnTo>
                    <a:pt x="267" y="62"/>
                  </a:lnTo>
                  <a:lnTo>
                    <a:pt x="262" y="74"/>
                  </a:lnTo>
                  <a:lnTo>
                    <a:pt x="253" y="85"/>
                  </a:lnTo>
                  <a:lnTo>
                    <a:pt x="244" y="94"/>
                  </a:lnTo>
                  <a:lnTo>
                    <a:pt x="232" y="103"/>
                  </a:lnTo>
                  <a:lnTo>
                    <a:pt x="223" y="111"/>
                  </a:lnTo>
                  <a:lnTo>
                    <a:pt x="212" y="117"/>
                  </a:lnTo>
                  <a:lnTo>
                    <a:pt x="200" y="123"/>
                  </a:lnTo>
                  <a:lnTo>
                    <a:pt x="185" y="129"/>
                  </a:lnTo>
                  <a:lnTo>
                    <a:pt x="174" y="131"/>
                  </a:lnTo>
                  <a:lnTo>
                    <a:pt x="160" y="134"/>
                  </a:lnTo>
                  <a:lnTo>
                    <a:pt x="145" y="134"/>
                  </a:lnTo>
                  <a:lnTo>
                    <a:pt x="130" y="134"/>
                  </a:lnTo>
                  <a:lnTo>
                    <a:pt x="119" y="131"/>
                  </a:lnTo>
                  <a:lnTo>
                    <a:pt x="104" y="129"/>
                  </a:lnTo>
                  <a:lnTo>
                    <a:pt x="93" y="123"/>
                  </a:lnTo>
                  <a:lnTo>
                    <a:pt x="81" y="117"/>
                  </a:lnTo>
                  <a:lnTo>
                    <a:pt x="70" y="111"/>
                  </a:lnTo>
                  <a:lnTo>
                    <a:pt x="58" y="103"/>
                  </a:lnTo>
                  <a:lnTo>
                    <a:pt x="49" y="94"/>
                  </a:lnTo>
                  <a:lnTo>
                    <a:pt x="40" y="85"/>
                  </a:lnTo>
                  <a:lnTo>
                    <a:pt x="31" y="74"/>
                  </a:lnTo>
                  <a:lnTo>
                    <a:pt x="25" y="62"/>
                  </a:lnTo>
                  <a:lnTo>
                    <a:pt x="20" y="52"/>
                  </a:lnTo>
                  <a:lnTo>
                    <a:pt x="15" y="40"/>
                  </a:lnTo>
                  <a:lnTo>
                    <a:pt x="12" y="26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4" name="Freeform 178">
              <a:extLst>
                <a:ext uri="{FF2B5EF4-FFF2-40B4-BE49-F238E27FC236}">
                  <a16:creationId xmlns:a16="http://schemas.microsoft.com/office/drawing/2014/main" id="{14249BEC-3496-4CAB-A376-EC635B424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660"/>
              <a:ext cx="273" cy="137"/>
            </a:xfrm>
            <a:custGeom>
              <a:avLst/>
              <a:gdLst>
                <a:gd name="T0" fmla="*/ 0 w 273"/>
                <a:gd name="T1" fmla="*/ 122 h 137"/>
                <a:gd name="T2" fmla="*/ 6 w 273"/>
                <a:gd name="T3" fmla="*/ 97 h 137"/>
                <a:gd name="T4" fmla="*/ 17 w 273"/>
                <a:gd name="T5" fmla="*/ 71 h 137"/>
                <a:gd name="T6" fmla="*/ 31 w 273"/>
                <a:gd name="T7" fmla="*/ 51 h 137"/>
                <a:gd name="T8" fmla="*/ 49 w 273"/>
                <a:gd name="T9" fmla="*/ 31 h 137"/>
                <a:gd name="T10" fmla="*/ 72 w 273"/>
                <a:gd name="T11" fmla="*/ 17 h 137"/>
                <a:gd name="T12" fmla="*/ 95 w 273"/>
                <a:gd name="T13" fmla="*/ 9 h 137"/>
                <a:gd name="T14" fmla="*/ 121 w 273"/>
                <a:gd name="T15" fmla="*/ 3 h 137"/>
                <a:gd name="T16" fmla="*/ 151 w 273"/>
                <a:gd name="T17" fmla="*/ 3 h 137"/>
                <a:gd name="T18" fmla="*/ 176 w 273"/>
                <a:gd name="T19" fmla="*/ 9 h 137"/>
                <a:gd name="T20" fmla="*/ 203 w 273"/>
                <a:gd name="T21" fmla="*/ 17 h 137"/>
                <a:gd name="T22" fmla="*/ 223 w 273"/>
                <a:gd name="T23" fmla="*/ 31 h 137"/>
                <a:gd name="T24" fmla="*/ 244 w 273"/>
                <a:gd name="T25" fmla="*/ 51 h 137"/>
                <a:gd name="T26" fmla="*/ 257 w 273"/>
                <a:gd name="T27" fmla="*/ 71 h 137"/>
                <a:gd name="T28" fmla="*/ 266 w 273"/>
                <a:gd name="T29" fmla="*/ 97 h 137"/>
                <a:gd name="T30" fmla="*/ 272 w 273"/>
                <a:gd name="T31" fmla="*/ 122 h 137"/>
                <a:gd name="T32" fmla="*/ 263 w 273"/>
                <a:gd name="T33" fmla="*/ 136 h 137"/>
                <a:gd name="T34" fmla="*/ 260 w 273"/>
                <a:gd name="T35" fmla="*/ 110 h 137"/>
                <a:gd name="T36" fmla="*/ 255 w 273"/>
                <a:gd name="T37" fmla="*/ 88 h 137"/>
                <a:gd name="T38" fmla="*/ 244 w 273"/>
                <a:gd name="T39" fmla="*/ 65 h 137"/>
                <a:gd name="T40" fmla="*/ 226 w 273"/>
                <a:gd name="T41" fmla="*/ 48 h 137"/>
                <a:gd name="T42" fmla="*/ 208 w 273"/>
                <a:gd name="T43" fmla="*/ 31 h 137"/>
                <a:gd name="T44" fmla="*/ 185 w 273"/>
                <a:gd name="T45" fmla="*/ 20 h 137"/>
                <a:gd name="T46" fmla="*/ 162 w 273"/>
                <a:gd name="T47" fmla="*/ 11 h 137"/>
                <a:gd name="T48" fmla="*/ 136 w 273"/>
                <a:gd name="T49" fmla="*/ 11 h 137"/>
                <a:gd name="T50" fmla="*/ 110 w 273"/>
                <a:gd name="T51" fmla="*/ 11 h 137"/>
                <a:gd name="T52" fmla="*/ 87 w 273"/>
                <a:gd name="T53" fmla="*/ 20 h 137"/>
                <a:gd name="T54" fmla="*/ 67 w 273"/>
                <a:gd name="T55" fmla="*/ 31 h 137"/>
                <a:gd name="T56" fmla="*/ 46 w 273"/>
                <a:gd name="T57" fmla="*/ 48 h 137"/>
                <a:gd name="T58" fmla="*/ 31 w 273"/>
                <a:gd name="T59" fmla="*/ 65 h 137"/>
                <a:gd name="T60" fmla="*/ 20 w 273"/>
                <a:gd name="T61" fmla="*/ 88 h 137"/>
                <a:gd name="T62" fmla="*/ 11 w 273"/>
                <a:gd name="T63" fmla="*/ 110 h 137"/>
                <a:gd name="T64" fmla="*/ 9 w 273"/>
                <a:gd name="T65" fmla="*/ 136 h 1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"/>
                <a:gd name="T100" fmla="*/ 0 h 137"/>
                <a:gd name="T101" fmla="*/ 273 w 273"/>
                <a:gd name="T102" fmla="*/ 137 h 1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" h="137">
                  <a:moveTo>
                    <a:pt x="0" y="136"/>
                  </a:moveTo>
                  <a:lnTo>
                    <a:pt x="0" y="122"/>
                  </a:lnTo>
                  <a:lnTo>
                    <a:pt x="3" y="108"/>
                  </a:lnTo>
                  <a:lnTo>
                    <a:pt x="6" y="97"/>
                  </a:lnTo>
                  <a:lnTo>
                    <a:pt x="11" y="82"/>
                  </a:lnTo>
                  <a:lnTo>
                    <a:pt x="17" y="71"/>
                  </a:lnTo>
                  <a:lnTo>
                    <a:pt x="23" y="59"/>
                  </a:lnTo>
                  <a:lnTo>
                    <a:pt x="31" y="51"/>
                  </a:lnTo>
                  <a:lnTo>
                    <a:pt x="40" y="39"/>
                  </a:lnTo>
                  <a:lnTo>
                    <a:pt x="49" y="31"/>
                  </a:lnTo>
                  <a:lnTo>
                    <a:pt x="61" y="23"/>
                  </a:lnTo>
                  <a:lnTo>
                    <a:pt x="72" y="17"/>
                  </a:lnTo>
                  <a:lnTo>
                    <a:pt x="84" y="11"/>
                  </a:lnTo>
                  <a:lnTo>
                    <a:pt x="95" y="9"/>
                  </a:lnTo>
                  <a:lnTo>
                    <a:pt x="110" y="3"/>
                  </a:lnTo>
                  <a:lnTo>
                    <a:pt x="121" y="3"/>
                  </a:lnTo>
                  <a:lnTo>
                    <a:pt x="136" y="0"/>
                  </a:lnTo>
                  <a:lnTo>
                    <a:pt x="151" y="3"/>
                  </a:lnTo>
                  <a:lnTo>
                    <a:pt x="165" y="3"/>
                  </a:lnTo>
                  <a:lnTo>
                    <a:pt x="176" y="9"/>
                  </a:lnTo>
                  <a:lnTo>
                    <a:pt x="191" y="11"/>
                  </a:lnTo>
                  <a:lnTo>
                    <a:pt x="203" y="17"/>
                  </a:lnTo>
                  <a:lnTo>
                    <a:pt x="214" y="23"/>
                  </a:lnTo>
                  <a:lnTo>
                    <a:pt x="223" y="31"/>
                  </a:lnTo>
                  <a:lnTo>
                    <a:pt x="235" y="39"/>
                  </a:lnTo>
                  <a:lnTo>
                    <a:pt x="244" y="51"/>
                  </a:lnTo>
                  <a:lnTo>
                    <a:pt x="252" y="59"/>
                  </a:lnTo>
                  <a:lnTo>
                    <a:pt x="257" y="71"/>
                  </a:lnTo>
                  <a:lnTo>
                    <a:pt x="263" y="82"/>
                  </a:lnTo>
                  <a:lnTo>
                    <a:pt x="266" y="97"/>
                  </a:lnTo>
                  <a:lnTo>
                    <a:pt x="272" y="108"/>
                  </a:lnTo>
                  <a:lnTo>
                    <a:pt x="272" y="122"/>
                  </a:lnTo>
                  <a:lnTo>
                    <a:pt x="272" y="136"/>
                  </a:lnTo>
                  <a:lnTo>
                    <a:pt x="263" y="136"/>
                  </a:lnTo>
                  <a:lnTo>
                    <a:pt x="263" y="122"/>
                  </a:lnTo>
                  <a:lnTo>
                    <a:pt x="260" y="110"/>
                  </a:lnTo>
                  <a:lnTo>
                    <a:pt x="257" y="100"/>
                  </a:lnTo>
                  <a:lnTo>
                    <a:pt x="255" y="88"/>
                  </a:lnTo>
                  <a:lnTo>
                    <a:pt x="249" y="77"/>
                  </a:lnTo>
                  <a:lnTo>
                    <a:pt x="244" y="65"/>
                  </a:lnTo>
                  <a:lnTo>
                    <a:pt x="235" y="57"/>
                  </a:lnTo>
                  <a:lnTo>
                    <a:pt x="226" y="48"/>
                  </a:lnTo>
                  <a:lnTo>
                    <a:pt x="217" y="39"/>
                  </a:lnTo>
                  <a:lnTo>
                    <a:pt x="208" y="31"/>
                  </a:lnTo>
                  <a:lnTo>
                    <a:pt x="197" y="25"/>
                  </a:lnTo>
                  <a:lnTo>
                    <a:pt x="185" y="20"/>
                  </a:lnTo>
                  <a:lnTo>
                    <a:pt x="174" y="17"/>
                  </a:lnTo>
                  <a:lnTo>
                    <a:pt x="162" y="11"/>
                  </a:lnTo>
                  <a:lnTo>
                    <a:pt x="151" y="11"/>
                  </a:lnTo>
                  <a:lnTo>
                    <a:pt x="136" y="11"/>
                  </a:lnTo>
                  <a:lnTo>
                    <a:pt x="124" y="11"/>
                  </a:lnTo>
                  <a:lnTo>
                    <a:pt x="110" y="11"/>
                  </a:lnTo>
                  <a:lnTo>
                    <a:pt x="98" y="17"/>
                  </a:lnTo>
                  <a:lnTo>
                    <a:pt x="87" y="20"/>
                  </a:lnTo>
                  <a:lnTo>
                    <a:pt x="75" y="25"/>
                  </a:lnTo>
                  <a:lnTo>
                    <a:pt x="67" y="31"/>
                  </a:lnTo>
                  <a:lnTo>
                    <a:pt x="55" y="39"/>
                  </a:lnTo>
                  <a:lnTo>
                    <a:pt x="46" y="48"/>
                  </a:lnTo>
                  <a:lnTo>
                    <a:pt x="37" y="57"/>
                  </a:lnTo>
                  <a:lnTo>
                    <a:pt x="31" y="65"/>
                  </a:lnTo>
                  <a:lnTo>
                    <a:pt x="23" y="77"/>
                  </a:lnTo>
                  <a:lnTo>
                    <a:pt x="20" y="88"/>
                  </a:lnTo>
                  <a:lnTo>
                    <a:pt x="14" y="100"/>
                  </a:lnTo>
                  <a:lnTo>
                    <a:pt x="11" y="110"/>
                  </a:lnTo>
                  <a:lnTo>
                    <a:pt x="9" y="122"/>
                  </a:lnTo>
                  <a:lnTo>
                    <a:pt x="9" y="136"/>
                  </a:lnTo>
                  <a:lnTo>
                    <a:pt x="0" y="136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5" name="Freeform 179">
              <a:extLst>
                <a:ext uri="{FF2B5EF4-FFF2-40B4-BE49-F238E27FC236}">
                  <a16:creationId xmlns:a16="http://schemas.microsoft.com/office/drawing/2014/main" id="{9845DAB1-08EE-483D-9ED3-89AFC3E4E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802"/>
              <a:ext cx="273" cy="135"/>
            </a:xfrm>
            <a:custGeom>
              <a:avLst/>
              <a:gdLst>
                <a:gd name="T0" fmla="*/ 0 w 273"/>
                <a:gd name="T1" fmla="*/ 0 h 135"/>
                <a:gd name="T2" fmla="*/ 3 w 273"/>
                <a:gd name="T3" fmla="*/ 26 h 135"/>
                <a:gd name="T4" fmla="*/ 11 w 273"/>
                <a:gd name="T5" fmla="*/ 52 h 135"/>
                <a:gd name="T6" fmla="*/ 23 w 273"/>
                <a:gd name="T7" fmla="*/ 74 h 135"/>
                <a:gd name="T8" fmla="*/ 40 w 273"/>
                <a:gd name="T9" fmla="*/ 94 h 135"/>
                <a:gd name="T10" fmla="*/ 61 w 273"/>
                <a:gd name="T11" fmla="*/ 111 h 135"/>
                <a:gd name="T12" fmla="*/ 84 w 273"/>
                <a:gd name="T13" fmla="*/ 123 h 135"/>
                <a:gd name="T14" fmla="*/ 110 w 273"/>
                <a:gd name="T15" fmla="*/ 131 h 135"/>
                <a:gd name="T16" fmla="*/ 136 w 273"/>
                <a:gd name="T17" fmla="*/ 134 h 135"/>
                <a:gd name="T18" fmla="*/ 165 w 273"/>
                <a:gd name="T19" fmla="*/ 131 h 135"/>
                <a:gd name="T20" fmla="*/ 191 w 273"/>
                <a:gd name="T21" fmla="*/ 123 h 135"/>
                <a:gd name="T22" fmla="*/ 214 w 273"/>
                <a:gd name="T23" fmla="*/ 111 h 135"/>
                <a:gd name="T24" fmla="*/ 235 w 273"/>
                <a:gd name="T25" fmla="*/ 94 h 135"/>
                <a:gd name="T26" fmla="*/ 252 w 273"/>
                <a:gd name="T27" fmla="*/ 74 h 135"/>
                <a:gd name="T28" fmla="*/ 263 w 273"/>
                <a:gd name="T29" fmla="*/ 52 h 135"/>
                <a:gd name="T30" fmla="*/ 272 w 273"/>
                <a:gd name="T31" fmla="*/ 26 h 135"/>
                <a:gd name="T32" fmla="*/ 272 w 273"/>
                <a:gd name="T33" fmla="*/ 0 h 135"/>
                <a:gd name="T34" fmla="*/ 263 w 273"/>
                <a:gd name="T35" fmla="*/ 11 h 135"/>
                <a:gd name="T36" fmla="*/ 257 w 273"/>
                <a:gd name="T37" fmla="*/ 37 h 135"/>
                <a:gd name="T38" fmla="*/ 249 w 273"/>
                <a:gd name="T39" fmla="*/ 59 h 135"/>
                <a:gd name="T40" fmla="*/ 235 w 273"/>
                <a:gd name="T41" fmla="*/ 79 h 135"/>
                <a:gd name="T42" fmla="*/ 217 w 273"/>
                <a:gd name="T43" fmla="*/ 97 h 135"/>
                <a:gd name="T44" fmla="*/ 197 w 273"/>
                <a:gd name="T45" fmla="*/ 111 h 135"/>
                <a:gd name="T46" fmla="*/ 174 w 273"/>
                <a:gd name="T47" fmla="*/ 120 h 135"/>
                <a:gd name="T48" fmla="*/ 151 w 273"/>
                <a:gd name="T49" fmla="*/ 125 h 135"/>
                <a:gd name="T50" fmla="*/ 124 w 273"/>
                <a:gd name="T51" fmla="*/ 125 h 135"/>
                <a:gd name="T52" fmla="*/ 98 w 273"/>
                <a:gd name="T53" fmla="*/ 120 h 135"/>
                <a:gd name="T54" fmla="*/ 75 w 273"/>
                <a:gd name="T55" fmla="*/ 111 h 135"/>
                <a:gd name="T56" fmla="*/ 55 w 273"/>
                <a:gd name="T57" fmla="*/ 97 h 135"/>
                <a:gd name="T58" fmla="*/ 37 w 273"/>
                <a:gd name="T59" fmla="*/ 79 h 135"/>
                <a:gd name="T60" fmla="*/ 23 w 273"/>
                <a:gd name="T61" fmla="*/ 59 h 135"/>
                <a:gd name="T62" fmla="*/ 14 w 273"/>
                <a:gd name="T63" fmla="*/ 37 h 135"/>
                <a:gd name="T64" fmla="*/ 9 w 273"/>
                <a:gd name="T65" fmla="*/ 11 h 135"/>
                <a:gd name="T66" fmla="*/ 0 w 273"/>
                <a:gd name="T67" fmla="*/ 0 h 1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73"/>
                <a:gd name="T103" fmla="*/ 0 h 135"/>
                <a:gd name="T104" fmla="*/ 273 w 273"/>
                <a:gd name="T105" fmla="*/ 135 h 13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73" h="135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6"/>
                  </a:lnTo>
                  <a:lnTo>
                    <a:pt x="6" y="40"/>
                  </a:lnTo>
                  <a:lnTo>
                    <a:pt x="11" y="52"/>
                  </a:lnTo>
                  <a:lnTo>
                    <a:pt x="17" y="62"/>
                  </a:lnTo>
                  <a:lnTo>
                    <a:pt x="23" y="74"/>
                  </a:lnTo>
                  <a:lnTo>
                    <a:pt x="31" y="85"/>
                  </a:lnTo>
                  <a:lnTo>
                    <a:pt x="40" y="94"/>
                  </a:lnTo>
                  <a:lnTo>
                    <a:pt x="49" y="102"/>
                  </a:lnTo>
                  <a:lnTo>
                    <a:pt x="61" y="111"/>
                  </a:lnTo>
                  <a:lnTo>
                    <a:pt x="72" y="117"/>
                  </a:lnTo>
                  <a:lnTo>
                    <a:pt x="84" y="123"/>
                  </a:lnTo>
                  <a:lnTo>
                    <a:pt x="95" y="128"/>
                  </a:lnTo>
                  <a:lnTo>
                    <a:pt x="110" y="131"/>
                  </a:lnTo>
                  <a:lnTo>
                    <a:pt x="121" y="134"/>
                  </a:lnTo>
                  <a:lnTo>
                    <a:pt x="136" y="134"/>
                  </a:lnTo>
                  <a:lnTo>
                    <a:pt x="151" y="134"/>
                  </a:lnTo>
                  <a:lnTo>
                    <a:pt x="165" y="131"/>
                  </a:lnTo>
                  <a:lnTo>
                    <a:pt x="176" y="128"/>
                  </a:lnTo>
                  <a:lnTo>
                    <a:pt x="191" y="123"/>
                  </a:lnTo>
                  <a:lnTo>
                    <a:pt x="203" y="117"/>
                  </a:lnTo>
                  <a:lnTo>
                    <a:pt x="214" y="111"/>
                  </a:lnTo>
                  <a:lnTo>
                    <a:pt x="223" y="102"/>
                  </a:lnTo>
                  <a:lnTo>
                    <a:pt x="235" y="94"/>
                  </a:lnTo>
                  <a:lnTo>
                    <a:pt x="244" y="85"/>
                  </a:lnTo>
                  <a:lnTo>
                    <a:pt x="252" y="74"/>
                  </a:lnTo>
                  <a:lnTo>
                    <a:pt x="257" y="62"/>
                  </a:lnTo>
                  <a:lnTo>
                    <a:pt x="263" y="52"/>
                  </a:lnTo>
                  <a:lnTo>
                    <a:pt x="266" y="40"/>
                  </a:lnTo>
                  <a:lnTo>
                    <a:pt x="272" y="26"/>
                  </a:lnTo>
                  <a:lnTo>
                    <a:pt x="272" y="14"/>
                  </a:lnTo>
                  <a:lnTo>
                    <a:pt x="272" y="0"/>
                  </a:lnTo>
                  <a:lnTo>
                    <a:pt x="263" y="0"/>
                  </a:lnTo>
                  <a:lnTo>
                    <a:pt x="263" y="11"/>
                  </a:lnTo>
                  <a:lnTo>
                    <a:pt x="260" y="26"/>
                  </a:lnTo>
                  <a:lnTo>
                    <a:pt x="257" y="37"/>
                  </a:lnTo>
                  <a:lnTo>
                    <a:pt x="255" y="49"/>
                  </a:lnTo>
                  <a:lnTo>
                    <a:pt x="249" y="59"/>
                  </a:lnTo>
                  <a:lnTo>
                    <a:pt x="244" y="68"/>
                  </a:lnTo>
                  <a:lnTo>
                    <a:pt x="235" y="79"/>
                  </a:lnTo>
                  <a:lnTo>
                    <a:pt x="226" y="88"/>
                  </a:lnTo>
                  <a:lnTo>
                    <a:pt x="217" y="97"/>
                  </a:lnTo>
                  <a:lnTo>
                    <a:pt x="208" y="102"/>
                  </a:lnTo>
                  <a:lnTo>
                    <a:pt x="197" y="111"/>
                  </a:lnTo>
                  <a:lnTo>
                    <a:pt x="185" y="114"/>
                  </a:lnTo>
                  <a:lnTo>
                    <a:pt x="174" y="120"/>
                  </a:lnTo>
                  <a:lnTo>
                    <a:pt x="162" y="123"/>
                  </a:lnTo>
                  <a:lnTo>
                    <a:pt x="151" y="125"/>
                  </a:lnTo>
                  <a:lnTo>
                    <a:pt x="136" y="125"/>
                  </a:lnTo>
                  <a:lnTo>
                    <a:pt x="124" y="125"/>
                  </a:lnTo>
                  <a:lnTo>
                    <a:pt x="110" y="123"/>
                  </a:lnTo>
                  <a:lnTo>
                    <a:pt x="98" y="120"/>
                  </a:lnTo>
                  <a:lnTo>
                    <a:pt x="87" y="114"/>
                  </a:lnTo>
                  <a:lnTo>
                    <a:pt x="75" y="111"/>
                  </a:lnTo>
                  <a:lnTo>
                    <a:pt x="67" y="102"/>
                  </a:lnTo>
                  <a:lnTo>
                    <a:pt x="55" y="97"/>
                  </a:lnTo>
                  <a:lnTo>
                    <a:pt x="46" y="88"/>
                  </a:lnTo>
                  <a:lnTo>
                    <a:pt x="37" y="79"/>
                  </a:lnTo>
                  <a:lnTo>
                    <a:pt x="31" y="68"/>
                  </a:lnTo>
                  <a:lnTo>
                    <a:pt x="23" y="59"/>
                  </a:lnTo>
                  <a:lnTo>
                    <a:pt x="20" y="49"/>
                  </a:lnTo>
                  <a:lnTo>
                    <a:pt x="14" y="37"/>
                  </a:lnTo>
                  <a:lnTo>
                    <a:pt x="11" y="26"/>
                  </a:lnTo>
                  <a:lnTo>
                    <a:pt x="9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6" name="Freeform 180">
              <a:extLst>
                <a:ext uri="{FF2B5EF4-FFF2-40B4-BE49-F238E27FC236}">
                  <a16:creationId xmlns:a16="http://schemas.microsoft.com/office/drawing/2014/main" id="{F877F00B-0276-47B4-A4CF-C1B420D58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672"/>
              <a:ext cx="255" cy="125"/>
            </a:xfrm>
            <a:custGeom>
              <a:avLst/>
              <a:gdLst>
                <a:gd name="T0" fmla="*/ 0 w 255"/>
                <a:gd name="T1" fmla="*/ 110 h 125"/>
                <a:gd name="T2" fmla="*/ 5 w 255"/>
                <a:gd name="T3" fmla="*/ 88 h 125"/>
                <a:gd name="T4" fmla="*/ 14 w 255"/>
                <a:gd name="T5" fmla="*/ 65 h 125"/>
                <a:gd name="T6" fmla="*/ 28 w 255"/>
                <a:gd name="T7" fmla="*/ 45 h 125"/>
                <a:gd name="T8" fmla="*/ 46 w 255"/>
                <a:gd name="T9" fmla="*/ 28 h 125"/>
                <a:gd name="T10" fmla="*/ 66 w 255"/>
                <a:gd name="T11" fmla="*/ 13 h 125"/>
                <a:gd name="T12" fmla="*/ 89 w 255"/>
                <a:gd name="T13" fmla="*/ 6 h 125"/>
                <a:gd name="T14" fmla="*/ 115 w 255"/>
                <a:gd name="T15" fmla="*/ 0 h 125"/>
                <a:gd name="T16" fmla="*/ 142 w 255"/>
                <a:gd name="T17" fmla="*/ 0 h 125"/>
                <a:gd name="T18" fmla="*/ 165 w 255"/>
                <a:gd name="T19" fmla="*/ 6 h 125"/>
                <a:gd name="T20" fmla="*/ 188 w 255"/>
                <a:gd name="T21" fmla="*/ 13 h 125"/>
                <a:gd name="T22" fmla="*/ 208 w 255"/>
                <a:gd name="T23" fmla="*/ 28 h 125"/>
                <a:gd name="T24" fmla="*/ 226 w 255"/>
                <a:gd name="T25" fmla="*/ 45 h 125"/>
                <a:gd name="T26" fmla="*/ 240 w 255"/>
                <a:gd name="T27" fmla="*/ 65 h 125"/>
                <a:gd name="T28" fmla="*/ 248 w 255"/>
                <a:gd name="T29" fmla="*/ 88 h 125"/>
                <a:gd name="T30" fmla="*/ 254 w 255"/>
                <a:gd name="T31" fmla="*/ 110 h 125"/>
                <a:gd name="T32" fmla="*/ 246 w 255"/>
                <a:gd name="T33" fmla="*/ 124 h 125"/>
                <a:gd name="T34" fmla="*/ 243 w 255"/>
                <a:gd name="T35" fmla="*/ 98 h 125"/>
                <a:gd name="T36" fmla="*/ 237 w 255"/>
                <a:gd name="T37" fmla="*/ 79 h 125"/>
                <a:gd name="T38" fmla="*/ 226 w 255"/>
                <a:gd name="T39" fmla="*/ 59 h 125"/>
                <a:gd name="T40" fmla="*/ 211 w 255"/>
                <a:gd name="T41" fmla="*/ 42 h 125"/>
                <a:gd name="T42" fmla="*/ 193 w 255"/>
                <a:gd name="T43" fmla="*/ 28 h 125"/>
                <a:gd name="T44" fmla="*/ 173 w 255"/>
                <a:gd name="T45" fmla="*/ 16 h 125"/>
                <a:gd name="T46" fmla="*/ 153 w 255"/>
                <a:gd name="T47" fmla="*/ 11 h 125"/>
                <a:gd name="T48" fmla="*/ 127 w 255"/>
                <a:gd name="T49" fmla="*/ 9 h 125"/>
                <a:gd name="T50" fmla="*/ 104 w 255"/>
                <a:gd name="T51" fmla="*/ 11 h 125"/>
                <a:gd name="T52" fmla="*/ 81 w 255"/>
                <a:gd name="T53" fmla="*/ 16 h 125"/>
                <a:gd name="T54" fmla="*/ 61 w 255"/>
                <a:gd name="T55" fmla="*/ 28 h 125"/>
                <a:gd name="T56" fmla="*/ 43 w 255"/>
                <a:gd name="T57" fmla="*/ 42 h 125"/>
                <a:gd name="T58" fmla="*/ 28 w 255"/>
                <a:gd name="T59" fmla="*/ 59 h 125"/>
                <a:gd name="T60" fmla="*/ 17 w 255"/>
                <a:gd name="T61" fmla="*/ 79 h 125"/>
                <a:gd name="T62" fmla="*/ 11 w 255"/>
                <a:gd name="T63" fmla="*/ 98 h 125"/>
                <a:gd name="T64" fmla="*/ 8 w 255"/>
                <a:gd name="T65" fmla="*/ 124 h 12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5"/>
                <a:gd name="T100" fmla="*/ 0 h 125"/>
                <a:gd name="T101" fmla="*/ 255 w 255"/>
                <a:gd name="T102" fmla="*/ 125 h 12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5" h="125">
                  <a:moveTo>
                    <a:pt x="0" y="124"/>
                  </a:moveTo>
                  <a:lnTo>
                    <a:pt x="0" y="110"/>
                  </a:lnTo>
                  <a:lnTo>
                    <a:pt x="2" y="98"/>
                  </a:lnTo>
                  <a:lnTo>
                    <a:pt x="5" y="88"/>
                  </a:lnTo>
                  <a:lnTo>
                    <a:pt x="11" y="76"/>
                  </a:lnTo>
                  <a:lnTo>
                    <a:pt x="14" y="65"/>
                  </a:lnTo>
                  <a:lnTo>
                    <a:pt x="22" y="53"/>
                  </a:lnTo>
                  <a:lnTo>
                    <a:pt x="28" y="45"/>
                  </a:lnTo>
                  <a:lnTo>
                    <a:pt x="37" y="36"/>
                  </a:lnTo>
                  <a:lnTo>
                    <a:pt x="46" y="28"/>
                  </a:lnTo>
                  <a:lnTo>
                    <a:pt x="58" y="19"/>
                  </a:lnTo>
                  <a:lnTo>
                    <a:pt x="66" y="13"/>
                  </a:lnTo>
                  <a:lnTo>
                    <a:pt x="78" y="9"/>
                  </a:lnTo>
                  <a:lnTo>
                    <a:pt x="89" y="6"/>
                  </a:lnTo>
                  <a:lnTo>
                    <a:pt x="101" y="0"/>
                  </a:lnTo>
                  <a:lnTo>
                    <a:pt x="115" y="0"/>
                  </a:lnTo>
                  <a:lnTo>
                    <a:pt x="127" y="0"/>
                  </a:lnTo>
                  <a:lnTo>
                    <a:pt x="142" y="0"/>
                  </a:lnTo>
                  <a:lnTo>
                    <a:pt x="153" y="0"/>
                  </a:lnTo>
                  <a:lnTo>
                    <a:pt x="165" y="6"/>
                  </a:lnTo>
                  <a:lnTo>
                    <a:pt x="176" y="9"/>
                  </a:lnTo>
                  <a:lnTo>
                    <a:pt x="188" y="13"/>
                  </a:lnTo>
                  <a:lnTo>
                    <a:pt x="199" y="19"/>
                  </a:lnTo>
                  <a:lnTo>
                    <a:pt x="208" y="28"/>
                  </a:lnTo>
                  <a:lnTo>
                    <a:pt x="217" y="36"/>
                  </a:lnTo>
                  <a:lnTo>
                    <a:pt x="226" y="45"/>
                  </a:lnTo>
                  <a:lnTo>
                    <a:pt x="234" y="53"/>
                  </a:lnTo>
                  <a:lnTo>
                    <a:pt x="240" y="65"/>
                  </a:lnTo>
                  <a:lnTo>
                    <a:pt x="246" y="76"/>
                  </a:lnTo>
                  <a:lnTo>
                    <a:pt x="248" y="88"/>
                  </a:lnTo>
                  <a:lnTo>
                    <a:pt x="251" y="98"/>
                  </a:lnTo>
                  <a:lnTo>
                    <a:pt x="254" y="110"/>
                  </a:lnTo>
                  <a:lnTo>
                    <a:pt x="254" y="124"/>
                  </a:lnTo>
                  <a:lnTo>
                    <a:pt x="246" y="124"/>
                  </a:lnTo>
                  <a:lnTo>
                    <a:pt x="246" y="113"/>
                  </a:lnTo>
                  <a:lnTo>
                    <a:pt x="243" y="98"/>
                  </a:lnTo>
                  <a:lnTo>
                    <a:pt x="240" y="91"/>
                  </a:lnTo>
                  <a:lnTo>
                    <a:pt x="237" y="79"/>
                  </a:lnTo>
                  <a:lnTo>
                    <a:pt x="232" y="68"/>
                  </a:lnTo>
                  <a:lnTo>
                    <a:pt x="226" y="59"/>
                  </a:lnTo>
                  <a:lnTo>
                    <a:pt x="220" y="51"/>
                  </a:lnTo>
                  <a:lnTo>
                    <a:pt x="211" y="42"/>
                  </a:lnTo>
                  <a:lnTo>
                    <a:pt x="202" y="33"/>
                  </a:lnTo>
                  <a:lnTo>
                    <a:pt x="193" y="28"/>
                  </a:lnTo>
                  <a:lnTo>
                    <a:pt x="185" y="22"/>
                  </a:lnTo>
                  <a:lnTo>
                    <a:pt x="173" y="16"/>
                  </a:lnTo>
                  <a:lnTo>
                    <a:pt x="162" y="13"/>
                  </a:lnTo>
                  <a:lnTo>
                    <a:pt x="153" y="11"/>
                  </a:lnTo>
                  <a:lnTo>
                    <a:pt x="139" y="9"/>
                  </a:lnTo>
                  <a:lnTo>
                    <a:pt x="127" y="9"/>
                  </a:lnTo>
                  <a:lnTo>
                    <a:pt x="115" y="9"/>
                  </a:lnTo>
                  <a:lnTo>
                    <a:pt x="104" y="11"/>
                  </a:lnTo>
                  <a:lnTo>
                    <a:pt x="92" y="13"/>
                  </a:lnTo>
                  <a:lnTo>
                    <a:pt x="81" y="16"/>
                  </a:lnTo>
                  <a:lnTo>
                    <a:pt x="72" y="22"/>
                  </a:lnTo>
                  <a:lnTo>
                    <a:pt x="61" y="28"/>
                  </a:lnTo>
                  <a:lnTo>
                    <a:pt x="52" y="33"/>
                  </a:lnTo>
                  <a:lnTo>
                    <a:pt x="43" y="42"/>
                  </a:lnTo>
                  <a:lnTo>
                    <a:pt x="37" y="51"/>
                  </a:lnTo>
                  <a:lnTo>
                    <a:pt x="28" y="59"/>
                  </a:lnTo>
                  <a:lnTo>
                    <a:pt x="22" y="68"/>
                  </a:lnTo>
                  <a:lnTo>
                    <a:pt x="17" y="79"/>
                  </a:lnTo>
                  <a:lnTo>
                    <a:pt x="14" y="91"/>
                  </a:lnTo>
                  <a:lnTo>
                    <a:pt x="11" y="98"/>
                  </a:lnTo>
                  <a:lnTo>
                    <a:pt x="8" y="113"/>
                  </a:lnTo>
                  <a:lnTo>
                    <a:pt x="8" y="124"/>
                  </a:lnTo>
                  <a:lnTo>
                    <a:pt x="0" y="124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7" name="Freeform 181">
              <a:extLst>
                <a:ext uri="{FF2B5EF4-FFF2-40B4-BE49-F238E27FC236}">
                  <a16:creationId xmlns:a16="http://schemas.microsoft.com/office/drawing/2014/main" id="{F14A2411-B3FF-469D-AE40-63C3E8D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802"/>
              <a:ext cx="255" cy="126"/>
            </a:xfrm>
            <a:custGeom>
              <a:avLst/>
              <a:gdLst>
                <a:gd name="T0" fmla="*/ 0 w 255"/>
                <a:gd name="T1" fmla="*/ 0 h 126"/>
                <a:gd name="T2" fmla="*/ 2 w 255"/>
                <a:gd name="T3" fmla="*/ 26 h 126"/>
                <a:gd name="T4" fmla="*/ 11 w 255"/>
                <a:gd name="T5" fmla="*/ 49 h 126"/>
                <a:gd name="T6" fmla="*/ 22 w 255"/>
                <a:gd name="T7" fmla="*/ 68 h 126"/>
                <a:gd name="T8" fmla="*/ 37 w 255"/>
                <a:gd name="T9" fmla="*/ 88 h 126"/>
                <a:gd name="T10" fmla="*/ 58 w 255"/>
                <a:gd name="T11" fmla="*/ 102 h 126"/>
                <a:gd name="T12" fmla="*/ 78 w 255"/>
                <a:gd name="T13" fmla="*/ 114 h 126"/>
                <a:gd name="T14" fmla="*/ 101 w 255"/>
                <a:gd name="T15" fmla="*/ 122 h 126"/>
                <a:gd name="T16" fmla="*/ 127 w 255"/>
                <a:gd name="T17" fmla="*/ 125 h 126"/>
                <a:gd name="T18" fmla="*/ 153 w 255"/>
                <a:gd name="T19" fmla="*/ 122 h 126"/>
                <a:gd name="T20" fmla="*/ 176 w 255"/>
                <a:gd name="T21" fmla="*/ 114 h 126"/>
                <a:gd name="T22" fmla="*/ 199 w 255"/>
                <a:gd name="T23" fmla="*/ 102 h 126"/>
                <a:gd name="T24" fmla="*/ 217 w 255"/>
                <a:gd name="T25" fmla="*/ 88 h 126"/>
                <a:gd name="T26" fmla="*/ 234 w 255"/>
                <a:gd name="T27" fmla="*/ 68 h 126"/>
                <a:gd name="T28" fmla="*/ 246 w 255"/>
                <a:gd name="T29" fmla="*/ 49 h 126"/>
                <a:gd name="T30" fmla="*/ 251 w 255"/>
                <a:gd name="T31" fmla="*/ 26 h 126"/>
                <a:gd name="T32" fmla="*/ 254 w 255"/>
                <a:gd name="T33" fmla="*/ 0 h 126"/>
                <a:gd name="T34" fmla="*/ 246 w 255"/>
                <a:gd name="T35" fmla="*/ 11 h 126"/>
                <a:gd name="T36" fmla="*/ 240 w 255"/>
                <a:gd name="T37" fmla="*/ 34 h 126"/>
                <a:gd name="T38" fmla="*/ 232 w 255"/>
                <a:gd name="T39" fmla="*/ 54 h 126"/>
                <a:gd name="T40" fmla="*/ 220 w 255"/>
                <a:gd name="T41" fmla="*/ 73 h 126"/>
                <a:gd name="T42" fmla="*/ 202 w 255"/>
                <a:gd name="T43" fmla="*/ 88 h 126"/>
                <a:gd name="T44" fmla="*/ 185 w 255"/>
                <a:gd name="T45" fmla="*/ 102 h 126"/>
                <a:gd name="T46" fmla="*/ 162 w 255"/>
                <a:gd name="T47" fmla="*/ 111 h 126"/>
                <a:gd name="T48" fmla="*/ 139 w 255"/>
                <a:gd name="T49" fmla="*/ 116 h 126"/>
                <a:gd name="T50" fmla="*/ 115 w 255"/>
                <a:gd name="T51" fmla="*/ 116 h 126"/>
                <a:gd name="T52" fmla="*/ 92 w 255"/>
                <a:gd name="T53" fmla="*/ 111 h 126"/>
                <a:gd name="T54" fmla="*/ 72 w 255"/>
                <a:gd name="T55" fmla="*/ 102 h 126"/>
                <a:gd name="T56" fmla="*/ 52 w 255"/>
                <a:gd name="T57" fmla="*/ 88 h 126"/>
                <a:gd name="T58" fmla="*/ 37 w 255"/>
                <a:gd name="T59" fmla="*/ 73 h 126"/>
                <a:gd name="T60" fmla="*/ 22 w 255"/>
                <a:gd name="T61" fmla="*/ 54 h 126"/>
                <a:gd name="T62" fmla="*/ 14 w 255"/>
                <a:gd name="T63" fmla="*/ 34 h 126"/>
                <a:gd name="T64" fmla="*/ 8 w 255"/>
                <a:gd name="T65" fmla="*/ 11 h 126"/>
                <a:gd name="T66" fmla="*/ 0 w 255"/>
                <a:gd name="T67" fmla="*/ 0 h 1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55"/>
                <a:gd name="T103" fmla="*/ 0 h 126"/>
                <a:gd name="T104" fmla="*/ 255 w 255"/>
                <a:gd name="T105" fmla="*/ 126 h 12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55" h="126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2" y="26"/>
                  </a:lnTo>
                  <a:lnTo>
                    <a:pt x="5" y="37"/>
                  </a:lnTo>
                  <a:lnTo>
                    <a:pt x="11" y="49"/>
                  </a:lnTo>
                  <a:lnTo>
                    <a:pt x="14" y="59"/>
                  </a:lnTo>
                  <a:lnTo>
                    <a:pt x="22" y="68"/>
                  </a:lnTo>
                  <a:lnTo>
                    <a:pt x="28" y="79"/>
                  </a:lnTo>
                  <a:lnTo>
                    <a:pt x="37" y="88"/>
                  </a:lnTo>
                  <a:lnTo>
                    <a:pt x="46" y="96"/>
                  </a:lnTo>
                  <a:lnTo>
                    <a:pt x="58" y="102"/>
                  </a:lnTo>
                  <a:lnTo>
                    <a:pt x="66" y="111"/>
                  </a:lnTo>
                  <a:lnTo>
                    <a:pt x="78" y="114"/>
                  </a:lnTo>
                  <a:lnTo>
                    <a:pt x="89" y="119"/>
                  </a:lnTo>
                  <a:lnTo>
                    <a:pt x="101" y="122"/>
                  </a:lnTo>
                  <a:lnTo>
                    <a:pt x="115" y="125"/>
                  </a:lnTo>
                  <a:lnTo>
                    <a:pt x="127" y="125"/>
                  </a:lnTo>
                  <a:lnTo>
                    <a:pt x="142" y="125"/>
                  </a:lnTo>
                  <a:lnTo>
                    <a:pt x="153" y="122"/>
                  </a:lnTo>
                  <a:lnTo>
                    <a:pt x="165" y="119"/>
                  </a:lnTo>
                  <a:lnTo>
                    <a:pt x="176" y="114"/>
                  </a:lnTo>
                  <a:lnTo>
                    <a:pt x="188" y="111"/>
                  </a:lnTo>
                  <a:lnTo>
                    <a:pt x="199" y="102"/>
                  </a:lnTo>
                  <a:lnTo>
                    <a:pt x="208" y="96"/>
                  </a:lnTo>
                  <a:lnTo>
                    <a:pt x="217" y="88"/>
                  </a:lnTo>
                  <a:lnTo>
                    <a:pt x="226" y="79"/>
                  </a:lnTo>
                  <a:lnTo>
                    <a:pt x="234" y="68"/>
                  </a:lnTo>
                  <a:lnTo>
                    <a:pt x="240" y="59"/>
                  </a:lnTo>
                  <a:lnTo>
                    <a:pt x="246" y="49"/>
                  </a:lnTo>
                  <a:lnTo>
                    <a:pt x="248" y="37"/>
                  </a:lnTo>
                  <a:lnTo>
                    <a:pt x="251" y="26"/>
                  </a:lnTo>
                  <a:lnTo>
                    <a:pt x="254" y="11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6" y="11"/>
                  </a:lnTo>
                  <a:lnTo>
                    <a:pt x="243" y="23"/>
                  </a:lnTo>
                  <a:lnTo>
                    <a:pt x="240" y="34"/>
                  </a:lnTo>
                  <a:lnTo>
                    <a:pt x="237" y="46"/>
                  </a:lnTo>
                  <a:lnTo>
                    <a:pt x="232" y="54"/>
                  </a:lnTo>
                  <a:lnTo>
                    <a:pt x="226" y="65"/>
                  </a:lnTo>
                  <a:lnTo>
                    <a:pt x="220" y="73"/>
                  </a:lnTo>
                  <a:lnTo>
                    <a:pt x="211" y="82"/>
                  </a:lnTo>
                  <a:lnTo>
                    <a:pt x="202" y="88"/>
                  </a:lnTo>
                  <a:lnTo>
                    <a:pt x="193" y="96"/>
                  </a:lnTo>
                  <a:lnTo>
                    <a:pt x="185" y="102"/>
                  </a:lnTo>
                  <a:lnTo>
                    <a:pt x="173" y="108"/>
                  </a:lnTo>
                  <a:lnTo>
                    <a:pt x="162" y="111"/>
                  </a:lnTo>
                  <a:lnTo>
                    <a:pt x="153" y="114"/>
                  </a:lnTo>
                  <a:lnTo>
                    <a:pt x="139" y="116"/>
                  </a:lnTo>
                  <a:lnTo>
                    <a:pt x="127" y="116"/>
                  </a:lnTo>
                  <a:lnTo>
                    <a:pt x="115" y="116"/>
                  </a:lnTo>
                  <a:lnTo>
                    <a:pt x="104" y="114"/>
                  </a:lnTo>
                  <a:lnTo>
                    <a:pt x="92" y="111"/>
                  </a:lnTo>
                  <a:lnTo>
                    <a:pt x="81" y="108"/>
                  </a:lnTo>
                  <a:lnTo>
                    <a:pt x="72" y="102"/>
                  </a:lnTo>
                  <a:lnTo>
                    <a:pt x="61" y="96"/>
                  </a:lnTo>
                  <a:lnTo>
                    <a:pt x="52" y="88"/>
                  </a:lnTo>
                  <a:lnTo>
                    <a:pt x="43" y="82"/>
                  </a:lnTo>
                  <a:lnTo>
                    <a:pt x="37" y="73"/>
                  </a:lnTo>
                  <a:lnTo>
                    <a:pt x="28" y="65"/>
                  </a:lnTo>
                  <a:lnTo>
                    <a:pt x="22" y="54"/>
                  </a:lnTo>
                  <a:lnTo>
                    <a:pt x="17" y="46"/>
                  </a:lnTo>
                  <a:lnTo>
                    <a:pt x="14" y="34"/>
                  </a:lnTo>
                  <a:lnTo>
                    <a:pt x="11" y="23"/>
                  </a:lnTo>
                  <a:lnTo>
                    <a:pt x="8" y="11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8" name="Freeform 182">
              <a:extLst>
                <a:ext uri="{FF2B5EF4-FFF2-40B4-BE49-F238E27FC236}">
                  <a16:creationId xmlns:a16="http://schemas.microsoft.com/office/drawing/2014/main" id="{A771C77C-039A-4AE6-8919-A93FC1AB7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681"/>
              <a:ext cx="239" cy="116"/>
            </a:xfrm>
            <a:custGeom>
              <a:avLst/>
              <a:gdLst>
                <a:gd name="T0" fmla="*/ 0 w 239"/>
                <a:gd name="T1" fmla="*/ 104 h 116"/>
                <a:gd name="T2" fmla="*/ 6 w 239"/>
                <a:gd name="T3" fmla="*/ 82 h 116"/>
                <a:gd name="T4" fmla="*/ 15 w 239"/>
                <a:gd name="T5" fmla="*/ 59 h 116"/>
                <a:gd name="T6" fmla="*/ 29 w 239"/>
                <a:gd name="T7" fmla="*/ 42 h 116"/>
                <a:gd name="T8" fmla="*/ 44 w 239"/>
                <a:gd name="T9" fmla="*/ 25 h 116"/>
                <a:gd name="T10" fmla="*/ 64 w 239"/>
                <a:gd name="T11" fmla="*/ 13 h 116"/>
                <a:gd name="T12" fmla="*/ 84 w 239"/>
                <a:gd name="T13" fmla="*/ 5 h 116"/>
                <a:gd name="T14" fmla="*/ 107 w 239"/>
                <a:gd name="T15" fmla="*/ 0 h 116"/>
                <a:gd name="T16" fmla="*/ 131 w 239"/>
                <a:gd name="T17" fmla="*/ 0 h 116"/>
                <a:gd name="T18" fmla="*/ 154 w 239"/>
                <a:gd name="T19" fmla="*/ 5 h 116"/>
                <a:gd name="T20" fmla="*/ 177 w 239"/>
                <a:gd name="T21" fmla="*/ 13 h 116"/>
                <a:gd name="T22" fmla="*/ 194 w 239"/>
                <a:gd name="T23" fmla="*/ 25 h 116"/>
                <a:gd name="T24" fmla="*/ 212 w 239"/>
                <a:gd name="T25" fmla="*/ 42 h 116"/>
                <a:gd name="T26" fmla="*/ 223 w 239"/>
                <a:gd name="T27" fmla="*/ 59 h 116"/>
                <a:gd name="T28" fmla="*/ 232 w 239"/>
                <a:gd name="T29" fmla="*/ 82 h 116"/>
                <a:gd name="T30" fmla="*/ 238 w 239"/>
                <a:gd name="T31" fmla="*/ 104 h 116"/>
                <a:gd name="T32" fmla="*/ 229 w 239"/>
                <a:gd name="T33" fmla="*/ 115 h 116"/>
                <a:gd name="T34" fmla="*/ 226 w 239"/>
                <a:gd name="T35" fmla="*/ 92 h 116"/>
                <a:gd name="T36" fmla="*/ 220 w 239"/>
                <a:gd name="T37" fmla="*/ 73 h 116"/>
                <a:gd name="T38" fmla="*/ 212 w 239"/>
                <a:gd name="T39" fmla="*/ 56 h 116"/>
                <a:gd name="T40" fmla="*/ 197 w 239"/>
                <a:gd name="T41" fmla="*/ 39 h 116"/>
                <a:gd name="T42" fmla="*/ 179 w 239"/>
                <a:gd name="T43" fmla="*/ 25 h 116"/>
                <a:gd name="T44" fmla="*/ 162 w 239"/>
                <a:gd name="T45" fmla="*/ 16 h 116"/>
                <a:gd name="T46" fmla="*/ 142 w 239"/>
                <a:gd name="T47" fmla="*/ 10 h 116"/>
                <a:gd name="T48" fmla="*/ 119 w 239"/>
                <a:gd name="T49" fmla="*/ 8 h 116"/>
                <a:gd name="T50" fmla="*/ 99 w 239"/>
                <a:gd name="T51" fmla="*/ 10 h 116"/>
                <a:gd name="T52" fmla="*/ 75 w 239"/>
                <a:gd name="T53" fmla="*/ 16 h 116"/>
                <a:gd name="T54" fmla="*/ 59 w 239"/>
                <a:gd name="T55" fmla="*/ 25 h 116"/>
                <a:gd name="T56" fmla="*/ 44 w 239"/>
                <a:gd name="T57" fmla="*/ 39 h 116"/>
                <a:gd name="T58" fmla="*/ 29 w 239"/>
                <a:gd name="T59" fmla="*/ 56 h 116"/>
                <a:gd name="T60" fmla="*/ 18 w 239"/>
                <a:gd name="T61" fmla="*/ 73 h 116"/>
                <a:gd name="T62" fmla="*/ 12 w 239"/>
                <a:gd name="T63" fmla="*/ 92 h 116"/>
                <a:gd name="T64" fmla="*/ 9 w 239"/>
                <a:gd name="T65" fmla="*/ 115 h 1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116"/>
                <a:gd name="T101" fmla="*/ 239 w 239"/>
                <a:gd name="T102" fmla="*/ 116 h 1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116">
                  <a:moveTo>
                    <a:pt x="0" y="115"/>
                  </a:moveTo>
                  <a:lnTo>
                    <a:pt x="0" y="104"/>
                  </a:lnTo>
                  <a:lnTo>
                    <a:pt x="3" y="89"/>
                  </a:lnTo>
                  <a:lnTo>
                    <a:pt x="6" y="82"/>
                  </a:lnTo>
                  <a:lnTo>
                    <a:pt x="9" y="70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9" y="42"/>
                  </a:lnTo>
                  <a:lnTo>
                    <a:pt x="35" y="33"/>
                  </a:lnTo>
                  <a:lnTo>
                    <a:pt x="44" y="25"/>
                  </a:lnTo>
                  <a:lnTo>
                    <a:pt x="53" y="19"/>
                  </a:lnTo>
                  <a:lnTo>
                    <a:pt x="64" y="13"/>
                  </a:lnTo>
                  <a:lnTo>
                    <a:pt x="73" y="8"/>
                  </a:lnTo>
                  <a:lnTo>
                    <a:pt x="84" y="5"/>
                  </a:lnTo>
                  <a:lnTo>
                    <a:pt x="96" y="3"/>
                  </a:lnTo>
                  <a:lnTo>
                    <a:pt x="107" y="0"/>
                  </a:lnTo>
                  <a:lnTo>
                    <a:pt x="119" y="0"/>
                  </a:lnTo>
                  <a:lnTo>
                    <a:pt x="131" y="0"/>
                  </a:lnTo>
                  <a:lnTo>
                    <a:pt x="145" y="3"/>
                  </a:lnTo>
                  <a:lnTo>
                    <a:pt x="154" y="5"/>
                  </a:lnTo>
                  <a:lnTo>
                    <a:pt x="165" y="8"/>
                  </a:lnTo>
                  <a:lnTo>
                    <a:pt x="177" y="13"/>
                  </a:lnTo>
                  <a:lnTo>
                    <a:pt x="185" y="19"/>
                  </a:lnTo>
                  <a:lnTo>
                    <a:pt x="194" y="25"/>
                  </a:lnTo>
                  <a:lnTo>
                    <a:pt x="203" y="33"/>
                  </a:lnTo>
                  <a:lnTo>
                    <a:pt x="212" y="42"/>
                  </a:lnTo>
                  <a:lnTo>
                    <a:pt x="218" y="50"/>
                  </a:lnTo>
                  <a:lnTo>
                    <a:pt x="223" y="59"/>
                  </a:lnTo>
                  <a:lnTo>
                    <a:pt x="229" y="70"/>
                  </a:lnTo>
                  <a:lnTo>
                    <a:pt x="232" y="82"/>
                  </a:lnTo>
                  <a:lnTo>
                    <a:pt x="235" y="89"/>
                  </a:lnTo>
                  <a:lnTo>
                    <a:pt x="238" y="104"/>
                  </a:lnTo>
                  <a:lnTo>
                    <a:pt x="238" y="115"/>
                  </a:lnTo>
                  <a:lnTo>
                    <a:pt x="229" y="115"/>
                  </a:lnTo>
                  <a:lnTo>
                    <a:pt x="229" y="104"/>
                  </a:lnTo>
                  <a:lnTo>
                    <a:pt x="226" y="92"/>
                  </a:lnTo>
                  <a:lnTo>
                    <a:pt x="223" y="82"/>
                  </a:lnTo>
                  <a:lnTo>
                    <a:pt x="220" y="73"/>
                  </a:lnTo>
                  <a:lnTo>
                    <a:pt x="218" y="65"/>
                  </a:lnTo>
                  <a:lnTo>
                    <a:pt x="212" y="56"/>
                  </a:lnTo>
                  <a:lnTo>
                    <a:pt x="203" y="48"/>
                  </a:lnTo>
                  <a:lnTo>
                    <a:pt x="197" y="39"/>
                  </a:lnTo>
                  <a:lnTo>
                    <a:pt x="188" y="30"/>
                  </a:lnTo>
                  <a:lnTo>
                    <a:pt x="179" y="25"/>
                  </a:lnTo>
                  <a:lnTo>
                    <a:pt x="171" y="19"/>
                  </a:lnTo>
                  <a:lnTo>
                    <a:pt x="162" y="16"/>
                  </a:lnTo>
                  <a:lnTo>
                    <a:pt x="154" y="13"/>
                  </a:lnTo>
                  <a:lnTo>
                    <a:pt x="142" y="10"/>
                  </a:lnTo>
                  <a:lnTo>
                    <a:pt x="131" y="8"/>
                  </a:lnTo>
                  <a:lnTo>
                    <a:pt x="119" y="8"/>
                  </a:lnTo>
                  <a:lnTo>
                    <a:pt x="107" y="8"/>
                  </a:lnTo>
                  <a:lnTo>
                    <a:pt x="99" y="10"/>
                  </a:lnTo>
                  <a:lnTo>
                    <a:pt x="87" y="13"/>
                  </a:lnTo>
                  <a:lnTo>
                    <a:pt x="75" y="16"/>
                  </a:lnTo>
                  <a:lnTo>
                    <a:pt x="67" y="19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4" y="39"/>
                  </a:lnTo>
                  <a:lnTo>
                    <a:pt x="35" y="48"/>
                  </a:lnTo>
                  <a:lnTo>
                    <a:pt x="29" y="56"/>
                  </a:lnTo>
                  <a:lnTo>
                    <a:pt x="23" y="65"/>
                  </a:lnTo>
                  <a:lnTo>
                    <a:pt x="18" y="73"/>
                  </a:lnTo>
                  <a:lnTo>
                    <a:pt x="15" y="82"/>
                  </a:lnTo>
                  <a:lnTo>
                    <a:pt x="12" y="92"/>
                  </a:lnTo>
                  <a:lnTo>
                    <a:pt x="12" y="104"/>
                  </a:lnTo>
                  <a:lnTo>
                    <a:pt x="9" y="115"/>
                  </a:lnTo>
                  <a:lnTo>
                    <a:pt x="0" y="115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9" name="Freeform 183">
              <a:extLst>
                <a:ext uri="{FF2B5EF4-FFF2-40B4-BE49-F238E27FC236}">
                  <a16:creationId xmlns:a16="http://schemas.microsoft.com/office/drawing/2014/main" id="{66130B04-2718-41BC-B5A6-636A591AE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802"/>
              <a:ext cx="239" cy="117"/>
            </a:xfrm>
            <a:custGeom>
              <a:avLst/>
              <a:gdLst>
                <a:gd name="T0" fmla="*/ 0 w 239"/>
                <a:gd name="T1" fmla="*/ 0 h 117"/>
                <a:gd name="T2" fmla="*/ 3 w 239"/>
                <a:gd name="T3" fmla="*/ 23 h 117"/>
                <a:gd name="T4" fmla="*/ 9 w 239"/>
                <a:gd name="T5" fmla="*/ 46 h 117"/>
                <a:gd name="T6" fmla="*/ 20 w 239"/>
                <a:gd name="T7" fmla="*/ 65 h 117"/>
                <a:gd name="T8" fmla="*/ 35 w 239"/>
                <a:gd name="T9" fmla="*/ 82 h 117"/>
                <a:gd name="T10" fmla="*/ 53 w 239"/>
                <a:gd name="T11" fmla="*/ 96 h 117"/>
                <a:gd name="T12" fmla="*/ 73 w 239"/>
                <a:gd name="T13" fmla="*/ 107 h 117"/>
                <a:gd name="T14" fmla="*/ 96 w 239"/>
                <a:gd name="T15" fmla="*/ 113 h 117"/>
                <a:gd name="T16" fmla="*/ 119 w 239"/>
                <a:gd name="T17" fmla="*/ 116 h 117"/>
                <a:gd name="T18" fmla="*/ 145 w 239"/>
                <a:gd name="T19" fmla="*/ 113 h 117"/>
                <a:gd name="T20" fmla="*/ 165 w 239"/>
                <a:gd name="T21" fmla="*/ 107 h 117"/>
                <a:gd name="T22" fmla="*/ 185 w 239"/>
                <a:gd name="T23" fmla="*/ 96 h 117"/>
                <a:gd name="T24" fmla="*/ 203 w 239"/>
                <a:gd name="T25" fmla="*/ 82 h 117"/>
                <a:gd name="T26" fmla="*/ 218 w 239"/>
                <a:gd name="T27" fmla="*/ 65 h 117"/>
                <a:gd name="T28" fmla="*/ 229 w 239"/>
                <a:gd name="T29" fmla="*/ 46 h 117"/>
                <a:gd name="T30" fmla="*/ 235 w 239"/>
                <a:gd name="T31" fmla="*/ 23 h 117"/>
                <a:gd name="T32" fmla="*/ 238 w 239"/>
                <a:gd name="T33" fmla="*/ 0 h 117"/>
                <a:gd name="T34" fmla="*/ 229 w 239"/>
                <a:gd name="T35" fmla="*/ 11 h 117"/>
                <a:gd name="T36" fmla="*/ 223 w 239"/>
                <a:gd name="T37" fmla="*/ 31 h 117"/>
                <a:gd name="T38" fmla="*/ 218 w 239"/>
                <a:gd name="T39" fmla="*/ 51 h 117"/>
                <a:gd name="T40" fmla="*/ 203 w 239"/>
                <a:gd name="T41" fmla="*/ 68 h 117"/>
                <a:gd name="T42" fmla="*/ 188 w 239"/>
                <a:gd name="T43" fmla="*/ 82 h 117"/>
                <a:gd name="T44" fmla="*/ 171 w 239"/>
                <a:gd name="T45" fmla="*/ 93 h 117"/>
                <a:gd name="T46" fmla="*/ 154 w 239"/>
                <a:gd name="T47" fmla="*/ 102 h 117"/>
                <a:gd name="T48" fmla="*/ 131 w 239"/>
                <a:gd name="T49" fmla="*/ 105 h 117"/>
                <a:gd name="T50" fmla="*/ 107 w 239"/>
                <a:gd name="T51" fmla="*/ 105 h 117"/>
                <a:gd name="T52" fmla="*/ 87 w 239"/>
                <a:gd name="T53" fmla="*/ 102 h 117"/>
                <a:gd name="T54" fmla="*/ 67 w 239"/>
                <a:gd name="T55" fmla="*/ 93 h 117"/>
                <a:gd name="T56" fmla="*/ 50 w 239"/>
                <a:gd name="T57" fmla="*/ 82 h 117"/>
                <a:gd name="T58" fmla="*/ 35 w 239"/>
                <a:gd name="T59" fmla="*/ 68 h 117"/>
                <a:gd name="T60" fmla="*/ 23 w 239"/>
                <a:gd name="T61" fmla="*/ 51 h 117"/>
                <a:gd name="T62" fmla="*/ 15 w 239"/>
                <a:gd name="T63" fmla="*/ 31 h 117"/>
                <a:gd name="T64" fmla="*/ 12 w 239"/>
                <a:gd name="T65" fmla="*/ 11 h 117"/>
                <a:gd name="T66" fmla="*/ 0 w 239"/>
                <a:gd name="T67" fmla="*/ 0 h 1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39"/>
                <a:gd name="T103" fmla="*/ 0 h 117"/>
                <a:gd name="T104" fmla="*/ 239 w 239"/>
                <a:gd name="T105" fmla="*/ 117 h 1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39" h="117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6"/>
                  </a:lnTo>
                  <a:lnTo>
                    <a:pt x="15" y="54"/>
                  </a:lnTo>
                  <a:lnTo>
                    <a:pt x="20" y="65"/>
                  </a:lnTo>
                  <a:lnTo>
                    <a:pt x="29" y="73"/>
                  </a:lnTo>
                  <a:lnTo>
                    <a:pt x="35" y="82"/>
                  </a:lnTo>
                  <a:lnTo>
                    <a:pt x="44" y="87"/>
                  </a:lnTo>
                  <a:lnTo>
                    <a:pt x="53" y="96"/>
                  </a:lnTo>
                  <a:lnTo>
                    <a:pt x="64" y="102"/>
                  </a:lnTo>
                  <a:lnTo>
                    <a:pt x="73" y="107"/>
                  </a:lnTo>
                  <a:lnTo>
                    <a:pt x="84" y="110"/>
                  </a:lnTo>
                  <a:lnTo>
                    <a:pt x="96" y="113"/>
                  </a:lnTo>
                  <a:lnTo>
                    <a:pt x="107" y="116"/>
                  </a:lnTo>
                  <a:lnTo>
                    <a:pt x="119" y="116"/>
                  </a:lnTo>
                  <a:lnTo>
                    <a:pt x="131" y="116"/>
                  </a:lnTo>
                  <a:lnTo>
                    <a:pt x="145" y="113"/>
                  </a:lnTo>
                  <a:lnTo>
                    <a:pt x="154" y="110"/>
                  </a:lnTo>
                  <a:lnTo>
                    <a:pt x="165" y="107"/>
                  </a:lnTo>
                  <a:lnTo>
                    <a:pt x="177" y="102"/>
                  </a:lnTo>
                  <a:lnTo>
                    <a:pt x="185" y="96"/>
                  </a:lnTo>
                  <a:lnTo>
                    <a:pt x="194" y="87"/>
                  </a:lnTo>
                  <a:lnTo>
                    <a:pt x="203" y="82"/>
                  </a:lnTo>
                  <a:lnTo>
                    <a:pt x="212" y="73"/>
                  </a:lnTo>
                  <a:lnTo>
                    <a:pt x="218" y="65"/>
                  </a:lnTo>
                  <a:lnTo>
                    <a:pt x="223" y="54"/>
                  </a:lnTo>
                  <a:lnTo>
                    <a:pt x="229" y="46"/>
                  </a:lnTo>
                  <a:lnTo>
                    <a:pt x="232" y="34"/>
                  </a:lnTo>
                  <a:lnTo>
                    <a:pt x="235" y="23"/>
                  </a:lnTo>
                  <a:lnTo>
                    <a:pt x="238" y="11"/>
                  </a:lnTo>
                  <a:lnTo>
                    <a:pt x="238" y="0"/>
                  </a:lnTo>
                  <a:lnTo>
                    <a:pt x="229" y="0"/>
                  </a:lnTo>
                  <a:lnTo>
                    <a:pt x="229" y="11"/>
                  </a:lnTo>
                  <a:lnTo>
                    <a:pt x="226" y="20"/>
                  </a:lnTo>
                  <a:lnTo>
                    <a:pt x="223" y="31"/>
                  </a:lnTo>
                  <a:lnTo>
                    <a:pt x="220" y="43"/>
                  </a:lnTo>
                  <a:lnTo>
                    <a:pt x="218" y="51"/>
                  </a:lnTo>
                  <a:lnTo>
                    <a:pt x="212" y="59"/>
                  </a:lnTo>
                  <a:lnTo>
                    <a:pt x="203" y="68"/>
                  </a:lnTo>
                  <a:lnTo>
                    <a:pt x="197" y="76"/>
                  </a:lnTo>
                  <a:lnTo>
                    <a:pt x="188" y="82"/>
                  </a:lnTo>
                  <a:lnTo>
                    <a:pt x="179" y="87"/>
                  </a:lnTo>
                  <a:lnTo>
                    <a:pt x="171" y="93"/>
                  </a:lnTo>
                  <a:lnTo>
                    <a:pt x="162" y="99"/>
                  </a:lnTo>
                  <a:lnTo>
                    <a:pt x="154" y="102"/>
                  </a:lnTo>
                  <a:lnTo>
                    <a:pt x="142" y="105"/>
                  </a:lnTo>
                  <a:lnTo>
                    <a:pt x="131" y="105"/>
                  </a:lnTo>
                  <a:lnTo>
                    <a:pt x="119" y="107"/>
                  </a:lnTo>
                  <a:lnTo>
                    <a:pt x="107" y="105"/>
                  </a:lnTo>
                  <a:lnTo>
                    <a:pt x="99" y="105"/>
                  </a:lnTo>
                  <a:lnTo>
                    <a:pt x="87" y="102"/>
                  </a:lnTo>
                  <a:lnTo>
                    <a:pt x="75" y="99"/>
                  </a:lnTo>
                  <a:lnTo>
                    <a:pt x="67" y="93"/>
                  </a:lnTo>
                  <a:lnTo>
                    <a:pt x="59" y="87"/>
                  </a:lnTo>
                  <a:lnTo>
                    <a:pt x="50" y="82"/>
                  </a:lnTo>
                  <a:lnTo>
                    <a:pt x="44" y="76"/>
                  </a:lnTo>
                  <a:lnTo>
                    <a:pt x="35" y="68"/>
                  </a:lnTo>
                  <a:lnTo>
                    <a:pt x="29" y="59"/>
                  </a:lnTo>
                  <a:lnTo>
                    <a:pt x="23" y="51"/>
                  </a:lnTo>
                  <a:lnTo>
                    <a:pt x="18" y="43"/>
                  </a:lnTo>
                  <a:lnTo>
                    <a:pt x="15" y="31"/>
                  </a:lnTo>
                  <a:lnTo>
                    <a:pt x="12" y="20"/>
                  </a:lnTo>
                  <a:lnTo>
                    <a:pt x="12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0" name="Freeform 184">
              <a:extLst>
                <a:ext uri="{FF2B5EF4-FFF2-40B4-BE49-F238E27FC236}">
                  <a16:creationId xmlns:a16="http://schemas.microsoft.com/office/drawing/2014/main" id="{D3A2FCAB-B585-4460-AD2C-03A8952E2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689"/>
              <a:ext cx="221" cy="108"/>
            </a:xfrm>
            <a:custGeom>
              <a:avLst/>
              <a:gdLst>
                <a:gd name="T0" fmla="*/ 3 w 221"/>
                <a:gd name="T1" fmla="*/ 96 h 108"/>
                <a:gd name="T2" fmla="*/ 6 w 221"/>
                <a:gd name="T3" fmla="*/ 74 h 108"/>
                <a:gd name="T4" fmla="*/ 15 w 221"/>
                <a:gd name="T5" fmla="*/ 57 h 108"/>
                <a:gd name="T6" fmla="*/ 26 w 221"/>
                <a:gd name="T7" fmla="*/ 40 h 108"/>
                <a:gd name="T8" fmla="*/ 41 w 221"/>
                <a:gd name="T9" fmla="*/ 23 h 108"/>
                <a:gd name="T10" fmla="*/ 58 w 221"/>
                <a:gd name="T11" fmla="*/ 11 h 108"/>
                <a:gd name="T12" fmla="*/ 78 w 221"/>
                <a:gd name="T13" fmla="*/ 6 h 108"/>
                <a:gd name="T14" fmla="*/ 98 w 221"/>
                <a:gd name="T15" fmla="*/ 0 h 108"/>
                <a:gd name="T16" fmla="*/ 122 w 221"/>
                <a:gd name="T17" fmla="*/ 0 h 108"/>
                <a:gd name="T18" fmla="*/ 145 w 221"/>
                <a:gd name="T19" fmla="*/ 6 h 108"/>
                <a:gd name="T20" fmla="*/ 162 w 221"/>
                <a:gd name="T21" fmla="*/ 11 h 108"/>
                <a:gd name="T22" fmla="*/ 179 w 221"/>
                <a:gd name="T23" fmla="*/ 23 h 108"/>
                <a:gd name="T24" fmla="*/ 194 w 221"/>
                <a:gd name="T25" fmla="*/ 40 h 108"/>
                <a:gd name="T26" fmla="*/ 208 w 221"/>
                <a:gd name="T27" fmla="*/ 57 h 108"/>
                <a:gd name="T28" fmla="*/ 214 w 221"/>
                <a:gd name="T29" fmla="*/ 74 h 108"/>
                <a:gd name="T30" fmla="*/ 220 w 221"/>
                <a:gd name="T31" fmla="*/ 96 h 108"/>
                <a:gd name="T32" fmla="*/ 211 w 221"/>
                <a:gd name="T33" fmla="*/ 107 h 108"/>
                <a:gd name="T34" fmla="*/ 208 w 221"/>
                <a:gd name="T35" fmla="*/ 87 h 108"/>
                <a:gd name="T36" fmla="*/ 202 w 221"/>
                <a:gd name="T37" fmla="*/ 68 h 108"/>
                <a:gd name="T38" fmla="*/ 194 w 221"/>
                <a:gd name="T39" fmla="*/ 51 h 108"/>
                <a:gd name="T40" fmla="*/ 182 w 221"/>
                <a:gd name="T41" fmla="*/ 37 h 108"/>
                <a:gd name="T42" fmla="*/ 167 w 221"/>
                <a:gd name="T43" fmla="*/ 26 h 108"/>
                <a:gd name="T44" fmla="*/ 150 w 221"/>
                <a:gd name="T45" fmla="*/ 17 h 108"/>
                <a:gd name="T46" fmla="*/ 130 w 221"/>
                <a:gd name="T47" fmla="*/ 11 h 108"/>
                <a:gd name="T48" fmla="*/ 110 w 221"/>
                <a:gd name="T49" fmla="*/ 9 h 108"/>
                <a:gd name="T50" fmla="*/ 90 w 221"/>
                <a:gd name="T51" fmla="*/ 11 h 108"/>
                <a:gd name="T52" fmla="*/ 72 w 221"/>
                <a:gd name="T53" fmla="*/ 17 h 108"/>
                <a:gd name="T54" fmla="*/ 55 w 221"/>
                <a:gd name="T55" fmla="*/ 26 h 108"/>
                <a:gd name="T56" fmla="*/ 41 w 221"/>
                <a:gd name="T57" fmla="*/ 37 h 108"/>
                <a:gd name="T58" fmla="*/ 29 w 221"/>
                <a:gd name="T59" fmla="*/ 51 h 108"/>
                <a:gd name="T60" fmla="*/ 18 w 221"/>
                <a:gd name="T61" fmla="*/ 68 h 108"/>
                <a:gd name="T62" fmla="*/ 12 w 221"/>
                <a:gd name="T63" fmla="*/ 87 h 108"/>
                <a:gd name="T64" fmla="*/ 12 w 221"/>
                <a:gd name="T65" fmla="*/ 107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1"/>
                <a:gd name="T100" fmla="*/ 0 h 108"/>
                <a:gd name="T101" fmla="*/ 221 w 221"/>
                <a:gd name="T102" fmla="*/ 108 h 10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1" h="108">
                  <a:moveTo>
                    <a:pt x="0" y="107"/>
                  </a:moveTo>
                  <a:lnTo>
                    <a:pt x="3" y="96"/>
                  </a:lnTo>
                  <a:lnTo>
                    <a:pt x="3" y="84"/>
                  </a:lnTo>
                  <a:lnTo>
                    <a:pt x="6" y="74"/>
                  </a:lnTo>
                  <a:lnTo>
                    <a:pt x="9" y="65"/>
                  </a:lnTo>
                  <a:lnTo>
                    <a:pt x="15" y="57"/>
                  </a:lnTo>
                  <a:lnTo>
                    <a:pt x="20" y="48"/>
                  </a:lnTo>
                  <a:lnTo>
                    <a:pt x="26" y="40"/>
                  </a:lnTo>
                  <a:lnTo>
                    <a:pt x="35" y="31"/>
                  </a:lnTo>
                  <a:lnTo>
                    <a:pt x="41" y="23"/>
                  </a:lnTo>
                  <a:lnTo>
                    <a:pt x="50" y="17"/>
                  </a:lnTo>
                  <a:lnTo>
                    <a:pt x="58" y="11"/>
                  </a:lnTo>
                  <a:lnTo>
                    <a:pt x="66" y="9"/>
                  </a:lnTo>
                  <a:lnTo>
                    <a:pt x="78" y="6"/>
                  </a:lnTo>
                  <a:lnTo>
                    <a:pt x="90" y="3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33" y="3"/>
                  </a:lnTo>
                  <a:lnTo>
                    <a:pt x="145" y="6"/>
                  </a:lnTo>
                  <a:lnTo>
                    <a:pt x="153" y="9"/>
                  </a:lnTo>
                  <a:lnTo>
                    <a:pt x="162" y="11"/>
                  </a:lnTo>
                  <a:lnTo>
                    <a:pt x="170" y="17"/>
                  </a:lnTo>
                  <a:lnTo>
                    <a:pt x="179" y="23"/>
                  </a:lnTo>
                  <a:lnTo>
                    <a:pt x="188" y="31"/>
                  </a:lnTo>
                  <a:lnTo>
                    <a:pt x="194" y="40"/>
                  </a:lnTo>
                  <a:lnTo>
                    <a:pt x="202" y="48"/>
                  </a:lnTo>
                  <a:lnTo>
                    <a:pt x="208" y="57"/>
                  </a:lnTo>
                  <a:lnTo>
                    <a:pt x="211" y="65"/>
                  </a:lnTo>
                  <a:lnTo>
                    <a:pt x="214" y="74"/>
                  </a:lnTo>
                  <a:lnTo>
                    <a:pt x="217" y="84"/>
                  </a:lnTo>
                  <a:lnTo>
                    <a:pt x="220" y="96"/>
                  </a:lnTo>
                  <a:lnTo>
                    <a:pt x="220" y="107"/>
                  </a:lnTo>
                  <a:lnTo>
                    <a:pt x="211" y="107"/>
                  </a:lnTo>
                  <a:lnTo>
                    <a:pt x="211" y="96"/>
                  </a:lnTo>
                  <a:lnTo>
                    <a:pt x="208" y="87"/>
                  </a:lnTo>
                  <a:lnTo>
                    <a:pt x="205" y="77"/>
                  </a:lnTo>
                  <a:lnTo>
                    <a:pt x="202" y="68"/>
                  </a:lnTo>
                  <a:lnTo>
                    <a:pt x="200" y="60"/>
                  </a:lnTo>
                  <a:lnTo>
                    <a:pt x="194" y="51"/>
                  </a:lnTo>
                  <a:lnTo>
                    <a:pt x="188" y="45"/>
                  </a:lnTo>
                  <a:lnTo>
                    <a:pt x="182" y="37"/>
                  </a:lnTo>
                  <a:lnTo>
                    <a:pt x="173" y="31"/>
                  </a:lnTo>
                  <a:lnTo>
                    <a:pt x="167" y="26"/>
                  </a:lnTo>
                  <a:lnTo>
                    <a:pt x="159" y="20"/>
                  </a:lnTo>
                  <a:lnTo>
                    <a:pt x="150" y="17"/>
                  </a:lnTo>
                  <a:lnTo>
                    <a:pt x="142" y="14"/>
                  </a:lnTo>
                  <a:lnTo>
                    <a:pt x="130" y="11"/>
                  </a:lnTo>
                  <a:lnTo>
                    <a:pt x="122" y="9"/>
                  </a:lnTo>
                  <a:lnTo>
                    <a:pt x="110" y="9"/>
                  </a:lnTo>
                  <a:lnTo>
                    <a:pt x="101" y="9"/>
                  </a:lnTo>
                  <a:lnTo>
                    <a:pt x="90" y="11"/>
                  </a:lnTo>
                  <a:lnTo>
                    <a:pt x="81" y="14"/>
                  </a:lnTo>
                  <a:lnTo>
                    <a:pt x="72" y="17"/>
                  </a:lnTo>
                  <a:lnTo>
                    <a:pt x="64" y="20"/>
                  </a:lnTo>
                  <a:lnTo>
                    <a:pt x="55" y="26"/>
                  </a:lnTo>
                  <a:lnTo>
                    <a:pt x="47" y="31"/>
                  </a:lnTo>
                  <a:lnTo>
                    <a:pt x="41" y="37"/>
                  </a:lnTo>
                  <a:lnTo>
                    <a:pt x="35" y="45"/>
                  </a:lnTo>
                  <a:lnTo>
                    <a:pt x="29" y="51"/>
                  </a:lnTo>
                  <a:lnTo>
                    <a:pt x="23" y="60"/>
                  </a:lnTo>
                  <a:lnTo>
                    <a:pt x="18" y="68"/>
                  </a:lnTo>
                  <a:lnTo>
                    <a:pt x="15" y="77"/>
                  </a:lnTo>
                  <a:lnTo>
                    <a:pt x="12" y="87"/>
                  </a:lnTo>
                  <a:lnTo>
                    <a:pt x="12" y="96"/>
                  </a:lnTo>
                  <a:lnTo>
                    <a:pt x="12" y="107"/>
                  </a:lnTo>
                  <a:lnTo>
                    <a:pt x="0" y="107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1" name="Freeform 185">
              <a:extLst>
                <a:ext uri="{FF2B5EF4-FFF2-40B4-BE49-F238E27FC236}">
                  <a16:creationId xmlns:a16="http://schemas.microsoft.com/office/drawing/2014/main" id="{FB4DC140-E7EB-43C9-8548-409FCA0BA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802"/>
              <a:ext cx="221" cy="108"/>
            </a:xfrm>
            <a:custGeom>
              <a:avLst/>
              <a:gdLst>
                <a:gd name="T0" fmla="*/ 0 w 221"/>
                <a:gd name="T1" fmla="*/ 0 h 108"/>
                <a:gd name="T2" fmla="*/ 3 w 221"/>
                <a:gd name="T3" fmla="*/ 20 h 108"/>
                <a:gd name="T4" fmla="*/ 9 w 221"/>
                <a:gd name="T5" fmla="*/ 43 h 108"/>
                <a:gd name="T6" fmla="*/ 20 w 221"/>
                <a:gd name="T7" fmla="*/ 59 h 108"/>
                <a:gd name="T8" fmla="*/ 35 w 221"/>
                <a:gd name="T9" fmla="*/ 76 h 108"/>
                <a:gd name="T10" fmla="*/ 50 w 221"/>
                <a:gd name="T11" fmla="*/ 87 h 108"/>
                <a:gd name="T12" fmla="*/ 66 w 221"/>
                <a:gd name="T13" fmla="*/ 98 h 108"/>
                <a:gd name="T14" fmla="*/ 90 w 221"/>
                <a:gd name="T15" fmla="*/ 104 h 108"/>
                <a:gd name="T16" fmla="*/ 110 w 221"/>
                <a:gd name="T17" fmla="*/ 107 h 108"/>
                <a:gd name="T18" fmla="*/ 133 w 221"/>
                <a:gd name="T19" fmla="*/ 104 h 108"/>
                <a:gd name="T20" fmla="*/ 153 w 221"/>
                <a:gd name="T21" fmla="*/ 98 h 108"/>
                <a:gd name="T22" fmla="*/ 170 w 221"/>
                <a:gd name="T23" fmla="*/ 87 h 108"/>
                <a:gd name="T24" fmla="*/ 188 w 221"/>
                <a:gd name="T25" fmla="*/ 76 h 108"/>
                <a:gd name="T26" fmla="*/ 202 w 221"/>
                <a:gd name="T27" fmla="*/ 59 h 108"/>
                <a:gd name="T28" fmla="*/ 211 w 221"/>
                <a:gd name="T29" fmla="*/ 43 h 108"/>
                <a:gd name="T30" fmla="*/ 217 w 221"/>
                <a:gd name="T31" fmla="*/ 20 h 108"/>
                <a:gd name="T32" fmla="*/ 220 w 221"/>
                <a:gd name="T33" fmla="*/ 0 h 108"/>
                <a:gd name="T34" fmla="*/ 211 w 221"/>
                <a:gd name="T35" fmla="*/ 9 h 108"/>
                <a:gd name="T36" fmla="*/ 205 w 221"/>
                <a:gd name="T37" fmla="*/ 28 h 108"/>
                <a:gd name="T38" fmla="*/ 200 w 221"/>
                <a:gd name="T39" fmla="*/ 45 h 108"/>
                <a:gd name="T40" fmla="*/ 188 w 221"/>
                <a:gd name="T41" fmla="*/ 62 h 108"/>
                <a:gd name="T42" fmla="*/ 173 w 221"/>
                <a:gd name="T43" fmla="*/ 76 h 108"/>
                <a:gd name="T44" fmla="*/ 159 w 221"/>
                <a:gd name="T45" fmla="*/ 84 h 108"/>
                <a:gd name="T46" fmla="*/ 142 w 221"/>
                <a:gd name="T47" fmla="*/ 93 h 108"/>
                <a:gd name="T48" fmla="*/ 122 w 221"/>
                <a:gd name="T49" fmla="*/ 96 h 108"/>
                <a:gd name="T50" fmla="*/ 101 w 221"/>
                <a:gd name="T51" fmla="*/ 96 h 108"/>
                <a:gd name="T52" fmla="*/ 81 w 221"/>
                <a:gd name="T53" fmla="*/ 93 h 108"/>
                <a:gd name="T54" fmla="*/ 64 w 221"/>
                <a:gd name="T55" fmla="*/ 84 h 108"/>
                <a:gd name="T56" fmla="*/ 47 w 221"/>
                <a:gd name="T57" fmla="*/ 76 h 108"/>
                <a:gd name="T58" fmla="*/ 35 w 221"/>
                <a:gd name="T59" fmla="*/ 62 h 108"/>
                <a:gd name="T60" fmla="*/ 23 w 221"/>
                <a:gd name="T61" fmla="*/ 45 h 108"/>
                <a:gd name="T62" fmla="*/ 15 w 221"/>
                <a:gd name="T63" fmla="*/ 28 h 108"/>
                <a:gd name="T64" fmla="*/ 12 w 221"/>
                <a:gd name="T65" fmla="*/ 9 h 108"/>
                <a:gd name="T66" fmla="*/ 0 w 221"/>
                <a:gd name="T67" fmla="*/ 0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21"/>
                <a:gd name="T103" fmla="*/ 0 h 108"/>
                <a:gd name="T104" fmla="*/ 221 w 221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21" h="108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3" y="20"/>
                  </a:lnTo>
                  <a:lnTo>
                    <a:pt x="6" y="31"/>
                  </a:lnTo>
                  <a:lnTo>
                    <a:pt x="9" y="43"/>
                  </a:lnTo>
                  <a:lnTo>
                    <a:pt x="15" y="51"/>
                  </a:lnTo>
                  <a:lnTo>
                    <a:pt x="20" y="59"/>
                  </a:lnTo>
                  <a:lnTo>
                    <a:pt x="26" y="67"/>
                  </a:lnTo>
                  <a:lnTo>
                    <a:pt x="35" y="76"/>
                  </a:lnTo>
                  <a:lnTo>
                    <a:pt x="41" y="81"/>
                  </a:lnTo>
                  <a:lnTo>
                    <a:pt x="50" y="87"/>
                  </a:lnTo>
                  <a:lnTo>
                    <a:pt x="58" y="93"/>
                  </a:lnTo>
                  <a:lnTo>
                    <a:pt x="66" y="98"/>
                  </a:lnTo>
                  <a:lnTo>
                    <a:pt x="78" y="101"/>
                  </a:lnTo>
                  <a:lnTo>
                    <a:pt x="90" y="104"/>
                  </a:lnTo>
                  <a:lnTo>
                    <a:pt x="98" y="104"/>
                  </a:lnTo>
                  <a:lnTo>
                    <a:pt x="110" y="107"/>
                  </a:lnTo>
                  <a:lnTo>
                    <a:pt x="122" y="104"/>
                  </a:lnTo>
                  <a:lnTo>
                    <a:pt x="133" y="104"/>
                  </a:lnTo>
                  <a:lnTo>
                    <a:pt x="145" y="101"/>
                  </a:lnTo>
                  <a:lnTo>
                    <a:pt x="153" y="98"/>
                  </a:lnTo>
                  <a:lnTo>
                    <a:pt x="162" y="93"/>
                  </a:lnTo>
                  <a:lnTo>
                    <a:pt x="170" y="87"/>
                  </a:lnTo>
                  <a:lnTo>
                    <a:pt x="179" y="81"/>
                  </a:lnTo>
                  <a:lnTo>
                    <a:pt x="188" y="76"/>
                  </a:lnTo>
                  <a:lnTo>
                    <a:pt x="194" y="67"/>
                  </a:lnTo>
                  <a:lnTo>
                    <a:pt x="202" y="59"/>
                  </a:lnTo>
                  <a:lnTo>
                    <a:pt x="208" y="51"/>
                  </a:lnTo>
                  <a:lnTo>
                    <a:pt x="211" y="43"/>
                  </a:lnTo>
                  <a:lnTo>
                    <a:pt x="214" y="31"/>
                  </a:lnTo>
                  <a:lnTo>
                    <a:pt x="217" y="20"/>
                  </a:lnTo>
                  <a:lnTo>
                    <a:pt x="220" y="11"/>
                  </a:lnTo>
                  <a:lnTo>
                    <a:pt x="220" y="0"/>
                  </a:lnTo>
                  <a:lnTo>
                    <a:pt x="211" y="0"/>
                  </a:lnTo>
                  <a:lnTo>
                    <a:pt x="211" y="9"/>
                  </a:lnTo>
                  <a:lnTo>
                    <a:pt x="208" y="20"/>
                  </a:lnTo>
                  <a:lnTo>
                    <a:pt x="205" y="28"/>
                  </a:lnTo>
                  <a:lnTo>
                    <a:pt x="202" y="37"/>
                  </a:lnTo>
                  <a:lnTo>
                    <a:pt x="200" y="45"/>
                  </a:lnTo>
                  <a:lnTo>
                    <a:pt x="194" y="54"/>
                  </a:lnTo>
                  <a:lnTo>
                    <a:pt x="188" y="62"/>
                  </a:lnTo>
                  <a:lnTo>
                    <a:pt x="182" y="67"/>
                  </a:lnTo>
                  <a:lnTo>
                    <a:pt x="173" y="76"/>
                  </a:lnTo>
                  <a:lnTo>
                    <a:pt x="167" y="79"/>
                  </a:lnTo>
                  <a:lnTo>
                    <a:pt x="159" y="84"/>
                  </a:lnTo>
                  <a:lnTo>
                    <a:pt x="150" y="90"/>
                  </a:lnTo>
                  <a:lnTo>
                    <a:pt x="142" y="93"/>
                  </a:lnTo>
                  <a:lnTo>
                    <a:pt x="130" y="96"/>
                  </a:lnTo>
                  <a:lnTo>
                    <a:pt x="122" y="96"/>
                  </a:lnTo>
                  <a:lnTo>
                    <a:pt x="110" y="96"/>
                  </a:lnTo>
                  <a:lnTo>
                    <a:pt x="101" y="96"/>
                  </a:lnTo>
                  <a:lnTo>
                    <a:pt x="90" y="96"/>
                  </a:lnTo>
                  <a:lnTo>
                    <a:pt x="81" y="93"/>
                  </a:lnTo>
                  <a:lnTo>
                    <a:pt x="72" y="90"/>
                  </a:lnTo>
                  <a:lnTo>
                    <a:pt x="64" y="84"/>
                  </a:lnTo>
                  <a:lnTo>
                    <a:pt x="55" y="79"/>
                  </a:lnTo>
                  <a:lnTo>
                    <a:pt x="47" y="76"/>
                  </a:lnTo>
                  <a:lnTo>
                    <a:pt x="41" y="67"/>
                  </a:lnTo>
                  <a:lnTo>
                    <a:pt x="35" y="62"/>
                  </a:lnTo>
                  <a:lnTo>
                    <a:pt x="29" y="54"/>
                  </a:lnTo>
                  <a:lnTo>
                    <a:pt x="23" y="45"/>
                  </a:lnTo>
                  <a:lnTo>
                    <a:pt x="18" y="37"/>
                  </a:lnTo>
                  <a:lnTo>
                    <a:pt x="15" y="28"/>
                  </a:lnTo>
                  <a:lnTo>
                    <a:pt x="12" y="20"/>
                  </a:lnTo>
                  <a:lnTo>
                    <a:pt x="12" y="9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2" name="Freeform 186">
              <a:extLst>
                <a:ext uri="{FF2B5EF4-FFF2-40B4-BE49-F238E27FC236}">
                  <a16:creationId xmlns:a16="http://schemas.microsoft.com/office/drawing/2014/main" id="{32D57884-1130-4E30-8C77-2DA6F074B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698"/>
              <a:ext cx="200" cy="99"/>
            </a:xfrm>
            <a:custGeom>
              <a:avLst/>
              <a:gdLst>
                <a:gd name="T0" fmla="*/ 0 w 200"/>
                <a:gd name="T1" fmla="*/ 87 h 99"/>
                <a:gd name="T2" fmla="*/ 3 w 200"/>
                <a:gd name="T3" fmla="*/ 68 h 99"/>
                <a:gd name="T4" fmla="*/ 12 w 200"/>
                <a:gd name="T5" fmla="*/ 51 h 99"/>
                <a:gd name="T6" fmla="*/ 23 w 200"/>
                <a:gd name="T7" fmla="*/ 37 h 99"/>
                <a:gd name="T8" fmla="*/ 35 w 200"/>
                <a:gd name="T9" fmla="*/ 23 h 99"/>
                <a:gd name="T10" fmla="*/ 52 w 200"/>
                <a:gd name="T11" fmla="*/ 11 h 99"/>
                <a:gd name="T12" fmla="*/ 69 w 200"/>
                <a:gd name="T13" fmla="*/ 6 h 99"/>
                <a:gd name="T14" fmla="*/ 89 w 200"/>
                <a:gd name="T15" fmla="*/ 0 h 99"/>
                <a:gd name="T16" fmla="*/ 110 w 200"/>
                <a:gd name="T17" fmla="*/ 0 h 99"/>
                <a:gd name="T18" fmla="*/ 130 w 200"/>
                <a:gd name="T19" fmla="*/ 6 h 99"/>
                <a:gd name="T20" fmla="*/ 147 w 200"/>
                <a:gd name="T21" fmla="*/ 11 h 99"/>
                <a:gd name="T22" fmla="*/ 161 w 200"/>
                <a:gd name="T23" fmla="*/ 23 h 99"/>
                <a:gd name="T24" fmla="*/ 176 w 200"/>
                <a:gd name="T25" fmla="*/ 37 h 99"/>
                <a:gd name="T26" fmla="*/ 187 w 200"/>
                <a:gd name="T27" fmla="*/ 51 h 99"/>
                <a:gd name="T28" fmla="*/ 193 w 200"/>
                <a:gd name="T29" fmla="*/ 68 h 99"/>
                <a:gd name="T30" fmla="*/ 199 w 200"/>
                <a:gd name="T31" fmla="*/ 87 h 99"/>
                <a:gd name="T32" fmla="*/ 190 w 200"/>
                <a:gd name="T33" fmla="*/ 98 h 99"/>
                <a:gd name="T34" fmla="*/ 187 w 200"/>
                <a:gd name="T35" fmla="*/ 78 h 99"/>
                <a:gd name="T36" fmla="*/ 182 w 200"/>
                <a:gd name="T37" fmla="*/ 65 h 99"/>
                <a:gd name="T38" fmla="*/ 173 w 200"/>
                <a:gd name="T39" fmla="*/ 48 h 99"/>
                <a:gd name="T40" fmla="*/ 164 w 200"/>
                <a:gd name="T41" fmla="*/ 34 h 99"/>
                <a:gd name="T42" fmla="*/ 149 w 200"/>
                <a:gd name="T43" fmla="*/ 25 h 99"/>
                <a:gd name="T44" fmla="*/ 133 w 200"/>
                <a:gd name="T45" fmla="*/ 17 h 99"/>
                <a:gd name="T46" fmla="*/ 118 w 200"/>
                <a:gd name="T47" fmla="*/ 11 h 99"/>
                <a:gd name="T48" fmla="*/ 98 w 200"/>
                <a:gd name="T49" fmla="*/ 8 h 99"/>
                <a:gd name="T50" fmla="*/ 81 w 200"/>
                <a:gd name="T51" fmla="*/ 11 h 99"/>
                <a:gd name="T52" fmla="*/ 63 w 200"/>
                <a:gd name="T53" fmla="*/ 17 h 99"/>
                <a:gd name="T54" fmla="*/ 50 w 200"/>
                <a:gd name="T55" fmla="*/ 25 h 99"/>
                <a:gd name="T56" fmla="*/ 35 w 200"/>
                <a:gd name="T57" fmla="*/ 34 h 99"/>
                <a:gd name="T58" fmla="*/ 23 w 200"/>
                <a:gd name="T59" fmla="*/ 48 h 99"/>
                <a:gd name="T60" fmla="*/ 15 w 200"/>
                <a:gd name="T61" fmla="*/ 65 h 99"/>
                <a:gd name="T62" fmla="*/ 9 w 200"/>
                <a:gd name="T63" fmla="*/ 78 h 99"/>
                <a:gd name="T64" fmla="*/ 9 w 200"/>
                <a:gd name="T65" fmla="*/ 98 h 9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0"/>
                <a:gd name="T100" fmla="*/ 0 h 99"/>
                <a:gd name="T101" fmla="*/ 200 w 200"/>
                <a:gd name="T102" fmla="*/ 99 h 9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0" h="99">
                  <a:moveTo>
                    <a:pt x="0" y="98"/>
                  </a:moveTo>
                  <a:lnTo>
                    <a:pt x="0" y="87"/>
                  </a:lnTo>
                  <a:lnTo>
                    <a:pt x="0" y="78"/>
                  </a:lnTo>
                  <a:lnTo>
                    <a:pt x="3" y="68"/>
                  </a:lnTo>
                  <a:lnTo>
                    <a:pt x="6" y="59"/>
                  </a:lnTo>
                  <a:lnTo>
                    <a:pt x="12" y="51"/>
                  </a:lnTo>
                  <a:lnTo>
                    <a:pt x="17" y="42"/>
                  </a:lnTo>
                  <a:lnTo>
                    <a:pt x="23" y="37"/>
                  </a:lnTo>
                  <a:lnTo>
                    <a:pt x="29" y="28"/>
                  </a:lnTo>
                  <a:lnTo>
                    <a:pt x="35" y="23"/>
                  </a:lnTo>
                  <a:lnTo>
                    <a:pt x="44" y="17"/>
                  </a:lnTo>
                  <a:lnTo>
                    <a:pt x="52" y="11"/>
                  </a:lnTo>
                  <a:lnTo>
                    <a:pt x="60" y="8"/>
                  </a:lnTo>
                  <a:lnTo>
                    <a:pt x="69" y="6"/>
                  </a:lnTo>
                  <a:lnTo>
                    <a:pt x="78" y="3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18" y="3"/>
                  </a:lnTo>
                  <a:lnTo>
                    <a:pt x="130" y="6"/>
                  </a:lnTo>
                  <a:lnTo>
                    <a:pt x="138" y="8"/>
                  </a:lnTo>
                  <a:lnTo>
                    <a:pt x="147" y="11"/>
                  </a:lnTo>
                  <a:lnTo>
                    <a:pt x="155" y="17"/>
                  </a:lnTo>
                  <a:lnTo>
                    <a:pt x="161" y="23"/>
                  </a:lnTo>
                  <a:lnTo>
                    <a:pt x="170" y="28"/>
                  </a:lnTo>
                  <a:lnTo>
                    <a:pt x="176" y="37"/>
                  </a:lnTo>
                  <a:lnTo>
                    <a:pt x="182" y="42"/>
                  </a:lnTo>
                  <a:lnTo>
                    <a:pt x="187" y="51"/>
                  </a:lnTo>
                  <a:lnTo>
                    <a:pt x="190" y="59"/>
                  </a:lnTo>
                  <a:lnTo>
                    <a:pt x="193" y="68"/>
                  </a:lnTo>
                  <a:lnTo>
                    <a:pt x="196" y="78"/>
                  </a:lnTo>
                  <a:lnTo>
                    <a:pt x="199" y="87"/>
                  </a:lnTo>
                  <a:lnTo>
                    <a:pt x="199" y="98"/>
                  </a:lnTo>
                  <a:lnTo>
                    <a:pt x="190" y="98"/>
                  </a:lnTo>
                  <a:lnTo>
                    <a:pt x="190" y="90"/>
                  </a:lnTo>
                  <a:lnTo>
                    <a:pt x="187" y="78"/>
                  </a:lnTo>
                  <a:lnTo>
                    <a:pt x="184" y="71"/>
                  </a:lnTo>
                  <a:lnTo>
                    <a:pt x="182" y="65"/>
                  </a:lnTo>
                  <a:lnTo>
                    <a:pt x="179" y="57"/>
                  </a:lnTo>
                  <a:lnTo>
                    <a:pt x="173" y="48"/>
                  </a:lnTo>
                  <a:lnTo>
                    <a:pt x="170" y="42"/>
                  </a:lnTo>
                  <a:lnTo>
                    <a:pt x="164" y="34"/>
                  </a:lnTo>
                  <a:lnTo>
                    <a:pt x="155" y="28"/>
                  </a:lnTo>
                  <a:lnTo>
                    <a:pt x="149" y="25"/>
                  </a:lnTo>
                  <a:lnTo>
                    <a:pt x="141" y="20"/>
                  </a:lnTo>
                  <a:lnTo>
                    <a:pt x="133" y="17"/>
                  </a:lnTo>
                  <a:lnTo>
                    <a:pt x="127" y="14"/>
                  </a:lnTo>
                  <a:lnTo>
                    <a:pt x="118" y="11"/>
                  </a:lnTo>
                  <a:lnTo>
                    <a:pt x="107" y="8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1" y="11"/>
                  </a:lnTo>
                  <a:lnTo>
                    <a:pt x="72" y="14"/>
                  </a:lnTo>
                  <a:lnTo>
                    <a:pt x="63" y="17"/>
                  </a:lnTo>
                  <a:lnTo>
                    <a:pt x="54" y="20"/>
                  </a:lnTo>
                  <a:lnTo>
                    <a:pt x="50" y="25"/>
                  </a:lnTo>
                  <a:lnTo>
                    <a:pt x="41" y="28"/>
                  </a:lnTo>
                  <a:lnTo>
                    <a:pt x="35" y="34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20" y="57"/>
                  </a:lnTo>
                  <a:lnTo>
                    <a:pt x="15" y="65"/>
                  </a:lnTo>
                  <a:lnTo>
                    <a:pt x="12" y="71"/>
                  </a:lnTo>
                  <a:lnTo>
                    <a:pt x="9" y="78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0" y="98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3" name="Freeform 187">
              <a:extLst>
                <a:ext uri="{FF2B5EF4-FFF2-40B4-BE49-F238E27FC236}">
                  <a16:creationId xmlns:a16="http://schemas.microsoft.com/office/drawing/2014/main" id="{C3865837-7B2E-4384-87C6-BC2459709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802"/>
              <a:ext cx="200" cy="96"/>
            </a:xfrm>
            <a:custGeom>
              <a:avLst/>
              <a:gdLst>
                <a:gd name="T0" fmla="*/ 0 w 200"/>
                <a:gd name="T1" fmla="*/ 0 h 96"/>
                <a:gd name="T2" fmla="*/ 0 w 200"/>
                <a:gd name="T3" fmla="*/ 20 h 96"/>
                <a:gd name="T4" fmla="*/ 6 w 200"/>
                <a:gd name="T5" fmla="*/ 37 h 96"/>
                <a:gd name="T6" fmla="*/ 17 w 200"/>
                <a:gd name="T7" fmla="*/ 54 h 96"/>
                <a:gd name="T8" fmla="*/ 29 w 200"/>
                <a:gd name="T9" fmla="*/ 67 h 96"/>
                <a:gd name="T10" fmla="*/ 44 w 200"/>
                <a:gd name="T11" fmla="*/ 78 h 96"/>
                <a:gd name="T12" fmla="*/ 60 w 200"/>
                <a:gd name="T13" fmla="*/ 89 h 96"/>
                <a:gd name="T14" fmla="*/ 78 w 200"/>
                <a:gd name="T15" fmla="*/ 95 h 96"/>
                <a:gd name="T16" fmla="*/ 98 w 200"/>
                <a:gd name="T17" fmla="*/ 95 h 96"/>
                <a:gd name="T18" fmla="*/ 118 w 200"/>
                <a:gd name="T19" fmla="*/ 95 h 96"/>
                <a:gd name="T20" fmla="*/ 138 w 200"/>
                <a:gd name="T21" fmla="*/ 89 h 96"/>
                <a:gd name="T22" fmla="*/ 155 w 200"/>
                <a:gd name="T23" fmla="*/ 78 h 96"/>
                <a:gd name="T24" fmla="*/ 170 w 200"/>
                <a:gd name="T25" fmla="*/ 67 h 96"/>
                <a:gd name="T26" fmla="*/ 182 w 200"/>
                <a:gd name="T27" fmla="*/ 54 h 96"/>
                <a:gd name="T28" fmla="*/ 190 w 200"/>
                <a:gd name="T29" fmla="*/ 37 h 96"/>
                <a:gd name="T30" fmla="*/ 196 w 200"/>
                <a:gd name="T31" fmla="*/ 20 h 96"/>
                <a:gd name="T32" fmla="*/ 199 w 200"/>
                <a:gd name="T33" fmla="*/ 0 h 96"/>
                <a:gd name="T34" fmla="*/ 190 w 200"/>
                <a:gd name="T35" fmla="*/ 8 h 96"/>
                <a:gd name="T36" fmla="*/ 184 w 200"/>
                <a:gd name="T37" fmla="*/ 25 h 96"/>
                <a:gd name="T38" fmla="*/ 179 w 200"/>
                <a:gd name="T39" fmla="*/ 42 h 96"/>
                <a:gd name="T40" fmla="*/ 170 w 200"/>
                <a:gd name="T41" fmla="*/ 55 h 96"/>
                <a:gd name="T42" fmla="*/ 155 w 200"/>
                <a:gd name="T43" fmla="*/ 67 h 96"/>
                <a:gd name="T44" fmla="*/ 141 w 200"/>
                <a:gd name="T45" fmla="*/ 75 h 96"/>
                <a:gd name="T46" fmla="*/ 127 w 200"/>
                <a:gd name="T47" fmla="*/ 84 h 96"/>
                <a:gd name="T48" fmla="*/ 107 w 200"/>
                <a:gd name="T49" fmla="*/ 87 h 96"/>
                <a:gd name="T50" fmla="*/ 89 w 200"/>
                <a:gd name="T51" fmla="*/ 87 h 96"/>
                <a:gd name="T52" fmla="*/ 72 w 200"/>
                <a:gd name="T53" fmla="*/ 84 h 96"/>
                <a:gd name="T54" fmla="*/ 54 w 200"/>
                <a:gd name="T55" fmla="*/ 75 h 96"/>
                <a:gd name="T56" fmla="*/ 41 w 200"/>
                <a:gd name="T57" fmla="*/ 67 h 96"/>
                <a:gd name="T58" fmla="*/ 29 w 200"/>
                <a:gd name="T59" fmla="*/ 55 h 96"/>
                <a:gd name="T60" fmla="*/ 20 w 200"/>
                <a:gd name="T61" fmla="*/ 42 h 96"/>
                <a:gd name="T62" fmla="*/ 12 w 200"/>
                <a:gd name="T63" fmla="*/ 25 h 96"/>
                <a:gd name="T64" fmla="*/ 9 w 200"/>
                <a:gd name="T65" fmla="*/ 8 h 96"/>
                <a:gd name="T66" fmla="*/ 0 w 200"/>
                <a:gd name="T67" fmla="*/ 0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0"/>
                <a:gd name="T103" fmla="*/ 0 h 96"/>
                <a:gd name="T104" fmla="*/ 200 w 200"/>
                <a:gd name="T105" fmla="*/ 96 h 9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0" h="96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20"/>
                  </a:lnTo>
                  <a:lnTo>
                    <a:pt x="3" y="28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54"/>
                  </a:lnTo>
                  <a:lnTo>
                    <a:pt x="23" y="61"/>
                  </a:lnTo>
                  <a:lnTo>
                    <a:pt x="29" y="67"/>
                  </a:lnTo>
                  <a:lnTo>
                    <a:pt x="35" y="75"/>
                  </a:lnTo>
                  <a:lnTo>
                    <a:pt x="44" y="78"/>
                  </a:lnTo>
                  <a:lnTo>
                    <a:pt x="52" y="84"/>
                  </a:lnTo>
                  <a:lnTo>
                    <a:pt x="60" y="89"/>
                  </a:lnTo>
                  <a:lnTo>
                    <a:pt x="69" y="92"/>
                  </a:lnTo>
                  <a:lnTo>
                    <a:pt x="78" y="95"/>
                  </a:lnTo>
                  <a:lnTo>
                    <a:pt x="89" y="95"/>
                  </a:lnTo>
                  <a:lnTo>
                    <a:pt x="98" y="95"/>
                  </a:lnTo>
                  <a:lnTo>
                    <a:pt x="110" y="95"/>
                  </a:lnTo>
                  <a:lnTo>
                    <a:pt x="118" y="95"/>
                  </a:lnTo>
                  <a:lnTo>
                    <a:pt x="130" y="92"/>
                  </a:lnTo>
                  <a:lnTo>
                    <a:pt x="138" y="89"/>
                  </a:lnTo>
                  <a:lnTo>
                    <a:pt x="147" y="84"/>
                  </a:lnTo>
                  <a:lnTo>
                    <a:pt x="155" y="78"/>
                  </a:lnTo>
                  <a:lnTo>
                    <a:pt x="161" y="75"/>
                  </a:lnTo>
                  <a:lnTo>
                    <a:pt x="170" y="67"/>
                  </a:lnTo>
                  <a:lnTo>
                    <a:pt x="176" y="61"/>
                  </a:lnTo>
                  <a:lnTo>
                    <a:pt x="182" y="54"/>
                  </a:lnTo>
                  <a:lnTo>
                    <a:pt x="187" y="45"/>
                  </a:lnTo>
                  <a:lnTo>
                    <a:pt x="190" y="37"/>
                  </a:lnTo>
                  <a:lnTo>
                    <a:pt x="193" y="28"/>
                  </a:lnTo>
                  <a:lnTo>
                    <a:pt x="196" y="20"/>
                  </a:lnTo>
                  <a:lnTo>
                    <a:pt x="199" y="8"/>
                  </a:lnTo>
                  <a:lnTo>
                    <a:pt x="199" y="0"/>
                  </a:lnTo>
                  <a:lnTo>
                    <a:pt x="190" y="0"/>
                  </a:lnTo>
                  <a:lnTo>
                    <a:pt x="190" y="8"/>
                  </a:lnTo>
                  <a:lnTo>
                    <a:pt x="187" y="17"/>
                  </a:lnTo>
                  <a:lnTo>
                    <a:pt x="184" y="25"/>
                  </a:lnTo>
                  <a:lnTo>
                    <a:pt x="182" y="34"/>
                  </a:lnTo>
                  <a:lnTo>
                    <a:pt x="179" y="42"/>
                  </a:lnTo>
                  <a:lnTo>
                    <a:pt x="173" y="48"/>
                  </a:lnTo>
                  <a:lnTo>
                    <a:pt x="170" y="55"/>
                  </a:lnTo>
                  <a:lnTo>
                    <a:pt x="164" y="61"/>
                  </a:lnTo>
                  <a:lnTo>
                    <a:pt x="155" y="67"/>
                  </a:lnTo>
                  <a:lnTo>
                    <a:pt x="149" y="72"/>
                  </a:lnTo>
                  <a:lnTo>
                    <a:pt x="141" y="75"/>
                  </a:lnTo>
                  <a:lnTo>
                    <a:pt x="133" y="81"/>
                  </a:lnTo>
                  <a:lnTo>
                    <a:pt x="127" y="84"/>
                  </a:lnTo>
                  <a:lnTo>
                    <a:pt x="118" y="87"/>
                  </a:lnTo>
                  <a:lnTo>
                    <a:pt x="107" y="87"/>
                  </a:lnTo>
                  <a:lnTo>
                    <a:pt x="98" y="87"/>
                  </a:lnTo>
                  <a:lnTo>
                    <a:pt x="89" y="87"/>
                  </a:lnTo>
                  <a:lnTo>
                    <a:pt x="81" y="87"/>
                  </a:lnTo>
                  <a:lnTo>
                    <a:pt x="72" y="84"/>
                  </a:lnTo>
                  <a:lnTo>
                    <a:pt x="63" y="81"/>
                  </a:lnTo>
                  <a:lnTo>
                    <a:pt x="54" y="75"/>
                  </a:lnTo>
                  <a:lnTo>
                    <a:pt x="50" y="72"/>
                  </a:lnTo>
                  <a:lnTo>
                    <a:pt x="41" y="67"/>
                  </a:lnTo>
                  <a:lnTo>
                    <a:pt x="35" y="61"/>
                  </a:lnTo>
                  <a:lnTo>
                    <a:pt x="29" y="55"/>
                  </a:lnTo>
                  <a:lnTo>
                    <a:pt x="23" y="48"/>
                  </a:lnTo>
                  <a:lnTo>
                    <a:pt x="20" y="42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4" name="Freeform 188">
              <a:extLst>
                <a:ext uri="{FF2B5EF4-FFF2-40B4-BE49-F238E27FC236}">
                  <a16:creationId xmlns:a16="http://schemas.microsoft.com/office/drawing/2014/main" id="{3DFC066E-9015-4724-AE1C-9E48CEA5E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707"/>
              <a:ext cx="182" cy="90"/>
            </a:xfrm>
            <a:custGeom>
              <a:avLst/>
              <a:gdLst>
                <a:gd name="T0" fmla="*/ 0 w 182"/>
                <a:gd name="T1" fmla="*/ 81 h 90"/>
                <a:gd name="T2" fmla="*/ 3 w 182"/>
                <a:gd name="T3" fmla="*/ 62 h 90"/>
                <a:gd name="T4" fmla="*/ 12 w 182"/>
                <a:gd name="T5" fmla="*/ 48 h 90"/>
                <a:gd name="T6" fmla="*/ 20 w 182"/>
                <a:gd name="T7" fmla="*/ 34 h 90"/>
                <a:gd name="T8" fmla="*/ 32 w 182"/>
                <a:gd name="T9" fmla="*/ 20 h 90"/>
                <a:gd name="T10" fmla="*/ 45 w 182"/>
                <a:gd name="T11" fmla="*/ 11 h 90"/>
                <a:gd name="T12" fmla="*/ 63 w 182"/>
                <a:gd name="T13" fmla="*/ 6 h 90"/>
                <a:gd name="T14" fmla="*/ 80 w 182"/>
                <a:gd name="T15" fmla="*/ 0 h 90"/>
                <a:gd name="T16" fmla="*/ 98 w 182"/>
                <a:gd name="T17" fmla="*/ 0 h 90"/>
                <a:gd name="T18" fmla="*/ 118 w 182"/>
                <a:gd name="T19" fmla="*/ 6 h 90"/>
                <a:gd name="T20" fmla="*/ 132 w 182"/>
                <a:gd name="T21" fmla="*/ 11 h 90"/>
                <a:gd name="T22" fmla="*/ 146 w 182"/>
                <a:gd name="T23" fmla="*/ 20 h 90"/>
                <a:gd name="T24" fmla="*/ 161 w 182"/>
                <a:gd name="T25" fmla="*/ 34 h 90"/>
                <a:gd name="T26" fmla="*/ 169 w 182"/>
                <a:gd name="T27" fmla="*/ 48 h 90"/>
                <a:gd name="T28" fmla="*/ 175 w 182"/>
                <a:gd name="T29" fmla="*/ 62 h 90"/>
                <a:gd name="T30" fmla="*/ 181 w 182"/>
                <a:gd name="T31" fmla="*/ 81 h 90"/>
                <a:gd name="T32" fmla="*/ 172 w 182"/>
                <a:gd name="T33" fmla="*/ 89 h 90"/>
                <a:gd name="T34" fmla="*/ 169 w 182"/>
                <a:gd name="T35" fmla="*/ 72 h 90"/>
                <a:gd name="T36" fmla="*/ 164 w 182"/>
                <a:gd name="T37" fmla="*/ 59 h 90"/>
                <a:gd name="T38" fmla="*/ 158 w 182"/>
                <a:gd name="T39" fmla="*/ 45 h 90"/>
                <a:gd name="T40" fmla="*/ 146 w 182"/>
                <a:gd name="T41" fmla="*/ 34 h 90"/>
                <a:gd name="T42" fmla="*/ 135 w 182"/>
                <a:gd name="T43" fmla="*/ 22 h 90"/>
                <a:gd name="T44" fmla="*/ 121 w 182"/>
                <a:gd name="T45" fmla="*/ 17 h 90"/>
                <a:gd name="T46" fmla="*/ 106 w 182"/>
                <a:gd name="T47" fmla="*/ 11 h 90"/>
                <a:gd name="T48" fmla="*/ 89 w 182"/>
                <a:gd name="T49" fmla="*/ 8 h 90"/>
                <a:gd name="T50" fmla="*/ 72 w 182"/>
                <a:gd name="T51" fmla="*/ 11 h 90"/>
                <a:gd name="T52" fmla="*/ 57 w 182"/>
                <a:gd name="T53" fmla="*/ 17 h 90"/>
                <a:gd name="T54" fmla="*/ 44 w 182"/>
                <a:gd name="T55" fmla="*/ 22 h 90"/>
                <a:gd name="T56" fmla="*/ 32 w 182"/>
                <a:gd name="T57" fmla="*/ 34 h 90"/>
                <a:gd name="T58" fmla="*/ 23 w 182"/>
                <a:gd name="T59" fmla="*/ 45 h 90"/>
                <a:gd name="T60" fmla="*/ 15 w 182"/>
                <a:gd name="T61" fmla="*/ 59 h 90"/>
                <a:gd name="T62" fmla="*/ 9 w 182"/>
                <a:gd name="T63" fmla="*/ 72 h 90"/>
                <a:gd name="T64" fmla="*/ 9 w 182"/>
                <a:gd name="T65" fmla="*/ 89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2"/>
                <a:gd name="T100" fmla="*/ 0 h 90"/>
                <a:gd name="T101" fmla="*/ 182 w 182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2" h="90">
                  <a:moveTo>
                    <a:pt x="0" y="89"/>
                  </a:moveTo>
                  <a:lnTo>
                    <a:pt x="0" y="81"/>
                  </a:lnTo>
                  <a:lnTo>
                    <a:pt x="0" y="69"/>
                  </a:lnTo>
                  <a:lnTo>
                    <a:pt x="3" y="62"/>
                  </a:lnTo>
                  <a:lnTo>
                    <a:pt x="6" y="56"/>
                  </a:lnTo>
                  <a:lnTo>
                    <a:pt x="12" y="48"/>
                  </a:lnTo>
                  <a:lnTo>
                    <a:pt x="15" y="39"/>
                  </a:lnTo>
                  <a:lnTo>
                    <a:pt x="20" y="34"/>
                  </a:lnTo>
                  <a:lnTo>
                    <a:pt x="26" y="25"/>
                  </a:lnTo>
                  <a:lnTo>
                    <a:pt x="32" y="20"/>
                  </a:lnTo>
                  <a:lnTo>
                    <a:pt x="41" y="17"/>
                  </a:lnTo>
                  <a:lnTo>
                    <a:pt x="45" y="11"/>
                  </a:lnTo>
                  <a:lnTo>
                    <a:pt x="54" y="8"/>
                  </a:lnTo>
                  <a:lnTo>
                    <a:pt x="63" y="6"/>
                  </a:lnTo>
                  <a:lnTo>
                    <a:pt x="72" y="3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9" y="3"/>
                  </a:lnTo>
                  <a:lnTo>
                    <a:pt x="118" y="6"/>
                  </a:lnTo>
                  <a:lnTo>
                    <a:pt x="124" y="8"/>
                  </a:lnTo>
                  <a:lnTo>
                    <a:pt x="132" y="11"/>
                  </a:lnTo>
                  <a:lnTo>
                    <a:pt x="140" y="17"/>
                  </a:lnTo>
                  <a:lnTo>
                    <a:pt x="146" y="20"/>
                  </a:lnTo>
                  <a:lnTo>
                    <a:pt x="155" y="25"/>
                  </a:lnTo>
                  <a:lnTo>
                    <a:pt x="161" y="34"/>
                  </a:lnTo>
                  <a:lnTo>
                    <a:pt x="164" y="39"/>
                  </a:lnTo>
                  <a:lnTo>
                    <a:pt x="169" y="48"/>
                  </a:lnTo>
                  <a:lnTo>
                    <a:pt x="172" y="56"/>
                  </a:lnTo>
                  <a:lnTo>
                    <a:pt x="175" y="62"/>
                  </a:lnTo>
                  <a:lnTo>
                    <a:pt x="178" y="69"/>
                  </a:lnTo>
                  <a:lnTo>
                    <a:pt x="181" y="81"/>
                  </a:lnTo>
                  <a:lnTo>
                    <a:pt x="181" y="89"/>
                  </a:lnTo>
                  <a:lnTo>
                    <a:pt x="172" y="89"/>
                  </a:lnTo>
                  <a:lnTo>
                    <a:pt x="172" y="81"/>
                  </a:lnTo>
                  <a:lnTo>
                    <a:pt x="169" y="72"/>
                  </a:lnTo>
                  <a:lnTo>
                    <a:pt x="166" y="64"/>
                  </a:lnTo>
                  <a:lnTo>
                    <a:pt x="164" y="59"/>
                  </a:lnTo>
                  <a:lnTo>
                    <a:pt x="161" y="51"/>
                  </a:lnTo>
                  <a:lnTo>
                    <a:pt x="158" y="45"/>
                  </a:lnTo>
                  <a:lnTo>
                    <a:pt x="152" y="39"/>
                  </a:lnTo>
                  <a:lnTo>
                    <a:pt x="146" y="34"/>
                  </a:lnTo>
                  <a:lnTo>
                    <a:pt x="140" y="28"/>
                  </a:lnTo>
                  <a:lnTo>
                    <a:pt x="135" y="22"/>
                  </a:lnTo>
                  <a:lnTo>
                    <a:pt x="129" y="20"/>
                  </a:lnTo>
                  <a:lnTo>
                    <a:pt x="121" y="17"/>
                  </a:lnTo>
                  <a:lnTo>
                    <a:pt x="115" y="14"/>
                  </a:lnTo>
                  <a:lnTo>
                    <a:pt x="106" y="11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0" y="8"/>
                  </a:lnTo>
                  <a:lnTo>
                    <a:pt x="72" y="11"/>
                  </a:lnTo>
                  <a:lnTo>
                    <a:pt x="66" y="14"/>
                  </a:lnTo>
                  <a:lnTo>
                    <a:pt x="57" y="17"/>
                  </a:lnTo>
                  <a:lnTo>
                    <a:pt x="51" y="20"/>
                  </a:lnTo>
                  <a:lnTo>
                    <a:pt x="44" y="22"/>
                  </a:lnTo>
                  <a:lnTo>
                    <a:pt x="38" y="28"/>
                  </a:lnTo>
                  <a:lnTo>
                    <a:pt x="32" y="34"/>
                  </a:lnTo>
                  <a:lnTo>
                    <a:pt x="26" y="39"/>
                  </a:lnTo>
                  <a:lnTo>
                    <a:pt x="23" y="45"/>
                  </a:lnTo>
                  <a:lnTo>
                    <a:pt x="17" y="51"/>
                  </a:lnTo>
                  <a:lnTo>
                    <a:pt x="15" y="59"/>
                  </a:lnTo>
                  <a:lnTo>
                    <a:pt x="12" y="64"/>
                  </a:lnTo>
                  <a:lnTo>
                    <a:pt x="9" y="72"/>
                  </a:lnTo>
                  <a:lnTo>
                    <a:pt x="9" y="81"/>
                  </a:lnTo>
                  <a:lnTo>
                    <a:pt x="9" y="89"/>
                  </a:lnTo>
                  <a:lnTo>
                    <a:pt x="0" y="89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5" name="Freeform 189">
              <a:extLst>
                <a:ext uri="{FF2B5EF4-FFF2-40B4-BE49-F238E27FC236}">
                  <a16:creationId xmlns:a16="http://schemas.microsoft.com/office/drawing/2014/main" id="{EBBFB51B-7B7F-4F2C-A660-DC0F6A92A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802"/>
              <a:ext cx="182" cy="87"/>
            </a:xfrm>
            <a:custGeom>
              <a:avLst/>
              <a:gdLst>
                <a:gd name="T0" fmla="*/ 0 w 182"/>
                <a:gd name="T1" fmla="*/ 0 h 87"/>
                <a:gd name="T2" fmla="*/ 0 w 182"/>
                <a:gd name="T3" fmla="*/ 17 h 87"/>
                <a:gd name="T4" fmla="*/ 6 w 182"/>
                <a:gd name="T5" fmla="*/ 34 h 87"/>
                <a:gd name="T6" fmla="*/ 15 w 182"/>
                <a:gd name="T7" fmla="*/ 48 h 87"/>
                <a:gd name="T8" fmla="*/ 26 w 182"/>
                <a:gd name="T9" fmla="*/ 61 h 87"/>
                <a:gd name="T10" fmla="*/ 41 w 182"/>
                <a:gd name="T11" fmla="*/ 72 h 87"/>
                <a:gd name="T12" fmla="*/ 54 w 182"/>
                <a:gd name="T13" fmla="*/ 80 h 87"/>
                <a:gd name="T14" fmla="*/ 72 w 182"/>
                <a:gd name="T15" fmla="*/ 86 h 87"/>
                <a:gd name="T16" fmla="*/ 89 w 182"/>
                <a:gd name="T17" fmla="*/ 86 h 87"/>
                <a:gd name="T18" fmla="*/ 109 w 182"/>
                <a:gd name="T19" fmla="*/ 86 h 87"/>
                <a:gd name="T20" fmla="*/ 124 w 182"/>
                <a:gd name="T21" fmla="*/ 80 h 87"/>
                <a:gd name="T22" fmla="*/ 140 w 182"/>
                <a:gd name="T23" fmla="*/ 72 h 87"/>
                <a:gd name="T24" fmla="*/ 155 w 182"/>
                <a:gd name="T25" fmla="*/ 61 h 87"/>
                <a:gd name="T26" fmla="*/ 164 w 182"/>
                <a:gd name="T27" fmla="*/ 48 h 87"/>
                <a:gd name="T28" fmla="*/ 172 w 182"/>
                <a:gd name="T29" fmla="*/ 34 h 87"/>
                <a:gd name="T30" fmla="*/ 178 w 182"/>
                <a:gd name="T31" fmla="*/ 17 h 87"/>
                <a:gd name="T32" fmla="*/ 181 w 182"/>
                <a:gd name="T33" fmla="*/ 0 h 87"/>
                <a:gd name="T34" fmla="*/ 172 w 182"/>
                <a:gd name="T35" fmla="*/ 8 h 87"/>
                <a:gd name="T36" fmla="*/ 166 w 182"/>
                <a:gd name="T37" fmla="*/ 22 h 87"/>
                <a:gd name="T38" fmla="*/ 161 w 182"/>
                <a:gd name="T39" fmla="*/ 36 h 87"/>
                <a:gd name="T40" fmla="*/ 152 w 182"/>
                <a:gd name="T41" fmla="*/ 50 h 87"/>
                <a:gd name="T42" fmla="*/ 140 w 182"/>
                <a:gd name="T43" fmla="*/ 61 h 87"/>
                <a:gd name="T44" fmla="*/ 129 w 182"/>
                <a:gd name="T45" fmla="*/ 69 h 87"/>
                <a:gd name="T46" fmla="*/ 115 w 182"/>
                <a:gd name="T47" fmla="*/ 75 h 87"/>
                <a:gd name="T48" fmla="*/ 98 w 182"/>
                <a:gd name="T49" fmla="*/ 78 h 87"/>
                <a:gd name="T50" fmla="*/ 80 w 182"/>
                <a:gd name="T51" fmla="*/ 78 h 87"/>
                <a:gd name="T52" fmla="*/ 66 w 182"/>
                <a:gd name="T53" fmla="*/ 75 h 87"/>
                <a:gd name="T54" fmla="*/ 51 w 182"/>
                <a:gd name="T55" fmla="*/ 69 h 87"/>
                <a:gd name="T56" fmla="*/ 38 w 182"/>
                <a:gd name="T57" fmla="*/ 61 h 87"/>
                <a:gd name="T58" fmla="*/ 26 w 182"/>
                <a:gd name="T59" fmla="*/ 50 h 87"/>
                <a:gd name="T60" fmla="*/ 17 w 182"/>
                <a:gd name="T61" fmla="*/ 36 h 87"/>
                <a:gd name="T62" fmla="*/ 12 w 182"/>
                <a:gd name="T63" fmla="*/ 22 h 87"/>
                <a:gd name="T64" fmla="*/ 9 w 182"/>
                <a:gd name="T65" fmla="*/ 8 h 87"/>
                <a:gd name="T66" fmla="*/ 0 w 182"/>
                <a:gd name="T67" fmla="*/ 0 h 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2"/>
                <a:gd name="T103" fmla="*/ 0 h 87"/>
                <a:gd name="T104" fmla="*/ 182 w 182"/>
                <a:gd name="T105" fmla="*/ 87 h 8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2" h="87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5"/>
                  </a:lnTo>
                  <a:lnTo>
                    <a:pt x="6" y="34"/>
                  </a:lnTo>
                  <a:lnTo>
                    <a:pt x="12" y="42"/>
                  </a:lnTo>
                  <a:lnTo>
                    <a:pt x="15" y="48"/>
                  </a:lnTo>
                  <a:lnTo>
                    <a:pt x="20" y="55"/>
                  </a:lnTo>
                  <a:lnTo>
                    <a:pt x="26" y="61"/>
                  </a:lnTo>
                  <a:lnTo>
                    <a:pt x="32" y="66"/>
                  </a:lnTo>
                  <a:lnTo>
                    <a:pt x="41" y="72"/>
                  </a:lnTo>
                  <a:lnTo>
                    <a:pt x="45" y="75"/>
                  </a:lnTo>
                  <a:lnTo>
                    <a:pt x="54" y="80"/>
                  </a:lnTo>
                  <a:lnTo>
                    <a:pt x="63" y="83"/>
                  </a:lnTo>
                  <a:lnTo>
                    <a:pt x="72" y="86"/>
                  </a:lnTo>
                  <a:lnTo>
                    <a:pt x="80" y="86"/>
                  </a:lnTo>
                  <a:lnTo>
                    <a:pt x="89" y="86"/>
                  </a:lnTo>
                  <a:lnTo>
                    <a:pt x="98" y="86"/>
                  </a:lnTo>
                  <a:lnTo>
                    <a:pt x="109" y="86"/>
                  </a:lnTo>
                  <a:lnTo>
                    <a:pt x="118" y="83"/>
                  </a:lnTo>
                  <a:lnTo>
                    <a:pt x="124" y="80"/>
                  </a:lnTo>
                  <a:lnTo>
                    <a:pt x="132" y="75"/>
                  </a:lnTo>
                  <a:lnTo>
                    <a:pt x="140" y="72"/>
                  </a:lnTo>
                  <a:lnTo>
                    <a:pt x="146" y="66"/>
                  </a:lnTo>
                  <a:lnTo>
                    <a:pt x="155" y="61"/>
                  </a:lnTo>
                  <a:lnTo>
                    <a:pt x="161" y="55"/>
                  </a:lnTo>
                  <a:lnTo>
                    <a:pt x="164" y="48"/>
                  </a:lnTo>
                  <a:lnTo>
                    <a:pt x="169" y="42"/>
                  </a:lnTo>
                  <a:lnTo>
                    <a:pt x="172" y="34"/>
                  </a:lnTo>
                  <a:lnTo>
                    <a:pt x="175" y="25"/>
                  </a:lnTo>
                  <a:lnTo>
                    <a:pt x="178" y="17"/>
                  </a:lnTo>
                  <a:lnTo>
                    <a:pt x="181" y="8"/>
                  </a:lnTo>
                  <a:lnTo>
                    <a:pt x="181" y="0"/>
                  </a:lnTo>
                  <a:lnTo>
                    <a:pt x="172" y="0"/>
                  </a:lnTo>
                  <a:lnTo>
                    <a:pt x="172" y="8"/>
                  </a:lnTo>
                  <a:lnTo>
                    <a:pt x="169" y="17"/>
                  </a:lnTo>
                  <a:lnTo>
                    <a:pt x="166" y="22"/>
                  </a:lnTo>
                  <a:lnTo>
                    <a:pt x="164" y="31"/>
                  </a:lnTo>
                  <a:lnTo>
                    <a:pt x="161" y="36"/>
                  </a:lnTo>
                  <a:lnTo>
                    <a:pt x="158" y="45"/>
                  </a:lnTo>
                  <a:lnTo>
                    <a:pt x="152" y="50"/>
                  </a:lnTo>
                  <a:lnTo>
                    <a:pt x="146" y="55"/>
                  </a:lnTo>
                  <a:lnTo>
                    <a:pt x="140" y="61"/>
                  </a:lnTo>
                  <a:lnTo>
                    <a:pt x="135" y="64"/>
                  </a:lnTo>
                  <a:lnTo>
                    <a:pt x="129" y="69"/>
                  </a:lnTo>
                  <a:lnTo>
                    <a:pt x="121" y="72"/>
                  </a:lnTo>
                  <a:lnTo>
                    <a:pt x="115" y="75"/>
                  </a:lnTo>
                  <a:lnTo>
                    <a:pt x="106" y="78"/>
                  </a:lnTo>
                  <a:lnTo>
                    <a:pt x="98" y="78"/>
                  </a:lnTo>
                  <a:lnTo>
                    <a:pt x="89" y="78"/>
                  </a:lnTo>
                  <a:lnTo>
                    <a:pt x="80" y="78"/>
                  </a:lnTo>
                  <a:lnTo>
                    <a:pt x="72" y="78"/>
                  </a:lnTo>
                  <a:lnTo>
                    <a:pt x="66" y="75"/>
                  </a:lnTo>
                  <a:lnTo>
                    <a:pt x="57" y="72"/>
                  </a:lnTo>
                  <a:lnTo>
                    <a:pt x="51" y="69"/>
                  </a:lnTo>
                  <a:lnTo>
                    <a:pt x="44" y="64"/>
                  </a:lnTo>
                  <a:lnTo>
                    <a:pt x="38" y="61"/>
                  </a:lnTo>
                  <a:lnTo>
                    <a:pt x="32" y="55"/>
                  </a:lnTo>
                  <a:lnTo>
                    <a:pt x="26" y="50"/>
                  </a:lnTo>
                  <a:lnTo>
                    <a:pt x="23" y="45"/>
                  </a:lnTo>
                  <a:lnTo>
                    <a:pt x="17" y="36"/>
                  </a:lnTo>
                  <a:lnTo>
                    <a:pt x="15" y="31"/>
                  </a:lnTo>
                  <a:lnTo>
                    <a:pt x="12" y="22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6" name="Freeform 190">
              <a:extLst>
                <a:ext uri="{FF2B5EF4-FFF2-40B4-BE49-F238E27FC236}">
                  <a16:creationId xmlns:a16="http://schemas.microsoft.com/office/drawing/2014/main" id="{7E8BD471-7847-4160-B4FB-2B46BB3CA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716"/>
              <a:ext cx="164" cy="81"/>
            </a:xfrm>
            <a:custGeom>
              <a:avLst/>
              <a:gdLst>
                <a:gd name="T0" fmla="*/ 0 w 164"/>
                <a:gd name="T1" fmla="*/ 72 h 81"/>
                <a:gd name="T2" fmla="*/ 3 w 164"/>
                <a:gd name="T3" fmla="*/ 55 h 81"/>
                <a:gd name="T4" fmla="*/ 9 w 164"/>
                <a:gd name="T5" fmla="*/ 42 h 81"/>
                <a:gd name="T6" fmla="*/ 17 w 164"/>
                <a:gd name="T7" fmla="*/ 31 h 81"/>
                <a:gd name="T8" fmla="*/ 29 w 164"/>
                <a:gd name="T9" fmla="*/ 20 h 81"/>
                <a:gd name="T10" fmla="*/ 42 w 164"/>
                <a:gd name="T11" fmla="*/ 11 h 81"/>
                <a:gd name="T12" fmla="*/ 57 w 164"/>
                <a:gd name="T13" fmla="*/ 6 h 81"/>
                <a:gd name="T14" fmla="*/ 71 w 164"/>
                <a:gd name="T15" fmla="*/ 0 h 81"/>
                <a:gd name="T16" fmla="*/ 89 w 164"/>
                <a:gd name="T17" fmla="*/ 0 h 81"/>
                <a:gd name="T18" fmla="*/ 106 w 164"/>
                <a:gd name="T19" fmla="*/ 6 h 81"/>
                <a:gd name="T20" fmla="*/ 120 w 164"/>
                <a:gd name="T21" fmla="*/ 11 h 81"/>
                <a:gd name="T22" fmla="*/ 131 w 164"/>
                <a:gd name="T23" fmla="*/ 20 h 81"/>
                <a:gd name="T24" fmla="*/ 143 w 164"/>
                <a:gd name="T25" fmla="*/ 31 h 81"/>
                <a:gd name="T26" fmla="*/ 151 w 164"/>
                <a:gd name="T27" fmla="*/ 42 h 81"/>
                <a:gd name="T28" fmla="*/ 157 w 164"/>
                <a:gd name="T29" fmla="*/ 55 h 81"/>
                <a:gd name="T30" fmla="*/ 163 w 164"/>
                <a:gd name="T31" fmla="*/ 72 h 81"/>
                <a:gd name="T32" fmla="*/ 151 w 164"/>
                <a:gd name="T33" fmla="*/ 80 h 81"/>
                <a:gd name="T34" fmla="*/ 151 w 164"/>
                <a:gd name="T35" fmla="*/ 66 h 81"/>
                <a:gd name="T36" fmla="*/ 146 w 164"/>
                <a:gd name="T37" fmla="*/ 53 h 81"/>
                <a:gd name="T38" fmla="*/ 140 w 164"/>
                <a:gd name="T39" fmla="*/ 42 h 81"/>
                <a:gd name="T40" fmla="*/ 131 w 164"/>
                <a:gd name="T41" fmla="*/ 31 h 81"/>
                <a:gd name="T42" fmla="*/ 120 w 164"/>
                <a:gd name="T43" fmla="*/ 22 h 81"/>
                <a:gd name="T44" fmla="*/ 109 w 164"/>
                <a:gd name="T45" fmla="*/ 17 h 81"/>
                <a:gd name="T46" fmla="*/ 95 w 164"/>
                <a:gd name="T47" fmla="*/ 11 h 81"/>
                <a:gd name="T48" fmla="*/ 80 w 164"/>
                <a:gd name="T49" fmla="*/ 11 h 81"/>
                <a:gd name="T50" fmla="*/ 66 w 164"/>
                <a:gd name="T51" fmla="*/ 11 h 81"/>
                <a:gd name="T52" fmla="*/ 54 w 164"/>
                <a:gd name="T53" fmla="*/ 17 h 81"/>
                <a:gd name="T54" fmla="*/ 40 w 164"/>
                <a:gd name="T55" fmla="*/ 22 h 81"/>
                <a:gd name="T56" fmla="*/ 29 w 164"/>
                <a:gd name="T57" fmla="*/ 31 h 81"/>
                <a:gd name="T58" fmla="*/ 20 w 164"/>
                <a:gd name="T59" fmla="*/ 42 h 81"/>
                <a:gd name="T60" fmla="*/ 14 w 164"/>
                <a:gd name="T61" fmla="*/ 53 h 81"/>
                <a:gd name="T62" fmla="*/ 12 w 164"/>
                <a:gd name="T63" fmla="*/ 66 h 81"/>
                <a:gd name="T64" fmla="*/ 9 w 164"/>
                <a:gd name="T65" fmla="*/ 80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4"/>
                <a:gd name="T100" fmla="*/ 0 h 81"/>
                <a:gd name="T101" fmla="*/ 164 w 164"/>
                <a:gd name="T102" fmla="*/ 81 h 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4" h="81">
                  <a:moveTo>
                    <a:pt x="0" y="80"/>
                  </a:moveTo>
                  <a:lnTo>
                    <a:pt x="0" y="72"/>
                  </a:lnTo>
                  <a:lnTo>
                    <a:pt x="0" y="63"/>
                  </a:lnTo>
                  <a:lnTo>
                    <a:pt x="3" y="55"/>
                  </a:lnTo>
                  <a:lnTo>
                    <a:pt x="6" y="50"/>
                  </a:lnTo>
                  <a:lnTo>
                    <a:pt x="9" y="42"/>
                  </a:lnTo>
                  <a:lnTo>
                    <a:pt x="14" y="36"/>
                  </a:lnTo>
                  <a:lnTo>
                    <a:pt x="17" y="31"/>
                  </a:lnTo>
                  <a:lnTo>
                    <a:pt x="23" y="25"/>
                  </a:lnTo>
                  <a:lnTo>
                    <a:pt x="29" y="20"/>
                  </a:lnTo>
                  <a:lnTo>
                    <a:pt x="35" y="14"/>
                  </a:lnTo>
                  <a:lnTo>
                    <a:pt x="42" y="11"/>
                  </a:lnTo>
                  <a:lnTo>
                    <a:pt x="48" y="8"/>
                  </a:lnTo>
                  <a:lnTo>
                    <a:pt x="57" y="6"/>
                  </a:lnTo>
                  <a:lnTo>
                    <a:pt x="63" y="3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3"/>
                  </a:lnTo>
                  <a:lnTo>
                    <a:pt x="106" y="6"/>
                  </a:lnTo>
                  <a:lnTo>
                    <a:pt x="112" y="8"/>
                  </a:lnTo>
                  <a:lnTo>
                    <a:pt x="120" y="11"/>
                  </a:lnTo>
                  <a:lnTo>
                    <a:pt x="125" y="14"/>
                  </a:lnTo>
                  <a:lnTo>
                    <a:pt x="131" y="20"/>
                  </a:lnTo>
                  <a:lnTo>
                    <a:pt x="137" y="25"/>
                  </a:lnTo>
                  <a:lnTo>
                    <a:pt x="143" y="31"/>
                  </a:lnTo>
                  <a:lnTo>
                    <a:pt x="149" y="36"/>
                  </a:lnTo>
                  <a:lnTo>
                    <a:pt x="151" y="42"/>
                  </a:lnTo>
                  <a:lnTo>
                    <a:pt x="154" y="50"/>
                  </a:lnTo>
                  <a:lnTo>
                    <a:pt x="157" y="55"/>
                  </a:lnTo>
                  <a:lnTo>
                    <a:pt x="160" y="63"/>
                  </a:lnTo>
                  <a:lnTo>
                    <a:pt x="163" y="72"/>
                  </a:lnTo>
                  <a:lnTo>
                    <a:pt x="163" y="80"/>
                  </a:lnTo>
                  <a:lnTo>
                    <a:pt x="151" y="80"/>
                  </a:lnTo>
                  <a:lnTo>
                    <a:pt x="151" y="72"/>
                  </a:lnTo>
                  <a:lnTo>
                    <a:pt x="151" y="66"/>
                  </a:lnTo>
                  <a:lnTo>
                    <a:pt x="149" y="58"/>
                  </a:lnTo>
                  <a:lnTo>
                    <a:pt x="146" y="53"/>
                  </a:lnTo>
                  <a:lnTo>
                    <a:pt x="143" y="47"/>
                  </a:lnTo>
                  <a:lnTo>
                    <a:pt x="140" y="42"/>
                  </a:lnTo>
                  <a:lnTo>
                    <a:pt x="137" y="36"/>
                  </a:lnTo>
                  <a:lnTo>
                    <a:pt x="131" y="31"/>
                  </a:lnTo>
                  <a:lnTo>
                    <a:pt x="125" y="25"/>
                  </a:lnTo>
                  <a:lnTo>
                    <a:pt x="120" y="22"/>
                  </a:lnTo>
                  <a:lnTo>
                    <a:pt x="115" y="20"/>
                  </a:lnTo>
                  <a:lnTo>
                    <a:pt x="109" y="17"/>
                  </a:lnTo>
                  <a:lnTo>
                    <a:pt x="103" y="14"/>
                  </a:lnTo>
                  <a:lnTo>
                    <a:pt x="95" y="11"/>
                  </a:lnTo>
                  <a:lnTo>
                    <a:pt x="89" y="11"/>
                  </a:lnTo>
                  <a:lnTo>
                    <a:pt x="80" y="11"/>
                  </a:lnTo>
                  <a:lnTo>
                    <a:pt x="74" y="11"/>
                  </a:lnTo>
                  <a:lnTo>
                    <a:pt x="66" y="11"/>
                  </a:lnTo>
                  <a:lnTo>
                    <a:pt x="60" y="14"/>
                  </a:lnTo>
                  <a:lnTo>
                    <a:pt x="54" y="17"/>
                  </a:lnTo>
                  <a:lnTo>
                    <a:pt x="45" y="20"/>
                  </a:lnTo>
                  <a:lnTo>
                    <a:pt x="40" y="22"/>
                  </a:lnTo>
                  <a:lnTo>
                    <a:pt x="35" y="25"/>
                  </a:lnTo>
                  <a:lnTo>
                    <a:pt x="29" y="31"/>
                  </a:lnTo>
                  <a:lnTo>
                    <a:pt x="26" y="36"/>
                  </a:lnTo>
                  <a:lnTo>
                    <a:pt x="20" y="42"/>
                  </a:lnTo>
                  <a:lnTo>
                    <a:pt x="17" y="47"/>
                  </a:lnTo>
                  <a:lnTo>
                    <a:pt x="14" y="53"/>
                  </a:lnTo>
                  <a:lnTo>
                    <a:pt x="12" y="58"/>
                  </a:lnTo>
                  <a:lnTo>
                    <a:pt x="12" y="66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0" y="8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7" name="Freeform 191">
              <a:extLst>
                <a:ext uri="{FF2B5EF4-FFF2-40B4-BE49-F238E27FC236}">
                  <a16:creationId xmlns:a16="http://schemas.microsoft.com/office/drawing/2014/main" id="{E5C5010E-A50E-4047-9535-9A7F80F2B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802"/>
              <a:ext cx="164" cy="78"/>
            </a:xfrm>
            <a:custGeom>
              <a:avLst/>
              <a:gdLst>
                <a:gd name="T0" fmla="*/ 0 w 164"/>
                <a:gd name="T1" fmla="*/ 0 h 78"/>
                <a:gd name="T2" fmla="*/ 0 w 164"/>
                <a:gd name="T3" fmla="*/ 17 h 78"/>
                <a:gd name="T4" fmla="*/ 6 w 164"/>
                <a:gd name="T5" fmla="*/ 31 h 78"/>
                <a:gd name="T6" fmla="*/ 14 w 164"/>
                <a:gd name="T7" fmla="*/ 45 h 78"/>
                <a:gd name="T8" fmla="*/ 23 w 164"/>
                <a:gd name="T9" fmla="*/ 55 h 78"/>
                <a:gd name="T10" fmla="*/ 35 w 164"/>
                <a:gd name="T11" fmla="*/ 63 h 78"/>
                <a:gd name="T12" fmla="*/ 48 w 164"/>
                <a:gd name="T13" fmla="*/ 71 h 78"/>
                <a:gd name="T14" fmla="*/ 63 w 164"/>
                <a:gd name="T15" fmla="*/ 77 h 78"/>
                <a:gd name="T16" fmla="*/ 80 w 164"/>
                <a:gd name="T17" fmla="*/ 77 h 78"/>
                <a:gd name="T18" fmla="*/ 97 w 164"/>
                <a:gd name="T19" fmla="*/ 77 h 78"/>
                <a:gd name="T20" fmla="*/ 112 w 164"/>
                <a:gd name="T21" fmla="*/ 71 h 78"/>
                <a:gd name="T22" fmla="*/ 125 w 164"/>
                <a:gd name="T23" fmla="*/ 63 h 78"/>
                <a:gd name="T24" fmla="*/ 137 w 164"/>
                <a:gd name="T25" fmla="*/ 55 h 78"/>
                <a:gd name="T26" fmla="*/ 149 w 164"/>
                <a:gd name="T27" fmla="*/ 45 h 78"/>
                <a:gd name="T28" fmla="*/ 154 w 164"/>
                <a:gd name="T29" fmla="*/ 31 h 78"/>
                <a:gd name="T30" fmla="*/ 160 w 164"/>
                <a:gd name="T31" fmla="*/ 17 h 78"/>
                <a:gd name="T32" fmla="*/ 163 w 164"/>
                <a:gd name="T33" fmla="*/ 0 h 78"/>
                <a:gd name="T34" fmla="*/ 151 w 164"/>
                <a:gd name="T35" fmla="*/ 6 h 78"/>
                <a:gd name="T36" fmla="*/ 149 w 164"/>
                <a:gd name="T37" fmla="*/ 19 h 78"/>
                <a:gd name="T38" fmla="*/ 143 w 164"/>
                <a:gd name="T39" fmla="*/ 33 h 78"/>
                <a:gd name="T40" fmla="*/ 137 w 164"/>
                <a:gd name="T41" fmla="*/ 45 h 78"/>
                <a:gd name="T42" fmla="*/ 125 w 164"/>
                <a:gd name="T43" fmla="*/ 53 h 78"/>
                <a:gd name="T44" fmla="*/ 115 w 164"/>
                <a:gd name="T45" fmla="*/ 60 h 78"/>
                <a:gd name="T46" fmla="*/ 103 w 164"/>
                <a:gd name="T47" fmla="*/ 66 h 78"/>
                <a:gd name="T48" fmla="*/ 89 w 164"/>
                <a:gd name="T49" fmla="*/ 69 h 78"/>
                <a:gd name="T50" fmla="*/ 74 w 164"/>
                <a:gd name="T51" fmla="*/ 69 h 78"/>
                <a:gd name="T52" fmla="*/ 60 w 164"/>
                <a:gd name="T53" fmla="*/ 66 h 78"/>
                <a:gd name="T54" fmla="*/ 45 w 164"/>
                <a:gd name="T55" fmla="*/ 60 h 78"/>
                <a:gd name="T56" fmla="*/ 35 w 164"/>
                <a:gd name="T57" fmla="*/ 53 h 78"/>
                <a:gd name="T58" fmla="*/ 26 w 164"/>
                <a:gd name="T59" fmla="*/ 45 h 78"/>
                <a:gd name="T60" fmla="*/ 17 w 164"/>
                <a:gd name="T61" fmla="*/ 33 h 78"/>
                <a:gd name="T62" fmla="*/ 12 w 164"/>
                <a:gd name="T63" fmla="*/ 19 h 78"/>
                <a:gd name="T64" fmla="*/ 9 w 164"/>
                <a:gd name="T65" fmla="*/ 6 h 78"/>
                <a:gd name="T66" fmla="*/ 0 w 164"/>
                <a:gd name="T67" fmla="*/ 0 h 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4"/>
                <a:gd name="T103" fmla="*/ 0 h 78"/>
                <a:gd name="T104" fmla="*/ 164 w 164"/>
                <a:gd name="T105" fmla="*/ 78 h 7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4" h="7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4" y="45"/>
                  </a:lnTo>
                  <a:lnTo>
                    <a:pt x="17" y="50"/>
                  </a:lnTo>
                  <a:lnTo>
                    <a:pt x="23" y="55"/>
                  </a:lnTo>
                  <a:lnTo>
                    <a:pt x="29" y="60"/>
                  </a:lnTo>
                  <a:lnTo>
                    <a:pt x="35" y="63"/>
                  </a:lnTo>
                  <a:lnTo>
                    <a:pt x="42" y="69"/>
                  </a:lnTo>
                  <a:lnTo>
                    <a:pt x="48" y="71"/>
                  </a:lnTo>
                  <a:lnTo>
                    <a:pt x="57" y="74"/>
                  </a:lnTo>
                  <a:lnTo>
                    <a:pt x="63" y="77"/>
                  </a:lnTo>
                  <a:lnTo>
                    <a:pt x="71" y="77"/>
                  </a:lnTo>
                  <a:lnTo>
                    <a:pt x="80" y="77"/>
                  </a:lnTo>
                  <a:lnTo>
                    <a:pt x="89" y="77"/>
                  </a:lnTo>
                  <a:lnTo>
                    <a:pt x="97" y="77"/>
                  </a:lnTo>
                  <a:lnTo>
                    <a:pt x="106" y="74"/>
                  </a:lnTo>
                  <a:lnTo>
                    <a:pt x="112" y="71"/>
                  </a:lnTo>
                  <a:lnTo>
                    <a:pt x="120" y="69"/>
                  </a:lnTo>
                  <a:lnTo>
                    <a:pt x="125" y="63"/>
                  </a:lnTo>
                  <a:lnTo>
                    <a:pt x="131" y="60"/>
                  </a:lnTo>
                  <a:lnTo>
                    <a:pt x="137" y="55"/>
                  </a:lnTo>
                  <a:lnTo>
                    <a:pt x="143" y="50"/>
                  </a:lnTo>
                  <a:lnTo>
                    <a:pt x="149" y="45"/>
                  </a:lnTo>
                  <a:lnTo>
                    <a:pt x="151" y="36"/>
                  </a:lnTo>
                  <a:lnTo>
                    <a:pt x="154" y="31"/>
                  </a:lnTo>
                  <a:lnTo>
                    <a:pt x="157" y="22"/>
                  </a:lnTo>
                  <a:lnTo>
                    <a:pt x="160" y="17"/>
                  </a:lnTo>
                  <a:lnTo>
                    <a:pt x="163" y="8"/>
                  </a:lnTo>
                  <a:lnTo>
                    <a:pt x="163" y="0"/>
                  </a:lnTo>
                  <a:lnTo>
                    <a:pt x="151" y="0"/>
                  </a:lnTo>
                  <a:lnTo>
                    <a:pt x="151" y="6"/>
                  </a:lnTo>
                  <a:lnTo>
                    <a:pt x="151" y="14"/>
                  </a:lnTo>
                  <a:lnTo>
                    <a:pt x="149" y="19"/>
                  </a:lnTo>
                  <a:lnTo>
                    <a:pt x="146" y="25"/>
                  </a:lnTo>
                  <a:lnTo>
                    <a:pt x="143" y="33"/>
                  </a:lnTo>
                  <a:lnTo>
                    <a:pt x="140" y="39"/>
                  </a:lnTo>
                  <a:lnTo>
                    <a:pt x="137" y="45"/>
                  </a:lnTo>
                  <a:lnTo>
                    <a:pt x="131" y="50"/>
                  </a:lnTo>
                  <a:lnTo>
                    <a:pt x="125" y="53"/>
                  </a:lnTo>
                  <a:lnTo>
                    <a:pt x="120" y="58"/>
                  </a:lnTo>
                  <a:lnTo>
                    <a:pt x="115" y="60"/>
                  </a:lnTo>
                  <a:lnTo>
                    <a:pt x="109" y="63"/>
                  </a:lnTo>
                  <a:lnTo>
                    <a:pt x="103" y="66"/>
                  </a:lnTo>
                  <a:lnTo>
                    <a:pt x="95" y="66"/>
                  </a:lnTo>
                  <a:lnTo>
                    <a:pt x="89" y="69"/>
                  </a:lnTo>
                  <a:lnTo>
                    <a:pt x="80" y="69"/>
                  </a:lnTo>
                  <a:lnTo>
                    <a:pt x="74" y="69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54" y="63"/>
                  </a:lnTo>
                  <a:lnTo>
                    <a:pt x="45" y="60"/>
                  </a:lnTo>
                  <a:lnTo>
                    <a:pt x="40" y="58"/>
                  </a:lnTo>
                  <a:lnTo>
                    <a:pt x="35" y="53"/>
                  </a:lnTo>
                  <a:lnTo>
                    <a:pt x="29" y="50"/>
                  </a:lnTo>
                  <a:lnTo>
                    <a:pt x="26" y="45"/>
                  </a:lnTo>
                  <a:lnTo>
                    <a:pt x="20" y="39"/>
                  </a:lnTo>
                  <a:lnTo>
                    <a:pt x="17" y="33"/>
                  </a:lnTo>
                  <a:lnTo>
                    <a:pt x="14" y="25"/>
                  </a:lnTo>
                  <a:lnTo>
                    <a:pt x="12" y="19"/>
                  </a:lnTo>
                  <a:lnTo>
                    <a:pt x="12" y="14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8" name="Freeform 192">
              <a:extLst>
                <a:ext uri="{FF2B5EF4-FFF2-40B4-BE49-F238E27FC236}">
                  <a16:creationId xmlns:a16="http://schemas.microsoft.com/office/drawing/2014/main" id="{78A915C3-73AD-4DCC-9DE1-32EE9FE99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728"/>
              <a:ext cx="143" cy="69"/>
            </a:xfrm>
            <a:custGeom>
              <a:avLst/>
              <a:gdLst>
                <a:gd name="T0" fmla="*/ 0 w 143"/>
                <a:gd name="T1" fmla="*/ 60 h 69"/>
                <a:gd name="T2" fmla="*/ 3 w 143"/>
                <a:gd name="T3" fmla="*/ 46 h 69"/>
                <a:gd name="T4" fmla="*/ 9 w 143"/>
                <a:gd name="T5" fmla="*/ 36 h 69"/>
                <a:gd name="T6" fmla="*/ 17 w 143"/>
                <a:gd name="T7" fmla="*/ 25 h 69"/>
                <a:gd name="T8" fmla="*/ 26 w 143"/>
                <a:gd name="T9" fmla="*/ 14 h 69"/>
                <a:gd name="T10" fmla="*/ 36 w 143"/>
                <a:gd name="T11" fmla="*/ 8 h 69"/>
                <a:gd name="T12" fmla="*/ 51 w 143"/>
                <a:gd name="T13" fmla="*/ 3 h 69"/>
                <a:gd name="T14" fmla="*/ 65 w 143"/>
                <a:gd name="T15" fmla="*/ 0 h 69"/>
                <a:gd name="T16" fmla="*/ 80 w 143"/>
                <a:gd name="T17" fmla="*/ 0 h 69"/>
                <a:gd name="T18" fmla="*/ 94 w 143"/>
                <a:gd name="T19" fmla="*/ 3 h 69"/>
                <a:gd name="T20" fmla="*/ 106 w 143"/>
                <a:gd name="T21" fmla="*/ 8 h 69"/>
                <a:gd name="T22" fmla="*/ 116 w 143"/>
                <a:gd name="T23" fmla="*/ 14 h 69"/>
                <a:gd name="T24" fmla="*/ 128 w 143"/>
                <a:gd name="T25" fmla="*/ 25 h 69"/>
                <a:gd name="T26" fmla="*/ 133 w 143"/>
                <a:gd name="T27" fmla="*/ 36 h 69"/>
                <a:gd name="T28" fmla="*/ 139 w 143"/>
                <a:gd name="T29" fmla="*/ 46 h 69"/>
                <a:gd name="T30" fmla="*/ 142 w 143"/>
                <a:gd name="T31" fmla="*/ 60 h 69"/>
                <a:gd name="T32" fmla="*/ 133 w 143"/>
                <a:gd name="T33" fmla="*/ 68 h 69"/>
                <a:gd name="T34" fmla="*/ 133 w 143"/>
                <a:gd name="T35" fmla="*/ 54 h 69"/>
                <a:gd name="T36" fmla="*/ 128 w 143"/>
                <a:gd name="T37" fmla="*/ 43 h 69"/>
                <a:gd name="T38" fmla="*/ 122 w 143"/>
                <a:gd name="T39" fmla="*/ 33 h 69"/>
                <a:gd name="T40" fmla="*/ 116 w 143"/>
                <a:gd name="T41" fmla="*/ 25 h 69"/>
                <a:gd name="T42" fmla="*/ 108 w 143"/>
                <a:gd name="T43" fmla="*/ 19 h 69"/>
                <a:gd name="T44" fmla="*/ 97 w 143"/>
                <a:gd name="T45" fmla="*/ 11 h 69"/>
                <a:gd name="T46" fmla="*/ 85 w 143"/>
                <a:gd name="T47" fmla="*/ 8 h 69"/>
                <a:gd name="T48" fmla="*/ 71 w 143"/>
                <a:gd name="T49" fmla="*/ 8 h 69"/>
                <a:gd name="T50" fmla="*/ 59 w 143"/>
                <a:gd name="T51" fmla="*/ 8 h 69"/>
                <a:gd name="T52" fmla="*/ 48 w 143"/>
                <a:gd name="T53" fmla="*/ 11 h 69"/>
                <a:gd name="T54" fmla="*/ 36 w 143"/>
                <a:gd name="T55" fmla="*/ 19 h 69"/>
                <a:gd name="T56" fmla="*/ 28 w 143"/>
                <a:gd name="T57" fmla="*/ 25 h 69"/>
                <a:gd name="T58" fmla="*/ 20 w 143"/>
                <a:gd name="T59" fmla="*/ 33 h 69"/>
                <a:gd name="T60" fmla="*/ 14 w 143"/>
                <a:gd name="T61" fmla="*/ 43 h 69"/>
                <a:gd name="T62" fmla="*/ 12 w 143"/>
                <a:gd name="T63" fmla="*/ 54 h 69"/>
                <a:gd name="T64" fmla="*/ 9 w 143"/>
                <a:gd name="T65" fmla="*/ 68 h 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43"/>
                <a:gd name="T100" fmla="*/ 0 h 69"/>
                <a:gd name="T101" fmla="*/ 143 w 143"/>
                <a:gd name="T102" fmla="*/ 69 h 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43" h="69">
                  <a:moveTo>
                    <a:pt x="0" y="68"/>
                  </a:moveTo>
                  <a:lnTo>
                    <a:pt x="0" y="60"/>
                  </a:lnTo>
                  <a:lnTo>
                    <a:pt x="3" y="54"/>
                  </a:lnTo>
                  <a:lnTo>
                    <a:pt x="3" y="46"/>
                  </a:lnTo>
                  <a:lnTo>
                    <a:pt x="6" y="41"/>
                  </a:lnTo>
                  <a:lnTo>
                    <a:pt x="9" y="36"/>
                  </a:lnTo>
                  <a:lnTo>
                    <a:pt x="12" y="30"/>
                  </a:lnTo>
                  <a:lnTo>
                    <a:pt x="17" y="25"/>
                  </a:lnTo>
                  <a:lnTo>
                    <a:pt x="20" y="19"/>
                  </a:lnTo>
                  <a:lnTo>
                    <a:pt x="26" y="14"/>
                  </a:lnTo>
                  <a:lnTo>
                    <a:pt x="31" y="11"/>
                  </a:lnTo>
                  <a:lnTo>
                    <a:pt x="36" y="8"/>
                  </a:lnTo>
                  <a:lnTo>
                    <a:pt x="45" y="6"/>
                  </a:lnTo>
                  <a:lnTo>
                    <a:pt x="51" y="3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4" y="3"/>
                  </a:lnTo>
                  <a:lnTo>
                    <a:pt x="100" y="6"/>
                  </a:lnTo>
                  <a:lnTo>
                    <a:pt x="106" y="8"/>
                  </a:lnTo>
                  <a:lnTo>
                    <a:pt x="110" y="11"/>
                  </a:lnTo>
                  <a:lnTo>
                    <a:pt x="116" y="14"/>
                  </a:lnTo>
                  <a:lnTo>
                    <a:pt x="122" y="19"/>
                  </a:lnTo>
                  <a:lnTo>
                    <a:pt x="128" y="25"/>
                  </a:lnTo>
                  <a:lnTo>
                    <a:pt x="130" y="30"/>
                  </a:lnTo>
                  <a:lnTo>
                    <a:pt x="133" y="36"/>
                  </a:lnTo>
                  <a:lnTo>
                    <a:pt x="136" y="41"/>
                  </a:lnTo>
                  <a:lnTo>
                    <a:pt x="139" y="46"/>
                  </a:lnTo>
                  <a:lnTo>
                    <a:pt x="142" y="54"/>
                  </a:lnTo>
                  <a:lnTo>
                    <a:pt x="142" y="60"/>
                  </a:lnTo>
                  <a:lnTo>
                    <a:pt x="142" y="68"/>
                  </a:lnTo>
                  <a:lnTo>
                    <a:pt x="133" y="68"/>
                  </a:lnTo>
                  <a:lnTo>
                    <a:pt x="133" y="60"/>
                  </a:lnTo>
                  <a:lnTo>
                    <a:pt x="133" y="54"/>
                  </a:lnTo>
                  <a:lnTo>
                    <a:pt x="130" y="49"/>
                  </a:lnTo>
                  <a:lnTo>
                    <a:pt x="128" y="43"/>
                  </a:lnTo>
                  <a:lnTo>
                    <a:pt x="128" y="39"/>
                  </a:lnTo>
                  <a:lnTo>
                    <a:pt x="122" y="33"/>
                  </a:lnTo>
                  <a:lnTo>
                    <a:pt x="119" y="30"/>
                  </a:lnTo>
                  <a:lnTo>
                    <a:pt x="116" y="25"/>
                  </a:lnTo>
                  <a:lnTo>
                    <a:pt x="110" y="22"/>
                  </a:lnTo>
                  <a:lnTo>
                    <a:pt x="108" y="19"/>
                  </a:lnTo>
                  <a:lnTo>
                    <a:pt x="103" y="14"/>
                  </a:lnTo>
                  <a:lnTo>
                    <a:pt x="97" y="11"/>
                  </a:lnTo>
                  <a:lnTo>
                    <a:pt x="91" y="11"/>
                  </a:lnTo>
                  <a:lnTo>
                    <a:pt x="85" y="8"/>
                  </a:lnTo>
                  <a:lnTo>
                    <a:pt x="80" y="8"/>
                  </a:lnTo>
                  <a:lnTo>
                    <a:pt x="71" y="8"/>
                  </a:lnTo>
                  <a:lnTo>
                    <a:pt x="65" y="8"/>
                  </a:lnTo>
                  <a:lnTo>
                    <a:pt x="59" y="8"/>
                  </a:lnTo>
                  <a:lnTo>
                    <a:pt x="54" y="11"/>
                  </a:lnTo>
                  <a:lnTo>
                    <a:pt x="48" y="11"/>
                  </a:lnTo>
                  <a:lnTo>
                    <a:pt x="42" y="14"/>
                  </a:lnTo>
                  <a:lnTo>
                    <a:pt x="36" y="19"/>
                  </a:lnTo>
                  <a:lnTo>
                    <a:pt x="31" y="22"/>
                  </a:lnTo>
                  <a:lnTo>
                    <a:pt x="28" y="25"/>
                  </a:lnTo>
                  <a:lnTo>
                    <a:pt x="23" y="30"/>
                  </a:lnTo>
                  <a:lnTo>
                    <a:pt x="20" y="33"/>
                  </a:lnTo>
                  <a:lnTo>
                    <a:pt x="17" y="39"/>
                  </a:lnTo>
                  <a:lnTo>
                    <a:pt x="14" y="43"/>
                  </a:lnTo>
                  <a:lnTo>
                    <a:pt x="12" y="49"/>
                  </a:lnTo>
                  <a:lnTo>
                    <a:pt x="12" y="54"/>
                  </a:lnTo>
                  <a:lnTo>
                    <a:pt x="9" y="60"/>
                  </a:lnTo>
                  <a:lnTo>
                    <a:pt x="9" y="68"/>
                  </a:lnTo>
                  <a:lnTo>
                    <a:pt x="0" y="68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59" name="Freeform 193">
              <a:extLst>
                <a:ext uri="{FF2B5EF4-FFF2-40B4-BE49-F238E27FC236}">
                  <a16:creationId xmlns:a16="http://schemas.microsoft.com/office/drawing/2014/main" id="{EDE822D6-27F5-4E78-A354-EC30C74A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802"/>
              <a:ext cx="143" cy="69"/>
            </a:xfrm>
            <a:custGeom>
              <a:avLst/>
              <a:gdLst>
                <a:gd name="T0" fmla="*/ 0 w 143"/>
                <a:gd name="T1" fmla="*/ 0 h 69"/>
                <a:gd name="T2" fmla="*/ 3 w 143"/>
                <a:gd name="T3" fmla="*/ 14 h 69"/>
                <a:gd name="T4" fmla="*/ 6 w 143"/>
                <a:gd name="T5" fmla="*/ 25 h 69"/>
                <a:gd name="T6" fmla="*/ 12 w 143"/>
                <a:gd name="T7" fmla="*/ 39 h 69"/>
                <a:gd name="T8" fmla="*/ 20 w 143"/>
                <a:gd name="T9" fmla="*/ 50 h 69"/>
                <a:gd name="T10" fmla="*/ 31 w 143"/>
                <a:gd name="T11" fmla="*/ 57 h 69"/>
                <a:gd name="T12" fmla="*/ 45 w 143"/>
                <a:gd name="T13" fmla="*/ 62 h 69"/>
                <a:gd name="T14" fmla="*/ 57 w 143"/>
                <a:gd name="T15" fmla="*/ 65 h 69"/>
                <a:gd name="T16" fmla="*/ 71 w 143"/>
                <a:gd name="T17" fmla="*/ 68 h 69"/>
                <a:gd name="T18" fmla="*/ 85 w 143"/>
                <a:gd name="T19" fmla="*/ 65 h 69"/>
                <a:gd name="T20" fmla="*/ 100 w 143"/>
                <a:gd name="T21" fmla="*/ 62 h 69"/>
                <a:gd name="T22" fmla="*/ 110 w 143"/>
                <a:gd name="T23" fmla="*/ 57 h 69"/>
                <a:gd name="T24" fmla="*/ 122 w 143"/>
                <a:gd name="T25" fmla="*/ 50 h 69"/>
                <a:gd name="T26" fmla="*/ 130 w 143"/>
                <a:gd name="T27" fmla="*/ 39 h 69"/>
                <a:gd name="T28" fmla="*/ 136 w 143"/>
                <a:gd name="T29" fmla="*/ 25 h 69"/>
                <a:gd name="T30" fmla="*/ 142 w 143"/>
                <a:gd name="T31" fmla="*/ 14 h 69"/>
                <a:gd name="T32" fmla="*/ 142 w 143"/>
                <a:gd name="T33" fmla="*/ 0 h 69"/>
                <a:gd name="T34" fmla="*/ 133 w 143"/>
                <a:gd name="T35" fmla="*/ 6 h 69"/>
                <a:gd name="T36" fmla="*/ 130 w 143"/>
                <a:gd name="T37" fmla="*/ 17 h 69"/>
                <a:gd name="T38" fmla="*/ 128 w 143"/>
                <a:gd name="T39" fmla="*/ 28 h 69"/>
                <a:gd name="T40" fmla="*/ 119 w 143"/>
                <a:gd name="T41" fmla="*/ 39 h 69"/>
                <a:gd name="T42" fmla="*/ 110 w 143"/>
                <a:gd name="T43" fmla="*/ 47 h 69"/>
                <a:gd name="T44" fmla="*/ 103 w 143"/>
                <a:gd name="T45" fmla="*/ 52 h 69"/>
                <a:gd name="T46" fmla="*/ 91 w 143"/>
                <a:gd name="T47" fmla="*/ 57 h 69"/>
                <a:gd name="T48" fmla="*/ 80 w 143"/>
                <a:gd name="T49" fmla="*/ 60 h 69"/>
                <a:gd name="T50" fmla="*/ 65 w 143"/>
                <a:gd name="T51" fmla="*/ 60 h 69"/>
                <a:gd name="T52" fmla="*/ 54 w 143"/>
                <a:gd name="T53" fmla="*/ 57 h 69"/>
                <a:gd name="T54" fmla="*/ 42 w 143"/>
                <a:gd name="T55" fmla="*/ 52 h 69"/>
                <a:gd name="T56" fmla="*/ 31 w 143"/>
                <a:gd name="T57" fmla="*/ 47 h 69"/>
                <a:gd name="T58" fmla="*/ 23 w 143"/>
                <a:gd name="T59" fmla="*/ 39 h 69"/>
                <a:gd name="T60" fmla="*/ 17 w 143"/>
                <a:gd name="T61" fmla="*/ 28 h 69"/>
                <a:gd name="T62" fmla="*/ 12 w 143"/>
                <a:gd name="T63" fmla="*/ 17 h 69"/>
                <a:gd name="T64" fmla="*/ 9 w 143"/>
                <a:gd name="T65" fmla="*/ 6 h 69"/>
                <a:gd name="T66" fmla="*/ 0 w 143"/>
                <a:gd name="T67" fmla="*/ 0 h 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3"/>
                <a:gd name="T103" fmla="*/ 0 h 69"/>
                <a:gd name="T104" fmla="*/ 143 w 143"/>
                <a:gd name="T105" fmla="*/ 69 h 6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3" h="6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6" y="25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7" y="44"/>
                  </a:lnTo>
                  <a:lnTo>
                    <a:pt x="20" y="50"/>
                  </a:lnTo>
                  <a:lnTo>
                    <a:pt x="26" y="52"/>
                  </a:lnTo>
                  <a:lnTo>
                    <a:pt x="31" y="57"/>
                  </a:lnTo>
                  <a:lnTo>
                    <a:pt x="36" y="60"/>
                  </a:lnTo>
                  <a:lnTo>
                    <a:pt x="45" y="62"/>
                  </a:lnTo>
                  <a:lnTo>
                    <a:pt x="51" y="65"/>
                  </a:lnTo>
                  <a:lnTo>
                    <a:pt x="57" y="65"/>
                  </a:lnTo>
                  <a:lnTo>
                    <a:pt x="65" y="68"/>
                  </a:lnTo>
                  <a:lnTo>
                    <a:pt x="71" y="68"/>
                  </a:lnTo>
                  <a:lnTo>
                    <a:pt x="80" y="68"/>
                  </a:lnTo>
                  <a:lnTo>
                    <a:pt x="85" y="65"/>
                  </a:lnTo>
                  <a:lnTo>
                    <a:pt x="94" y="65"/>
                  </a:lnTo>
                  <a:lnTo>
                    <a:pt x="100" y="62"/>
                  </a:lnTo>
                  <a:lnTo>
                    <a:pt x="106" y="60"/>
                  </a:lnTo>
                  <a:lnTo>
                    <a:pt x="110" y="57"/>
                  </a:lnTo>
                  <a:lnTo>
                    <a:pt x="116" y="52"/>
                  </a:lnTo>
                  <a:lnTo>
                    <a:pt x="122" y="50"/>
                  </a:lnTo>
                  <a:lnTo>
                    <a:pt x="128" y="44"/>
                  </a:lnTo>
                  <a:lnTo>
                    <a:pt x="130" y="39"/>
                  </a:lnTo>
                  <a:lnTo>
                    <a:pt x="133" y="33"/>
                  </a:lnTo>
                  <a:lnTo>
                    <a:pt x="136" y="25"/>
                  </a:lnTo>
                  <a:lnTo>
                    <a:pt x="139" y="19"/>
                  </a:lnTo>
                  <a:lnTo>
                    <a:pt x="142" y="14"/>
                  </a:lnTo>
                  <a:lnTo>
                    <a:pt x="142" y="6"/>
                  </a:lnTo>
                  <a:lnTo>
                    <a:pt x="142" y="0"/>
                  </a:lnTo>
                  <a:lnTo>
                    <a:pt x="133" y="0"/>
                  </a:lnTo>
                  <a:lnTo>
                    <a:pt x="133" y="6"/>
                  </a:lnTo>
                  <a:lnTo>
                    <a:pt x="133" y="11"/>
                  </a:lnTo>
                  <a:lnTo>
                    <a:pt x="130" y="17"/>
                  </a:lnTo>
                  <a:lnTo>
                    <a:pt x="128" y="22"/>
                  </a:lnTo>
                  <a:lnTo>
                    <a:pt x="128" y="28"/>
                  </a:lnTo>
                  <a:lnTo>
                    <a:pt x="122" y="33"/>
                  </a:lnTo>
                  <a:lnTo>
                    <a:pt x="119" y="39"/>
                  </a:lnTo>
                  <a:lnTo>
                    <a:pt x="116" y="41"/>
                  </a:lnTo>
                  <a:lnTo>
                    <a:pt x="110" y="47"/>
                  </a:lnTo>
                  <a:lnTo>
                    <a:pt x="108" y="50"/>
                  </a:lnTo>
                  <a:lnTo>
                    <a:pt x="103" y="52"/>
                  </a:lnTo>
                  <a:lnTo>
                    <a:pt x="97" y="54"/>
                  </a:lnTo>
                  <a:lnTo>
                    <a:pt x="91" y="57"/>
                  </a:lnTo>
                  <a:lnTo>
                    <a:pt x="85" y="57"/>
                  </a:lnTo>
                  <a:lnTo>
                    <a:pt x="80" y="60"/>
                  </a:lnTo>
                  <a:lnTo>
                    <a:pt x="71" y="60"/>
                  </a:lnTo>
                  <a:lnTo>
                    <a:pt x="65" y="60"/>
                  </a:lnTo>
                  <a:lnTo>
                    <a:pt x="59" y="57"/>
                  </a:lnTo>
                  <a:lnTo>
                    <a:pt x="54" y="57"/>
                  </a:lnTo>
                  <a:lnTo>
                    <a:pt x="48" y="54"/>
                  </a:lnTo>
                  <a:lnTo>
                    <a:pt x="42" y="52"/>
                  </a:lnTo>
                  <a:lnTo>
                    <a:pt x="36" y="50"/>
                  </a:lnTo>
                  <a:lnTo>
                    <a:pt x="31" y="47"/>
                  </a:lnTo>
                  <a:lnTo>
                    <a:pt x="28" y="41"/>
                  </a:lnTo>
                  <a:lnTo>
                    <a:pt x="23" y="39"/>
                  </a:lnTo>
                  <a:lnTo>
                    <a:pt x="20" y="33"/>
                  </a:lnTo>
                  <a:lnTo>
                    <a:pt x="17" y="28"/>
                  </a:lnTo>
                  <a:lnTo>
                    <a:pt x="14" y="22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0" name="Freeform 194">
              <a:extLst>
                <a:ext uri="{FF2B5EF4-FFF2-40B4-BE49-F238E27FC236}">
                  <a16:creationId xmlns:a16="http://schemas.microsoft.com/office/drawing/2014/main" id="{6670FA92-A38A-4768-B34E-43B027FC3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737"/>
              <a:ext cx="125" cy="60"/>
            </a:xfrm>
            <a:custGeom>
              <a:avLst/>
              <a:gdLst>
                <a:gd name="T0" fmla="*/ 0 w 125"/>
                <a:gd name="T1" fmla="*/ 59 h 60"/>
                <a:gd name="T2" fmla="*/ 0 w 125"/>
                <a:gd name="T3" fmla="*/ 51 h 60"/>
                <a:gd name="T4" fmla="*/ 3 w 125"/>
                <a:gd name="T5" fmla="*/ 45 h 60"/>
                <a:gd name="T6" fmla="*/ 3 w 125"/>
                <a:gd name="T7" fmla="*/ 40 h 60"/>
                <a:gd name="T8" fmla="*/ 6 w 125"/>
                <a:gd name="T9" fmla="*/ 34 h 60"/>
                <a:gd name="T10" fmla="*/ 9 w 125"/>
                <a:gd name="T11" fmla="*/ 30 h 60"/>
                <a:gd name="T12" fmla="*/ 11 w 125"/>
                <a:gd name="T13" fmla="*/ 25 h 60"/>
                <a:gd name="T14" fmla="*/ 14 w 125"/>
                <a:gd name="T15" fmla="*/ 22 h 60"/>
                <a:gd name="T16" fmla="*/ 19 w 125"/>
                <a:gd name="T17" fmla="*/ 16 h 60"/>
                <a:gd name="T18" fmla="*/ 22 w 125"/>
                <a:gd name="T19" fmla="*/ 14 h 60"/>
                <a:gd name="T20" fmla="*/ 28 w 125"/>
                <a:gd name="T21" fmla="*/ 11 h 60"/>
                <a:gd name="T22" fmla="*/ 33 w 125"/>
                <a:gd name="T23" fmla="*/ 5 h 60"/>
                <a:gd name="T24" fmla="*/ 39 w 125"/>
                <a:gd name="T25" fmla="*/ 3 h 60"/>
                <a:gd name="T26" fmla="*/ 45 w 125"/>
                <a:gd name="T27" fmla="*/ 3 h 60"/>
                <a:gd name="T28" fmla="*/ 51 w 125"/>
                <a:gd name="T29" fmla="*/ 0 h 60"/>
                <a:gd name="T30" fmla="*/ 56 w 125"/>
                <a:gd name="T31" fmla="*/ 0 h 60"/>
                <a:gd name="T32" fmla="*/ 62 w 125"/>
                <a:gd name="T33" fmla="*/ 0 h 60"/>
                <a:gd name="T34" fmla="*/ 71 w 125"/>
                <a:gd name="T35" fmla="*/ 0 h 60"/>
                <a:gd name="T36" fmla="*/ 76 w 125"/>
                <a:gd name="T37" fmla="*/ 0 h 60"/>
                <a:gd name="T38" fmla="*/ 82 w 125"/>
                <a:gd name="T39" fmla="*/ 3 h 60"/>
                <a:gd name="T40" fmla="*/ 88 w 125"/>
                <a:gd name="T41" fmla="*/ 3 h 60"/>
                <a:gd name="T42" fmla="*/ 93 w 125"/>
                <a:gd name="T43" fmla="*/ 5 h 60"/>
                <a:gd name="T44" fmla="*/ 99 w 125"/>
                <a:gd name="T45" fmla="*/ 11 h 60"/>
                <a:gd name="T46" fmla="*/ 101 w 125"/>
                <a:gd name="T47" fmla="*/ 14 h 60"/>
                <a:gd name="T48" fmla="*/ 107 w 125"/>
                <a:gd name="T49" fmla="*/ 16 h 60"/>
                <a:gd name="T50" fmla="*/ 110 w 125"/>
                <a:gd name="T51" fmla="*/ 22 h 60"/>
                <a:gd name="T52" fmla="*/ 113 w 125"/>
                <a:gd name="T53" fmla="*/ 25 h 60"/>
                <a:gd name="T54" fmla="*/ 118 w 125"/>
                <a:gd name="T55" fmla="*/ 30 h 60"/>
                <a:gd name="T56" fmla="*/ 118 w 125"/>
                <a:gd name="T57" fmla="*/ 34 h 60"/>
                <a:gd name="T58" fmla="*/ 121 w 125"/>
                <a:gd name="T59" fmla="*/ 40 h 60"/>
                <a:gd name="T60" fmla="*/ 124 w 125"/>
                <a:gd name="T61" fmla="*/ 45 h 60"/>
                <a:gd name="T62" fmla="*/ 124 w 125"/>
                <a:gd name="T63" fmla="*/ 51 h 60"/>
                <a:gd name="T64" fmla="*/ 124 w 125"/>
                <a:gd name="T65" fmla="*/ 59 h 60"/>
                <a:gd name="T66" fmla="*/ 115 w 125"/>
                <a:gd name="T67" fmla="*/ 59 h 60"/>
                <a:gd name="T68" fmla="*/ 115 w 125"/>
                <a:gd name="T69" fmla="*/ 48 h 60"/>
                <a:gd name="T70" fmla="*/ 113 w 125"/>
                <a:gd name="T71" fmla="*/ 37 h 60"/>
                <a:gd name="T72" fmla="*/ 107 w 125"/>
                <a:gd name="T73" fmla="*/ 30 h 60"/>
                <a:gd name="T74" fmla="*/ 101 w 125"/>
                <a:gd name="T75" fmla="*/ 22 h 60"/>
                <a:gd name="T76" fmla="*/ 93 w 125"/>
                <a:gd name="T77" fmla="*/ 16 h 60"/>
                <a:gd name="T78" fmla="*/ 85 w 125"/>
                <a:gd name="T79" fmla="*/ 11 h 60"/>
                <a:gd name="T80" fmla="*/ 73 w 125"/>
                <a:gd name="T81" fmla="*/ 8 h 60"/>
                <a:gd name="T82" fmla="*/ 62 w 125"/>
                <a:gd name="T83" fmla="*/ 8 h 60"/>
                <a:gd name="T84" fmla="*/ 51 w 125"/>
                <a:gd name="T85" fmla="*/ 8 h 60"/>
                <a:gd name="T86" fmla="*/ 42 w 125"/>
                <a:gd name="T87" fmla="*/ 11 h 60"/>
                <a:gd name="T88" fmla="*/ 33 w 125"/>
                <a:gd name="T89" fmla="*/ 16 h 60"/>
                <a:gd name="T90" fmla="*/ 25 w 125"/>
                <a:gd name="T91" fmla="*/ 22 h 60"/>
                <a:gd name="T92" fmla="*/ 19 w 125"/>
                <a:gd name="T93" fmla="*/ 30 h 60"/>
                <a:gd name="T94" fmla="*/ 14 w 125"/>
                <a:gd name="T95" fmla="*/ 37 h 60"/>
                <a:gd name="T96" fmla="*/ 11 w 125"/>
                <a:gd name="T97" fmla="*/ 48 h 60"/>
                <a:gd name="T98" fmla="*/ 9 w 125"/>
                <a:gd name="T99" fmla="*/ 59 h 60"/>
                <a:gd name="T100" fmla="*/ 0 w 125"/>
                <a:gd name="T101" fmla="*/ 59 h 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5"/>
                <a:gd name="T154" fmla="*/ 0 h 60"/>
                <a:gd name="T155" fmla="*/ 125 w 125"/>
                <a:gd name="T156" fmla="*/ 60 h 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5" h="60">
                  <a:moveTo>
                    <a:pt x="0" y="59"/>
                  </a:moveTo>
                  <a:lnTo>
                    <a:pt x="0" y="51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6" y="34"/>
                  </a:lnTo>
                  <a:lnTo>
                    <a:pt x="9" y="30"/>
                  </a:lnTo>
                  <a:lnTo>
                    <a:pt x="11" y="25"/>
                  </a:lnTo>
                  <a:lnTo>
                    <a:pt x="14" y="22"/>
                  </a:lnTo>
                  <a:lnTo>
                    <a:pt x="19" y="16"/>
                  </a:lnTo>
                  <a:lnTo>
                    <a:pt x="22" y="14"/>
                  </a:lnTo>
                  <a:lnTo>
                    <a:pt x="28" y="11"/>
                  </a:lnTo>
                  <a:lnTo>
                    <a:pt x="33" y="5"/>
                  </a:lnTo>
                  <a:lnTo>
                    <a:pt x="39" y="3"/>
                  </a:lnTo>
                  <a:lnTo>
                    <a:pt x="45" y="3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2" y="0"/>
                  </a:lnTo>
                  <a:lnTo>
                    <a:pt x="71" y="0"/>
                  </a:lnTo>
                  <a:lnTo>
                    <a:pt x="76" y="0"/>
                  </a:lnTo>
                  <a:lnTo>
                    <a:pt x="82" y="3"/>
                  </a:lnTo>
                  <a:lnTo>
                    <a:pt x="88" y="3"/>
                  </a:lnTo>
                  <a:lnTo>
                    <a:pt x="93" y="5"/>
                  </a:lnTo>
                  <a:lnTo>
                    <a:pt x="99" y="11"/>
                  </a:lnTo>
                  <a:lnTo>
                    <a:pt x="101" y="14"/>
                  </a:lnTo>
                  <a:lnTo>
                    <a:pt x="107" y="16"/>
                  </a:lnTo>
                  <a:lnTo>
                    <a:pt x="110" y="22"/>
                  </a:lnTo>
                  <a:lnTo>
                    <a:pt x="113" y="25"/>
                  </a:lnTo>
                  <a:lnTo>
                    <a:pt x="118" y="30"/>
                  </a:lnTo>
                  <a:lnTo>
                    <a:pt x="118" y="34"/>
                  </a:lnTo>
                  <a:lnTo>
                    <a:pt x="121" y="40"/>
                  </a:lnTo>
                  <a:lnTo>
                    <a:pt x="124" y="45"/>
                  </a:lnTo>
                  <a:lnTo>
                    <a:pt x="124" y="51"/>
                  </a:lnTo>
                  <a:lnTo>
                    <a:pt x="124" y="59"/>
                  </a:lnTo>
                  <a:lnTo>
                    <a:pt x="115" y="59"/>
                  </a:lnTo>
                  <a:lnTo>
                    <a:pt x="115" y="48"/>
                  </a:lnTo>
                  <a:lnTo>
                    <a:pt x="113" y="37"/>
                  </a:lnTo>
                  <a:lnTo>
                    <a:pt x="107" y="30"/>
                  </a:lnTo>
                  <a:lnTo>
                    <a:pt x="101" y="22"/>
                  </a:lnTo>
                  <a:lnTo>
                    <a:pt x="93" y="16"/>
                  </a:lnTo>
                  <a:lnTo>
                    <a:pt x="85" y="11"/>
                  </a:lnTo>
                  <a:lnTo>
                    <a:pt x="73" y="8"/>
                  </a:lnTo>
                  <a:lnTo>
                    <a:pt x="62" y="8"/>
                  </a:lnTo>
                  <a:lnTo>
                    <a:pt x="51" y="8"/>
                  </a:lnTo>
                  <a:lnTo>
                    <a:pt x="42" y="11"/>
                  </a:lnTo>
                  <a:lnTo>
                    <a:pt x="33" y="16"/>
                  </a:lnTo>
                  <a:lnTo>
                    <a:pt x="25" y="22"/>
                  </a:lnTo>
                  <a:lnTo>
                    <a:pt x="19" y="30"/>
                  </a:lnTo>
                  <a:lnTo>
                    <a:pt x="14" y="37"/>
                  </a:lnTo>
                  <a:lnTo>
                    <a:pt x="11" y="48"/>
                  </a:lnTo>
                  <a:lnTo>
                    <a:pt x="9" y="59"/>
                  </a:lnTo>
                  <a:lnTo>
                    <a:pt x="0" y="59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1" name="Freeform 195">
              <a:extLst>
                <a:ext uri="{FF2B5EF4-FFF2-40B4-BE49-F238E27FC236}">
                  <a16:creationId xmlns:a16="http://schemas.microsoft.com/office/drawing/2014/main" id="{201B160E-0E07-4D60-B266-9A0E2424F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802"/>
              <a:ext cx="125" cy="60"/>
            </a:xfrm>
            <a:custGeom>
              <a:avLst/>
              <a:gdLst>
                <a:gd name="T0" fmla="*/ 0 w 125"/>
                <a:gd name="T1" fmla="*/ 0 h 60"/>
                <a:gd name="T2" fmla="*/ 0 w 125"/>
                <a:gd name="T3" fmla="*/ 0 h 60"/>
                <a:gd name="T4" fmla="*/ 0 w 125"/>
                <a:gd name="T5" fmla="*/ 5 h 60"/>
                <a:gd name="T6" fmla="*/ 3 w 125"/>
                <a:gd name="T7" fmla="*/ 11 h 60"/>
                <a:gd name="T8" fmla="*/ 3 w 125"/>
                <a:gd name="T9" fmla="*/ 16 h 60"/>
                <a:gd name="T10" fmla="*/ 6 w 125"/>
                <a:gd name="T11" fmla="*/ 22 h 60"/>
                <a:gd name="T12" fmla="*/ 9 w 125"/>
                <a:gd name="T13" fmla="*/ 27 h 60"/>
                <a:gd name="T14" fmla="*/ 11 w 125"/>
                <a:gd name="T15" fmla="*/ 33 h 60"/>
                <a:gd name="T16" fmla="*/ 14 w 125"/>
                <a:gd name="T17" fmla="*/ 38 h 60"/>
                <a:gd name="T18" fmla="*/ 19 w 125"/>
                <a:gd name="T19" fmla="*/ 41 h 60"/>
                <a:gd name="T20" fmla="*/ 22 w 125"/>
                <a:gd name="T21" fmla="*/ 46 h 60"/>
                <a:gd name="T22" fmla="*/ 28 w 125"/>
                <a:gd name="T23" fmla="*/ 49 h 60"/>
                <a:gd name="T24" fmla="*/ 33 w 125"/>
                <a:gd name="T25" fmla="*/ 52 h 60"/>
                <a:gd name="T26" fmla="*/ 39 w 125"/>
                <a:gd name="T27" fmla="*/ 54 h 60"/>
                <a:gd name="T28" fmla="*/ 45 w 125"/>
                <a:gd name="T29" fmla="*/ 56 h 60"/>
                <a:gd name="T30" fmla="*/ 51 w 125"/>
                <a:gd name="T31" fmla="*/ 56 h 60"/>
                <a:gd name="T32" fmla="*/ 56 w 125"/>
                <a:gd name="T33" fmla="*/ 59 h 60"/>
                <a:gd name="T34" fmla="*/ 62 w 125"/>
                <a:gd name="T35" fmla="*/ 59 h 60"/>
                <a:gd name="T36" fmla="*/ 71 w 125"/>
                <a:gd name="T37" fmla="*/ 59 h 60"/>
                <a:gd name="T38" fmla="*/ 76 w 125"/>
                <a:gd name="T39" fmla="*/ 56 h 60"/>
                <a:gd name="T40" fmla="*/ 82 w 125"/>
                <a:gd name="T41" fmla="*/ 56 h 60"/>
                <a:gd name="T42" fmla="*/ 88 w 125"/>
                <a:gd name="T43" fmla="*/ 54 h 60"/>
                <a:gd name="T44" fmla="*/ 93 w 125"/>
                <a:gd name="T45" fmla="*/ 52 h 60"/>
                <a:gd name="T46" fmla="*/ 99 w 125"/>
                <a:gd name="T47" fmla="*/ 49 h 60"/>
                <a:gd name="T48" fmla="*/ 101 w 125"/>
                <a:gd name="T49" fmla="*/ 46 h 60"/>
                <a:gd name="T50" fmla="*/ 107 w 125"/>
                <a:gd name="T51" fmla="*/ 41 h 60"/>
                <a:gd name="T52" fmla="*/ 110 w 125"/>
                <a:gd name="T53" fmla="*/ 38 h 60"/>
                <a:gd name="T54" fmla="*/ 113 w 125"/>
                <a:gd name="T55" fmla="*/ 33 h 60"/>
                <a:gd name="T56" fmla="*/ 118 w 125"/>
                <a:gd name="T57" fmla="*/ 27 h 60"/>
                <a:gd name="T58" fmla="*/ 118 w 125"/>
                <a:gd name="T59" fmla="*/ 22 h 60"/>
                <a:gd name="T60" fmla="*/ 121 w 125"/>
                <a:gd name="T61" fmla="*/ 16 h 60"/>
                <a:gd name="T62" fmla="*/ 124 w 125"/>
                <a:gd name="T63" fmla="*/ 11 h 60"/>
                <a:gd name="T64" fmla="*/ 124 w 125"/>
                <a:gd name="T65" fmla="*/ 5 h 60"/>
                <a:gd name="T66" fmla="*/ 124 w 125"/>
                <a:gd name="T67" fmla="*/ 0 h 60"/>
                <a:gd name="T68" fmla="*/ 115 w 125"/>
                <a:gd name="T69" fmla="*/ 0 h 60"/>
                <a:gd name="T70" fmla="*/ 115 w 125"/>
                <a:gd name="T71" fmla="*/ 11 h 60"/>
                <a:gd name="T72" fmla="*/ 113 w 125"/>
                <a:gd name="T73" fmla="*/ 19 h 60"/>
                <a:gd name="T74" fmla="*/ 107 w 125"/>
                <a:gd name="T75" fmla="*/ 27 h 60"/>
                <a:gd name="T76" fmla="*/ 101 w 125"/>
                <a:gd name="T77" fmla="*/ 35 h 60"/>
                <a:gd name="T78" fmla="*/ 93 w 125"/>
                <a:gd name="T79" fmla="*/ 41 h 60"/>
                <a:gd name="T80" fmla="*/ 85 w 125"/>
                <a:gd name="T81" fmla="*/ 46 h 60"/>
                <a:gd name="T82" fmla="*/ 73 w 125"/>
                <a:gd name="T83" fmla="*/ 49 h 60"/>
                <a:gd name="T84" fmla="*/ 62 w 125"/>
                <a:gd name="T85" fmla="*/ 52 h 60"/>
                <a:gd name="T86" fmla="*/ 51 w 125"/>
                <a:gd name="T87" fmla="*/ 49 h 60"/>
                <a:gd name="T88" fmla="*/ 42 w 125"/>
                <a:gd name="T89" fmla="*/ 46 h 60"/>
                <a:gd name="T90" fmla="*/ 33 w 125"/>
                <a:gd name="T91" fmla="*/ 41 h 60"/>
                <a:gd name="T92" fmla="*/ 25 w 125"/>
                <a:gd name="T93" fmla="*/ 35 h 60"/>
                <a:gd name="T94" fmla="*/ 19 w 125"/>
                <a:gd name="T95" fmla="*/ 27 h 60"/>
                <a:gd name="T96" fmla="*/ 14 w 125"/>
                <a:gd name="T97" fmla="*/ 19 h 60"/>
                <a:gd name="T98" fmla="*/ 11 w 125"/>
                <a:gd name="T99" fmla="*/ 11 h 60"/>
                <a:gd name="T100" fmla="*/ 9 w 125"/>
                <a:gd name="T101" fmla="*/ 0 h 60"/>
                <a:gd name="T102" fmla="*/ 0 w 125"/>
                <a:gd name="T103" fmla="*/ 0 h 6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5"/>
                <a:gd name="T157" fmla="*/ 0 h 60"/>
                <a:gd name="T158" fmla="*/ 125 w 125"/>
                <a:gd name="T159" fmla="*/ 60 h 6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5" h="6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6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4" y="38"/>
                  </a:lnTo>
                  <a:lnTo>
                    <a:pt x="19" y="41"/>
                  </a:lnTo>
                  <a:lnTo>
                    <a:pt x="22" y="46"/>
                  </a:lnTo>
                  <a:lnTo>
                    <a:pt x="28" y="49"/>
                  </a:lnTo>
                  <a:lnTo>
                    <a:pt x="33" y="52"/>
                  </a:lnTo>
                  <a:lnTo>
                    <a:pt x="39" y="54"/>
                  </a:lnTo>
                  <a:lnTo>
                    <a:pt x="45" y="56"/>
                  </a:lnTo>
                  <a:lnTo>
                    <a:pt x="51" y="56"/>
                  </a:lnTo>
                  <a:lnTo>
                    <a:pt x="56" y="59"/>
                  </a:lnTo>
                  <a:lnTo>
                    <a:pt x="62" y="59"/>
                  </a:lnTo>
                  <a:lnTo>
                    <a:pt x="71" y="59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8" y="54"/>
                  </a:lnTo>
                  <a:lnTo>
                    <a:pt x="93" y="52"/>
                  </a:lnTo>
                  <a:lnTo>
                    <a:pt x="99" y="49"/>
                  </a:lnTo>
                  <a:lnTo>
                    <a:pt x="101" y="46"/>
                  </a:lnTo>
                  <a:lnTo>
                    <a:pt x="107" y="41"/>
                  </a:lnTo>
                  <a:lnTo>
                    <a:pt x="110" y="38"/>
                  </a:lnTo>
                  <a:lnTo>
                    <a:pt x="113" y="33"/>
                  </a:lnTo>
                  <a:lnTo>
                    <a:pt x="118" y="27"/>
                  </a:lnTo>
                  <a:lnTo>
                    <a:pt x="118" y="22"/>
                  </a:lnTo>
                  <a:lnTo>
                    <a:pt x="121" y="16"/>
                  </a:lnTo>
                  <a:lnTo>
                    <a:pt x="124" y="11"/>
                  </a:lnTo>
                  <a:lnTo>
                    <a:pt x="124" y="5"/>
                  </a:lnTo>
                  <a:lnTo>
                    <a:pt x="124" y="0"/>
                  </a:lnTo>
                  <a:lnTo>
                    <a:pt x="115" y="0"/>
                  </a:lnTo>
                  <a:lnTo>
                    <a:pt x="115" y="11"/>
                  </a:lnTo>
                  <a:lnTo>
                    <a:pt x="113" y="19"/>
                  </a:lnTo>
                  <a:lnTo>
                    <a:pt x="107" y="27"/>
                  </a:lnTo>
                  <a:lnTo>
                    <a:pt x="101" y="35"/>
                  </a:lnTo>
                  <a:lnTo>
                    <a:pt x="93" y="41"/>
                  </a:lnTo>
                  <a:lnTo>
                    <a:pt x="85" y="46"/>
                  </a:lnTo>
                  <a:lnTo>
                    <a:pt x="73" y="49"/>
                  </a:lnTo>
                  <a:lnTo>
                    <a:pt x="62" y="52"/>
                  </a:lnTo>
                  <a:lnTo>
                    <a:pt x="51" y="49"/>
                  </a:lnTo>
                  <a:lnTo>
                    <a:pt x="42" y="46"/>
                  </a:lnTo>
                  <a:lnTo>
                    <a:pt x="33" y="41"/>
                  </a:lnTo>
                  <a:lnTo>
                    <a:pt x="25" y="35"/>
                  </a:lnTo>
                  <a:lnTo>
                    <a:pt x="19" y="27"/>
                  </a:lnTo>
                  <a:lnTo>
                    <a:pt x="14" y="19"/>
                  </a:lnTo>
                  <a:lnTo>
                    <a:pt x="11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2" name="Freeform 196">
              <a:extLst>
                <a:ext uri="{FF2B5EF4-FFF2-40B4-BE49-F238E27FC236}">
                  <a16:creationId xmlns:a16="http://schemas.microsoft.com/office/drawing/2014/main" id="{A4AC21A6-7E91-4436-A5FF-3675A21FF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746"/>
              <a:ext cx="107" cy="51"/>
            </a:xfrm>
            <a:custGeom>
              <a:avLst/>
              <a:gdLst>
                <a:gd name="T0" fmla="*/ 0 w 107"/>
                <a:gd name="T1" fmla="*/ 50 h 51"/>
                <a:gd name="T2" fmla="*/ 3 w 107"/>
                <a:gd name="T3" fmla="*/ 39 h 51"/>
                <a:gd name="T4" fmla="*/ 6 w 107"/>
                <a:gd name="T5" fmla="*/ 29 h 51"/>
                <a:gd name="T6" fmla="*/ 10 w 107"/>
                <a:gd name="T7" fmla="*/ 21 h 51"/>
                <a:gd name="T8" fmla="*/ 16 w 107"/>
                <a:gd name="T9" fmla="*/ 13 h 51"/>
                <a:gd name="T10" fmla="*/ 25 w 107"/>
                <a:gd name="T11" fmla="*/ 8 h 51"/>
                <a:gd name="T12" fmla="*/ 33 w 107"/>
                <a:gd name="T13" fmla="*/ 3 h 51"/>
                <a:gd name="T14" fmla="*/ 42 w 107"/>
                <a:gd name="T15" fmla="*/ 0 h 51"/>
                <a:gd name="T16" fmla="*/ 53 w 107"/>
                <a:gd name="T17" fmla="*/ 0 h 51"/>
                <a:gd name="T18" fmla="*/ 64 w 107"/>
                <a:gd name="T19" fmla="*/ 0 h 51"/>
                <a:gd name="T20" fmla="*/ 76 w 107"/>
                <a:gd name="T21" fmla="*/ 3 h 51"/>
                <a:gd name="T22" fmla="*/ 84 w 107"/>
                <a:gd name="T23" fmla="*/ 8 h 51"/>
                <a:gd name="T24" fmla="*/ 92 w 107"/>
                <a:gd name="T25" fmla="*/ 13 h 51"/>
                <a:gd name="T26" fmla="*/ 97 w 107"/>
                <a:gd name="T27" fmla="*/ 21 h 51"/>
                <a:gd name="T28" fmla="*/ 103 w 107"/>
                <a:gd name="T29" fmla="*/ 29 h 51"/>
                <a:gd name="T30" fmla="*/ 106 w 107"/>
                <a:gd name="T31" fmla="*/ 39 h 51"/>
                <a:gd name="T32" fmla="*/ 106 w 107"/>
                <a:gd name="T33" fmla="*/ 50 h 51"/>
                <a:gd name="T34" fmla="*/ 97 w 107"/>
                <a:gd name="T35" fmla="*/ 50 h 51"/>
                <a:gd name="T36" fmla="*/ 97 w 107"/>
                <a:gd name="T37" fmla="*/ 42 h 51"/>
                <a:gd name="T38" fmla="*/ 95 w 107"/>
                <a:gd name="T39" fmla="*/ 34 h 51"/>
                <a:gd name="T40" fmla="*/ 90 w 107"/>
                <a:gd name="T41" fmla="*/ 26 h 51"/>
                <a:gd name="T42" fmla="*/ 84 w 107"/>
                <a:gd name="T43" fmla="*/ 21 h 51"/>
                <a:gd name="T44" fmla="*/ 79 w 107"/>
                <a:gd name="T45" fmla="*/ 16 h 51"/>
                <a:gd name="T46" fmla="*/ 70 w 107"/>
                <a:gd name="T47" fmla="*/ 11 h 51"/>
                <a:gd name="T48" fmla="*/ 62 w 107"/>
                <a:gd name="T49" fmla="*/ 8 h 51"/>
                <a:gd name="T50" fmla="*/ 53 w 107"/>
                <a:gd name="T51" fmla="*/ 8 h 51"/>
                <a:gd name="T52" fmla="*/ 44 w 107"/>
                <a:gd name="T53" fmla="*/ 8 h 51"/>
                <a:gd name="T54" fmla="*/ 36 w 107"/>
                <a:gd name="T55" fmla="*/ 11 h 51"/>
                <a:gd name="T56" fmla="*/ 27 w 107"/>
                <a:gd name="T57" fmla="*/ 16 h 51"/>
                <a:gd name="T58" fmla="*/ 22 w 107"/>
                <a:gd name="T59" fmla="*/ 21 h 51"/>
                <a:gd name="T60" fmla="*/ 16 w 107"/>
                <a:gd name="T61" fmla="*/ 26 h 51"/>
                <a:gd name="T62" fmla="*/ 13 w 107"/>
                <a:gd name="T63" fmla="*/ 34 h 51"/>
                <a:gd name="T64" fmla="*/ 10 w 107"/>
                <a:gd name="T65" fmla="*/ 42 h 51"/>
                <a:gd name="T66" fmla="*/ 10 w 107"/>
                <a:gd name="T67" fmla="*/ 50 h 51"/>
                <a:gd name="T68" fmla="*/ 0 w 107"/>
                <a:gd name="T69" fmla="*/ 50 h 5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7"/>
                <a:gd name="T106" fmla="*/ 0 h 51"/>
                <a:gd name="T107" fmla="*/ 107 w 107"/>
                <a:gd name="T108" fmla="*/ 51 h 5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7" h="51">
                  <a:moveTo>
                    <a:pt x="0" y="50"/>
                  </a:moveTo>
                  <a:lnTo>
                    <a:pt x="3" y="39"/>
                  </a:lnTo>
                  <a:lnTo>
                    <a:pt x="6" y="29"/>
                  </a:lnTo>
                  <a:lnTo>
                    <a:pt x="10" y="21"/>
                  </a:lnTo>
                  <a:lnTo>
                    <a:pt x="16" y="13"/>
                  </a:lnTo>
                  <a:lnTo>
                    <a:pt x="25" y="8"/>
                  </a:lnTo>
                  <a:lnTo>
                    <a:pt x="33" y="3"/>
                  </a:lnTo>
                  <a:lnTo>
                    <a:pt x="42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6" y="3"/>
                  </a:lnTo>
                  <a:lnTo>
                    <a:pt x="84" y="8"/>
                  </a:lnTo>
                  <a:lnTo>
                    <a:pt x="92" y="13"/>
                  </a:lnTo>
                  <a:lnTo>
                    <a:pt x="97" y="21"/>
                  </a:lnTo>
                  <a:lnTo>
                    <a:pt x="103" y="29"/>
                  </a:lnTo>
                  <a:lnTo>
                    <a:pt x="106" y="39"/>
                  </a:lnTo>
                  <a:lnTo>
                    <a:pt x="106" y="50"/>
                  </a:lnTo>
                  <a:lnTo>
                    <a:pt x="97" y="50"/>
                  </a:lnTo>
                  <a:lnTo>
                    <a:pt x="97" y="42"/>
                  </a:lnTo>
                  <a:lnTo>
                    <a:pt x="95" y="34"/>
                  </a:lnTo>
                  <a:lnTo>
                    <a:pt x="90" y="26"/>
                  </a:lnTo>
                  <a:lnTo>
                    <a:pt x="84" y="21"/>
                  </a:lnTo>
                  <a:lnTo>
                    <a:pt x="79" y="16"/>
                  </a:lnTo>
                  <a:lnTo>
                    <a:pt x="70" y="11"/>
                  </a:lnTo>
                  <a:lnTo>
                    <a:pt x="62" y="8"/>
                  </a:lnTo>
                  <a:lnTo>
                    <a:pt x="53" y="8"/>
                  </a:lnTo>
                  <a:lnTo>
                    <a:pt x="44" y="8"/>
                  </a:lnTo>
                  <a:lnTo>
                    <a:pt x="36" y="11"/>
                  </a:lnTo>
                  <a:lnTo>
                    <a:pt x="27" y="16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4"/>
                  </a:lnTo>
                  <a:lnTo>
                    <a:pt x="10" y="42"/>
                  </a:lnTo>
                  <a:lnTo>
                    <a:pt x="10" y="50"/>
                  </a:lnTo>
                  <a:lnTo>
                    <a:pt x="0" y="5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3" name="Freeform 197">
              <a:extLst>
                <a:ext uri="{FF2B5EF4-FFF2-40B4-BE49-F238E27FC236}">
                  <a16:creationId xmlns:a16="http://schemas.microsoft.com/office/drawing/2014/main" id="{E6870F25-BA28-4049-9751-7185D08A8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802"/>
              <a:ext cx="107" cy="52"/>
            </a:xfrm>
            <a:custGeom>
              <a:avLst/>
              <a:gdLst>
                <a:gd name="T0" fmla="*/ 0 w 107"/>
                <a:gd name="T1" fmla="*/ 0 h 52"/>
                <a:gd name="T2" fmla="*/ 0 w 107"/>
                <a:gd name="T3" fmla="*/ 0 h 52"/>
                <a:gd name="T4" fmla="*/ 3 w 107"/>
                <a:gd name="T5" fmla="*/ 11 h 52"/>
                <a:gd name="T6" fmla="*/ 6 w 107"/>
                <a:gd name="T7" fmla="*/ 19 h 52"/>
                <a:gd name="T8" fmla="*/ 10 w 107"/>
                <a:gd name="T9" fmla="*/ 27 h 52"/>
                <a:gd name="T10" fmla="*/ 16 w 107"/>
                <a:gd name="T11" fmla="*/ 35 h 52"/>
                <a:gd name="T12" fmla="*/ 25 w 107"/>
                <a:gd name="T13" fmla="*/ 40 h 52"/>
                <a:gd name="T14" fmla="*/ 33 w 107"/>
                <a:gd name="T15" fmla="*/ 46 h 52"/>
                <a:gd name="T16" fmla="*/ 42 w 107"/>
                <a:gd name="T17" fmla="*/ 48 h 52"/>
                <a:gd name="T18" fmla="*/ 53 w 107"/>
                <a:gd name="T19" fmla="*/ 51 h 52"/>
                <a:gd name="T20" fmla="*/ 64 w 107"/>
                <a:gd name="T21" fmla="*/ 48 h 52"/>
                <a:gd name="T22" fmla="*/ 76 w 107"/>
                <a:gd name="T23" fmla="*/ 46 h 52"/>
                <a:gd name="T24" fmla="*/ 84 w 107"/>
                <a:gd name="T25" fmla="*/ 40 h 52"/>
                <a:gd name="T26" fmla="*/ 92 w 107"/>
                <a:gd name="T27" fmla="*/ 35 h 52"/>
                <a:gd name="T28" fmla="*/ 97 w 107"/>
                <a:gd name="T29" fmla="*/ 27 h 52"/>
                <a:gd name="T30" fmla="*/ 103 w 107"/>
                <a:gd name="T31" fmla="*/ 19 h 52"/>
                <a:gd name="T32" fmla="*/ 106 w 107"/>
                <a:gd name="T33" fmla="*/ 11 h 52"/>
                <a:gd name="T34" fmla="*/ 106 w 107"/>
                <a:gd name="T35" fmla="*/ 0 h 52"/>
                <a:gd name="T36" fmla="*/ 97 w 107"/>
                <a:gd name="T37" fmla="*/ 0 h 52"/>
                <a:gd name="T38" fmla="*/ 97 w 107"/>
                <a:gd name="T39" fmla="*/ 8 h 52"/>
                <a:gd name="T40" fmla="*/ 95 w 107"/>
                <a:gd name="T41" fmla="*/ 16 h 52"/>
                <a:gd name="T42" fmla="*/ 90 w 107"/>
                <a:gd name="T43" fmla="*/ 24 h 52"/>
                <a:gd name="T44" fmla="*/ 84 w 107"/>
                <a:gd name="T45" fmla="*/ 30 h 52"/>
                <a:gd name="T46" fmla="*/ 79 w 107"/>
                <a:gd name="T47" fmla="*/ 35 h 52"/>
                <a:gd name="T48" fmla="*/ 70 w 107"/>
                <a:gd name="T49" fmla="*/ 38 h 52"/>
                <a:gd name="T50" fmla="*/ 62 w 107"/>
                <a:gd name="T51" fmla="*/ 40 h 52"/>
                <a:gd name="T52" fmla="*/ 53 w 107"/>
                <a:gd name="T53" fmla="*/ 40 h 52"/>
                <a:gd name="T54" fmla="*/ 44 w 107"/>
                <a:gd name="T55" fmla="*/ 40 h 52"/>
                <a:gd name="T56" fmla="*/ 36 w 107"/>
                <a:gd name="T57" fmla="*/ 38 h 52"/>
                <a:gd name="T58" fmla="*/ 27 w 107"/>
                <a:gd name="T59" fmla="*/ 35 h 52"/>
                <a:gd name="T60" fmla="*/ 22 w 107"/>
                <a:gd name="T61" fmla="*/ 30 h 52"/>
                <a:gd name="T62" fmla="*/ 16 w 107"/>
                <a:gd name="T63" fmla="*/ 24 h 52"/>
                <a:gd name="T64" fmla="*/ 13 w 107"/>
                <a:gd name="T65" fmla="*/ 16 h 52"/>
                <a:gd name="T66" fmla="*/ 10 w 107"/>
                <a:gd name="T67" fmla="*/ 8 h 52"/>
                <a:gd name="T68" fmla="*/ 10 w 107"/>
                <a:gd name="T69" fmla="*/ 0 h 52"/>
                <a:gd name="T70" fmla="*/ 0 w 107"/>
                <a:gd name="T71" fmla="*/ 0 h 5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7"/>
                <a:gd name="T109" fmla="*/ 0 h 52"/>
                <a:gd name="T110" fmla="*/ 107 w 107"/>
                <a:gd name="T111" fmla="*/ 52 h 5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7" h="52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6" y="19"/>
                  </a:lnTo>
                  <a:lnTo>
                    <a:pt x="10" y="27"/>
                  </a:lnTo>
                  <a:lnTo>
                    <a:pt x="16" y="35"/>
                  </a:lnTo>
                  <a:lnTo>
                    <a:pt x="25" y="40"/>
                  </a:lnTo>
                  <a:lnTo>
                    <a:pt x="33" y="46"/>
                  </a:lnTo>
                  <a:lnTo>
                    <a:pt x="42" y="48"/>
                  </a:lnTo>
                  <a:lnTo>
                    <a:pt x="53" y="51"/>
                  </a:lnTo>
                  <a:lnTo>
                    <a:pt x="64" y="48"/>
                  </a:lnTo>
                  <a:lnTo>
                    <a:pt x="76" y="46"/>
                  </a:lnTo>
                  <a:lnTo>
                    <a:pt x="84" y="40"/>
                  </a:lnTo>
                  <a:lnTo>
                    <a:pt x="92" y="35"/>
                  </a:lnTo>
                  <a:lnTo>
                    <a:pt x="97" y="27"/>
                  </a:lnTo>
                  <a:lnTo>
                    <a:pt x="103" y="19"/>
                  </a:lnTo>
                  <a:lnTo>
                    <a:pt x="106" y="11"/>
                  </a:lnTo>
                  <a:lnTo>
                    <a:pt x="106" y="0"/>
                  </a:lnTo>
                  <a:lnTo>
                    <a:pt x="97" y="0"/>
                  </a:lnTo>
                  <a:lnTo>
                    <a:pt x="97" y="8"/>
                  </a:lnTo>
                  <a:lnTo>
                    <a:pt x="95" y="16"/>
                  </a:lnTo>
                  <a:lnTo>
                    <a:pt x="90" y="24"/>
                  </a:lnTo>
                  <a:lnTo>
                    <a:pt x="84" y="30"/>
                  </a:lnTo>
                  <a:lnTo>
                    <a:pt x="79" y="35"/>
                  </a:lnTo>
                  <a:lnTo>
                    <a:pt x="70" y="38"/>
                  </a:lnTo>
                  <a:lnTo>
                    <a:pt x="62" y="40"/>
                  </a:lnTo>
                  <a:lnTo>
                    <a:pt x="53" y="40"/>
                  </a:lnTo>
                  <a:lnTo>
                    <a:pt x="44" y="40"/>
                  </a:lnTo>
                  <a:lnTo>
                    <a:pt x="36" y="38"/>
                  </a:lnTo>
                  <a:lnTo>
                    <a:pt x="27" y="35"/>
                  </a:lnTo>
                  <a:lnTo>
                    <a:pt x="22" y="30"/>
                  </a:lnTo>
                  <a:lnTo>
                    <a:pt x="16" y="24"/>
                  </a:lnTo>
                  <a:lnTo>
                    <a:pt x="13" y="16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0" y="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4" name="Freeform 198">
              <a:extLst>
                <a:ext uri="{FF2B5EF4-FFF2-40B4-BE49-F238E27FC236}">
                  <a16:creationId xmlns:a16="http://schemas.microsoft.com/office/drawing/2014/main" id="{0C628817-133C-48A3-A3F3-DB48393F8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755"/>
              <a:ext cx="87" cy="42"/>
            </a:xfrm>
            <a:custGeom>
              <a:avLst/>
              <a:gdLst>
                <a:gd name="T0" fmla="*/ 0 w 87"/>
                <a:gd name="T1" fmla="*/ 41 h 42"/>
                <a:gd name="T2" fmla="*/ 0 w 87"/>
                <a:gd name="T3" fmla="*/ 33 h 42"/>
                <a:gd name="T4" fmla="*/ 3 w 87"/>
                <a:gd name="T5" fmla="*/ 25 h 42"/>
                <a:gd name="T6" fmla="*/ 6 w 87"/>
                <a:gd name="T7" fmla="*/ 17 h 42"/>
                <a:gd name="T8" fmla="*/ 11 w 87"/>
                <a:gd name="T9" fmla="*/ 13 h 42"/>
                <a:gd name="T10" fmla="*/ 17 w 87"/>
                <a:gd name="T11" fmla="*/ 8 h 42"/>
                <a:gd name="T12" fmla="*/ 25 w 87"/>
                <a:gd name="T13" fmla="*/ 3 h 42"/>
                <a:gd name="T14" fmla="*/ 34 w 87"/>
                <a:gd name="T15" fmla="*/ 0 h 42"/>
                <a:gd name="T16" fmla="*/ 42 w 87"/>
                <a:gd name="T17" fmla="*/ 0 h 42"/>
                <a:gd name="T18" fmla="*/ 50 w 87"/>
                <a:gd name="T19" fmla="*/ 0 h 42"/>
                <a:gd name="T20" fmla="*/ 59 w 87"/>
                <a:gd name="T21" fmla="*/ 3 h 42"/>
                <a:gd name="T22" fmla="*/ 67 w 87"/>
                <a:gd name="T23" fmla="*/ 8 h 42"/>
                <a:gd name="T24" fmla="*/ 73 w 87"/>
                <a:gd name="T25" fmla="*/ 13 h 42"/>
                <a:gd name="T26" fmla="*/ 79 w 87"/>
                <a:gd name="T27" fmla="*/ 17 h 42"/>
                <a:gd name="T28" fmla="*/ 83 w 87"/>
                <a:gd name="T29" fmla="*/ 25 h 42"/>
                <a:gd name="T30" fmla="*/ 86 w 87"/>
                <a:gd name="T31" fmla="*/ 33 h 42"/>
                <a:gd name="T32" fmla="*/ 86 w 87"/>
                <a:gd name="T33" fmla="*/ 41 h 42"/>
                <a:gd name="T34" fmla="*/ 79 w 87"/>
                <a:gd name="T35" fmla="*/ 41 h 42"/>
                <a:gd name="T36" fmla="*/ 79 w 87"/>
                <a:gd name="T37" fmla="*/ 33 h 42"/>
                <a:gd name="T38" fmla="*/ 76 w 87"/>
                <a:gd name="T39" fmla="*/ 28 h 42"/>
                <a:gd name="T40" fmla="*/ 73 w 87"/>
                <a:gd name="T41" fmla="*/ 23 h 42"/>
                <a:gd name="T42" fmla="*/ 67 w 87"/>
                <a:gd name="T43" fmla="*/ 17 h 42"/>
                <a:gd name="T44" fmla="*/ 62 w 87"/>
                <a:gd name="T45" fmla="*/ 13 h 42"/>
                <a:gd name="T46" fmla="*/ 56 w 87"/>
                <a:gd name="T47" fmla="*/ 10 h 42"/>
                <a:gd name="T48" fmla="*/ 50 w 87"/>
                <a:gd name="T49" fmla="*/ 8 h 42"/>
                <a:gd name="T50" fmla="*/ 42 w 87"/>
                <a:gd name="T51" fmla="*/ 8 h 42"/>
                <a:gd name="T52" fmla="*/ 36 w 87"/>
                <a:gd name="T53" fmla="*/ 8 h 42"/>
                <a:gd name="T54" fmla="*/ 28 w 87"/>
                <a:gd name="T55" fmla="*/ 10 h 42"/>
                <a:gd name="T56" fmla="*/ 22 w 87"/>
                <a:gd name="T57" fmla="*/ 13 h 42"/>
                <a:gd name="T58" fmla="*/ 17 w 87"/>
                <a:gd name="T59" fmla="*/ 17 h 42"/>
                <a:gd name="T60" fmla="*/ 14 w 87"/>
                <a:gd name="T61" fmla="*/ 23 h 42"/>
                <a:gd name="T62" fmla="*/ 11 w 87"/>
                <a:gd name="T63" fmla="*/ 28 h 42"/>
                <a:gd name="T64" fmla="*/ 8 w 87"/>
                <a:gd name="T65" fmla="*/ 33 h 42"/>
                <a:gd name="T66" fmla="*/ 8 w 87"/>
                <a:gd name="T67" fmla="*/ 41 h 42"/>
                <a:gd name="T68" fmla="*/ 0 w 87"/>
                <a:gd name="T69" fmla="*/ 41 h 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7"/>
                <a:gd name="T106" fmla="*/ 0 h 42"/>
                <a:gd name="T107" fmla="*/ 87 w 87"/>
                <a:gd name="T108" fmla="*/ 42 h 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7" h="42">
                  <a:moveTo>
                    <a:pt x="0" y="41"/>
                  </a:moveTo>
                  <a:lnTo>
                    <a:pt x="0" y="33"/>
                  </a:lnTo>
                  <a:lnTo>
                    <a:pt x="3" y="25"/>
                  </a:lnTo>
                  <a:lnTo>
                    <a:pt x="6" y="17"/>
                  </a:lnTo>
                  <a:lnTo>
                    <a:pt x="11" y="13"/>
                  </a:lnTo>
                  <a:lnTo>
                    <a:pt x="17" y="8"/>
                  </a:lnTo>
                  <a:lnTo>
                    <a:pt x="25" y="3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0"/>
                  </a:lnTo>
                  <a:lnTo>
                    <a:pt x="59" y="3"/>
                  </a:lnTo>
                  <a:lnTo>
                    <a:pt x="67" y="8"/>
                  </a:lnTo>
                  <a:lnTo>
                    <a:pt x="73" y="13"/>
                  </a:lnTo>
                  <a:lnTo>
                    <a:pt x="79" y="17"/>
                  </a:lnTo>
                  <a:lnTo>
                    <a:pt x="83" y="25"/>
                  </a:lnTo>
                  <a:lnTo>
                    <a:pt x="86" y="33"/>
                  </a:lnTo>
                  <a:lnTo>
                    <a:pt x="86" y="41"/>
                  </a:lnTo>
                  <a:lnTo>
                    <a:pt x="79" y="41"/>
                  </a:lnTo>
                  <a:lnTo>
                    <a:pt x="79" y="33"/>
                  </a:lnTo>
                  <a:lnTo>
                    <a:pt x="76" y="28"/>
                  </a:lnTo>
                  <a:lnTo>
                    <a:pt x="73" y="23"/>
                  </a:lnTo>
                  <a:lnTo>
                    <a:pt x="67" y="17"/>
                  </a:lnTo>
                  <a:lnTo>
                    <a:pt x="62" y="13"/>
                  </a:lnTo>
                  <a:lnTo>
                    <a:pt x="56" y="10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6" y="8"/>
                  </a:lnTo>
                  <a:lnTo>
                    <a:pt x="28" y="10"/>
                  </a:lnTo>
                  <a:lnTo>
                    <a:pt x="22" y="13"/>
                  </a:lnTo>
                  <a:lnTo>
                    <a:pt x="17" y="17"/>
                  </a:lnTo>
                  <a:lnTo>
                    <a:pt x="14" y="23"/>
                  </a:lnTo>
                  <a:lnTo>
                    <a:pt x="11" y="28"/>
                  </a:lnTo>
                  <a:lnTo>
                    <a:pt x="8" y="33"/>
                  </a:lnTo>
                  <a:lnTo>
                    <a:pt x="8" y="41"/>
                  </a:lnTo>
                  <a:lnTo>
                    <a:pt x="0" y="41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5" name="Freeform 199">
              <a:extLst>
                <a:ext uri="{FF2B5EF4-FFF2-40B4-BE49-F238E27FC236}">
                  <a16:creationId xmlns:a16="http://schemas.microsoft.com/office/drawing/2014/main" id="{6CD31C93-29B3-48DB-9520-EBCE08393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802"/>
              <a:ext cx="87" cy="40"/>
            </a:xfrm>
            <a:custGeom>
              <a:avLst/>
              <a:gdLst>
                <a:gd name="T0" fmla="*/ 0 w 87"/>
                <a:gd name="T1" fmla="*/ 0 h 40"/>
                <a:gd name="T2" fmla="*/ 0 w 87"/>
                <a:gd name="T3" fmla="*/ 0 h 40"/>
                <a:gd name="T4" fmla="*/ 0 w 87"/>
                <a:gd name="T5" fmla="*/ 8 h 40"/>
                <a:gd name="T6" fmla="*/ 3 w 87"/>
                <a:gd name="T7" fmla="*/ 16 h 40"/>
                <a:gd name="T8" fmla="*/ 6 w 87"/>
                <a:gd name="T9" fmla="*/ 23 h 40"/>
                <a:gd name="T10" fmla="*/ 11 w 87"/>
                <a:gd name="T11" fmla="*/ 29 h 40"/>
                <a:gd name="T12" fmla="*/ 17 w 87"/>
                <a:gd name="T13" fmla="*/ 34 h 40"/>
                <a:gd name="T14" fmla="*/ 25 w 87"/>
                <a:gd name="T15" fmla="*/ 36 h 40"/>
                <a:gd name="T16" fmla="*/ 34 w 87"/>
                <a:gd name="T17" fmla="*/ 39 h 40"/>
                <a:gd name="T18" fmla="*/ 42 w 87"/>
                <a:gd name="T19" fmla="*/ 39 h 40"/>
                <a:gd name="T20" fmla="*/ 50 w 87"/>
                <a:gd name="T21" fmla="*/ 39 h 40"/>
                <a:gd name="T22" fmla="*/ 59 w 87"/>
                <a:gd name="T23" fmla="*/ 36 h 40"/>
                <a:gd name="T24" fmla="*/ 67 w 87"/>
                <a:gd name="T25" fmla="*/ 34 h 40"/>
                <a:gd name="T26" fmla="*/ 73 w 87"/>
                <a:gd name="T27" fmla="*/ 29 h 40"/>
                <a:gd name="T28" fmla="*/ 79 w 87"/>
                <a:gd name="T29" fmla="*/ 23 h 40"/>
                <a:gd name="T30" fmla="*/ 83 w 87"/>
                <a:gd name="T31" fmla="*/ 16 h 40"/>
                <a:gd name="T32" fmla="*/ 86 w 87"/>
                <a:gd name="T33" fmla="*/ 8 h 40"/>
                <a:gd name="T34" fmla="*/ 86 w 87"/>
                <a:gd name="T35" fmla="*/ 0 h 40"/>
                <a:gd name="T36" fmla="*/ 79 w 87"/>
                <a:gd name="T37" fmla="*/ 0 h 40"/>
                <a:gd name="T38" fmla="*/ 79 w 87"/>
                <a:gd name="T39" fmla="*/ 5 h 40"/>
                <a:gd name="T40" fmla="*/ 76 w 87"/>
                <a:gd name="T41" fmla="*/ 13 h 40"/>
                <a:gd name="T42" fmla="*/ 73 w 87"/>
                <a:gd name="T43" fmla="*/ 18 h 40"/>
                <a:gd name="T44" fmla="*/ 67 w 87"/>
                <a:gd name="T45" fmla="*/ 23 h 40"/>
                <a:gd name="T46" fmla="*/ 62 w 87"/>
                <a:gd name="T47" fmla="*/ 26 h 40"/>
                <a:gd name="T48" fmla="*/ 56 w 87"/>
                <a:gd name="T49" fmla="*/ 29 h 40"/>
                <a:gd name="T50" fmla="*/ 50 w 87"/>
                <a:gd name="T51" fmla="*/ 31 h 40"/>
                <a:gd name="T52" fmla="*/ 42 w 87"/>
                <a:gd name="T53" fmla="*/ 31 h 40"/>
                <a:gd name="T54" fmla="*/ 36 w 87"/>
                <a:gd name="T55" fmla="*/ 31 h 40"/>
                <a:gd name="T56" fmla="*/ 28 w 87"/>
                <a:gd name="T57" fmla="*/ 29 h 40"/>
                <a:gd name="T58" fmla="*/ 22 w 87"/>
                <a:gd name="T59" fmla="*/ 26 h 40"/>
                <a:gd name="T60" fmla="*/ 17 w 87"/>
                <a:gd name="T61" fmla="*/ 23 h 40"/>
                <a:gd name="T62" fmla="*/ 14 w 87"/>
                <a:gd name="T63" fmla="*/ 18 h 40"/>
                <a:gd name="T64" fmla="*/ 11 w 87"/>
                <a:gd name="T65" fmla="*/ 13 h 40"/>
                <a:gd name="T66" fmla="*/ 8 w 87"/>
                <a:gd name="T67" fmla="*/ 5 h 40"/>
                <a:gd name="T68" fmla="*/ 8 w 87"/>
                <a:gd name="T69" fmla="*/ 0 h 40"/>
                <a:gd name="T70" fmla="*/ 0 w 87"/>
                <a:gd name="T71" fmla="*/ 0 h 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7"/>
                <a:gd name="T109" fmla="*/ 0 h 40"/>
                <a:gd name="T110" fmla="*/ 87 w 87"/>
                <a:gd name="T111" fmla="*/ 40 h 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7" h="40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11" y="29"/>
                  </a:lnTo>
                  <a:lnTo>
                    <a:pt x="17" y="34"/>
                  </a:lnTo>
                  <a:lnTo>
                    <a:pt x="25" y="36"/>
                  </a:lnTo>
                  <a:lnTo>
                    <a:pt x="34" y="39"/>
                  </a:lnTo>
                  <a:lnTo>
                    <a:pt x="42" y="39"/>
                  </a:lnTo>
                  <a:lnTo>
                    <a:pt x="50" y="39"/>
                  </a:lnTo>
                  <a:lnTo>
                    <a:pt x="59" y="36"/>
                  </a:lnTo>
                  <a:lnTo>
                    <a:pt x="67" y="34"/>
                  </a:lnTo>
                  <a:lnTo>
                    <a:pt x="73" y="29"/>
                  </a:lnTo>
                  <a:lnTo>
                    <a:pt x="79" y="23"/>
                  </a:lnTo>
                  <a:lnTo>
                    <a:pt x="83" y="16"/>
                  </a:lnTo>
                  <a:lnTo>
                    <a:pt x="86" y="8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6" y="13"/>
                  </a:lnTo>
                  <a:lnTo>
                    <a:pt x="73" y="18"/>
                  </a:lnTo>
                  <a:lnTo>
                    <a:pt x="67" y="23"/>
                  </a:lnTo>
                  <a:lnTo>
                    <a:pt x="62" y="26"/>
                  </a:lnTo>
                  <a:lnTo>
                    <a:pt x="56" y="29"/>
                  </a:lnTo>
                  <a:lnTo>
                    <a:pt x="50" y="31"/>
                  </a:lnTo>
                  <a:lnTo>
                    <a:pt x="42" y="31"/>
                  </a:lnTo>
                  <a:lnTo>
                    <a:pt x="36" y="31"/>
                  </a:lnTo>
                  <a:lnTo>
                    <a:pt x="28" y="29"/>
                  </a:lnTo>
                  <a:lnTo>
                    <a:pt x="22" y="26"/>
                  </a:lnTo>
                  <a:lnTo>
                    <a:pt x="17" y="23"/>
                  </a:lnTo>
                  <a:lnTo>
                    <a:pt x="14" y="18"/>
                  </a:lnTo>
                  <a:lnTo>
                    <a:pt x="11" y="13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6" name="Freeform 200">
              <a:extLst>
                <a:ext uri="{FF2B5EF4-FFF2-40B4-BE49-F238E27FC236}">
                  <a16:creationId xmlns:a16="http://schemas.microsoft.com/office/drawing/2014/main" id="{05B21496-B20E-43B6-A184-FAC595F15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764"/>
              <a:ext cx="70" cy="33"/>
            </a:xfrm>
            <a:custGeom>
              <a:avLst/>
              <a:gdLst>
                <a:gd name="T0" fmla="*/ 0 w 70"/>
                <a:gd name="T1" fmla="*/ 32 h 33"/>
                <a:gd name="T2" fmla="*/ 0 w 70"/>
                <a:gd name="T3" fmla="*/ 24 h 33"/>
                <a:gd name="T4" fmla="*/ 3 w 70"/>
                <a:gd name="T5" fmla="*/ 19 h 33"/>
                <a:gd name="T6" fmla="*/ 6 w 70"/>
                <a:gd name="T7" fmla="*/ 14 h 33"/>
                <a:gd name="T8" fmla="*/ 8 w 70"/>
                <a:gd name="T9" fmla="*/ 9 h 33"/>
                <a:gd name="T10" fmla="*/ 14 w 70"/>
                <a:gd name="T11" fmla="*/ 5 h 33"/>
                <a:gd name="T12" fmla="*/ 19 w 70"/>
                <a:gd name="T13" fmla="*/ 3 h 33"/>
                <a:gd name="T14" fmla="*/ 28 w 70"/>
                <a:gd name="T15" fmla="*/ 0 h 33"/>
                <a:gd name="T16" fmla="*/ 33 w 70"/>
                <a:gd name="T17" fmla="*/ 0 h 33"/>
                <a:gd name="T18" fmla="*/ 41 w 70"/>
                <a:gd name="T19" fmla="*/ 0 h 33"/>
                <a:gd name="T20" fmla="*/ 47 w 70"/>
                <a:gd name="T21" fmla="*/ 3 h 33"/>
                <a:gd name="T22" fmla="*/ 52 w 70"/>
                <a:gd name="T23" fmla="*/ 5 h 33"/>
                <a:gd name="T24" fmla="*/ 58 w 70"/>
                <a:gd name="T25" fmla="*/ 9 h 33"/>
                <a:gd name="T26" fmla="*/ 63 w 70"/>
                <a:gd name="T27" fmla="*/ 14 h 33"/>
                <a:gd name="T28" fmla="*/ 66 w 70"/>
                <a:gd name="T29" fmla="*/ 19 h 33"/>
                <a:gd name="T30" fmla="*/ 69 w 70"/>
                <a:gd name="T31" fmla="*/ 24 h 33"/>
                <a:gd name="T32" fmla="*/ 69 w 70"/>
                <a:gd name="T33" fmla="*/ 32 h 33"/>
                <a:gd name="T34" fmla="*/ 61 w 70"/>
                <a:gd name="T35" fmla="*/ 32 h 33"/>
                <a:gd name="T36" fmla="*/ 58 w 70"/>
                <a:gd name="T37" fmla="*/ 27 h 33"/>
                <a:gd name="T38" fmla="*/ 58 w 70"/>
                <a:gd name="T39" fmla="*/ 22 h 33"/>
                <a:gd name="T40" fmla="*/ 55 w 70"/>
                <a:gd name="T41" fmla="*/ 17 h 33"/>
                <a:gd name="T42" fmla="*/ 52 w 70"/>
                <a:gd name="T43" fmla="*/ 14 h 33"/>
                <a:gd name="T44" fmla="*/ 50 w 70"/>
                <a:gd name="T45" fmla="*/ 12 h 33"/>
                <a:gd name="T46" fmla="*/ 44 w 70"/>
                <a:gd name="T47" fmla="*/ 9 h 33"/>
                <a:gd name="T48" fmla="*/ 39 w 70"/>
                <a:gd name="T49" fmla="*/ 9 h 33"/>
                <a:gd name="T50" fmla="*/ 33 w 70"/>
                <a:gd name="T51" fmla="*/ 8 h 33"/>
                <a:gd name="T52" fmla="*/ 28 w 70"/>
                <a:gd name="T53" fmla="*/ 9 h 33"/>
                <a:gd name="T54" fmla="*/ 25 w 70"/>
                <a:gd name="T55" fmla="*/ 9 h 33"/>
                <a:gd name="T56" fmla="*/ 19 w 70"/>
                <a:gd name="T57" fmla="*/ 12 h 33"/>
                <a:gd name="T58" fmla="*/ 17 w 70"/>
                <a:gd name="T59" fmla="*/ 14 h 33"/>
                <a:gd name="T60" fmla="*/ 11 w 70"/>
                <a:gd name="T61" fmla="*/ 17 h 33"/>
                <a:gd name="T62" fmla="*/ 8 w 70"/>
                <a:gd name="T63" fmla="*/ 22 h 33"/>
                <a:gd name="T64" fmla="*/ 8 w 70"/>
                <a:gd name="T65" fmla="*/ 27 h 33"/>
                <a:gd name="T66" fmla="*/ 8 w 70"/>
                <a:gd name="T67" fmla="*/ 32 h 33"/>
                <a:gd name="T68" fmla="*/ 0 w 70"/>
                <a:gd name="T69" fmla="*/ 32 h 3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"/>
                <a:gd name="T106" fmla="*/ 0 h 33"/>
                <a:gd name="T107" fmla="*/ 70 w 70"/>
                <a:gd name="T108" fmla="*/ 33 h 3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" h="33">
                  <a:moveTo>
                    <a:pt x="0" y="32"/>
                  </a:moveTo>
                  <a:lnTo>
                    <a:pt x="0" y="24"/>
                  </a:lnTo>
                  <a:lnTo>
                    <a:pt x="3" y="19"/>
                  </a:lnTo>
                  <a:lnTo>
                    <a:pt x="6" y="14"/>
                  </a:lnTo>
                  <a:lnTo>
                    <a:pt x="8" y="9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41" y="0"/>
                  </a:lnTo>
                  <a:lnTo>
                    <a:pt x="47" y="3"/>
                  </a:lnTo>
                  <a:lnTo>
                    <a:pt x="52" y="5"/>
                  </a:lnTo>
                  <a:lnTo>
                    <a:pt x="58" y="9"/>
                  </a:lnTo>
                  <a:lnTo>
                    <a:pt x="63" y="14"/>
                  </a:lnTo>
                  <a:lnTo>
                    <a:pt x="66" y="19"/>
                  </a:lnTo>
                  <a:lnTo>
                    <a:pt x="69" y="24"/>
                  </a:lnTo>
                  <a:lnTo>
                    <a:pt x="69" y="32"/>
                  </a:lnTo>
                  <a:lnTo>
                    <a:pt x="61" y="32"/>
                  </a:lnTo>
                  <a:lnTo>
                    <a:pt x="58" y="27"/>
                  </a:lnTo>
                  <a:lnTo>
                    <a:pt x="58" y="22"/>
                  </a:lnTo>
                  <a:lnTo>
                    <a:pt x="55" y="17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44" y="9"/>
                  </a:lnTo>
                  <a:lnTo>
                    <a:pt x="39" y="9"/>
                  </a:lnTo>
                  <a:lnTo>
                    <a:pt x="33" y="8"/>
                  </a:lnTo>
                  <a:lnTo>
                    <a:pt x="28" y="9"/>
                  </a:lnTo>
                  <a:lnTo>
                    <a:pt x="25" y="9"/>
                  </a:lnTo>
                  <a:lnTo>
                    <a:pt x="19" y="12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8" y="27"/>
                  </a:lnTo>
                  <a:lnTo>
                    <a:pt x="8" y="32"/>
                  </a:lnTo>
                  <a:lnTo>
                    <a:pt x="0" y="32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7" name="Freeform 201">
              <a:extLst>
                <a:ext uri="{FF2B5EF4-FFF2-40B4-BE49-F238E27FC236}">
                  <a16:creationId xmlns:a16="http://schemas.microsoft.com/office/drawing/2014/main" id="{F02403CF-49CB-4973-BECF-3BCC4F2D4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802"/>
              <a:ext cx="70" cy="31"/>
            </a:xfrm>
            <a:custGeom>
              <a:avLst/>
              <a:gdLst>
                <a:gd name="T0" fmla="*/ 0 w 70"/>
                <a:gd name="T1" fmla="*/ 0 h 31"/>
                <a:gd name="T2" fmla="*/ 0 w 70"/>
                <a:gd name="T3" fmla="*/ 0 h 31"/>
                <a:gd name="T4" fmla="*/ 0 w 70"/>
                <a:gd name="T5" fmla="*/ 5 h 31"/>
                <a:gd name="T6" fmla="*/ 3 w 70"/>
                <a:gd name="T7" fmla="*/ 13 h 31"/>
                <a:gd name="T8" fmla="*/ 6 w 70"/>
                <a:gd name="T9" fmla="*/ 18 h 31"/>
                <a:gd name="T10" fmla="*/ 8 w 70"/>
                <a:gd name="T11" fmla="*/ 23 h 31"/>
                <a:gd name="T12" fmla="*/ 14 w 70"/>
                <a:gd name="T13" fmla="*/ 25 h 31"/>
                <a:gd name="T14" fmla="*/ 19 w 70"/>
                <a:gd name="T15" fmla="*/ 28 h 31"/>
                <a:gd name="T16" fmla="*/ 28 w 70"/>
                <a:gd name="T17" fmla="*/ 30 h 31"/>
                <a:gd name="T18" fmla="*/ 33 w 70"/>
                <a:gd name="T19" fmla="*/ 30 h 31"/>
                <a:gd name="T20" fmla="*/ 41 w 70"/>
                <a:gd name="T21" fmla="*/ 30 h 31"/>
                <a:gd name="T22" fmla="*/ 47 w 70"/>
                <a:gd name="T23" fmla="*/ 28 h 31"/>
                <a:gd name="T24" fmla="*/ 52 w 70"/>
                <a:gd name="T25" fmla="*/ 25 h 31"/>
                <a:gd name="T26" fmla="*/ 58 w 70"/>
                <a:gd name="T27" fmla="*/ 23 h 31"/>
                <a:gd name="T28" fmla="*/ 63 w 70"/>
                <a:gd name="T29" fmla="*/ 18 h 31"/>
                <a:gd name="T30" fmla="*/ 66 w 70"/>
                <a:gd name="T31" fmla="*/ 13 h 31"/>
                <a:gd name="T32" fmla="*/ 69 w 70"/>
                <a:gd name="T33" fmla="*/ 5 h 31"/>
                <a:gd name="T34" fmla="*/ 69 w 70"/>
                <a:gd name="T35" fmla="*/ 0 h 31"/>
                <a:gd name="T36" fmla="*/ 61 w 70"/>
                <a:gd name="T37" fmla="*/ 0 h 31"/>
                <a:gd name="T38" fmla="*/ 58 w 70"/>
                <a:gd name="T39" fmla="*/ 5 h 31"/>
                <a:gd name="T40" fmla="*/ 58 w 70"/>
                <a:gd name="T41" fmla="*/ 8 h 31"/>
                <a:gd name="T42" fmla="*/ 55 w 70"/>
                <a:gd name="T43" fmla="*/ 13 h 31"/>
                <a:gd name="T44" fmla="*/ 52 w 70"/>
                <a:gd name="T45" fmla="*/ 15 h 31"/>
                <a:gd name="T46" fmla="*/ 50 w 70"/>
                <a:gd name="T47" fmla="*/ 20 h 31"/>
                <a:gd name="T48" fmla="*/ 44 w 70"/>
                <a:gd name="T49" fmla="*/ 23 h 31"/>
                <a:gd name="T50" fmla="*/ 39 w 70"/>
                <a:gd name="T51" fmla="*/ 23 h 31"/>
                <a:gd name="T52" fmla="*/ 33 w 70"/>
                <a:gd name="T53" fmla="*/ 23 h 31"/>
                <a:gd name="T54" fmla="*/ 28 w 70"/>
                <a:gd name="T55" fmla="*/ 23 h 31"/>
                <a:gd name="T56" fmla="*/ 25 w 70"/>
                <a:gd name="T57" fmla="*/ 23 h 31"/>
                <a:gd name="T58" fmla="*/ 19 w 70"/>
                <a:gd name="T59" fmla="*/ 20 h 31"/>
                <a:gd name="T60" fmla="*/ 17 w 70"/>
                <a:gd name="T61" fmla="*/ 15 h 31"/>
                <a:gd name="T62" fmla="*/ 11 w 70"/>
                <a:gd name="T63" fmla="*/ 13 h 31"/>
                <a:gd name="T64" fmla="*/ 8 w 70"/>
                <a:gd name="T65" fmla="*/ 8 h 31"/>
                <a:gd name="T66" fmla="*/ 8 w 70"/>
                <a:gd name="T67" fmla="*/ 5 h 31"/>
                <a:gd name="T68" fmla="*/ 8 w 70"/>
                <a:gd name="T69" fmla="*/ 0 h 31"/>
                <a:gd name="T70" fmla="*/ 0 w 70"/>
                <a:gd name="T71" fmla="*/ 0 h 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"/>
                <a:gd name="T109" fmla="*/ 0 h 31"/>
                <a:gd name="T110" fmla="*/ 70 w 70"/>
                <a:gd name="T111" fmla="*/ 31 h 3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" h="3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3"/>
                  </a:lnTo>
                  <a:lnTo>
                    <a:pt x="6" y="18"/>
                  </a:lnTo>
                  <a:lnTo>
                    <a:pt x="8" y="23"/>
                  </a:lnTo>
                  <a:lnTo>
                    <a:pt x="14" y="25"/>
                  </a:lnTo>
                  <a:lnTo>
                    <a:pt x="19" y="28"/>
                  </a:lnTo>
                  <a:lnTo>
                    <a:pt x="28" y="30"/>
                  </a:lnTo>
                  <a:lnTo>
                    <a:pt x="33" y="30"/>
                  </a:lnTo>
                  <a:lnTo>
                    <a:pt x="41" y="30"/>
                  </a:lnTo>
                  <a:lnTo>
                    <a:pt x="47" y="28"/>
                  </a:lnTo>
                  <a:lnTo>
                    <a:pt x="52" y="25"/>
                  </a:lnTo>
                  <a:lnTo>
                    <a:pt x="58" y="23"/>
                  </a:lnTo>
                  <a:lnTo>
                    <a:pt x="63" y="18"/>
                  </a:lnTo>
                  <a:lnTo>
                    <a:pt x="66" y="13"/>
                  </a:lnTo>
                  <a:lnTo>
                    <a:pt x="69" y="5"/>
                  </a:lnTo>
                  <a:lnTo>
                    <a:pt x="69" y="0"/>
                  </a:lnTo>
                  <a:lnTo>
                    <a:pt x="61" y="0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5" y="13"/>
                  </a:lnTo>
                  <a:lnTo>
                    <a:pt x="52" y="15"/>
                  </a:lnTo>
                  <a:lnTo>
                    <a:pt x="50" y="20"/>
                  </a:lnTo>
                  <a:lnTo>
                    <a:pt x="44" y="23"/>
                  </a:lnTo>
                  <a:lnTo>
                    <a:pt x="39" y="23"/>
                  </a:lnTo>
                  <a:lnTo>
                    <a:pt x="33" y="23"/>
                  </a:lnTo>
                  <a:lnTo>
                    <a:pt x="28" y="23"/>
                  </a:lnTo>
                  <a:lnTo>
                    <a:pt x="25" y="23"/>
                  </a:lnTo>
                  <a:lnTo>
                    <a:pt x="19" y="20"/>
                  </a:lnTo>
                  <a:lnTo>
                    <a:pt x="17" y="15"/>
                  </a:lnTo>
                  <a:lnTo>
                    <a:pt x="11" y="13"/>
                  </a:lnTo>
                  <a:lnTo>
                    <a:pt x="8" y="8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8" name="Freeform 202">
              <a:extLst>
                <a:ext uri="{FF2B5EF4-FFF2-40B4-BE49-F238E27FC236}">
                  <a16:creationId xmlns:a16="http://schemas.microsoft.com/office/drawing/2014/main" id="{53E91EAE-CC2A-407F-AB37-A02EF871C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773"/>
              <a:ext cx="52" cy="24"/>
            </a:xfrm>
            <a:custGeom>
              <a:avLst/>
              <a:gdLst>
                <a:gd name="T0" fmla="*/ 0 w 52"/>
                <a:gd name="T1" fmla="*/ 23 h 24"/>
                <a:gd name="T2" fmla="*/ 0 w 52"/>
                <a:gd name="T3" fmla="*/ 18 h 24"/>
                <a:gd name="T4" fmla="*/ 0 w 52"/>
                <a:gd name="T5" fmla="*/ 13 h 24"/>
                <a:gd name="T6" fmla="*/ 3 w 52"/>
                <a:gd name="T7" fmla="*/ 9 h 24"/>
                <a:gd name="T8" fmla="*/ 8 w 52"/>
                <a:gd name="T9" fmla="*/ 6 h 24"/>
                <a:gd name="T10" fmla="*/ 11 w 52"/>
                <a:gd name="T11" fmla="*/ 4 h 24"/>
                <a:gd name="T12" fmla="*/ 16 w 52"/>
                <a:gd name="T13" fmla="*/ 2 h 24"/>
                <a:gd name="T14" fmla="*/ 19 w 52"/>
                <a:gd name="T15" fmla="*/ 2 h 24"/>
                <a:gd name="T16" fmla="*/ 24 w 52"/>
                <a:gd name="T17" fmla="*/ 0 h 24"/>
                <a:gd name="T18" fmla="*/ 30 w 52"/>
                <a:gd name="T19" fmla="*/ 2 h 24"/>
                <a:gd name="T20" fmla="*/ 35 w 52"/>
                <a:gd name="T21" fmla="*/ 2 h 24"/>
                <a:gd name="T22" fmla="*/ 40 w 52"/>
                <a:gd name="T23" fmla="*/ 4 h 24"/>
                <a:gd name="T24" fmla="*/ 43 w 52"/>
                <a:gd name="T25" fmla="*/ 6 h 24"/>
                <a:gd name="T26" fmla="*/ 46 w 52"/>
                <a:gd name="T27" fmla="*/ 9 h 24"/>
                <a:gd name="T28" fmla="*/ 48 w 52"/>
                <a:gd name="T29" fmla="*/ 13 h 24"/>
                <a:gd name="T30" fmla="*/ 48 w 52"/>
                <a:gd name="T31" fmla="*/ 18 h 24"/>
                <a:gd name="T32" fmla="*/ 51 w 52"/>
                <a:gd name="T33" fmla="*/ 23 h 24"/>
                <a:gd name="T34" fmla="*/ 40 w 52"/>
                <a:gd name="T35" fmla="*/ 23 h 24"/>
                <a:gd name="T36" fmla="*/ 40 w 52"/>
                <a:gd name="T37" fmla="*/ 21 h 24"/>
                <a:gd name="T38" fmla="*/ 40 w 52"/>
                <a:gd name="T39" fmla="*/ 16 h 24"/>
                <a:gd name="T40" fmla="*/ 38 w 52"/>
                <a:gd name="T41" fmla="*/ 13 h 24"/>
                <a:gd name="T42" fmla="*/ 38 w 52"/>
                <a:gd name="T43" fmla="*/ 11 h 24"/>
                <a:gd name="T44" fmla="*/ 35 w 52"/>
                <a:gd name="T45" fmla="*/ 11 h 24"/>
                <a:gd name="T46" fmla="*/ 32 w 52"/>
                <a:gd name="T47" fmla="*/ 9 h 24"/>
                <a:gd name="T48" fmla="*/ 27 w 52"/>
                <a:gd name="T49" fmla="*/ 9 h 24"/>
                <a:gd name="T50" fmla="*/ 24 w 52"/>
                <a:gd name="T51" fmla="*/ 9 h 24"/>
                <a:gd name="T52" fmla="*/ 21 w 52"/>
                <a:gd name="T53" fmla="*/ 9 h 24"/>
                <a:gd name="T54" fmla="*/ 19 w 52"/>
                <a:gd name="T55" fmla="*/ 9 h 24"/>
                <a:gd name="T56" fmla="*/ 16 w 52"/>
                <a:gd name="T57" fmla="*/ 11 h 24"/>
                <a:gd name="T58" fmla="*/ 13 w 52"/>
                <a:gd name="T59" fmla="*/ 11 h 24"/>
                <a:gd name="T60" fmla="*/ 11 w 52"/>
                <a:gd name="T61" fmla="*/ 13 h 24"/>
                <a:gd name="T62" fmla="*/ 8 w 52"/>
                <a:gd name="T63" fmla="*/ 16 h 24"/>
                <a:gd name="T64" fmla="*/ 8 w 52"/>
                <a:gd name="T65" fmla="*/ 21 h 24"/>
                <a:gd name="T66" fmla="*/ 8 w 52"/>
                <a:gd name="T67" fmla="*/ 23 h 24"/>
                <a:gd name="T68" fmla="*/ 0 w 52"/>
                <a:gd name="T69" fmla="*/ 23 h 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"/>
                <a:gd name="T106" fmla="*/ 0 h 24"/>
                <a:gd name="T107" fmla="*/ 52 w 52"/>
                <a:gd name="T108" fmla="*/ 24 h 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" h="24">
                  <a:moveTo>
                    <a:pt x="0" y="23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3" y="9"/>
                  </a:lnTo>
                  <a:lnTo>
                    <a:pt x="8" y="6"/>
                  </a:lnTo>
                  <a:lnTo>
                    <a:pt x="11" y="4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5" y="2"/>
                  </a:lnTo>
                  <a:lnTo>
                    <a:pt x="40" y="4"/>
                  </a:lnTo>
                  <a:lnTo>
                    <a:pt x="43" y="6"/>
                  </a:lnTo>
                  <a:lnTo>
                    <a:pt x="46" y="9"/>
                  </a:lnTo>
                  <a:lnTo>
                    <a:pt x="48" y="13"/>
                  </a:lnTo>
                  <a:lnTo>
                    <a:pt x="48" y="18"/>
                  </a:lnTo>
                  <a:lnTo>
                    <a:pt x="51" y="23"/>
                  </a:lnTo>
                  <a:lnTo>
                    <a:pt x="40" y="23"/>
                  </a:lnTo>
                  <a:lnTo>
                    <a:pt x="40" y="21"/>
                  </a:lnTo>
                  <a:lnTo>
                    <a:pt x="40" y="16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5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4" y="9"/>
                  </a:lnTo>
                  <a:lnTo>
                    <a:pt x="21" y="9"/>
                  </a:lnTo>
                  <a:lnTo>
                    <a:pt x="19" y="9"/>
                  </a:lnTo>
                  <a:lnTo>
                    <a:pt x="16" y="11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0" y="23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69" name="Freeform 203">
              <a:extLst>
                <a:ext uri="{FF2B5EF4-FFF2-40B4-BE49-F238E27FC236}">
                  <a16:creationId xmlns:a16="http://schemas.microsoft.com/office/drawing/2014/main" id="{64102F4F-5A4B-4981-9083-CE22027FD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802"/>
              <a:ext cx="52" cy="22"/>
            </a:xfrm>
            <a:custGeom>
              <a:avLst/>
              <a:gdLst>
                <a:gd name="T0" fmla="*/ 0 w 52"/>
                <a:gd name="T1" fmla="*/ 0 h 22"/>
                <a:gd name="T2" fmla="*/ 0 w 52"/>
                <a:gd name="T3" fmla="*/ 0 h 22"/>
                <a:gd name="T4" fmla="*/ 0 w 52"/>
                <a:gd name="T5" fmla="*/ 5 h 22"/>
                <a:gd name="T6" fmla="*/ 0 w 52"/>
                <a:gd name="T7" fmla="*/ 7 h 22"/>
                <a:gd name="T8" fmla="*/ 3 w 52"/>
                <a:gd name="T9" fmla="*/ 12 h 22"/>
                <a:gd name="T10" fmla="*/ 8 w 52"/>
                <a:gd name="T11" fmla="*/ 14 h 22"/>
                <a:gd name="T12" fmla="*/ 11 w 52"/>
                <a:gd name="T13" fmla="*/ 19 h 22"/>
                <a:gd name="T14" fmla="*/ 16 w 52"/>
                <a:gd name="T15" fmla="*/ 21 h 22"/>
                <a:gd name="T16" fmla="*/ 19 w 52"/>
                <a:gd name="T17" fmla="*/ 21 h 22"/>
                <a:gd name="T18" fmla="*/ 24 w 52"/>
                <a:gd name="T19" fmla="*/ 21 h 22"/>
                <a:gd name="T20" fmla="*/ 30 w 52"/>
                <a:gd name="T21" fmla="*/ 21 h 22"/>
                <a:gd name="T22" fmla="*/ 35 w 52"/>
                <a:gd name="T23" fmla="*/ 21 h 22"/>
                <a:gd name="T24" fmla="*/ 40 w 52"/>
                <a:gd name="T25" fmla="*/ 19 h 22"/>
                <a:gd name="T26" fmla="*/ 43 w 52"/>
                <a:gd name="T27" fmla="*/ 14 h 22"/>
                <a:gd name="T28" fmla="*/ 46 w 52"/>
                <a:gd name="T29" fmla="*/ 12 h 22"/>
                <a:gd name="T30" fmla="*/ 48 w 52"/>
                <a:gd name="T31" fmla="*/ 7 h 22"/>
                <a:gd name="T32" fmla="*/ 48 w 52"/>
                <a:gd name="T33" fmla="*/ 5 h 22"/>
                <a:gd name="T34" fmla="*/ 51 w 52"/>
                <a:gd name="T35" fmla="*/ 0 h 22"/>
                <a:gd name="T36" fmla="*/ 40 w 52"/>
                <a:gd name="T37" fmla="*/ 0 h 22"/>
                <a:gd name="T38" fmla="*/ 40 w 52"/>
                <a:gd name="T39" fmla="*/ 2 h 22"/>
                <a:gd name="T40" fmla="*/ 40 w 52"/>
                <a:gd name="T41" fmla="*/ 5 h 22"/>
                <a:gd name="T42" fmla="*/ 38 w 52"/>
                <a:gd name="T43" fmla="*/ 7 h 22"/>
                <a:gd name="T44" fmla="*/ 38 w 52"/>
                <a:gd name="T45" fmla="*/ 9 h 22"/>
                <a:gd name="T46" fmla="*/ 35 w 52"/>
                <a:gd name="T47" fmla="*/ 12 h 22"/>
                <a:gd name="T48" fmla="*/ 32 w 52"/>
                <a:gd name="T49" fmla="*/ 14 h 22"/>
                <a:gd name="T50" fmla="*/ 27 w 52"/>
                <a:gd name="T51" fmla="*/ 14 h 22"/>
                <a:gd name="T52" fmla="*/ 24 w 52"/>
                <a:gd name="T53" fmla="*/ 14 h 22"/>
                <a:gd name="T54" fmla="*/ 21 w 52"/>
                <a:gd name="T55" fmla="*/ 14 h 22"/>
                <a:gd name="T56" fmla="*/ 19 w 52"/>
                <a:gd name="T57" fmla="*/ 14 h 22"/>
                <a:gd name="T58" fmla="*/ 16 w 52"/>
                <a:gd name="T59" fmla="*/ 12 h 22"/>
                <a:gd name="T60" fmla="*/ 13 w 52"/>
                <a:gd name="T61" fmla="*/ 9 h 22"/>
                <a:gd name="T62" fmla="*/ 11 w 52"/>
                <a:gd name="T63" fmla="*/ 7 h 22"/>
                <a:gd name="T64" fmla="*/ 8 w 52"/>
                <a:gd name="T65" fmla="*/ 5 h 22"/>
                <a:gd name="T66" fmla="*/ 8 w 52"/>
                <a:gd name="T67" fmla="*/ 2 h 22"/>
                <a:gd name="T68" fmla="*/ 8 w 52"/>
                <a:gd name="T69" fmla="*/ 0 h 22"/>
                <a:gd name="T70" fmla="*/ 0 w 52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2"/>
                <a:gd name="T109" fmla="*/ 0 h 22"/>
                <a:gd name="T110" fmla="*/ 52 w 52"/>
                <a:gd name="T111" fmla="*/ 22 h 2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2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8" y="14"/>
                  </a:lnTo>
                  <a:lnTo>
                    <a:pt x="11" y="19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30" y="21"/>
                  </a:lnTo>
                  <a:lnTo>
                    <a:pt x="35" y="21"/>
                  </a:lnTo>
                  <a:lnTo>
                    <a:pt x="40" y="19"/>
                  </a:lnTo>
                  <a:lnTo>
                    <a:pt x="43" y="14"/>
                  </a:lnTo>
                  <a:lnTo>
                    <a:pt x="46" y="12"/>
                  </a:lnTo>
                  <a:lnTo>
                    <a:pt x="48" y="7"/>
                  </a:lnTo>
                  <a:lnTo>
                    <a:pt x="48" y="5"/>
                  </a:lnTo>
                  <a:lnTo>
                    <a:pt x="5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7"/>
                  </a:lnTo>
                  <a:lnTo>
                    <a:pt x="38" y="9"/>
                  </a:lnTo>
                  <a:lnTo>
                    <a:pt x="35" y="12"/>
                  </a:lnTo>
                  <a:lnTo>
                    <a:pt x="32" y="14"/>
                  </a:lnTo>
                  <a:lnTo>
                    <a:pt x="27" y="14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9" y="14"/>
                  </a:lnTo>
                  <a:lnTo>
                    <a:pt x="16" y="12"/>
                  </a:lnTo>
                  <a:lnTo>
                    <a:pt x="13" y="9"/>
                  </a:lnTo>
                  <a:lnTo>
                    <a:pt x="11" y="7"/>
                  </a:lnTo>
                  <a:lnTo>
                    <a:pt x="8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0" name="Freeform 204">
              <a:extLst>
                <a:ext uri="{FF2B5EF4-FFF2-40B4-BE49-F238E27FC236}">
                  <a16:creationId xmlns:a16="http://schemas.microsoft.com/office/drawing/2014/main" id="{3C372938-C6DA-4D96-92D8-0304CA890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784"/>
              <a:ext cx="31" cy="13"/>
            </a:xfrm>
            <a:custGeom>
              <a:avLst/>
              <a:gdLst>
                <a:gd name="T0" fmla="*/ 0 w 31"/>
                <a:gd name="T1" fmla="*/ 12 h 13"/>
                <a:gd name="T2" fmla="*/ 0 w 31"/>
                <a:gd name="T3" fmla="*/ 10 h 13"/>
                <a:gd name="T4" fmla="*/ 0 w 31"/>
                <a:gd name="T5" fmla="*/ 6 h 13"/>
                <a:gd name="T6" fmla="*/ 3 w 31"/>
                <a:gd name="T7" fmla="*/ 4 h 13"/>
                <a:gd name="T8" fmla="*/ 5 w 31"/>
                <a:gd name="T9" fmla="*/ 2 h 13"/>
                <a:gd name="T10" fmla="*/ 8 w 31"/>
                <a:gd name="T11" fmla="*/ 2 h 13"/>
                <a:gd name="T12" fmla="*/ 10 w 31"/>
                <a:gd name="T13" fmla="*/ 0 h 13"/>
                <a:gd name="T14" fmla="*/ 13 w 31"/>
                <a:gd name="T15" fmla="*/ 0 h 13"/>
                <a:gd name="T16" fmla="*/ 15 w 31"/>
                <a:gd name="T17" fmla="*/ 0 h 13"/>
                <a:gd name="T18" fmla="*/ 18 w 31"/>
                <a:gd name="T19" fmla="*/ 0 h 13"/>
                <a:gd name="T20" fmla="*/ 23 w 31"/>
                <a:gd name="T21" fmla="*/ 0 h 13"/>
                <a:gd name="T22" fmla="*/ 25 w 31"/>
                <a:gd name="T23" fmla="*/ 2 h 13"/>
                <a:gd name="T24" fmla="*/ 28 w 31"/>
                <a:gd name="T25" fmla="*/ 2 h 13"/>
                <a:gd name="T26" fmla="*/ 28 w 31"/>
                <a:gd name="T27" fmla="*/ 4 h 13"/>
                <a:gd name="T28" fmla="*/ 30 w 31"/>
                <a:gd name="T29" fmla="*/ 6 h 13"/>
                <a:gd name="T30" fmla="*/ 30 w 31"/>
                <a:gd name="T31" fmla="*/ 10 h 13"/>
                <a:gd name="T32" fmla="*/ 30 w 31"/>
                <a:gd name="T33" fmla="*/ 12 h 13"/>
                <a:gd name="T34" fmla="*/ 23 w 31"/>
                <a:gd name="T35" fmla="*/ 12 h 13"/>
                <a:gd name="T36" fmla="*/ 23 w 31"/>
                <a:gd name="T37" fmla="*/ 10 h 13"/>
                <a:gd name="T38" fmla="*/ 20 w 31"/>
                <a:gd name="T39" fmla="*/ 8 h 13"/>
                <a:gd name="T40" fmla="*/ 18 w 31"/>
                <a:gd name="T41" fmla="*/ 6 h 13"/>
                <a:gd name="T42" fmla="*/ 15 w 31"/>
                <a:gd name="T43" fmla="*/ 6 h 13"/>
                <a:gd name="T44" fmla="*/ 13 w 31"/>
                <a:gd name="T45" fmla="*/ 6 h 13"/>
                <a:gd name="T46" fmla="*/ 10 w 31"/>
                <a:gd name="T47" fmla="*/ 8 h 13"/>
                <a:gd name="T48" fmla="*/ 8 w 31"/>
                <a:gd name="T49" fmla="*/ 10 h 13"/>
                <a:gd name="T50" fmla="*/ 8 w 31"/>
                <a:gd name="T51" fmla="*/ 12 h 13"/>
                <a:gd name="T52" fmla="*/ 0 w 31"/>
                <a:gd name="T53" fmla="*/ 12 h 1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1"/>
                <a:gd name="T82" fmla="*/ 0 h 13"/>
                <a:gd name="T83" fmla="*/ 31 w 31"/>
                <a:gd name="T84" fmla="*/ 13 h 1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1" h="13">
                  <a:moveTo>
                    <a:pt x="0" y="12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3" y="4"/>
                  </a:lnTo>
                  <a:lnTo>
                    <a:pt x="5" y="2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0" y="12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1" name="Freeform 205">
              <a:extLst>
                <a:ext uri="{FF2B5EF4-FFF2-40B4-BE49-F238E27FC236}">
                  <a16:creationId xmlns:a16="http://schemas.microsoft.com/office/drawing/2014/main" id="{3CA1C307-C5FE-4B20-B51D-54B97CA39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802"/>
              <a:ext cx="31" cy="13"/>
            </a:xfrm>
            <a:custGeom>
              <a:avLst/>
              <a:gdLst>
                <a:gd name="T0" fmla="*/ 0 w 31"/>
                <a:gd name="T1" fmla="*/ 0 h 13"/>
                <a:gd name="T2" fmla="*/ 0 w 31"/>
                <a:gd name="T3" fmla="*/ 0 h 13"/>
                <a:gd name="T4" fmla="*/ 0 w 31"/>
                <a:gd name="T5" fmla="*/ 2 h 13"/>
                <a:gd name="T6" fmla="*/ 0 w 31"/>
                <a:gd name="T7" fmla="*/ 4 h 13"/>
                <a:gd name="T8" fmla="*/ 3 w 31"/>
                <a:gd name="T9" fmla="*/ 6 h 13"/>
                <a:gd name="T10" fmla="*/ 5 w 31"/>
                <a:gd name="T11" fmla="*/ 8 h 13"/>
                <a:gd name="T12" fmla="*/ 8 w 31"/>
                <a:gd name="T13" fmla="*/ 10 h 13"/>
                <a:gd name="T14" fmla="*/ 10 w 31"/>
                <a:gd name="T15" fmla="*/ 12 h 13"/>
                <a:gd name="T16" fmla="*/ 13 w 31"/>
                <a:gd name="T17" fmla="*/ 12 h 13"/>
                <a:gd name="T18" fmla="*/ 15 w 31"/>
                <a:gd name="T19" fmla="*/ 12 h 13"/>
                <a:gd name="T20" fmla="*/ 18 w 31"/>
                <a:gd name="T21" fmla="*/ 12 h 13"/>
                <a:gd name="T22" fmla="*/ 23 w 31"/>
                <a:gd name="T23" fmla="*/ 12 h 13"/>
                <a:gd name="T24" fmla="*/ 25 w 31"/>
                <a:gd name="T25" fmla="*/ 10 h 13"/>
                <a:gd name="T26" fmla="*/ 28 w 31"/>
                <a:gd name="T27" fmla="*/ 8 h 13"/>
                <a:gd name="T28" fmla="*/ 28 w 31"/>
                <a:gd name="T29" fmla="*/ 6 h 13"/>
                <a:gd name="T30" fmla="*/ 30 w 31"/>
                <a:gd name="T31" fmla="*/ 4 h 13"/>
                <a:gd name="T32" fmla="*/ 30 w 31"/>
                <a:gd name="T33" fmla="*/ 2 h 13"/>
                <a:gd name="T34" fmla="*/ 30 w 31"/>
                <a:gd name="T35" fmla="*/ 0 h 13"/>
                <a:gd name="T36" fmla="*/ 23 w 31"/>
                <a:gd name="T37" fmla="*/ 0 h 13"/>
                <a:gd name="T38" fmla="*/ 23 w 31"/>
                <a:gd name="T39" fmla="*/ 2 h 13"/>
                <a:gd name="T40" fmla="*/ 20 w 31"/>
                <a:gd name="T41" fmla="*/ 4 h 13"/>
                <a:gd name="T42" fmla="*/ 18 w 31"/>
                <a:gd name="T43" fmla="*/ 6 h 13"/>
                <a:gd name="T44" fmla="*/ 15 w 31"/>
                <a:gd name="T45" fmla="*/ 6 h 13"/>
                <a:gd name="T46" fmla="*/ 13 w 31"/>
                <a:gd name="T47" fmla="*/ 6 h 13"/>
                <a:gd name="T48" fmla="*/ 10 w 31"/>
                <a:gd name="T49" fmla="*/ 4 h 13"/>
                <a:gd name="T50" fmla="*/ 8 w 31"/>
                <a:gd name="T51" fmla="*/ 2 h 13"/>
                <a:gd name="T52" fmla="*/ 8 w 31"/>
                <a:gd name="T53" fmla="*/ 0 h 13"/>
                <a:gd name="T54" fmla="*/ 0 w 31"/>
                <a:gd name="T55" fmla="*/ 0 h 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31"/>
                <a:gd name="T85" fmla="*/ 0 h 13"/>
                <a:gd name="T86" fmla="*/ 31 w 31"/>
                <a:gd name="T87" fmla="*/ 13 h 1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31" h="1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6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0" y="12"/>
                  </a:lnTo>
                  <a:lnTo>
                    <a:pt x="13" y="12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30" y="4"/>
                  </a:lnTo>
                  <a:lnTo>
                    <a:pt x="30" y="2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2" name="Freeform 206">
              <a:extLst>
                <a:ext uri="{FF2B5EF4-FFF2-40B4-BE49-F238E27FC236}">
                  <a16:creationId xmlns:a16="http://schemas.microsoft.com/office/drawing/2014/main" id="{D23A21C0-4D64-4B57-B288-ECA4F9560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93"/>
              <a:ext cx="13" cy="13"/>
            </a:xfrm>
            <a:custGeom>
              <a:avLst/>
              <a:gdLst>
                <a:gd name="T0" fmla="*/ 12 w 13"/>
                <a:gd name="T1" fmla="*/ 6 h 13"/>
                <a:gd name="T2" fmla="*/ 12 w 13"/>
                <a:gd name="T3" fmla="*/ 4 h 13"/>
                <a:gd name="T4" fmla="*/ 10 w 13"/>
                <a:gd name="T5" fmla="*/ 2 h 13"/>
                <a:gd name="T6" fmla="*/ 8 w 13"/>
                <a:gd name="T7" fmla="*/ 0 h 13"/>
                <a:gd name="T8" fmla="*/ 6 w 13"/>
                <a:gd name="T9" fmla="*/ 0 h 13"/>
                <a:gd name="T10" fmla="*/ 4 w 13"/>
                <a:gd name="T11" fmla="*/ 0 h 13"/>
                <a:gd name="T12" fmla="*/ 2 w 13"/>
                <a:gd name="T13" fmla="*/ 2 h 13"/>
                <a:gd name="T14" fmla="*/ 0 w 13"/>
                <a:gd name="T15" fmla="*/ 4 h 13"/>
                <a:gd name="T16" fmla="*/ 0 w 13"/>
                <a:gd name="T17" fmla="*/ 6 h 13"/>
                <a:gd name="T18" fmla="*/ 0 w 13"/>
                <a:gd name="T19" fmla="*/ 8 h 13"/>
                <a:gd name="T20" fmla="*/ 2 w 13"/>
                <a:gd name="T21" fmla="*/ 10 h 13"/>
                <a:gd name="T22" fmla="*/ 4 w 13"/>
                <a:gd name="T23" fmla="*/ 12 h 13"/>
                <a:gd name="T24" fmla="*/ 6 w 13"/>
                <a:gd name="T25" fmla="*/ 12 h 13"/>
                <a:gd name="T26" fmla="*/ 8 w 13"/>
                <a:gd name="T27" fmla="*/ 12 h 13"/>
                <a:gd name="T28" fmla="*/ 10 w 13"/>
                <a:gd name="T29" fmla="*/ 10 h 13"/>
                <a:gd name="T30" fmla="*/ 12 w 13"/>
                <a:gd name="T31" fmla="*/ 8 h 13"/>
                <a:gd name="T32" fmla="*/ 12 w 13"/>
                <a:gd name="T33" fmla="*/ 6 h 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"/>
                <a:gd name="T52" fmla="*/ 0 h 13"/>
                <a:gd name="T53" fmla="*/ 13 w 13"/>
                <a:gd name="T54" fmla="*/ 13 h 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" h="13">
                  <a:moveTo>
                    <a:pt x="12" y="6"/>
                  </a:moveTo>
                  <a:lnTo>
                    <a:pt x="12" y="4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2" y="6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3" name="Freeform 207">
              <a:extLst>
                <a:ext uri="{FF2B5EF4-FFF2-40B4-BE49-F238E27FC236}">
                  <a16:creationId xmlns:a16="http://schemas.microsoft.com/office/drawing/2014/main" id="{5B5820C7-E41E-486E-9ACB-953EF8477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60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4" name="Freeform 208">
              <a:extLst>
                <a:ext uri="{FF2B5EF4-FFF2-40B4-BE49-F238E27FC236}">
                  <a16:creationId xmlns:a16="http://schemas.microsoft.com/office/drawing/2014/main" id="{148CA57F-DFED-4ABF-9C99-983168A37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9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5" name="Freeform 209">
              <a:extLst>
                <a:ext uri="{FF2B5EF4-FFF2-40B4-BE49-F238E27FC236}">
                  <a16:creationId xmlns:a16="http://schemas.microsoft.com/office/drawing/2014/main" id="{6D520E08-B748-4908-9696-435D82D35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8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6" name="Freeform 210">
              <a:extLst>
                <a:ext uri="{FF2B5EF4-FFF2-40B4-BE49-F238E27FC236}">
                  <a16:creationId xmlns:a16="http://schemas.microsoft.com/office/drawing/2014/main" id="{EC9767EE-F347-4E86-9576-27A8078D4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7" name="Freeform 211">
              <a:extLst>
                <a:ext uri="{FF2B5EF4-FFF2-40B4-BE49-F238E27FC236}">
                  <a16:creationId xmlns:a16="http://schemas.microsoft.com/office/drawing/2014/main" id="{D0E6C18F-DD66-4B50-86E5-2BE5A6E78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8" name="Freeform 212">
              <a:extLst>
                <a:ext uri="{FF2B5EF4-FFF2-40B4-BE49-F238E27FC236}">
                  <a16:creationId xmlns:a16="http://schemas.microsoft.com/office/drawing/2014/main" id="{AF6F76FD-DA4E-4519-A515-16504F0DC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79" name="Freeform 213">
              <a:extLst>
                <a:ext uri="{FF2B5EF4-FFF2-40B4-BE49-F238E27FC236}">
                  <a16:creationId xmlns:a16="http://schemas.microsoft.com/office/drawing/2014/main" id="{C40B5578-1E8C-484F-86FB-2610DB71B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9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3B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0" name="Freeform 214">
              <a:extLst>
                <a:ext uri="{FF2B5EF4-FFF2-40B4-BE49-F238E27FC236}">
                  <a16:creationId xmlns:a16="http://schemas.microsoft.com/office/drawing/2014/main" id="{7EF0FD5E-0188-467B-BF06-E847D6AF5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B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1" name="Freeform 215">
              <a:extLst>
                <a:ext uri="{FF2B5EF4-FFF2-40B4-BE49-F238E27FC236}">
                  <a16:creationId xmlns:a16="http://schemas.microsoft.com/office/drawing/2014/main" id="{B0251408-B889-45EE-8DA9-2085CA94A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2" name="Freeform 216">
              <a:extLst>
                <a:ext uri="{FF2B5EF4-FFF2-40B4-BE49-F238E27FC236}">
                  <a16:creationId xmlns:a16="http://schemas.microsoft.com/office/drawing/2014/main" id="{B0484428-2011-4676-8689-CA19E4BE6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AB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3" name="Freeform 217">
              <a:extLst>
                <a:ext uri="{FF2B5EF4-FFF2-40B4-BE49-F238E27FC236}">
                  <a16:creationId xmlns:a16="http://schemas.microsoft.com/office/drawing/2014/main" id="{2AB61BED-D1E6-4084-AF6B-AB2EC160C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3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A6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4" name="Freeform 218">
              <a:extLst>
                <a:ext uri="{FF2B5EF4-FFF2-40B4-BE49-F238E27FC236}">
                  <a16:creationId xmlns:a16="http://schemas.microsoft.com/office/drawing/2014/main" id="{19E33733-7951-4B06-80D7-88234E5B4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A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5" name="Freeform 219">
              <a:extLst>
                <a:ext uri="{FF2B5EF4-FFF2-40B4-BE49-F238E27FC236}">
                  <a16:creationId xmlns:a16="http://schemas.microsoft.com/office/drawing/2014/main" id="{5CC293C8-5950-4FED-81F0-EB629A341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6" name="Freeform 220">
              <a:extLst>
                <a:ext uri="{FF2B5EF4-FFF2-40B4-BE49-F238E27FC236}">
                  <a16:creationId xmlns:a16="http://schemas.microsoft.com/office/drawing/2014/main" id="{3C0343AB-556C-4526-93F3-5A0391C31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1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7" name="Freeform 221">
              <a:extLst>
                <a:ext uri="{FF2B5EF4-FFF2-40B4-BE49-F238E27FC236}">
                  <a16:creationId xmlns:a16="http://schemas.microsoft.com/office/drawing/2014/main" id="{F7748923-D8F2-4166-9470-82859749E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0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8" name="Freeform 222">
              <a:extLst>
                <a:ext uri="{FF2B5EF4-FFF2-40B4-BE49-F238E27FC236}">
                  <a16:creationId xmlns:a16="http://schemas.microsoft.com/office/drawing/2014/main" id="{5AB592E3-5CF7-436D-853E-776425723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89" name="Freeform 223">
              <a:extLst>
                <a:ext uri="{FF2B5EF4-FFF2-40B4-BE49-F238E27FC236}">
                  <a16:creationId xmlns:a16="http://schemas.microsoft.com/office/drawing/2014/main" id="{23C0E7AB-B837-430C-9184-D5C62AA3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8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0" name="Freeform 224">
              <a:extLst>
                <a:ext uri="{FF2B5EF4-FFF2-40B4-BE49-F238E27FC236}">
                  <a16:creationId xmlns:a16="http://schemas.microsoft.com/office/drawing/2014/main" id="{981C51D8-C7A8-4542-B652-3E9C8426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8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8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1" name="Freeform 225">
              <a:extLst>
                <a:ext uri="{FF2B5EF4-FFF2-40B4-BE49-F238E27FC236}">
                  <a16:creationId xmlns:a16="http://schemas.microsoft.com/office/drawing/2014/main" id="{8225E3A0-E91F-4B5B-A21C-59A2079F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85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2" name="Freeform 226">
              <a:extLst>
                <a:ext uri="{FF2B5EF4-FFF2-40B4-BE49-F238E27FC236}">
                  <a16:creationId xmlns:a16="http://schemas.microsoft.com/office/drawing/2014/main" id="{925E92E2-91F8-4EE6-B037-2CBD61E7D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2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8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3" name="Freeform 227">
              <a:extLst>
                <a:ext uri="{FF2B5EF4-FFF2-40B4-BE49-F238E27FC236}">
                  <a16:creationId xmlns:a16="http://schemas.microsoft.com/office/drawing/2014/main" id="{051C24F6-E57F-46AB-B5A5-7338743B8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7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4" name="Freeform 228">
              <a:extLst>
                <a:ext uri="{FF2B5EF4-FFF2-40B4-BE49-F238E27FC236}">
                  <a16:creationId xmlns:a16="http://schemas.microsoft.com/office/drawing/2014/main" id="{88A1BBBA-334C-4C95-A111-8BAC6B4A0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5" name="Freeform 229">
              <a:extLst>
                <a:ext uri="{FF2B5EF4-FFF2-40B4-BE49-F238E27FC236}">
                  <a16:creationId xmlns:a16="http://schemas.microsoft.com/office/drawing/2014/main" id="{908C20E8-638C-4694-8987-9A0F61489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5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75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6" name="Freeform 230">
              <a:extLst>
                <a:ext uri="{FF2B5EF4-FFF2-40B4-BE49-F238E27FC236}">
                  <a16:creationId xmlns:a16="http://schemas.microsoft.com/office/drawing/2014/main" id="{1543BBB7-B8B4-4283-8A17-BB8A0CC9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7" name="Freeform 231">
              <a:extLst>
                <a:ext uri="{FF2B5EF4-FFF2-40B4-BE49-F238E27FC236}">
                  <a16:creationId xmlns:a16="http://schemas.microsoft.com/office/drawing/2014/main" id="{BEFBDCB6-A64C-4A09-AD12-933B3A12C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8" name="Freeform 232">
              <a:extLst>
                <a:ext uri="{FF2B5EF4-FFF2-40B4-BE49-F238E27FC236}">
                  <a16:creationId xmlns:a16="http://schemas.microsoft.com/office/drawing/2014/main" id="{3EF6D10D-0561-4134-AC1D-E174D177B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3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68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99" name="Freeform 233">
              <a:extLst>
                <a:ext uri="{FF2B5EF4-FFF2-40B4-BE49-F238E27FC236}">
                  <a16:creationId xmlns:a16="http://schemas.microsoft.com/office/drawing/2014/main" id="{C448B032-B879-4614-A174-4115AD735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2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0" name="Freeform 234">
              <a:extLst>
                <a:ext uri="{FF2B5EF4-FFF2-40B4-BE49-F238E27FC236}">
                  <a16:creationId xmlns:a16="http://schemas.microsoft.com/office/drawing/2014/main" id="{99D0584E-DBFE-4121-A90A-D0512DA24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1" name="Freeform 235">
              <a:extLst>
                <a:ext uri="{FF2B5EF4-FFF2-40B4-BE49-F238E27FC236}">
                  <a16:creationId xmlns:a16="http://schemas.microsoft.com/office/drawing/2014/main" id="{D405EE9D-141E-4121-9549-165C27029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5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2" name="Freeform 236">
              <a:extLst>
                <a:ext uri="{FF2B5EF4-FFF2-40B4-BE49-F238E27FC236}">
                  <a16:creationId xmlns:a16="http://schemas.microsoft.com/office/drawing/2014/main" id="{DBE178CD-F407-4884-806B-28A7A29B6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0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3" name="Freeform 237">
              <a:extLst>
                <a:ext uri="{FF2B5EF4-FFF2-40B4-BE49-F238E27FC236}">
                  <a16:creationId xmlns:a16="http://schemas.microsoft.com/office/drawing/2014/main" id="{AAE5E91A-CA52-40D1-A102-8754D397C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4" name="Freeform 238">
              <a:extLst>
                <a:ext uri="{FF2B5EF4-FFF2-40B4-BE49-F238E27FC236}">
                  <a16:creationId xmlns:a16="http://schemas.microsoft.com/office/drawing/2014/main" id="{772C8FDE-86EA-4ED0-9295-4B231AF5D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4F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5" name="Freeform 239">
              <a:extLst>
                <a:ext uri="{FF2B5EF4-FFF2-40B4-BE49-F238E27FC236}">
                  <a16:creationId xmlns:a16="http://schemas.microsoft.com/office/drawing/2014/main" id="{E57B8042-E5D2-4D63-BF14-62DFDCA2D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86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A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6" name="Freeform 240">
              <a:extLst>
                <a:ext uri="{FF2B5EF4-FFF2-40B4-BE49-F238E27FC236}">
                  <a16:creationId xmlns:a16="http://schemas.microsoft.com/office/drawing/2014/main" id="{31522351-E3D0-4403-85F0-4B68E90D4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4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7" name="Freeform 241">
              <a:extLst>
                <a:ext uri="{FF2B5EF4-FFF2-40B4-BE49-F238E27FC236}">
                  <a16:creationId xmlns:a16="http://schemas.microsoft.com/office/drawing/2014/main" id="{67165652-553E-427D-B72B-A9AAD2600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8" name="Freeform 242">
              <a:extLst>
                <a:ext uri="{FF2B5EF4-FFF2-40B4-BE49-F238E27FC236}">
                  <a16:creationId xmlns:a16="http://schemas.microsoft.com/office/drawing/2014/main" id="{9174ADA9-5D1C-486A-874C-432A46C78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3D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9" name="Freeform 243">
              <a:extLst>
                <a:ext uri="{FF2B5EF4-FFF2-40B4-BE49-F238E27FC236}">
                  <a16:creationId xmlns:a16="http://schemas.microsoft.com/office/drawing/2014/main" id="{EB560ACC-4AF1-4955-B69D-5A188F460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3B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0" name="Freeform 244">
              <a:extLst>
                <a:ext uri="{FF2B5EF4-FFF2-40B4-BE49-F238E27FC236}">
                  <a16:creationId xmlns:a16="http://schemas.microsoft.com/office/drawing/2014/main" id="{834F73DE-79EC-4113-9646-389F3294D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5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3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1" name="Freeform 245">
              <a:extLst>
                <a:ext uri="{FF2B5EF4-FFF2-40B4-BE49-F238E27FC236}">
                  <a16:creationId xmlns:a16="http://schemas.microsoft.com/office/drawing/2014/main" id="{096C3092-0206-4F50-B002-1F5E71746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45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33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2" name="Freeform 246">
              <a:extLst>
                <a:ext uri="{FF2B5EF4-FFF2-40B4-BE49-F238E27FC236}">
                  <a16:creationId xmlns:a16="http://schemas.microsoft.com/office/drawing/2014/main" id="{06198BDD-8347-47EB-82D8-163A2A60B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2E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3" name="Freeform 247">
              <a:extLst>
                <a:ext uri="{FF2B5EF4-FFF2-40B4-BE49-F238E27FC236}">
                  <a16:creationId xmlns:a16="http://schemas.microsoft.com/office/drawing/2014/main" id="{422D7C22-E4C9-411B-AA83-6E9DB38C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29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4" name="Freeform 248">
              <a:extLst>
                <a:ext uri="{FF2B5EF4-FFF2-40B4-BE49-F238E27FC236}">
                  <a16:creationId xmlns:a16="http://schemas.microsoft.com/office/drawing/2014/main" id="{194512B1-8FE9-4593-A776-8C20AA060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24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26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5" name="Freeform 249">
              <a:extLst>
                <a:ext uri="{FF2B5EF4-FFF2-40B4-BE49-F238E27FC236}">
                  <a16:creationId xmlns:a16="http://schemas.microsoft.com/office/drawing/2014/main" id="{66762432-9CEB-43F2-944B-F4E5A7AEE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8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6" name="Freeform 250">
              <a:extLst>
                <a:ext uri="{FF2B5EF4-FFF2-40B4-BE49-F238E27FC236}">
                  <a16:creationId xmlns:a16="http://schemas.microsoft.com/office/drawing/2014/main" id="{F406CB57-A4E9-49F9-8314-FDEC7E5AE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C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7" name="Freeform 251">
              <a:extLst>
                <a:ext uri="{FF2B5EF4-FFF2-40B4-BE49-F238E27FC236}">
                  <a16:creationId xmlns:a16="http://schemas.microsoft.com/office/drawing/2014/main" id="{564BEBDD-8548-4B0E-BAEE-671DA7366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0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7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8" name="Freeform 252">
              <a:extLst>
                <a:ext uri="{FF2B5EF4-FFF2-40B4-BE49-F238E27FC236}">
                  <a16:creationId xmlns:a16="http://schemas.microsoft.com/office/drawing/2014/main" id="{DD20F18F-D3C1-4B77-963D-45EDC0CBF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8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01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9" name="Freeform 253">
              <a:extLst>
                <a:ext uri="{FF2B5EF4-FFF2-40B4-BE49-F238E27FC236}">
                  <a16:creationId xmlns:a16="http://schemas.microsoft.com/office/drawing/2014/main" id="{38DFB33C-1FB9-4BF5-9F13-CFBFC48FE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0" name="Freeform 254">
              <a:extLst>
                <a:ext uri="{FF2B5EF4-FFF2-40B4-BE49-F238E27FC236}">
                  <a16:creationId xmlns:a16="http://schemas.microsoft.com/office/drawing/2014/main" id="{34D5964F-F540-4818-B20B-2530A7CE1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B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1" name="Freeform 255">
              <a:extLst>
                <a:ext uri="{FF2B5EF4-FFF2-40B4-BE49-F238E27FC236}">
                  <a16:creationId xmlns:a16="http://schemas.microsoft.com/office/drawing/2014/main" id="{9A61B04A-09AF-42F2-8FAD-B09E56F66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5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2" name="Freeform 256">
              <a:extLst>
                <a:ext uri="{FF2B5EF4-FFF2-40B4-BE49-F238E27FC236}">
                  <a16:creationId xmlns:a16="http://schemas.microsoft.com/office/drawing/2014/main" id="{DB9530D1-4F67-4761-8E1B-DC27E80D4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7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3" name="Freeform 257">
              <a:extLst>
                <a:ext uri="{FF2B5EF4-FFF2-40B4-BE49-F238E27FC236}">
                  <a16:creationId xmlns:a16="http://schemas.microsoft.com/office/drawing/2014/main" id="{87B0FD56-3F47-44D5-956E-FA773F991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4336"/>
              <a:ext cx="1056" cy="253"/>
            </a:xfrm>
            <a:custGeom>
              <a:avLst/>
              <a:gdLst>
                <a:gd name="T0" fmla="*/ 50 w 1056"/>
                <a:gd name="T1" fmla="*/ 107 h 253"/>
                <a:gd name="T2" fmla="*/ 123 w 1056"/>
                <a:gd name="T3" fmla="*/ 81 h 253"/>
                <a:gd name="T4" fmla="*/ 203 w 1056"/>
                <a:gd name="T5" fmla="*/ 58 h 253"/>
                <a:gd name="T6" fmla="*/ 279 w 1056"/>
                <a:gd name="T7" fmla="*/ 35 h 253"/>
                <a:gd name="T8" fmla="*/ 359 w 1056"/>
                <a:gd name="T9" fmla="*/ 21 h 253"/>
                <a:gd name="T10" fmla="*/ 439 w 1056"/>
                <a:gd name="T11" fmla="*/ 9 h 253"/>
                <a:gd name="T12" fmla="*/ 518 w 1056"/>
                <a:gd name="T13" fmla="*/ 3 h 253"/>
                <a:gd name="T14" fmla="*/ 599 w 1056"/>
                <a:gd name="T15" fmla="*/ 3 h 253"/>
                <a:gd name="T16" fmla="*/ 678 w 1056"/>
                <a:gd name="T17" fmla="*/ 9 h 253"/>
                <a:gd name="T18" fmla="*/ 758 w 1056"/>
                <a:gd name="T19" fmla="*/ 26 h 253"/>
                <a:gd name="T20" fmla="*/ 837 w 1056"/>
                <a:gd name="T21" fmla="*/ 50 h 253"/>
                <a:gd name="T22" fmla="*/ 875 w 1056"/>
                <a:gd name="T23" fmla="*/ 61 h 253"/>
                <a:gd name="T24" fmla="*/ 920 w 1056"/>
                <a:gd name="T25" fmla="*/ 72 h 253"/>
                <a:gd name="T26" fmla="*/ 964 w 1056"/>
                <a:gd name="T27" fmla="*/ 84 h 253"/>
                <a:gd name="T28" fmla="*/ 1008 w 1056"/>
                <a:gd name="T29" fmla="*/ 99 h 253"/>
                <a:gd name="T30" fmla="*/ 1043 w 1056"/>
                <a:gd name="T31" fmla="*/ 116 h 253"/>
                <a:gd name="T32" fmla="*/ 1046 w 1056"/>
                <a:gd name="T33" fmla="*/ 128 h 253"/>
                <a:gd name="T34" fmla="*/ 1028 w 1056"/>
                <a:gd name="T35" fmla="*/ 139 h 253"/>
                <a:gd name="T36" fmla="*/ 1008 w 1056"/>
                <a:gd name="T37" fmla="*/ 145 h 253"/>
                <a:gd name="T38" fmla="*/ 984 w 1056"/>
                <a:gd name="T39" fmla="*/ 150 h 253"/>
                <a:gd name="T40" fmla="*/ 961 w 1056"/>
                <a:gd name="T41" fmla="*/ 153 h 253"/>
                <a:gd name="T42" fmla="*/ 935 w 1056"/>
                <a:gd name="T43" fmla="*/ 156 h 253"/>
                <a:gd name="T44" fmla="*/ 911 w 1056"/>
                <a:gd name="T45" fmla="*/ 159 h 253"/>
                <a:gd name="T46" fmla="*/ 884 w 1056"/>
                <a:gd name="T47" fmla="*/ 159 h 253"/>
                <a:gd name="T48" fmla="*/ 860 w 1056"/>
                <a:gd name="T49" fmla="*/ 162 h 253"/>
                <a:gd name="T50" fmla="*/ 840 w 1056"/>
                <a:gd name="T51" fmla="*/ 165 h 253"/>
                <a:gd name="T52" fmla="*/ 822 w 1056"/>
                <a:gd name="T53" fmla="*/ 168 h 253"/>
                <a:gd name="T54" fmla="*/ 828 w 1056"/>
                <a:gd name="T55" fmla="*/ 183 h 253"/>
                <a:gd name="T56" fmla="*/ 840 w 1056"/>
                <a:gd name="T57" fmla="*/ 203 h 253"/>
                <a:gd name="T58" fmla="*/ 834 w 1056"/>
                <a:gd name="T59" fmla="*/ 215 h 253"/>
                <a:gd name="T60" fmla="*/ 801 w 1056"/>
                <a:gd name="T61" fmla="*/ 223 h 253"/>
                <a:gd name="T62" fmla="*/ 769 w 1056"/>
                <a:gd name="T63" fmla="*/ 229 h 253"/>
                <a:gd name="T64" fmla="*/ 737 w 1056"/>
                <a:gd name="T65" fmla="*/ 234 h 253"/>
                <a:gd name="T66" fmla="*/ 701 w 1056"/>
                <a:gd name="T67" fmla="*/ 240 h 253"/>
                <a:gd name="T68" fmla="*/ 672 w 1056"/>
                <a:gd name="T69" fmla="*/ 243 h 253"/>
                <a:gd name="T70" fmla="*/ 651 w 1056"/>
                <a:gd name="T71" fmla="*/ 246 h 253"/>
                <a:gd name="T72" fmla="*/ 627 w 1056"/>
                <a:gd name="T73" fmla="*/ 249 h 253"/>
                <a:gd name="T74" fmla="*/ 604 w 1056"/>
                <a:gd name="T75" fmla="*/ 252 h 253"/>
                <a:gd name="T76" fmla="*/ 578 w 1056"/>
                <a:gd name="T77" fmla="*/ 252 h 253"/>
                <a:gd name="T78" fmla="*/ 554 w 1056"/>
                <a:gd name="T79" fmla="*/ 252 h 253"/>
                <a:gd name="T80" fmla="*/ 527 w 1056"/>
                <a:gd name="T81" fmla="*/ 249 h 253"/>
                <a:gd name="T82" fmla="*/ 504 w 1056"/>
                <a:gd name="T83" fmla="*/ 249 h 253"/>
                <a:gd name="T84" fmla="*/ 480 w 1056"/>
                <a:gd name="T85" fmla="*/ 246 h 253"/>
                <a:gd name="T86" fmla="*/ 456 w 1056"/>
                <a:gd name="T87" fmla="*/ 243 h 253"/>
                <a:gd name="T88" fmla="*/ 436 w 1056"/>
                <a:gd name="T89" fmla="*/ 240 h 253"/>
                <a:gd name="T90" fmla="*/ 413 w 1056"/>
                <a:gd name="T91" fmla="*/ 237 h 253"/>
                <a:gd name="T92" fmla="*/ 389 w 1056"/>
                <a:gd name="T93" fmla="*/ 234 h 253"/>
                <a:gd name="T94" fmla="*/ 362 w 1056"/>
                <a:gd name="T95" fmla="*/ 234 h 253"/>
                <a:gd name="T96" fmla="*/ 336 w 1056"/>
                <a:gd name="T97" fmla="*/ 231 h 253"/>
                <a:gd name="T98" fmla="*/ 309 w 1056"/>
                <a:gd name="T99" fmla="*/ 229 h 253"/>
                <a:gd name="T100" fmla="*/ 282 w 1056"/>
                <a:gd name="T101" fmla="*/ 226 h 253"/>
                <a:gd name="T102" fmla="*/ 257 w 1056"/>
                <a:gd name="T103" fmla="*/ 223 h 253"/>
                <a:gd name="T104" fmla="*/ 230 w 1056"/>
                <a:gd name="T105" fmla="*/ 221 h 253"/>
                <a:gd name="T106" fmla="*/ 203 w 1056"/>
                <a:gd name="T107" fmla="*/ 212 h 253"/>
                <a:gd name="T108" fmla="*/ 180 w 1056"/>
                <a:gd name="T109" fmla="*/ 206 h 253"/>
                <a:gd name="T110" fmla="*/ 156 w 1056"/>
                <a:gd name="T111" fmla="*/ 197 h 253"/>
                <a:gd name="T112" fmla="*/ 153 w 1056"/>
                <a:gd name="T113" fmla="*/ 180 h 253"/>
                <a:gd name="T114" fmla="*/ 147 w 1056"/>
                <a:gd name="T115" fmla="*/ 159 h 253"/>
                <a:gd name="T116" fmla="*/ 123 w 1056"/>
                <a:gd name="T117" fmla="*/ 147 h 253"/>
                <a:gd name="T118" fmla="*/ 91 w 1056"/>
                <a:gd name="T119" fmla="*/ 142 h 253"/>
                <a:gd name="T120" fmla="*/ 59 w 1056"/>
                <a:gd name="T121" fmla="*/ 139 h 253"/>
                <a:gd name="T122" fmla="*/ 26 w 1056"/>
                <a:gd name="T123" fmla="*/ 134 h 253"/>
                <a:gd name="T124" fmla="*/ 0 w 1056"/>
                <a:gd name="T125" fmla="*/ 125 h 25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056"/>
                <a:gd name="T190" fmla="*/ 0 h 253"/>
                <a:gd name="T191" fmla="*/ 1056 w 1056"/>
                <a:gd name="T192" fmla="*/ 253 h 25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056" h="253">
                  <a:moveTo>
                    <a:pt x="0" y="125"/>
                  </a:moveTo>
                  <a:lnTo>
                    <a:pt x="23" y="116"/>
                  </a:lnTo>
                  <a:lnTo>
                    <a:pt x="50" y="107"/>
                  </a:lnTo>
                  <a:lnTo>
                    <a:pt x="74" y="99"/>
                  </a:lnTo>
                  <a:lnTo>
                    <a:pt x="99" y="90"/>
                  </a:lnTo>
                  <a:lnTo>
                    <a:pt x="123" y="81"/>
                  </a:lnTo>
                  <a:lnTo>
                    <a:pt x="150" y="72"/>
                  </a:lnTo>
                  <a:lnTo>
                    <a:pt x="177" y="63"/>
                  </a:lnTo>
                  <a:lnTo>
                    <a:pt x="203" y="58"/>
                  </a:lnTo>
                  <a:lnTo>
                    <a:pt x="227" y="50"/>
                  </a:lnTo>
                  <a:lnTo>
                    <a:pt x="254" y="44"/>
                  </a:lnTo>
                  <a:lnTo>
                    <a:pt x="279" y="35"/>
                  </a:lnTo>
                  <a:lnTo>
                    <a:pt x="306" y="29"/>
                  </a:lnTo>
                  <a:lnTo>
                    <a:pt x="333" y="23"/>
                  </a:lnTo>
                  <a:lnTo>
                    <a:pt x="359" y="21"/>
                  </a:lnTo>
                  <a:lnTo>
                    <a:pt x="386" y="15"/>
                  </a:lnTo>
                  <a:lnTo>
                    <a:pt x="413" y="12"/>
                  </a:lnTo>
                  <a:lnTo>
                    <a:pt x="439" y="9"/>
                  </a:lnTo>
                  <a:lnTo>
                    <a:pt x="465" y="6"/>
                  </a:lnTo>
                  <a:lnTo>
                    <a:pt x="492" y="3"/>
                  </a:lnTo>
                  <a:lnTo>
                    <a:pt x="518" y="3"/>
                  </a:lnTo>
                  <a:lnTo>
                    <a:pt x="545" y="0"/>
                  </a:lnTo>
                  <a:lnTo>
                    <a:pt x="572" y="0"/>
                  </a:lnTo>
                  <a:lnTo>
                    <a:pt x="599" y="3"/>
                  </a:lnTo>
                  <a:lnTo>
                    <a:pt x="624" y="3"/>
                  </a:lnTo>
                  <a:lnTo>
                    <a:pt x="651" y="6"/>
                  </a:lnTo>
                  <a:lnTo>
                    <a:pt x="678" y="9"/>
                  </a:lnTo>
                  <a:lnTo>
                    <a:pt x="704" y="15"/>
                  </a:lnTo>
                  <a:lnTo>
                    <a:pt x="731" y="21"/>
                  </a:lnTo>
                  <a:lnTo>
                    <a:pt x="758" y="26"/>
                  </a:lnTo>
                  <a:lnTo>
                    <a:pt x="784" y="32"/>
                  </a:lnTo>
                  <a:lnTo>
                    <a:pt x="810" y="41"/>
                  </a:lnTo>
                  <a:lnTo>
                    <a:pt x="837" y="50"/>
                  </a:lnTo>
                  <a:lnTo>
                    <a:pt x="849" y="52"/>
                  </a:lnTo>
                  <a:lnTo>
                    <a:pt x="860" y="58"/>
                  </a:lnTo>
                  <a:lnTo>
                    <a:pt x="875" y="61"/>
                  </a:lnTo>
                  <a:lnTo>
                    <a:pt x="890" y="63"/>
                  </a:lnTo>
                  <a:lnTo>
                    <a:pt x="905" y="66"/>
                  </a:lnTo>
                  <a:lnTo>
                    <a:pt x="920" y="72"/>
                  </a:lnTo>
                  <a:lnTo>
                    <a:pt x="935" y="75"/>
                  </a:lnTo>
                  <a:lnTo>
                    <a:pt x="949" y="78"/>
                  </a:lnTo>
                  <a:lnTo>
                    <a:pt x="964" y="84"/>
                  </a:lnTo>
                  <a:lnTo>
                    <a:pt x="978" y="87"/>
                  </a:lnTo>
                  <a:lnTo>
                    <a:pt x="993" y="93"/>
                  </a:lnTo>
                  <a:lnTo>
                    <a:pt x="1008" y="99"/>
                  </a:lnTo>
                  <a:lnTo>
                    <a:pt x="1019" y="102"/>
                  </a:lnTo>
                  <a:lnTo>
                    <a:pt x="1031" y="107"/>
                  </a:lnTo>
                  <a:lnTo>
                    <a:pt x="1043" y="116"/>
                  </a:lnTo>
                  <a:lnTo>
                    <a:pt x="1055" y="122"/>
                  </a:lnTo>
                  <a:lnTo>
                    <a:pt x="1052" y="125"/>
                  </a:lnTo>
                  <a:lnTo>
                    <a:pt x="1046" y="128"/>
                  </a:lnTo>
                  <a:lnTo>
                    <a:pt x="1040" y="134"/>
                  </a:lnTo>
                  <a:lnTo>
                    <a:pt x="1034" y="136"/>
                  </a:lnTo>
                  <a:lnTo>
                    <a:pt x="1028" y="139"/>
                  </a:lnTo>
                  <a:lnTo>
                    <a:pt x="1022" y="139"/>
                  </a:lnTo>
                  <a:lnTo>
                    <a:pt x="1017" y="142"/>
                  </a:lnTo>
                  <a:lnTo>
                    <a:pt x="1008" y="145"/>
                  </a:lnTo>
                  <a:lnTo>
                    <a:pt x="1002" y="147"/>
                  </a:lnTo>
                  <a:lnTo>
                    <a:pt x="993" y="147"/>
                  </a:lnTo>
                  <a:lnTo>
                    <a:pt x="984" y="150"/>
                  </a:lnTo>
                  <a:lnTo>
                    <a:pt x="978" y="150"/>
                  </a:lnTo>
                  <a:lnTo>
                    <a:pt x="969" y="153"/>
                  </a:lnTo>
                  <a:lnTo>
                    <a:pt x="961" y="153"/>
                  </a:lnTo>
                  <a:lnTo>
                    <a:pt x="952" y="153"/>
                  </a:lnTo>
                  <a:lnTo>
                    <a:pt x="943" y="156"/>
                  </a:lnTo>
                  <a:lnTo>
                    <a:pt x="935" y="156"/>
                  </a:lnTo>
                  <a:lnTo>
                    <a:pt x="926" y="156"/>
                  </a:lnTo>
                  <a:lnTo>
                    <a:pt x="920" y="159"/>
                  </a:lnTo>
                  <a:lnTo>
                    <a:pt x="911" y="159"/>
                  </a:lnTo>
                  <a:lnTo>
                    <a:pt x="902" y="159"/>
                  </a:lnTo>
                  <a:lnTo>
                    <a:pt x="893" y="159"/>
                  </a:lnTo>
                  <a:lnTo>
                    <a:pt x="884" y="159"/>
                  </a:lnTo>
                  <a:lnTo>
                    <a:pt x="875" y="162"/>
                  </a:lnTo>
                  <a:lnTo>
                    <a:pt x="869" y="162"/>
                  </a:lnTo>
                  <a:lnTo>
                    <a:pt x="860" y="162"/>
                  </a:lnTo>
                  <a:lnTo>
                    <a:pt x="854" y="162"/>
                  </a:lnTo>
                  <a:lnTo>
                    <a:pt x="846" y="165"/>
                  </a:lnTo>
                  <a:lnTo>
                    <a:pt x="840" y="165"/>
                  </a:lnTo>
                  <a:lnTo>
                    <a:pt x="834" y="165"/>
                  </a:lnTo>
                  <a:lnTo>
                    <a:pt x="828" y="168"/>
                  </a:lnTo>
                  <a:lnTo>
                    <a:pt x="822" y="168"/>
                  </a:lnTo>
                  <a:lnTo>
                    <a:pt x="822" y="171"/>
                  </a:lnTo>
                  <a:lnTo>
                    <a:pt x="825" y="177"/>
                  </a:lnTo>
                  <a:lnTo>
                    <a:pt x="828" y="183"/>
                  </a:lnTo>
                  <a:lnTo>
                    <a:pt x="831" y="189"/>
                  </a:lnTo>
                  <a:lnTo>
                    <a:pt x="834" y="197"/>
                  </a:lnTo>
                  <a:lnTo>
                    <a:pt x="840" y="203"/>
                  </a:lnTo>
                  <a:lnTo>
                    <a:pt x="843" y="206"/>
                  </a:lnTo>
                  <a:lnTo>
                    <a:pt x="843" y="212"/>
                  </a:lnTo>
                  <a:lnTo>
                    <a:pt x="834" y="215"/>
                  </a:lnTo>
                  <a:lnTo>
                    <a:pt x="825" y="218"/>
                  </a:lnTo>
                  <a:lnTo>
                    <a:pt x="813" y="221"/>
                  </a:lnTo>
                  <a:lnTo>
                    <a:pt x="801" y="223"/>
                  </a:lnTo>
                  <a:lnTo>
                    <a:pt x="792" y="223"/>
                  </a:lnTo>
                  <a:lnTo>
                    <a:pt x="781" y="226"/>
                  </a:lnTo>
                  <a:lnTo>
                    <a:pt x="769" y="229"/>
                  </a:lnTo>
                  <a:lnTo>
                    <a:pt x="758" y="231"/>
                  </a:lnTo>
                  <a:lnTo>
                    <a:pt x="746" y="231"/>
                  </a:lnTo>
                  <a:lnTo>
                    <a:pt x="737" y="234"/>
                  </a:lnTo>
                  <a:lnTo>
                    <a:pt x="725" y="237"/>
                  </a:lnTo>
                  <a:lnTo>
                    <a:pt x="713" y="237"/>
                  </a:lnTo>
                  <a:lnTo>
                    <a:pt x="701" y="240"/>
                  </a:lnTo>
                  <a:lnTo>
                    <a:pt x="692" y="240"/>
                  </a:lnTo>
                  <a:lnTo>
                    <a:pt x="681" y="243"/>
                  </a:lnTo>
                  <a:lnTo>
                    <a:pt x="672" y="243"/>
                  </a:lnTo>
                  <a:lnTo>
                    <a:pt x="666" y="246"/>
                  </a:lnTo>
                  <a:lnTo>
                    <a:pt x="657" y="246"/>
                  </a:lnTo>
                  <a:lnTo>
                    <a:pt x="651" y="246"/>
                  </a:lnTo>
                  <a:lnTo>
                    <a:pt x="642" y="249"/>
                  </a:lnTo>
                  <a:lnTo>
                    <a:pt x="636" y="249"/>
                  </a:lnTo>
                  <a:lnTo>
                    <a:pt x="627" y="249"/>
                  </a:lnTo>
                  <a:lnTo>
                    <a:pt x="618" y="249"/>
                  </a:lnTo>
                  <a:lnTo>
                    <a:pt x="610" y="249"/>
                  </a:lnTo>
                  <a:lnTo>
                    <a:pt x="604" y="252"/>
                  </a:lnTo>
                  <a:lnTo>
                    <a:pt x="596" y="252"/>
                  </a:lnTo>
                  <a:lnTo>
                    <a:pt x="587" y="252"/>
                  </a:lnTo>
                  <a:lnTo>
                    <a:pt x="578" y="252"/>
                  </a:lnTo>
                  <a:lnTo>
                    <a:pt x="572" y="252"/>
                  </a:lnTo>
                  <a:lnTo>
                    <a:pt x="563" y="252"/>
                  </a:lnTo>
                  <a:lnTo>
                    <a:pt x="554" y="252"/>
                  </a:lnTo>
                  <a:lnTo>
                    <a:pt x="545" y="249"/>
                  </a:lnTo>
                  <a:lnTo>
                    <a:pt x="536" y="249"/>
                  </a:lnTo>
                  <a:lnTo>
                    <a:pt x="527" y="249"/>
                  </a:lnTo>
                  <a:lnTo>
                    <a:pt x="521" y="249"/>
                  </a:lnTo>
                  <a:lnTo>
                    <a:pt x="513" y="249"/>
                  </a:lnTo>
                  <a:lnTo>
                    <a:pt x="504" y="249"/>
                  </a:lnTo>
                  <a:lnTo>
                    <a:pt x="495" y="246"/>
                  </a:lnTo>
                  <a:lnTo>
                    <a:pt x="486" y="246"/>
                  </a:lnTo>
                  <a:lnTo>
                    <a:pt x="480" y="246"/>
                  </a:lnTo>
                  <a:lnTo>
                    <a:pt x="471" y="246"/>
                  </a:lnTo>
                  <a:lnTo>
                    <a:pt x="465" y="246"/>
                  </a:lnTo>
                  <a:lnTo>
                    <a:pt x="456" y="243"/>
                  </a:lnTo>
                  <a:lnTo>
                    <a:pt x="450" y="243"/>
                  </a:lnTo>
                  <a:lnTo>
                    <a:pt x="441" y="243"/>
                  </a:lnTo>
                  <a:lnTo>
                    <a:pt x="436" y="240"/>
                  </a:lnTo>
                  <a:lnTo>
                    <a:pt x="428" y="240"/>
                  </a:lnTo>
                  <a:lnTo>
                    <a:pt x="422" y="240"/>
                  </a:lnTo>
                  <a:lnTo>
                    <a:pt x="413" y="237"/>
                  </a:lnTo>
                  <a:lnTo>
                    <a:pt x="407" y="237"/>
                  </a:lnTo>
                  <a:lnTo>
                    <a:pt x="398" y="237"/>
                  </a:lnTo>
                  <a:lnTo>
                    <a:pt x="389" y="234"/>
                  </a:lnTo>
                  <a:lnTo>
                    <a:pt x="380" y="234"/>
                  </a:lnTo>
                  <a:lnTo>
                    <a:pt x="371" y="234"/>
                  </a:lnTo>
                  <a:lnTo>
                    <a:pt x="362" y="234"/>
                  </a:lnTo>
                  <a:lnTo>
                    <a:pt x="353" y="231"/>
                  </a:lnTo>
                  <a:lnTo>
                    <a:pt x="345" y="231"/>
                  </a:lnTo>
                  <a:lnTo>
                    <a:pt x="336" y="231"/>
                  </a:lnTo>
                  <a:lnTo>
                    <a:pt x="327" y="231"/>
                  </a:lnTo>
                  <a:lnTo>
                    <a:pt x="318" y="229"/>
                  </a:lnTo>
                  <a:lnTo>
                    <a:pt x="309" y="229"/>
                  </a:lnTo>
                  <a:lnTo>
                    <a:pt x="300" y="229"/>
                  </a:lnTo>
                  <a:lnTo>
                    <a:pt x="291" y="229"/>
                  </a:lnTo>
                  <a:lnTo>
                    <a:pt x="282" y="226"/>
                  </a:lnTo>
                  <a:lnTo>
                    <a:pt x="273" y="226"/>
                  </a:lnTo>
                  <a:lnTo>
                    <a:pt x="264" y="223"/>
                  </a:lnTo>
                  <a:lnTo>
                    <a:pt x="257" y="223"/>
                  </a:lnTo>
                  <a:lnTo>
                    <a:pt x="248" y="221"/>
                  </a:lnTo>
                  <a:lnTo>
                    <a:pt x="239" y="221"/>
                  </a:lnTo>
                  <a:lnTo>
                    <a:pt x="230" y="221"/>
                  </a:lnTo>
                  <a:lnTo>
                    <a:pt x="221" y="218"/>
                  </a:lnTo>
                  <a:lnTo>
                    <a:pt x="212" y="215"/>
                  </a:lnTo>
                  <a:lnTo>
                    <a:pt x="203" y="212"/>
                  </a:lnTo>
                  <a:lnTo>
                    <a:pt x="197" y="212"/>
                  </a:lnTo>
                  <a:lnTo>
                    <a:pt x="188" y="209"/>
                  </a:lnTo>
                  <a:lnTo>
                    <a:pt x="180" y="206"/>
                  </a:lnTo>
                  <a:lnTo>
                    <a:pt x="174" y="203"/>
                  </a:lnTo>
                  <a:lnTo>
                    <a:pt x="165" y="200"/>
                  </a:lnTo>
                  <a:lnTo>
                    <a:pt x="156" y="197"/>
                  </a:lnTo>
                  <a:lnTo>
                    <a:pt x="150" y="194"/>
                  </a:lnTo>
                  <a:lnTo>
                    <a:pt x="150" y="186"/>
                  </a:lnTo>
                  <a:lnTo>
                    <a:pt x="153" y="180"/>
                  </a:lnTo>
                  <a:lnTo>
                    <a:pt x="153" y="171"/>
                  </a:lnTo>
                  <a:lnTo>
                    <a:pt x="153" y="162"/>
                  </a:lnTo>
                  <a:lnTo>
                    <a:pt x="147" y="159"/>
                  </a:lnTo>
                  <a:lnTo>
                    <a:pt x="141" y="153"/>
                  </a:lnTo>
                  <a:lnTo>
                    <a:pt x="132" y="150"/>
                  </a:lnTo>
                  <a:lnTo>
                    <a:pt x="123" y="147"/>
                  </a:lnTo>
                  <a:lnTo>
                    <a:pt x="114" y="145"/>
                  </a:lnTo>
                  <a:lnTo>
                    <a:pt x="102" y="145"/>
                  </a:lnTo>
                  <a:lnTo>
                    <a:pt x="91" y="142"/>
                  </a:lnTo>
                  <a:lnTo>
                    <a:pt x="83" y="142"/>
                  </a:lnTo>
                  <a:lnTo>
                    <a:pt x="71" y="142"/>
                  </a:lnTo>
                  <a:lnTo>
                    <a:pt x="59" y="139"/>
                  </a:lnTo>
                  <a:lnTo>
                    <a:pt x="47" y="139"/>
                  </a:lnTo>
                  <a:lnTo>
                    <a:pt x="38" y="136"/>
                  </a:lnTo>
                  <a:lnTo>
                    <a:pt x="26" y="134"/>
                  </a:lnTo>
                  <a:lnTo>
                    <a:pt x="17" y="134"/>
                  </a:lnTo>
                  <a:lnTo>
                    <a:pt x="9" y="131"/>
                  </a:lnTo>
                  <a:lnTo>
                    <a:pt x="0" y="125"/>
                  </a:lnTo>
                </a:path>
              </a:pathLst>
            </a:custGeom>
            <a:solidFill>
              <a:srgbClr val="F5B8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4" name="Freeform 258">
              <a:extLst>
                <a:ext uri="{FF2B5EF4-FFF2-40B4-BE49-F238E27FC236}">
                  <a16:creationId xmlns:a16="http://schemas.microsoft.com/office/drawing/2014/main" id="{D8FD6EC0-4BC6-4F36-B44E-AABF67760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55"/>
              <a:ext cx="268" cy="597"/>
            </a:xfrm>
            <a:custGeom>
              <a:avLst/>
              <a:gdLst>
                <a:gd name="T0" fmla="*/ 244 w 268"/>
                <a:gd name="T1" fmla="*/ 9 h 597"/>
                <a:gd name="T2" fmla="*/ 267 w 268"/>
                <a:gd name="T3" fmla="*/ 0 h 597"/>
                <a:gd name="T4" fmla="*/ 255 w 268"/>
                <a:gd name="T5" fmla="*/ 29 h 597"/>
                <a:gd name="T6" fmla="*/ 241 w 268"/>
                <a:gd name="T7" fmla="*/ 64 h 597"/>
                <a:gd name="T8" fmla="*/ 226 w 268"/>
                <a:gd name="T9" fmla="*/ 97 h 597"/>
                <a:gd name="T10" fmla="*/ 214 w 268"/>
                <a:gd name="T11" fmla="*/ 135 h 597"/>
                <a:gd name="T12" fmla="*/ 200 w 268"/>
                <a:gd name="T13" fmla="*/ 170 h 597"/>
                <a:gd name="T14" fmla="*/ 186 w 268"/>
                <a:gd name="T15" fmla="*/ 208 h 597"/>
                <a:gd name="T16" fmla="*/ 174 w 268"/>
                <a:gd name="T17" fmla="*/ 249 h 597"/>
                <a:gd name="T18" fmla="*/ 162 w 268"/>
                <a:gd name="T19" fmla="*/ 287 h 597"/>
                <a:gd name="T20" fmla="*/ 151 w 268"/>
                <a:gd name="T21" fmla="*/ 326 h 597"/>
                <a:gd name="T22" fmla="*/ 142 w 268"/>
                <a:gd name="T23" fmla="*/ 366 h 597"/>
                <a:gd name="T24" fmla="*/ 130 w 268"/>
                <a:gd name="T25" fmla="*/ 405 h 597"/>
                <a:gd name="T26" fmla="*/ 125 w 268"/>
                <a:gd name="T27" fmla="*/ 447 h 597"/>
                <a:gd name="T28" fmla="*/ 119 w 268"/>
                <a:gd name="T29" fmla="*/ 484 h 597"/>
                <a:gd name="T30" fmla="*/ 113 w 268"/>
                <a:gd name="T31" fmla="*/ 523 h 597"/>
                <a:gd name="T32" fmla="*/ 111 w 268"/>
                <a:gd name="T33" fmla="*/ 560 h 597"/>
                <a:gd name="T34" fmla="*/ 111 w 268"/>
                <a:gd name="T35" fmla="*/ 596 h 597"/>
                <a:gd name="T36" fmla="*/ 0 w 268"/>
                <a:gd name="T37" fmla="*/ 575 h 597"/>
                <a:gd name="T38" fmla="*/ 6 w 268"/>
                <a:gd name="T39" fmla="*/ 560 h 597"/>
                <a:gd name="T40" fmla="*/ 12 w 268"/>
                <a:gd name="T41" fmla="*/ 543 h 597"/>
                <a:gd name="T42" fmla="*/ 18 w 268"/>
                <a:gd name="T43" fmla="*/ 529 h 597"/>
                <a:gd name="T44" fmla="*/ 23 w 268"/>
                <a:gd name="T45" fmla="*/ 511 h 597"/>
                <a:gd name="T46" fmla="*/ 29 w 268"/>
                <a:gd name="T47" fmla="*/ 493 h 597"/>
                <a:gd name="T48" fmla="*/ 35 w 268"/>
                <a:gd name="T49" fmla="*/ 475 h 597"/>
                <a:gd name="T50" fmla="*/ 44 w 268"/>
                <a:gd name="T51" fmla="*/ 457 h 597"/>
                <a:gd name="T52" fmla="*/ 49 w 268"/>
                <a:gd name="T53" fmla="*/ 441 h 597"/>
                <a:gd name="T54" fmla="*/ 58 w 268"/>
                <a:gd name="T55" fmla="*/ 423 h 597"/>
                <a:gd name="T56" fmla="*/ 67 w 268"/>
                <a:gd name="T57" fmla="*/ 405 h 597"/>
                <a:gd name="T58" fmla="*/ 72 w 268"/>
                <a:gd name="T59" fmla="*/ 387 h 597"/>
                <a:gd name="T60" fmla="*/ 81 w 268"/>
                <a:gd name="T61" fmla="*/ 366 h 597"/>
                <a:gd name="T62" fmla="*/ 90 w 268"/>
                <a:gd name="T63" fmla="*/ 349 h 597"/>
                <a:gd name="T64" fmla="*/ 96 w 268"/>
                <a:gd name="T65" fmla="*/ 332 h 597"/>
                <a:gd name="T66" fmla="*/ 105 w 268"/>
                <a:gd name="T67" fmla="*/ 311 h 597"/>
                <a:gd name="T68" fmla="*/ 113 w 268"/>
                <a:gd name="T69" fmla="*/ 293 h 597"/>
                <a:gd name="T70" fmla="*/ 122 w 268"/>
                <a:gd name="T71" fmla="*/ 276 h 597"/>
                <a:gd name="T72" fmla="*/ 130 w 268"/>
                <a:gd name="T73" fmla="*/ 258 h 597"/>
                <a:gd name="T74" fmla="*/ 139 w 268"/>
                <a:gd name="T75" fmla="*/ 238 h 597"/>
                <a:gd name="T76" fmla="*/ 148 w 268"/>
                <a:gd name="T77" fmla="*/ 220 h 597"/>
                <a:gd name="T78" fmla="*/ 154 w 268"/>
                <a:gd name="T79" fmla="*/ 202 h 597"/>
                <a:gd name="T80" fmla="*/ 162 w 268"/>
                <a:gd name="T81" fmla="*/ 182 h 597"/>
                <a:gd name="T82" fmla="*/ 171 w 268"/>
                <a:gd name="T83" fmla="*/ 164 h 597"/>
                <a:gd name="T84" fmla="*/ 180 w 268"/>
                <a:gd name="T85" fmla="*/ 147 h 597"/>
                <a:gd name="T86" fmla="*/ 189 w 268"/>
                <a:gd name="T87" fmla="*/ 129 h 597"/>
                <a:gd name="T88" fmla="*/ 198 w 268"/>
                <a:gd name="T89" fmla="*/ 111 h 597"/>
                <a:gd name="T90" fmla="*/ 203 w 268"/>
                <a:gd name="T91" fmla="*/ 94 h 597"/>
                <a:gd name="T92" fmla="*/ 211 w 268"/>
                <a:gd name="T93" fmla="*/ 76 h 597"/>
                <a:gd name="T94" fmla="*/ 220 w 268"/>
                <a:gd name="T95" fmla="*/ 58 h 597"/>
                <a:gd name="T96" fmla="*/ 229 w 268"/>
                <a:gd name="T97" fmla="*/ 41 h 597"/>
                <a:gd name="T98" fmla="*/ 235 w 268"/>
                <a:gd name="T99" fmla="*/ 26 h 597"/>
                <a:gd name="T100" fmla="*/ 244 w 268"/>
                <a:gd name="T101" fmla="*/ 9 h 5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68"/>
                <a:gd name="T154" fmla="*/ 0 h 597"/>
                <a:gd name="T155" fmla="*/ 268 w 268"/>
                <a:gd name="T156" fmla="*/ 597 h 5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68" h="597">
                  <a:moveTo>
                    <a:pt x="244" y="9"/>
                  </a:moveTo>
                  <a:lnTo>
                    <a:pt x="267" y="0"/>
                  </a:lnTo>
                  <a:lnTo>
                    <a:pt x="255" y="29"/>
                  </a:lnTo>
                  <a:lnTo>
                    <a:pt x="241" y="64"/>
                  </a:lnTo>
                  <a:lnTo>
                    <a:pt x="226" y="97"/>
                  </a:lnTo>
                  <a:lnTo>
                    <a:pt x="214" y="135"/>
                  </a:lnTo>
                  <a:lnTo>
                    <a:pt x="200" y="170"/>
                  </a:lnTo>
                  <a:lnTo>
                    <a:pt x="186" y="208"/>
                  </a:lnTo>
                  <a:lnTo>
                    <a:pt x="174" y="249"/>
                  </a:lnTo>
                  <a:lnTo>
                    <a:pt x="162" y="287"/>
                  </a:lnTo>
                  <a:lnTo>
                    <a:pt x="151" y="326"/>
                  </a:lnTo>
                  <a:lnTo>
                    <a:pt x="142" y="366"/>
                  </a:lnTo>
                  <a:lnTo>
                    <a:pt x="130" y="405"/>
                  </a:lnTo>
                  <a:lnTo>
                    <a:pt x="125" y="447"/>
                  </a:lnTo>
                  <a:lnTo>
                    <a:pt x="119" y="484"/>
                  </a:lnTo>
                  <a:lnTo>
                    <a:pt x="113" y="523"/>
                  </a:lnTo>
                  <a:lnTo>
                    <a:pt x="111" y="560"/>
                  </a:lnTo>
                  <a:lnTo>
                    <a:pt x="111" y="596"/>
                  </a:lnTo>
                  <a:lnTo>
                    <a:pt x="0" y="575"/>
                  </a:lnTo>
                  <a:lnTo>
                    <a:pt x="6" y="560"/>
                  </a:lnTo>
                  <a:lnTo>
                    <a:pt x="12" y="543"/>
                  </a:lnTo>
                  <a:lnTo>
                    <a:pt x="18" y="529"/>
                  </a:lnTo>
                  <a:lnTo>
                    <a:pt x="23" y="511"/>
                  </a:lnTo>
                  <a:lnTo>
                    <a:pt x="29" y="493"/>
                  </a:lnTo>
                  <a:lnTo>
                    <a:pt x="35" y="475"/>
                  </a:lnTo>
                  <a:lnTo>
                    <a:pt x="44" y="457"/>
                  </a:lnTo>
                  <a:lnTo>
                    <a:pt x="49" y="441"/>
                  </a:lnTo>
                  <a:lnTo>
                    <a:pt x="58" y="423"/>
                  </a:lnTo>
                  <a:lnTo>
                    <a:pt x="67" y="405"/>
                  </a:lnTo>
                  <a:lnTo>
                    <a:pt x="72" y="387"/>
                  </a:lnTo>
                  <a:lnTo>
                    <a:pt x="81" y="366"/>
                  </a:lnTo>
                  <a:lnTo>
                    <a:pt x="90" y="349"/>
                  </a:lnTo>
                  <a:lnTo>
                    <a:pt x="96" y="332"/>
                  </a:lnTo>
                  <a:lnTo>
                    <a:pt x="105" y="311"/>
                  </a:lnTo>
                  <a:lnTo>
                    <a:pt x="113" y="293"/>
                  </a:lnTo>
                  <a:lnTo>
                    <a:pt x="122" y="276"/>
                  </a:lnTo>
                  <a:lnTo>
                    <a:pt x="130" y="258"/>
                  </a:lnTo>
                  <a:lnTo>
                    <a:pt x="139" y="238"/>
                  </a:lnTo>
                  <a:lnTo>
                    <a:pt x="148" y="220"/>
                  </a:lnTo>
                  <a:lnTo>
                    <a:pt x="154" y="202"/>
                  </a:lnTo>
                  <a:lnTo>
                    <a:pt x="162" y="182"/>
                  </a:lnTo>
                  <a:lnTo>
                    <a:pt x="171" y="164"/>
                  </a:lnTo>
                  <a:lnTo>
                    <a:pt x="180" y="147"/>
                  </a:lnTo>
                  <a:lnTo>
                    <a:pt x="189" y="129"/>
                  </a:lnTo>
                  <a:lnTo>
                    <a:pt x="198" y="111"/>
                  </a:lnTo>
                  <a:lnTo>
                    <a:pt x="203" y="94"/>
                  </a:lnTo>
                  <a:lnTo>
                    <a:pt x="211" y="76"/>
                  </a:lnTo>
                  <a:lnTo>
                    <a:pt x="220" y="58"/>
                  </a:lnTo>
                  <a:lnTo>
                    <a:pt x="229" y="41"/>
                  </a:lnTo>
                  <a:lnTo>
                    <a:pt x="235" y="26"/>
                  </a:lnTo>
                  <a:lnTo>
                    <a:pt x="244" y="9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5" name="Freeform 259">
              <a:extLst>
                <a:ext uri="{FF2B5EF4-FFF2-40B4-BE49-F238E27FC236}">
                  <a16:creationId xmlns:a16="http://schemas.microsoft.com/office/drawing/2014/main" id="{48B6CF84-2BCE-45B9-ACE3-4D18F291A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669"/>
              <a:ext cx="304" cy="134"/>
            </a:xfrm>
            <a:custGeom>
              <a:avLst/>
              <a:gdLst>
                <a:gd name="T0" fmla="*/ 294 w 304"/>
                <a:gd name="T1" fmla="*/ 39 h 134"/>
                <a:gd name="T2" fmla="*/ 230 w 304"/>
                <a:gd name="T3" fmla="*/ 0 h 134"/>
                <a:gd name="T4" fmla="*/ 0 w 304"/>
                <a:gd name="T5" fmla="*/ 133 h 134"/>
                <a:gd name="T6" fmla="*/ 111 w 304"/>
                <a:gd name="T7" fmla="*/ 127 h 134"/>
                <a:gd name="T8" fmla="*/ 137 w 304"/>
                <a:gd name="T9" fmla="*/ 94 h 134"/>
                <a:gd name="T10" fmla="*/ 131 w 304"/>
                <a:gd name="T11" fmla="*/ 130 h 134"/>
                <a:gd name="T12" fmla="*/ 277 w 304"/>
                <a:gd name="T13" fmla="*/ 97 h 134"/>
                <a:gd name="T14" fmla="*/ 303 w 304"/>
                <a:gd name="T15" fmla="*/ 82 h 134"/>
                <a:gd name="T16" fmla="*/ 294 w 304"/>
                <a:gd name="T17" fmla="*/ 39 h 1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4"/>
                <a:gd name="T28" fmla="*/ 0 h 134"/>
                <a:gd name="T29" fmla="*/ 304 w 304"/>
                <a:gd name="T30" fmla="*/ 134 h 13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4" h="134">
                  <a:moveTo>
                    <a:pt x="294" y="39"/>
                  </a:moveTo>
                  <a:lnTo>
                    <a:pt x="230" y="0"/>
                  </a:lnTo>
                  <a:lnTo>
                    <a:pt x="0" y="133"/>
                  </a:lnTo>
                  <a:lnTo>
                    <a:pt x="111" y="127"/>
                  </a:lnTo>
                  <a:lnTo>
                    <a:pt x="137" y="94"/>
                  </a:lnTo>
                  <a:lnTo>
                    <a:pt x="131" y="130"/>
                  </a:lnTo>
                  <a:lnTo>
                    <a:pt x="277" y="97"/>
                  </a:lnTo>
                  <a:lnTo>
                    <a:pt x="303" y="82"/>
                  </a:lnTo>
                  <a:lnTo>
                    <a:pt x="294" y="39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6" name="Freeform 260">
              <a:extLst>
                <a:ext uri="{FF2B5EF4-FFF2-40B4-BE49-F238E27FC236}">
                  <a16:creationId xmlns:a16="http://schemas.microsoft.com/office/drawing/2014/main" id="{E4701A86-7558-48FA-B82B-29AC3858C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" y="3695"/>
              <a:ext cx="182" cy="233"/>
            </a:xfrm>
            <a:custGeom>
              <a:avLst/>
              <a:gdLst>
                <a:gd name="T0" fmla="*/ 0 w 182"/>
                <a:gd name="T1" fmla="*/ 23 h 233"/>
                <a:gd name="T2" fmla="*/ 34 w 182"/>
                <a:gd name="T3" fmla="*/ 0 h 233"/>
                <a:gd name="T4" fmla="*/ 181 w 182"/>
                <a:gd name="T5" fmla="*/ 232 h 233"/>
                <a:gd name="T6" fmla="*/ 89 w 182"/>
                <a:gd name="T7" fmla="*/ 174 h 233"/>
                <a:gd name="T8" fmla="*/ 77 w 182"/>
                <a:gd name="T9" fmla="*/ 131 h 233"/>
                <a:gd name="T10" fmla="*/ 69 w 182"/>
                <a:gd name="T11" fmla="*/ 168 h 233"/>
                <a:gd name="T12" fmla="*/ 22 w 182"/>
                <a:gd name="T13" fmla="*/ 107 h 233"/>
                <a:gd name="T14" fmla="*/ 0 w 182"/>
                <a:gd name="T15" fmla="*/ 23 h 2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2"/>
                <a:gd name="T25" fmla="*/ 0 h 233"/>
                <a:gd name="T26" fmla="*/ 182 w 182"/>
                <a:gd name="T27" fmla="*/ 233 h 2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2" h="233">
                  <a:moveTo>
                    <a:pt x="0" y="23"/>
                  </a:moveTo>
                  <a:lnTo>
                    <a:pt x="34" y="0"/>
                  </a:lnTo>
                  <a:lnTo>
                    <a:pt x="181" y="232"/>
                  </a:lnTo>
                  <a:lnTo>
                    <a:pt x="89" y="174"/>
                  </a:lnTo>
                  <a:lnTo>
                    <a:pt x="77" y="131"/>
                  </a:lnTo>
                  <a:lnTo>
                    <a:pt x="69" y="168"/>
                  </a:lnTo>
                  <a:lnTo>
                    <a:pt x="22" y="107"/>
                  </a:lnTo>
                  <a:lnTo>
                    <a:pt x="0" y="23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7" name="Freeform 261">
              <a:extLst>
                <a:ext uri="{FF2B5EF4-FFF2-40B4-BE49-F238E27FC236}">
                  <a16:creationId xmlns:a16="http://schemas.microsoft.com/office/drawing/2014/main" id="{D2246660-EB51-4F94-BFC1-A3628D738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8" y="3651"/>
              <a:ext cx="137" cy="297"/>
            </a:xfrm>
            <a:custGeom>
              <a:avLst/>
              <a:gdLst>
                <a:gd name="T0" fmla="*/ 42 w 137"/>
                <a:gd name="T1" fmla="*/ 0 h 297"/>
                <a:gd name="T2" fmla="*/ 0 w 137"/>
                <a:gd name="T3" fmla="*/ 58 h 297"/>
                <a:gd name="T4" fmla="*/ 6 w 137"/>
                <a:gd name="T5" fmla="*/ 102 h 297"/>
                <a:gd name="T6" fmla="*/ 34 w 137"/>
                <a:gd name="T7" fmla="*/ 163 h 297"/>
                <a:gd name="T8" fmla="*/ 54 w 137"/>
                <a:gd name="T9" fmla="*/ 127 h 297"/>
                <a:gd name="T10" fmla="*/ 39 w 137"/>
                <a:gd name="T11" fmla="*/ 177 h 297"/>
                <a:gd name="T12" fmla="*/ 108 w 137"/>
                <a:gd name="T13" fmla="*/ 296 h 297"/>
                <a:gd name="T14" fmla="*/ 136 w 137"/>
                <a:gd name="T15" fmla="*/ 218 h 297"/>
                <a:gd name="T16" fmla="*/ 88 w 137"/>
                <a:gd name="T17" fmla="*/ 40 h 297"/>
                <a:gd name="T18" fmla="*/ 42 w 137"/>
                <a:gd name="T19" fmla="*/ 0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37"/>
                <a:gd name="T31" fmla="*/ 0 h 297"/>
                <a:gd name="T32" fmla="*/ 137 w 137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37" h="297">
                  <a:moveTo>
                    <a:pt x="42" y="0"/>
                  </a:moveTo>
                  <a:lnTo>
                    <a:pt x="0" y="58"/>
                  </a:lnTo>
                  <a:lnTo>
                    <a:pt x="6" y="102"/>
                  </a:lnTo>
                  <a:lnTo>
                    <a:pt x="34" y="163"/>
                  </a:lnTo>
                  <a:lnTo>
                    <a:pt x="54" y="127"/>
                  </a:lnTo>
                  <a:lnTo>
                    <a:pt x="39" y="177"/>
                  </a:lnTo>
                  <a:lnTo>
                    <a:pt x="108" y="296"/>
                  </a:lnTo>
                  <a:lnTo>
                    <a:pt x="136" y="218"/>
                  </a:lnTo>
                  <a:lnTo>
                    <a:pt x="88" y="40"/>
                  </a:lnTo>
                  <a:lnTo>
                    <a:pt x="42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8" name="Freeform 262">
              <a:extLst>
                <a:ext uri="{FF2B5EF4-FFF2-40B4-BE49-F238E27FC236}">
                  <a16:creationId xmlns:a16="http://schemas.microsoft.com/office/drawing/2014/main" id="{4AEC2003-8328-42D2-B64B-D9A14C2FE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770"/>
              <a:ext cx="134" cy="113"/>
            </a:xfrm>
            <a:custGeom>
              <a:avLst/>
              <a:gdLst>
                <a:gd name="T0" fmla="*/ 100 w 134"/>
                <a:gd name="T1" fmla="*/ 5 h 113"/>
                <a:gd name="T2" fmla="*/ 133 w 134"/>
                <a:gd name="T3" fmla="*/ 0 h 113"/>
                <a:gd name="T4" fmla="*/ 113 w 134"/>
                <a:gd name="T5" fmla="*/ 42 h 113"/>
                <a:gd name="T6" fmla="*/ 62 w 134"/>
                <a:gd name="T7" fmla="*/ 84 h 113"/>
                <a:gd name="T8" fmla="*/ 45 w 134"/>
                <a:gd name="T9" fmla="*/ 67 h 113"/>
                <a:gd name="T10" fmla="*/ 39 w 134"/>
                <a:gd name="T11" fmla="*/ 95 h 113"/>
                <a:gd name="T12" fmla="*/ 0 w 134"/>
                <a:gd name="T13" fmla="*/ 112 h 113"/>
                <a:gd name="T14" fmla="*/ 39 w 134"/>
                <a:gd name="T15" fmla="*/ 22 h 113"/>
                <a:gd name="T16" fmla="*/ 100 w 134"/>
                <a:gd name="T17" fmla="*/ 5 h 1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13"/>
                <a:gd name="T29" fmla="*/ 134 w 134"/>
                <a:gd name="T30" fmla="*/ 113 h 1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13">
                  <a:moveTo>
                    <a:pt x="100" y="5"/>
                  </a:moveTo>
                  <a:lnTo>
                    <a:pt x="133" y="0"/>
                  </a:lnTo>
                  <a:lnTo>
                    <a:pt x="113" y="42"/>
                  </a:lnTo>
                  <a:lnTo>
                    <a:pt x="62" y="84"/>
                  </a:lnTo>
                  <a:lnTo>
                    <a:pt x="45" y="67"/>
                  </a:lnTo>
                  <a:lnTo>
                    <a:pt x="39" y="95"/>
                  </a:lnTo>
                  <a:lnTo>
                    <a:pt x="0" y="112"/>
                  </a:lnTo>
                  <a:lnTo>
                    <a:pt x="39" y="22"/>
                  </a:lnTo>
                  <a:lnTo>
                    <a:pt x="100" y="5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29" name="Freeform 263">
              <a:extLst>
                <a:ext uri="{FF2B5EF4-FFF2-40B4-BE49-F238E27FC236}">
                  <a16:creationId xmlns:a16="http://schemas.microsoft.com/office/drawing/2014/main" id="{FC9F4BA5-3B4F-4298-A5B3-39BB16F13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" y="3755"/>
              <a:ext cx="43" cy="134"/>
            </a:xfrm>
            <a:custGeom>
              <a:avLst/>
              <a:gdLst>
                <a:gd name="T0" fmla="*/ 24 w 43"/>
                <a:gd name="T1" fmla="*/ 0 h 134"/>
                <a:gd name="T2" fmla="*/ 42 w 43"/>
                <a:gd name="T3" fmla="*/ 54 h 134"/>
                <a:gd name="T4" fmla="*/ 32 w 43"/>
                <a:gd name="T5" fmla="*/ 133 h 134"/>
                <a:gd name="T6" fmla="*/ 0 w 43"/>
                <a:gd name="T7" fmla="*/ 59 h 134"/>
                <a:gd name="T8" fmla="*/ 24 w 43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34"/>
                <a:gd name="T17" fmla="*/ 43 w 43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34">
                  <a:moveTo>
                    <a:pt x="24" y="0"/>
                  </a:moveTo>
                  <a:lnTo>
                    <a:pt x="42" y="54"/>
                  </a:lnTo>
                  <a:lnTo>
                    <a:pt x="32" y="133"/>
                  </a:lnTo>
                  <a:lnTo>
                    <a:pt x="0" y="59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0" name="Freeform 264">
              <a:extLst>
                <a:ext uri="{FF2B5EF4-FFF2-40B4-BE49-F238E27FC236}">
                  <a16:creationId xmlns:a16="http://schemas.microsoft.com/office/drawing/2014/main" id="{7F08A6D1-F85B-4130-9E3B-0B475F1C6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598"/>
              <a:ext cx="226" cy="763"/>
            </a:xfrm>
            <a:custGeom>
              <a:avLst/>
              <a:gdLst>
                <a:gd name="T0" fmla="*/ 22 w 226"/>
                <a:gd name="T1" fmla="*/ 14 h 763"/>
                <a:gd name="T2" fmla="*/ 0 w 226"/>
                <a:gd name="T3" fmla="*/ 0 h 763"/>
                <a:gd name="T4" fmla="*/ 12 w 226"/>
                <a:gd name="T5" fmla="*/ 41 h 763"/>
                <a:gd name="T6" fmla="*/ 19 w 226"/>
                <a:gd name="T7" fmla="*/ 82 h 763"/>
                <a:gd name="T8" fmla="*/ 31 w 226"/>
                <a:gd name="T9" fmla="*/ 129 h 763"/>
                <a:gd name="T10" fmla="*/ 43 w 226"/>
                <a:gd name="T11" fmla="*/ 174 h 763"/>
                <a:gd name="T12" fmla="*/ 55 w 226"/>
                <a:gd name="T13" fmla="*/ 220 h 763"/>
                <a:gd name="T14" fmla="*/ 63 w 226"/>
                <a:gd name="T15" fmla="*/ 270 h 763"/>
                <a:gd name="T16" fmla="*/ 75 w 226"/>
                <a:gd name="T17" fmla="*/ 320 h 763"/>
                <a:gd name="T18" fmla="*/ 84 w 226"/>
                <a:gd name="T19" fmla="*/ 370 h 763"/>
                <a:gd name="T20" fmla="*/ 93 w 226"/>
                <a:gd name="T21" fmla="*/ 421 h 763"/>
                <a:gd name="T22" fmla="*/ 97 w 226"/>
                <a:gd name="T23" fmla="*/ 470 h 763"/>
                <a:gd name="T24" fmla="*/ 103 w 226"/>
                <a:gd name="T25" fmla="*/ 521 h 763"/>
                <a:gd name="T26" fmla="*/ 109 w 226"/>
                <a:gd name="T27" fmla="*/ 571 h 763"/>
                <a:gd name="T28" fmla="*/ 112 w 226"/>
                <a:gd name="T29" fmla="*/ 620 h 763"/>
                <a:gd name="T30" fmla="*/ 115 w 226"/>
                <a:gd name="T31" fmla="*/ 668 h 763"/>
                <a:gd name="T32" fmla="*/ 115 w 226"/>
                <a:gd name="T33" fmla="*/ 714 h 763"/>
                <a:gd name="T34" fmla="*/ 112 w 226"/>
                <a:gd name="T35" fmla="*/ 762 h 763"/>
                <a:gd name="T36" fmla="*/ 225 w 226"/>
                <a:gd name="T37" fmla="*/ 741 h 763"/>
                <a:gd name="T38" fmla="*/ 216 w 226"/>
                <a:gd name="T39" fmla="*/ 699 h 763"/>
                <a:gd name="T40" fmla="*/ 205 w 226"/>
                <a:gd name="T41" fmla="*/ 659 h 763"/>
                <a:gd name="T42" fmla="*/ 196 w 226"/>
                <a:gd name="T43" fmla="*/ 614 h 763"/>
                <a:gd name="T44" fmla="*/ 184 w 226"/>
                <a:gd name="T45" fmla="*/ 571 h 763"/>
                <a:gd name="T46" fmla="*/ 173 w 226"/>
                <a:gd name="T47" fmla="*/ 523 h 763"/>
                <a:gd name="T48" fmla="*/ 159 w 226"/>
                <a:gd name="T49" fmla="*/ 476 h 763"/>
                <a:gd name="T50" fmla="*/ 144 w 226"/>
                <a:gd name="T51" fmla="*/ 430 h 763"/>
                <a:gd name="T52" fmla="*/ 132 w 226"/>
                <a:gd name="T53" fmla="*/ 379 h 763"/>
                <a:gd name="T54" fmla="*/ 118 w 226"/>
                <a:gd name="T55" fmla="*/ 332 h 763"/>
                <a:gd name="T56" fmla="*/ 103 w 226"/>
                <a:gd name="T57" fmla="*/ 285 h 763"/>
                <a:gd name="T58" fmla="*/ 90 w 226"/>
                <a:gd name="T59" fmla="*/ 238 h 763"/>
                <a:gd name="T60" fmla="*/ 75 w 226"/>
                <a:gd name="T61" fmla="*/ 191 h 763"/>
                <a:gd name="T62" fmla="*/ 60 w 226"/>
                <a:gd name="T63" fmla="*/ 147 h 763"/>
                <a:gd name="T64" fmla="*/ 49 w 226"/>
                <a:gd name="T65" fmla="*/ 99 h 763"/>
                <a:gd name="T66" fmla="*/ 34 w 226"/>
                <a:gd name="T67" fmla="*/ 59 h 763"/>
                <a:gd name="T68" fmla="*/ 22 w 226"/>
                <a:gd name="T69" fmla="*/ 14 h 76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6"/>
                <a:gd name="T106" fmla="*/ 0 h 763"/>
                <a:gd name="T107" fmla="*/ 226 w 226"/>
                <a:gd name="T108" fmla="*/ 763 h 76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6" h="763">
                  <a:moveTo>
                    <a:pt x="22" y="14"/>
                  </a:moveTo>
                  <a:lnTo>
                    <a:pt x="0" y="0"/>
                  </a:lnTo>
                  <a:lnTo>
                    <a:pt x="12" y="41"/>
                  </a:lnTo>
                  <a:lnTo>
                    <a:pt x="19" y="82"/>
                  </a:lnTo>
                  <a:lnTo>
                    <a:pt x="31" y="129"/>
                  </a:lnTo>
                  <a:lnTo>
                    <a:pt x="43" y="174"/>
                  </a:lnTo>
                  <a:lnTo>
                    <a:pt x="55" y="220"/>
                  </a:lnTo>
                  <a:lnTo>
                    <a:pt x="63" y="270"/>
                  </a:lnTo>
                  <a:lnTo>
                    <a:pt x="75" y="320"/>
                  </a:lnTo>
                  <a:lnTo>
                    <a:pt x="84" y="370"/>
                  </a:lnTo>
                  <a:lnTo>
                    <a:pt x="93" y="421"/>
                  </a:lnTo>
                  <a:lnTo>
                    <a:pt x="97" y="470"/>
                  </a:lnTo>
                  <a:lnTo>
                    <a:pt x="103" y="521"/>
                  </a:lnTo>
                  <a:lnTo>
                    <a:pt x="109" y="571"/>
                  </a:lnTo>
                  <a:lnTo>
                    <a:pt x="112" y="620"/>
                  </a:lnTo>
                  <a:lnTo>
                    <a:pt x="115" y="668"/>
                  </a:lnTo>
                  <a:lnTo>
                    <a:pt x="115" y="714"/>
                  </a:lnTo>
                  <a:lnTo>
                    <a:pt x="112" y="762"/>
                  </a:lnTo>
                  <a:lnTo>
                    <a:pt x="225" y="741"/>
                  </a:lnTo>
                  <a:lnTo>
                    <a:pt x="216" y="699"/>
                  </a:lnTo>
                  <a:lnTo>
                    <a:pt x="205" y="659"/>
                  </a:lnTo>
                  <a:lnTo>
                    <a:pt x="196" y="614"/>
                  </a:lnTo>
                  <a:lnTo>
                    <a:pt x="184" y="571"/>
                  </a:lnTo>
                  <a:lnTo>
                    <a:pt x="173" y="523"/>
                  </a:lnTo>
                  <a:lnTo>
                    <a:pt x="159" y="476"/>
                  </a:lnTo>
                  <a:lnTo>
                    <a:pt x="144" y="430"/>
                  </a:lnTo>
                  <a:lnTo>
                    <a:pt x="132" y="379"/>
                  </a:lnTo>
                  <a:lnTo>
                    <a:pt x="118" y="332"/>
                  </a:lnTo>
                  <a:lnTo>
                    <a:pt x="103" y="285"/>
                  </a:lnTo>
                  <a:lnTo>
                    <a:pt x="90" y="238"/>
                  </a:lnTo>
                  <a:lnTo>
                    <a:pt x="75" y="191"/>
                  </a:lnTo>
                  <a:lnTo>
                    <a:pt x="60" y="147"/>
                  </a:lnTo>
                  <a:lnTo>
                    <a:pt x="49" y="99"/>
                  </a:lnTo>
                  <a:lnTo>
                    <a:pt x="34" y="59"/>
                  </a:lnTo>
                  <a:lnTo>
                    <a:pt x="22" y="14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1" name="Freeform 265">
              <a:extLst>
                <a:ext uri="{FF2B5EF4-FFF2-40B4-BE49-F238E27FC236}">
                  <a16:creationId xmlns:a16="http://schemas.microsoft.com/office/drawing/2014/main" id="{304C8625-658B-45CC-A269-69C430A78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497"/>
              <a:ext cx="297" cy="184"/>
            </a:xfrm>
            <a:custGeom>
              <a:avLst/>
              <a:gdLst>
                <a:gd name="T0" fmla="*/ 12 w 297"/>
                <a:gd name="T1" fmla="*/ 46 h 184"/>
                <a:gd name="T2" fmla="*/ 78 w 297"/>
                <a:gd name="T3" fmla="*/ 0 h 184"/>
                <a:gd name="T4" fmla="*/ 296 w 297"/>
                <a:gd name="T5" fmla="*/ 183 h 184"/>
                <a:gd name="T6" fmla="*/ 188 w 297"/>
                <a:gd name="T7" fmla="*/ 169 h 184"/>
                <a:gd name="T8" fmla="*/ 166 w 297"/>
                <a:gd name="T9" fmla="*/ 123 h 184"/>
                <a:gd name="T10" fmla="*/ 169 w 297"/>
                <a:gd name="T11" fmla="*/ 172 h 184"/>
                <a:gd name="T12" fmla="*/ 23 w 297"/>
                <a:gd name="T13" fmla="*/ 120 h 184"/>
                <a:gd name="T14" fmla="*/ 0 w 297"/>
                <a:gd name="T15" fmla="*/ 100 h 184"/>
                <a:gd name="T16" fmla="*/ 12 w 297"/>
                <a:gd name="T17" fmla="*/ 46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7"/>
                <a:gd name="T28" fmla="*/ 0 h 184"/>
                <a:gd name="T29" fmla="*/ 297 w 297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7" h="184">
                  <a:moveTo>
                    <a:pt x="12" y="46"/>
                  </a:moveTo>
                  <a:lnTo>
                    <a:pt x="78" y="0"/>
                  </a:lnTo>
                  <a:lnTo>
                    <a:pt x="296" y="183"/>
                  </a:lnTo>
                  <a:lnTo>
                    <a:pt x="188" y="169"/>
                  </a:lnTo>
                  <a:lnTo>
                    <a:pt x="166" y="123"/>
                  </a:lnTo>
                  <a:lnTo>
                    <a:pt x="169" y="172"/>
                  </a:lnTo>
                  <a:lnTo>
                    <a:pt x="23" y="120"/>
                  </a:lnTo>
                  <a:lnTo>
                    <a:pt x="0" y="100"/>
                  </a:lnTo>
                  <a:lnTo>
                    <a:pt x="12" y="4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2" name="Freeform 266">
              <a:extLst>
                <a:ext uri="{FF2B5EF4-FFF2-40B4-BE49-F238E27FC236}">
                  <a16:creationId xmlns:a16="http://schemas.microsoft.com/office/drawing/2014/main" id="{0CE62DFE-0017-42B7-AD9A-B71F82E87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3520"/>
              <a:ext cx="197" cy="280"/>
            </a:xfrm>
            <a:custGeom>
              <a:avLst/>
              <a:gdLst>
                <a:gd name="T0" fmla="*/ 196 w 197"/>
                <a:gd name="T1" fmla="*/ 26 h 280"/>
                <a:gd name="T2" fmla="*/ 161 w 197"/>
                <a:gd name="T3" fmla="*/ 0 h 280"/>
                <a:gd name="T4" fmla="*/ 0 w 197"/>
                <a:gd name="T5" fmla="*/ 279 h 280"/>
                <a:gd name="T6" fmla="*/ 95 w 197"/>
                <a:gd name="T7" fmla="*/ 215 h 280"/>
                <a:gd name="T8" fmla="*/ 110 w 197"/>
                <a:gd name="T9" fmla="*/ 158 h 280"/>
                <a:gd name="T10" fmla="*/ 115 w 197"/>
                <a:gd name="T11" fmla="*/ 207 h 280"/>
                <a:gd name="T12" fmla="*/ 167 w 197"/>
                <a:gd name="T13" fmla="*/ 134 h 280"/>
                <a:gd name="T14" fmla="*/ 196 w 197"/>
                <a:gd name="T15" fmla="*/ 26 h 2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7"/>
                <a:gd name="T25" fmla="*/ 0 h 280"/>
                <a:gd name="T26" fmla="*/ 197 w 197"/>
                <a:gd name="T27" fmla="*/ 280 h 2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7" h="280">
                  <a:moveTo>
                    <a:pt x="196" y="26"/>
                  </a:moveTo>
                  <a:lnTo>
                    <a:pt x="161" y="0"/>
                  </a:lnTo>
                  <a:lnTo>
                    <a:pt x="0" y="279"/>
                  </a:lnTo>
                  <a:lnTo>
                    <a:pt x="95" y="215"/>
                  </a:lnTo>
                  <a:lnTo>
                    <a:pt x="110" y="158"/>
                  </a:lnTo>
                  <a:lnTo>
                    <a:pt x="115" y="207"/>
                  </a:lnTo>
                  <a:lnTo>
                    <a:pt x="167" y="134"/>
                  </a:lnTo>
                  <a:lnTo>
                    <a:pt x="196" y="2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3" name="Freeform 267">
              <a:extLst>
                <a:ext uri="{FF2B5EF4-FFF2-40B4-BE49-F238E27FC236}">
                  <a16:creationId xmlns:a16="http://schemas.microsoft.com/office/drawing/2014/main" id="{65E04F81-A042-4997-866A-08BCC56BD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467"/>
              <a:ext cx="150" cy="369"/>
            </a:xfrm>
            <a:custGeom>
              <a:avLst/>
              <a:gdLst>
                <a:gd name="T0" fmla="*/ 109 w 150"/>
                <a:gd name="T1" fmla="*/ 0 h 369"/>
                <a:gd name="T2" fmla="*/ 149 w 150"/>
                <a:gd name="T3" fmla="*/ 76 h 369"/>
                <a:gd name="T4" fmla="*/ 140 w 150"/>
                <a:gd name="T5" fmla="*/ 131 h 369"/>
                <a:gd name="T6" fmla="*/ 106 w 150"/>
                <a:gd name="T7" fmla="*/ 208 h 369"/>
                <a:gd name="T8" fmla="*/ 91 w 150"/>
                <a:gd name="T9" fmla="*/ 160 h 369"/>
                <a:gd name="T10" fmla="*/ 100 w 150"/>
                <a:gd name="T11" fmla="*/ 224 h 369"/>
                <a:gd name="T12" fmla="*/ 23 w 150"/>
                <a:gd name="T13" fmla="*/ 368 h 369"/>
                <a:gd name="T14" fmla="*/ 0 w 150"/>
                <a:gd name="T15" fmla="*/ 269 h 369"/>
                <a:gd name="T16" fmla="*/ 63 w 150"/>
                <a:gd name="T17" fmla="*/ 49 h 369"/>
                <a:gd name="T18" fmla="*/ 109 w 150"/>
                <a:gd name="T19" fmla="*/ 0 h 3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0"/>
                <a:gd name="T31" fmla="*/ 0 h 369"/>
                <a:gd name="T32" fmla="*/ 150 w 150"/>
                <a:gd name="T33" fmla="*/ 369 h 3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0" h="369">
                  <a:moveTo>
                    <a:pt x="109" y="0"/>
                  </a:moveTo>
                  <a:lnTo>
                    <a:pt x="149" y="76"/>
                  </a:lnTo>
                  <a:lnTo>
                    <a:pt x="140" y="131"/>
                  </a:lnTo>
                  <a:lnTo>
                    <a:pt x="106" y="208"/>
                  </a:lnTo>
                  <a:lnTo>
                    <a:pt x="91" y="160"/>
                  </a:lnTo>
                  <a:lnTo>
                    <a:pt x="100" y="224"/>
                  </a:lnTo>
                  <a:lnTo>
                    <a:pt x="23" y="368"/>
                  </a:lnTo>
                  <a:lnTo>
                    <a:pt x="0" y="269"/>
                  </a:lnTo>
                  <a:lnTo>
                    <a:pt x="63" y="49"/>
                  </a:lnTo>
                  <a:lnTo>
                    <a:pt x="109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4" name="Freeform 268">
              <a:extLst>
                <a:ext uri="{FF2B5EF4-FFF2-40B4-BE49-F238E27FC236}">
                  <a16:creationId xmlns:a16="http://schemas.microsoft.com/office/drawing/2014/main" id="{151CC92E-9190-461E-838A-4E5B0B58A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3618"/>
              <a:ext cx="126" cy="155"/>
            </a:xfrm>
            <a:custGeom>
              <a:avLst/>
              <a:gdLst>
                <a:gd name="T0" fmla="*/ 34 w 126"/>
                <a:gd name="T1" fmla="*/ 12 h 155"/>
                <a:gd name="T2" fmla="*/ 0 w 126"/>
                <a:gd name="T3" fmla="*/ 0 h 155"/>
                <a:gd name="T4" fmla="*/ 17 w 126"/>
                <a:gd name="T5" fmla="*/ 58 h 155"/>
                <a:gd name="T6" fmla="*/ 63 w 126"/>
                <a:gd name="T7" fmla="*/ 115 h 155"/>
                <a:gd name="T8" fmla="*/ 79 w 126"/>
                <a:gd name="T9" fmla="*/ 94 h 155"/>
                <a:gd name="T10" fmla="*/ 85 w 126"/>
                <a:gd name="T11" fmla="*/ 132 h 155"/>
                <a:gd name="T12" fmla="*/ 125 w 126"/>
                <a:gd name="T13" fmla="*/ 154 h 155"/>
                <a:gd name="T14" fmla="*/ 91 w 126"/>
                <a:gd name="T15" fmla="*/ 38 h 155"/>
                <a:gd name="T16" fmla="*/ 34 w 126"/>
                <a:gd name="T17" fmla="*/ 12 h 1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6"/>
                <a:gd name="T28" fmla="*/ 0 h 155"/>
                <a:gd name="T29" fmla="*/ 126 w 126"/>
                <a:gd name="T30" fmla="*/ 155 h 1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6" h="155">
                  <a:moveTo>
                    <a:pt x="34" y="12"/>
                  </a:moveTo>
                  <a:lnTo>
                    <a:pt x="0" y="0"/>
                  </a:lnTo>
                  <a:lnTo>
                    <a:pt x="17" y="58"/>
                  </a:lnTo>
                  <a:lnTo>
                    <a:pt x="63" y="115"/>
                  </a:lnTo>
                  <a:lnTo>
                    <a:pt x="79" y="94"/>
                  </a:lnTo>
                  <a:lnTo>
                    <a:pt x="85" y="132"/>
                  </a:lnTo>
                  <a:lnTo>
                    <a:pt x="125" y="154"/>
                  </a:lnTo>
                  <a:lnTo>
                    <a:pt x="91" y="38"/>
                  </a:lnTo>
                  <a:lnTo>
                    <a:pt x="34" y="12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35" name="Freeform 269">
              <a:extLst>
                <a:ext uri="{FF2B5EF4-FFF2-40B4-BE49-F238E27FC236}">
                  <a16:creationId xmlns:a16="http://schemas.microsoft.com/office/drawing/2014/main" id="{23A705D4-F98F-454D-B682-5336A39FA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00"/>
              <a:ext cx="42" cy="170"/>
            </a:xfrm>
            <a:custGeom>
              <a:avLst/>
              <a:gdLst>
                <a:gd name="T0" fmla="*/ 24 w 42"/>
                <a:gd name="T1" fmla="*/ 0 h 170"/>
                <a:gd name="T2" fmla="*/ 0 w 42"/>
                <a:gd name="T3" fmla="*/ 67 h 170"/>
                <a:gd name="T4" fmla="*/ 8 w 42"/>
                <a:gd name="T5" fmla="*/ 169 h 170"/>
                <a:gd name="T6" fmla="*/ 41 w 42"/>
                <a:gd name="T7" fmla="*/ 78 h 170"/>
                <a:gd name="T8" fmla="*/ 24 w 42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170"/>
                <a:gd name="T17" fmla="*/ 42 w 42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170">
                  <a:moveTo>
                    <a:pt x="24" y="0"/>
                  </a:moveTo>
                  <a:lnTo>
                    <a:pt x="0" y="67"/>
                  </a:lnTo>
                  <a:lnTo>
                    <a:pt x="8" y="169"/>
                  </a:lnTo>
                  <a:lnTo>
                    <a:pt x="41" y="78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9159" name="Picture 270">
            <a:extLst>
              <a:ext uri="{FF2B5EF4-FFF2-40B4-BE49-F238E27FC236}">
                <a16:creationId xmlns:a16="http://schemas.microsoft.com/office/drawing/2014/main" id="{5A3C0DCE-A8DB-4FB0-A64B-B2053221905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5627688"/>
            <a:ext cx="7207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0" name="Line 271">
            <a:extLst>
              <a:ext uri="{FF2B5EF4-FFF2-40B4-BE49-F238E27FC236}">
                <a16:creationId xmlns:a16="http://schemas.microsoft.com/office/drawing/2014/main" id="{EC66E77B-A9DA-41EB-940F-2B1E45121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3379788"/>
            <a:ext cx="0" cy="60325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61" name="Group 272">
            <a:extLst>
              <a:ext uri="{FF2B5EF4-FFF2-40B4-BE49-F238E27FC236}">
                <a16:creationId xmlns:a16="http://schemas.microsoft.com/office/drawing/2014/main" id="{5F2DB221-AC35-4C38-BFA1-19CED0EEC9D6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094163"/>
            <a:ext cx="863600" cy="809625"/>
            <a:chOff x="966" y="2856"/>
            <a:chExt cx="571" cy="545"/>
          </a:xfrm>
        </p:grpSpPr>
        <p:sp>
          <p:nvSpPr>
            <p:cNvPr id="49185" name="Freeform 273">
              <a:extLst>
                <a:ext uri="{FF2B5EF4-FFF2-40B4-BE49-F238E27FC236}">
                  <a16:creationId xmlns:a16="http://schemas.microsoft.com/office/drawing/2014/main" id="{6653F6D8-2CEC-4E96-9464-00A39556E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95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6" name="Freeform 274">
              <a:extLst>
                <a:ext uri="{FF2B5EF4-FFF2-40B4-BE49-F238E27FC236}">
                  <a16:creationId xmlns:a16="http://schemas.microsoft.com/office/drawing/2014/main" id="{2C841BFA-057A-430C-A918-423F29466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87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7" name="Freeform 275">
              <a:extLst>
                <a:ext uri="{FF2B5EF4-FFF2-40B4-BE49-F238E27FC236}">
                  <a16:creationId xmlns:a16="http://schemas.microsoft.com/office/drawing/2014/main" id="{31656006-D4AC-4E52-99E8-03C53B85F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87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8" name="Freeform 276">
              <a:extLst>
                <a:ext uri="{FF2B5EF4-FFF2-40B4-BE49-F238E27FC236}">
                  <a16:creationId xmlns:a16="http://schemas.microsoft.com/office/drawing/2014/main" id="{BCBDE69A-D7ED-4902-9932-A3B41C6BA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289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9" name="Freeform 277">
              <a:extLst>
                <a:ext uri="{FF2B5EF4-FFF2-40B4-BE49-F238E27FC236}">
                  <a16:creationId xmlns:a16="http://schemas.microsoft.com/office/drawing/2014/main" id="{5544D2BB-A397-4F78-A3E8-598A459F3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38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0" name="Freeform 278">
              <a:extLst>
                <a:ext uri="{FF2B5EF4-FFF2-40B4-BE49-F238E27FC236}">
                  <a16:creationId xmlns:a16="http://schemas.microsoft.com/office/drawing/2014/main" id="{C7301029-2C32-44F7-8D79-580D5D1FA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97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1" name="Freeform 279">
              <a:extLst>
                <a:ext uri="{FF2B5EF4-FFF2-40B4-BE49-F238E27FC236}">
                  <a16:creationId xmlns:a16="http://schemas.microsoft.com/office/drawing/2014/main" id="{36EC4885-75C4-4A02-B779-28BE26566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6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2" name="Freeform 280">
              <a:extLst>
                <a:ext uri="{FF2B5EF4-FFF2-40B4-BE49-F238E27FC236}">
                  <a16:creationId xmlns:a16="http://schemas.microsoft.com/office/drawing/2014/main" id="{75E9C398-ECAC-4BEA-9E57-99611352D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298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3" name="Freeform 281">
              <a:extLst>
                <a:ext uri="{FF2B5EF4-FFF2-40B4-BE49-F238E27FC236}">
                  <a16:creationId xmlns:a16="http://schemas.microsoft.com/office/drawing/2014/main" id="{0C9598B7-8E23-4ADE-A8F0-55223F22F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19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4" name="Freeform 282">
              <a:extLst>
                <a:ext uri="{FF2B5EF4-FFF2-40B4-BE49-F238E27FC236}">
                  <a16:creationId xmlns:a16="http://schemas.microsoft.com/office/drawing/2014/main" id="{2D96A65D-D486-45CE-93A5-3681AC2E7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87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5" name="Freeform 283">
              <a:extLst>
                <a:ext uri="{FF2B5EF4-FFF2-40B4-BE49-F238E27FC236}">
                  <a16:creationId xmlns:a16="http://schemas.microsoft.com/office/drawing/2014/main" id="{B98154DD-5F21-49AA-AE85-DA71C0092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87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6" name="Freeform 284">
              <a:extLst>
                <a:ext uri="{FF2B5EF4-FFF2-40B4-BE49-F238E27FC236}">
                  <a16:creationId xmlns:a16="http://schemas.microsoft.com/office/drawing/2014/main" id="{95503693-096F-4AA0-AD66-07073FC6B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338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7" name="Freeform 285">
              <a:extLst>
                <a:ext uri="{FF2B5EF4-FFF2-40B4-BE49-F238E27FC236}">
                  <a16:creationId xmlns:a16="http://schemas.microsoft.com/office/drawing/2014/main" id="{4544FB6B-D4F8-477A-9D75-32FDE3B8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85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98" name="Freeform 286">
              <a:extLst>
                <a:ext uri="{FF2B5EF4-FFF2-40B4-BE49-F238E27FC236}">
                  <a16:creationId xmlns:a16="http://schemas.microsoft.com/office/drawing/2014/main" id="{C4F52EB3-75CB-4327-B7F8-C51D40D8D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317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9" name="Freeform 287">
              <a:extLst>
                <a:ext uri="{FF2B5EF4-FFF2-40B4-BE49-F238E27FC236}">
                  <a16:creationId xmlns:a16="http://schemas.microsoft.com/office/drawing/2014/main" id="{8C999607-543E-4331-8426-4C235DD43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87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200" name="Freeform 288">
              <a:extLst>
                <a:ext uri="{FF2B5EF4-FFF2-40B4-BE49-F238E27FC236}">
                  <a16:creationId xmlns:a16="http://schemas.microsoft.com/office/drawing/2014/main" id="{1138A2F3-DE4F-47A3-8E6C-861345769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06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1" name="Freeform 289">
              <a:extLst>
                <a:ext uri="{FF2B5EF4-FFF2-40B4-BE49-F238E27FC236}">
                  <a16:creationId xmlns:a16="http://schemas.microsoft.com/office/drawing/2014/main" id="{A5EBA8AA-74B4-454D-A8F4-4E983AFE3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92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62" name="Rectangle 290">
            <a:extLst>
              <a:ext uri="{FF2B5EF4-FFF2-40B4-BE49-F238E27FC236}">
                <a16:creationId xmlns:a16="http://schemas.microsoft.com/office/drawing/2014/main" id="{F9272CBF-8DFA-40AA-88B8-2108036FA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4951413"/>
            <a:ext cx="20986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100" b="1">
                <a:solidFill>
                  <a:srgbClr val="CF0E30"/>
                </a:solidFill>
              </a:rPr>
              <a:t>Contributions</a:t>
            </a:r>
          </a:p>
        </p:txBody>
      </p:sp>
      <p:sp>
        <p:nvSpPr>
          <p:cNvPr id="49163" name="Line 291">
            <a:extLst>
              <a:ext uri="{FF2B5EF4-FFF2-40B4-BE49-F238E27FC236}">
                <a16:creationId xmlns:a16="http://schemas.microsoft.com/office/drawing/2014/main" id="{7DFB8BF4-45B1-46BF-B7CF-1CF403982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4546600"/>
            <a:ext cx="1057275" cy="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Line 292">
            <a:extLst>
              <a:ext uri="{FF2B5EF4-FFF2-40B4-BE49-F238E27FC236}">
                <a16:creationId xmlns:a16="http://schemas.microsoft.com/office/drawing/2014/main" id="{9903F99B-7D6C-4E8B-BBC2-F274B74A4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5" y="3689350"/>
            <a:ext cx="1381125" cy="1588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Line 293">
            <a:extLst>
              <a:ext uri="{FF2B5EF4-FFF2-40B4-BE49-F238E27FC236}">
                <a16:creationId xmlns:a16="http://schemas.microsoft.com/office/drawing/2014/main" id="{51C69510-9EE2-45C1-83A3-2D240AAE0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4165600"/>
            <a:ext cx="0" cy="388938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66" name="Group 294">
            <a:extLst>
              <a:ext uri="{FF2B5EF4-FFF2-40B4-BE49-F238E27FC236}">
                <a16:creationId xmlns:a16="http://schemas.microsoft.com/office/drawing/2014/main" id="{9CA8AFEA-969B-464B-9962-3CEE7F8F2921}"/>
              </a:ext>
            </a:extLst>
          </p:cNvPr>
          <p:cNvGrpSpPr>
            <a:grpSpLocks/>
          </p:cNvGrpSpPr>
          <p:nvPr/>
        </p:nvGrpSpPr>
        <p:grpSpPr bwMode="auto">
          <a:xfrm>
            <a:off x="7048500" y="3289300"/>
            <a:ext cx="863600" cy="811213"/>
            <a:chOff x="4662" y="2316"/>
            <a:chExt cx="571" cy="545"/>
          </a:xfrm>
        </p:grpSpPr>
        <p:sp>
          <p:nvSpPr>
            <p:cNvPr id="49168" name="Freeform 295">
              <a:extLst>
                <a:ext uri="{FF2B5EF4-FFF2-40B4-BE49-F238E27FC236}">
                  <a16:creationId xmlns:a16="http://schemas.microsoft.com/office/drawing/2014/main" id="{7D4BC544-0043-4FD2-BB39-610F46A98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41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69" name="Freeform 296">
              <a:extLst>
                <a:ext uri="{FF2B5EF4-FFF2-40B4-BE49-F238E27FC236}">
                  <a16:creationId xmlns:a16="http://schemas.microsoft.com/office/drawing/2014/main" id="{2D23A9C5-CC61-4ED6-AB99-DFC62266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" y="233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0" name="Freeform 297">
              <a:extLst>
                <a:ext uri="{FF2B5EF4-FFF2-40B4-BE49-F238E27FC236}">
                  <a16:creationId xmlns:a16="http://schemas.microsoft.com/office/drawing/2014/main" id="{07449084-28D6-411A-84FD-8A15064E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" y="233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1" name="Freeform 298">
              <a:extLst>
                <a:ext uri="{FF2B5EF4-FFF2-40B4-BE49-F238E27FC236}">
                  <a16:creationId xmlns:a16="http://schemas.microsoft.com/office/drawing/2014/main" id="{BCDBC105-EBB3-481B-8EA7-1DF46679D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35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2" name="Freeform 299">
              <a:extLst>
                <a:ext uri="{FF2B5EF4-FFF2-40B4-BE49-F238E27FC236}">
                  <a16:creationId xmlns:a16="http://schemas.microsoft.com/office/drawing/2014/main" id="{49FCC611-1414-49AB-B0C3-801F87921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2" y="284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3" name="Freeform 300">
              <a:extLst>
                <a:ext uri="{FF2B5EF4-FFF2-40B4-BE49-F238E27FC236}">
                  <a16:creationId xmlns:a16="http://schemas.microsoft.com/office/drawing/2014/main" id="{298814F8-5AB5-476C-B2AE-A687F0BF5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43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4" name="Freeform 301">
              <a:extLst>
                <a:ext uri="{FF2B5EF4-FFF2-40B4-BE49-F238E27FC236}">
                  <a16:creationId xmlns:a16="http://schemas.microsoft.com/office/drawing/2014/main" id="{1FD46ADA-6C7A-4DEE-9845-C1BA67838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42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5" name="Freeform 302">
              <a:extLst>
                <a:ext uri="{FF2B5EF4-FFF2-40B4-BE49-F238E27FC236}">
                  <a16:creationId xmlns:a16="http://schemas.microsoft.com/office/drawing/2014/main" id="{D1743BEF-C96B-49A7-A580-777D759A8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" y="244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Freeform 303">
              <a:extLst>
                <a:ext uri="{FF2B5EF4-FFF2-40B4-BE49-F238E27FC236}">
                  <a16:creationId xmlns:a16="http://schemas.microsoft.com/office/drawing/2014/main" id="{57A9FFE8-DC61-4A6D-A053-35EA34808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65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7" name="Freeform 304">
              <a:extLst>
                <a:ext uri="{FF2B5EF4-FFF2-40B4-BE49-F238E27FC236}">
                  <a16:creationId xmlns:a16="http://schemas.microsoft.com/office/drawing/2014/main" id="{5F58FBC2-C087-4FF7-945F-1C6B7093D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33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Freeform 305">
              <a:extLst>
                <a:ext uri="{FF2B5EF4-FFF2-40B4-BE49-F238E27FC236}">
                  <a16:creationId xmlns:a16="http://schemas.microsoft.com/office/drawing/2014/main" id="{403D1355-B967-44A9-A6A3-2A03E98A8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2" y="233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79" name="Freeform 306">
              <a:extLst>
                <a:ext uri="{FF2B5EF4-FFF2-40B4-BE49-F238E27FC236}">
                  <a16:creationId xmlns:a16="http://schemas.microsoft.com/office/drawing/2014/main" id="{7C24869B-5074-4C64-98BD-9888CD555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84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0" name="Freeform 307">
              <a:extLst>
                <a:ext uri="{FF2B5EF4-FFF2-40B4-BE49-F238E27FC236}">
                  <a16:creationId xmlns:a16="http://schemas.microsoft.com/office/drawing/2014/main" id="{AA746589-8E8E-4C3E-95D6-18D0130D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31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1" name="Freeform 308">
              <a:extLst>
                <a:ext uri="{FF2B5EF4-FFF2-40B4-BE49-F238E27FC236}">
                  <a16:creationId xmlns:a16="http://schemas.microsoft.com/office/drawing/2014/main" id="{178FC8A1-ADC6-4B7D-82BD-DB8F2C566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63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2" name="Freeform 309">
              <a:extLst>
                <a:ext uri="{FF2B5EF4-FFF2-40B4-BE49-F238E27FC236}">
                  <a16:creationId xmlns:a16="http://schemas.microsoft.com/office/drawing/2014/main" id="{5494092C-AF4A-4627-9382-BD5974F55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233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3" name="Freeform 310">
              <a:extLst>
                <a:ext uri="{FF2B5EF4-FFF2-40B4-BE49-F238E27FC236}">
                  <a16:creationId xmlns:a16="http://schemas.microsoft.com/office/drawing/2014/main" id="{C6C559A1-29B6-45A1-8429-3D866B8EF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52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4" name="Freeform 311">
              <a:extLst>
                <a:ext uri="{FF2B5EF4-FFF2-40B4-BE49-F238E27FC236}">
                  <a16:creationId xmlns:a16="http://schemas.microsoft.com/office/drawing/2014/main" id="{9FEB5E29-7312-4498-972F-12BBEC436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38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67" name="Rectangle 312">
            <a:extLst>
              <a:ext uri="{FF2B5EF4-FFF2-40B4-BE49-F238E27FC236}">
                <a16:creationId xmlns:a16="http://schemas.microsoft.com/office/drawing/2014/main" id="{37CFC016-D641-4D0D-8008-82DFD7FE1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2679700"/>
            <a:ext cx="1390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900" b="1">
                <a:solidFill>
                  <a:srgbClr val="CF0E30"/>
                </a:solidFill>
              </a:rPr>
              <a:t>Benefits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967</Words>
  <Application>Microsoft Office PowerPoint</Application>
  <PresentationFormat>On-screen Show (4:3)</PresentationFormat>
  <Paragraphs>151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Times New Roman</vt:lpstr>
      <vt:lpstr>Arial Black</vt:lpstr>
      <vt:lpstr>Default Design</vt:lpstr>
      <vt:lpstr>Micrografx Windows Draw 5.0 Drawing</vt:lpstr>
      <vt:lpstr>Microsoft Word Document</vt:lpstr>
      <vt:lpstr>Document</vt:lpstr>
      <vt:lpstr>Microsoft Excel Worksheet</vt:lpstr>
      <vt:lpstr> Payroll Accounting And Pension Plan.</vt:lpstr>
      <vt:lpstr>PAYROLL ACCOUNTING</vt:lpstr>
      <vt:lpstr>INTERNAL CONTROLS FOR PAYROLL</vt:lpstr>
      <vt:lpstr>HIRING EMPLOYEES</vt:lpstr>
      <vt:lpstr>TIMEKEEPING</vt:lpstr>
      <vt:lpstr>PREPARING THE PAYROLL</vt:lpstr>
      <vt:lpstr>DETERMINING AND PAYING THE PAYROLL</vt:lpstr>
      <vt:lpstr>PowerPoint Presentation</vt:lpstr>
      <vt:lpstr>PAYROLL DEDUCTIONS</vt:lpstr>
      <vt:lpstr>PowerPoint Presentation</vt:lpstr>
      <vt:lpstr>INCOME TAXES </vt:lpstr>
      <vt:lpstr>VOLUNTARY DEDUCTIONS </vt:lpstr>
      <vt:lpstr>PowerPoint Presentation</vt:lpstr>
      <vt:lpstr>RECORDING THE PAYROLL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POSTRETIREMENT BENEFITS</vt:lpstr>
      <vt:lpstr> PENSION PLANS </vt:lpstr>
      <vt:lpstr>PowerPoint Presentation</vt:lpstr>
    </vt:vector>
  </TitlesOfParts>
  <Company>Diablo Valley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Payroll Accounting</dc:title>
  <dc:creator>Diablo Valley College</dc:creator>
  <cp:lastModifiedBy>Adedeji-ace Oyetunji</cp:lastModifiedBy>
  <cp:revision>16</cp:revision>
  <cp:lastPrinted>2016-04-26T15:43:25Z</cp:lastPrinted>
  <dcterms:created xsi:type="dcterms:W3CDTF">2006-05-20T14:43:47Z</dcterms:created>
  <dcterms:modified xsi:type="dcterms:W3CDTF">2026-03-25T16:06:07Z</dcterms:modified>
</cp:coreProperties>
</file>